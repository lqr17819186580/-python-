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508.11</c:v>
                </c:pt>
                <c:pt idx="1">
                  <c:v>72.17</c:v>
                </c:pt>
                <c:pt idx="2">
                  <c:v>24.87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87.5</c:v>
                </c:pt>
                <c:pt idx="1">
                  <c:v>15.45</c:v>
                </c:pt>
                <c:pt idx="2">
                  <c:v>4.39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15.66</c:v>
                </c:pt>
                <c:pt idx="1">
                  <c:v>0.39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4.9992</c:v>
                </c:pt>
                <c:pt idx="2">
                  <c:v>15.4377</c:v>
                </c:pt>
                <c:pt idx="3">
                  <c:v>23.6274</c:v>
                </c:pt>
                <c:pt idx="4">
                  <c:v>28.1452</c:v>
                </c:pt>
                <c:pt idx="5">
                  <c:v>37.1285</c:v>
                </c:pt>
                <c:pt idx="6">
                  <c:v>24.3459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7.5732</c:v>
                </c:pt>
                <c:pt idx="2">
                  <c:v>15.8277</c:v>
                </c:pt>
                <c:pt idx="3">
                  <c:v>22.9101</c:v>
                </c:pt>
                <c:pt idx="4">
                  <c:v>27.5167</c:v>
                </c:pt>
                <c:pt idx="5">
                  <c:v>34.9346</c:v>
                </c:pt>
                <c:pt idx="6">
                  <c:v>15.8153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5.9290</c:v>
                </c:pt>
                <c:pt idx="3">
                  <c:v>15.0442</c:v>
                </c:pt>
                <c:pt idx="4">
                  <c:v>25.2290</c:v>
                </c:pt>
                <c:pt idx="5">
                  <c:v>25.7498</c:v>
                </c:pt>
                <c:pt idx="6">
                  <c:v>9.8650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227.6300</c:v>
                </c:pt>
                <c:pt idx="1">
                  <c:v>151.2100</c:v>
                </c:pt>
                <c:pt idx="2">
                  <c:v>129.2800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28.6200</c:v>
                </c:pt>
                <c:pt idx="1">
                  <c:v>19.2100</c:v>
                </c:pt>
                <c:pt idx="2">
                  <c:v>39.6800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0.0000</c:v>
                </c:pt>
                <c:pt idx="1">
                  <c:v>2.8100</c:v>
                </c:pt>
                <c:pt idx="2">
                  <c:v>12.8500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0.0000</c:v>
                </c:pt>
                <c:pt idx="1">
                  <c:v>166.7700</c:v>
                </c:pt>
                <c:pt idx="2">
                  <c:v>0.0000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0.0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0.78</c:v>
                </c:pt>
                <c:pt idx="3">
                  <c:v>9.24</c:v>
                </c:pt>
                <c:pt idx="4">
                  <c:v>0.0</c:v>
                </c:pt>
                <c:pt idx="5">
                  <c:v>0.28</c:v>
                </c:pt>
                <c:pt idx="6">
                  <c:v>0.0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5.84</c:v>
                </c:pt>
                <c:pt idx="6">
                  <c:v>2.11</c:v>
                </c:pt>
                <c:pt idx="7">
                  <c:v>6.93</c:v>
                </c:pt>
                <c:pt idx="8">
                  <c:v>3.41</c:v>
                </c:pt>
                <c:pt idx="9">
                  <c:v>9.8</c:v>
                </c:pt>
                <c:pt idx="10">
                  <c:v>11.35</c:v>
                </c:pt>
                <c:pt idx="11">
                  <c:v>12.91</c:v>
                </c:pt>
                <c:pt idx="12">
                  <c:v>3.12</c:v>
                </c:pt>
                <c:pt idx="13">
                  <c:v>6.85</c:v>
                </c:pt>
                <c:pt idx="14">
                  <c:v>8.65</c:v>
                </c:pt>
                <c:pt idx="15">
                  <c:v>19.87</c:v>
                </c:pt>
                <c:pt idx="16">
                  <c:v>3.63</c:v>
                </c:pt>
                <c:pt idx="17">
                  <c:v>9.9</c:v>
                </c:pt>
                <c:pt idx="18">
                  <c:v>11.81</c:v>
                </c:pt>
                <c:pt idx="19">
                  <c:v>11.16</c:v>
                </c:pt>
                <c:pt idx="20">
                  <c:v>14.85</c:v>
                </c:pt>
                <c:pt idx="21">
                  <c:v>8.03</c:v>
                </c:pt>
                <c:pt idx="22">
                  <c:v>14.97</c:v>
                </c:pt>
                <c:pt idx="23">
                  <c:v>15.27</c:v>
                </c:pt>
                <c:pt idx="24">
                  <c:v>14.59</c:v>
                </c:pt>
                <c:pt idx="25">
                  <c:v>12.6</c:v>
                </c:pt>
                <c:pt idx="26">
                  <c:v>11.4</c:v>
                </c:pt>
                <c:pt idx="27">
                  <c:v>16.73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4.29</c:v>
                </c:pt>
                <c:pt idx="6">
                  <c:v>2.65</c:v>
                </c:pt>
                <c:pt idx="7">
                  <c:v>4.44</c:v>
                </c:pt>
                <c:pt idx="8">
                  <c:v>2.12</c:v>
                </c:pt>
                <c:pt idx="9">
                  <c:v>8.23</c:v>
                </c:pt>
                <c:pt idx="10">
                  <c:v>8.79</c:v>
                </c:pt>
                <c:pt idx="11">
                  <c:v>19.04</c:v>
                </c:pt>
                <c:pt idx="12">
                  <c:v>6.11</c:v>
                </c:pt>
                <c:pt idx="13">
                  <c:v>4.97</c:v>
                </c:pt>
                <c:pt idx="14">
                  <c:v>7.99</c:v>
                </c:pt>
                <c:pt idx="15">
                  <c:v>9.4</c:v>
                </c:pt>
                <c:pt idx="16">
                  <c:v>14.75</c:v>
                </c:pt>
                <c:pt idx="17">
                  <c:v>6.0</c:v>
                </c:pt>
                <c:pt idx="18">
                  <c:v>11.76</c:v>
                </c:pt>
                <c:pt idx="19">
                  <c:v>10.19</c:v>
                </c:pt>
                <c:pt idx="20">
                  <c:v>19.68</c:v>
                </c:pt>
                <c:pt idx="21">
                  <c:v>8.32</c:v>
                </c:pt>
                <c:pt idx="22">
                  <c:v>8.7</c:v>
                </c:pt>
                <c:pt idx="23">
                  <c:v>15.49</c:v>
                </c:pt>
                <c:pt idx="24">
                  <c:v>20.22</c:v>
                </c:pt>
                <c:pt idx="25">
                  <c:v>10.72</c:v>
                </c:pt>
                <c:pt idx="26">
                  <c:v>7.66</c:v>
                </c:pt>
                <c:pt idx="27">
                  <c:v>10.55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3.4</c:v>
                </c:pt>
                <c:pt idx="11">
                  <c:v>2.09</c:v>
                </c:pt>
                <c:pt idx="12">
                  <c:v>11.68</c:v>
                </c:pt>
                <c:pt idx="13">
                  <c:v>4.79</c:v>
                </c:pt>
                <c:pt idx="14">
                  <c:v>15.54</c:v>
                </c:pt>
                <c:pt idx="15">
                  <c:v>7.99</c:v>
                </c:pt>
                <c:pt idx="16">
                  <c:v>10.27</c:v>
                </c:pt>
                <c:pt idx="17">
                  <c:v>5.12</c:v>
                </c:pt>
                <c:pt idx="18">
                  <c:v>10.89</c:v>
                </c:pt>
                <c:pt idx="19">
                  <c:v>10.48</c:v>
                </c:pt>
                <c:pt idx="20">
                  <c:v>9.6</c:v>
                </c:pt>
                <c:pt idx="21">
                  <c:v>5.68</c:v>
                </c:pt>
                <c:pt idx="22">
                  <c:v>8.62</c:v>
                </c:pt>
                <c:pt idx="23">
                  <c:v>5.98</c:v>
                </c:pt>
                <c:pt idx="24">
                  <c:v>15.73</c:v>
                </c:pt>
                <c:pt idx="25">
                  <c:v>9.92</c:v>
                </c:pt>
                <c:pt idx="26">
                  <c:v>15.23</c:v>
                </c:pt>
                <c:pt idx="27">
                  <c:v>6.17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508.1M 占全渠道 84.0%，是唯一业绩主力；未批核 87.5M 是最大转化机会。其余渠道：代理人业务（批核 72.2M）、KA业务（批核 24.9M），体量较小，需明确各渠道扩量优先级。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976M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|  缺口679M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19214" y="2030620"/>
            <a:ext cx="518487" cy="518487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2564106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72819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47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354486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61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937481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61"/>
            <a:ext cx="238760" cy="140602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399618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−129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412840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89960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648555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425675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751399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528519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723164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500284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181.8M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129.3▌39.7▌12.8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天渠道，大额件审核慢是主要风险。天领业务均值 19.7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440.9M/1114件。同行经代领跑，累计 139.9M/398件，占比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425.8M/1077件。同行经代领跑，累计 127.2M/367件，占比 30%。W21 单周峰值 32.8M/66件，是本季度最高单周贡献。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602.0M/1156件。BK业务领跑，累计 224.5M/195件，占比 37%。W08 单周峰值 67.0M/61件，是本季度最高单周贡献。</a:t>
            </a:r>
            <a:endParaRPr lang="en-US" sz="550" dirty="0"/>
          </a:p>
        </p:txBody>
      </p:sp>
      <p:sp>
        <p:nvSpPr>
          <p:cNvPr id="28" name="R7029"/>
          <p:cNvSpPr/>
          <p:nvPr/>
        </p:nvSpPr>
        <p:spPr>
          <a:xfrm>
            <a:off x="2641168" y="1042670"/>
            <a:ext cx="390000" cy="290000"/>
          </a:xfrm>
          <a:prstGeom prst="rect">
            <a:avLst/>
          </a:prstGeom>
          <a:solidFill>
            <a:srgbClr val="1F3864">
              <a:alpha val="47012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56" name="R8014"/>
          <p:cNvSpPr/>
          <p:nvPr/>
        </p:nvSpPr>
        <p:spPr>
          <a:xfrm>
            <a:off x="6766941" y="1072134"/>
            <a:ext cx="390000" cy="290000"/>
          </a:xfrm>
          <a:prstGeom prst="rect">
            <a:avLst/>
          </a:prstGeom>
          <a:solidFill>
            <a:srgbClr val="1A7A3F">
              <a:alpha val="2000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59" name="R8017"/>
          <p:cNvSpPr/>
          <p:nvPr/>
        </p:nvSpPr>
        <p:spPr>
          <a:xfrm>
            <a:off x="7156941" y="1072134"/>
            <a:ext cx="390000" cy="290000"/>
          </a:xfrm>
          <a:prstGeom prst="rect">
            <a:avLst/>
          </a:prstGeom>
          <a:solidFill>
            <a:srgbClr val="1A7A3F">
              <a:alpha val="32018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1" name="T6012"/>
          <p:cNvSpPr/>
          <p:nvPr/>
        </p:nvSpPr>
        <p:spPr>
          <a:xfrm>
            <a:off x="533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</a:t>
            </a:r>
            <a:endParaRPr lang="zh-CN" sz="600" dirty="0"/>
          </a:p>
        </p:txBody>
      </p:sp>
      <p:sp>
        <p:nvSpPr>
          <p:cNvPr id="624" name="T6015"/>
          <p:cNvSpPr/>
          <p:nvPr/>
        </p:nvSpPr>
        <p:spPr>
          <a:xfrm>
            <a:off x="65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zh-CN" sz="570" dirty="0"/>
          </a:p>
        </p:txBody>
      </p:sp>
      <p:sp>
        <p:nvSpPr>
          <p:cNvPr id="627" name="T6018"/>
          <p:cNvSpPr/>
          <p:nvPr/>
        </p:nvSpPr>
        <p:spPr>
          <a:xfrm>
            <a:off x="1049384" y="415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3.4M</a:t>
            </a:r>
            <a:endParaRPr lang="zh-CN" sz="57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868880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86288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2605125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259912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688619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468261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868880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86288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523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520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5.1M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21件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14.3M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>
              <a:alpha val="363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2.2M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518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5.1M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614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6.9M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26件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528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5.3M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21件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812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10.7M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511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5.0M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19件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767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741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9.4M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61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27件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77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10.0M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689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8.4M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879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12.0M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33件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868880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1910627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2605125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994121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4688619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910627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2605125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153" name="Rectangle 1152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156" name="Rectangle 1155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159" name="Rectangle 1158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162" name="Rectangle 1161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165" name="Rectangle 1164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168" name="Rectangle 1167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171" name="Rectangle 1170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31" name="Rectangle 1230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234" name="Rectangle 1233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236" name="TextBox 1235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237" name="Rectangle 1236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40" name="Rectangle 1239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243" name="Rectangle 1242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246" name="Rectangle 1245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49" name="Rectangle 1248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52" name="Rectangle 1251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255" name="Rectangle 1254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58" name="Rectangle 1257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6849056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80" name="Rectangle 1279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02" name="Rectangle 1301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05" name="Rectangle 1304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30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1.0M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555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462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20件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>
              <a:alpha val="9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12.5M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356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64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593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12.8M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37件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>
              <a:alpha val="550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460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894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11.0M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866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10.6M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24件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74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26件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56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5.4M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631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6849056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7890803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88480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788480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8585301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857930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857930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9974297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996829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996829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0668795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066279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066279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543554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8238052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8232052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8232052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475" name="Rectangle 1474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TextBox 1475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477" name="TextBox 1476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478" name="Rectangle 1477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TextBox 1478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480" name="TextBox 1479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481" name="Rectangle 1480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TextBox 1481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483" name="TextBox 1482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484" name="Rectangle 1483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TextBox 1484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486" name="TextBox 1485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487" name="Rectangle 1486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TextBox 1487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489" name="TextBox 1488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490" name="Rectangle 1489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TextBox 1490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492" name="TextBox 1491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493" name="Rectangle 1492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TextBox 1493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495" name="TextBox 1494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496" name="Rectangle 1495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TextBox 1496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498" name="TextBox 1497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499" name="Rectangle 1498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524" name="TextBox 152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527" name="TextBox 152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530" name="TextBox 152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533" name="TextBox 153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535" name="TextBox 153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536" name="TextBox 153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544" name="Rectangle 1543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546" name="TextBox 1545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47" name="Rectangle 1546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549" name="TextBox 1548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50" name="Rectangle 1549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552" name="TextBox 1551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53" name="Rectangle 1552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TextBox 155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55" name="TextBox 1554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56" name="Rectangle 1555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TextBox 155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558" name="TextBox 1557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59" name="Rectangle 1558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TextBox 155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561" name="TextBox 1560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562" name="Rectangle 1561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TextBox 156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564" name="TextBox 1563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65" name="Rectangle 1564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TextBox 156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567" name="TextBox 1566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68" name="Rectangle 1567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TextBox 156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570" name="TextBox 1569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571" name="Rectangle 1570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TextBox 157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3" name="TextBox 1572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574" name="Rectangle 1573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TextBox 157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576" name="TextBox 1575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77" name="Rectangle 1576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TextBox 157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9" name="TextBox 1578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580" name="Rectangle 1579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TextBox 158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582" name="TextBox 1581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868880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862880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862880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0" name="Rectangle 1589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592" name="TextBox 1591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93" name="Rectangle 1592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TextBox 1593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595" name="TextBox 1594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96" name="Rectangle 1595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598" name="TextBox 1597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9" name="Rectangle 1598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TextBox 1599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01" name="TextBox 1600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02" name="Rectangle 1601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TextBox 1602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04" name="TextBox 1603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5" name="Rectangle 1604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TextBox 1605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07" name="TextBox 1606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8" name="Rectangle 1607"/>
          <p:cNvSpPr/>
          <p:nvPr/>
        </p:nvSpPr>
        <p:spPr>
          <a:xfrm>
            <a:off x="4688619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468261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10" name="TextBox 1609"/>
          <p:cNvSpPr txBox="1"/>
          <p:nvPr/>
        </p:nvSpPr>
        <p:spPr>
          <a:xfrm>
            <a:off x="468261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11" name="Rectangle 1610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TextBox 1611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14" name="Rectangle 1613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TextBox 1614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345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664" name="Rectangle 1663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435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TextBox 1664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3.1M</a:t>
            </a:r>
          </a:p>
        </p:txBody>
      </p:sp>
      <p:sp>
        <p:nvSpPr>
          <p:cNvPr id="1666" name="TextBox 1665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667" name="Rectangle 1666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451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669" name="TextBox 1668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670" name="Rectangle 1669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52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4.7M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488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>
              <a:alpha val="860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10.2M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479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676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7.1M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455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568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411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12.6M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28件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>
              <a:alpha val="4998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5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372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749" name="Rectangle 1748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751" name="TextBox 1750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1216129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2257876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225187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225187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3299623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3293623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3293623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503586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502986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502986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5730366" y="5436112"/>
            <a:ext cx="335249" cy="251296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572436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572436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775" name="Rectangle 1774"/>
          <p:cNvSpPr/>
          <p:nvPr/>
        </p:nvSpPr>
        <p:spPr>
          <a:xfrm>
            <a:off x="2605125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TextBox 1775"/>
          <p:cNvSpPr txBox="1"/>
          <p:nvPr/>
        </p:nvSpPr>
        <p:spPr>
          <a:xfrm>
            <a:off x="2599125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2599125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778" name="Rectangle 1777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84" name="TextBox 1783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85" name="Rectangle 1784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TextBox 1785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1787" name="TextBox 1786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1788" name="Rectangle 1787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TextBox 1788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1790" name="TextBox 1789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1791" name="Rectangle 1790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TextBox 1791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1793" name="TextBox 1792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794" name="Rectangle 1793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TextBox 1794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1796" name="TextBox 1795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797" name="Rectangle 1796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TextBox 1797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1799" name="TextBox 1798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00" name="Rectangle 1799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TextBox 1800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1802" name="TextBox 1801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803" name="Rectangle 1802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TextBox 1803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1805" name="TextBox 1804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806" name="Rectangle 1805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TextBox 1806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1808" name="TextBox 1807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809" name="Rectangle 1808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TextBox 1809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1811" name="TextBox 1810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12" name="Rectangle 1811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TextBox 1812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814" name="TextBox 1813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815" name="Rectangle 1814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TextBox 1815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817" name="TextBox 1816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18" name="Rectangle 1817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TextBox 1818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820" name="TextBox 1819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821" name="Rectangle 1820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1823" name="TextBox 1822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824" name="Rectangle 1823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43件| 件均38.9W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29件| 件均36.4W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6.17M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23件| 件均26.8W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天誉国际(MGA)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8.54M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5.01M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0.45M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16.73M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6.17M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6.17M，签单 10.55M，预约 16.73M。签单前端尚在蓄力，预约 16.7M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72.2M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件均32.1W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15.4M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件均49.8W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0.39M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件均9.8W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6.57M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11件 | 件均59.8W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6.81M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件均75.6W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1.88M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12件 | 件均15.7W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0.86M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0.51M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88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6445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1451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7936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772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866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0.16M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0.35M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0.51M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447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886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0.02M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0.25M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