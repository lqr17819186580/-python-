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508.11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87.5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15.66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4.9992</c:v>
                </c:pt>
                <c:pt idx="2">
                  <c:v>15.4377</c:v>
                </c:pt>
                <c:pt idx="3">
                  <c:v>23.6274</c:v>
                </c:pt>
                <c:pt idx="4">
                  <c:v>28.1452</c:v>
                </c:pt>
                <c:pt idx="5">
                  <c:v>37.1285</c:v>
                </c:pt>
                <c:pt idx="6">
                  <c:v>24.3459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22.9101</c:v>
                </c:pt>
                <c:pt idx="4">
                  <c:v>27.5167</c:v>
                </c:pt>
                <c:pt idx="5">
                  <c:v>34.9346</c:v>
                </c:pt>
                <c:pt idx="6">
                  <c:v>15.8153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5.9290</c:v>
                </c:pt>
                <c:pt idx="3">
                  <c:v>15.0442</c:v>
                </c:pt>
                <c:pt idx="4">
                  <c:v>25.2290</c:v>
                </c:pt>
                <c:pt idx="5">
                  <c:v>25.7498</c:v>
                </c:pt>
                <c:pt idx="6">
                  <c:v>9.8650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227.6300</c:v>
                </c:pt>
                <c:pt idx="1">
                  <c:v>151.2100</c:v>
                </c:pt>
                <c:pt idx="2">
                  <c:v>129.2800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28.6200</c:v>
                </c:pt>
                <c:pt idx="1">
                  <c:v>19.2100</c:v>
                </c:pt>
                <c:pt idx="2">
                  <c:v>39.6800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0.0000</c:v>
                </c:pt>
                <c:pt idx="1">
                  <c:v>2.8100</c:v>
                </c:pt>
                <c:pt idx="2">
                  <c:v>12.8500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0.0000</c:v>
                </c:pt>
                <c:pt idx="1">
                  <c:v>166.7700</c:v>
                </c:pt>
                <c:pt idx="2">
                  <c:v>0.0000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6.0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Sheet1!$A$2:$A$27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508.1M 占全渠道 84.0%，是唯一业绩主力；未批核 87.5M 是最大转化机会。其余渠道：代理人业务（批核 72.2M）、KA业务（批核 24.9M），体量较小，需明确各渠道扩量优先级。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19214" y="2030620"/>
            <a:ext cx="518487" cy="518487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564106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72819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47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61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61"/>
            <a:ext cx="238760" cy="140602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−129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412840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8996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48555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425675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51399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528519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723164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500284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天渠道，大额件审核慢是主要风险。天领业务均值 19.7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440.9M/1114件。同行经代领跑，累计 139.9M/398件，占比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425.8M/1077件。同行经代领跑，累计 127.2M/367件，占比 30%。W21 单周峰值 32.8M/66件，是本季度最高单周贡献。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602.0M/1156件。BK业务领跑，累计 224.5M/195件，占比 37%。W08 单周峰值 67.0M/61件，是本季度最高单周贡献。</a:t>
            </a:r>
            <a:endParaRPr lang="en-US" sz="550" dirty="0"/>
          </a:p>
        </p:txBody>
      </p:sp>
      <p:sp>
        <p:nvSpPr>
          <p:cNvPr id="36" name="R7037"/>
          <p:cNvSpPr/>
          <p:nvPr/>
        </p:nvSpPr>
        <p:spPr>
          <a:xfrm>
            <a:off x="4201168" y="1042670"/>
            <a:ext cx="390000" cy="290000"/>
          </a:xfrm>
          <a:prstGeom prst="rect">
            <a:avLst/>
          </a:prstGeom>
          <a:solidFill>
            <a:srgbClr val="1F3864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T8022"/>
          <p:cNvSpPr/>
          <p:nvPr/>
        </p:nvSpPr>
        <p:spPr>
          <a:xfrm>
            <a:off x="754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</a:t>
            </a:r>
            <a:endParaRPr lang="zh-CN" sz="500" dirty="0"/>
          </a:p>
        </p:txBody>
      </p:sp>
      <p:sp>
        <p:nvSpPr>
          <p:cNvPr id="367" name="T8025"/>
          <p:cNvSpPr/>
          <p:nvPr/>
        </p:nvSpPr>
        <p:spPr>
          <a:xfrm>
            <a:off x="7936941" y="1246134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29" name="R6020"/>
          <p:cNvSpPr/>
          <p:nvPr/>
        </p:nvSpPr>
        <p:spPr>
          <a:xfrm>
            <a:off x="1439384" y="4151376"/>
            <a:ext cx="390000" cy="290000"/>
          </a:xfrm>
          <a:prstGeom prst="rect">
            <a:avLst/>
          </a:prstGeom>
          <a:solidFill>
            <a:srgbClr val="1F3864">
              <a:alpha val="26139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2" name="R6023"/>
          <p:cNvSpPr/>
          <p:nvPr/>
        </p:nvSpPr>
        <p:spPr>
          <a:xfrm>
            <a:off x="1829384" y="4151376"/>
            <a:ext cx="390000" cy="290000"/>
          </a:xfrm>
          <a:prstGeom prst="rect">
            <a:avLst/>
          </a:prstGeom>
          <a:solidFill>
            <a:srgbClr val="1F3864">
              <a:alpha val="1748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5" name="R6026"/>
          <p:cNvSpPr/>
          <p:nvPr/>
        </p:nvSpPr>
        <p:spPr>
          <a:xfrm>
            <a:off x="2219384" y="4151376"/>
            <a:ext cx="390000" cy="290000"/>
          </a:xfrm>
          <a:prstGeom prst="rect">
            <a:avLst/>
          </a:prstGeom>
          <a:solidFill>
            <a:srgbClr val="1F3864">
              <a:alpha val="3879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520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14.3M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2.2M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6.9M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5.3M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812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10.7M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511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5.0M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19件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767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9.4M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61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27件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77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10.0M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689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879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12.0M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33件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0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1.0M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555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462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20件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9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12.5M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56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4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593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12.8M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37件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50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460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11.0M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866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10.6M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24件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74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56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5.4M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631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3.1M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4.7M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10.2M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7.1M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68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12.6M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28件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5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2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6.17M，签单 10.55M，预约 16.73M。签单前端尚在蓄力，预约 16.7M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