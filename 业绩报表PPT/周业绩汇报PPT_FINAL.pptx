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4" r:id="rId13"/>
    <p:sldId id="275" r:id="rId14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2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3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508.11</c:v>
                </c:pt>
                <c:pt idx="1">
                  <c:v>72.17</c:v>
                </c:pt>
                <c:pt idx="2">
                  <c:v>24.87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87.5</c:v>
                </c:pt>
                <c:pt idx="1">
                  <c:v>15.45</c:v>
                </c:pt>
                <c:pt idx="2">
                  <c:v>4.39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15.66</c:v>
                </c:pt>
                <c:pt idx="1">
                  <c:v>0.39</c:v>
                </c:pt>
                <c:pt idx="2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53.90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47.90</c:v>
                </c:pt>
                <c:pt idx="13">
                  <c:v>61.13</c:v>
                </c:pt>
                <c:pt idx="14">
                  <c:v>82.15</c:v>
                </c:pt>
                <c:pt idx="15">
                  <c:v>62.10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53.90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47.90</c:v>
                </c:pt>
                <c:pt idx="1">
                  <c:v>61.13</c:v>
                </c:pt>
                <c:pt idx="2">
                  <c:v>82.15</c:v>
                </c:pt>
                <c:pt idx="3">
                  <c:v>62.10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85.90</c:v>
                </c:pt>
                <c:pt idx="4">
                  <c:v>56.85</c:v>
                </c:pt>
                <c:pt idx="5">
                  <c:v>48.49</c:v>
                </c:pt>
                <c:pt idx="6">
                  <c:v>29.10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6.6740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4.9580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16.6020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2.6315</c:v>
                </c:pt>
                <c:pt idx="4">
                  <c:v>2.2350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1.8935</c:v>
                </c:pt>
                <c:pt idx="4">
                  <c:v>2.9730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0.3900</c:v>
                </c:pt>
                <c:pt idx="2">
                  <c:v>0.4680</c:v>
                </c:pt>
                <c:pt idx="3">
                  <c:v>1.6926</c:v>
                </c:pt>
                <c:pt idx="4">
                  <c:v>2.6070</c:v>
                </c:pt>
                <c:pt idx="5">
                  <c:v>0.4770</c:v>
                </c:pt>
                <c:pt idx="6">
                  <c:v>0.7410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14.8200</c:v>
                </c:pt>
                <c:pt idx="3">
                  <c:v>7.3320</c:v>
                </c:pt>
                <c:pt idx="4">
                  <c:v>6.8640</c:v>
                </c:pt>
                <c:pt idx="5">
                  <c:v>9.2742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13.2600</c:v>
                </c:pt>
                <c:pt idx="3">
                  <c:v>8.5020</c:v>
                </c:pt>
                <c:pt idx="4">
                  <c:v>6.8640</c:v>
                </c:pt>
                <c:pt idx="5">
                  <c:v>10.4442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27.2220</c:v>
                </c:pt>
                <c:pt idx="4">
                  <c:v>21.7036</c:v>
                </c:pt>
                <c:pt idx="5">
                  <c:v>6.2400</c:v>
                </c:pt>
                <c:pt idx="6">
                  <c:v>1.5600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4.9992</c:v>
                </c:pt>
                <c:pt idx="2">
                  <c:v>15.4377</c:v>
                </c:pt>
                <c:pt idx="3">
                  <c:v>23.6274</c:v>
                </c:pt>
                <c:pt idx="4">
                  <c:v>28.1452</c:v>
                </c:pt>
                <c:pt idx="5">
                  <c:v>37.1285</c:v>
                </c:pt>
                <c:pt idx="6">
                  <c:v>24.3459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7.5732</c:v>
                </c:pt>
                <c:pt idx="2">
                  <c:v>15.8277</c:v>
                </c:pt>
                <c:pt idx="3">
                  <c:v>22.9101</c:v>
                </c:pt>
                <c:pt idx="4">
                  <c:v>27.5167</c:v>
                </c:pt>
                <c:pt idx="5">
                  <c:v>34.9346</c:v>
                </c:pt>
                <c:pt idx="6">
                  <c:v>15.8153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5.9290</c:v>
                </c:pt>
                <c:pt idx="3">
                  <c:v>15.0442</c:v>
                </c:pt>
                <c:pt idx="4">
                  <c:v>25.2290</c:v>
                </c:pt>
                <c:pt idx="5">
                  <c:v>25.7498</c:v>
                </c:pt>
                <c:pt idx="6">
                  <c:v>9.8650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20.3780</c:v>
                </c:pt>
                <c:pt idx="5">
                  <c:v>23.8791</c:v>
                </c:pt>
                <c:pt idx="6">
                  <c:v>7.0402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0.8970</c:v>
                </c:pt>
                <c:pt idx="2">
                  <c:v>0.3355</c:v>
                </c:pt>
                <c:pt idx="3">
                  <c:v>1.7550</c:v>
                </c:pt>
                <c:pt idx="4">
                  <c:v>0.5743</c:v>
                </c:pt>
                <c:pt idx="5">
                  <c:v>0.0000</c:v>
                </c:pt>
                <c:pt idx="6">
                  <c:v>0.3239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1.8188</c:v>
                </c:pt>
                <c:pt idx="3">
                  <c:v>4.0000</c:v>
                </c:pt>
                <c:pt idx="4">
                  <c:v>0.0088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1.8000</c:v>
                </c:pt>
                <c:pt idx="3">
                  <c:v>0.0188</c:v>
                </c:pt>
                <c:pt idx="4">
                  <c:v>4.0088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2.0780</c:v>
                </c:pt>
                <c:pt idx="1">
                  <c:v>12.0000</c:v>
                </c:pt>
                <c:pt idx="2">
                  <c:v>0.4992</c:v>
                </c:pt>
                <c:pt idx="3">
                  <c:v>0.0000</c:v>
                </c:pt>
                <c:pt idx="4">
                  <c:v>5.8276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227.6300</c:v>
                </c:pt>
                <c:pt idx="1">
                  <c:v>151.2100</c:v>
                </c:pt>
                <c:pt idx="2">
                  <c:v>129.2800</c:v>
                </c:pt>
                <c:pt idx="3">
                  <c:v>64.4500</c:v>
                </c:pt>
                <c:pt idx="4">
                  <c:v>20.4000</c:v>
                </c:pt>
                <c:pt idx="5">
                  <c:v>7.7200</c:v>
                </c:pt>
                <c:pt idx="6">
                  <c:v>4.4700</c:v>
                </c:pt>
                <c:pt idx="7">
                  <c:v>0.0000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28.6200</c:v>
                </c:pt>
                <c:pt idx="1">
                  <c:v>19.2100</c:v>
                </c:pt>
                <c:pt idx="2">
                  <c:v>39.6800</c:v>
                </c:pt>
                <c:pt idx="3">
                  <c:v>14.5100</c:v>
                </c:pt>
                <c:pt idx="4">
                  <c:v>0.0000</c:v>
                </c:pt>
                <c:pt idx="5">
                  <c:v>0.9400</c:v>
                </c:pt>
                <c:pt idx="6">
                  <c:v>4.3900</c:v>
                </c:pt>
                <c:pt idx="7">
                  <c:v>0.0000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0.0000</c:v>
                </c:pt>
                <c:pt idx="1">
                  <c:v>2.8100</c:v>
                </c:pt>
                <c:pt idx="2">
                  <c:v>12.8500</c:v>
                </c:pt>
                <c:pt idx="3">
                  <c:v>0.3900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8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0.0000</c:v>
                </c:pt>
                <c:pt idx="1">
                  <c:v>166.7700</c:v>
                </c:pt>
                <c:pt idx="2">
                  <c:v>0.0000</c:v>
                </c:pt>
                <c:pt idx="3">
                  <c:v>113.6500</c:v>
                </c:pt>
                <c:pt idx="4">
                  <c:v>31.6000</c:v>
                </c:pt>
                <c:pt idx="5">
                  <c:v>61.3400</c:v>
                </c:pt>
                <c:pt idx="6">
                  <c:v>64.1400</c:v>
                </c:pt>
                <c:pt idx="7">
                  <c:v>25.0000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0.0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12.0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11865.65</c:v>
                </c:pt>
                <c:pt idx="1">
                  <c:v>3938.94</c:v>
                </c:pt>
                <c:pt idx="2">
                  <c:v>2609.91</c:v>
                </c:pt>
                <c:pt idx="3">
                  <c:v>1327.8</c:v>
                </c:pt>
                <c:pt idx="4">
                  <c:v>1287.52</c:v>
                </c:pt>
                <c:pt idx="5">
                  <c:v>188.05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未批核APE(万)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750" b="0" i="0" u="none" strike="noStrike" kern="1200" baseline="0">
                        <a:solidFill>
                          <a:schemeClr val="tx1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lang="en-US" altLang="zh-CN">
                        <a:solidFill>
                          <a:schemeClr val="tx1"/>
                        </a:solidFill>
                      </a:rPr>
                      <a:t>32.2</a:t>
                    </a:r>
                    <a:r>
                      <a:rPr>
                        <a:solidFill>
                          <a:schemeClr val="tx1"/>
                        </a:solidFill>
                      </a:rPr>
                      <a:t>.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3732.53</c:v>
                </c:pt>
                <c:pt idx="1">
                  <c:v>576.59</c:v>
                </c:pt>
                <c:pt idx="2">
                  <c:v>301.8</c:v>
                </c:pt>
                <c:pt idx="3">
                  <c:v>0.0</c:v>
                </c:pt>
                <c:pt idx="4">
                  <c:v>685.91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待签APE(万)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1204.1</c:v>
                </c:pt>
                <c:pt idx="1">
                  <c:v>187.42</c:v>
                </c:pt>
                <c:pt idx="2">
                  <c:v>0.0</c:v>
                </c:pt>
                <c:pt idx="3">
                  <c:v>0.0</c:v>
                </c:pt>
                <c:pt idx="4">
                  <c:v>78.0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4269.8</c:v>
                </c:pt>
                <c:pt idx="1">
                  <c:v>3938.94</c:v>
                </c:pt>
                <c:pt idx="2">
                  <c:v>3490.59</c:v>
                </c:pt>
                <c:pt idx="3">
                  <c:v>2781.85</c:v>
                </c:pt>
                <c:pt idx="4">
                  <c:v>2718.31</c:v>
                </c:pt>
                <c:pt idx="5">
                  <c:v>2591.81</c:v>
                </c:pt>
                <c:pt idx="6">
                  <c:v>1937.79</c:v>
                </c:pt>
                <c:pt idx="7">
                  <c:v>1885.7</c:v>
                </c:pt>
                <c:pt idx="8">
                  <c:v>1248.0</c:v>
                </c:pt>
                <c:pt idx="9">
                  <c:v>834.66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未批核APE(万)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893.28</c:v>
                </c:pt>
                <c:pt idx="1">
                  <c:v>576.59</c:v>
                </c:pt>
                <c:pt idx="2">
                  <c:v>453.66</c:v>
                </c:pt>
                <c:pt idx="3">
                  <c:v>101.07</c:v>
                </c:pt>
                <c:pt idx="4">
                  <c:v>237.69</c:v>
                </c:pt>
                <c:pt idx="5">
                  <c:v>301.8</c:v>
                </c:pt>
                <c:pt idx="6">
                  <c:v>2396.71</c:v>
                </c:pt>
                <c:pt idx="7">
                  <c:v>77.94</c:v>
                </c:pt>
                <c:pt idx="8">
                  <c:v>0.0</c:v>
                </c:pt>
                <c:pt idx="9">
                  <c:v>126.91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待签APE(万)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174.02</c:v>
                </c:pt>
                <c:pt idx="1">
                  <c:v>187.42</c:v>
                </c:pt>
                <c:pt idx="2">
                  <c:v>96.0</c:v>
                </c:pt>
                <c:pt idx="3">
                  <c:v>0.0</c:v>
                </c:pt>
                <c:pt idx="4">
                  <c:v>28.5</c:v>
                </c:pt>
                <c:pt idx="5">
                  <c:v>0.0</c:v>
                </c:pt>
                <c:pt idx="6">
                  <c:v>923.58</c:v>
                </c:pt>
                <c:pt idx="7">
                  <c:v>78.0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5.84</c:v>
                </c:pt>
                <c:pt idx="6">
                  <c:v>2.11</c:v>
                </c:pt>
                <c:pt idx="7">
                  <c:v>6.93</c:v>
                </c:pt>
                <c:pt idx="8">
                  <c:v>3.41</c:v>
                </c:pt>
                <c:pt idx="9">
                  <c:v>9.8</c:v>
                </c:pt>
                <c:pt idx="10">
                  <c:v>11.35</c:v>
                </c:pt>
                <c:pt idx="11">
                  <c:v>12.91</c:v>
                </c:pt>
                <c:pt idx="12">
                  <c:v>3.12</c:v>
                </c:pt>
                <c:pt idx="13">
                  <c:v>6.85</c:v>
                </c:pt>
                <c:pt idx="14">
                  <c:v>8.65</c:v>
                </c:pt>
                <c:pt idx="15">
                  <c:v>19.87</c:v>
                </c:pt>
                <c:pt idx="16">
                  <c:v>3.63</c:v>
                </c:pt>
                <c:pt idx="17">
                  <c:v>9.9</c:v>
                </c:pt>
                <c:pt idx="18">
                  <c:v>11.81</c:v>
                </c:pt>
                <c:pt idx="19">
                  <c:v>11.16</c:v>
                </c:pt>
                <c:pt idx="20">
                  <c:v>14.85</c:v>
                </c:pt>
                <c:pt idx="21">
                  <c:v>8.03</c:v>
                </c:pt>
                <c:pt idx="22">
                  <c:v>14.97</c:v>
                </c:pt>
                <c:pt idx="23">
                  <c:v>15.27</c:v>
                </c:pt>
                <c:pt idx="24">
                  <c:v>14.59</c:v>
                </c:pt>
                <c:pt idx="25">
                  <c:v>12.6</c:v>
                </c:pt>
                <c:pt idx="26">
                  <c:v>11.4</c:v>
                </c:pt>
                <c:pt idx="27">
                  <c:v>16.73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4.29</c:v>
                </c:pt>
                <c:pt idx="6">
                  <c:v>2.65</c:v>
                </c:pt>
                <c:pt idx="7">
                  <c:v>4.44</c:v>
                </c:pt>
                <c:pt idx="8">
                  <c:v>2.12</c:v>
                </c:pt>
                <c:pt idx="9">
                  <c:v>8.23</c:v>
                </c:pt>
                <c:pt idx="10">
                  <c:v>8.79</c:v>
                </c:pt>
                <c:pt idx="11">
                  <c:v>19.04</c:v>
                </c:pt>
                <c:pt idx="12">
                  <c:v>6.11</c:v>
                </c:pt>
                <c:pt idx="13">
                  <c:v>4.97</c:v>
                </c:pt>
                <c:pt idx="14">
                  <c:v>7.99</c:v>
                </c:pt>
                <c:pt idx="15">
                  <c:v>9.4</c:v>
                </c:pt>
                <c:pt idx="16">
                  <c:v>14.75</c:v>
                </c:pt>
                <c:pt idx="17">
                  <c:v>6.0</c:v>
                </c:pt>
                <c:pt idx="18">
                  <c:v>11.76</c:v>
                </c:pt>
                <c:pt idx="19">
                  <c:v>10.19</c:v>
                </c:pt>
                <c:pt idx="20">
                  <c:v>19.68</c:v>
                </c:pt>
                <c:pt idx="21">
                  <c:v>8.32</c:v>
                </c:pt>
                <c:pt idx="22">
                  <c:v>8.7</c:v>
                </c:pt>
                <c:pt idx="23">
                  <c:v>15.49</c:v>
                </c:pt>
                <c:pt idx="24">
                  <c:v>20.22</c:v>
                </c:pt>
                <c:pt idx="25">
                  <c:v>10.72</c:v>
                </c:pt>
                <c:pt idx="26">
                  <c:v>7.66</c:v>
                </c:pt>
                <c:pt idx="27">
                  <c:v>10.55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3.4</c:v>
                </c:pt>
                <c:pt idx="11">
                  <c:v>2.09</c:v>
                </c:pt>
                <c:pt idx="12">
                  <c:v>11.68</c:v>
                </c:pt>
                <c:pt idx="13">
                  <c:v>4.79</c:v>
                </c:pt>
                <c:pt idx="14">
                  <c:v>15.54</c:v>
                </c:pt>
                <c:pt idx="15">
                  <c:v>7.99</c:v>
                </c:pt>
                <c:pt idx="16">
                  <c:v>10.27</c:v>
                </c:pt>
                <c:pt idx="17">
                  <c:v>5.12</c:v>
                </c:pt>
                <c:pt idx="18">
                  <c:v>10.89</c:v>
                </c:pt>
                <c:pt idx="19">
                  <c:v>10.48</c:v>
                </c:pt>
                <c:pt idx="20">
                  <c:v>9.6</c:v>
                </c:pt>
                <c:pt idx="21">
                  <c:v>5.68</c:v>
                </c:pt>
                <c:pt idx="22">
                  <c:v>8.62</c:v>
                </c:pt>
                <c:pt idx="23">
                  <c:v>5.98</c:v>
                </c:pt>
                <c:pt idx="24">
                  <c:v>15.73</c:v>
                </c:pt>
                <c:pt idx="25">
                  <c:v>9.92</c:v>
                </c:pt>
                <c:pt idx="26">
                  <c:v>15.23</c:v>
                </c:pt>
                <c:pt idx="27">
                  <c:v>6.17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6.86M/11件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10.53M/19件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4.13M/7件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3.42M/10件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6.86</c:v>
                </c:pt>
                <c:pt idx="1">
                  <c:v>3.9</c:v>
                </c:pt>
                <c:pt idx="2">
                  <c:v>10.53</c:v>
                </c:pt>
                <c:pt idx="3">
                  <c:v>4.21</c:v>
                </c:pt>
                <c:pt idx="4">
                  <c:v>4.13</c:v>
                </c:pt>
                <c:pt idx="5">
                  <c:v>3.42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4.29M/3件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7.0</c:v>
                </c:pt>
                <c:pt idx="1">
                  <c:v>3.46</c:v>
                </c:pt>
                <c:pt idx="2">
                  <c:v>4.29</c:v>
                </c:pt>
                <c:pt idx="3">
                  <c:v>3.12</c:v>
                </c:pt>
                <c:pt idx="4">
                  <c:v>2.73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6.24M/10件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4.91M/8件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8.19M/14件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5.77M/12件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3.74M/6件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4.59M/13件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6.24</c:v>
                </c:pt>
                <c:pt idx="1">
                  <c:v>4.91</c:v>
                </c:pt>
                <c:pt idx="2">
                  <c:v>8.19</c:v>
                </c:pt>
                <c:pt idx="3">
                  <c:v>5.77</c:v>
                </c:pt>
                <c:pt idx="4">
                  <c:v>3.74</c:v>
                </c:pt>
                <c:pt idx="5">
                  <c:v>4.59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10.90M/6件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5.07M/4件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10.9</c:v>
                </c:pt>
                <c:pt idx="1">
                  <c:v>3.46</c:v>
                </c:pt>
                <c:pt idx="2">
                  <c:v>5.07</c:v>
                </c:pt>
                <c:pt idx="3">
                  <c:v>2.73</c:v>
                </c:pt>
                <c:pt idx="4">
                  <c:v>3.12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12.80M/23件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25.66M/28件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14.68M/11件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3.51M/9件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1.56M/3件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12.8</c:v>
                </c:pt>
                <c:pt idx="1">
                  <c:v>84.79</c:v>
                </c:pt>
                <c:pt idx="2">
                  <c:v>44.52</c:v>
                </c:pt>
                <c:pt idx="3">
                  <c:v>25.66</c:v>
                </c:pt>
                <c:pt idx="4">
                  <c:v>14.68</c:v>
                </c:pt>
                <c:pt idx="5">
                  <c:v>3.51</c:v>
                </c:pt>
                <c:pt idx="6">
                  <c:v>1.56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1.56M/2件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7.02M/5件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5.46</c:v>
                </c:pt>
                <c:pt idx="1">
                  <c:v>9.15</c:v>
                </c:pt>
                <c:pt idx="2">
                  <c:v>14.18</c:v>
                </c:pt>
                <c:pt idx="3">
                  <c:v>1.56</c:v>
                </c:pt>
                <c:pt idx="4">
                  <c:v>7.02</c:v>
                </c:pt>
                <c:pt idx="5">
                  <c:v>2.73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187.52</c:v>
                </c:pt>
                <c:pt idx="1">
                  <c:v>40.1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16.92</c:v>
                </c:pt>
                <c:pt idx="1">
                  <c:v>11.7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227.63</c:v>
                </c:pt>
                <c:pt idx="1">
                  <c:v>-27.629999999999995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银行预约(M)</c:v>
                </c:pt>
              </c:strCache>
            </c:strRef>
          </c:tx>
          <c:spPr>
            <a:ln w="25400" cap="flat" cmpd="sng" algn="ctr">
              <a:solidFill>
                <a:srgbClr val="9B233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2335"/>
              </a:solidFill>
              <a:ln w="9525" cap="flat" cmpd="sng" algn="ctr">
                <a:solidFill>
                  <a:srgbClr val="9B2335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2.34</c:v>
                </c:pt>
                <c:pt idx="1">
                  <c:v>3.69</c:v>
                </c:pt>
                <c:pt idx="2">
                  <c:v>6.03</c:v>
                </c:pt>
                <c:pt idx="3">
                  <c:v>1.79</c:v>
                </c:pt>
                <c:pt idx="4">
                  <c:v>4.29</c:v>
                </c:pt>
                <c:pt idx="5">
                  <c:v>3.07</c:v>
                </c:pt>
                <c:pt idx="6">
                  <c:v>0.0</c:v>
                </c:pt>
                <c:pt idx="7">
                  <c:v>0.0</c:v>
                </c:pt>
                <c:pt idx="8">
                  <c:v>2.34</c:v>
                </c:pt>
                <c:pt idx="9">
                  <c:v>5.46</c:v>
                </c:pt>
                <c:pt idx="10">
                  <c:v>4.29</c:v>
                </c:pt>
                <c:pt idx="11">
                  <c:v>2.73</c:v>
                </c:pt>
                <c:pt idx="12">
                  <c:v>0.0</c:v>
                </c:pt>
                <c:pt idx="13">
                  <c:v>5.23</c:v>
                </c:pt>
                <c:pt idx="14">
                  <c:v>0.39</c:v>
                </c:pt>
                <c:pt idx="15">
                  <c:v>1.72</c:v>
                </c:pt>
                <c:pt idx="16">
                  <c:v>1.17</c:v>
                </c:pt>
                <c:pt idx="17">
                  <c:v>0.39</c:v>
                </c:pt>
                <c:pt idx="18">
                  <c:v>1.01</c:v>
                </c:pt>
                <c:pt idx="19">
                  <c:v>0.78</c:v>
                </c:pt>
                <c:pt idx="20">
                  <c:v>3.51</c:v>
                </c:pt>
                <c:pt idx="21">
                  <c:v>1.17</c:v>
                </c:pt>
                <c:pt idx="22">
                  <c:v>3.35</c:v>
                </c:pt>
                <c:pt idx="23">
                  <c:v>0.78</c:v>
                </c:pt>
                <c:pt idx="24">
                  <c:v>3.97</c:v>
                </c:pt>
                <c:pt idx="25">
                  <c:v>0.78</c:v>
                </c:pt>
                <c:pt idx="26">
                  <c:v>5.46</c:v>
                </c:pt>
                <c:pt idx="27">
                  <c:v>2.73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银行签单(M)</c:v>
                </c:pt>
              </c:strCache>
            </c:strRef>
          </c:tx>
          <c:spPr>
            <a:ln w="25400" cap="flat" cmpd="sng" algn="ctr">
              <a:solidFill>
                <a:srgbClr val="6B273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B2737"/>
              </a:solidFill>
              <a:ln w="9525" cap="flat" cmpd="sng" algn="ctr">
                <a:solidFill>
                  <a:srgbClr val="6B2737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0.78</c:v>
                </c:pt>
                <c:pt idx="1">
                  <c:v>3.69</c:v>
                </c:pt>
                <c:pt idx="2">
                  <c:v>5.25</c:v>
                </c:pt>
                <c:pt idx="3">
                  <c:v>2.73</c:v>
                </c:pt>
                <c:pt idx="4">
                  <c:v>2.18</c:v>
                </c:pt>
                <c:pt idx="5">
                  <c:v>5.8</c:v>
                </c:pt>
                <c:pt idx="6">
                  <c:v>0.39</c:v>
                </c:pt>
                <c:pt idx="7">
                  <c:v>0.0</c:v>
                </c:pt>
                <c:pt idx="8">
                  <c:v>1.95</c:v>
                </c:pt>
                <c:pt idx="9">
                  <c:v>1.95</c:v>
                </c:pt>
                <c:pt idx="10">
                  <c:v>4.68</c:v>
                </c:pt>
                <c:pt idx="11">
                  <c:v>2.73</c:v>
                </c:pt>
                <c:pt idx="12">
                  <c:v>3.51</c:v>
                </c:pt>
                <c:pt idx="13">
                  <c:v>0.16</c:v>
                </c:pt>
                <c:pt idx="14">
                  <c:v>4.29</c:v>
                </c:pt>
                <c:pt idx="15">
                  <c:v>1.95</c:v>
                </c:pt>
                <c:pt idx="16">
                  <c:v>0.55</c:v>
                </c:pt>
                <c:pt idx="17">
                  <c:v>2.34</c:v>
                </c:pt>
                <c:pt idx="18">
                  <c:v>1.17</c:v>
                </c:pt>
                <c:pt idx="19">
                  <c:v>1.01</c:v>
                </c:pt>
                <c:pt idx="20">
                  <c:v>2.34</c:v>
                </c:pt>
                <c:pt idx="21">
                  <c:v>1.17</c:v>
                </c:pt>
                <c:pt idx="22">
                  <c:v>2.96</c:v>
                </c:pt>
                <c:pt idx="23">
                  <c:v>2.34</c:v>
                </c:pt>
                <c:pt idx="24">
                  <c:v>3.19</c:v>
                </c:pt>
                <c:pt idx="25">
                  <c:v>3.12</c:v>
                </c:pt>
                <c:pt idx="26">
                  <c:v>2.34</c:v>
                </c:pt>
                <c:pt idx="27">
                  <c:v>4.29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银行批核(M)</c:v>
                </c:pt>
              </c:strCache>
            </c:strRef>
          </c:tx>
          <c:spPr>
            <a:ln w="25400" cap="flat" cmpd="sng" algn="ctr">
              <a:solidFill>
                <a:srgbClr val="6C348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C3483"/>
              </a:solidFill>
              <a:ln w="9525" cap="flat" cmpd="sng" algn="ctr">
                <a:solidFill>
                  <a:srgbClr val="6C3483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1.95</c:v>
                </c:pt>
                <c:pt idx="1">
                  <c:v>3.36</c:v>
                </c:pt>
                <c:pt idx="2">
                  <c:v>8.03</c:v>
                </c:pt>
                <c:pt idx="3">
                  <c:v>1.79</c:v>
                </c:pt>
                <c:pt idx="4">
                  <c:v>17.16</c:v>
                </c:pt>
                <c:pt idx="5">
                  <c:v>27.95</c:v>
                </c:pt>
                <c:pt idx="6">
                  <c:v>1.95</c:v>
                </c:pt>
                <c:pt idx="7">
                  <c:v>46.88</c:v>
                </c:pt>
                <c:pt idx="8">
                  <c:v>10.42</c:v>
                </c:pt>
                <c:pt idx="9">
                  <c:v>4.68</c:v>
                </c:pt>
                <c:pt idx="10">
                  <c:v>35.96</c:v>
                </c:pt>
                <c:pt idx="11">
                  <c:v>5.85</c:v>
                </c:pt>
                <c:pt idx="12">
                  <c:v>2.18</c:v>
                </c:pt>
                <c:pt idx="13">
                  <c:v>4.29</c:v>
                </c:pt>
                <c:pt idx="14">
                  <c:v>7.64</c:v>
                </c:pt>
                <c:pt idx="15">
                  <c:v>11.78</c:v>
                </c:pt>
                <c:pt idx="16">
                  <c:v>3.12</c:v>
                </c:pt>
                <c:pt idx="17">
                  <c:v>1.95</c:v>
                </c:pt>
                <c:pt idx="18">
                  <c:v>3.3</c:v>
                </c:pt>
                <c:pt idx="19">
                  <c:v>2.34</c:v>
                </c:pt>
                <c:pt idx="20">
                  <c:v>14.12</c:v>
                </c:pt>
                <c:pt idx="21">
                  <c:v>1.56</c:v>
                </c:pt>
                <c:pt idx="22">
                  <c:v>0.78</c:v>
                </c:pt>
                <c:pt idx="23">
                  <c:v>0.78</c:v>
                </c:pt>
                <c:pt idx="24">
                  <c:v>2.81</c:v>
                </c:pt>
                <c:pt idx="25">
                  <c:v>0.31</c:v>
                </c:pt>
                <c:pt idx="26">
                  <c:v>1.56</c:v>
                </c:pt>
                <c:pt idx="27">
                  <c:v>0.0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8d0edca-b3ca-4875-b8a4-188427696a7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6B2737"/>
            </a:solidFill>
            <a:ln>
              <a:noFill/>
            </a:ln>
            <a:effectLst/>
            <a:sp3d>
              <a:extrusionClr>
                <a:srgbClr val="FFFFFF"/>
              </a:extrusionClr>
              <a:contourClr>
                <a:srgbClr val="FFFFFF"/>
              </a:contourClr>
            </a:sp3d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cap="none" spc="0" normalizeH="0" baseline="0">
                    <a:solidFill>
                      <a:schemeClr val="bg1"/>
                    </a:solidFill>
                    <a:uFill>
                      <a:solidFill>
                        <a:schemeClr val="tx1"/>
                      </a:solidFill>
                    </a:u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Sheet1!$A$2:$A$18</c:f>
              <c:strCache>
                <c:ptCount val="26"/>
                <c:pt idx="0">
                  <c:v>民生广州分行</c:v>
                </c:pt>
                <c:pt idx="1">
                  <c:v>民生南京分行</c:v>
                </c:pt>
                <c:pt idx="2">
                  <c:v>民生上海分行</c:v>
                </c:pt>
                <c:pt idx="3">
                  <c:v>民生深圳分行</c:v>
                </c:pt>
                <c:pt idx="4">
                  <c:v>民生北京分行</c:v>
                </c:pt>
                <c:pt idx="5">
                  <c:v>平安香港分行徐艳</c:v>
                </c:pt>
                <c:pt idx="6">
                  <c:v>平安香港分行许菁</c:v>
                </c:pt>
                <c:pt idx="7">
                  <c:v>民生重庆分行</c:v>
                </c:pt>
                <c:pt idx="8">
                  <c:v>民生杭州分行</c:v>
                </c:pt>
                <c:pt idx="9">
                  <c:v>平安香港分行钟丽丽</c:v>
                </c:pt>
                <c:pt idx="10">
                  <c:v>民生香港分行梁驹团队</c:v>
                </c:pt>
                <c:pt idx="11">
                  <c:v>平安香港分行高凯</c:v>
                </c:pt>
                <c:pt idx="12">
                  <c:v>民生嘉兴分行</c:v>
                </c:pt>
                <c:pt idx="13">
                  <c:v>民生温州分行</c:v>
                </c:pt>
                <c:pt idx="14">
                  <c:v>民生合肥分行</c:v>
                </c:pt>
                <c:pt idx="15">
                  <c:v>民生武汉分行</c:v>
                </c:pt>
                <c:pt idx="16">
                  <c:v>民生贵阳分行</c:v>
                </c:pt>
                <c:pt idx="17">
                  <c:v>民生厦门分行</c:v>
                </c:pt>
                <c:pt idx="18">
                  <c:v>民生沈阳分行</c:v>
                </c:pt>
                <c:pt idx="19">
                  <c:v>民生泉州分行</c:v>
                </c:pt>
                <c:pt idx="20">
                  <c:v>平安香港分行朱慧娟</c:v>
                </c:pt>
                <c:pt idx="21">
                  <c:v>平安香港分行王慧娟</c:v>
                </c:pt>
                <c:pt idx="22">
                  <c:v>民生上海分行张江支行</c:v>
                </c:pt>
                <c:pt idx="23">
                  <c:v>平安香港分行高原</c:v>
                </c:pt>
                <c:pt idx="24">
                  <c:v>民生呼和浩特分行</c:v>
                </c:pt>
                <c:pt idx="25">
                  <c:v>民生昆明分行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26"/>
                <c:pt idx="0">
                  <c:v>44.09</c:v>
                </c:pt>
                <c:pt idx="1">
                  <c:v>37.09</c:v>
                </c:pt>
                <c:pt idx="2">
                  <c:v>30.08</c:v>
                </c:pt>
                <c:pt idx="3">
                  <c:v>18.88</c:v>
                </c:pt>
                <c:pt idx="4">
                  <c:v>17.38</c:v>
                </c:pt>
                <c:pt idx="5">
                  <c:v>14.04</c:v>
                </c:pt>
                <c:pt idx="6">
                  <c:v>12.87</c:v>
                </c:pt>
                <c:pt idx="7">
                  <c:v>10.14</c:v>
                </c:pt>
                <c:pt idx="8">
                  <c:v>7.02</c:v>
                </c:pt>
                <c:pt idx="9">
                  <c:v>6.95</c:v>
                </c:pt>
                <c:pt idx="10">
                  <c:v>4.13</c:v>
                </c:pt>
                <c:pt idx="11">
                  <c:v>3.9</c:v>
                </c:pt>
                <c:pt idx="12">
                  <c:v>3.12</c:v>
                </c:pt>
                <c:pt idx="13">
                  <c:v>2.81</c:v>
                </c:pt>
                <c:pt idx="14">
                  <c:v>2.57</c:v>
                </c:pt>
                <c:pt idx="15">
                  <c:v>2.34</c:v>
                </c:pt>
                <c:pt idx="16">
                  <c:v>1.95</c:v>
                </c:pt>
                <c:pt idx="17">
                  <c:v>1.56</c:v>
                </c:pt>
                <c:pt idx="18">
                  <c:v>1.56</c:v>
                </c:pt>
                <c:pt idx="19">
                  <c:v>1.56</c:v>
                </c:pt>
                <c:pt idx="20">
                  <c:v>1.17</c:v>
                </c:pt>
                <c:pt idx="21">
                  <c:v>0.78</c:v>
                </c:pt>
                <c:pt idx="22">
                  <c:v>0.78</c:v>
                </c:pt>
                <c:pt idx="23">
                  <c:v>0.39</c:v>
                </c:pt>
                <c:pt idx="24">
                  <c:v>0.31</c:v>
                </c:pt>
                <c:pt idx="25">
                  <c:v>0.16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0" spcFirstLastPara="0" vertOverflow="ellipsis" vert="wordArtVertRtl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Reversed" id="22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21.xml"/><Relationship Id="rId2" Type="http://schemas.openxmlformats.org/officeDocument/2006/relationships/chart" Target="../charts/chart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Relationship Id="rId5" Type="http://schemas.openxmlformats.org/officeDocument/2006/relationships/chart" Target="../charts/chart25.xml"/><Relationship Id="rId6" Type="http://schemas.openxmlformats.org/officeDocument/2006/relationships/tags" Target="../tags/tag54.xml"/><Relationship Id="rId7" Type="http://schemas.openxmlformats.org/officeDocument/2006/relationships/tags" Target="../tags/tag55.xml"/><Relationship Id="rId8" Type="http://schemas.openxmlformats.org/officeDocument/2006/relationships/tags" Target="../tags/tag56.xml"/><Relationship Id="rId9" Type="http://schemas.openxmlformats.org/officeDocument/2006/relationships/tags" Target="../tags/tag57.xml"/><Relationship Id="rId10" Type="http://schemas.openxmlformats.org/officeDocument/2006/relationships/tags" Target="../tags/tag58.xml"/><Relationship Id="rId11" Type="http://schemas.openxmlformats.org/officeDocument/2006/relationships/tags" Target="../tags/tag59.xml"/><Relationship Id="rId12" Type="http://schemas.openxmlformats.org/officeDocument/2006/relationships/tags" Target="../tags/tag60.xml"/><Relationship Id="rId13" Type="http://schemas.openxmlformats.org/officeDocument/2006/relationships/tags" Target="../tags/tag61.xml"/><Relationship Id="rId14" Type="http://schemas.openxmlformats.org/officeDocument/2006/relationships/tags" Target="../tags/tag62.xml"/><Relationship Id="rId15" Type="http://schemas.openxmlformats.org/officeDocument/2006/relationships/tags" Target="../tags/tag63.xml"/><Relationship Id="rId16" Type="http://schemas.openxmlformats.org/officeDocument/2006/relationships/tags" Target="../tags/tag64.xml"/><Relationship Id="rId17" Type="http://schemas.openxmlformats.org/officeDocument/2006/relationships/tags" Target="../tags/tag65.xml"/><Relationship Id="rId18" Type="http://schemas.openxmlformats.org/officeDocument/2006/relationships/tags" Target="../tags/tag66.xml"/><Relationship Id="rId19" Type="http://schemas.openxmlformats.org/officeDocument/2006/relationships/tags" Target="../tags/tag67.xml"/><Relationship Id="rId20" Type="http://schemas.openxmlformats.org/officeDocument/2006/relationships/tags" Target="../tags/tag68.xml"/><Relationship Id="rId21" Type="http://schemas.openxmlformats.org/officeDocument/2006/relationships/tags" Target="../tags/tag69.xml"/><Relationship Id="rId22" Type="http://schemas.openxmlformats.org/officeDocument/2006/relationships/tags" Target="../tags/tag70.xml"/><Relationship Id="rId23" Type="http://schemas.openxmlformats.org/officeDocument/2006/relationships/tags" Target="../tags/tag71.xml"/><Relationship Id="rId24" Type="http://schemas.openxmlformats.org/officeDocument/2006/relationships/tags" Target="../tags/tag72.xml"/><Relationship Id="rId25" Type="http://schemas.openxmlformats.org/officeDocument/2006/relationships/tags" Target="../tags/tag73.xml"/><Relationship Id="rId26" Type="http://schemas.openxmlformats.org/officeDocument/2006/relationships/tags" Target="../tags/tag74.xml"/><Relationship Id="rId27" Type="http://schemas.openxmlformats.org/officeDocument/2006/relationships/tags" Target="../tags/tag75.xml"/><Relationship Id="rId28" Type="http://schemas.openxmlformats.org/officeDocument/2006/relationships/tags" Target="../tags/tag76.xml"/><Relationship Id="rId29" Type="http://schemas.openxmlformats.org/officeDocument/2006/relationships/tags" Target="../tags/tag77.xml"/><Relationship Id="rId30" Type="http://schemas.openxmlformats.org/officeDocument/2006/relationships/tags" Target="../tags/tag78.xml"/><Relationship Id="rId31" Type="http://schemas.openxmlformats.org/officeDocument/2006/relationships/tags" Target="../tags/tag79.xml"/><Relationship Id="rId32" Type="http://schemas.openxmlformats.org/officeDocument/2006/relationships/tags" Target="../tags/tag80.xml"/><Relationship Id="rId33" Type="http://schemas.openxmlformats.org/officeDocument/2006/relationships/tags" Target="../tags/tag81.xml"/><Relationship Id="rId34" Type="http://schemas.openxmlformats.org/officeDocument/2006/relationships/tags" Target="../tags/tag82.xml"/><Relationship Id="rId35" Type="http://schemas.openxmlformats.org/officeDocument/2006/relationships/tags" Target="../tags/tag83.xml"/><Relationship Id="rId36" Type="http://schemas.openxmlformats.org/officeDocument/2006/relationships/tags" Target="../tags/tag84.xml"/><Relationship Id="rId37" Type="http://schemas.openxmlformats.org/officeDocument/2006/relationships/tags" Target="../tags/tag85.xml"/><Relationship Id="rId38" Type="http://schemas.openxmlformats.org/officeDocument/2006/relationships/tags" Target="../tags/tag86.xml"/><Relationship Id="rId39" Type="http://schemas.openxmlformats.org/officeDocument/2006/relationships/tags" Target="../tags/tag87.xml"/><Relationship Id="rId40" Type="http://schemas.openxmlformats.org/officeDocument/2006/relationships/slideLayout" Target="../slideLayouts/slideLayout1.xml"/><Relationship Id="rId41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6.xml"/><Relationship Id="rId2" Type="http://schemas.openxmlformats.org/officeDocument/2006/relationships/chart" Target="../charts/chart27.xml"/><Relationship Id="rId3" Type="http://schemas.openxmlformats.org/officeDocument/2006/relationships/tags" Target="../tags/tag88.xml"/><Relationship Id="rId4" Type="http://schemas.openxmlformats.org/officeDocument/2006/relationships/tags" Target="../tags/tag89.xml"/><Relationship Id="rId5" Type="http://schemas.openxmlformats.org/officeDocument/2006/relationships/tags" Target="../tags/tag90.xml"/><Relationship Id="rId6" Type="http://schemas.openxmlformats.org/officeDocument/2006/relationships/tags" Target="../tags/tag91.xml"/><Relationship Id="rId7" Type="http://schemas.openxmlformats.org/officeDocument/2006/relationships/tags" Target="../tags/tag92.xml"/><Relationship Id="rId8" Type="http://schemas.openxmlformats.org/officeDocument/2006/relationships/tags" Target="../tags/tag93.xml"/><Relationship Id="rId9" Type="http://schemas.openxmlformats.org/officeDocument/2006/relationships/tags" Target="../tags/tag94.xml"/><Relationship Id="rId10" Type="http://schemas.openxmlformats.org/officeDocument/2006/relationships/tags" Target="../tags/tag95.xml"/><Relationship Id="rId11" Type="http://schemas.openxmlformats.org/officeDocument/2006/relationships/tags" Target="../tags/tag96.xml"/><Relationship Id="rId12" Type="http://schemas.openxmlformats.org/officeDocument/2006/relationships/tags" Target="../tags/tag97.xml"/><Relationship Id="rId13" Type="http://schemas.openxmlformats.org/officeDocument/2006/relationships/tags" Target="../tags/tag98.xml"/><Relationship Id="rId14" Type="http://schemas.openxmlformats.org/officeDocument/2006/relationships/tags" Target="../tags/tag99.xml"/><Relationship Id="rId15" Type="http://schemas.openxmlformats.org/officeDocument/2006/relationships/tags" Target="../tags/tag100.xml"/><Relationship Id="rId16" Type="http://schemas.openxmlformats.org/officeDocument/2006/relationships/tags" Target="../tags/tag101.xml"/><Relationship Id="rId17" Type="http://schemas.openxmlformats.org/officeDocument/2006/relationships/tags" Target="../tags/tag102.xml"/><Relationship Id="rId18" Type="http://schemas.openxmlformats.org/officeDocument/2006/relationships/tags" Target="../tags/tag103.xml"/><Relationship Id="rId19" Type="http://schemas.openxmlformats.org/officeDocument/2006/relationships/tags" Target="../tags/tag104.xml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605.2M，达成率 54.4%，全年目标 1113M 缺口约 508M。3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未批核（107.3M，235 件）与待签（16.0M，42 件）合计 123.4M 在管道中，占批核 APE 的 20%。若能快速推进至生效，可直接拉升达成率逾 11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508.1M 占全渠道 84.0%，是唯一业绩主力；未批核 87.5M 是最大转化机会。其余渠道：代理人业务（批核 72.2M）、KA业务（批核 24.9M），体量较小，需明确各渠道扩量优先级。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53.9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47.9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呈现存量驱动特征，2月批核峰值 143.7M 为全年迄今最高。3 月预约/签单同步走强，前端动能复苏。7月初已批核 32.9M，节后启动正常，后续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10129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129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129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129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129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129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129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0696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696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696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696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696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696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696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263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263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263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263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263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263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263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830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830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830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830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830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830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830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3.8 万低于 2 月 5.1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54.4%），完成全年目标 1113M 还需约 508M，剩余 9 个月月均需 56.4M。若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976M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|  缺口679M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130.8M（163 件），集中度高。头部产品「万年青·卓金保险计划II」贡献 27.2M/45 件，件均 60.4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27.18M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60.4万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18.19M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146.2万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7700645" y="1009015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/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2" name="Shape 69"/>
          <p:cNvSpPr/>
          <p:nvPr/>
        </p:nvSpPr>
        <p:spPr>
          <a:xfrm>
            <a:off x="1619214" y="2030620"/>
            <a:ext cx="518487" cy="518487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2564106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经</a:t>
            </a:r>
            <a:r>
              <a:rPr lang="en-US" sz="6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</a:t>
            </a:r>
            <a:endParaRPr lang="en-US" sz="650" dirty="0"/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en-US" sz="650" dirty="0"/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650" dirty="0"/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650" dirty="0"/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650" dirty="0"/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</a:t>
            </a:r>
            <a:endParaRPr lang="en-US" sz="650" dirty="0"/>
          </a:p>
        </p:txBody>
      </p:sp>
      <p:sp>
        <p:nvSpPr>
          <p:cNvPr id="84" name="Shape 81"/>
          <p:cNvSpPr/>
          <p:nvPr/>
        </p:nvSpPr>
        <p:spPr>
          <a:xfrm>
            <a:off x="109855" y="6300470"/>
            <a:ext cx="3776345" cy="39624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BK业务达成率 113.8% 领跑全渠道，是唯一接近达标的渠道。天领业务规模较大（批核 64.5M）但达成率仅 33.4%，是最大战略风险点。IFA业务达成率仅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BK业务贡献最大批核（227.6M）。已批核 + 在途合计 728.5M，距目标 1113M 仍差 384M。若未批核 107.3M 与待签 16.0M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40021"/>
            <a:ext cx="241200" cy="472819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767747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354486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160361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937481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−16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219061"/>
            <a:ext cx="238760" cy="140602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3996181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−129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412840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89960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648555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425675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751399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528519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723164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500284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/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/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永明经代：3 月签单 27.6M 居首，前端动能最强。BK业务：2 月批核峰 93.9M 为存量集中放款。各业务线节奏分化明显，需按渠道特征差异化管理。</a:t>
            </a:r>
            <a:endParaRPr lang="en-US" sz="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4436618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443661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461949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445490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4454906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4509770"/>
            <a:ext cx="98259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4454906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4509770"/>
            <a:ext cx="44865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4454906"/>
            <a:ext cx="31789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450062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66242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6624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8453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6807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680710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735574"/>
            <a:ext cx="9213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680710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735574"/>
            <a:ext cx="43974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680710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7264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581021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581021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763901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181.8M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599309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599309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654173"/>
            <a:ext cx="101708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599309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654173"/>
            <a:ext cx="3499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599309"/>
            <a:ext cx="95963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645029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129.3▌39.7▌12.8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5058410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5058410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5241290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507669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5076698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5131562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5076698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5131562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5076698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512241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98272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982724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2165604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200101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2001012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2055876"/>
            <a:ext cx="1475834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2001012"/>
            <a:ext cx="4207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204673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3164078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3164078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3346958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318236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3182366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3237230"/>
            <a:ext cx="99683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89%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3182366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3237230"/>
            <a:ext cx="356255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3182366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322808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合伙转介业务未批核占比最高（50%），金额达 4.4M，催核优先级最高。其余业务线管道分布相对均衡，需按未批核规模排序推进。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57175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728.5M 中，批核占 83.1%（605.2M）。剩余 123.4M（未批 107.3M + 待签 16.0M）若转化可直接推高达成率 11+。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 227.6M 已达目标 200M 的 113.8%，是唯一接近达标的业务线。永明经代目标最大（340M）但实际仅 151.2M，缺口 189M 为最大绝对值，是最大战略风险点。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808222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808222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9911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8265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826510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881374"/>
            <a:ext cx="40433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826510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881374"/>
            <a:ext cx="103861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826510"/>
            <a:ext cx="2009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87223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447546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447546"/>
            <a:ext cx="124358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630426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46583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51155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602.0M 显著高于预约 440.9M，反映跨周积压存量消化效应。签单累计 425.8M，递交→批核转化效率较高。W07 预约低点 2.7M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W21 签单峰 32.8M 为阶段高点；W08 批核峰 67.0M 为存量集中消化；W05 预约峰 28.2M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20.3M/51件；签单 21.0M/43件；批核 6.9M/29件。未批核 107.3M（235件）是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1030.6M（占全业务 170.3%），高度集中。 以 576.8M 独占 95.3%，是最核心的单一客户，亦是最大集中风险点。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30225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BK业务件均 APE 最高（116万）且平均时效 71.8 天（P90=145 天），是唯一超 SLA=60 天渠道，大额件审核慢是主要风险。天领业务均值 19.7 天效率最优。整体均值 30 天，P90=72 天。BK业务 平均时效超 60 天 SLA。</a:t>
            </a:r>
            <a:endParaRPr lang="en-US" sz="5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440.9M/1114件。同行经代领跑，累计 139.9M/398件，占比 32%。W05 单周峰值 28.2M/32件，是本季度最高单周贡献。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签单总量 425.8M/1077件。同行经代领跑，累计 127.2M/367件，占比 30%。W21 单周峰值 32.8M/66件，是本季度最高单周贡献。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批核总量 602.0M/1156件。BK业务领跑，累计 224.5M/195件，占比 37%。W08 单周峰值 67.0M/61件，是本季度最高单周贡献。</a:t>
            </a:r>
            <a:endParaRPr lang="en-US" sz="550" dirty="0"/>
          </a:p>
        </p:txBody>
      </p:sp>
      <p:sp>
        <p:nvSpPr>
          <p:cNvPr id="168" name="R7175"/>
          <p:cNvSpPr/>
          <p:nvPr/>
        </p:nvSpPr>
        <p:spPr>
          <a:xfrm>
            <a:off x="1861168" y="2202670"/>
            <a:ext cx="390000" cy="290000"/>
          </a:xfrm>
          <a:prstGeom prst="rect">
            <a:avLst/>
          </a:prstGeom>
          <a:solidFill>
            <a:srgbClr val="E8ECF0">
              <a:alpha val="3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9" name="R7176"/>
          <p:cNvSpPr/>
          <p:nvPr/>
        </p:nvSpPr>
        <p:spPr>
          <a:xfrm>
            <a:off x="2251168" y="2202670"/>
            <a:ext cx="390000" cy="290000"/>
          </a:xfrm>
          <a:prstGeom prst="rect">
            <a:avLst/>
          </a:prstGeom>
          <a:solidFill>
            <a:srgbClr val="8E44AD">
              <a:alpha val="8000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71" name="T7178"/>
          <p:cNvSpPr/>
          <p:nvPr/>
        </p:nvSpPr>
        <p:spPr>
          <a:xfrm>
            <a:off x="2251168" y="2376670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2件</a:t>
            </a:r>
            <a:endParaRPr lang="zh-CN" sz="500" dirty="0"/>
          </a:p>
        </p:txBody>
      </p:sp>
      <p:sp>
        <p:nvSpPr>
          <p:cNvPr id="497" name="R8152"/>
          <p:cNvSpPr/>
          <p:nvPr/>
        </p:nvSpPr>
        <p:spPr>
          <a:xfrm>
            <a:off x="9886941" y="1942134"/>
            <a:ext cx="390000" cy="290000"/>
          </a:xfrm>
          <a:prstGeom prst="rect">
            <a:avLst/>
          </a:prstGeom>
          <a:solidFill>
            <a:srgbClr val="E67E22">
              <a:alpha val="17457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8" name="T8153"/>
          <p:cNvSpPr/>
          <p:nvPr/>
        </p:nvSpPr>
        <p:spPr>
          <a:xfrm>
            <a:off x="988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0.2M</a:t>
            </a:r>
            <a:endParaRPr lang="zh-CN" sz="570" dirty="0"/>
          </a:p>
        </p:txBody>
      </p:sp>
      <p:sp>
        <p:nvSpPr>
          <p:cNvPr id="500" name="R8155"/>
          <p:cNvSpPr/>
          <p:nvPr/>
        </p:nvSpPr>
        <p:spPr>
          <a:xfrm>
            <a:off x="10276941" y="1942134"/>
            <a:ext cx="390000" cy="290000"/>
          </a:xfrm>
          <a:prstGeom prst="rect">
            <a:avLst/>
          </a:prstGeom>
          <a:solidFill>
            <a:srgbClr val="E67E22">
              <a:alpha val="21143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04" name="T8159"/>
          <p:cNvSpPr/>
          <p:nvPr/>
        </p:nvSpPr>
        <p:spPr>
          <a:xfrm>
            <a:off x="10666941" y="1942134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1.1M</a:t>
            </a:r>
            <a:endParaRPr lang="zh-CN" sz="570" dirty="0"/>
          </a:p>
        </p:txBody>
      </p:sp>
      <p:sp>
        <p:nvSpPr>
          <p:cNvPr id="791" name="R6148"/>
          <p:cNvSpPr/>
          <p:nvPr/>
        </p:nvSpPr>
        <p:spPr>
          <a:xfrm>
            <a:off x="2999384" y="5021376"/>
            <a:ext cx="390000" cy="290000"/>
          </a:xfrm>
          <a:prstGeom prst="rect">
            <a:avLst/>
          </a:prstGeom>
          <a:solidFill>
            <a:srgbClr val="2980B9">
              <a:alpha val="15110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2" name="T6149"/>
          <p:cNvSpPr/>
          <p:nvPr/>
        </p:nvSpPr>
        <p:spPr>
          <a:xfrm>
            <a:off x="299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zh-CN" sz="570" dirty="0"/>
          </a:p>
        </p:txBody>
      </p:sp>
      <p:sp>
        <p:nvSpPr>
          <p:cNvPr id="794" name="R6151"/>
          <p:cNvSpPr/>
          <p:nvPr/>
        </p:nvSpPr>
        <p:spPr>
          <a:xfrm>
            <a:off x="3389384" y="5021376"/>
            <a:ext cx="390000" cy="290000"/>
          </a:xfrm>
          <a:prstGeom prst="rect">
            <a:avLst/>
          </a:prstGeom>
          <a:solidFill>
            <a:srgbClr val="2980B9">
              <a:alpha val="28276"/>
            </a:srgbClr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8" name="T6155"/>
          <p:cNvSpPr/>
          <p:nvPr/>
        </p:nvSpPr>
        <p:spPr>
          <a:xfrm>
            <a:off x="377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1.6M</a:t>
            </a:r>
            <a:endParaRPr lang="zh-CN" sz="570" dirty="0"/>
          </a:p>
        </p:txBody>
      </p:sp>
      <p:sp>
        <p:nvSpPr>
          <p:cNvPr id="801" name="T6158"/>
          <p:cNvSpPr/>
          <p:nvPr/>
        </p:nvSpPr>
        <p:spPr>
          <a:xfrm>
            <a:off x="4169384" y="5021376"/>
            <a:ext cx="390000" cy="174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7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2.0M</a:t>
            </a:r>
            <a:endParaRPr lang="zh-CN" sz="570" dirty="0"/>
          </a:p>
        </p:txBody>
      </p:sp>
      <p:sp>
        <p:nvSpPr>
          <p:cNvPr id="703" name="Text 701"/>
          <p:cNvSpPr/>
          <p:nvPr/>
        </p:nvSpPr>
        <p:spPr>
          <a:xfrm>
            <a:off x="11821170" y="422465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189</a:t>
            </a:r>
            <a:endParaRPr lang="en-US" sz="850" dirty="0"/>
          </a:p>
        </p:txBody>
      </p:sp>
      <p:sp>
        <p:nvSpPr>
          <p:cNvPr id="705" name="Text 703"/>
          <p:cNvSpPr/>
          <p:nvPr/>
        </p:nvSpPr>
        <p:spPr>
          <a:xfrm>
            <a:off x="11821170" y="44805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</a:t>
            </a:r>
            <a:endParaRPr lang="en-US" sz="850" dirty="0"/>
          </a:p>
        </p:txBody>
      </p:sp>
      <p:sp>
        <p:nvSpPr>
          <p:cNvPr id="707" name="Text 705"/>
          <p:cNvSpPr/>
          <p:nvPr/>
        </p:nvSpPr>
        <p:spPr>
          <a:xfrm>
            <a:off x="11821170" y="473646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50" dirty="0"/>
          </a:p>
        </p:txBody>
      </p:sp>
      <p:sp>
        <p:nvSpPr>
          <p:cNvPr id="709" name="Text 707"/>
          <p:cNvSpPr/>
          <p:nvPr/>
        </p:nvSpPr>
        <p:spPr>
          <a:xfrm>
            <a:off x="11821170" y="499237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</a:t>
            </a:r>
            <a:endParaRPr lang="en-US" sz="850" dirty="0"/>
          </a:p>
        </p:txBody>
      </p:sp>
      <p:sp>
        <p:nvSpPr>
          <p:cNvPr id="711" name="Text 709"/>
          <p:cNvSpPr/>
          <p:nvPr/>
        </p:nvSpPr>
        <p:spPr>
          <a:xfrm>
            <a:off x="11821170" y="524891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850" dirty="0"/>
          </a:p>
        </p:txBody>
      </p:sp>
      <p:sp>
        <p:nvSpPr>
          <p:cNvPr id="713" name="Text 711"/>
          <p:cNvSpPr/>
          <p:nvPr/>
        </p:nvSpPr>
        <p:spPr>
          <a:xfrm>
            <a:off x="11821170" y="550481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</a:t>
            </a:r>
            <a:endParaRPr lang="en-US" sz="850" dirty="0"/>
          </a:p>
        </p:txBody>
      </p:sp>
      <p:sp>
        <p:nvSpPr>
          <p:cNvPr id="715" name="Text 713"/>
          <p:cNvSpPr/>
          <p:nvPr/>
        </p:nvSpPr>
        <p:spPr>
          <a:xfrm>
            <a:off x="11821170" y="576072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</a:t>
            </a:r>
            <a:endParaRPr lang="en-US" sz="850" dirty="0"/>
          </a:p>
        </p:txBody>
      </p:sp>
      <p:sp>
        <p:nvSpPr>
          <p:cNvPr id="733" name="Text 731"/>
          <p:cNvSpPr/>
          <p:nvPr/>
        </p:nvSpPr>
        <p:spPr>
          <a:xfrm>
            <a:off x="11821170" y="63601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189</a:t>
            </a:r>
            <a:endParaRPr lang="en-US" sz="850" dirty="0"/>
          </a:p>
        </p:txBody>
      </p:sp>
      <p:sp>
        <p:nvSpPr>
          <p:cNvPr id="906" name="TextBox 905"/>
          <p:cNvSpPr txBox="1"/>
          <p:nvPr/>
        </p:nvSpPr>
        <p:spPr>
          <a:xfrm>
            <a:off x="6327775" y="4224655"/>
            <a:ext cx="750000" cy="255910"/>
          </a:xfrm>
          <a:prstGeom prst="rect">
            <a:avLst/>
          </a:prstGeom>
          <a:solidFill>
            <a:srgbClr val="2C3E50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业务线</a:t>
            </a:r>
          </a:p>
        </p:txBody>
      </p:sp>
      <p:sp>
        <p:nvSpPr>
          <p:cNvPr id="907" name="TextBox 906"/>
          <p:cNvSpPr txBox="1"/>
          <p:nvPr/>
        </p:nvSpPr>
        <p:spPr>
          <a:xfrm>
            <a:off x="7077775" y="4224655"/>
            <a:ext cx="650000" cy="255910"/>
          </a:xfrm>
          <a:prstGeom prst="rect">
            <a:avLst/>
          </a:prstGeom>
          <a:solidFill>
            <a:srgbClr val="2C3E50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件数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7727775" y="4224655"/>
            <a:ext cx="850000" cy="255910"/>
          </a:xfrm>
          <a:prstGeom prst="rect">
            <a:avLst/>
          </a:prstGeom>
          <a:solidFill>
            <a:srgbClr val="2C3E50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件均APE(万)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8577775" y="4224655"/>
            <a:ext cx="800000" cy="255910"/>
          </a:xfrm>
          <a:prstGeom prst="rect">
            <a:avLst/>
          </a:prstGeom>
          <a:solidFill>
            <a:srgbClr val="2C3E50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平均时效(天)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9377775" y="4224655"/>
            <a:ext cx="850000" cy="255910"/>
          </a:xfrm>
          <a:prstGeom prst="rect">
            <a:avLst/>
          </a:prstGeom>
          <a:solidFill>
            <a:srgbClr val="2C3E50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P90时效(天)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10227775" y="4224655"/>
            <a:ext cx="850000" cy="255910"/>
          </a:xfrm>
          <a:prstGeom prst="rect">
            <a:avLst/>
          </a:prstGeom>
          <a:solidFill>
            <a:srgbClr val="2C3E50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中位时效(天)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11077775" y="4224655"/>
            <a:ext cx="850000" cy="255910"/>
          </a:xfrm>
          <a:prstGeom prst="rect">
            <a:avLst/>
          </a:prstGeom>
          <a:solidFill>
            <a:srgbClr val="2C3E50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最大时效(天)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6327775" y="4480565"/>
            <a:ext cx="7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天领业务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7077775" y="4480565"/>
            <a:ext cx="6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191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7727775" y="448056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8577775" y="4480565"/>
            <a:ext cx="80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9377775" y="448056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10227775" y="448056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11077775" y="448056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125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6327775" y="4736475"/>
            <a:ext cx="7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成事家办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7077775" y="4736475"/>
            <a:ext cx="6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34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7727775" y="4736475"/>
            <a:ext cx="8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23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8577775" y="4736475"/>
            <a:ext cx="80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9377775" y="4736475"/>
            <a:ext cx="8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35</a:t>
            </a:r>
          </a:p>
        </p:txBody>
      </p:sp>
      <p:sp>
        <p:nvSpPr>
          <p:cNvPr id="925" name="TextBox 924"/>
          <p:cNvSpPr txBox="1"/>
          <p:nvPr/>
        </p:nvSpPr>
        <p:spPr>
          <a:xfrm>
            <a:off x="10227775" y="4736475"/>
            <a:ext cx="8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14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11077775" y="4736475"/>
            <a:ext cx="8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166</a:t>
            </a:r>
          </a:p>
        </p:txBody>
      </p:sp>
      <p:sp>
        <p:nvSpPr>
          <p:cNvPr id="927" name="TextBox 926"/>
          <p:cNvSpPr txBox="1"/>
          <p:nvPr/>
        </p:nvSpPr>
        <p:spPr>
          <a:xfrm>
            <a:off x="6327775" y="4992385"/>
            <a:ext cx="7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1">
                <a:solidFill>
                  <a:srgbClr val="C0392B"/>
                </a:solidFill>
                <a:latin typeface="Calibri"/>
              </a:rPr>
              <a:t>BK业务</a:t>
            </a:r>
          </a:p>
        </p:txBody>
      </p:sp>
      <p:sp>
        <p:nvSpPr>
          <p:cNvPr id="928" name="TextBox 927"/>
          <p:cNvSpPr txBox="1"/>
          <p:nvPr/>
        </p:nvSpPr>
        <p:spPr>
          <a:xfrm>
            <a:off x="7077775" y="4992385"/>
            <a:ext cx="6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196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7727775" y="499238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116</a:t>
            </a:r>
          </a:p>
        </p:txBody>
      </p:sp>
      <p:sp>
        <p:nvSpPr>
          <p:cNvPr id="930" name="TextBox 929"/>
          <p:cNvSpPr txBox="1"/>
          <p:nvPr/>
        </p:nvSpPr>
        <p:spPr>
          <a:xfrm>
            <a:off x="8577775" y="4992385"/>
            <a:ext cx="80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72</a:t>
            </a:r>
          </a:p>
        </p:txBody>
      </p:sp>
      <p:sp>
        <p:nvSpPr>
          <p:cNvPr id="931" name="TextBox 930"/>
          <p:cNvSpPr txBox="1"/>
          <p:nvPr/>
        </p:nvSpPr>
        <p:spPr>
          <a:xfrm>
            <a:off x="9377775" y="499238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145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10227775" y="499238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74</a:t>
            </a:r>
          </a:p>
        </p:txBody>
      </p:sp>
      <p:sp>
        <p:nvSpPr>
          <p:cNvPr id="933" name="TextBox 932"/>
          <p:cNvSpPr txBox="1"/>
          <p:nvPr/>
        </p:nvSpPr>
        <p:spPr>
          <a:xfrm>
            <a:off x="11077775" y="499238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C0392B"/>
                </a:solidFill>
                <a:latin typeface="Calibri"/>
              </a:rPr>
              <a:t>220</a:t>
            </a:r>
          </a:p>
        </p:txBody>
      </p:sp>
      <p:sp>
        <p:nvSpPr>
          <p:cNvPr id="934" name="TextBox 933"/>
          <p:cNvSpPr txBox="1"/>
          <p:nvPr/>
        </p:nvSpPr>
        <p:spPr>
          <a:xfrm>
            <a:off x="6327775" y="5248295"/>
            <a:ext cx="7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同行经代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7077775" y="5248295"/>
            <a:ext cx="6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299</a:t>
            </a:r>
          </a:p>
        </p:txBody>
      </p:sp>
      <p:sp>
        <p:nvSpPr>
          <p:cNvPr id="936" name="TextBox 935"/>
          <p:cNvSpPr txBox="1"/>
          <p:nvPr/>
        </p:nvSpPr>
        <p:spPr>
          <a:xfrm>
            <a:off x="7727775" y="5248295"/>
            <a:ext cx="8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43</a:t>
            </a:r>
          </a:p>
        </p:txBody>
      </p:sp>
      <p:sp>
        <p:nvSpPr>
          <p:cNvPr id="937" name="TextBox 936"/>
          <p:cNvSpPr txBox="1"/>
          <p:nvPr/>
        </p:nvSpPr>
        <p:spPr>
          <a:xfrm>
            <a:off x="8577775" y="5248295"/>
            <a:ext cx="80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21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9377775" y="5248295"/>
            <a:ext cx="8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39" name="TextBox 938"/>
          <p:cNvSpPr txBox="1"/>
          <p:nvPr/>
        </p:nvSpPr>
        <p:spPr>
          <a:xfrm>
            <a:off x="10227775" y="5248295"/>
            <a:ext cx="8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</a:t>
            </a:r>
          </a:p>
        </p:txBody>
      </p:sp>
      <p:sp>
        <p:nvSpPr>
          <p:cNvPr id="940" name="TextBox 939"/>
          <p:cNvSpPr txBox="1"/>
          <p:nvPr/>
        </p:nvSpPr>
        <p:spPr>
          <a:xfrm>
            <a:off x="11077775" y="5248295"/>
            <a:ext cx="8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104</a:t>
            </a:r>
          </a:p>
        </p:txBody>
      </p:sp>
      <p:sp>
        <p:nvSpPr>
          <p:cNvPr id="941" name="TextBox 940"/>
          <p:cNvSpPr txBox="1"/>
          <p:nvPr/>
        </p:nvSpPr>
        <p:spPr>
          <a:xfrm>
            <a:off x="6327775" y="5504205"/>
            <a:ext cx="7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永明经代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7077775" y="5504205"/>
            <a:ext cx="6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400</a:t>
            </a:r>
          </a:p>
        </p:txBody>
      </p:sp>
      <p:sp>
        <p:nvSpPr>
          <p:cNvPr id="943" name="TextBox 942"/>
          <p:cNvSpPr txBox="1"/>
          <p:nvPr/>
        </p:nvSpPr>
        <p:spPr>
          <a:xfrm>
            <a:off x="7727775" y="550420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44" name="TextBox 943"/>
          <p:cNvSpPr txBox="1"/>
          <p:nvPr/>
        </p:nvSpPr>
        <p:spPr>
          <a:xfrm>
            <a:off x="8577775" y="5504205"/>
            <a:ext cx="80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22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9377775" y="550420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38</a:t>
            </a:r>
          </a:p>
        </p:txBody>
      </p:sp>
      <p:sp>
        <p:nvSpPr>
          <p:cNvPr id="946" name="TextBox 945"/>
          <p:cNvSpPr txBox="1"/>
          <p:nvPr/>
        </p:nvSpPr>
        <p:spPr>
          <a:xfrm>
            <a:off x="10227775" y="550420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947" name="TextBox 946"/>
          <p:cNvSpPr txBox="1"/>
          <p:nvPr/>
        </p:nvSpPr>
        <p:spPr>
          <a:xfrm>
            <a:off x="11077775" y="550420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107</a:t>
            </a:r>
          </a:p>
        </p:txBody>
      </p:sp>
      <p:sp>
        <p:nvSpPr>
          <p:cNvPr id="948" name="TextBox 947"/>
          <p:cNvSpPr txBox="1"/>
          <p:nvPr/>
        </p:nvSpPr>
        <p:spPr>
          <a:xfrm>
            <a:off x="6327775" y="5760115"/>
            <a:ext cx="7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合伙转介</a:t>
            </a:r>
          </a:p>
        </p:txBody>
      </p:sp>
      <p:sp>
        <p:nvSpPr>
          <p:cNvPr id="949" name="TextBox 948"/>
          <p:cNvSpPr txBox="1"/>
          <p:nvPr/>
        </p:nvSpPr>
        <p:spPr>
          <a:xfrm>
            <a:off x="7077775" y="5760115"/>
            <a:ext cx="6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26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7727775" y="5760115"/>
            <a:ext cx="8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17</a:t>
            </a:r>
          </a:p>
        </p:txBody>
      </p:sp>
      <p:sp>
        <p:nvSpPr>
          <p:cNvPr id="951" name="TextBox 950"/>
          <p:cNvSpPr txBox="1"/>
          <p:nvPr/>
        </p:nvSpPr>
        <p:spPr>
          <a:xfrm>
            <a:off x="8577775" y="5760115"/>
            <a:ext cx="80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29</a:t>
            </a:r>
          </a:p>
        </p:txBody>
      </p:sp>
      <p:sp>
        <p:nvSpPr>
          <p:cNvPr id="952" name="TextBox 951"/>
          <p:cNvSpPr txBox="1"/>
          <p:nvPr/>
        </p:nvSpPr>
        <p:spPr>
          <a:xfrm>
            <a:off x="9377775" y="5760115"/>
            <a:ext cx="8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36</a:t>
            </a:r>
          </a:p>
        </p:txBody>
      </p:sp>
      <p:sp>
        <p:nvSpPr>
          <p:cNvPr id="953" name="TextBox 952"/>
          <p:cNvSpPr txBox="1"/>
          <p:nvPr/>
        </p:nvSpPr>
        <p:spPr>
          <a:xfrm>
            <a:off x="10227775" y="5760115"/>
            <a:ext cx="8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954" name="TextBox 953"/>
          <p:cNvSpPr txBox="1"/>
          <p:nvPr/>
        </p:nvSpPr>
        <p:spPr>
          <a:xfrm>
            <a:off x="11077775" y="5760115"/>
            <a:ext cx="8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244</a:t>
            </a:r>
          </a:p>
        </p:txBody>
      </p:sp>
      <p:sp>
        <p:nvSpPr>
          <p:cNvPr id="955" name="TextBox 954"/>
          <p:cNvSpPr txBox="1"/>
          <p:nvPr/>
        </p:nvSpPr>
        <p:spPr>
          <a:xfrm>
            <a:off x="6327775" y="6016025"/>
            <a:ext cx="7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ICLUB</a:t>
            </a:r>
          </a:p>
        </p:txBody>
      </p:sp>
      <p:sp>
        <p:nvSpPr>
          <p:cNvPr id="956" name="TextBox 955"/>
          <p:cNvSpPr txBox="1"/>
          <p:nvPr/>
        </p:nvSpPr>
        <p:spPr>
          <a:xfrm>
            <a:off x="7077775" y="6016025"/>
            <a:ext cx="6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11</a:t>
            </a:r>
          </a:p>
        </p:txBody>
      </p:sp>
      <p:sp>
        <p:nvSpPr>
          <p:cNvPr id="957" name="TextBox 956"/>
          <p:cNvSpPr txBox="1"/>
          <p:nvPr/>
        </p:nvSpPr>
        <p:spPr>
          <a:xfrm>
            <a:off x="7727775" y="601602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185</a:t>
            </a:r>
          </a:p>
        </p:txBody>
      </p:sp>
      <p:sp>
        <p:nvSpPr>
          <p:cNvPr id="958" name="TextBox 957"/>
          <p:cNvSpPr txBox="1"/>
          <p:nvPr/>
        </p:nvSpPr>
        <p:spPr>
          <a:xfrm>
            <a:off x="8577775" y="6016025"/>
            <a:ext cx="80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24</a:t>
            </a:r>
          </a:p>
        </p:txBody>
      </p:sp>
      <p:sp>
        <p:nvSpPr>
          <p:cNvPr id="959" name="TextBox 958"/>
          <p:cNvSpPr txBox="1"/>
          <p:nvPr/>
        </p:nvSpPr>
        <p:spPr>
          <a:xfrm>
            <a:off x="9377775" y="601602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59</a:t>
            </a:r>
          </a:p>
        </p:txBody>
      </p:sp>
      <p:sp>
        <p:nvSpPr>
          <p:cNvPr id="960" name="TextBox 959"/>
          <p:cNvSpPr txBox="1"/>
          <p:nvPr/>
        </p:nvSpPr>
        <p:spPr>
          <a:xfrm>
            <a:off x="10227775" y="601602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14</a:t>
            </a:r>
          </a:p>
        </p:txBody>
      </p:sp>
      <p:sp>
        <p:nvSpPr>
          <p:cNvPr id="961" name="TextBox 960"/>
          <p:cNvSpPr txBox="1"/>
          <p:nvPr/>
        </p:nvSpPr>
        <p:spPr>
          <a:xfrm>
            <a:off x="11077775" y="601602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76</a:t>
            </a:r>
          </a:p>
        </p:txBody>
      </p:sp>
      <p:sp>
        <p:nvSpPr>
          <p:cNvPr id="962" name="TextBox 961"/>
          <p:cNvSpPr txBox="1"/>
          <p:nvPr/>
        </p:nvSpPr>
        <p:spPr>
          <a:xfrm>
            <a:off x="6327775" y="6271935"/>
            <a:ext cx="7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IFA业务</a:t>
            </a:r>
          </a:p>
        </p:txBody>
      </p:sp>
      <p:sp>
        <p:nvSpPr>
          <p:cNvPr id="963" name="TextBox 962"/>
          <p:cNvSpPr txBox="1"/>
          <p:nvPr/>
        </p:nvSpPr>
        <p:spPr>
          <a:xfrm>
            <a:off x="7077775" y="6271935"/>
            <a:ext cx="6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964" name="TextBox 963"/>
          <p:cNvSpPr txBox="1"/>
          <p:nvPr/>
        </p:nvSpPr>
        <p:spPr>
          <a:xfrm>
            <a:off x="7727775" y="6271935"/>
            <a:ext cx="8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965" name="TextBox 964"/>
          <p:cNvSpPr txBox="1"/>
          <p:nvPr/>
        </p:nvSpPr>
        <p:spPr>
          <a:xfrm>
            <a:off x="8577775" y="6271935"/>
            <a:ext cx="80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966" name="TextBox 965"/>
          <p:cNvSpPr txBox="1"/>
          <p:nvPr/>
        </p:nvSpPr>
        <p:spPr>
          <a:xfrm>
            <a:off x="9377775" y="6271935"/>
            <a:ext cx="8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967" name="TextBox 966"/>
          <p:cNvSpPr txBox="1"/>
          <p:nvPr/>
        </p:nvSpPr>
        <p:spPr>
          <a:xfrm>
            <a:off x="10227775" y="6271935"/>
            <a:ext cx="8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968" name="TextBox 967"/>
          <p:cNvSpPr txBox="1"/>
          <p:nvPr/>
        </p:nvSpPr>
        <p:spPr>
          <a:xfrm>
            <a:off x="11077775" y="6271935"/>
            <a:ext cx="850000" cy="25591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969" name="TextBox 968"/>
          <p:cNvSpPr txBox="1"/>
          <p:nvPr/>
        </p:nvSpPr>
        <p:spPr>
          <a:xfrm>
            <a:off x="6327775" y="6527845"/>
            <a:ext cx="7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970" name="TextBox 969"/>
          <p:cNvSpPr txBox="1"/>
          <p:nvPr/>
        </p:nvSpPr>
        <p:spPr>
          <a:xfrm>
            <a:off x="7077775" y="6527845"/>
            <a:ext cx="6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7727775" y="652784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8577775" y="6527845"/>
            <a:ext cx="80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9377775" y="652784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974" name="TextBox 973"/>
          <p:cNvSpPr txBox="1"/>
          <p:nvPr/>
        </p:nvSpPr>
        <p:spPr>
          <a:xfrm>
            <a:off x="10227775" y="652784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11077775" y="6527845"/>
            <a:ext cx="850000" cy="255910"/>
          </a:xfrm>
          <a:prstGeom prst="rect">
            <a:avLst/>
          </a:prstGeom>
          <a:solidFill>
            <a:srgbClr val="F5F5F5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0">
                <a:solidFill>
                  <a:srgbClr val="202020"/>
                </a:solidFill>
                <a:latin typeface="Calibri"/>
              </a:rPr>
              <a:t>0</a:t>
            </a:r>
          </a:p>
        </p:txBody>
      </p:sp>
      <p:sp>
        <p:nvSpPr>
          <p:cNvPr id="976" name="TextBox 975"/>
          <p:cNvSpPr txBox="1"/>
          <p:nvPr/>
        </p:nvSpPr>
        <p:spPr>
          <a:xfrm>
            <a:off x="6327775" y="6783755"/>
            <a:ext cx="750000" cy="255910"/>
          </a:xfrm>
          <a:prstGeom prst="rect">
            <a:avLst/>
          </a:prstGeom>
          <a:solidFill>
            <a:srgbClr val="D1D5DB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9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7077775" y="6783755"/>
            <a:ext cx="650000" cy="255910"/>
          </a:xfrm>
          <a:prstGeom prst="rect">
            <a:avLst/>
          </a:prstGeom>
          <a:solidFill>
            <a:srgbClr val="D1D5DB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1157</a:t>
            </a:r>
          </a:p>
        </p:txBody>
      </p:sp>
      <p:sp>
        <p:nvSpPr>
          <p:cNvPr id="978" name="TextBox 977"/>
          <p:cNvSpPr txBox="1"/>
          <p:nvPr/>
        </p:nvSpPr>
        <p:spPr>
          <a:xfrm>
            <a:off x="7727775" y="6783755"/>
            <a:ext cx="850000" cy="255910"/>
          </a:xfrm>
          <a:prstGeom prst="rect">
            <a:avLst/>
          </a:prstGeom>
          <a:solidFill>
            <a:srgbClr val="D1D5DB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52</a:t>
            </a:r>
          </a:p>
        </p:txBody>
      </p:sp>
      <p:sp>
        <p:nvSpPr>
          <p:cNvPr id="979" name="TextBox 978"/>
          <p:cNvSpPr txBox="1"/>
          <p:nvPr/>
        </p:nvSpPr>
        <p:spPr>
          <a:xfrm>
            <a:off x="8577775" y="6783755"/>
            <a:ext cx="800000" cy="255910"/>
          </a:xfrm>
          <a:prstGeom prst="rect">
            <a:avLst/>
          </a:prstGeom>
          <a:solidFill>
            <a:srgbClr val="D1D5DB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30</a:t>
            </a:r>
          </a:p>
        </p:txBody>
      </p:sp>
      <p:sp>
        <p:nvSpPr>
          <p:cNvPr id="980" name="TextBox 979"/>
          <p:cNvSpPr txBox="1"/>
          <p:nvPr/>
        </p:nvSpPr>
        <p:spPr>
          <a:xfrm>
            <a:off x="9377775" y="6783755"/>
            <a:ext cx="850000" cy="255910"/>
          </a:xfrm>
          <a:prstGeom prst="rect">
            <a:avLst/>
          </a:prstGeom>
          <a:solidFill>
            <a:srgbClr val="D1D5DB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72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10227775" y="6783755"/>
            <a:ext cx="850000" cy="255910"/>
          </a:xfrm>
          <a:prstGeom prst="rect">
            <a:avLst/>
          </a:prstGeom>
          <a:solidFill>
            <a:srgbClr val="D1D5DB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20</a:t>
            </a:r>
          </a:p>
        </p:txBody>
      </p:sp>
      <p:sp>
        <p:nvSpPr>
          <p:cNvPr id="982" name="TextBox 981"/>
          <p:cNvSpPr txBox="1"/>
          <p:nvPr/>
        </p:nvSpPr>
        <p:spPr>
          <a:xfrm>
            <a:off x="11077775" y="6783755"/>
            <a:ext cx="850000" cy="255910"/>
          </a:xfrm>
          <a:prstGeom prst="rect">
            <a:avLst/>
          </a:prstGeom>
          <a:solidFill>
            <a:srgbClr val="D1D5DB"/>
          </a:solidFill>
        </p:spPr>
        <p:txBody>
          <a:bodyPr wrap="square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02020"/>
                </a:solidFill>
                <a:latin typeface="Calibri"/>
              </a:rPr>
              <a:t>244</a:t>
            </a:r>
          </a:p>
        </p:txBody>
      </p:sp>
      <p:sp>
        <p:nvSpPr>
          <p:cNvPr id="983" name="Rectangle 982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4" name="TextBox 983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  周度预约业绩热力矩阵（APE in M）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986" name="TextBox 985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987" name="TextBox 986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988" name="TextBox 987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990" name="TextBox 989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992" name="TextBox 991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993" name="TextBox 992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994" name="TextBox 993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996" name="TextBox 995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997" name="TextBox 996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998" name="TextBox 997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999" name="TextBox 998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000" name="TextBox 999"/>
          <p:cNvSpPr txBox="1"/>
          <p:nvPr/>
        </p:nvSpPr>
        <p:spPr>
          <a:xfrm>
            <a:off x="202880" y="101603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001" name="Rectangle 1000"/>
          <p:cNvSpPr/>
          <p:nvPr/>
        </p:nvSpPr>
        <p:spPr>
          <a:xfrm>
            <a:off x="1216129" y="1022032"/>
            <a:ext cx="335249" cy="250996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121012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3.2M</a:t>
            </a:r>
          </a:p>
        </p:txBody>
      </p:sp>
      <p:sp>
        <p:nvSpPr>
          <p:cNvPr id="1003" name="TextBox 1002"/>
          <p:cNvSpPr txBox="1"/>
          <p:nvPr/>
        </p:nvSpPr>
        <p:spPr>
          <a:xfrm>
            <a:off x="1210129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1004" name="Rectangle 1003"/>
          <p:cNvSpPr/>
          <p:nvPr/>
        </p:nvSpPr>
        <p:spPr>
          <a:xfrm>
            <a:off x="1563378" y="1022032"/>
            <a:ext cx="335249" cy="250996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TextBox 1004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4.4M</a:t>
            </a:r>
          </a:p>
        </p:txBody>
      </p:sp>
      <p:sp>
        <p:nvSpPr>
          <p:cNvPr id="1006" name="TextBox 1005"/>
          <p:cNvSpPr txBox="1"/>
          <p:nvPr/>
        </p:nvSpPr>
        <p:spPr>
          <a:xfrm>
            <a:off x="155737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07" name="Rectangle 1006"/>
          <p:cNvSpPr/>
          <p:nvPr/>
        </p:nvSpPr>
        <p:spPr>
          <a:xfrm>
            <a:off x="1910627" y="1022032"/>
            <a:ext cx="335249" cy="250996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TextBox 1007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009" name="TextBox 1008"/>
          <p:cNvSpPr txBox="1"/>
          <p:nvPr/>
        </p:nvSpPr>
        <p:spPr>
          <a:xfrm>
            <a:off x="190462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010" name="Rectangle 1009"/>
          <p:cNvSpPr/>
          <p:nvPr/>
        </p:nvSpPr>
        <p:spPr>
          <a:xfrm>
            <a:off x="2257876" y="1022032"/>
            <a:ext cx="335249" cy="250996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1.5M</a:t>
            </a:r>
          </a:p>
        </p:txBody>
      </p:sp>
      <p:sp>
        <p:nvSpPr>
          <p:cNvPr id="1012" name="TextBox 1011"/>
          <p:cNvSpPr txBox="1"/>
          <p:nvPr/>
        </p:nvSpPr>
        <p:spPr>
          <a:xfrm>
            <a:off x="225187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19件</a:t>
            </a:r>
          </a:p>
        </p:txBody>
      </p:sp>
      <p:sp>
        <p:nvSpPr>
          <p:cNvPr id="1013" name="Rectangle 1012"/>
          <p:cNvSpPr/>
          <p:nvPr/>
        </p:nvSpPr>
        <p:spPr>
          <a:xfrm>
            <a:off x="2605125" y="1022032"/>
            <a:ext cx="335249" cy="250996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1015" name="TextBox 1014"/>
          <p:cNvSpPr txBox="1"/>
          <p:nvPr/>
        </p:nvSpPr>
        <p:spPr>
          <a:xfrm>
            <a:off x="2599125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016" name="Rectangle 1015"/>
          <p:cNvSpPr/>
          <p:nvPr/>
        </p:nvSpPr>
        <p:spPr>
          <a:xfrm>
            <a:off x="2952374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2946374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19" name="Rectangle 1018"/>
          <p:cNvSpPr/>
          <p:nvPr/>
        </p:nvSpPr>
        <p:spPr>
          <a:xfrm>
            <a:off x="3299623" y="1022032"/>
            <a:ext cx="335249" cy="250996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TextBox 1019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329362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1022" name="Rectangle 1021"/>
          <p:cNvSpPr/>
          <p:nvPr/>
        </p:nvSpPr>
        <p:spPr>
          <a:xfrm>
            <a:off x="3646872" y="1022032"/>
            <a:ext cx="335249" cy="250996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364087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025" name="Rectangle 1024"/>
          <p:cNvSpPr/>
          <p:nvPr/>
        </p:nvSpPr>
        <p:spPr>
          <a:xfrm>
            <a:off x="3994121" y="1022032"/>
            <a:ext cx="335249" cy="250996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1.2M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3988121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028" name="Rectangle 1027"/>
          <p:cNvSpPr/>
          <p:nvPr/>
        </p:nvSpPr>
        <p:spPr>
          <a:xfrm>
            <a:off x="4341370" y="1022032"/>
            <a:ext cx="335249" cy="250996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TextBox 1028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4335370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031" name="Rectangle 1030"/>
          <p:cNvSpPr/>
          <p:nvPr/>
        </p:nvSpPr>
        <p:spPr>
          <a:xfrm>
            <a:off x="4688619" y="1022032"/>
            <a:ext cx="335249" cy="250996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3.3M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4682619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9件</a:t>
            </a:r>
          </a:p>
        </p:txBody>
      </p:sp>
      <p:sp>
        <p:nvSpPr>
          <p:cNvPr id="1034" name="Rectangle 1033"/>
          <p:cNvSpPr/>
          <p:nvPr/>
        </p:nvSpPr>
        <p:spPr>
          <a:xfrm>
            <a:off x="5035868" y="1022032"/>
            <a:ext cx="335249" cy="250996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5" name="TextBox 1034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0.8M</a:t>
            </a:r>
          </a:p>
        </p:txBody>
      </p:sp>
      <p:sp>
        <p:nvSpPr>
          <p:cNvPr id="1036" name="TextBox 1035"/>
          <p:cNvSpPr txBox="1"/>
          <p:nvPr/>
        </p:nvSpPr>
        <p:spPr>
          <a:xfrm>
            <a:off x="502986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037" name="Rectangle 1036"/>
          <p:cNvSpPr/>
          <p:nvPr/>
        </p:nvSpPr>
        <p:spPr>
          <a:xfrm>
            <a:off x="5383117" y="1022032"/>
            <a:ext cx="335249" cy="250996"/>
          </a:xfrm>
          <a:prstGeom prst="rect">
            <a:avLst/>
          </a:prstGeom>
          <a:solidFill>
            <a:srgbClr val="2980B9">
              <a:alpha val="701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8" name="TextBox 1037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039" name="TextBox 1038"/>
          <p:cNvSpPr txBox="1"/>
          <p:nvPr/>
        </p:nvSpPr>
        <p:spPr>
          <a:xfrm>
            <a:off x="537711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040" name="Rectangle 1039"/>
          <p:cNvSpPr/>
          <p:nvPr/>
        </p:nvSpPr>
        <p:spPr>
          <a:xfrm>
            <a:off x="5730366" y="1022032"/>
            <a:ext cx="335249" cy="250996"/>
          </a:xfrm>
          <a:prstGeom prst="rect">
            <a:avLst/>
          </a:prstGeom>
          <a:solidFill>
            <a:srgbClr val="2980B9">
              <a:alpha val="320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1" name="TextBox 1040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042" name="TextBox 1041"/>
          <p:cNvSpPr txBox="1"/>
          <p:nvPr/>
        </p:nvSpPr>
        <p:spPr>
          <a:xfrm>
            <a:off x="572436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202880" y="127902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044" name="Rectangle 1043"/>
          <p:cNvSpPr/>
          <p:nvPr/>
        </p:nvSpPr>
        <p:spPr>
          <a:xfrm>
            <a:off x="868880" y="1285028"/>
            <a:ext cx="335249" cy="250996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862880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0.6M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862880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047" name="Rectangle 1046"/>
          <p:cNvSpPr/>
          <p:nvPr/>
        </p:nvSpPr>
        <p:spPr>
          <a:xfrm>
            <a:off x="1216129" y="1285028"/>
            <a:ext cx="335249" cy="250996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TextBox 1047"/>
          <p:cNvSpPr txBox="1"/>
          <p:nvPr/>
        </p:nvSpPr>
        <p:spPr>
          <a:xfrm>
            <a:off x="1210129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1210129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050" name="Rectangle 1049"/>
          <p:cNvSpPr/>
          <p:nvPr/>
        </p:nvSpPr>
        <p:spPr>
          <a:xfrm>
            <a:off x="1563378" y="1285028"/>
            <a:ext cx="335249" cy="250996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1557378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0.8M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1557378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7件</a:t>
            </a:r>
          </a:p>
        </p:txBody>
      </p:sp>
      <p:sp>
        <p:nvSpPr>
          <p:cNvPr id="1053" name="Rectangle 1052"/>
          <p:cNvSpPr/>
          <p:nvPr/>
        </p:nvSpPr>
        <p:spPr>
          <a:xfrm>
            <a:off x="2605125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2599125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2.2M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2599125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56" name="Rectangle 1055"/>
          <p:cNvSpPr/>
          <p:nvPr/>
        </p:nvSpPr>
        <p:spPr>
          <a:xfrm>
            <a:off x="3646872" y="1285028"/>
            <a:ext cx="335249" cy="250996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364087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364087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059" name="Rectangle 1058"/>
          <p:cNvSpPr/>
          <p:nvPr/>
        </p:nvSpPr>
        <p:spPr>
          <a:xfrm>
            <a:off x="4688619" y="1285028"/>
            <a:ext cx="335249" cy="250996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4682619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4682619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062" name="Rectangle 1061"/>
          <p:cNvSpPr/>
          <p:nvPr/>
        </p:nvSpPr>
        <p:spPr>
          <a:xfrm>
            <a:off x="5383117" y="1285028"/>
            <a:ext cx="335249" cy="250996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5377117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5377117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065" name="TextBox 1064"/>
          <p:cNvSpPr txBox="1"/>
          <p:nvPr/>
        </p:nvSpPr>
        <p:spPr>
          <a:xfrm>
            <a:off x="202880" y="154202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066" name="Rectangle 1065"/>
          <p:cNvSpPr/>
          <p:nvPr/>
        </p:nvSpPr>
        <p:spPr>
          <a:xfrm>
            <a:off x="868880" y="1548024"/>
            <a:ext cx="335249" cy="250996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7" name="TextBox 1066"/>
          <p:cNvSpPr txBox="1"/>
          <p:nvPr/>
        </p:nvSpPr>
        <p:spPr>
          <a:xfrm>
            <a:off x="862880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068" name="TextBox 1067"/>
          <p:cNvSpPr txBox="1"/>
          <p:nvPr/>
        </p:nvSpPr>
        <p:spPr>
          <a:xfrm>
            <a:off x="862880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69" name="Rectangle 1068"/>
          <p:cNvSpPr/>
          <p:nvPr/>
        </p:nvSpPr>
        <p:spPr>
          <a:xfrm>
            <a:off x="1216129" y="1548024"/>
            <a:ext cx="335249" cy="250996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0" name="TextBox 1069"/>
          <p:cNvSpPr txBox="1"/>
          <p:nvPr/>
        </p:nvSpPr>
        <p:spPr>
          <a:xfrm>
            <a:off x="1210129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071" name="TextBox 1070"/>
          <p:cNvSpPr txBox="1"/>
          <p:nvPr/>
        </p:nvSpPr>
        <p:spPr>
          <a:xfrm>
            <a:off x="1210129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72" name="Rectangle 1071"/>
          <p:cNvSpPr/>
          <p:nvPr/>
        </p:nvSpPr>
        <p:spPr>
          <a:xfrm>
            <a:off x="1563378" y="1548024"/>
            <a:ext cx="335249" cy="250996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3" name="TextBox 1072"/>
          <p:cNvSpPr txBox="1"/>
          <p:nvPr/>
        </p:nvSpPr>
        <p:spPr>
          <a:xfrm>
            <a:off x="1557378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1.7M</a:t>
            </a:r>
          </a:p>
        </p:txBody>
      </p:sp>
      <p:sp>
        <p:nvSpPr>
          <p:cNvPr id="1074" name="TextBox 1073"/>
          <p:cNvSpPr txBox="1"/>
          <p:nvPr/>
        </p:nvSpPr>
        <p:spPr>
          <a:xfrm>
            <a:off x="1557378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075" name="Rectangle 1074"/>
          <p:cNvSpPr/>
          <p:nvPr/>
        </p:nvSpPr>
        <p:spPr>
          <a:xfrm>
            <a:off x="1910627" y="1548024"/>
            <a:ext cx="335249" cy="250996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6" name="TextBox 1075"/>
          <p:cNvSpPr txBox="1"/>
          <p:nvPr/>
        </p:nvSpPr>
        <p:spPr>
          <a:xfrm>
            <a:off x="190462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77" name="TextBox 1076"/>
          <p:cNvSpPr txBox="1"/>
          <p:nvPr/>
        </p:nvSpPr>
        <p:spPr>
          <a:xfrm>
            <a:off x="190462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78" name="Rectangle 1077"/>
          <p:cNvSpPr/>
          <p:nvPr/>
        </p:nvSpPr>
        <p:spPr>
          <a:xfrm>
            <a:off x="2257876" y="1548024"/>
            <a:ext cx="335249" cy="250996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9" name="TextBox 1078"/>
          <p:cNvSpPr txBox="1"/>
          <p:nvPr/>
        </p:nvSpPr>
        <p:spPr>
          <a:xfrm>
            <a:off x="225187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225187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81" name="Rectangle 1080"/>
          <p:cNvSpPr/>
          <p:nvPr/>
        </p:nvSpPr>
        <p:spPr>
          <a:xfrm>
            <a:off x="2605125" y="1548024"/>
            <a:ext cx="335249" cy="250996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2599125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2599125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84" name="Rectangle 1083"/>
          <p:cNvSpPr/>
          <p:nvPr/>
        </p:nvSpPr>
        <p:spPr>
          <a:xfrm>
            <a:off x="2952374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2946374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2946374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87" name="Rectangle 1086"/>
          <p:cNvSpPr/>
          <p:nvPr/>
        </p:nvSpPr>
        <p:spPr>
          <a:xfrm>
            <a:off x="3299623" y="1548024"/>
            <a:ext cx="335249" cy="250996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329362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329362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090" name="Rectangle 1089"/>
          <p:cNvSpPr/>
          <p:nvPr/>
        </p:nvSpPr>
        <p:spPr>
          <a:xfrm>
            <a:off x="3646872" y="1548024"/>
            <a:ext cx="335249" cy="250996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364087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364087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93" name="Rectangle 1092"/>
          <p:cNvSpPr/>
          <p:nvPr/>
        </p:nvSpPr>
        <p:spPr>
          <a:xfrm>
            <a:off x="3994121" y="1548024"/>
            <a:ext cx="335249" cy="250996"/>
          </a:xfrm>
          <a:prstGeom prst="rect">
            <a:avLst/>
          </a:prstGeom>
          <a:solidFill>
            <a:srgbClr val="1F3864">
              <a:alpha val="7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3988121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3988121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96" name="Rectangle 1095"/>
          <p:cNvSpPr/>
          <p:nvPr/>
        </p:nvSpPr>
        <p:spPr>
          <a:xfrm>
            <a:off x="4341370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4335370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4335370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99" name="Rectangle 1098"/>
          <p:cNvSpPr/>
          <p:nvPr/>
        </p:nvSpPr>
        <p:spPr>
          <a:xfrm>
            <a:off x="4688619" y="1548024"/>
            <a:ext cx="335249" cy="250996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4682619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4682619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02" name="Rectangle 1101"/>
          <p:cNvSpPr/>
          <p:nvPr/>
        </p:nvSpPr>
        <p:spPr>
          <a:xfrm>
            <a:off x="5035868" y="1548024"/>
            <a:ext cx="335249" cy="250996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5029868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5029868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105" name="Rectangle 1104"/>
          <p:cNvSpPr/>
          <p:nvPr/>
        </p:nvSpPr>
        <p:spPr>
          <a:xfrm>
            <a:off x="5383117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537711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537711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108" name="Rectangle 1107"/>
          <p:cNvSpPr/>
          <p:nvPr/>
        </p:nvSpPr>
        <p:spPr>
          <a:xfrm>
            <a:off x="5730366" y="1548024"/>
            <a:ext cx="335249" cy="250996"/>
          </a:xfrm>
          <a:prstGeom prst="rect">
            <a:avLst/>
          </a:prstGeom>
          <a:solidFill>
            <a:srgbClr val="1F3864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572436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2.7M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572436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11" name="TextBox 1110"/>
          <p:cNvSpPr txBox="1"/>
          <p:nvPr/>
        </p:nvSpPr>
        <p:spPr>
          <a:xfrm>
            <a:off x="202880" y="1805020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112" name="Rectangle 1111"/>
          <p:cNvSpPr/>
          <p:nvPr/>
        </p:nvSpPr>
        <p:spPr>
          <a:xfrm>
            <a:off x="868880" y="1811020"/>
            <a:ext cx="335249" cy="250996"/>
          </a:xfrm>
          <a:prstGeom prst="rect">
            <a:avLst/>
          </a:prstGeom>
          <a:solidFill>
            <a:srgbClr val="E67E22">
              <a:alpha val="3523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3" name="TextBox 1112"/>
          <p:cNvSpPr txBox="1"/>
          <p:nvPr/>
        </p:nvSpPr>
        <p:spPr>
          <a:xfrm>
            <a:off x="862880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1.9M</a:t>
            </a:r>
          </a:p>
        </p:txBody>
      </p:sp>
      <p:sp>
        <p:nvSpPr>
          <p:cNvPr id="1114" name="TextBox 1113"/>
          <p:cNvSpPr txBox="1"/>
          <p:nvPr/>
        </p:nvSpPr>
        <p:spPr>
          <a:xfrm>
            <a:off x="862880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115" name="Rectangle 1114"/>
          <p:cNvSpPr/>
          <p:nvPr/>
        </p:nvSpPr>
        <p:spPr>
          <a:xfrm>
            <a:off x="1216129" y="1811020"/>
            <a:ext cx="335249" cy="250996"/>
          </a:xfrm>
          <a:prstGeom prst="rect">
            <a:avLst/>
          </a:prstGeom>
          <a:solidFill>
            <a:srgbClr val="E67E22">
              <a:alpha val="520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6" name="TextBox 1115"/>
          <p:cNvSpPr txBox="1"/>
          <p:nvPr/>
        </p:nvSpPr>
        <p:spPr>
          <a:xfrm>
            <a:off x="1210129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5.1M</a:t>
            </a:r>
          </a:p>
        </p:txBody>
      </p:sp>
      <p:sp>
        <p:nvSpPr>
          <p:cNvPr id="1117" name="TextBox 1116"/>
          <p:cNvSpPr txBox="1"/>
          <p:nvPr/>
        </p:nvSpPr>
        <p:spPr>
          <a:xfrm>
            <a:off x="1210129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21件</a:t>
            </a:r>
          </a:p>
        </p:txBody>
      </p:sp>
      <p:sp>
        <p:nvSpPr>
          <p:cNvPr id="1118" name="Rectangle 1117"/>
          <p:cNvSpPr/>
          <p:nvPr/>
        </p:nvSpPr>
        <p:spPr>
          <a:xfrm>
            <a:off x="1563378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9" name="TextBox 1118"/>
          <p:cNvSpPr txBox="1"/>
          <p:nvPr/>
        </p:nvSpPr>
        <p:spPr>
          <a:xfrm>
            <a:off x="1557378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14.3M</a:t>
            </a:r>
          </a:p>
        </p:txBody>
      </p:sp>
      <p:sp>
        <p:nvSpPr>
          <p:cNvPr id="1120" name="TextBox 1119"/>
          <p:cNvSpPr txBox="1"/>
          <p:nvPr/>
        </p:nvSpPr>
        <p:spPr>
          <a:xfrm>
            <a:off x="1557378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121" name="Rectangle 1120"/>
          <p:cNvSpPr/>
          <p:nvPr/>
        </p:nvSpPr>
        <p:spPr>
          <a:xfrm>
            <a:off x="1910627" y="1811020"/>
            <a:ext cx="335249" cy="250996"/>
          </a:xfrm>
          <a:prstGeom prst="rect">
            <a:avLst/>
          </a:prstGeom>
          <a:solidFill>
            <a:srgbClr val="E67E22">
              <a:alpha val="363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2" name="TextBox 1121"/>
          <p:cNvSpPr txBox="1"/>
          <p:nvPr/>
        </p:nvSpPr>
        <p:spPr>
          <a:xfrm>
            <a:off x="190462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2.2M</a:t>
            </a:r>
          </a:p>
        </p:txBody>
      </p:sp>
      <p:sp>
        <p:nvSpPr>
          <p:cNvPr id="1123" name="TextBox 1122"/>
          <p:cNvSpPr txBox="1"/>
          <p:nvPr/>
        </p:nvSpPr>
        <p:spPr>
          <a:xfrm>
            <a:off x="190462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124" name="Rectangle 1123"/>
          <p:cNvSpPr/>
          <p:nvPr/>
        </p:nvSpPr>
        <p:spPr>
          <a:xfrm>
            <a:off x="2257876" y="1811020"/>
            <a:ext cx="335249" cy="250996"/>
          </a:xfrm>
          <a:prstGeom prst="rect">
            <a:avLst/>
          </a:prstGeom>
          <a:solidFill>
            <a:srgbClr val="E67E22">
              <a:alpha val="518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5" name="TextBox 1124"/>
          <p:cNvSpPr txBox="1"/>
          <p:nvPr/>
        </p:nvSpPr>
        <p:spPr>
          <a:xfrm>
            <a:off x="225187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5.1M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225187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127" name="Rectangle 1126"/>
          <p:cNvSpPr/>
          <p:nvPr/>
        </p:nvSpPr>
        <p:spPr>
          <a:xfrm>
            <a:off x="2605125" y="1811020"/>
            <a:ext cx="335249" cy="250996"/>
          </a:xfrm>
          <a:prstGeom prst="rect">
            <a:avLst/>
          </a:prstGeom>
          <a:solidFill>
            <a:srgbClr val="E67E22">
              <a:alpha val="614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2599125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6.9M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2599125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26件</a:t>
            </a:r>
          </a:p>
        </p:txBody>
      </p:sp>
      <p:sp>
        <p:nvSpPr>
          <p:cNvPr id="1130" name="Rectangle 1129"/>
          <p:cNvSpPr/>
          <p:nvPr/>
        </p:nvSpPr>
        <p:spPr>
          <a:xfrm>
            <a:off x="2952374" y="1811020"/>
            <a:ext cx="335249" cy="250996"/>
          </a:xfrm>
          <a:prstGeom prst="rect">
            <a:avLst/>
          </a:prstGeom>
          <a:solidFill>
            <a:srgbClr val="E67E22">
              <a:alpha val="528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2946374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5.3M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2946374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21件</a:t>
            </a:r>
          </a:p>
        </p:txBody>
      </p:sp>
      <p:sp>
        <p:nvSpPr>
          <p:cNvPr id="1133" name="Rectangle 1132"/>
          <p:cNvSpPr/>
          <p:nvPr/>
        </p:nvSpPr>
        <p:spPr>
          <a:xfrm>
            <a:off x="3299623" y="1811020"/>
            <a:ext cx="335249" cy="250996"/>
          </a:xfrm>
          <a:prstGeom prst="rect">
            <a:avLst/>
          </a:prstGeom>
          <a:solidFill>
            <a:srgbClr val="E67E22">
              <a:alpha val="812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3293623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10.7M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3293623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1136" name="Rectangle 1135"/>
          <p:cNvSpPr/>
          <p:nvPr/>
        </p:nvSpPr>
        <p:spPr>
          <a:xfrm>
            <a:off x="3646872" y="1811020"/>
            <a:ext cx="335249" cy="250996"/>
          </a:xfrm>
          <a:prstGeom prst="rect">
            <a:avLst/>
          </a:prstGeom>
          <a:solidFill>
            <a:srgbClr val="E67E22">
              <a:alpha val="5119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364087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5.0M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364087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19件</a:t>
            </a:r>
          </a:p>
        </p:txBody>
      </p:sp>
      <p:sp>
        <p:nvSpPr>
          <p:cNvPr id="1139" name="Rectangle 1138"/>
          <p:cNvSpPr/>
          <p:nvPr/>
        </p:nvSpPr>
        <p:spPr>
          <a:xfrm>
            <a:off x="3994121" y="1811020"/>
            <a:ext cx="335249" cy="250996"/>
          </a:xfrm>
          <a:prstGeom prst="rect">
            <a:avLst/>
          </a:prstGeom>
          <a:solidFill>
            <a:srgbClr val="E67E22">
              <a:alpha val="7679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TextBox 1139"/>
          <p:cNvSpPr txBox="1"/>
          <p:nvPr/>
        </p:nvSpPr>
        <p:spPr>
          <a:xfrm>
            <a:off x="3988121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3988121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142" name="Rectangle 1141"/>
          <p:cNvSpPr/>
          <p:nvPr/>
        </p:nvSpPr>
        <p:spPr>
          <a:xfrm>
            <a:off x="4341370" y="1811020"/>
            <a:ext cx="335249" cy="250996"/>
          </a:xfrm>
          <a:prstGeom prst="rect">
            <a:avLst/>
          </a:prstGeom>
          <a:solidFill>
            <a:srgbClr val="E67E22">
              <a:alpha val="741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4335370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9.4M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4335370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145" name="Rectangle 1144"/>
          <p:cNvSpPr/>
          <p:nvPr/>
        </p:nvSpPr>
        <p:spPr>
          <a:xfrm>
            <a:off x="4688619" y="1811020"/>
            <a:ext cx="335249" cy="250996"/>
          </a:xfrm>
          <a:prstGeom prst="rect">
            <a:avLst/>
          </a:prstGeom>
          <a:solidFill>
            <a:srgbClr val="E67E22">
              <a:alpha val="61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6" name="TextBox 1145"/>
          <p:cNvSpPr txBox="1"/>
          <p:nvPr/>
        </p:nvSpPr>
        <p:spPr>
          <a:xfrm>
            <a:off x="4682619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1147" name="TextBox 1146"/>
          <p:cNvSpPr txBox="1"/>
          <p:nvPr/>
        </p:nvSpPr>
        <p:spPr>
          <a:xfrm>
            <a:off x="4682619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27件</a:t>
            </a:r>
          </a:p>
        </p:txBody>
      </p:sp>
      <p:sp>
        <p:nvSpPr>
          <p:cNvPr id="1148" name="Rectangle 1147"/>
          <p:cNvSpPr/>
          <p:nvPr/>
        </p:nvSpPr>
        <p:spPr>
          <a:xfrm>
            <a:off x="5035868" y="1811020"/>
            <a:ext cx="335249" cy="250996"/>
          </a:xfrm>
          <a:prstGeom prst="rect">
            <a:avLst/>
          </a:prstGeom>
          <a:solidFill>
            <a:srgbClr val="E67E22">
              <a:alpha val="77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9" name="TextBox 1148"/>
          <p:cNvSpPr txBox="1"/>
          <p:nvPr/>
        </p:nvSpPr>
        <p:spPr>
          <a:xfrm>
            <a:off x="5029868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10.0M</a:t>
            </a:r>
          </a:p>
        </p:txBody>
      </p:sp>
      <p:sp>
        <p:nvSpPr>
          <p:cNvPr id="1150" name="TextBox 1149"/>
          <p:cNvSpPr txBox="1"/>
          <p:nvPr/>
        </p:nvSpPr>
        <p:spPr>
          <a:xfrm>
            <a:off x="5029868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151" name="Rectangle 1150"/>
          <p:cNvSpPr/>
          <p:nvPr/>
        </p:nvSpPr>
        <p:spPr>
          <a:xfrm>
            <a:off x="5383117" y="1811020"/>
            <a:ext cx="335249" cy="250996"/>
          </a:xfrm>
          <a:prstGeom prst="rect">
            <a:avLst/>
          </a:prstGeom>
          <a:solidFill>
            <a:srgbClr val="E67E22">
              <a:alpha val="689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2" name="TextBox 1151"/>
          <p:cNvSpPr txBox="1"/>
          <p:nvPr/>
        </p:nvSpPr>
        <p:spPr>
          <a:xfrm>
            <a:off x="537711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8.4M</a:t>
            </a:r>
          </a:p>
        </p:txBody>
      </p:sp>
      <p:sp>
        <p:nvSpPr>
          <p:cNvPr id="1153" name="TextBox 1152"/>
          <p:cNvSpPr txBox="1"/>
          <p:nvPr/>
        </p:nvSpPr>
        <p:spPr>
          <a:xfrm>
            <a:off x="537711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154" name="Rectangle 1153"/>
          <p:cNvSpPr/>
          <p:nvPr/>
        </p:nvSpPr>
        <p:spPr>
          <a:xfrm>
            <a:off x="5730366" y="1811020"/>
            <a:ext cx="335249" cy="250996"/>
          </a:xfrm>
          <a:prstGeom prst="rect">
            <a:avLst/>
          </a:prstGeom>
          <a:solidFill>
            <a:srgbClr val="E67E22">
              <a:alpha val="879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5" name="TextBox 1154"/>
          <p:cNvSpPr txBox="1"/>
          <p:nvPr/>
        </p:nvSpPr>
        <p:spPr>
          <a:xfrm>
            <a:off x="572436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12.0M</a:t>
            </a:r>
          </a:p>
        </p:txBody>
      </p:sp>
      <p:sp>
        <p:nvSpPr>
          <p:cNvPr id="1156" name="TextBox 1155"/>
          <p:cNvSpPr txBox="1"/>
          <p:nvPr/>
        </p:nvSpPr>
        <p:spPr>
          <a:xfrm>
            <a:off x="572436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33件</a:t>
            </a:r>
          </a:p>
        </p:txBody>
      </p:sp>
      <p:sp>
        <p:nvSpPr>
          <p:cNvPr id="1157" name="TextBox 1156"/>
          <p:cNvSpPr txBox="1"/>
          <p:nvPr/>
        </p:nvSpPr>
        <p:spPr>
          <a:xfrm>
            <a:off x="202880" y="2068016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158" name="Rectangle 1157"/>
          <p:cNvSpPr/>
          <p:nvPr/>
        </p:nvSpPr>
        <p:spPr>
          <a:xfrm>
            <a:off x="868880" y="2074016"/>
            <a:ext cx="335249" cy="250996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9" name="TextBox 1158"/>
          <p:cNvSpPr txBox="1"/>
          <p:nvPr/>
        </p:nvSpPr>
        <p:spPr>
          <a:xfrm>
            <a:off x="862880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160" name="TextBox 1159"/>
          <p:cNvSpPr txBox="1"/>
          <p:nvPr/>
        </p:nvSpPr>
        <p:spPr>
          <a:xfrm>
            <a:off x="862880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161" name="Rectangle 1160"/>
          <p:cNvSpPr/>
          <p:nvPr/>
        </p:nvSpPr>
        <p:spPr>
          <a:xfrm>
            <a:off x="1216129" y="2074016"/>
            <a:ext cx="335249" cy="250996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2" name="TextBox 1161"/>
          <p:cNvSpPr txBox="1"/>
          <p:nvPr/>
        </p:nvSpPr>
        <p:spPr>
          <a:xfrm>
            <a:off x="1210129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163" name="TextBox 1162"/>
          <p:cNvSpPr txBox="1"/>
          <p:nvPr/>
        </p:nvSpPr>
        <p:spPr>
          <a:xfrm>
            <a:off x="1210129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164" name="Rectangle 1163"/>
          <p:cNvSpPr/>
          <p:nvPr/>
        </p:nvSpPr>
        <p:spPr>
          <a:xfrm>
            <a:off x="1563378" y="2074016"/>
            <a:ext cx="335249" cy="250996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5" name="TextBox 1164"/>
          <p:cNvSpPr txBox="1"/>
          <p:nvPr/>
        </p:nvSpPr>
        <p:spPr>
          <a:xfrm>
            <a:off x="1557378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166" name="TextBox 1165"/>
          <p:cNvSpPr txBox="1"/>
          <p:nvPr/>
        </p:nvSpPr>
        <p:spPr>
          <a:xfrm>
            <a:off x="1557378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167" name="Rectangle 1166"/>
          <p:cNvSpPr/>
          <p:nvPr/>
        </p:nvSpPr>
        <p:spPr>
          <a:xfrm>
            <a:off x="1910627" y="2074016"/>
            <a:ext cx="335249" cy="250996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8" name="TextBox 1167"/>
          <p:cNvSpPr txBox="1"/>
          <p:nvPr/>
        </p:nvSpPr>
        <p:spPr>
          <a:xfrm>
            <a:off x="190462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1.5M</a:t>
            </a:r>
          </a:p>
        </p:txBody>
      </p:sp>
      <p:sp>
        <p:nvSpPr>
          <p:cNvPr id="1169" name="TextBox 1168"/>
          <p:cNvSpPr txBox="1"/>
          <p:nvPr/>
        </p:nvSpPr>
        <p:spPr>
          <a:xfrm>
            <a:off x="190462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5件</a:t>
            </a:r>
          </a:p>
        </p:txBody>
      </p:sp>
      <p:sp>
        <p:nvSpPr>
          <p:cNvPr id="1170" name="Rectangle 1169"/>
          <p:cNvSpPr/>
          <p:nvPr/>
        </p:nvSpPr>
        <p:spPr>
          <a:xfrm>
            <a:off x="2257876" y="2074016"/>
            <a:ext cx="335249" cy="250996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1" name="TextBox 1170"/>
          <p:cNvSpPr txBox="1"/>
          <p:nvPr/>
        </p:nvSpPr>
        <p:spPr>
          <a:xfrm>
            <a:off x="225187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4.8M</a:t>
            </a:r>
          </a:p>
        </p:txBody>
      </p:sp>
      <p:sp>
        <p:nvSpPr>
          <p:cNvPr id="1172" name="TextBox 1171"/>
          <p:cNvSpPr txBox="1"/>
          <p:nvPr/>
        </p:nvSpPr>
        <p:spPr>
          <a:xfrm>
            <a:off x="225187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173" name="Rectangle 1172"/>
          <p:cNvSpPr/>
          <p:nvPr/>
        </p:nvSpPr>
        <p:spPr>
          <a:xfrm>
            <a:off x="2605125" y="2074016"/>
            <a:ext cx="335249" cy="250996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4" name="TextBox 1173"/>
          <p:cNvSpPr txBox="1"/>
          <p:nvPr/>
        </p:nvSpPr>
        <p:spPr>
          <a:xfrm>
            <a:off x="2599125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175" name="TextBox 1174"/>
          <p:cNvSpPr txBox="1"/>
          <p:nvPr/>
        </p:nvSpPr>
        <p:spPr>
          <a:xfrm>
            <a:off x="2599125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176" name="Rectangle 1175"/>
          <p:cNvSpPr/>
          <p:nvPr/>
        </p:nvSpPr>
        <p:spPr>
          <a:xfrm>
            <a:off x="2952374" y="2074016"/>
            <a:ext cx="335249" cy="250996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7" name="TextBox 1176"/>
          <p:cNvSpPr txBox="1"/>
          <p:nvPr/>
        </p:nvSpPr>
        <p:spPr>
          <a:xfrm>
            <a:off x="2946374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78" name="TextBox 1177"/>
          <p:cNvSpPr txBox="1"/>
          <p:nvPr/>
        </p:nvSpPr>
        <p:spPr>
          <a:xfrm>
            <a:off x="2946374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179" name="Rectangle 1178"/>
          <p:cNvSpPr/>
          <p:nvPr/>
        </p:nvSpPr>
        <p:spPr>
          <a:xfrm>
            <a:off x="3299623" y="2074016"/>
            <a:ext cx="335249" cy="250996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0" name="TextBox 1179"/>
          <p:cNvSpPr txBox="1"/>
          <p:nvPr/>
        </p:nvSpPr>
        <p:spPr>
          <a:xfrm>
            <a:off x="329362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4.1M</a:t>
            </a:r>
          </a:p>
        </p:txBody>
      </p:sp>
      <p:sp>
        <p:nvSpPr>
          <p:cNvPr id="1181" name="TextBox 1180"/>
          <p:cNvSpPr txBox="1"/>
          <p:nvPr/>
        </p:nvSpPr>
        <p:spPr>
          <a:xfrm>
            <a:off x="329362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182" name="Rectangle 1181"/>
          <p:cNvSpPr/>
          <p:nvPr/>
        </p:nvSpPr>
        <p:spPr>
          <a:xfrm>
            <a:off x="3646872" y="2074016"/>
            <a:ext cx="335249" cy="250996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3" name="TextBox 1182"/>
          <p:cNvSpPr txBox="1"/>
          <p:nvPr/>
        </p:nvSpPr>
        <p:spPr>
          <a:xfrm>
            <a:off x="364087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84" name="TextBox 1183"/>
          <p:cNvSpPr txBox="1"/>
          <p:nvPr/>
        </p:nvSpPr>
        <p:spPr>
          <a:xfrm>
            <a:off x="364087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185" name="Rectangle 1184"/>
          <p:cNvSpPr/>
          <p:nvPr/>
        </p:nvSpPr>
        <p:spPr>
          <a:xfrm>
            <a:off x="3994121" y="2074016"/>
            <a:ext cx="335249" cy="250996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6" name="TextBox 1185"/>
          <p:cNvSpPr txBox="1"/>
          <p:nvPr/>
        </p:nvSpPr>
        <p:spPr>
          <a:xfrm>
            <a:off x="3988121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187" name="TextBox 1186"/>
          <p:cNvSpPr txBox="1"/>
          <p:nvPr/>
        </p:nvSpPr>
        <p:spPr>
          <a:xfrm>
            <a:off x="3988121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188" name="Rectangle 1187"/>
          <p:cNvSpPr/>
          <p:nvPr/>
        </p:nvSpPr>
        <p:spPr>
          <a:xfrm>
            <a:off x="4341370" y="2074016"/>
            <a:ext cx="335249" cy="250996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9" name="TextBox 1188"/>
          <p:cNvSpPr txBox="1"/>
          <p:nvPr/>
        </p:nvSpPr>
        <p:spPr>
          <a:xfrm>
            <a:off x="4335370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90" name="TextBox 1189"/>
          <p:cNvSpPr txBox="1"/>
          <p:nvPr/>
        </p:nvSpPr>
        <p:spPr>
          <a:xfrm>
            <a:off x="4335370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191" name="Rectangle 1190"/>
          <p:cNvSpPr/>
          <p:nvPr/>
        </p:nvSpPr>
        <p:spPr>
          <a:xfrm>
            <a:off x="4688619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2" name="TextBox 1191"/>
          <p:cNvSpPr txBox="1"/>
          <p:nvPr/>
        </p:nvSpPr>
        <p:spPr>
          <a:xfrm>
            <a:off x="4682619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193" name="TextBox 1192"/>
          <p:cNvSpPr txBox="1"/>
          <p:nvPr/>
        </p:nvSpPr>
        <p:spPr>
          <a:xfrm>
            <a:off x="4682619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194" name="Rectangle 1193"/>
          <p:cNvSpPr/>
          <p:nvPr/>
        </p:nvSpPr>
        <p:spPr>
          <a:xfrm>
            <a:off x="5035868" y="2074016"/>
            <a:ext cx="335249" cy="250996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5" name="TextBox 1194"/>
          <p:cNvSpPr txBox="1"/>
          <p:nvPr/>
        </p:nvSpPr>
        <p:spPr>
          <a:xfrm>
            <a:off x="5029868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2.6M</a:t>
            </a:r>
          </a:p>
        </p:txBody>
      </p:sp>
      <p:sp>
        <p:nvSpPr>
          <p:cNvPr id="1196" name="TextBox 1195"/>
          <p:cNvSpPr txBox="1"/>
          <p:nvPr/>
        </p:nvSpPr>
        <p:spPr>
          <a:xfrm>
            <a:off x="5029868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197" name="Rectangle 1196"/>
          <p:cNvSpPr/>
          <p:nvPr/>
        </p:nvSpPr>
        <p:spPr>
          <a:xfrm>
            <a:off x="5383117" y="2074016"/>
            <a:ext cx="335249" cy="250996"/>
          </a:xfrm>
          <a:prstGeom prst="rect">
            <a:avLst/>
          </a:prstGeom>
          <a:solidFill>
            <a:srgbClr val="1A7A3F">
              <a:alpha val="550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8" name="TextBox 1197"/>
          <p:cNvSpPr txBox="1"/>
          <p:nvPr/>
        </p:nvSpPr>
        <p:spPr>
          <a:xfrm>
            <a:off x="537711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99" name="TextBox 1198"/>
          <p:cNvSpPr txBox="1"/>
          <p:nvPr/>
        </p:nvSpPr>
        <p:spPr>
          <a:xfrm>
            <a:off x="537711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200" name="Rectangle 1199"/>
          <p:cNvSpPr/>
          <p:nvPr/>
        </p:nvSpPr>
        <p:spPr>
          <a:xfrm>
            <a:off x="5730366" y="2074016"/>
            <a:ext cx="335249" cy="250996"/>
          </a:xfrm>
          <a:prstGeom prst="rect">
            <a:avLst/>
          </a:prstGeom>
          <a:solidFill>
            <a:srgbClr val="1A7A3F">
              <a:alpha val="720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1" name="TextBox 1200"/>
          <p:cNvSpPr txBox="1"/>
          <p:nvPr/>
        </p:nvSpPr>
        <p:spPr>
          <a:xfrm>
            <a:off x="572436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4.7M</a:t>
            </a:r>
          </a:p>
        </p:txBody>
      </p:sp>
      <p:sp>
        <p:nvSpPr>
          <p:cNvPr id="1202" name="TextBox 1201"/>
          <p:cNvSpPr txBox="1"/>
          <p:nvPr/>
        </p:nvSpPr>
        <p:spPr>
          <a:xfrm>
            <a:off x="572436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203" name="TextBox 1202"/>
          <p:cNvSpPr txBox="1"/>
          <p:nvPr/>
        </p:nvSpPr>
        <p:spPr>
          <a:xfrm>
            <a:off x="202880" y="233101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204" name="Rectangle 1203"/>
          <p:cNvSpPr/>
          <p:nvPr/>
        </p:nvSpPr>
        <p:spPr>
          <a:xfrm>
            <a:off x="868880" y="2337012"/>
            <a:ext cx="335249" cy="250996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5" name="TextBox 1204"/>
          <p:cNvSpPr txBox="1"/>
          <p:nvPr/>
        </p:nvSpPr>
        <p:spPr>
          <a:xfrm>
            <a:off x="862880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206" name="TextBox 1205"/>
          <p:cNvSpPr txBox="1"/>
          <p:nvPr/>
        </p:nvSpPr>
        <p:spPr>
          <a:xfrm>
            <a:off x="862880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207" name="Rectangle 1206"/>
          <p:cNvSpPr/>
          <p:nvPr/>
        </p:nvSpPr>
        <p:spPr>
          <a:xfrm>
            <a:off x="1910627" y="2337012"/>
            <a:ext cx="335249" cy="250996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8" name="TextBox 1207"/>
          <p:cNvSpPr txBox="1"/>
          <p:nvPr/>
        </p:nvSpPr>
        <p:spPr>
          <a:xfrm>
            <a:off x="190462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209" name="TextBox 1208"/>
          <p:cNvSpPr txBox="1"/>
          <p:nvPr/>
        </p:nvSpPr>
        <p:spPr>
          <a:xfrm>
            <a:off x="190462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210" name="Rectangle 1209"/>
          <p:cNvSpPr/>
          <p:nvPr/>
        </p:nvSpPr>
        <p:spPr>
          <a:xfrm>
            <a:off x="2605125" y="2337012"/>
            <a:ext cx="335249" cy="250996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1" name="TextBox 1210"/>
          <p:cNvSpPr txBox="1"/>
          <p:nvPr/>
        </p:nvSpPr>
        <p:spPr>
          <a:xfrm>
            <a:off x="2599125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212" name="TextBox 1211"/>
          <p:cNvSpPr txBox="1"/>
          <p:nvPr/>
        </p:nvSpPr>
        <p:spPr>
          <a:xfrm>
            <a:off x="2599125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213" name="Rectangle 1212"/>
          <p:cNvSpPr/>
          <p:nvPr/>
        </p:nvSpPr>
        <p:spPr>
          <a:xfrm>
            <a:off x="3994121" y="2337012"/>
            <a:ext cx="335249" cy="250996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4" name="TextBox 1213"/>
          <p:cNvSpPr txBox="1"/>
          <p:nvPr/>
        </p:nvSpPr>
        <p:spPr>
          <a:xfrm>
            <a:off x="3988121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215" name="TextBox 1214"/>
          <p:cNvSpPr txBox="1"/>
          <p:nvPr/>
        </p:nvSpPr>
        <p:spPr>
          <a:xfrm>
            <a:off x="3988121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216" name="Rectangle 1215"/>
          <p:cNvSpPr/>
          <p:nvPr/>
        </p:nvSpPr>
        <p:spPr>
          <a:xfrm>
            <a:off x="4688619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7" name="TextBox 1216"/>
          <p:cNvSpPr txBox="1"/>
          <p:nvPr/>
        </p:nvSpPr>
        <p:spPr>
          <a:xfrm>
            <a:off x="4682619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218" name="TextBox 1217"/>
          <p:cNvSpPr txBox="1"/>
          <p:nvPr/>
        </p:nvSpPr>
        <p:spPr>
          <a:xfrm>
            <a:off x="4682619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219" name="Rectangle 1218"/>
          <p:cNvSpPr/>
          <p:nvPr/>
        </p:nvSpPr>
        <p:spPr>
          <a:xfrm>
            <a:off x="5383117" y="2337012"/>
            <a:ext cx="335249" cy="250996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0" name="TextBox 1219"/>
          <p:cNvSpPr txBox="1"/>
          <p:nvPr/>
        </p:nvSpPr>
        <p:spPr>
          <a:xfrm>
            <a:off x="537711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221" name="TextBox 1220"/>
          <p:cNvSpPr txBox="1"/>
          <p:nvPr/>
        </p:nvSpPr>
        <p:spPr>
          <a:xfrm>
            <a:off x="537711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222" name="TextBox 1221"/>
          <p:cNvSpPr txBox="1"/>
          <p:nvPr/>
        </p:nvSpPr>
        <p:spPr>
          <a:xfrm>
            <a:off x="202880" y="259400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223" name="Rectangle 1222"/>
          <p:cNvSpPr/>
          <p:nvPr/>
        </p:nvSpPr>
        <p:spPr>
          <a:xfrm>
            <a:off x="1910627" y="2600008"/>
            <a:ext cx="335249" cy="2509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TextBox 1223"/>
          <p:cNvSpPr txBox="1"/>
          <p:nvPr/>
        </p:nvSpPr>
        <p:spPr>
          <a:xfrm>
            <a:off x="1904627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225" name="TextBox 1224"/>
          <p:cNvSpPr txBox="1"/>
          <p:nvPr/>
        </p:nvSpPr>
        <p:spPr>
          <a:xfrm>
            <a:off x="1904627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226" name="Rectangle 1225"/>
          <p:cNvSpPr/>
          <p:nvPr/>
        </p:nvSpPr>
        <p:spPr>
          <a:xfrm>
            <a:off x="2605125" y="2600008"/>
            <a:ext cx="335249" cy="250996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TextBox 1226"/>
          <p:cNvSpPr txBox="1"/>
          <p:nvPr/>
        </p:nvSpPr>
        <p:spPr>
          <a:xfrm>
            <a:off x="2599125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228" name="TextBox 1227"/>
          <p:cNvSpPr txBox="1"/>
          <p:nvPr/>
        </p:nvSpPr>
        <p:spPr>
          <a:xfrm>
            <a:off x="2599125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229" name="TextBox 1228"/>
          <p:cNvSpPr txBox="1"/>
          <p:nvPr/>
        </p:nvSpPr>
        <p:spPr>
          <a:xfrm>
            <a:off x="202880" y="285700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230" name="Rectangle 1229"/>
          <p:cNvSpPr/>
          <p:nvPr/>
        </p:nvSpPr>
        <p:spPr>
          <a:xfrm>
            <a:off x="86888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1" name="TextBox 1230"/>
          <p:cNvSpPr txBox="1"/>
          <p:nvPr/>
        </p:nvSpPr>
        <p:spPr>
          <a:xfrm>
            <a:off x="862880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12.7M</a:t>
            </a:r>
          </a:p>
        </p:txBody>
      </p:sp>
      <p:sp>
        <p:nvSpPr>
          <p:cNvPr id="1232" name="TextBox 1231"/>
          <p:cNvSpPr txBox="1"/>
          <p:nvPr/>
        </p:nvSpPr>
        <p:spPr>
          <a:xfrm>
            <a:off x="862880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1233" name="Rectangle 1232"/>
          <p:cNvSpPr/>
          <p:nvPr/>
        </p:nvSpPr>
        <p:spPr>
          <a:xfrm>
            <a:off x="121612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4" name="TextBox 1233"/>
          <p:cNvSpPr txBox="1"/>
          <p:nvPr/>
        </p:nvSpPr>
        <p:spPr>
          <a:xfrm>
            <a:off x="1210129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13.4M</a:t>
            </a:r>
          </a:p>
        </p:txBody>
      </p:sp>
      <p:sp>
        <p:nvSpPr>
          <p:cNvPr id="1235" name="TextBox 1234"/>
          <p:cNvSpPr txBox="1"/>
          <p:nvPr/>
        </p:nvSpPr>
        <p:spPr>
          <a:xfrm>
            <a:off x="1210129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236" name="Rectangle 1235"/>
          <p:cNvSpPr/>
          <p:nvPr/>
        </p:nvSpPr>
        <p:spPr>
          <a:xfrm>
            <a:off x="156337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7" name="TextBox 1236"/>
          <p:cNvSpPr txBox="1"/>
          <p:nvPr/>
        </p:nvSpPr>
        <p:spPr>
          <a:xfrm>
            <a:off x="155737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26.8M</a:t>
            </a:r>
          </a:p>
        </p:txBody>
      </p:sp>
      <p:sp>
        <p:nvSpPr>
          <p:cNvPr id="1238" name="TextBox 1237"/>
          <p:cNvSpPr txBox="1"/>
          <p:nvPr/>
        </p:nvSpPr>
        <p:spPr>
          <a:xfrm>
            <a:off x="155737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239" name="Rectangle 1238"/>
          <p:cNvSpPr/>
          <p:nvPr/>
        </p:nvSpPr>
        <p:spPr>
          <a:xfrm>
            <a:off x="191062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0" name="TextBox 1239"/>
          <p:cNvSpPr txBox="1"/>
          <p:nvPr/>
        </p:nvSpPr>
        <p:spPr>
          <a:xfrm>
            <a:off x="190462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9.9M</a:t>
            </a:r>
          </a:p>
        </p:txBody>
      </p:sp>
      <p:sp>
        <p:nvSpPr>
          <p:cNvPr id="1241" name="TextBox 1240"/>
          <p:cNvSpPr txBox="1"/>
          <p:nvPr/>
        </p:nvSpPr>
        <p:spPr>
          <a:xfrm>
            <a:off x="190462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22件</a:t>
            </a:r>
          </a:p>
        </p:txBody>
      </p:sp>
      <p:sp>
        <p:nvSpPr>
          <p:cNvPr id="1242" name="Rectangle 1241"/>
          <p:cNvSpPr/>
          <p:nvPr/>
        </p:nvSpPr>
        <p:spPr>
          <a:xfrm>
            <a:off x="225787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3" name="TextBox 1242"/>
          <p:cNvSpPr txBox="1"/>
          <p:nvPr/>
        </p:nvSpPr>
        <p:spPr>
          <a:xfrm>
            <a:off x="225187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11.8M</a:t>
            </a:r>
          </a:p>
        </p:txBody>
      </p:sp>
      <p:sp>
        <p:nvSpPr>
          <p:cNvPr id="1244" name="TextBox 1243"/>
          <p:cNvSpPr txBox="1"/>
          <p:nvPr/>
        </p:nvSpPr>
        <p:spPr>
          <a:xfrm>
            <a:off x="225187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245" name="Rectangle 1244"/>
          <p:cNvSpPr/>
          <p:nvPr/>
        </p:nvSpPr>
        <p:spPr>
          <a:xfrm>
            <a:off x="260512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6" name="TextBox 1245"/>
          <p:cNvSpPr txBox="1"/>
          <p:nvPr/>
        </p:nvSpPr>
        <p:spPr>
          <a:xfrm>
            <a:off x="2599125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22.2M</a:t>
            </a:r>
          </a:p>
        </p:txBody>
      </p:sp>
      <p:sp>
        <p:nvSpPr>
          <p:cNvPr id="1247" name="TextBox 1246"/>
          <p:cNvSpPr txBox="1"/>
          <p:nvPr/>
        </p:nvSpPr>
        <p:spPr>
          <a:xfrm>
            <a:off x="2599125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61件</a:t>
            </a:r>
          </a:p>
        </p:txBody>
      </p:sp>
      <p:sp>
        <p:nvSpPr>
          <p:cNvPr id="1248" name="Rectangle 1247"/>
          <p:cNvSpPr/>
          <p:nvPr/>
        </p:nvSpPr>
        <p:spPr>
          <a:xfrm>
            <a:off x="295237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9" name="TextBox 1248"/>
          <p:cNvSpPr txBox="1"/>
          <p:nvPr/>
        </p:nvSpPr>
        <p:spPr>
          <a:xfrm>
            <a:off x="2946374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250" name="TextBox 1249"/>
          <p:cNvSpPr txBox="1"/>
          <p:nvPr/>
        </p:nvSpPr>
        <p:spPr>
          <a:xfrm>
            <a:off x="2946374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251" name="Rectangle 1250"/>
          <p:cNvSpPr/>
          <p:nvPr/>
        </p:nvSpPr>
        <p:spPr>
          <a:xfrm>
            <a:off x="329962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2" name="TextBox 1251"/>
          <p:cNvSpPr txBox="1"/>
          <p:nvPr/>
        </p:nvSpPr>
        <p:spPr>
          <a:xfrm>
            <a:off x="329362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20.9M</a:t>
            </a:r>
          </a:p>
        </p:txBody>
      </p:sp>
      <p:sp>
        <p:nvSpPr>
          <p:cNvPr id="1253" name="TextBox 1252"/>
          <p:cNvSpPr txBox="1"/>
          <p:nvPr/>
        </p:nvSpPr>
        <p:spPr>
          <a:xfrm>
            <a:off x="329362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57件</a:t>
            </a:r>
          </a:p>
        </p:txBody>
      </p:sp>
      <p:sp>
        <p:nvSpPr>
          <p:cNvPr id="1254" name="Rectangle 1253"/>
          <p:cNvSpPr/>
          <p:nvPr/>
        </p:nvSpPr>
        <p:spPr>
          <a:xfrm>
            <a:off x="364687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5" name="TextBox 1254"/>
          <p:cNvSpPr txBox="1"/>
          <p:nvPr/>
        </p:nvSpPr>
        <p:spPr>
          <a:xfrm>
            <a:off x="364087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256" name="TextBox 1255"/>
          <p:cNvSpPr txBox="1"/>
          <p:nvPr/>
        </p:nvSpPr>
        <p:spPr>
          <a:xfrm>
            <a:off x="364087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257" name="Rectangle 1256"/>
          <p:cNvSpPr/>
          <p:nvPr/>
        </p:nvSpPr>
        <p:spPr>
          <a:xfrm>
            <a:off x="3994121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8" name="TextBox 1257"/>
          <p:cNvSpPr txBox="1"/>
          <p:nvPr/>
        </p:nvSpPr>
        <p:spPr>
          <a:xfrm>
            <a:off x="3988121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19.6M</a:t>
            </a:r>
          </a:p>
        </p:txBody>
      </p:sp>
      <p:sp>
        <p:nvSpPr>
          <p:cNvPr id="1259" name="TextBox 1258"/>
          <p:cNvSpPr txBox="1"/>
          <p:nvPr/>
        </p:nvSpPr>
        <p:spPr>
          <a:xfrm>
            <a:off x="3988121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260" name="Rectangle 1259"/>
          <p:cNvSpPr/>
          <p:nvPr/>
        </p:nvSpPr>
        <p:spPr>
          <a:xfrm>
            <a:off x="434137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1" name="TextBox 1260"/>
          <p:cNvSpPr txBox="1"/>
          <p:nvPr/>
        </p:nvSpPr>
        <p:spPr>
          <a:xfrm>
            <a:off x="4335370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16.8M</a:t>
            </a:r>
          </a:p>
        </p:txBody>
      </p:sp>
      <p:sp>
        <p:nvSpPr>
          <p:cNvPr id="1262" name="TextBox 1261"/>
          <p:cNvSpPr txBox="1"/>
          <p:nvPr/>
        </p:nvSpPr>
        <p:spPr>
          <a:xfrm>
            <a:off x="4335370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263" name="Rectangle 1262"/>
          <p:cNvSpPr/>
          <p:nvPr/>
        </p:nvSpPr>
        <p:spPr>
          <a:xfrm>
            <a:off x="468861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4" name="TextBox 1263"/>
          <p:cNvSpPr txBox="1"/>
          <p:nvPr/>
        </p:nvSpPr>
        <p:spPr>
          <a:xfrm>
            <a:off x="4682619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26.2M</a:t>
            </a:r>
          </a:p>
        </p:txBody>
      </p:sp>
      <p:sp>
        <p:nvSpPr>
          <p:cNvPr id="1265" name="TextBox 1264"/>
          <p:cNvSpPr txBox="1"/>
          <p:nvPr/>
        </p:nvSpPr>
        <p:spPr>
          <a:xfrm>
            <a:off x="4682619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71件</a:t>
            </a:r>
          </a:p>
        </p:txBody>
      </p:sp>
      <p:sp>
        <p:nvSpPr>
          <p:cNvPr id="1266" name="Rectangle 1265"/>
          <p:cNvSpPr/>
          <p:nvPr/>
        </p:nvSpPr>
        <p:spPr>
          <a:xfrm>
            <a:off x="503586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7" name="TextBox 1266"/>
          <p:cNvSpPr txBox="1"/>
          <p:nvPr/>
        </p:nvSpPr>
        <p:spPr>
          <a:xfrm>
            <a:off x="502986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14.1M</a:t>
            </a:r>
          </a:p>
        </p:txBody>
      </p:sp>
      <p:sp>
        <p:nvSpPr>
          <p:cNvPr id="1268" name="TextBox 1267"/>
          <p:cNvSpPr txBox="1"/>
          <p:nvPr/>
        </p:nvSpPr>
        <p:spPr>
          <a:xfrm>
            <a:off x="502986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269" name="Rectangle 1268"/>
          <p:cNvSpPr/>
          <p:nvPr/>
        </p:nvSpPr>
        <p:spPr>
          <a:xfrm>
            <a:off x="538311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0" name="TextBox 1269"/>
          <p:cNvSpPr txBox="1"/>
          <p:nvPr/>
        </p:nvSpPr>
        <p:spPr>
          <a:xfrm>
            <a:off x="537711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22.8M</a:t>
            </a:r>
          </a:p>
        </p:txBody>
      </p:sp>
      <p:sp>
        <p:nvSpPr>
          <p:cNvPr id="1271" name="TextBox 1270"/>
          <p:cNvSpPr txBox="1"/>
          <p:nvPr/>
        </p:nvSpPr>
        <p:spPr>
          <a:xfrm>
            <a:off x="537711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272" name="Rectangle 1271"/>
          <p:cNvSpPr/>
          <p:nvPr/>
        </p:nvSpPr>
        <p:spPr>
          <a:xfrm>
            <a:off x="573036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3" name="TextBox 1272"/>
          <p:cNvSpPr txBox="1"/>
          <p:nvPr/>
        </p:nvSpPr>
        <p:spPr>
          <a:xfrm>
            <a:off x="572436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274" name="TextBox 1273"/>
          <p:cNvSpPr txBox="1"/>
          <p:nvPr/>
        </p:nvSpPr>
        <p:spPr>
          <a:xfrm>
            <a:off x="572436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51件</a:t>
            </a:r>
          </a:p>
        </p:txBody>
      </p:sp>
      <p:sp>
        <p:nvSpPr>
          <p:cNvPr id="1275" name="Rectangle 1274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6" name="TextBox 1275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  周度签单业绩热力矩阵（APE in M）</a:t>
            </a:r>
          </a:p>
        </p:txBody>
      </p:sp>
      <p:sp>
        <p:nvSpPr>
          <p:cNvPr id="1277" name="TextBox 1276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278" name="TextBox 1277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280" name="TextBox 1279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281" name="TextBox 1280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282" name="TextBox 1281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283" name="TextBox 1282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284" name="TextBox 1283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286" name="TextBox 1285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287" name="TextBox 1286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288" name="TextBox 1287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289" name="TextBox 1288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290" name="TextBox 1289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292" name="TextBox 1291"/>
          <p:cNvSpPr txBox="1"/>
          <p:nvPr/>
        </p:nvSpPr>
        <p:spPr>
          <a:xfrm>
            <a:off x="6183056" y="101603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293" name="Rectangle 1292"/>
          <p:cNvSpPr/>
          <p:nvPr/>
        </p:nvSpPr>
        <p:spPr>
          <a:xfrm>
            <a:off x="6849056" y="1022032"/>
            <a:ext cx="335249" cy="250996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4" name="TextBox 1293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295" name="TextBox 1294"/>
          <p:cNvSpPr txBox="1"/>
          <p:nvPr/>
        </p:nvSpPr>
        <p:spPr>
          <a:xfrm>
            <a:off x="684305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296" name="Rectangle 1295"/>
          <p:cNvSpPr/>
          <p:nvPr/>
        </p:nvSpPr>
        <p:spPr>
          <a:xfrm>
            <a:off x="7196305" y="1022032"/>
            <a:ext cx="335249" cy="250996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7" name="TextBox 1296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298" name="TextBox 1297"/>
          <p:cNvSpPr txBox="1"/>
          <p:nvPr/>
        </p:nvSpPr>
        <p:spPr>
          <a:xfrm>
            <a:off x="7190305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299" name="Rectangle 1298"/>
          <p:cNvSpPr/>
          <p:nvPr/>
        </p:nvSpPr>
        <p:spPr>
          <a:xfrm>
            <a:off x="7543554" y="1022032"/>
            <a:ext cx="335249" cy="250996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0" name="TextBox 1299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301" name="TextBox 1300"/>
          <p:cNvSpPr txBox="1"/>
          <p:nvPr/>
        </p:nvSpPr>
        <p:spPr>
          <a:xfrm>
            <a:off x="7537554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302" name="Rectangle 1301"/>
          <p:cNvSpPr/>
          <p:nvPr/>
        </p:nvSpPr>
        <p:spPr>
          <a:xfrm>
            <a:off x="7890803" y="1022032"/>
            <a:ext cx="335249" cy="250996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3" name="TextBox 1302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304" name="TextBox 1303"/>
          <p:cNvSpPr txBox="1"/>
          <p:nvPr/>
        </p:nvSpPr>
        <p:spPr>
          <a:xfrm>
            <a:off x="788480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305" name="Rectangle 1304"/>
          <p:cNvSpPr/>
          <p:nvPr/>
        </p:nvSpPr>
        <p:spPr>
          <a:xfrm>
            <a:off x="8238052" y="1022032"/>
            <a:ext cx="335249" cy="250996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6" name="TextBox 1305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823205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308" name="Rectangle 1307"/>
          <p:cNvSpPr/>
          <p:nvPr/>
        </p:nvSpPr>
        <p:spPr>
          <a:xfrm>
            <a:off x="8585301" y="1022032"/>
            <a:ext cx="335249" cy="250996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TextBox 1308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6.1M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8579301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21件</a:t>
            </a:r>
          </a:p>
        </p:txBody>
      </p:sp>
      <p:sp>
        <p:nvSpPr>
          <p:cNvPr id="1311" name="Rectangle 1310"/>
          <p:cNvSpPr/>
          <p:nvPr/>
        </p:nvSpPr>
        <p:spPr>
          <a:xfrm>
            <a:off x="8932550" y="1022032"/>
            <a:ext cx="335249" cy="250996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TextBox 1311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3.0M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8926550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314" name="Rectangle 1313"/>
          <p:cNvSpPr/>
          <p:nvPr/>
        </p:nvSpPr>
        <p:spPr>
          <a:xfrm>
            <a:off x="9279799" y="1022032"/>
            <a:ext cx="335249" cy="2509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10.4M</a:t>
            </a:r>
          </a:p>
        </p:txBody>
      </p:sp>
      <p:sp>
        <p:nvSpPr>
          <p:cNvPr id="1316" name="TextBox 1315"/>
          <p:cNvSpPr txBox="1"/>
          <p:nvPr/>
        </p:nvSpPr>
        <p:spPr>
          <a:xfrm>
            <a:off x="9273799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317" name="Rectangle 1316"/>
          <p:cNvSpPr/>
          <p:nvPr/>
        </p:nvSpPr>
        <p:spPr>
          <a:xfrm>
            <a:off x="9627048" y="1022032"/>
            <a:ext cx="335249" cy="250996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1.8M</a:t>
            </a:r>
          </a:p>
        </p:txBody>
      </p:sp>
      <p:sp>
        <p:nvSpPr>
          <p:cNvPr id="1319" name="TextBox 1318"/>
          <p:cNvSpPr txBox="1"/>
          <p:nvPr/>
        </p:nvSpPr>
        <p:spPr>
          <a:xfrm>
            <a:off x="9621048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16件</a:t>
            </a:r>
          </a:p>
        </p:txBody>
      </p:sp>
      <p:sp>
        <p:nvSpPr>
          <p:cNvPr id="1320" name="Rectangle 1319"/>
          <p:cNvSpPr/>
          <p:nvPr/>
        </p:nvSpPr>
        <p:spPr>
          <a:xfrm>
            <a:off x="9974297" y="1022032"/>
            <a:ext cx="335249" cy="250996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322" name="TextBox 1321"/>
          <p:cNvSpPr txBox="1"/>
          <p:nvPr/>
        </p:nvSpPr>
        <p:spPr>
          <a:xfrm>
            <a:off x="9968297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1件</a:t>
            </a:r>
          </a:p>
        </p:txBody>
      </p:sp>
      <p:sp>
        <p:nvSpPr>
          <p:cNvPr id="1323" name="Rectangle 1322"/>
          <p:cNvSpPr/>
          <p:nvPr/>
        </p:nvSpPr>
        <p:spPr>
          <a:xfrm>
            <a:off x="10321546" y="1022032"/>
            <a:ext cx="335249" cy="250996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1.0M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10315546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326" name="Rectangle 1325"/>
          <p:cNvSpPr/>
          <p:nvPr/>
        </p:nvSpPr>
        <p:spPr>
          <a:xfrm>
            <a:off x="10668795" y="1022032"/>
            <a:ext cx="335249" cy="250996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2.2M</a:t>
            </a:r>
          </a:p>
        </p:txBody>
      </p:sp>
      <p:sp>
        <p:nvSpPr>
          <p:cNvPr id="1328" name="TextBox 1327"/>
          <p:cNvSpPr txBox="1"/>
          <p:nvPr/>
        </p:nvSpPr>
        <p:spPr>
          <a:xfrm>
            <a:off x="10662795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329" name="Rectangle 1328"/>
          <p:cNvSpPr/>
          <p:nvPr/>
        </p:nvSpPr>
        <p:spPr>
          <a:xfrm>
            <a:off x="11016044" y="1022032"/>
            <a:ext cx="335249" cy="250996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TextBox 1329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1.7M</a:t>
            </a:r>
          </a:p>
        </p:txBody>
      </p:sp>
      <p:sp>
        <p:nvSpPr>
          <p:cNvPr id="1331" name="TextBox 1330"/>
          <p:cNvSpPr txBox="1"/>
          <p:nvPr/>
        </p:nvSpPr>
        <p:spPr>
          <a:xfrm>
            <a:off x="11010044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332" name="Rectangle 1331"/>
          <p:cNvSpPr/>
          <p:nvPr/>
        </p:nvSpPr>
        <p:spPr>
          <a:xfrm>
            <a:off x="11363293" y="1022032"/>
            <a:ext cx="335249" cy="250996"/>
          </a:xfrm>
          <a:prstGeom prst="rect">
            <a:avLst/>
          </a:prstGeom>
          <a:solidFill>
            <a:srgbClr val="2980B9">
              <a:alpha val="294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334" name="TextBox 1333"/>
          <p:cNvSpPr txBox="1"/>
          <p:nvPr/>
        </p:nvSpPr>
        <p:spPr>
          <a:xfrm>
            <a:off x="11357293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335" name="Rectangle 1334"/>
          <p:cNvSpPr/>
          <p:nvPr/>
        </p:nvSpPr>
        <p:spPr>
          <a:xfrm>
            <a:off x="11710542" y="1022032"/>
            <a:ext cx="335249" cy="250996"/>
          </a:xfrm>
          <a:prstGeom prst="rect">
            <a:avLst/>
          </a:prstGeom>
          <a:solidFill>
            <a:srgbClr val="2980B9">
              <a:alpha val="67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TextBox 1335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337" name="TextBox 1336"/>
          <p:cNvSpPr txBox="1"/>
          <p:nvPr/>
        </p:nvSpPr>
        <p:spPr>
          <a:xfrm>
            <a:off x="11704542" y="11540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38" name="TextBox 1337"/>
          <p:cNvSpPr txBox="1"/>
          <p:nvPr/>
        </p:nvSpPr>
        <p:spPr>
          <a:xfrm>
            <a:off x="6183056" y="127902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339" name="Rectangle 1338"/>
          <p:cNvSpPr/>
          <p:nvPr/>
        </p:nvSpPr>
        <p:spPr>
          <a:xfrm>
            <a:off x="6849056" y="1285028"/>
            <a:ext cx="335249" cy="250996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0" name="TextBox 1339"/>
          <p:cNvSpPr txBox="1"/>
          <p:nvPr/>
        </p:nvSpPr>
        <p:spPr>
          <a:xfrm>
            <a:off x="6843056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341" name="TextBox 1340"/>
          <p:cNvSpPr txBox="1"/>
          <p:nvPr/>
        </p:nvSpPr>
        <p:spPr>
          <a:xfrm>
            <a:off x="6843056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42" name="Rectangle 1341"/>
          <p:cNvSpPr/>
          <p:nvPr/>
        </p:nvSpPr>
        <p:spPr>
          <a:xfrm>
            <a:off x="7196305" y="1285028"/>
            <a:ext cx="335249" cy="250996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3" name="TextBox 1342"/>
          <p:cNvSpPr txBox="1"/>
          <p:nvPr/>
        </p:nvSpPr>
        <p:spPr>
          <a:xfrm>
            <a:off x="7190305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44" name="TextBox 1343"/>
          <p:cNvSpPr txBox="1"/>
          <p:nvPr/>
        </p:nvSpPr>
        <p:spPr>
          <a:xfrm>
            <a:off x="7190305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345" name="Rectangle 1344"/>
          <p:cNvSpPr/>
          <p:nvPr/>
        </p:nvSpPr>
        <p:spPr>
          <a:xfrm>
            <a:off x="7543554" y="1285028"/>
            <a:ext cx="335249" cy="2509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6" name="TextBox 1345"/>
          <p:cNvSpPr txBox="1"/>
          <p:nvPr/>
        </p:nvSpPr>
        <p:spPr>
          <a:xfrm>
            <a:off x="7537554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1.4M</a:t>
            </a:r>
          </a:p>
        </p:txBody>
      </p:sp>
      <p:sp>
        <p:nvSpPr>
          <p:cNvPr id="1347" name="TextBox 1346"/>
          <p:cNvSpPr txBox="1"/>
          <p:nvPr/>
        </p:nvSpPr>
        <p:spPr>
          <a:xfrm>
            <a:off x="7537554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48" name="Rectangle 1347"/>
          <p:cNvSpPr/>
          <p:nvPr/>
        </p:nvSpPr>
        <p:spPr>
          <a:xfrm>
            <a:off x="7890803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TextBox 1348"/>
          <p:cNvSpPr txBox="1"/>
          <p:nvPr/>
        </p:nvSpPr>
        <p:spPr>
          <a:xfrm>
            <a:off x="7884803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50" name="TextBox 1349"/>
          <p:cNvSpPr txBox="1"/>
          <p:nvPr/>
        </p:nvSpPr>
        <p:spPr>
          <a:xfrm>
            <a:off x="7884803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351" name="Rectangle 1350"/>
          <p:cNvSpPr/>
          <p:nvPr/>
        </p:nvSpPr>
        <p:spPr>
          <a:xfrm>
            <a:off x="8238052" y="1285028"/>
            <a:ext cx="335249" cy="250996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TextBox 1351"/>
          <p:cNvSpPr txBox="1"/>
          <p:nvPr/>
        </p:nvSpPr>
        <p:spPr>
          <a:xfrm>
            <a:off x="823205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353" name="TextBox 1352"/>
          <p:cNvSpPr txBox="1"/>
          <p:nvPr/>
        </p:nvSpPr>
        <p:spPr>
          <a:xfrm>
            <a:off x="823205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54" name="Rectangle 1353"/>
          <p:cNvSpPr/>
          <p:nvPr/>
        </p:nvSpPr>
        <p:spPr>
          <a:xfrm>
            <a:off x="8585301" y="1285028"/>
            <a:ext cx="335249" cy="250996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TextBox 1354"/>
          <p:cNvSpPr txBox="1"/>
          <p:nvPr/>
        </p:nvSpPr>
        <p:spPr>
          <a:xfrm>
            <a:off x="8579301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356" name="TextBox 1355"/>
          <p:cNvSpPr txBox="1"/>
          <p:nvPr/>
        </p:nvSpPr>
        <p:spPr>
          <a:xfrm>
            <a:off x="8579301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57" name="Rectangle 1356"/>
          <p:cNvSpPr/>
          <p:nvPr/>
        </p:nvSpPr>
        <p:spPr>
          <a:xfrm>
            <a:off x="8932550" y="1285028"/>
            <a:ext cx="335249" cy="250996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TextBox 1357"/>
          <p:cNvSpPr txBox="1"/>
          <p:nvPr/>
        </p:nvSpPr>
        <p:spPr>
          <a:xfrm>
            <a:off x="8926550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8926550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360" name="Rectangle 1359"/>
          <p:cNvSpPr/>
          <p:nvPr/>
        </p:nvSpPr>
        <p:spPr>
          <a:xfrm>
            <a:off x="9279799" y="1285028"/>
            <a:ext cx="335249" cy="250996"/>
          </a:xfrm>
          <a:prstGeom prst="rect">
            <a:avLst/>
          </a:prstGeom>
          <a:solidFill>
            <a:srgbClr val="374151">
              <a:alpha val="45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TextBox 1360"/>
          <p:cNvSpPr txBox="1"/>
          <p:nvPr/>
        </p:nvSpPr>
        <p:spPr>
          <a:xfrm>
            <a:off x="9273799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362" name="TextBox 1361"/>
          <p:cNvSpPr txBox="1"/>
          <p:nvPr/>
        </p:nvSpPr>
        <p:spPr>
          <a:xfrm>
            <a:off x="9273799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63" name="Rectangle 1362"/>
          <p:cNvSpPr/>
          <p:nvPr/>
        </p:nvSpPr>
        <p:spPr>
          <a:xfrm>
            <a:off x="9627048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TextBox 1363"/>
          <p:cNvSpPr txBox="1"/>
          <p:nvPr/>
        </p:nvSpPr>
        <p:spPr>
          <a:xfrm>
            <a:off x="9621048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65" name="TextBox 1364"/>
          <p:cNvSpPr txBox="1"/>
          <p:nvPr/>
        </p:nvSpPr>
        <p:spPr>
          <a:xfrm>
            <a:off x="9621048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66" name="Rectangle 1365"/>
          <p:cNvSpPr/>
          <p:nvPr/>
        </p:nvSpPr>
        <p:spPr>
          <a:xfrm>
            <a:off x="9974297" y="1285028"/>
            <a:ext cx="335249" cy="250996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TextBox 1366"/>
          <p:cNvSpPr txBox="1"/>
          <p:nvPr/>
        </p:nvSpPr>
        <p:spPr>
          <a:xfrm>
            <a:off x="9968297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368" name="TextBox 1367"/>
          <p:cNvSpPr txBox="1"/>
          <p:nvPr/>
        </p:nvSpPr>
        <p:spPr>
          <a:xfrm>
            <a:off x="9968297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69" name="Rectangle 1368"/>
          <p:cNvSpPr/>
          <p:nvPr/>
        </p:nvSpPr>
        <p:spPr>
          <a:xfrm>
            <a:off x="10321546" y="1285028"/>
            <a:ext cx="335249" cy="250996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TextBox 1369"/>
          <p:cNvSpPr txBox="1"/>
          <p:nvPr/>
        </p:nvSpPr>
        <p:spPr>
          <a:xfrm>
            <a:off x="10315546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371" name="TextBox 1370"/>
          <p:cNvSpPr txBox="1"/>
          <p:nvPr/>
        </p:nvSpPr>
        <p:spPr>
          <a:xfrm>
            <a:off x="10315546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72" name="Rectangle 1371"/>
          <p:cNvSpPr/>
          <p:nvPr/>
        </p:nvSpPr>
        <p:spPr>
          <a:xfrm>
            <a:off x="10668795" y="1285028"/>
            <a:ext cx="335249" cy="250996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TextBox 1372"/>
          <p:cNvSpPr txBox="1"/>
          <p:nvPr/>
        </p:nvSpPr>
        <p:spPr>
          <a:xfrm>
            <a:off x="10662795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374" name="TextBox 1373"/>
          <p:cNvSpPr txBox="1"/>
          <p:nvPr/>
        </p:nvSpPr>
        <p:spPr>
          <a:xfrm>
            <a:off x="10662795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75" name="Rectangle 1374"/>
          <p:cNvSpPr/>
          <p:nvPr/>
        </p:nvSpPr>
        <p:spPr>
          <a:xfrm>
            <a:off x="11710542" y="1285028"/>
            <a:ext cx="335249" cy="250996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TextBox 1375"/>
          <p:cNvSpPr txBox="1"/>
          <p:nvPr/>
        </p:nvSpPr>
        <p:spPr>
          <a:xfrm>
            <a:off x="11704542" y="12870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77" name="TextBox 1376"/>
          <p:cNvSpPr txBox="1"/>
          <p:nvPr/>
        </p:nvSpPr>
        <p:spPr>
          <a:xfrm>
            <a:off x="11704542" y="14170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78" name="TextBox 1377"/>
          <p:cNvSpPr txBox="1"/>
          <p:nvPr/>
        </p:nvSpPr>
        <p:spPr>
          <a:xfrm>
            <a:off x="6183056" y="154202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379" name="Rectangle 1378"/>
          <p:cNvSpPr/>
          <p:nvPr/>
        </p:nvSpPr>
        <p:spPr>
          <a:xfrm>
            <a:off x="6849056" y="1548024"/>
            <a:ext cx="335249" cy="250996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0" name="TextBox 1379"/>
          <p:cNvSpPr txBox="1"/>
          <p:nvPr/>
        </p:nvSpPr>
        <p:spPr>
          <a:xfrm>
            <a:off x="684305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0.2M</a:t>
            </a:r>
          </a:p>
        </p:txBody>
      </p:sp>
      <p:sp>
        <p:nvSpPr>
          <p:cNvPr id="1381" name="TextBox 1380"/>
          <p:cNvSpPr txBox="1"/>
          <p:nvPr/>
        </p:nvSpPr>
        <p:spPr>
          <a:xfrm>
            <a:off x="684305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382" name="Rectangle 1381"/>
          <p:cNvSpPr/>
          <p:nvPr/>
        </p:nvSpPr>
        <p:spPr>
          <a:xfrm>
            <a:off x="7196305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3" name="TextBox 1382"/>
          <p:cNvSpPr txBox="1"/>
          <p:nvPr/>
        </p:nvSpPr>
        <p:spPr>
          <a:xfrm>
            <a:off x="7190305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384" name="TextBox 1383"/>
          <p:cNvSpPr txBox="1"/>
          <p:nvPr/>
        </p:nvSpPr>
        <p:spPr>
          <a:xfrm>
            <a:off x="7190305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85" name="Rectangle 1384"/>
          <p:cNvSpPr/>
          <p:nvPr/>
        </p:nvSpPr>
        <p:spPr>
          <a:xfrm>
            <a:off x="7543554" y="1548024"/>
            <a:ext cx="335249" cy="250996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6" name="TextBox 1385"/>
          <p:cNvSpPr txBox="1"/>
          <p:nvPr/>
        </p:nvSpPr>
        <p:spPr>
          <a:xfrm>
            <a:off x="7537554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1.9M</a:t>
            </a:r>
          </a:p>
        </p:txBody>
      </p:sp>
      <p:sp>
        <p:nvSpPr>
          <p:cNvPr id="1387" name="TextBox 1386"/>
          <p:cNvSpPr txBox="1"/>
          <p:nvPr/>
        </p:nvSpPr>
        <p:spPr>
          <a:xfrm>
            <a:off x="7537554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88" name="Rectangle 1387"/>
          <p:cNvSpPr/>
          <p:nvPr/>
        </p:nvSpPr>
        <p:spPr>
          <a:xfrm>
            <a:off x="7890803" y="1548024"/>
            <a:ext cx="335249" cy="250996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9" name="TextBox 1388"/>
          <p:cNvSpPr txBox="1"/>
          <p:nvPr/>
        </p:nvSpPr>
        <p:spPr>
          <a:xfrm>
            <a:off x="788480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0.5M</a:t>
            </a:r>
          </a:p>
        </p:txBody>
      </p:sp>
      <p:sp>
        <p:nvSpPr>
          <p:cNvPr id="1390" name="TextBox 1389"/>
          <p:cNvSpPr txBox="1"/>
          <p:nvPr/>
        </p:nvSpPr>
        <p:spPr>
          <a:xfrm>
            <a:off x="788480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91" name="Rectangle 1390"/>
          <p:cNvSpPr/>
          <p:nvPr/>
        </p:nvSpPr>
        <p:spPr>
          <a:xfrm>
            <a:off x="8238052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2" name="TextBox 1391"/>
          <p:cNvSpPr txBox="1"/>
          <p:nvPr/>
        </p:nvSpPr>
        <p:spPr>
          <a:xfrm>
            <a:off x="823205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823205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94" name="Rectangle 1393"/>
          <p:cNvSpPr/>
          <p:nvPr/>
        </p:nvSpPr>
        <p:spPr>
          <a:xfrm>
            <a:off x="8585301" y="1548024"/>
            <a:ext cx="335249" cy="250996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TextBox 1394"/>
          <p:cNvSpPr txBox="1"/>
          <p:nvPr/>
        </p:nvSpPr>
        <p:spPr>
          <a:xfrm>
            <a:off x="8579301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96" name="TextBox 1395"/>
          <p:cNvSpPr txBox="1"/>
          <p:nvPr/>
        </p:nvSpPr>
        <p:spPr>
          <a:xfrm>
            <a:off x="8579301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97" name="Rectangle 1396"/>
          <p:cNvSpPr/>
          <p:nvPr/>
        </p:nvSpPr>
        <p:spPr>
          <a:xfrm>
            <a:off x="8932550" y="1548024"/>
            <a:ext cx="335249" cy="250996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TextBox 1397"/>
          <p:cNvSpPr txBox="1"/>
          <p:nvPr/>
        </p:nvSpPr>
        <p:spPr>
          <a:xfrm>
            <a:off x="8926550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399" name="TextBox 1398"/>
          <p:cNvSpPr txBox="1"/>
          <p:nvPr/>
        </p:nvSpPr>
        <p:spPr>
          <a:xfrm>
            <a:off x="8926550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400" name="Rectangle 1399"/>
          <p:cNvSpPr/>
          <p:nvPr/>
        </p:nvSpPr>
        <p:spPr>
          <a:xfrm>
            <a:off x="9279799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TextBox 1400"/>
          <p:cNvSpPr txBox="1"/>
          <p:nvPr/>
        </p:nvSpPr>
        <p:spPr>
          <a:xfrm>
            <a:off x="9273799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9273799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403" name="Rectangle 1402"/>
          <p:cNvSpPr/>
          <p:nvPr/>
        </p:nvSpPr>
        <p:spPr>
          <a:xfrm>
            <a:off x="9627048" y="1548024"/>
            <a:ext cx="335249" cy="250996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TextBox 1403"/>
          <p:cNvSpPr txBox="1"/>
          <p:nvPr/>
        </p:nvSpPr>
        <p:spPr>
          <a:xfrm>
            <a:off x="9621048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9621048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406" name="Rectangle 1405"/>
          <p:cNvSpPr/>
          <p:nvPr/>
        </p:nvSpPr>
        <p:spPr>
          <a:xfrm>
            <a:off x="9974297" y="1548024"/>
            <a:ext cx="335249" cy="250996"/>
          </a:xfrm>
          <a:prstGeom prst="rect">
            <a:avLst/>
          </a:prstGeom>
          <a:solidFill>
            <a:srgbClr val="1F3864">
              <a:alpha val="7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TextBox 1406"/>
          <p:cNvSpPr txBox="1"/>
          <p:nvPr/>
        </p:nvSpPr>
        <p:spPr>
          <a:xfrm>
            <a:off x="9968297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408" name="TextBox 1407"/>
          <p:cNvSpPr txBox="1"/>
          <p:nvPr/>
        </p:nvSpPr>
        <p:spPr>
          <a:xfrm>
            <a:off x="9968297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409" name="Rectangle 1408"/>
          <p:cNvSpPr/>
          <p:nvPr/>
        </p:nvSpPr>
        <p:spPr>
          <a:xfrm>
            <a:off x="10321546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TextBox 1409"/>
          <p:cNvSpPr txBox="1"/>
          <p:nvPr/>
        </p:nvSpPr>
        <p:spPr>
          <a:xfrm>
            <a:off x="10315546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10315546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412" name="Rectangle 1411"/>
          <p:cNvSpPr/>
          <p:nvPr/>
        </p:nvSpPr>
        <p:spPr>
          <a:xfrm>
            <a:off x="10668795" y="1548024"/>
            <a:ext cx="335249" cy="250996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TextBox 1412"/>
          <p:cNvSpPr txBox="1"/>
          <p:nvPr/>
        </p:nvSpPr>
        <p:spPr>
          <a:xfrm>
            <a:off x="10662795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3.2M</a:t>
            </a:r>
          </a:p>
        </p:txBody>
      </p:sp>
      <p:sp>
        <p:nvSpPr>
          <p:cNvPr id="1414" name="TextBox 1413"/>
          <p:cNvSpPr txBox="1"/>
          <p:nvPr/>
        </p:nvSpPr>
        <p:spPr>
          <a:xfrm>
            <a:off x="10662795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415" name="Rectangle 1414"/>
          <p:cNvSpPr/>
          <p:nvPr/>
        </p:nvSpPr>
        <p:spPr>
          <a:xfrm>
            <a:off x="11016044" y="1548024"/>
            <a:ext cx="335249" cy="250996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TextBox 1415"/>
          <p:cNvSpPr txBox="1"/>
          <p:nvPr/>
        </p:nvSpPr>
        <p:spPr>
          <a:xfrm>
            <a:off x="11010044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3.1M</a:t>
            </a:r>
          </a:p>
        </p:txBody>
      </p:sp>
      <p:sp>
        <p:nvSpPr>
          <p:cNvPr id="1417" name="TextBox 1416"/>
          <p:cNvSpPr txBox="1"/>
          <p:nvPr/>
        </p:nvSpPr>
        <p:spPr>
          <a:xfrm>
            <a:off x="11010044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418" name="Rectangle 1417"/>
          <p:cNvSpPr/>
          <p:nvPr/>
        </p:nvSpPr>
        <p:spPr>
          <a:xfrm>
            <a:off x="11363293" y="1548024"/>
            <a:ext cx="335249" cy="250996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TextBox 1418"/>
          <p:cNvSpPr txBox="1"/>
          <p:nvPr/>
        </p:nvSpPr>
        <p:spPr>
          <a:xfrm>
            <a:off x="11357293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420" name="TextBox 1419"/>
          <p:cNvSpPr txBox="1"/>
          <p:nvPr/>
        </p:nvSpPr>
        <p:spPr>
          <a:xfrm>
            <a:off x="11357293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421" name="Rectangle 1420"/>
          <p:cNvSpPr/>
          <p:nvPr/>
        </p:nvSpPr>
        <p:spPr>
          <a:xfrm>
            <a:off x="11710542" y="1548024"/>
            <a:ext cx="335249" cy="2509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TextBox 1421"/>
          <p:cNvSpPr txBox="1"/>
          <p:nvPr/>
        </p:nvSpPr>
        <p:spPr>
          <a:xfrm>
            <a:off x="11704542" y="15500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423" name="TextBox 1422"/>
          <p:cNvSpPr txBox="1"/>
          <p:nvPr/>
        </p:nvSpPr>
        <p:spPr>
          <a:xfrm>
            <a:off x="11704542" y="16800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424" name="TextBox 1423"/>
          <p:cNvSpPr txBox="1"/>
          <p:nvPr/>
        </p:nvSpPr>
        <p:spPr>
          <a:xfrm>
            <a:off x="6183056" y="1805020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425" name="Rectangle 1424"/>
          <p:cNvSpPr/>
          <p:nvPr/>
        </p:nvSpPr>
        <p:spPr>
          <a:xfrm>
            <a:off x="6849056" y="1811020"/>
            <a:ext cx="335249" cy="250996"/>
          </a:xfrm>
          <a:prstGeom prst="rect">
            <a:avLst/>
          </a:prstGeom>
          <a:solidFill>
            <a:srgbClr val="E67E22">
              <a:alpha val="30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6" name="TextBox 1425"/>
          <p:cNvSpPr txBox="1"/>
          <p:nvPr/>
        </p:nvSpPr>
        <p:spPr>
          <a:xfrm>
            <a:off x="684305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1.0M</a:t>
            </a:r>
          </a:p>
        </p:txBody>
      </p:sp>
      <p:sp>
        <p:nvSpPr>
          <p:cNvPr id="1427" name="TextBox 1426"/>
          <p:cNvSpPr txBox="1"/>
          <p:nvPr/>
        </p:nvSpPr>
        <p:spPr>
          <a:xfrm>
            <a:off x="684305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428" name="Rectangle 1427"/>
          <p:cNvSpPr/>
          <p:nvPr/>
        </p:nvSpPr>
        <p:spPr>
          <a:xfrm>
            <a:off x="7196305" y="1811020"/>
            <a:ext cx="335249" cy="250996"/>
          </a:xfrm>
          <a:prstGeom prst="rect">
            <a:avLst/>
          </a:prstGeom>
          <a:solidFill>
            <a:srgbClr val="E67E22">
              <a:alpha val="555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9" name="TextBox 1428"/>
          <p:cNvSpPr txBox="1"/>
          <p:nvPr/>
        </p:nvSpPr>
        <p:spPr>
          <a:xfrm>
            <a:off x="7190305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430" name="TextBox 1429"/>
          <p:cNvSpPr txBox="1"/>
          <p:nvPr/>
        </p:nvSpPr>
        <p:spPr>
          <a:xfrm>
            <a:off x="7190305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31" name="Rectangle 1430"/>
          <p:cNvSpPr/>
          <p:nvPr/>
        </p:nvSpPr>
        <p:spPr>
          <a:xfrm>
            <a:off x="7543554" y="1811020"/>
            <a:ext cx="335249" cy="250996"/>
          </a:xfrm>
          <a:prstGeom prst="rect">
            <a:avLst/>
          </a:prstGeom>
          <a:solidFill>
            <a:srgbClr val="E67E22">
              <a:alpha val="462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2" name="TextBox 1431"/>
          <p:cNvSpPr txBox="1"/>
          <p:nvPr/>
        </p:nvSpPr>
        <p:spPr>
          <a:xfrm>
            <a:off x="7537554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1433" name="TextBox 1432"/>
          <p:cNvSpPr txBox="1"/>
          <p:nvPr/>
        </p:nvSpPr>
        <p:spPr>
          <a:xfrm>
            <a:off x="7537554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20件</a:t>
            </a:r>
          </a:p>
        </p:txBody>
      </p:sp>
      <p:sp>
        <p:nvSpPr>
          <p:cNvPr id="1434" name="Rectangle 1433"/>
          <p:cNvSpPr/>
          <p:nvPr/>
        </p:nvSpPr>
        <p:spPr>
          <a:xfrm>
            <a:off x="7890803" y="1811020"/>
            <a:ext cx="335249" cy="250996"/>
          </a:xfrm>
          <a:prstGeom prst="rect">
            <a:avLst/>
          </a:prstGeom>
          <a:solidFill>
            <a:srgbClr val="E67E22">
              <a:alpha val="9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5" name="TextBox 1434"/>
          <p:cNvSpPr txBox="1"/>
          <p:nvPr/>
        </p:nvSpPr>
        <p:spPr>
          <a:xfrm>
            <a:off x="7884803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12.5M</a:t>
            </a:r>
          </a:p>
        </p:txBody>
      </p:sp>
      <p:sp>
        <p:nvSpPr>
          <p:cNvPr id="1436" name="TextBox 1435"/>
          <p:cNvSpPr txBox="1"/>
          <p:nvPr/>
        </p:nvSpPr>
        <p:spPr>
          <a:xfrm>
            <a:off x="7884803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18件</a:t>
            </a:r>
          </a:p>
        </p:txBody>
      </p:sp>
      <p:sp>
        <p:nvSpPr>
          <p:cNvPr id="1437" name="Rectangle 1436"/>
          <p:cNvSpPr/>
          <p:nvPr/>
        </p:nvSpPr>
        <p:spPr>
          <a:xfrm>
            <a:off x="8238052" y="1811020"/>
            <a:ext cx="335249" cy="250996"/>
          </a:xfrm>
          <a:prstGeom prst="rect">
            <a:avLst/>
          </a:prstGeom>
          <a:solidFill>
            <a:srgbClr val="E67E22">
              <a:alpha val="356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8" name="TextBox 1437"/>
          <p:cNvSpPr txBox="1"/>
          <p:nvPr/>
        </p:nvSpPr>
        <p:spPr>
          <a:xfrm>
            <a:off x="823205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1.8M</a:t>
            </a:r>
          </a:p>
        </p:txBody>
      </p:sp>
      <p:sp>
        <p:nvSpPr>
          <p:cNvPr id="1439" name="TextBox 1438"/>
          <p:cNvSpPr txBox="1"/>
          <p:nvPr/>
        </p:nvSpPr>
        <p:spPr>
          <a:xfrm>
            <a:off x="823205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440" name="Rectangle 1439"/>
          <p:cNvSpPr/>
          <p:nvPr/>
        </p:nvSpPr>
        <p:spPr>
          <a:xfrm>
            <a:off x="8585301" y="1811020"/>
            <a:ext cx="335249" cy="250996"/>
          </a:xfrm>
          <a:prstGeom prst="rect">
            <a:avLst/>
          </a:prstGeom>
          <a:solidFill>
            <a:srgbClr val="E67E22">
              <a:alpha val="64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TextBox 1440"/>
          <p:cNvSpPr txBox="1"/>
          <p:nvPr/>
        </p:nvSpPr>
        <p:spPr>
          <a:xfrm>
            <a:off x="8579301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6.7M</a:t>
            </a:r>
          </a:p>
        </p:txBody>
      </p:sp>
      <p:sp>
        <p:nvSpPr>
          <p:cNvPr id="1442" name="TextBox 1441"/>
          <p:cNvSpPr txBox="1"/>
          <p:nvPr/>
        </p:nvSpPr>
        <p:spPr>
          <a:xfrm>
            <a:off x="8579301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443" name="Rectangle 1442"/>
          <p:cNvSpPr/>
          <p:nvPr/>
        </p:nvSpPr>
        <p:spPr>
          <a:xfrm>
            <a:off x="8932550" y="1811020"/>
            <a:ext cx="335249" cy="250996"/>
          </a:xfrm>
          <a:prstGeom prst="rect">
            <a:avLst/>
          </a:prstGeom>
          <a:solidFill>
            <a:srgbClr val="E67E22">
              <a:alpha val="5930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TextBox 1443"/>
          <p:cNvSpPr txBox="1"/>
          <p:nvPr/>
        </p:nvSpPr>
        <p:spPr>
          <a:xfrm>
            <a:off x="8926550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445" name="TextBox 1444"/>
          <p:cNvSpPr txBox="1"/>
          <p:nvPr/>
        </p:nvSpPr>
        <p:spPr>
          <a:xfrm>
            <a:off x="8926550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446" name="Rectangle 1445"/>
          <p:cNvSpPr/>
          <p:nvPr/>
        </p:nvSpPr>
        <p:spPr>
          <a:xfrm>
            <a:off x="9279799" y="1811020"/>
            <a:ext cx="335249" cy="2509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TextBox 1446"/>
          <p:cNvSpPr txBox="1"/>
          <p:nvPr/>
        </p:nvSpPr>
        <p:spPr>
          <a:xfrm>
            <a:off x="9273799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12.8M</a:t>
            </a:r>
          </a:p>
        </p:txBody>
      </p:sp>
      <p:sp>
        <p:nvSpPr>
          <p:cNvPr id="1448" name="TextBox 1447"/>
          <p:cNvSpPr txBox="1"/>
          <p:nvPr/>
        </p:nvSpPr>
        <p:spPr>
          <a:xfrm>
            <a:off x="9273799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37件</a:t>
            </a:r>
          </a:p>
        </p:txBody>
      </p:sp>
      <p:sp>
        <p:nvSpPr>
          <p:cNvPr id="1449" name="Rectangle 1448"/>
          <p:cNvSpPr/>
          <p:nvPr/>
        </p:nvSpPr>
        <p:spPr>
          <a:xfrm>
            <a:off x="9627048" y="1811020"/>
            <a:ext cx="335249" cy="250996"/>
          </a:xfrm>
          <a:prstGeom prst="rect">
            <a:avLst/>
          </a:prstGeom>
          <a:solidFill>
            <a:srgbClr val="E67E22">
              <a:alpha val="550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TextBox 1449"/>
          <p:cNvSpPr txBox="1"/>
          <p:nvPr/>
        </p:nvSpPr>
        <p:spPr>
          <a:xfrm>
            <a:off x="9621048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9621048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452" name="Rectangle 1451"/>
          <p:cNvSpPr/>
          <p:nvPr/>
        </p:nvSpPr>
        <p:spPr>
          <a:xfrm>
            <a:off x="9974297" y="1811020"/>
            <a:ext cx="335249" cy="250996"/>
          </a:xfrm>
          <a:prstGeom prst="rect">
            <a:avLst/>
          </a:prstGeom>
          <a:solidFill>
            <a:srgbClr val="E67E22">
              <a:alpha val="460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9968297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1454" name="TextBox 1453"/>
          <p:cNvSpPr txBox="1"/>
          <p:nvPr/>
        </p:nvSpPr>
        <p:spPr>
          <a:xfrm>
            <a:off x="9968297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455" name="Rectangle 1454"/>
          <p:cNvSpPr/>
          <p:nvPr/>
        </p:nvSpPr>
        <p:spPr>
          <a:xfrm>
            <a:off x="10321546" y="1811020"/>
            <a:ext cx="335249" cy="250996"/>
          </a:xfrm>
          <a:prstGeom prst="rect">
            <a:avLst/>
          </a:prstGeom>
          <a:solidFill>
            <a:srgbClr val="E67E22">
              <a:alpha val="894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TextBox 1455"/>
          <p:cNvSpPr txBox="1"/>
          <p:nvPr/>
        </p:nvSpPr>
        <p:spPr>
          <a:xfrm>
            <a:off x="10315546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11.0M</a:t>
            </a:r>
          </a:p>
        </p:txBody>
      </p:sp>
      <p:sp>
        <p:nvSpPr>
          <p:cNvPr id="1457" name="TextBox 1456"/>
          <p:cNvSpPr txBox="1"/>
          <p:nvPr/>
        </p:nvSpPr>
        <p:spPr>
          <a:xfrm>
            <a:off x="10315546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1458" name="Rectangle 1457"/>
          <p:cNvSpPr/>
          <p:nvPr/>
        </p:nvSpPr>
        <p:spPr>
          <a:xfrm>
            <a:off x="10668795" y="1811020"/>
            <a:ext cx="335249" cy="250996"/>
          </a:xfrm>
          <a:prstGeom prst="rect">
            <a:avLst/>
          </a:prstGeom>
          <a:solidFill>
            <a:srgbClr val="E67E22">
              <a:alpha val="866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TextBox 1458"/>
          <p:cNvSpPr txBox="1"/>
          <p:nvPr/>
        </p:nvSpPr>
        <p:spPr>
          <a:xfrm>
            <a:off x="10662795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10.6M</a:t>
            </a:r>
          </a:p>
        </p:txBody>
      </p:sp>
      <p:sp>
        <p:nvSpPr>
          <p:cNvPr id="1460" name="TextBox 1459"/>
          <p:cNvSpPr txBox="1"/>
          <p:nvPr/>
        </p:nvSpPr>
        <p:spPr>
          <a:xfrm>
            <a:off x="10662795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24件</a:t>
            </a:r>
          </a:p>
        </p:txBody>
      </p:sp>
      <p:sp>
        <p:nvSpPr>
          <p:cNvPr id="1461" name="Rectangle 1460"/>
          <p:cNvSpPr/>
          <p:nvPr/>
        </p:nvSpPr>
        <p:spPr>
          <a:xfrm>
            <a:off x="11016044" y="1811020"/>
            <a:ext cx="335249" cy="250996"/>
          </a:xfrm>
          <a:prstGeom prst="rect">
            <a:avLst/>
          </a:prstGeom>
          <a:solidFill>
            <a:srgbClr val="E67E22">
              <a:alpha val="74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TextBox 1461"/>
          <p:cNvSpPr txBox="1"/>
          <p:nvPr/>
        </p:nvSpPr>
        <p:spPr>
          <a:xfrm>
            <a:off x="11010044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8.5M</a:t>
            </a:r>
          </a:p>
        </p:txBody>
      </p:sp>
      <p:sp>
        <p:nvSpPr>
          <p:cNvPr id="1463" name="TextBox 1462"/>
          <p:cNvSpPr txBox="1"/>
          <p:nvPr/>
        </p:nvSpPr>
        <p:spPr>
          <a:xfrm>
            <a:off x="11010044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26件</a:t>
            </a:r>
          </a:p>
        </p:txBody>
      </p:sp>
      <p:sp>
        <p:nvSpPr>
          <p:cNvPr id="1464" name="Rectangle 1463"/>
          <p:cNvSpPr/>
          <p:nvPr/>
        </p:nvSpPr>
        <p:spPr>
          <a:xfrm>
            <a:off x="11363293" y="1811020"/>
            <a:ext cx="335249" cy="250996"/>
          </a:xfrm>
          <a:prstGeom prst="rect">
            <a:avLst/>
          </a:prstGeom>
          <a:solidFill>
            <a:srgbClr val="E67E22">
              <a:alpha val="567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TextBox 1464"/>
          <p:cNvSpPr txBox="1"/>
          <p:nvPr/>
        </p:nvSpPr>
        <p:spPr>
          <a:xfrm>
            <a:off x="11357293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5.4M</a:t>
            </a:r>
          </a:p>
        </p:txBody>
      </p:sp>
      <p:sp>
        <p:nvSpPr>
          <p:cNvPr id="1466" name="TextBox 1465"/>
          <p:cNvSpPr txBox="1"/>
          <p:nvPr/>
        </p:nvSpPr>
        <p:spPr>
          <a:xfrm>
            <a:off x="11357293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18件</a:t>
            </a:r>
          </a:p>
        </p:txBody>
      </p:sp>
      <p:sp>
        <p:nvSpPr>
          <p:cNvPr id="1467" name="Rectangle 1466"/>
          <p:cNvSpPr/>
          <p:nvPr/>
        </p:nvSpPr>
        <p:spPr>
          <a:xfrm>
            <a:off x="11710542" y="1811020"/>
            <a:ext cx="335249" cy="250996"/>
          </a:xfrm>
          <a:prstGeom prst="rect">
            <a:avLst/>
          </a:prstGeom>
          <a:solidFill>
            <a:srgbClr val="E67E22">
              <a:alpha val="631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TextBox 1467"/>
          <p:cNvSpPr txBox="1"/>
          <p:nvPr/>
        </p:nvSpPr>
        <p:spPr>
          <a:xfrm>
            <a:off x="11704542" y="18130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6.5M</a:t>
            </a:r>
          </a:p>
        </p:txBody>
      </p:sp>
      <p:sp>
        <p:nvSpPr>
          <p:cNvPr id="1469" name="TextBox 1468"/>
          <p:cNvSpPr txBox="1"/>
          <p:nvPr/>
        </p:nvSpPr>
        <p:spPr>
          <a:xfrm>
            <a:off x="11704542" y="19430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470" name="TextBox 1469"/>
          <p:cNvSpPr txBox="1"/>
          <p:nvPr/>
        </p:nvSpPr>
        <p:spPr>
          <a:xfrm>
            <a:off x="6183056" y="2068016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471" name="Rectangle 1470"/>
          <p:cNvSpPr/>
          <p:nvPr/>
        </p:nvSpPr>
        <p:spPr>
          <a:xfrm>
            <a:off x="6849056" y="2074016"/>
            <a:ext cx="335249" cy="250996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2" name="TextBox 1471"/>
          <p:cNvSpPr txBox="1"/>
          <p:nvPr/>
        </p:nvSpPr>
        <p:spPr>
          <a:xfrm>
            <a:off x="684305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473" name="TextBox 1472"/>
          <p:cNvSpPr txBox="1"/>
          <p:nvPr/>
        </p:nvSpPr>
        <p:spPr>
          <a:xfrm>
            <a:off x="684305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474" name="Rectangle 1473"/>
          <p:cNvSpPr/>
          <p:nvPr/>
        </p:nvSpPr>
        <p:spPr>
          <a:xfrm>
            <a:off x="7196305" y="2074016"/>
            <a:ext cx="335249" cy="250996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5" name="TextBox 1474"/>
          <p:cNvSpPr txBox="1"/>
          <p:nvPr/>
        </p:nvSpPr>
        <p:spPr>
          <a:xfrm>
            <a:off x="7190305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2.8M</a:t>
            </a:r>
          </a:p>
        </p:txBody>
      </p:sp>
      <p:sp>
        <p:nvSpPr>
          <p:cNvPr id="1476" name="TextBox 1475"/>
          <p:cNvSpPr txBox="1"/>
          <p:nvPr/>
        </p:nvSpPr>
        <p:spPr>
          <a:xfrm>
            <a:off x="7190305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77" name="Rectangle 1476"/>
          <p:cNvSpPr/>
          <p:nvPr/>
        </p:nvSpPr>
        <p:spPr>
          <a:xfrm>
            <a:off x="7543554" y="2074016"/>
            <a:ext cx="335249" cy="250996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8" name="TextBox 1477"/>
          <p:cNvSpPr txBox="1"/>
          <p:nvPr/>
        </p:nvSpPr>
        <p:spPr>
          <a:xfrm>
            <a:off x="7537554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5.8M</a:t>
            </a:r>
          </a:p>
        </p:txBody>
      </p:sp>
      <p:sp>
        <p:nvSpPr>
          <p:cNvPr id="1479" name="TextBox 1478"/>
          <p:cNvSpPr txBox="1"/>
          <p:nvPr/>
        </p:nvSpPr>
        <p:spPr>
          <a:xfrm>
            <a:off x="7537554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480" name="Rectangle 1479"/>
          <p:cNvSpPr/>
          <p:nvPr/>
        </p:nvSpPr>
        <p:spPr>
          <a:xfrm>
            <a:off x="7890803" y="2074016"/>
            <a:ext cx="335249" cy="250996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1" name="TextBox 1480"/>
          <p:cNvSpPr txBox="1"/>
          <p:nvPr/>
        </p:nvSpPr>
        <p:spPr>
          <a:xfrm>
            <a:off x="788480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82" name="TextBox 1481"/>
          <p:cNvSpPr txBox="1"/>
          <p:nvPr/>
        </p:nvSpPr>
        <p:spPr>
          <a:xfrm>
            <a:off x="788480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483" name="Rectangle 1482"/>
          <p:cNvSpPr/>
          <p:nvPr/>
        </p:nvSpPr>
        <p:spPr>
          <a:xfrm>
            <a:off x="8238052" y="2074016"/>
            <a:ext cx="335249" cy="250996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4" name="TextBox 1483"/>
          <p:cNvSpPr txBox="1"/>
          <p:nvPr/>
        </p:nvSpPr>
        <p:spPr>
          <a:xfrm>
            <a:off x="823205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4.2M</a:t>
            </a:r>
          </a:p>
        </p:txBody>
      </p:sp>
      <p:sp>
        <p:nvSpPr>
          <p:cNvPr id="1485" name="TextBox 1484"/>
          <p:cNvSpPr txBox="1"/>
          <p:nvPr/>
        </p:nvSpPr>
        <p:spPr>
          <a:xfrm>
            <a:off x="823205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486" name="Rectangle 1485"/>
          <p:cNvSpPr/>
          <p:nvPr/>
        </p:nvSpPr>
        <p:spPr>
          <a:xfrm>
            <a:off x="8585301" y="2074016"/>
            <a:ext cx="335249" cy="250996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TextBox 1486"/>
          <p:cNvSpPr txBox="1"/>
          <p:nvPr/>
        </p:nvSpPr>
        <p:spPr>
          <a:xfrm>
            <a:off x="8579301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488" name="TextBox 1487"/>
          <p:cNvSpPr txBox="1"/>
          <p:nvPr/>
        </p:nvSpPr>
        <p:spPr>
          <a:xfrm>
            <a:off x="8579301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489" name="Rectangle 1488"/>
          <p:cNvSpPr/>
          <p:nvPr/>
        </p:nvSpPr>
        <p:spPr>
          <a:xfrm>
            <a:off x="8932550" y="2074016"/>
            <a:ext cx="335249" cy="250996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TextBox 1489"/>
          <p:cNvSpPr txBox="1"/>
          <p:nvPr/>
        </p:nvSpPr>
        <p:spPr>
          <a:xfrm>
            <a:off x="8926550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491" name="TextBox 1490"/>
          <p:cNvSpPr txBox="1"/>
          <p:nvPr/>
        </p:nvSpPr>
        <p:spPr>
          <a:xfrm>
            <a:off x="8926550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492" name="Rectangle 1491"/>
          <p:cNvSpPr/>
          <p:nvPr/>
        </p:nvSpPr>
        <p:spPr>
          <a:xfrm>
            <a:off x="9279799" y="2074016"/>
            <a:ext cx="335249" cy="250996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TextBox 1492"/>
          <p:cNvSpPr txBox="1"/>
          <p:nvPr/>
        </p:nvSpPr>
        <p:spPr>
          <a:xfrm>
            <a:off x="9273799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494" name="TextBox 1493"/>
          <p:cNvSpPr txBox="1"/>
          <p:nvPr/>
        </p:nvSpPr>
        <p:spPr>
          <a:xfrm>
            <a:off x="9273799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495" name="Rectangle 1494"/>
          <p:cNvSpPr/>
          <p:nvPr/>
        </p:nvSpPr>
        <p:spPr>
          <a:xfrm>
            <a:off x="9627048" y="2074016"/>
            <a:ext cx="335249" cy="250996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TextBox 1495"/>
          <p:cNvSpPr txBox="1"/>
          <p:nvPr/>
        </p:nvSpPr>
        <p:spPr>
          <a:xfrm>
            <a:off x="9621048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497" name="TextBox 1496"/>
          <p:cNvSpPr txBox="1"/>
          <p:nvPr/>
        </p:nvSpPr>
        <p:spPr>
          <a:xfrm>
            <a:off x="9621048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98" name="Rectangle 1497"/>
          <p:cNvSpPr/>
          <p:nvPr/>
        </p:nvSpPr>
        <p:spPr>
          <a:xfrm>
            <a:off x="9974297" y="2074016"/>
            <a:ext cx="335249" cy="250996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TextBox 1498"/>
          <p:cNvSpPr txBox="1"/>
          <p:nvPr/>
        </p:nvSpPr>
        <p:spPr>
          <a:xfrm>
            <a:off x="9968297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500" name="TextBox 1499"/>
          <p:cNvSpPr txBox="1"/>
          <p:nvPr/>
        </p:nvSpPr>
        <p:spPr>
          <a:xfrm>
            <a:off x="9968297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501" name="Rectangle 1500"/>
          <p:cNvSpPr/>
          <p:nvPr/>
        </p:nvSpPr>
        <p:spPr>
          <a:xfrm>
            <a:off x="10321546" y="2074016"/>
            <a:ext cx="335249" cy="250996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TextBox 1501"/>
          <p:cNvSpPr txBox="1"/>
          <p:nvPr/>
        </p:nvSpPr>
        <p:spPr>
          <a:xfrm>
            <a:off x="10315546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4.5M</a:t>
            </a:r>
          </a:p>
        </p:txBody>
      </p:sp>
      <p:sp>
        <p:nvSpPr>
          <p:cNvPr id="1503" name="TextBox 1502"/>
          <p:cNvSpPr txBox="1"/>
          <p:nvPr/>
        </p:nvSpPr>
        <p:spPr>
          <a:xfrm>
            <a:off x="10315546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504" name="Rectangle 1503"/>
          <p:cNvSpPr/>
          <p:nvPr/>
        </p:nvSpPr>
        <p:spPr>
          <a:xfrm>
            <a:off x="10668795" y="2074016"/>
            <a:ext cx="335249" cy="2509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TextBox 1504"/>
          <p:cNvSpPr txBox="1"/>
          <p:nvPr/>
        </p:nvSpPr>
        <p:spPr>
          <a:xfrm>
            <a:off x="10662795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9.7M</a:t>
            </a:r>
          </a:p>
        </p:txBody>
      </p:sp>
      <p:sp>
        <p:nvSpPr>
          <p:cNvPr id="1506" name="TextBox 1505"/>
          <p:cNvSpPr txBox="1"/>
          <p:nvPr/>
        </p:nvSpPr>
        <p:spPr>
          <a:xfrm>
            <a:off x="10662795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1507" name="Rectangle 1506"/>
          <p:cNvSpPr/>
          <p:nvPr/>
        </p:nvSpPr>
        <p:spPr>
          <a:xfrm>
            <a:off x="11016044" y="2074016"/>
            <a:ext cx="335249" cy="250996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TextBox 1507"/>
          <p:cNvSpPr txBox="1"/>
          <p:nvPr/>
        </p:nvSpPr>
        <p:spPr>
          <a:xfrm>
            <a:off x="11010044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509" name="TextBox 1508"/>
          <p:cNvSpPr txBox="1"/>
          <p:nvPr/>
        </p:nvSpPr>
        <p:spPr>
          <a:xfrm>
            <a:off x="11010044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510" name="Rectangle 1509"/>
          <p:cNvSpPr/>
          <p:nvPr/>
        </p:nvSpPr>
        <p:spPr>
          <a:xfrm>
            <a:off x="11363293" y="2074016"/>
            <a:ext cx="335249" cy="250996"/>
          </a:xfrm>
          <a:prstGeom prst="rect">
            <a:avLst/>
          </a:prstGeom>
          <a:solidFill>
            <a:srgbClr val="1A7A3F">
              <a:alpha val="42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1" name="TextBox 1510"/>
          <p:cNvSpPr txBox="1"/>
          <p:nvPr/>
        </p:nvSpPr>
        <p:spPr>
          <a:xfrm>
            <a:off x="11357293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512" name="TextBox 1511"/>
          <p:cNvSpPr txBox="1"/>
          <p:nvPr/>
        </p:nvSpPr>
        <p:spPr>
          <a:xfrm>
            <a:off x="11357293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513" name="Rectangle 1512"/>
          <p:cNvSpPr/>
          <p:nvPr/>
        </p:nvSpPr>
        <p:spPr>
          <a:xfrm>
            <a:off x="11710542" y="2074016"/>
            <a:ext cx="335249" cy="250996"/>
          </a:xfrm>
          <a:prstGeom prst="rect">
            <a:avLst/>
          </a:prstGeom>
          <a:solidFill>
            <a:srgbClr val="1A7A3F">
              <a:alpha val="56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4" name="TextBox 1513"/>
          <p:cNvSpPr txBox="1"/>
          <p:nvPr/>
        </p:nvSpPr>
        <p:spPr>
          <a:xfrm>
            <a:off x="11704542" y="20760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515" name="TextBox 1514"/>
          <p:cNvSpPr txBox="1"/>
          <p:nvPr/>
        </p:nvSpPr>
        <p:spPr>
          <a:xfrm>
            <a:off x="11704542" y="22060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516" name="TextBox 1515"/>
          <p:cNvSpPr txBox="1"/>
          <p:nvPr/>
        </p:nvSpPr>
        <p:spPr>
          <a:xfrm>
            <a:off x="6183056" y="2331012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517" name="Rectangle 1516"/>
          <p:cNvSpPr/>
          <p:nvPr/>
        </p:nvSpPr>
        <p:spPr>
          <a:xfrm>
            <a:off x="6849056" y="2337012"/>
            <a:ext cx="335249" cy="250996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TextBox 1517"/>
          <p:cNvSpPr txBox="1"/>
          <p:nvPr/>
        </p:nvSpPr>
        <p:spPr>
          <a:xfrm>
            <a:off x="6843056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519" name="TextBox 1518"/>
          <p:cNvSpPr txBox="1"/>
          <p:nvPr/>
        </p:nvSpPr>
        <p:spPr>
          <a:xfrm>
            <a:off x="6843056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520" name="Rectangle 1519"/>
          <p:cNvSpPr/>
          <p:nvPr/>
        </p:nvSpPr>
        <p:spPr>
          <a:xfrm>
            <a:off x="7196305" y="2337012"/>
            <a:ext cx="335249" cy="250996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1" name="TextBox 1520"/>
          <p:cNvSpPr txBox="1"/>
          <p:nvPr/>
        </p:nvSpPr>
        <p:spPr>
          <a:xfrm>
            <a:off x="7190305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522" name="TextBox 1521"/>
          <p:cNvSpPr txBox="1"/>
          <p:nvPr/>
        </p:nvSpPr>
        <p:spPr>
          <a:xfrm>
            <a:off x="7190305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523" name="Rectangle 1522"/>
          <p:cNvSpPr/>
          <p:nvPr/>
        </p:nvSpPr>
        <p:spPr>
          <a:xfrm>
            <a:off x="7890803" y="2337012"/>
            <a:ext cx="335249" cy="250996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4" name="TextBox 1523"/>
          <p:cNvSpPr txBox="1"/>
          <p:nvPr/>
        </p:nvSpPr>
        <p:spPr>
          <a:xfrm>
            <a:off x="7884803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525" name="TextBox 1524"/>
          <p:cNvSpPr txBox="1"/>
          <p:nvPr/>
        </p:nvSpPr>
        <p:spPr>
          <a:xfrm>
            <a:off x="7884803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526" name="Rectangle 1525"/>
          <p:cNvSpPr/>
          <p:nvPr/>
        </p:nvSpPr>
        <p:spPr>
          <a:xfrm>
            <a:off x="8585301" y="2337012"/>
            <a:ext cx="335249" cy="250996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7" name="TextBox 1526"/>
          <p:cNvSpPr txBox="1"/>
          <p:nvPr/>
        </p:nvSpPr>
        <p:spPr>
          <a:xfrm>
            <a:off x="8579301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528" name="TextBox 1527"/>
          <p:cNvSpPr txBox="1"/>
          <p:nvPr/>
        </p:nvSpPr>
        <p:spPr>
          <a:xfrm>
            <a:off x="8579301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529" name="Rectangle 1528"/>
          <p:cNvSpPr/>
          <p:nvPr/>
        </p:nvSpPr>
        <p:spPr>
          <a:xfrm>
            <a:off x="9974297" y="2337012"/>
            <a:ext cx="335249" cy="250996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0" name="TextBox 1529"/>
          <p:cNvSpPr txBox="1"/>
          <p:nvPr/>
        </p:nvSpPr>
        <p:spPr>
          <a:xfrm>
            <a:off x="9968297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531" name="TextBox 1530"/>
          <p:cNvSpPr txBox="1"/>
          <p:nvPr/>
        </p:nvSpPr>
        <p:spPr>
          <a:xfrm>
            <a:off x="9968297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532" name="Rectangle 1531"/>
          <p:cNvSpPr/>
          <p:nvPr/>
        </p:nvSpPr>
        <p:spPr>
          <a:xfrm>
            <a:off x="10668795" y="2337012"/>
            <a:ext cx="335249" cy="250996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3" name="TextBox 1532"/>
          <p:cNvSpPr txBox="1"/>
          <p:nvPr/>
        </p:nvSpPr>
        <p:spPr>
          <a:xfrm>
            <a:off x="10662795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534" name="TextBox 1533"/>
          <p:cNvSpPr txBox="1"/>
          <p:nvPr/>
        </p:nvSpPr>
        <p:spPr>
          <a:xfrm>
            <a:off x="10662795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535" name="Rectangle 1534"/>
          <p:cNvSpPr/>
          <p:nvPr/>
        </p:nvSpPr>
        <p:spPr>
          <a:xfrm>
            <a:off x="11016044" y="2337012"/>
            <a:ext cx="335249" cy="2509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6" name="TextBox 1535"/>
          <p:cNvSpPr txBox="1"/>
          <p:nvPr/>
        </p:nvSpPr>
        <p:spPr>
          <a:xfrm>
            <a:off x="11010044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3.9M</a:t>
            </a:r>
          </a:p>
        </p:txBody>
      </p:sp>
      <p:sp>
        <p:nvSpPr>
          <p:cNvPr id="1537" name="TextBox 1536"/>
          <p:cNvSpPr txBox="1"/>
          <p:nvPr/>
        </p:nvSpPr>
        <p:spPr>
          <a:xfrm>
            <a:off x="11010044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538" name="Rectangle 1537"/>
          <p:cNvSpPr/>
          <p:nvPr/>
        </p:nvSpPr>
        <p:spPr>
          <a:xfrm>
            <a:off x="11363293" y="2337012"/>
            <a:ext cx="335249" cy="250996"/>
          </a:xfrm>
          <a:prstGeom prst="rect">
            <a:avLst/>
          </a:prstGeom>
          <a:solidFill>
            <a:srgbClr val="94A3B8">
              <a:alpha val="298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9" name="TextBox 1538"/>
          <p:cNvSpPr txBox="1"/>
          <p:nvPr/>
        </p:nvSpPr>
        <p:spPr>
          <a:xfrm>
            <a:off x="11357293" y="23390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540" name="TextBox 1539"/>
          <p:cNvSpPr txBox="1"/>
          <p:nvPr/>
        </p:nvSpPr>
        <p:spPr>
          <a:xfrm>
            <a:off x="11357293" y="24690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541" name="TextBox 1540"/>
          <p:cNvSpPr txBox="1"/>
          <p:nvPr/>
        </p:nvSpPr>
        <p:spPr>
          <a:xfrm>
            <a:off x="6183056" y="2594008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542" name="Rectangle 1541"/>
          <p:cNvSpPr/>
          <p:nvPr/>
        </p:nvSpPr>
        <p:spPr>
          <a:xfrm>
            <a:off x="7543554" y="2600008"/>
            <a:ext cx="335249" cy="2509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TextBox 1542"/>
          <p:cNvSpPr txBox="1"/>
          <p:nvPr/>
        </p:nvSpPr>
        <p:spPr>
          <a:xfrm>
            <a:off x="7537554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544" name="TextBox 1543"/>
          <p:cNvSpPr txBox="1"/>
          <p:nvPr/>
        </p:nvSpPr>
        <p:spPr>
          <a:xfrm>
            <a:off x="7537554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545" name="Rectangle 1544"/>
          <p:cNvSpPr/>
          <p:nvPr/>
        </p:nvSpPr>
        <p:spPr>
          <a:xfrm>
            <a:off x="8238052" y="2600008"/>
            <a:ext cx="335249" cy="2509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TextBox 1545"/>
          <p:cNvSpPr txBox="1"/>
          <p:nvPr/>
        </p:nvSpPr>
        <p:spPr>
          <a:xfrm>
            <a:off x="8232052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547" name="TextBox 1546"/>
          <p:cNvSpPr txBox="1"/>
          <p:nvPr/>
        </p:nvSpPr>
        <p:spPr>
          <a:xfrm>
            <a:off x="8232052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548" name="Rectangle 1547"/>
          <p:cNvSpPr/>
          <p:nvPr/>
        </p:nvSpPr>
        <p:spPr>
          <a:xfrm>
            <a:off x="8585301" y="2600008"/>
            <a:ext cx="335249" cy="250996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TextBox 1548"/>
          <p:cNvSpPr txBox="1"/>
          <p:nvPr/>
        </p:nvSpPr>
        <p:spPr>
          <a:xfrm>
            <a:off x="8579301" y="26020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550" name="TextBox 1549"/>
          <p:cNvSpPr txBox="1"/>
          <p:nvPr/>
        </p:nvSpPr>
        <p:spPr>
          <a:xfrm>
            <a:off x="8579301" y="27320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551" name="TextBox 1550"/>
          <p:cNvSpPr txBox="1"/>
          <p:nvPr/>
        </p:nvSpPr>
        <p:spPr>
          <a:xfrm>
            <a:off x="6183056" y="2857004"/>
            <a:ext cx="650000" cy="2629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552" name="Rectangle 1551"/>
          <p:cNvSpPr/>
          <p:nvPr/>
        </p:nvSpPr>
        <p:spPr>
          <a:xfrm>
            <a:off x="684905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3" name="TextBox 1552"/>
          <p:cNvSpPr txBox="1"/>
          <p:nvPr/>
        </p:nvSpPr>
        <p:spPr>
          <a:xfrm>
            <a:off x="684305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6.6M</a:t>
            </a:r>
          </a:p>
        </p:txBody>
      </p:sp>
      <p:sp>
        <p:nvSpPr>
          <p:cNvPr id="1554" name="TextBox 1553"/>
          <p:cNvSpPr txBox="1"/>
          <p:nvPr/>
        </p:nvSpPr>
        <p:spPr>
          <a:xfrm>
            <a:off x="684305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19件</a:t>
            </a:r>
          </a:p>
        </p:txBody>
      </p:sp>
      <p:sp>
        <p:nvSpPr>
          <p:cNvPr id="1555" name="Rectangle 1554"/>
          <p:cNvSpPr/>
          <p:nvPr/>
        </p:nvSpPr>
        <p:spPr>
          <a:xfrm>
            <a:off x="719630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6" name="TextBox 1555"/>
          <p:cNvSpPr txBox="1"/>
          <p:nvPr/>
        </p:nvSpPr>
        <p:spPr>
          <a:xfrm>
            <a:off x="7190305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14.4M</a:t>
            </a:r>
          </a:p>
        </p:txBody>
      </p:sp>
      <p:sp>
        <p:nvSpPr>
          <p:cNvPr id="1557" name="TextBox 1556"/>
          <p:cNvSpPr txBox="1"/>
          <p:nvPr/>
        </p:nvSpPr>
        <p:spPr>
          <a:xfrm>
            <a:off x="7190305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558" name="Rectangle 1557"/>
          <p:cNvSpPr/>
          <p:nvPr/>
        </p:nvSpPr>
        <p:spPr>
          <a:xfrm>
            <a:off x="754355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9" name="TextBox 1558"/>
          <p:cNvSpPr txBox="1"/>
          <p:nvPr/>
        </p:nvSpPr>
        <p:spPr>
          <a:xfrm>
            <a:off x="7537554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18.1M</a:t>
            </a:r>
          </a:p>
        </p:txBody>
      </p:sp>
      <p:sp>
        <p:nvSpPr>
          <p:cNvPr id="1560" name="TextBox 1559"/>
          <p:cNvSpPr txBox="1"/>
          <p:nvPr/>
        </p:nvSpPr>
        <p:spPr>
          <a:xfrm>
            <a:off x="7537554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561" name="Rectangle 1560"/>
          <p:cNvSpPr/>
          <p:nvPr/>
        </p:nvSpPr>
        <p:spPr>
          <a:xfrm>
            <a:off x="789080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2" name="TextBox 1561"/>
          <p:cNvSpPr txBox="1"/>
          <p:nvPr/>
        </p:nvSpPr>
        <p:spPr>
          <a:xfrm>
            <a:off x="788480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16.9M</a:t>
            </a:r>
          </a:p>
        </p:txBody>
      </p:sp>
      <p:sp>
        <p:nvSpPr>
          <p:cNvPr id="1563" name="TextBox 1562"/>
          <p:cNvSpPr txBox="1"/>
          <p:nvPr/>
        </p:nvSpPr>
        <p:spPr>
          <a:xfrm>
            <a:off x="788480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32件</a:t>
            </a:r>
          </a:p>
        </p:txBody>
      </p:sp>
      <p:sp>
        <p:nvSpPr>
          <p:cNvPr id="1564" name="Rectangle 1563"/>
          <p:cNvSpPr/>
          <p:nvPr/>
        </p:nvSpPr>
        <p:spPr>
          <a:xfrm>
            <a:off x="823805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TextBox 1564"/>
          <p:cNvSpPr txBox="1"/>
          <p:nvPr/>
        </p:nvSpPr>
        <p:spPr>
          <a:xfrm>
            <a:off x="823205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13.2M</a:t>
            </a:r>
          </a:p>
        </p:txBody>
      </p:sp>
      <p:sp>
        <p:nvSpPr>
          <p:cNvPr id="1566" name="TextBox 1565"/>
          <p:cNvSpPr txBox="1"/>
          <p:nvPr/>
        </p:nvSpPr>
        <p:spPr>
          <a:xfrm>
            <a:off x="823205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1567" name="Rectangle 1566"/>
          <p:cNvSpPr/>
          <p:nvPr/>
        </p:nvSpPr>
        <p:spPr>
          <a:xfrm>
            <a:off x="8585301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TextBox 1567"/>
          <p:cNvSpPr txBox="1"/>
          <p:nvPr/>
        </p:nvSpPr>
        <p:spPr>
          <a:xfrm>
            <a:off x="8579301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569" name="TextBox 1568"/>
          <p:cNvSpPr txBox="1"/>
          <p:nvPr/>
        </p:nvSpPr>
        <p:spPr>
          <a:xfrm>
            <a:off x="8579301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62件</a:t>
            </a:r>
          </a:p>
        </p:txBody>
      </p:sp>
      <p:sp>
        <p:nvSpPr>
          <p:cNvPr id="1570" name="Rectangle 1569"/>
          <p:cNvSpPr/>
          <p:nvPr/>
        </p:nvSpPr>
        <p:spPr>
          <a:xfrm>
            <a:off x="8932550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TextBox 1570"/>
          <p:cNvSpPr txBox="1"/>
          <p:nvPr/>
        </p:nvSpPr>
        <p:spPr>
          <a:xfrm>
            <a:off x="8926550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14.8M</a:t>
            </a:r>
          </a:p>
        </p:txBody>
      </p:sp>
      <p:sp>
        <p:nvSpPr>
          <p:cNvPr id="1572" name="TextBox 1571"/>
          <p:cNvSpPr txBox="1"/>
          <p:nvPr/>
        </p:nvSpPr>
        <p:spPr>
          <a:xfrm>
            <a:off x="8926550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573" name="Rectangle 1572"/>
          <p:cNvSpPr/>
          <p:nvPr/>
        </p:nvSpPr>
        <p:spPr>
          <a:xfrm>
            <a:off x="9279799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TextBox 1573"/>
          <p:cNvSpPr txBox="1"/>
          <p:nvPr/>
        </p:nvSpPr>
        <p:spPr>
          <a:xfrm>
            <a:off x="9273799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32.8M</a:t>
            </a:r>
          </a:p>
        </p:txBody>
      </p:sp>
      <p:sp>
        <p:nvSpPr>
          <p:cNvPr id="1575" name="TextBox 1574"/>
          <p:cNvSpPr txBox="1"/>
          <p:nvPr/>
        </p:nvSpPr>
        <p:spPr>
          <a:xfrm>
            <a:off x="9273799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66件</a:t>
            </a:r>
          </a:p>
        </p:txBody>
      </p:sp>
      <p:sp>
        <p:nvSpPr>
          <p:cNvPr id="1576" name="Rectangle 1575"/>
          <p:cNvSpPr/>
          <p:nvPr/>
        </p:nvSpPr>
        <p:spPr>
          <a:xfrm>
            <a:off x="9627048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TextBox 1576"/>
          <p:cNvSpPr txBox="1"/>
          <p:nvPr/>
        </p:nvSpPr>
        <p:spPr>
          <a:xfrm>
            <a:off x="9621048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11.5M</a:t>
            </a:r>
          </a:p>
        </p:txBody>
      </p:sp>
      <p:sp>
        <p:nvSpPr>
          <p:cNvPr id="1578" name="TextBox 1577"/>
          <p:cNvSpPr txBox="1"/>
          <p:nvPr/>
        </p:nvSpPr>
        <p:spPr>
          <a:xfrm>
            <a:off x="9621048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579" name="Rectangle 1578"/>
          <p:cNvSpPr/>
          <p:nvPr/>
        </p:nvSpPr>
        <p:spPr>
          <a:xfrm>
            <a:off x="9974297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TextBox 1579"/>
          <p:cNvSpPr txBox="1"/>
          <p:nvPr/>
        </p:nvSpPr>
        <p:spPr>
          <a:xfrm>
            <a:off x="9968297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12.3M</a:t>
            </a:r>
          </a:p>
        </p:txBody>
      </p:sp>
      <p:sp>
        <p:nvSpPr>
          <p:cNvPr id="1581" name="TextBox 1580"/>
          <p:cNvSpPr txBox="1"/>
          <p:nvPr/>
        </p:nvSpPr>
        <p:spPr>
          <a:xfrm>
            <a:off x="9968297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36件</a:t>
            </a:r>
          </a:p>
        </p:txBody>
      </p:sp>
      <p:sp>
        <p:nvSpPr>
          <p:cNvPr id="1582" name="Rectangle 1581"/>
          <p:cNvSpPr/>
          <p:nvPr/>
        </p:nvSpPr>
        <p:spPr>
          <a:xfrm>
            <a:off x="10321546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TextBox 1582"/>
          <p:cNvSpPr txBox="1"/>
          <p:nvPr/>
        </p:nvSpPr>
        <p:spPr>
          <a:xfrm>
            <a:off x="10315546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19.0M</a:t>
            </a:r>
          </a:p>
        </p:txBody>
      </p:sp>
      <p:sp>
        <p:nvSpPr>
          <p:cNvPr id="1584" name="TextBox 1583"/>
          <p:cNvSpPr txBox="1"/>
          <p:nvPr/>
        </p:nvSpPr>
        <p:spPr>
          <a:xfrm>
            <a:off x="10315546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585" name="Rectangle 1584"/>
          <p:cNvSpPr/>
          <p:nvPr/>
        </p:nvSpPr>
        <p:spPr>
          <a:xfrm>
            <a:off x="10668795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TextBox 1585"/>
          <p:cNvSpPr txBox="1"/>
          <p:nvPr/>
        </p:nvSpPr>
        <p:spPr>
          <a:xfrm>
            <a:off x="10662795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26.1M</a:t>
            </a:r>
          </a:p>
        </p:txBody>
      </p:sp>
      <p:sp>
        <p:nvSpPr>
          <p:cNvPr id="1587" name="TextBox 1586"/>
          <p:cNvSpPr txBox="1"/>
          <p:nvPr/>
        </p:nvSpPr>
        <p:spPr>
          <a:xfrm>
            <a:off x="10662795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67件</a:t>
            </a:r>
          </a:p>
        </p:txBody>
      </p:sp>
      <p:sp>
        <p:nvSpPr>
          <p:cNvPr id="1588" name="Rectangle 1587"/>
          <p:cNvSpPr/>
          <p:nvPr/>
        </p:nvSpPr>
        <p:spPr>
          <a:xfrm>
            <a:off x="11016044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TextBox 1588"/>
          <p:cNvSpPr txBox="1"/>
          <p:nvPr/>
        </p:nvSpPr>
        <p:spPr>
          <a:xfrm>
            <a:off x="11010044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19.5M</a:t>
            </a:r>
          </a:p>
        </p:txBody>
      </p:sp>
      <p:sp>
        <p:nvSpPr>
          <p:cNvPr id="1590" name="TextBox 1589"/>
          <p:cNvSpPr txBox="1"/>
          <p:nvPr/>
        </p:nvSpPr>
        <p:spPr>
          <a:xfrm>
            <a:off x="11010044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1591" name="Rectangle 1590"/>
          <p:cNvSpPr/>
          <p:nvPr/>
        </p:nvSpPr>
        <p:spPr>
          <a:xfrm>
            <a:off x="11363293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TextBox 1591"/>
          <p:cNvSpPr txBox="1"/>
          <p:nvPr/>
        </p:nvSpPr>
        <p:spPr>
          <a:xfrm>
            <a:off x="11357293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593" name="TextBox 1592"/>
          <p:cNvSpPr txBox="1"/>
          <p:nvPr/>
        </p:nvSpPr>
        <p:spPr>
          <a:xfrm>
            <a:off x="11357293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35件</a:t>
            </a:r>
          </a:p>
        </p:txBody>
      </p:sp>
      <p:sp>
        <p:nvSpPr>
          <p:cNvPr id="1594" name="Rectangle 1593"/>
          <p:cNvSpPr/>
          <p:nvPr/>
        </p:nvSpPr>
        <p:spPr>
          <a:xfrm>
            <a:off x="11710542" y="2863004"/>
            <a:ext cx="335249" cy="2509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TextBox 1594"/>
          <p:cNvSpPr txBox="1"/>
          <p:nvPr/>
        </p:nvSpPr>
        <p:spPr>
          <a:xfrm>
            <a:off x="11704542" y="28650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596" name="TextBox 1595"/>
          <p:cNvSpPr txBox="1"/>
          <p:nvPr/>
        </p:nvSpPr>
        <p:spPr>
          <a:xfrm>
            <a:off x="11704542" y="29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597" name="Rectangle 1596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TextBox 1597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  周度批核业绩热力矩阵（APE in M）</a:t>
            </a:r>
          </a:p>
        </p:txBody>
      </p:sp>
      <p:sp>
        <p:nvSpPr>
          <p:cNvPr id="1599" name="TextBox 1598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600" name="TextBox 1599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601" name="TextBox 1600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602" name="TextBox 1601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603" name="TextBox 1602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604" name="TextBox 1603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605" name="TextBox 1604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606" name="TextBox 1605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607" name="TextBox 1606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608" name="TextBox 1607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609" name="TextBox 1608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610" name="TextBox 1609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611" name="TextBox 1610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612" name="TextBox 1611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613" name="TextBox 1612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614" name="TextBox 1613"/>
          <p:cNvSpPr txBox="1"/>
          <p:nvPr/>
        </p:nvSpPr>
        <p:spPr>
          <a:xfrm>
            <a:off x="202880" y="4113632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615" name="Rectangle 1614"/>
          <p:cNvSpPr/>
          <p:nvPr/>
        </p:nvSpPr>
        <p:spPr>
          <a:xfrm>
            <a:off x="868880" y="4119632"/>
            <a:ext cx="335249" cy="251296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6" name="TextBox 1615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3.1M</a:t>
            </a:r>
          </a:p>
        </p:txBody>
      </p:sp>
      <p:sp>
        <p:nvSpPr>
          <p:cNvPr id="1617" name="TextBox 1616"/>
          <p:cNvSpPr txBox="1"/>
          <p:nvPr/>
        </p:nvSpPr>
        <p:spPr>
          <a:xfrm>
            <a:off x="862880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618" name="Rectangle 1617"/>
          <p:cNvSpPr/>
          <p:nvPr/>
        </p:nvSpPr>
        <p:spPr>
          <a:xfrm>
            <a:off x="1216129" y="4119632"/>
            <a:ext cx="335249" cy="251296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9" name="TextBox 1618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620" name="TextBox 1619"/>
          <p:cNvSpPr txBox="1"/>
          <p:nvPr/>
        </p:nvSpPr>
        <p:spPr>
          <a:xfrm>
            <a:off x="1210129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621" name="Rectangle 1620"/>
          <p:cNvSpPr/>
          <p:nvPr/>
        </p:nvSpPr>
        <p:spPr>
          <a:xfrm>
            <a:off x="1563378" y="4119632"/>
            <a:ext cx="335249" cy="251296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2" name="TextBox 1621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3.5M</a:t>
            </a:r>
          </a:p>
        </p:txBody>
      </p:sp>
      <p:sp>
        <p:nvSpPr>
          <p:cNvPr id="1623" name="TextBox 1622"/>
          <p:cNvSpPr txBox="1"/>
          <p:nvPr/>
        </p:nvSpPr>
        <p:spPr>
          <a:xfrm>
            <a:off x="1557378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624" name="Rectangle 1623"/>
          <p:cNvSpPr/>
          <p:nvPr/>
        </p:nvSpPr>
        <p:spPr>
          <a:xfrm>
            <a:off x="1910627" y="4119632"/>
            <a:ext cx="335249" cy="251296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5" name="TextBox 1624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626" name="TextBox 1625"/>
          <p:cNvSpPr txBox="1"/>
          <p:nvPr/>
        </p:nvSpPr>
        <p:spPr>
          <a:xfrm>
            <a:off x="1904627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627" name="Rectangle 1626"/>
          <p:cNvSpPr/>
          <p:nvPr/>
        </p:nvSpPr>
        <p:spPr>
          <a:xfrm>
            <a:off x="2257876" y="4119632"/>
            <a:ext cx="335249" cy="251296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TextBox 1627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1.1M</a:t>
            </a:r>
          </a:p>
        </p:txBody>
      </p:sp>
      <p:sp>
        <p:nvSpPr>
          <p:cNvPr id="1629" name="TextBox 1628"/>
          <p:cNvSpPr txBox="1"/>
          <p:nvPr/>
        </p:nvSpPr>
        <p:spPr>
          <a:xfrm>
            <a:off x="2251876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630" name="Rectangle 1629"/>
          <p:cNvSpPr/>
          <p:nvPr/>
        </p:nvSpPr>
        <p:spPr>
          <a:xfrm>
            <a:off x="2605125" y="4119632"/>
            <a:ext cx="335249" cy="251296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TextBox 1630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632" name="TextBox 1631"/>
          <p:cNvSpPr txBox="1"/>
          <p:nvPr/>
        </p:nvSpPr>
        <p:spPr>
          <a:xfrm>
            <a:off x="2599125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633" name="Rectangle 1632"/>
          <p:cNvSpPr/>
          <p:nvPr/>
        </p:nvSpPr>
        <p:spPr>
          <a:xfrm>
            <a:off x="2952374" y="4119632"/>
            <a:ext cx="335249" cy="251296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TextBox 1633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2.7M</a:t>
            </a:r>
          </a:p>
        </p:txBody>
      </p:sp>
      <p:sp>
        <p:nvSpPr>
          <p:cNvPr id="1635" name="TextBox 1634"/>
          <p:cNvSpPr txBox="1"/>
          <p:nvPr/>
        </p:nvSpPr>
        <p:spPr>
          <a:xfrm>
            <a:off x="2946374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636" name="Rectangle 1635"/>
          <p:cNvSpPr/>
          <p:nvPr/>
        </p:nvSpPr>
        <p:spPr>
          <a:xfrm>
            <a:off x="3299623" y="4119632"/>
            <a:ext cx="335249" cy="251296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TextBox 1636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638" name="TextBox 1637"/>
          <p:cNvSpPr txBox="1"/>
          <p:nvPr/>
        </p:nvSpPr>
        <p:spPr>
          <a:xfrm>
            <a:off x="3293623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639" name="Rectangle 1638"/>
          <p:cNvSpPr/>
          <p:nvPr/>
        </p:nvSpPr>
        <p:spPr>
          <a:xfrm>
            <a:off x="3646872" y="4119632"/>
            <a:ext cx="335249" cy="251296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TextBox 1639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641" name="TextBox 1640"/>
          <p:cNvSpPr txBox="1"/>
          <p:nvPr/>
        </p:nvSpPr>
        <p:spPr>
          <a:xfrm>
            <a:off x="3640872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642" name="Rectangle 1641"/>
          <p:cNvSpPr/>
          <p:nvPr/>
        </p:nvSpPr>
        <p:spPr>
          <a:xfrm>
            <a:off x="3994121" y="4119632"/>
            <a:ext cx="335249" cy="251296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TextBox 1642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644" name="TextBox 1643"/>
          <p:cNvSpPr txBox="1"/>
          <p:nvPr/>
        </p:nvSpPr>
        <p:spPr>
          <a:xfrm>
            <a:off x="3988121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645" name="Rectangle 1644"/>
          <p:cNvSpPr/>
          <p:nvPr/>
        </p:nvSpPr>
        <p:spPr>
          <a:xfrm>
            <a:off x="4341370" y="4119632"/>
            <a:ext cx="335249" cy="251296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TextBox 1645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8.7M</a:t>
            </a:r>
          </a:p>
        </p:txBody>
      </p:sp>
      <p:sp>
        <p:nvSpPr>
          <p:cNvPr id="1647" name="TextBox 1646"/>
          <p:cNvSpPr txBox="1"/>
          <p:nvPr/>
        </p:nvSpPr>
        <p:spPr>
          <a:xfrm>
            <a:off x="4335370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648" name="Rectangle 1647"/>
          <p:cNvSpPr/>
          <p:nvPr/>
        </p:nvSpPr>
        <p:spPr>
          <a:xfrm>
            <a:off x="4688619" y="4119632"/>
            <a:ext cx="335249" cy="251296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TextBox 1648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650" name="TextBox 1649"/>
          <p:cNvSpPr txBox="1"/>
          <p:nvPr/>
        </p:nvSpPr>
        <p:spPr>
          <a:xfrm>
            <a:off x="4682619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6件</a:t>
            </a:r>
          </a:p>
        </p:txBody>
      </p:sp>
      <p:sp>
        <p:nvSpPr>
          <p:cNvPr id="1651" name="Rectangle 1650"/>
          <p:cNvSpPr/>
          <p:nvPr/>
        </p:nvSpPr>
        <p:spPr>
          <a:xfrm>
            <a:off x="5035868" y="4119632"/>
            <a:ext cx="335249" cy="251296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TextBox 1651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653" name="TextBox 1652"/>
          <p:cNvSpPr txBox="1"/>
          <p:nvPr/>
        </p:nvSpPr>
        <p:spPr>
          <a:xfrm>
            <a:off x="5029868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654" name="Rectangle 1653"/>
          <p:cNvSpPr/>
          <p:nvPr/>
        </p:nvSpPr>
        <p:spPr>
          <a:xfrm>
            <a:off x="5383117" y="4119632"/>
            <a:ext cx="335249" cy="251296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TextBox 1654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656" name="TextBox 1655"/>
          <p:cNvSpPr txBox="1"/>
          <p:nvPr/>
        </p:nvSpPr>
        <p:spPr>
          <a:xfrm>
            <a:off x="5377117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657" name="Rectangle 1656"/>
          <p:cNvSpPr/>
          <p:nvPr/>
        </p:nvSpPr>
        <p:spPr>
          <a:xfrm>
            <a:off x="5730366" y="4119632"/>
            <a:ext cx="335249" cy="251296"/>
          </a:xfrm>
          <a:prstGeom prst="rect">
            <a:avLst/>
          </a:prstGeom>
          <a:solidFill>
            <a:srgbClr val="2980B9">
              <a:alpha val="291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TextBox 1657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659" name="TextBox 1658"/>
          <p:cNvSpPr txBox="1"/>
          <p:nvPr/>
        </p:nvSpPr>
        <p:spPr>
          <a:xfrm>
            <a:off x="5724366" y="42519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660" name="TextBox 1659"/>
          <p:cNvSpPr txBox="1"/>
          <p:nvPr/>
        </p:nvSpPr>
        <p:spPr>
          <a:xfrm>
            <a:off x="202880" y="4376928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661" name="Rectangle 1660"/>
          <p:cNvSpPr/>
          <p:nvPr/>
        </p:nvSpPr>
        <p:spPr>
          <a:xfrm>
            <a:off x="868880" y="4382928"/>
            <a:ext cx="335249" cy="251296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2" name="TextBox 1661"/>
          <p:cNvSpPr txBox="1"/>
          <p:nvPr/>
        </p:nvSpPr>
        <p:spPr>
          <a:xfrm>
            <a:off x="862880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663" name="TextBox 1662"/>
          <p:cNvSpPr txBox="1"/>
          <p:nvPr/>
        </p:nvSpPr>
        <p:spPr>
          <a:xfrm>
            <a:off x="862880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664" name="Rectangle 1663"/>
          <p:cNvSpPr/>
          <p:nvPr/>
        </p:nvSpPr>
        <p:spPr>
          <a:xfrm>
            <a:off x="1216129" y="4382928"/>
            <a:ext cx="335249" cy="251296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5" name="TextBox 1664"/>
          <p:cNvSpPr txBox="1"/>
          <p:nvPr/>
        </p:nvSpPr>
        <p:spPr>
          <a:xfrm>
            <a:off x="1210129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666" name="TextBox 1665"/>
          <p:cNvSpPr txBox="1"/>
          <p:nvPr/>
        </p:nvSpPr>
        <p:spPr>
          <a:xfrm>
            <a:off x="1210129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667" name="Rectangle 1666"/>
          <p:cNvSpPr/>
          <p:nvPr/>
        </p:nvSpPr>
        <p:spPr>
          <a:xfrm>
            <a:off x="1563378" y="4382928"/>
            <a:ext cx="335249" cy="251296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8" name="TextBox 1667"/>
          <p:cNvSpPr txBox="1"/>
          <p:nvPr/>
        </p:nvSpPr>
        <p:spPr>
          <a:xfrm>
            <a:off x="1557378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669" name="TextBox 1668"/>
          <p:cNvSpPr txBox="1"/>
          <p:nvPr/>
        </p:nvSpPr>
        <p:spPr>
          <a:xfrm>
            <a:off x="1557378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670" name="Rectangle 1669"/>
          <p:cNvSpPr/>
          <p:nvPr/>
        </p:nvSpPr>
        <p:spPr>
          <a:xfrm>
            <a:off x="1910627" y="4382928"/>
            <a:ext cx="335249" cy="251296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1" name="TextBox 1670"/>
          <p:cNvSpPr txBox="1"/>
          <p:nvPr/>
        </p:nvSpPr>
        <p:spPr>
          <a:xfrm>
            <a:off x="1904627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1.0M</a:t>
            </a:r>
          </a:p>
        </p:txBody>
      </p:sp>
      <p:sp>
        <p:nvSpPr>
          <p:cNvPr id="1672" name="TextBox 1671"/>
          <p:cNvSpPr txBox="1"/>
          <p:nvPr/>
        </p:nvSpPr>
        <p:spPr>
          <a:xfrm>
            <a:off x="1904627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673" name="Rectangle 1672"/>
          <p:cNvSpPr/>
          <p:nvPr/>
        </p:nvSpPr>
        <p:spPr>
          <a:xfrm>
            <a:off x="2257876" y="4382928"/>
            <a:ext cx="335249" cy="251296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TextBox 1673"/>
          <p:cNvSpPr txBox="1"/>
          <p:nvPr/>
        </p:nvSpPr>
        <p:spPr>
          <a:xfrm>
            <a:off x="2251876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675" name="TextBox 1674"/>
          <p:cNvSpPr txBox="1"/>
          <p:nvPr/>
        </p:nvSpPr>
        <p:spPr>
          <a:xfrm>
            <a:off x="2251876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676" name="Rectangle 1675"/>
          <p:cNvSpPr/>
          <p:nvPr/>
        </p:nvSpPr>
        <p:spPr>
          <a:xfrm>
            <a:off x="2605125" y="4382928"/>
            <a:ext cx="335249" cy="251296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TextBox 1676"/>
          <p:cNvSpPr txBox="1"/>
          <p:nvPr/>
        </p:nvSpPr>
        <p:spPr>
          <a:xfrm>
            <a:off x="2599125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0.8M</a:t>
            </a:r>
          </a:p>
        </p:txBody>
      </p:sp>
      <p:sp>
        <p:nvSpPr>
          <p:cNvPr id="1678" name="TextBox 1677"/>
          <p:cNvSpPr txBox="1"/>
          <p:nvPr/>
        </p:nvSpPr>
        <p:spPr>
          <a:xfrm>
            <a:off x="2599125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679" name="Rectangle 1678"/>
          <p:cNvSpPr/>
          <p:nvPr/>
        </p:nvSpPr>
        <p:spPr>
          <a:xfrm>
            <a:off x="2952374" y="4382928"/>
            <a:ext cx="335249" cy="251296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TextBox 1679"/>
          <p:cNvSpPr txBox="1"/>
          <p:nvPr/>
        </p:nvSpPr>
        <p:spPr>
          <a:xfrm>
            <a:off x="2946374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0.9M</a:t>
            </a:r>
          </a:p>
        </p:txBody>
      </p:sp>
      <p:sp>
        <p:nvSpPr>
          <p:cNvPr id="1681" name="TextBox 1680"/>
          <p:cNvSpPr txBox="1"/>
          <p:nvPr/>
        </p:nvSpPr>
        <p:spPr>
          <a:xfrm>
            <a:off x="2946374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682" name="Rectangle 1681"/>
          <p:cNvSpPr/>
          <p:nvPr/>
        </p:nvSpPr>
        <p:spPr>
          <a:xfrm>
            <a:off x="3299623" y="4382928"/>
            <a:ext cx="335249" cy="251296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TextBox 1682"/>
          <p:cNvSpPr txBox="1"/>
          <p:nvPr/>
        </p:nvSpPr>
        <p:spPr>
          <a:xfrm>
            <a:off x="3293623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0.7M</a:t>
            </a:r>
          </a:p>
        </p:txBody>
      </p:sp>
      <p:sp>
        <p:nvSpPr>
          <p:cNvPr id="1684" name="TextBox 1683"/>
          <p:cNvSpPr txBox="1"/>
          <p:nvPr/>
        </p:nvSpPr>
        <p:spPr>
          <a:xfrm>
            <a:off x="3293623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685" name="Rectangle 1684"/>
          <p:cNvSpPr/>
          <p:nvPr/>
        </p:nvSpPr>
        <p:spPr>
          <a:xfrm>
            <a:off x="4688619" y="4382928"/>
            <a:ext cx="335249" cy="251296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TextBox 1685"/>
          <p:cNvSpPr txBox="1"/>
          <p:nvPr/>
        </p:nvSpPr>
        <p:spPr>
          <a:xfrm>
            <a:off x="4682619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687" name="TextBox 1686"/>
          <p:cNvSpPr txBox="1"/>
          <p:nvPr/>
        </p:nvSpPr>
        <p:spPr>
          <a:xfrm>
            <a:off x="4682619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688" name="Rectangle 1687"/>
          <p:cNvSpPr/>
          <p:nvPr/>
        </p:nvSpPr>
        <p:spPr>
          <a:xfrm>
            <a:off x="5035868" y="4382928"/>
            <a:ext cx="335249" cy="251296"/>
          </a:xfrm>
          <a:prstGeom prst="rect">
            <a:avLst/>
          </a:prstGeom>
          <a:solidFill>
            <a:srgbClr val="374151">
              <a:alpha val="480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TextBox 1688"/>
          <p:cNvSpPr txBox="1"/>
          <p:nvPr/>
        </p:nvSpPr>
        <p:spPr>
          <a:xfrm>
            <a:off x="5029868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690" name="TextBox 1689"/>
          <p:cNvSpPr txBox="1"/>
          <p:nvPr/>
        </p:nvSpPr>
        <p:spPr>
          <a:xfrm>
            <a:off x="5029868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691" name="Rectangle 1690"/>
          <p:cNvSpPr/>
          <p:nvPr/>
        </p:nvSpPr>
        <p:spPr>
          <a:xfrm>
            <a:off x="5383117" y="4382928"/>
            <a:ext cx="335249" cy="251296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TextBox 1691"/>
          <p:cNvSpPr txBox="1"/>
          <p:nvPr/>
        </p:nvSpPr>
        <p:spPr>
          <a:xfrm>
            <a:off x="5377117" y="43849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693" name="TextBox 1692"/>
          <p:cNvSpPr txBox="1"/>
          <p:nvPr/>
        </p:nvSpPr>
        <p:spPr>
          <a:xfrm>
            <a:off x="5377117" y="4515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694" name="TextBox 1693"/>
          <p:cNvSpPr txBox="1"/>
          <p:nvPr/>
        </p:nvSpPr>
        <p:spPr>
          <a:xfrm>
            <a:off x="202880" y="4640224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695" name="Rectangle 1694"/>
          <p:cNvSpPr/>
          <p:nvPr/>
        </p:nvSpPr>
        <p:spPr>
          <a:xfrm>
            <a:off x="868880" y="4646224"/>
            <a:ext cx="335249" cy="251296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6" name="TextBox 1695"/>
          <p:cNvSpPr txBox="1"/>
          <p:nvPr/>
        </p:nvSpPr>
        <p:spPr>
          <a:xfrm>
            <a:off x="862880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4.3M</a:t>
            </a:r>
          </a:p>
        </p:txBody>
      </p:sp>
      <p:sp>
        <p:nvSpPr>
          <p:cNvPr id="1697" name="TextBox 1696"/>
          <p:cNvSpPr txBox="1"/>
          <p:nvPr/>
        </p:nvSpPr>
        <p:spPr>
          <a:xfrm>
            <a:off x="862880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698" name="Rectangle 1697"/>
          <p:cNvSpPr/>
          <p:nvPr/>
        </p:nvSpPr>
        <p:spPr>
          <a:xfrm>
            <a:off x="1216129" y="4646224"/>
            <a:ext cx="335249" cy="251296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9" name="TextBox 1698"/>
          <p:cNvSpPr txBox="1"/>
          <p:nvPr/>
        </p:nvSpPr>
        <p:spPr>
          <a:xfrm>
            <a:off x="1210129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700" name="TextBox 1699"/>
          <p:cNvSpPr txBox="1"/>
          <p:nvPr/>
        </p:nvSpPr>
        <p:spPr>
          <a:xfrm>
            <a:off x="1210129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701" name="Rectangle 1700"/>
          <p:cNvSpPr/>
          <p:nvPr/>
        </p:nvSpPr>
        <p:spPr>
          <a:xfrm>
            <a:off x="1563378" y="4646224"/>
            <a:ext cx="335249" cy="251296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2" name="TextBox 1701"/>
          <p:cNvSpPr txBox="1"/>
          <p:nvPr/>
        </p:nvSpPr>
        <p:spPr>
          <a:xfrm>
            <a:off x="1557378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11.8M</a:t>
            </a:r>
          </a:p>
        </p:txBody>
      </p:sp>
      <p:sp>
        <p:nvSpPr>
          <p:cNvPr id="1703" name="TextBox 1702"/>
          <p:cNvSpPr txBox="1"/>
          <p:nvPr/>
        </p:nvSpPr>
        <p:spPr>
          <a:xfrm>
            <a:off x="1557378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04" name="Rectangle 1703"/>
          <p:cNvSpPr/>
          <p:nvPr/>
        </p:nvSpPr>
        <p:spPr>
          <a:xfrm>
            <a:off x="1910627" y="4646224"/>
            <a:ext cx="335249" cy="251296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5" name="TextBox 1704"/>
          <p:cNvSpPr txBox="1"/>
          <p:nvPr/>
        </p:nvSpPr>
        <p:spPr>
          <a:xfrm>
            <a:off x="1904627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3.1M</a:t>
            </a:r>
          </a:p>
        </p:txBody>
      </p:sp>
      <p:sp>
        <p:nvSpPr>
          <p:cNvPr id="1706" name="TextBox 1705"/>
          <p:cNvSpPr txBox="1"/>
          <p:nvPr/>
        </p:nvSpPr>
        <p:spPr>
          <a:xfrm>
            <a:off x="1904627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07" name="Rectangle 1706"/>
          <p:cNvSpPr/>
          <p:nvPr/>
        </p:nvSpPr>
        <p:spPr>
          <a:xfrm>
            <a:off x="2257876" y="4646224"/>
            <a:ext cx="335249" cy="251296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TextBox 1707"/>
          <p:cNvSpPr txBox="1"/>
          <p:nvPr/>
        </p:nvSpPr>
        <p:spPr>
          <a:xfrm>
            <a:off x="2251876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1.9M</a:t>
            </a:r>
          </a:p>
        </p:txBody>
      </p:sp>
      <p:sp>
        <p:nvSpPr>
          <p:cNvPr id="1709" name="TextBox 1708"/>
          <p:cNvSpPr txBox="1"/>
          <p:nvPr/>
        </p:nvSpPr>
        <p:spPr>
          <a:xfrm>
            <a:off x="2251876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10" name="Rectangle 1709"/>
          <p:cNvSpPr/>
          <p:nvPr/>
        </p:nvSpPr>
        <p:spPr>
          <a:xfrm>
            <a:off x="2605125" y="4646224"/>
            <a:ext cx="335249" cy="251296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TextBox 1710"/>
          <p:cNvSpPr txBox="1"/>
          <p:nvPr/>
        </p:nvSpPr>
        <p:spPr>
          <a:xfrm>
            <a:off x="2599125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3.3M</a:t>
            </a:r>
          </a:p>
        </p:txBody>
      </p:sp>
      <p:sp>
        <p:nvSpPr>
          <p:cNvPr id="1712" name="TextBox 1711"/>
          <p:cNvSpPr txBox="1"/>
          <p:nvPr/>
        </p:nvSpPr>
        <p:spPr>
          <a:xfrm>
            <a:off x="2599125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5件</a:t>
            </a:r>
          </a:p>
        </p:txBody>
      </p:sp>
      <p:sp>
        <p:nvSpPr>
          <p:cNvPr id="1713" name="Rectangle 1712"/>
          <p:cNvSpPr/>
          <p:nvPr/>
        </p:nvSpPr>
        <p:spPr>
          <a:xfrm>
            <a:off x="2952374" y="4646224"/>
            <a:ext cx="335249" cy="251296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TextBox 1713"/>
          <p:cNvSpPr txBox="1"/>
          <p:nvPr/>
        </p:nvSpPr>
        <p:spPr>
          <a:xfrm>
            <a:off x="2946374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2.3M</a:t>
            </a:r>
          </a:p>
        </p:txBody>
      </p:sp>
      <p:sp>
        <p:nvSpPr>
          <p:cNvPr id="1715" name="TextBox 1714"/>
          <p:cNvSpPr txBox="1"/>
          <p:nvPr/>
        </p:nvSpPr>
        <p:spPr>
          <a:xfrm>
            <a:off x="2946374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16" name="Rectangle 1715"/>
          <p:cNvSpPr/>
          <p:nvPr/>
        </p:nvSpPr>
        <p:spPr>
          <a:xfrm>
            <a:off x="3299623" y="4646224"/>
            <a:ext cx="335249" cy="251296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TextBox 1716"/>
          <p:cNvSpPr txBox="1"/>
          <p:nvPr/>
        </p:nvSpPr>
        <p:spPr>
          <a:xfrm>
            <a:off x="3293623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14.1M</a:t>
            </a:r>
          </a:p>
        </p:txBody>
      </p:sp>
      <p:sp>
        <p:nvSpPr>
          <p:cNvPr id="1718" name="TextBox 1717"/>
          <p:cNvSpPr txBox="1"/>
          <p:nvPr/>
        </p:nvSpPr>
        <p:spPr>
          <a:xfrm>
            <a:off x="3293623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719" name="Rectangle 1718"/>
          <p:cNvSpPr/>
          <p:nvPr/>
        </p:nvSpPr>
        <p:spPr>
          <a:xfrm>
            <a:off x="3646872" y="4646224"/>
            <a:ext cx="335249" cy="251296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TextBox 1719"/>
          <p:cNvSpPr txBox="1"/>
          <p:nvPr/>
        </p:nvSpPr>
        <p:spPr>
          <a:xfrm>
            <a:off x="3640872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721" name="TextBox 1720"/>
          <p:cNvSpPr txBox="1"/>
          <p:nvPr/>
        </p:nvSpPr>
        <p:spPr>
          <a:xfrm>
            <a:off x="3640872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722" name="Rectangle 1721"/>
          <p:cNvSpPr/>
          <p:nvPr/>
        </p:nvSpPr>
        <p:spPr>
          <a:xfrm>
            <a:off x="3994121" y="4646224"/>
            <a:ext cx="335249" cy="251296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TextBox 1722"/>
          <p:cNvSpPr txBox="1"/>
          <p:nvPr/>
        </p:nvSpPr>
        <p:spPr>
          <a:xfrm>
            <a:off x="3988121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724" name="TextBox 1723"/>
          <p:cNvSpPr txBox="1"/>
          <p:nvPr/>
        </p:nvSpPr>
        <p:spPr>
          <a:xfrm>
            <a:off x="3988121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725" name="Rectangle 1724"/>
          <p:cNvSpPr/>
          <p:nvPr/>
        </p:nvSpPr>
        <p:spPr>
          <a:xfrm>
            <a:off x="4341370" y="4646224"/>
            <a:ext cx="335249" cy="251296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TextBox 1725"/>
          <p:cNvSpPr txBox="1"/>
          <p:nvPr/>
        </p:nvSpPr>
        <p:spPr>
          <a:xfrm>
            <a:off x="4335370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727" name="TextBox 1726"/>
          <p:cNvSpPr txBox="1"/>
          <p:nvPr/>
        </p:nvSpPr>
        <p:spPr>
          <a:xfrm>
            <a:off x="4335370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728" name="Rectangle 1727"/>
          <p:cNvSpPr/>
          <p:nvPr/>
        </p:nvSpPr>
        <p:spPr>
          <a:xfrm>
            <a:off x="4688619" y="4646224"/>
            <a:ext cx="335249" cy="251296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TextBox 1728"/>
          <p:cNvSpPr txBox="1"/>
          <p:nvPr/>
        </p:nvSpPr>
        <p:spPr>
          <a:xfrm>
            <a:off x="4682619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2.8M</a:t>
            </a:r>
          </a:p>
        </p:txBody>
      </p:sp>
      <p:sp>
        <p:nvSpPr>
          <p:cNvPr id="1730" name="TextBox 1729"/>
          <p:cNvSpPr txBox="1"/>
          <p:nvPr/>
        </p:nvSpPr>
        <p:spPr>
          <a:xfrm>
            <a:off x="4682619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6件</a:t>
            </a:r>
          </a:p>
        </p:txBody>
      </p:sp>
      <p:sp>
        <p:nvSpPr>
          <p:cNvPr id="1731" name="Rectangle 1730"/>
          <p:cNvSpPr/>
          <p:nvPr/>
        </p:nvSpPr>
        <p:spPr>
          <a:xfrm>
            <a:off x="5035868" y="4646224"/>
            <a:ext cx="335249" cy="251296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TextBox 1731"/>
          <p:cNvSpPr txBox="1"/>
          <p:nvPr/>
        </p:nvSpPr>
        <p:spPr>
          <a:xfrm>
            <a:off x="5029868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0.3M</a:t>
            </a:r>
          </a:p>
        </p:txBody>
      </p:sp>
      <p:sp>
        <p:nvSpPr>
          <p:cNvPr id="1733" name="TextBox 1732"/>
          <p:cNvSpPr txBox="1"/>
          <p:nvPr/>
        </p:nvSpPr>
        <p:spPr>
          <a:xfrm>
            <a:off x="5029868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734" name="Rectangle 1733"/>
          <p:cNvSpPr/>
          <p:nvPr/>
        </p:nvSpPr>
        <p:spPr>
          <a:xfrm>
            <a:off x="5383117" y="4646224"/>
            <a:ext cx="335249" cy="251296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TextBox 1734"/>
          <p:cNvSpPr txBox="1"/>
          <p:nvPr/>
        </p:nvSpPr>
        <p:spPr>
          <a:xfrm>
            <a:off x="5377117" y="4648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736" name="TextBox 1735"/>
          <p:cNvSpPr txBox="1"/>
          <p:nvPr/>
        </p:nvSpPr>
        <p:spPr>
          <a:xfrm>
            <a:off x="5377117" y="477852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37" name="TextBox 1736"/>
          <p:cNvSpPr txBox="1"/>
          <p:nvPr/>
        </p:nvSpPr>
        <p:spPr>
          <a:xfrm>
            <a:off x="202880" y="4903520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738" name="Rectangle 1737"/>
          <p:cNvSpPr/>
          <p:nvPr/>
        </p:nvSpPr>
        <p:spPr>
          <a:xfrm>
            <a:off x="868880" y="4909520"/>
            <a:ext cx="335249" cy="251296"/>
          </a:xfrm>
          <a:prstGeom prst="rect">
            <a:avLst/>
          </a:prstGeom>
          <a:solidFill>
            <a:srgbClr val="E67E22">
              <a:alpha val="3455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9" name="TextBox 1738"/>
          <p:cNvSpPr txBox="1"/>
          <p:nvPr/>
        </p:nvSpPr>
        <p:spPr>
          <a:xfrm>
            <a:off x="862880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1.6M</a:t>
            </a:r>
          </a:p>
        </p:txBody>
      </p:sp>
      <p:sp>
        <p:nvSpPr>
          <p:cNvPr id="1740" name="TextBox 1739"/>
          <p:cNvSpPr txBox="1"/>
          <p:nvPr/>
        </p:nvSpPr>
        <p:spPr>
          <a:xfrm>
            <a:off x="862880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741" name="Rectangle 1740"/>
          <p:cNvSpPr/>
          <p:nvPr/>
        </p:nvSpPr>
        <p:spPr>
          <a:xfrm>
            <a:off x="1216129" y="4909520"/>
            <a:ext cx="335249" cy="251296"/>
          </a:xfrm>
          <a:prstGeom prst="rect">
            <a:avLst/>
          </a:prstGeom>
          <a:solidFill>
            <a:srgbClr val="E67E22">
              <a:alpha val="435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" name="TextBox 1741"/>
          <p:cNvSpPr txBox="1"/>
          <p:nvPr/>
        </p:nvSpPr>
        <p:spPr>
          <a:xfrm>
            <a:off x="1210129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3.1M</a:t>
            </a:r>
          </a:p>
        </p:txBody>
      </p:sp>
      <p:sp>
        <p:nvSpPr>
          <p:cNvPr id="1743" name="TextBox 1742"/>
          <p:cNvSpPr txBox="1"/>
          <p:nvPr/>
        </p:nvSpPr>
        <p:spPr>
          <a:xfrm>
            <a:off x="1210129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744" name="Rectangle 1743"/>
          <p:cNvSpPr/>
          <p:nvPr/>
        </p:nvSpPr>
        <p:spPr>
          <a:xfrm>
            <a:off x="1563378" y="4909520"/>
            <a:ext cx="335249" cy="251296"/>
          </a:xfrm>
          <a:prstGeom prst="rect">
            <a:avLst/>
          </a:prstGeom>
          <a:solidFill>
            <a:srgbClr val="E67E22">
              <a:alpha val="4510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" name="TextBox 1744"/>
          <p:cNvSpPr txBox="1"/>
          <p:nvPr/>
        </p:nvSpPr>
        <p:spPr>
          <a:xfrm>
            <a:off x="1557378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1746" name="TextBox 1745"/>
          <p:cNvSpPr txBox="1"/>
          <p:nvPr/>
        </p:nvSpPr>
        <p:spPr>
          <a:xfrm>
            <a:off x="1557378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747" name="Rectangle 1746"/>
          <p:cNvSpPr/>
          <p:nvPr/>
        </p:nvSpPr>
        <p:spPr>
          <a:xfrm>
            <a:off x="1910627" y="4909520"/>
            <a:ext cx="335249" cy="251296"/>
          </a:xfrm>
          <a:prstGeom prst="rect">
            <a:avLst/>
          </a:prstGeom>
          <a:solidFill>
            <a:srgbClr val="E67E22">
              <a:alpha val="52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" name="TextBox 1747"/>
          <p:cNvSpPr txBox="1"/>
          <p:nvPr/>
        </p:nvSpPr>
        <p:spPr>
          <a:xfrm>
            <a:off x="1904627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4.7M</a:t>
            </a:r>
          </a:p>
        </p:txBody>
      </p:sp>
      <p:sp>
        <p:nvSpPr>
          <p:cNvPr id="1749" name="TextBox 1748"/>
          <p:cNvSpPr txBox="1"/>
          <p:nvPr/>
        </p:nvSpPr>
        <p:spPr>
          <a:xfrm>
            <a:off x="1904627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750" name="Rectangle 1749"/>
          <p:cNvSpPr/>
          <p:nvPr/>
        </p:nvSpPr>
        <p:spPr>
          <a:xfrm>
            <a:off x="2257876" y="4909520"/>
            <a:ext cx="335249" cy="251296"/>
          </a:xfrm>
          <a:prstGeom prst="rect">
            <a:avLst/>
          </a:prstGeom>
          <a:solidFill>
            <a:srgbClr val="E67E22">
              <a:alpha val="4889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TextBox 1750"/>
          <p:cNvSpPr txBox="1"/>
          <p:nvPr/>
        </p:nvSpPr>
        <p:spPr>
          <a:xfrm>
            <a:off x="2251876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4.0M</a:t>
            </a:r>
          </a:p>
        </p:txBody>
      </p:sp>
      <p:sp>
        <p:nvSpPr>
          <p:cNvPr id="1752" name="TextBox 1751"/>
          <p:cNvSpPr txBox="1"/>
          <p:nvPr/>
        </p:nvSpPr>
        <p:spPr>
          <a:xfrm>
            <a:off x="2251876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753" name="Rectangle 1752"/>
          <p:cNvSpPr/>
          <p:nvPr/>
        </p:nvSpPr>
        <p:spPr>
          <a:xfrm>
            <a:off x="2605125" y="4909520"/>
            <a:ext cx="335249" cy="251296"/>
          </a:xfrm>
          <a:prstGeom prst="rect">
            <a:avLst/>
          </a:prstGeom>
          <a:solidFill>
            <a:srgbClr val="E67E22">
              <a:alpha val="860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TextBox 1753"/>
          <p:cNvSpPr txBox="1"/>
          <p:nvPr/>
        </p:nvSpPr>
        <p:spPr>
          <a:xfrm>
            <a:off x="2599125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10.2M</a:t>
            </a:r>
          </a:p>
        </p:txBody>
      </p:sp>
      <p:sp>
        <p:nvSpPr>
          <p:cNvPr id="1755" name="TextBox 1754"/>
          <p:cNvSpPr txBox="1"/>
          <p:nvPr/>
        </p:nvSpPr>
        <p:spPr>
          <a:xfrm>
            <a:off x="2599125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756" name="Rectangle 1755"/>
          <p:cNvSpPr/>
          <p:nvPr/>
        </p:nvSpPr>
        <p:spPr>
          <a:xfrm>
            <a:off x="2952374" y="4909520"/>
            <a:ext cx="335249" cy="251296"/>
          </a:xfrm>
          <a:prstGeom prst="rect">
            <a:avLst/>
          </a:prstGeom>
          <a:solidFill>
            <a:srgbClr val="E67E22">
              <a:alpha val="479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TextBox 1756"/>
          <p:cNvSpPr txBox="1"/>
          <p:nvPr/>
        </p:nvSpPr>
        <p:spPr>
          <a:xfrm>
            <a:off x="2946374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3.9M</a:t>
            </a:r>
          </a:p>
        </p:txBody>
      </p:sp>
      <p:sp>
        <p:nvSpPr>
          <p:cNvPr id="1758" name="TextBox 1757"/>
          <p:cNvSpPr txBox="1"/>
          <p:nvPr/>
        </p:nvSpPr>
        <p:spPr>
          <a:xfrm>
            <a:off x="2946374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759" name="Rectangle 1758"/>
          <p:cNvSpPr/>
          <p:nvPr/>
        </p:nvSpPr>
        <p:spPr>
          <a:xfrm>
            <a:off x="3299623" y="4909520"/>
            <a:ext cx="335249" cy="251296"/>
          </a:xfrm>
          <a:prstGeom prst="rect">
            <a:avLst/>
          </a:prstGeom>
          <a:solidFill>
            <a:srgbClr val="E67E22">
              <a:alpha val="676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TextBox 1759"/>
          <p:cNvSpPr txBox="1"/>
          <p:nvPr/>
        </p:nvSpPr>
        <p:spPr>
          <a:xfrm>
            <a:off x="3293623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7.1M</a:t>
            </a:r>
          </a:p>
        </p:txBody>
      </p:sp>
      <p:sp>
        <p:nvSpPr>
          <p:cNvPr id="1761" name="TextBox 1760"/>
          <p:cNvSpPr txBox="1"/>
          <p:nvPr/>
        </p:nvSpPr>
        <p:spPr>
          <a:xfrm>
            <a:off x="3293623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762" name="Rectangle 1761"/>
          <p:cNvSpPr/>
          <p:nvPr/>
        </p:nvSpPr>
        <p:spPr>
          <a:xfrm>
            <a:off x="3646872" y="4909520"/>
            <a:ext cx="335249" cy="251296"/>
          </a:xfrm>
          <a:prstGeom prst="rect">
            <a:avLst/>
          </a:prstGeom>
          <a:solidFill>
            <a:srgbClr val="E67E22">
              <a:alpha val="455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TextBox 1762"/>
          <p:cNvSpPr txBox="1"/>
          <p:nvPr/>
        </p:nvSpPr>
        <p:spPr>
          <a:xfrm>
            <a:off x="3640872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1764" name="TextBox 1763"/>
          <p:cNvSpPr txBox="1"/>
          <p:nvPr/>
        </p:nvSpPr>
        <p:spPr>
          <a:xfrm>
            <a:off x="3640872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765" name="Rectangle 1764"/>
          <p:cNvSpPr/>
          <p:nvPr/>
        </p:nvSpPr>
        <p:spPr>
          <a:xfrm>
            <a:off x="3994121" y="4909520"/>
            <a:ext cx="335249" cy="251296"/>
          </a:xfrm>
          <a:prstGeom prst="rect">
            <a:avLst/>
          </a:prstGeom>
          <a:solidFill>
            <a:srgbClr val="E67E22">
              <a:alpha val="568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TextBox 1765"/>
          <p:cNvSpPr txBox="1"/>
          <p:nvPr/>
        </p:nvSpPr>
        <p:spPr>
          <a:xfrm>
            <a:off x="3988121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767" name="TextBox 1766"/>
          <p:cNvSpPr txBox="1"/>
          <p:nvPr/>
        </p:nvSpPr>
        <p:spPr>
          <a:xfrm>
            <a:off x="3988121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1768" name="Rectangle 1767"/>
          <p:cNvSpPr/>
          <p:nvPr/>
        </p:nvSpPr>
        <p:spPr>
          <a:xfrm>
            <a:off x="4341370" y="4909520"/>
            <a:ext cx="335249" cy="251296"/>
          </a:xfrm>
          <a:prstGeom prst="rect">
            <a:avLst/>
          </a:prstGeom>
          <a:solidFill>
            <a:srgbClr val="E67E22">
              <a:alpha val="411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TextBox 1768"/>
          <p:cNvSpPr txBox="1"/>
          <p:nvPr/>
        </p:nvSpPr>
        <p:spPr>
          <a:xfrm>
            <a:off x="4335370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2.7M</a:t>
            </a:r>
          </a:p>
        </p:txBody>
      </p:sp>
      <p:sp>
        <p:nvSpPr>
          <p:cNvPr id="1770" name="TextBox 1769"/>
          <p:cNvSpPr txBox="1"/>
          <p:nvPr/>
        </p:nvSpPr>
        <p:spPr>
          <a:xfrm>
            <a:off x="4335370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771" name="Rectangle 1770"/>
          <p:cNvSpPr/>
          <p:nvPr/>
        </p:nvSpPr>
        <p:spPr>
          <a:xfrm>
            <a:off x="4688619" y="4909520"/>
            <a:ext cx="335249" cy="251296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TextBox 1771"/>
          <p:cNvSpPr txBox="1"/>
          <p:nvPr/>
        </p:nvSpPr>
        <p:spPr>
          <a:xfrm>
            <a:off x="4682619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12.6M</a:t>
            </a:r>
          </a:p>
        </p:txBody>
      </p:sp>
      <p:sp>
        <p:nvSpPr>
          <p:cNvPr id="1773" name="TextBox 1772"/>
          <p:cNvSpPr txBox="1"/>
          <p:nvPr/>
        </p:nvSpPr>
        <p:spPr>
          <a:xfrm>
            <a:off x="4682619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28件</a:t>
            </a:r>
          </a:p>
        </p:txBody>
      </p:sp>
      <p:sp>
        <p:nvSpPr>
          <p:cNvPr id="1774" name="Rectangle 1773"/>
          <p:cNvSpPr/>
          <p:nvPr/>
        </p:nvSpPr>
        <p:spPr>
          <a:xfrm>
            <a:off x="5035868" y="4909520"/>
            <a:ext cx="335249" cy="251296"/>
          </a:xfrm>
          <a:prstGeom prst="rect">
            <a:avLst/>
          </a:prstGeom>
          <a:solidFill>
            <a:srgbClr val="E67E22">
              <a:alpha val="4998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TextBox 1774"/>
          <p:cNvSpPr txBox="1"/>
          <p:nvPr/>
        </p:nvSpPr>
        <p:spPr>
          <a:xfrm>
            <a:off x="5029868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776" name="TextBox 1775"/>
          <p:cNvSpPr txBox="1"/>
          <p:nvPr/>
        </p:nvSpPr>
        <p:spPr>
          <a:xfrm>
            <a:off x="5029868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777" name="Rectangle 1776"/>
          <p:cNvSpPr/>
          <p:nvPr/>
        </p:nvSpPr>
        <p:spPr>
          <a:xfrm>
            <a:off x="5383117" y="4909520"/>
            <a:ext cx="335249" cy="251296"/>
          </a:xfrm>
          <a:prstGeom prst="rect">
            <a:avLst/>
          </a:prstGeom>
          <a:solidFill>
            <a:srgbClr val="E67E22">
              <a:alpha val="5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TextBox 1777"/>
          <p:cNvSpPr txBox="1"/>
          <p:nvPr/>
        </p:nvSpPr>
        <p:spPr>
          <a:xfrm>
            <a:off x="5377117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779" name="TextBox 1778"/>
          <p:cNvSpPr txBox="1"/>
          <p:nvPr/>
        </p:nvSpPr>
        <p:spPr>
          <a:xfrm>
            <a:off x="5377117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18件</a:t>
            </a:r>
          </a:p>
        </p:txBody>
      </p:sp>
      <p:sp>
        <p:nvSpPr>
          <p:cNvPr id="1780" name="Rectangle 1779"/>
          <p:cNvSpPr/>
          <p:nvPr/>
        </p:nvSpPr>
        <p:spPr>
          <a:xfrm>
            <a:off x="5730366" y="4909520"/>
            <a:ext cx="335249" cy="251296"/>
          </a:xfrm>
          <a:prstGeom prst="rect">
            <a:avLst/>
          </a:prstGeom>
          <a:solidFill>
            <a:srgbClr val="E67E22">
              <a:alpha val="372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TextBox 1780"/>
          <p:cNvSpPr txBox="1"/>
          <p:nvPr/>
        </p:nvSpPr>
        <p:spPr>
          <a:xfrm>
            <a:off x="5724366" y="491152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2.0M</a:t>
            </a:r>
          </a:p>
        </p:txBody>
      </p:sp>
      <p:sp>
        <p:nvSpPr>
          <p:cNvPr id="1782" name="TextBox 1781"/>
          <p:cNvSpPr txBox="1"/>
          <p:nvPr/>
        </p:nvSpPr>
        <p:spPr>
          <a:xfrm>
            <a:off x="5724366" y="504181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783" name="TextBox 1782"/>
          <p:cNvSpPr txBox="1"/>
          <p:nvPr/>
        </p:nvSpPr>
        <p:spPr>
          <a:xfrm>
            <a:off x="202880" y="5166816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784" name="Rectangle 1783"/>
          <p:cNvSpPr/>
          <p:nvPr/>
        </p:nvSpPr>
        <p:spPr>
          <a:xfrm>
            <a:off x="868880" y="5172816"/>
            <a:ext cx="335249" cy="251296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5" name="TextBox 1784"/>
          <p:cNvSpPr txBox="1"/>
          <p:nvPr/>
        </p:nvSpPr>
        <p:spPr>
          <a:xfrm>
            <a:off x="862880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786" name="TextBox 1785"/>
          <p:cNvSpPr txBox="1"/>
          <p:nvPr/>
        </p:nvSpPr>
        <p:spPr>
          <a:xfrm>
            <a:off x="862880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787" name="Rectangle 1786"/>
          <p:cNvSpPr/>
          <p:nvPr/>
        </p:nvSpPr>
        <p:spPr>
          <a:xfrm>
            <a:off x="1216129" y="5172816"/>
            <a:ext cx="335249" cy="251296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8" name="TextBox 1787"/>
          <p:cNvSpPr txBox="1"/>
          <p:nvPr/>
        </p:nvSpPr>
        <p:spPr>
          <a:xfrm>
            <a:off x="1210129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12.4M</a:t>
            </a:r>
          </a:p>
        </p:txBody>
      </p:sp>
      <p:sp>
        <p:nvSpPr>
          <p:cNvPr id="1789" name="TextBox 1788"/>
          <p:cNvSpPr txBox="1"/>
          <p:nvPr/>
        </p:nvSpPr>
        <p:spPr>
          <a:xfrm>
            <a:off x="1210129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790" name="Rectangle 1789"/>
          <p:cNvSpPr/>
          <p:nvPr/>
        </p:nvSpPr>
        <p:spPr>
          <a:xfrm>
            <a:off x="1563378" y="5172816"/>
            <a:ext cx="335249" cy="251296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1" name="TextBox 1790"/>
          <p:cNvSpPr txBox="1"/>
          <p:nvPr/>
        </p:nvSpPr>
        <p:spPr>
          <a:xfrm>
            <a:off x="1557378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4.6M</a:t>
            </a:r>
          </a:p>
        </p:txBody>
      </p:sp>
      <p:sp>
        <p:nvSpPr>
          <p:cNvPr id="1792" name="TextBox 1791"/>
          <p:cNvSpPr txBox="1"/>
          <p:nvPr/>
        </p:nvSpPr>
        <p:spPr>
          <a:xfrm>
            <a:off x="1557378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12件</a:t>
            </a:r>
          </a:p>
        </p:txBody>
      </p:sp>
      <p:sp>
        <p:nvSpPr>
          <p:cNvPr id="1793" name="Rectangle 1792"/>
          <p:cNvSpPr/>
          <p:nvPr/>
        </p:nvSpPr>
        <p:spPr>
          <a:xfrm>
            <a:off x="1910627" y="5172816"/>
            <a:ext cx="335249" cy="251296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4" name="TextBox 1793"/>
          <p:cNvSpPr txBox="1"/>
          <p:nvPr/>
        </p:nvSpPr>
        <p:spPr>
          <a:xfrm>
            <a:off x="1904627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795" name="TextBox 1794"/>
          <p:cNvSpPr txBox="1"/>
          <p:nvPr/>
        </p:nvSpPr>
        <p:spPr>
          <a:xfrm>
            <a:off x="1904627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96" name="Rectangle 1795"/>
          <p:cNvSpPr/>
          <p:nvPr/>
        </p:nvSpPr>
        <p:spPr>
          <a:xfrm>
            <a:off x="2257876" y="5172816"/>
            <a:ext cx="335249" cy="251296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TextBox 1796"/>
          <p:cNvSpPr txBox="1"/>
          <p:nvPr/>
        </p:nvSpPr>
        <p:spPr>
          <a:xfrm>
            <a:off x="2251876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1.1M</a:t>
            </a:r>
          </a:p>
        </p:txBody>
      </p:sp>
      <p:sp>
        <p:nvSpPr>
          <p:cNvPr id="1798" name="TextBox 1797"/>
          <p:cNvSpPr txBox="1"/>
          <p:nvPr/>
        </p:nvSpPr>
        <p:spPr>
          <a:xfrm>
            <a:off x="2251876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799" name="Rectangle 1798"/>
          <p:cNvSpPr/>
          <p:nvPr/>
        </p:nvSpPr>
        <p:spPr>
          <a:xfrm>
            <a:off x="2605125" y="5172816"/>
            <a:ext cx="335249" cy="251296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TextBox 1799"/>
          <p:cNvSpPr txBox="1"/>
          <p:nvPr/>
        </p:nvSpPr>
        <p:spPr>
          <a:xfrm>
            <a:off x="2599125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0.7M</a:t>
            </a:r>
          </a:p>
        </p:txBody>
      </p:sp>
      <p:sp>
        <p:nvSpPr>
          <p:cNvPr id="1801" name="TextBox 1800"/>
          <p:cNvSpPr txBox="1"/>
          <p:nvPr/>
        </p:nvSpPr>
        <p:spPr>
          <a:xfrm>
            <a:off x="2599125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802" name="Rectangle 1801"/>
          <p:cNvSpPr/>
          <p:nvPr/>
        </p:nvSpPr>
        <p:spPr>
          <a:xfrm>
            <a:off x="2952374" y="5172816"/>
            <a:ext cx="335249" cy="251296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TextBox 1802"/>
          <p:cNvSpPr txBox="1"/>
          <p:nvPr/>
        </p:nvSpPr>
        <p:spPr>
          <a:xfrm>
            <a:off x="2946374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804" name="TextBox 1803"/>
          <p:cNvSpPr txBox="1"/>
          <p:nvPr/>
        </p:nvSpPr>
        <p:spPr>
          <a:xfrm>
            <a:off x="2946374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805" name="Rectangle 1804"/>
          <p:cNvSpPr/>
          <p:nvPr/>
        </p:nvSpPr>
        <p:spPr>
          <a:xfrm>
            <a:off x="3299623" y="5172816"/>
            <a:ext cx="335249" cy="251296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3293623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2.5M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3293623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8件</a:t>
            </a:r>
          </a:p>
        </p:txBody>
      </p:sp>
      <p:sp>
        <p:nvSpPr>
          <p:cNvPr id="1808" name="Rectangle 1807"/>
          <p:cNvSpPr/>
          <p:nvPr/>
        </p:nvSpPr>
        <p:spPr>
          <a:xfrm>
            <a:off x="3646872" y="5172816"/>
            <a:ext cx="335249" cy="251296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TextBox 1808"/>
          <p:cNvSpPr txBox="1"/>
          <p:nvPr/>
        </p:nvSpPr>
        <p:spPr>
          <a:xfrm>
            <a:off x="3640872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810" name="TextBox 1809"/>
          <p:cNvSpPr txBox="1"/>
          <p:nvPr/>
        </p:nvSpPr>
        <p:spPr>
          <a:xfrm>
            <a:off x="3640872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7件</a:t>
            </a:r>
          </a:p>
        </p:txBody>
      </p:sp>
      <p:sp>
        <p:nvSpPr>
          <p:cNvPr id="1811" name="Rectangle 1810"/>
          <p:cNvSpPr/>
          <p:nvPr/>
        </p:nvSpPr>
        <p:spPr>
          <a:xfrm>
            <a:off x="3994121" y="5172816"/>
            <a:ext cx="335249" cy="251296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TextBox 1811"/>
          <p:cNvSpPr txBox="1"/>
          <p:nvPr/>
        </p:nvSpPr>
        <p:spPr>
          <a:xfrm>
            <a:off x="3988121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813" name="TextBox 1812"/>
          <p:cNvSpPr txBox="1"/>
          <p:nvPr/>
        </p:nvSpPr>
        <p:spPr>
          <a:xfrm>
            <a:off x="3988121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814" name="Rectangle 1813"/>
          <p:cNvSpPr/>
          <p:nvPr/>
        </p:nvSpPr>
        <p:spPr>
          <a:xfrm>
            <a:off x="4341370" y="5172816"/>
            <a:ext cx="335249" cy="251296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TextBox 1814"/>
          <p:cNvSpPr txBox="1"/>
          <p:nvPr/>
        </p:nvSpPr>
        <p:spPr>
          <a:xfrm>
            <a:off x="4335370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816" name="TextBox 1815"/>
          <p:cNvSpPr txBox="1"/>
          <p:nvPr/>
        </p:nvSpPr>
        <p:spPr>
          <a:xfrm>
            <a:off x="4335370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817" name="Rectangle 1816"/>
          <p:cNvSpPr/>
          <p:nvPr/>
        </p:nvSpPr>
        <p:spPr>
          <a:xfrm>
            <a:off x="4688619" y="5172816"/>
            <a:ext cx="335249" cy="251296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TextBox 1817"/>
          <p:cNvSpPr txBox="1"/>
          <p:nvPr/>
        </p:nvSpPr>
        <p:spPr>
          <a:xfrm>
            <a:off x="4682619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819" name="TextBox 1818"/>
          <p:cNvSpPr txBox="1"/>
          <p:nvPr/>
        </p:nvSpPr>
        <p:spPr>
          <a:xfrm>
            <a:off x="4682619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820" name="Rectangle 1819"/>
          <p:cNvSpPr/>
          <p:nvPr/>
        </p:nvSpPr>
        <p:spPr>
          <a:xfrm>
            <a:off x="5035868" y="5172816"/>
            <a:ext cx="335249" cy="251296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TextBox 1820"/>
          <p:cNvSpPr txBox="1"/>
          <p:nvPr/>
        </p:nvSpPr>
        <p:spPr>
          <a:xfrm>
            <a:off x="5029868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5.7M</a:t>
            </a:r>
          </a:p>
        </p:txBody>
      </p:sp>
      <p:sp>
        <p:nvSpPr>
          <p:cNvPr id="1822" name="TextBox 1821"/>
          <p:cNvSpPr txBox="1"/>
          <p:nvPr/>
        </p:nvSpPr>
        <p:spPr>
          <a:xfrm>
            <a:off x="5029868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823" name="Rectangle 1822"/>
          <p:cNvSpPr/>
          <p:nvPr/>
        </p:nvSpPr>
        <p:spPr>
          <a:xfrm>
            <a:off x="5383117" y="5172816"/>
            <a:ext cx="335249" cy="251296"/>
          </a:xfrm>
          <a:prstGeom prst="rect">
            <a:avLst/>
          </a:prstGeom>
          <a:solidFill>
            <a:srgbClr val="1A7A3F">
              <a:alpha val="847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TextBox 1823"/>
          <p:cNvSpPr txBox="1"/>
          <p:nvPr/>
        </p:nvSpPr>
        <p:spPr>
          <a:xfrm>
            <a:off x="5377117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825" name="TextBox 1824"/>
          <p:cNvSpPr txBox="1"/>
          <p:nvPr/>
        </p:nvSpPr>
        <p:spPr>
          <a:xfrm>
            <a:off x="5377117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826" name="Rectangle 1825"/>
          <p:cNvSpPr/>
          <p:nvPr/>
        </p:nvSpPr>
        <p:spPr>
          <a:xfrm>
            <a:off x="5730366" y="5172816"/>
            <a:ext cx="335249" cy="251296"/>
          </a:xfrm>
          <a:prstGeom prst="rect">
            <a:avLst/>
          </a:prstGeom>
          <a:solidFill>
            <a:srgbClr val="1A7A3F">
              <a:alpha val="498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7" name="TextBox 1826"/>
          <p:cNvSpPr txBox="1"/>
          <p:nvPr/>
        </p:nvSpPr>
        <p:spPr>
          <a:xfrm>
            <a:off x="5724366" y="517481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4.1M</a:t>
            </a:r>
          </a:p>
        </p:txBody>
      </p:sp>
      <p:sp>
        <p:nvSpPr>
          <p:cNvPr id="1828" name="TextBox 1827"/>
          <p:cNvSpPr txBox="1"/>
          <p:nvPr/>
        </p:nvSpPr>
        <p:spPr>
          <a:xfrm>
            <a:off x="5724366" y="53051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829" name="TextBox 1828"/>
          <p:cNvSpPr txBox="1"/>
          <p:nvPr/>
        </p:nvSpPr>
        <p:spPr>
          <a:xfrm>
            <a:off x="202880" y="5430112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830" name="Rectangle 1829"/>
          <p:cNvSpPr/>
          <p:nvPr/>
        </p:nvSpPr>
        <p:spPr>
          <a:xfrm>
            <a:off x="1216129" y="5436112"/>
            <a:ext cx="335249" cy="251296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1" name="TextBox 1830"/>
          <p:cNvSpPr txBox="1"/>
          <p:nvPr/>
        </p:nvSpPr>
        <p:spPr>
          <a:xfrm>
            <a:off x="1210129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832" name="TextBox 1831"/>
          <p:cNvSpPr txBox="1"/>
          <p:nvPr/>
        </p:nvSpPr>
        <p:spPr>
          <a:xfrm>
            <a:off x="1210129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33" name="Rectangle 1832"/>
          <p:cNvSpPr/>
          <p:nvPr/>
        </p:nvSpPr>
        <p:spPr>
          <a:xfrm>
            <a:off x="1563378" y="5436112"/>
            <a:ext cx="335249" cy="251296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4" name="TextBox 1833"/>
          <p:cNvSpPr txBox="1"/>
          <p:nvPr/>
        </p:nvSpPr>
        <p:spPr>
          <a:xfrm>
            <a:off x="1557378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835" name="TextBox 1834"/>
          <p:cNvSpPr txBox="1"/>
          <p:nvPr/>
        </p:nvSpPr>
        <p:spPr>
          <a:xfrm>
            <a:off x="1557378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36" name="Rectangle 1835"/>
          <p:cNvSpPr/>
          <p:nvPr/>
        </p:nvSpPr>
        <p:spPr>
          <a:xfrm>
            <a:off x="2257876" y="5436112"/>
            <a:ext cx="335249" cy="251296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7" name="TextBox 1836"/>
          <p:cNvSpPr txBox="1"/>
          <p:nvPr/>
        </p:nvSpPr>
        <p:spPr>
          <a:xfrm>
            <a:off x="2251876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838" name="TextBox 1837"/>
          <p:cNvSpPr txBox="1"/>
          <p:nvPr/>
        </p:nvSpPr>
        <p:spPr>
          <a:xfrm>
            <a:off x="2251876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39" name="Rectangle 1838"/>
          <p:cNvSpPr/>
          <p:nvPr/>
        </p:nvSpPr>
        <p:spPr>
          <a:xfrm>
            <a:off x="2605125" y="5436112"/>
            <a:ext cx="335249" cy="251296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0" name="TextBox 1839"/>
          <p:cNvSpPr txBox="1"/>
          <p:nvPr/>
        </p:nvSpPr>
        <p:spPr>
          <a:xfrm>
            <a:off x="2599125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841" name="TextBox 1840"/>
          <p:cNvSpPr txBox="1"/>
          <p:nvPr/>
        </p:nvSpPr>
        <p:spPr>
          <a:xfrm>
            <a:off x="2599125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42" name="Rectangle 1841"/>
          <p:cNvSpPr/>
          <p:nvPr/>
        </p:nvSpPr>
        <p:spPr>
          <a:xfrm>
            <a:off x="3299623" y="5436112"/>
            <a:ext cx="335249" cy="251296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TextBox 1842"/>
          <p:cNvSpPr txBox="1"/>
          <p:nvPr/>
        </p:nvSpPr>
        <p:spPr>
          <a:xfrm>
            <a:off x="3293623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844" name="TextBox 1843"/>
          <p:cNvSpPr txBox="1"/>
          <p:nvPr/>
        </p:nvSpPr>
        <p:spPr>
          <a:xfrm>
            <a:off x="3293623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45" name="Rectangle 1844"/>
          <p:cNvSpPr/>
          <p:nvPr/>
        </p:nvSpPr>
        <p:spPr>
          <a:xfrm>
            <a:off x="5035868" y="5436112"/>
            <a:ext cx="335249" cy="251296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TextBox 1845"/>
          <p:cNvSpPr txBox="1"/>
          <p:nvPr/>
        </p:nvSpPr>
        <p:spPr>
          <a:xfrm>
            <a:off x="5029868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847" name="TextBox 1846"/>
          <p:cNvSpPr txBox="1"/>
          <p:nvPr/>
        </p:nvSpPr>
        <p:spPr>
          <a:xfrm>
            <a:off x="5029868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48" name="Rectangle 1847"/>
          <p:cNvSpPr/>
          <p:nvPr/>
        </p:nvSpPr>
        <p:spPr>
          <a:xfrm>
            <a:off x="5730366" y="5436112"/>
            <a:ext cx="335249" cy="251296"/>
          </a:xfrm>
          <a:prstGeom prst="rect">
            <a:avLst/>
          </a:prstGeom>
          <a:solidFill>
            <a:srgbClr val="94A3B8">
              <a:alpha val="402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TextBox 1848"/>
          <p:cNvSpPr txBox="1"/>
          <p:nvPr/>
        </p:nvSpPr>
        <p:spPr>
          <a:xfrm>
            <a:off x="5724366" y="54381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0.2M</a:t>
            </a:r>
          </a:p>
        </p:txBody>
      </p:sp>
      <p:sp>
        <p:nvSpPr>
          <p:cNvPr id="1850" name="TextBox 1849"/>
          <p:cNvSpPr txBox="1"/>
          <p:nvPr/>
        </p:nvSpPr>
        <p:spPr>
          <a:xfrm>
            <a:off x="5724366" y="556840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851" name="TextBox 1850"/>
          <p:cNvSpPr txBox="1"/>
          <p:nvPr/>
        </p:nvSpPr>
        <p:spPr>
          <a:xfrm>
            <a:off x="202880" y="5693408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852" name="Rectangle 1851"/>
          <p:cNvSpPr/>
          <p:nvPr/>
        </p:nvSpPr>
        <p:spPr>
          <a:xfrm>
            <a:off x="2605125" y="5699408"/>
            <a:ext cx="335249" cy="251296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3" name="TextBox 1852"/>
          <p:cNvSpPr txBox="1"/>
          <p:nvPr/>
        </p:nvSpPr>
        <p:spPr>
          <a:xfrm>
            <a:off x="2599125" y="57014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854" name="TextBox 1853"/>
          <p:cNvSpPr txBox="1"/>
          <p:nvPr/>
        </p:nvSpPr>
        <p:spPr>
          <a:xfrm>
            <a:off x="2599125" y="58317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855" name="Rectangle 1854"/>
          <p:cNvSpPr/>
          <p:nvPr/>
        </p:nvSpPr>
        <p:spPr>
          <a:xfrm>
            <a:off x="2952374" y="5699408"/>
            <a:ext cx="335249" cy="251296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6" name="TextBox 1855"/>
          <p:cNvSpPr txBox="1"/>
          <p:nvPr/>
        </p:nvSpPr>
        <p:spPr>
          <a:xfrm>
            <a:off x="2946374" y="57014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857" name="TextBox 1856"/>
          <p:cNvSpPr txBox="1"/>
          <p:nvPr/>
        </p:nvSpPr>
        <p:spPr>
          <a:xfrm>
            <a:off x="2946374" y="58317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858" name="Rectangle 1857"/>
          <p:cNvSpPr/>
          <p:nvPr/>
        </p:nvSpPr>
        <p:spPr>
          <a:xfrm>
            <a:off x="3299623" y="5699408"/>
            <a:ext cx="335249" cy="251296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9" name="TextBox 1858"/>
          <p:cNvSpPr txBox="1"/>
          <p:nvPr/>
        </p:nvSpPr>
        <p:spPr>
          <a:xfrm>
            <a:off x="3293623" y="570140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1.8M</a:t>
            </a:r>
          </a:p>
        </p:txBody>
      </p:sp>
      <p:sp>
        <p:nvSpPr>
          <p:cNvPr id="1860" name="TextBox 1859"/>
          <p:cNvSpPr txBox="1"/>
          <p:nvPr/>
        </p:nvSpPr>
        <p:spPr>
          <a:xfrm>
            <a:off x="3293623" y="583170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61" name="TextBox 1860"/>
          <p:cNvSpPr txBox="1"/>
          <p:nvPr/>
        </p:nvSpPr>
        <p:spPr>
          <a:xfrm>
            <a:off x="202880" y="5956704"/>
            <a:ext cx="650000" cy="263296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862" name="Rectangle 1861"/>
          <p:cNvSpPr/>
          <p:nvPr/>
        </p:nvSpPr>
        <p:spPr>
          <a:xfrm>
            <a:off x="868880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3" name="TextBox 1862"/>
          <p:cNvSpPr txBox="1"/>
          <p:nvPr/>
        </p:nvSpPr>
        <p:spPr>
          <a:xfrm>
            <a:off x="862880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12.4M</a:t>
            </a:r>
          </a:p>
        </p:txBody>
      </p:sp>
      <p:sp>
        <p:nvSpPr>
          <p:cNvPr id="1864" name="TextBox 1863"/>
          <p:cNvSpPr txBox="1"/>
          <p:nvPr/>
        </p:nvSpPr>
        <p:spPr>
          <a:xfrm>
            <a:off x="862880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24件</a:t>
            </a:r>
          </a:p>
        </p:txBody>
      </p:sp>
      <p:sp>
        <p:nvSpPr>
          <p:cNvPr id="1865" name="Rectangle 1864"/>
          <p:cNvSpPr/>
          <p:nvPr/>
        </p:nvSpPr>
        <p:spPr>
          <a:xfrm>
            <a:off x="1216129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6" name="TextBox 1865"/>
          <p:cNvSpPr txBox="1"/>
          <p:nvPr/>
        </p:nvSpPr>
        <p:spPr>
          <a:xfrm>
            <a:off x="1210129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24.3M</a:t>
            </a:r>
          </a:p>
        </p:txBody>
      </p:sp>
      <p:sp>
        <p:nvSpPr>
          <p:cNvPr id="1867" name="TextBox 1866"/>
          <p:cNvSpPr txBox="1"/>
          <p:nvPr/>
        </p:nvSpPr>
        <p:spPr>
          <a:xfrm>
            <a:off x="1210129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59件</a:t>
            </a:r>
          </a:p>
        </p:txBody>
      </p:sp>
      <p:sp>
        <p:nvSpPr>
          <p:cNvPr id="1868" name="Rectangle 1867"/>
          <p:cNvSpPr/>
          <p:nvPr/>
        </p:nvSpPr>
        <p:spPr>
          <a:xfrm>
            <a:off x="1563378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9" name="TextBox 1868"/>
          <p:cNvSpPr txBox="1"/>
          <p:nvPr/>
        </p:nvSpPr>
        <p:spPr>
          <a:xfrm>
            <a:off x="1557378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24.6M</a:t>
            </a:r>
          </a:p>
        </p:txBody>
      </p:sp>
      <p:sp>
        <p:nvSpPr>
          <p:cNvPr id="1870" name="TextBox 1869"/>
          <p:cNvSpPr txBox="1"/>
          <p:nvPr/>
        </p:nvSpPr>
        <p:spPr>
          <a:xfrm>
            <a:off x="1557378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871" name="Rectangle 1870"/>
          <p:cNvSpPr/>
          <p:nvPr/>
        </p:nvSpPr>
        <p:spPr>
          <a:xfrm>
            <a:off x="1910627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2" name="TextBox 1871"/>
          <p:cNvSpPr txBox="1"/>
          <p:nvPr/>
        </p:nvSpPr>
        <p:spPr>
          <a:xfrm>
            <a:off x="1904627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23.5M</a:t>
            </a:r>
          </a:p>
        </p:txBody>
      </p:sp>
      <p:sp>
        <p:nvSpPr>
          <p:cNvPr id="1873" name="TextBox 1872"/>
          <p:cNvSpPr txBox="1"/>
          <p:nvPr/>
        </p:nvSpPr>
        <p:spPr>
          <a:xfrm>
            <a:off x="1904627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874" name="Rectangle 1873"/>
          <p:cNvSpPr/>
          <p:nvPr/>
        </p:nvSpPr>
        <p:spPr>
          <a:xfrm>
            <a:off x="2257876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5" name="TextBox 1874"/>
          <p:cNvSpPr txBox="1"/>
          <p:nvPr/>
        </p:nvSpPr>
        <p:spPr>
          <a:xfrm>
            <a:off x="2251876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8.4M</a:t>
            </a:r>
          </a:p>
        </p:txBody>
      </p:sp>
      <p:sp>
        <p:nvSpPr>
          <p:cNvPr id="1876" name="TextBox 1875"/>
          <p:cNvSpPr txBox="1"/>
          <p:nvPr/>
        </p:nvSpPr>
        <p:spPr>
          <a:xfrm>
            <a:off x="2251876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877" name="Rectangle 1876"/>
          <p:cNvSpPr/>
          <p:nvPr/>
        </p:nvSpPr>
        <p:spPr>
          <a:xfrm>
            <a:off x="2605125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8" name="TextBox 1877"/>
          <p:cNvSpPr txBox="1"/>
          <p:nvPr/>
        </p:nvSpPr>
        <p:spPr>
          <a:xfrm>
            <a:off x="2599125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15.9M</a:t>
            </a:r>
          </a:p>
        </p:txBody>
      </p:sp>
      <p:sp>
        <p:nvSpPr>
          <p:cNvPr id="1879" name="TextBox 1878"/>
          <p:cNvSpPr txBox="1"/>
          <p:nvPr/>
        </p:nvSpPr>
        <p:spPr>
          <a:xfrm>
            <a:off x="2599125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1880" name="Rectangle 1879"/>
          <p:cNvSpPr/>
          <p:nvPr/>
        </p:nvSpPr>
        <p:spPr>
          <a:xfrm>
            <a:off x="2952374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1" name="TextBox 1880"/>
          <p:cNvSpPr txBox="1"/>
          <p:nvPr/>
        </p:nvSpPr>
        <p:spPr>
          <a:xfrm>
            <a:off x="2946374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20.4M</a:t>
            </a:r>
          </a:p>
        </p:txBody>
      </p:sp>
      <p:sp>
        <p:nvSpPr>
          <p:cNvPr id="1882" name="TextBox 1881"/>
          <p:cNvSpPr txBox="1"/>
          <p:nvPr/>
        </p:nvSpPr>
        <p:spPr>
          <a:xfrm>
            <a:off x="2946374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46件</a:t>
            </a:r>
          </a:p>
        </p:txBody>
      </p:sp>
      <p:sp>
        <p:nvSpPr>
          <p:cNvPr id="1883" name="Rectangle 1882"/>
          <p:cNvSpPr/>
          <p:nvPr/>
        </p:nvSpPr>
        <p:spPr>
          <a:xfrm>
            <a:off x="3299623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4" name="TextBox 1883"/>
          <p:cNvSpPr txBox="1"/>
          <p:nvPr/>
        </p:nvSpPr>
        <p:spPr>
          <a:xfrm>
            <a:off x="3293623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28.1M</a:t>
            </a:r>
          </a:p>
        </p:txBody>
      </p:sp>
      <p:sp>
        <p:nvSpPr>
          <p:cNvPr id="1885" name="TextBox 1884"/>
          <p:cNvSpPr txBox="1"/>
          <p:nvPr/>
        </p:nvSpPr>
        <p:spPr>
          <a:xfrm>
            <a:off x="3293623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886" name="Rectangle 1885"/>
          <p:cNvSpPr/>
          <p:nvPr/>
        </p:nvSpPr>
        <p:spPr>
          <a:xfrm>
            <a:off x="3646872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7" name="TextBox 1886"/>
          <p:cNvSpPr txBox="1"/>
          <p:nvPr/>
        </p:nvSpPr>
        <p:spPr>
          <a:xfrm>
            <a:off x="3640872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12.5M</a:t>
            </a:r>
          </a:p>
        </p:txBody>
      </p:sp>
      <p:sp>
        <p:nvSpPr>
          <p:cNvPr id="1888" name="TextBox 1887"/>
          <p:cNvSpPr txBox="1"/>
          <p:nvPr/>
        </p:nvSpPr>
        <p:spPr>
          <a:xfrm>
            <a:off x="3640872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889" name="Rectangle 1888"/>
          <p:cNvSpPr/>
          <p:nvPr/>
        </p:nvSpPr>
        <p:spPr>
          <a:xfrm>
            <a:off x="3994121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0" name="TextBox 1889"/>
          <p:cNvSpPr txBox="1"/>
          <p:nvPr/>
        </p:nvSpPr>
        <p:spPr>
          <a:xfrm>
            <a:off x="3988121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12.0M</a:t>
            </a:r>
          </a:p>
        </p:txBody>
      </p:sp>
      <p:sp>
        <p:nvSpPr>
          <p:cNvPr id="1891" name="TextBox 1890"/>
          <p:cNvSpPr txBox="1"/>
          <p:nvPr/>
        </p:nvSpPr>
        <p:spPr>
          <a:xfrm>
            <a:off x="3988121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892" name="Rectangle 1891"/>
          <p:cNvSpPr/>
          <p:nvPr/>
        </p:nvSpPr>
        <p:spPr>
          <a:xfrm>
            <a:off x="4341370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3" name="TextBox 1892"/>
          <p:cNvSpPr txBox="1"/>
          <p:nvPr/>
        </p:nvSpPr>
        <p:spPr>
          <a:xfrm>
            <a:off x="4335370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15.4M</a:t>
            </a:r>
          </a:p>
        </p:txBody>
      </p:sp>
      <p:sp>
        <p:nvSpPr>
          <p:cNvPr id="1894" name="TextBox 1893"/>
          <p:cNvSpPr txBox="1"/>
          <p:nvPr/>
        </p:nvSpPr>
        <p:spPr>
          <a:xfrm>
            <a:off x="4335370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895" name="Rectangle 1894"/>
          <p:cNvSpPr/>
          <p:nvPr/>
        </p:nvSpPr>
        <p:spPr>
          <a:xfrm>
            <a:off x="4688619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6" name="TextBox 1895"/>
          <p:cNvSpPr txBox="1"/>
          <p:nvPr/>
        </p:nvSpPr>
        <p:spPr>
          <a:xfrm>
            <a:off x="4682619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19.3M</a:t>
            </a:r>
          </a:p>
        </p:txBody>
      </p:sp>
      <p:sp>
        <p:nvSpPr>
          <p:cNvPr id="1897" name="TextBox 1896"/>
          <p:cNvSpPr txBox="1"/>
          <p:nvPr/>
        </p:nvSpPr>
        <p:spPr>
          <a:xfrm>
            <a:off x="4682619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50件</a:t>
            </a:r>
          </a:p>
        </p:txBody>
      </p:sp>
      <p:sp>
        <p:nvSpPr>
          <p:cNvPr id="1898" name="Rectangle 1897"/>
          <p:cNvSpPr/>
          <p:nvPr/>
        </p:nvSpPr>
        <p:spPr>
          <a:xfrm>
            <a:off x="5035868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9" name="TextBox 1898"/>
          <p:cNvSpPr txBox="1"/>
          <p:nvPr/>
        </p:nvSpPr>
        <p:spPr>
          <a:xfrm>
            <a:off x="5029868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11.2M</a:t>
            </a:r>
          </a:p>
        </p:txBody>
      </p:sp>
      <p:sp>
        <p:nvSpPr>
          <p:cNvPr id="1900" name="TextBox 1899"/>
          <p:cNvSpPr txBox="1"/>
          <p:nvPr/>
        </p:nvSpPr>
        <p:spPr>
          <a:xfrm>
            <a:off x="5029868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901" name="Rectangle 1900"/>
          <p:cNvSpPr/>
          <p:nvPr/>
        </p:nvSpPr>
        <p:spPr>
          <a:xfrm>
            <a:off x="5383117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2" name="TextBox 1901"/>
          <p:cNvSpPr txBox="1"/>
          <p:nvPr/>
        </p:nvSpPr>
        <p:spPr>
          <a:xfrm>
            <a:off x="5377117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17.6M</a:t>
            </a:r>
          </a:p>
        </p:txBody>
      </p:sp>
      <p:sp>
        <p:nvSpPr>
          <p:cNvPr id="1903" name="TextBox 1902"/>
          <p:cNvSpPr txBox="1"/>
          <p:nvPr/>
        </p:nvSpPr>
        <p:spPr>
          <a:xfrm>
            <a:off x="5377117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904" name="Rectangle 1903"/>
          <p:cNvSpPr/>
          <p:nvPr/>
        </p:nvSpPr>
        <p:spPr>
          <a:xfrm>
            <a:off x="5730366" y="5962704"/>
            <a:ext cx="335249" cy="251296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TextBox 1904"/>
          <p:cNvSpPr txBox="1"/>
          <p:nvPr/>
        </p:nvSpPr>
        <p:spPr>
          <a:xfrm>
            <a:off x="5724366" y="596470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6.9M</a:t>
            </a:r>
          </a:p>
        </p:txBody>
      </p:sp>
      <p:sp>
        <p:nvSpPr>
          <p:cNvPr id="1906" name="TextBox 1905"/>
          <p:cNvSpPr txBox="1"/>
          <p:nvPr/>
        </p:nvSpPr>
        <p:spPr>
          <a:xfrm>
            <a:off x="5724366" y="609500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 + 战略合作合计贡献批核 APE 74.5%，但模式迥异：姜通件均 APE≈36万 为「大单驱动型」；战略合作 119件 为「流量驱动型」。头部集中度高，需差异化管理策略。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Mark批核率 100%（批核 13.3M，未批核 0.0M），件质量最高。姜通未批核量最大（37.3M），批核率 76%，需优先排查件质量问题。头部推荐人质量差异显著，需差异化对接策略。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  |  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53.2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  |  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29.6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8.93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94A3B8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94A3B8"/>
                          </a:solidFill>
                          <a:latin typeface="Calibri" panose="020F0502020204030204"/>
                          <a:ea typeface="Calibri" panose="020F0502020204030204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212.18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576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52.97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139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14.70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36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279.84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751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16.73M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43件| 件均38.9W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10.55M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29件| 件均36.4W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6.17M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23件| 件均26.8W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1.86M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1.63M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2.00M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2.69M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1.19M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1.97M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1.04M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796B"/>
                          </a:solidFill>
                        </a:rPr>
                        <a:t>1.14M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1.37M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EGA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0.40M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850" b="1" dirty="0">
                          <a:solidFill>
                            <a:srgbClr val="1A1A2E"/>
                          </a:solidFill>
                        </a:rPr>
                        <a:t>德方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0.78M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0.78M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850" dirty="0">
                          <a:solidFill>
                            <a:schemeClr val="bg1"/>
                          </a:solidFill>
                        </a:rPr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16.73M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10.55M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10.05M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同行批核 6.17M，签单 10.55M，预约 16.73M。签单前端尚在蓄力，预约 16.7M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24.98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18.13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24.64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72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45.59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49.21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132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19.56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3.51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236.72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668</a:t>
                      </a: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223.70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639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240.22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588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4020 万，环比 +90.9%，前端显著回暖。3 月签单 4343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60"/>
          <p:cNvSpPr/>
          <p:nvPr/>
        </p:nvSpPr>
        <p:spPr>
          <a:xfrm>
            <a:off x="6120765" y="1424305"/>
            <a:ext cx="585851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8" name="Shape 60"/>
          <p:cNvSpPr/>
          <p:nvPr/>
        </p:nvSpPr>
        <p:spPr>
          <a:xfrm>
            <a:off x="190500" y="1424305"/>
            <a:ext cx="565912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6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7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8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9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10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11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12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13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4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5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6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7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8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9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20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21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22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23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4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5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6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7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8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9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30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31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32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33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4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5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01" name="s3001"/>
          <p:cNvSpPr/>
          <p:nvPr/>
        </p:nvSpPr>
        <p:spPr>
          <a:xfrm>
            <a:off x="182800" y="1411695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>
            <a:endParaRPr lang="zh-CN" altLang="en-US"/>
          </a:p>
        </p:txBody>
      </p:sp>
      <p:sp>
        <p:nvSpPr>
          <p:cNvPr id="3" name="t3002"/>
          <p:cNvSpPr/>
          <p:nvPr/>
        </p:nvSpPr>
        <p:spPr>
          <a:xfrm>
            <a:off x="199252" y="1439000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Appointment  |  APE(M)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件数</a:t>
            </a:r>
            <a:endParaRPr lang="en-US" altLang="zh-CN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99" name="Chart_YY"/>
          <p:cNvGraphicFramePr/>
          <p:nvPr/>
        </p:nvGraphicFramePr>
        <p:xfrm>
          <a:off x="229235" y="1673225"/>
          <a:ext cx="4764405" cy="13696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05" name="Chart_QD"/>
          <p:cNvGraphicFramePr/>
          <p:nvPr/>
        </p:nvGraphicFramePr>
        <p:xfrm>
          <a:off x="199390" y="3181350"/>
          <a:ext cx="4795520" cy="12020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4" name="Chart_PH"/>
          <p:cNvGraphicFramePr/>
          <p:nvPr/>
        </p:nvGraphicFramePr>
        <p:xfrm>
          <a:off x="229235" y="4775200"/>
          <a:ext cx="4765040" cy="1043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5" name="s3001"/>
          <p:cNvSpPr/>
          <p:nvPr/>
        </p:nvSpPr>
        <p:spPr>
          <a:xfrm>
            <a:off x="180260" y="284870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/>
        </p:txBody>
      </p:sp>
      <p:sp>
        <p:nvSpPr>
          <p:cNvPr id="56" name="t3002"/>
          <p:cNvSpPr/>
          <p:nvPr/>
        </p:nvSpPr>
        <p:spPr>
          <a:xfrm>
            <a:off x="258942" y="286965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Signed  |  APE(M) 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7" name="s3001"/>
          <p:cNvSpPr/>
          <p:nvPr/>
        </p:nvSpPr>
        <p:spPr>
          <a:xfrm>
            <a:off x="198675" y="438794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/>
        </p:txBody>
      </p:sp>
      <p:sp>
        <p:nvSpPr>
          <p:cNvPr id="60" name="t3002"/>
          <p:cNvSpPr/>
          <p:nvPr/>
        </p:nvSpPr>
        <p:spPr>
          <a:xfrm>
            <a:off x="259577" y="441397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003" name="sw_bg_4003"/>
          <p:cNvSpPr/>
          <p:nvPr/>
        </p:nvSpPr>
        <p:spPr>
          <a:xfrm>
            <a:off x="199390" y="6094095"/>
            <a:ext cx="5647690" cy="628650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/>
        </p:txBody>
      </p:sp>
      <p:sp>
        <p:nvSpPr>
          <p:cNvPr id="5" name="sw_4003"/>
          <p:cNvSpPr/>
          <p:nvPr/>
        </p:nvSpPr>
        <p:spPr>
          <a:xfrm>
            <a:off x="199390" y="6111240"/>
            <a:ext cx="5558790" cy="30416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预约：Q1 民生 21.3M，平安 14.8M。签单：4 月民生 5.77M，平安 2.73M，3 月末积压件持续转化，Q2 批核弹药充足。需关注 4 月预约动能的及时修复。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53" name="Chart 1"/>
          <p:cNvGraphicFramePr/>
          <p:nvPr>
            <p:custDataLst>
              <p:tags r:id="rId36"/>
            </p:custDataLst>
          </p:nvPr>
        </p:nvGraphicFramePr>
        <p:xfrm>
          <a:off x="6239510" y="1742440"/>
          <a:ext cx="5697220" cy="1732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4" name="s3001"/>
          <p:cNvSpPr/>
          <p:nvPr/>
        </p:nvSpPr>
        <p:spPr>
          <a:xfrm>
            <a:off x="6116955" y="1424305"/>
            <a:ext cx="5861685" cy="255905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/>
          <a:p/>
        </p:txBody>
      </p:sp>
      <p:sp>
        <p:nvSpPr>
          <p:cNvPr id="58" name="t3002"/>
          <p:cNvSpPr/>
          <p:nvPr/>
        </p:nvSpPr>
        <p:spPr>
          <a:xfrm>
            <a:off x="6163310" y="1437640"/>
            <a:ext cx="3495675" cy="2616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AA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KEY ACCOUNT分析</a:t>
            </a:r>
            <a:r>
              <a:rPr lang="en-US" sz="93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  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010" name="target_hdr"/>
          <p:cNvSpPr/>
          <p:nvPr/>
        </p:nvSpPr>
        <p:spPr>
          <a:xfrm>
            <a:off x="6116320" y="3689985"/>
            <a:ext cx="5862955" cy="237490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AB 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目标达成分析 Target Achievement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5" name="Chart 0"/>
          <p:cNvGraphicFramePr/>
          <p:nvPr/>
        </p:nvGraphicFramePr>
        <p:xfrm>
          <a:off x="6394450" y="404812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71" name="Shape 255"/>
          <p:cNvSpPr/>
          <p:nvPr/>
        </p:nvSpPr>
        <p:spPr>
          <a:xfrm flipV="1">
            <a:off x="182245" y="6061710"/>
            <a:ext cx="5676900" cy="36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4" name="Shape 13"/>
          <p:cNvSpPr/>
          <p:nvPr>
            <p:custDataLst>
              <p:tags r:id="rId37"/>
            </p:custDataLst>
          </p:nvPr>
        </p:nvSpPr>
        <p:spPr>
          <a:xfrm>
            <a:off x="6125210" y="6223000"/>
            <a:ext cx="585470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7" name="Shape 14"/>
          <p:cNvSpPr/>
          <p:nvPr>
            <p:custDataLst>
              <p:tags r:id="rId38"/>
            </p:custDataLst>
          </p:nvPr>
        </p:nvSpPr>
        <p:spPr>
          <a:xfrm rot="5400000">
            <a:off x="9021433" y="3266452"/>
            <a:ext cx="54000" cy="586295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15"/>
          <p:cNvSpPr/>
          <p:nvPr>
            <p:custDataLst>
              <p:tags r:id="rId39"/>
            </p:custDataLst>
          </p:nvPr>
        </p:nvSpPr>
        <p:spPr>
          <a:xfrm>
            <a:off x="6163310" y="6241415"/>
            <a:ext cx="56515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BK 业务 YTD 批核 227.6M 达成 113.8%；未批核 28.6M 构成 Q2 储量；待签 0.0M。目标 200M 已完成大半，需修复前端预约动能。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96" name="Shape 93"/>
          <p:cNvSpPr/>
          <p:nvPr/>
        </p:nvSpPr>
        <p:spPr>
          <a:xfrm>
            <a:off x="8686800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8686673" y="404799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8778113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民生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0" name="Text 96"/>
          <p:cNvSpPr/>
          <p:nvPr/>
        </p:nvSpPr>
        <p:spPr>
          <a:xfrm>
            <a:off x="8778113" y="435889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8778113" y="47185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800" dirty="0"/>
          </a:p>
        </p:txBody>
      </p:sp>
      <p:sp>
        <p:nvSpPr>
          <p:cNvPr id="107" name="Shape 104"/>
          <p:cNvSpPr/>
          <p:nvPr/>
        </p:nvSpPr>
        <p:spPr>
          <a:xfrm>
            <a:off x="10259695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10259441" y="404799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10350881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0" name="Text 107"/>
          <p:cNvSpPr/>
          <p:nvPr/>
        </p:nvSpPr>
        <p:spPr>
          <a:xfrm>
            <a:off x="10350881" y="433222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10350881" y="47439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达成率 113.8%</a:t>
            </a:r>
            <a:r>
              <a:rPr lang="en-US" altLang="zh-CN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10350881" y="495503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10351135" y="4975225"/>
            <a:ext cx="969010" cy="12573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Text 95"/>
          <p:cNvSpPr/>
          <p:nvPr/>
        </p:nvSpPr>
        <p:spPr>
          <a:xfrm>
            <a:off x="8771763" y="521830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平安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9" name="Text 96"/>
          <p:cNvSpPr/>
          <p:nvPr/>
        </p:nvSpPr>
        <p:spPr>
          <a:xfrm>
            <a:off x="8771128" y="538505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2200" dirty="0"/>
          </a:p>
        </p:txBody>
      </p:sp>
      <p:sp>
        <p:nvSpPr>
          <p:cNvPr id="59" name="Text 97"/>
          <p:cNvSpPr/>
          <p:nvPr/>
        </p:nvSpPr>
        <p:spPr>
          <a:xfrm>
            <a:off x="8778113" y="574789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en-US" sz="800" dirty="0"/>
          </a:p>
        </p:txBody>
      </p:sp>
      <p:sp>
        <p:nvSpPr>
          <p:cNvPr id="61" name="Text 106"/>
          <p:cNvSpPr/>
          <p:nvPr/>
        </p:nvSpPr>
        <p:spPr>
          <a:xfrm>
            <a:off x="10335641" y="523544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目标缺口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62" name="Text 107"/>
          <p:cNvSpPr/>
          <p:nvPr/>
        </p:nvSpPr>
        <p:spPr>
          <a:xfrm>
            <a:off x="10344531" y="540156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-27.6M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3010"/>
          <p:cNvSpPr/>
          <p:nvPr/>
        </p:nvSpPr>
        <p:spPr>
          <a:xfrm>
            <a:off x="6198235" y="748030"/>
            <a:ext cx="5854065" cy="5951855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4" name="s3010"/>
          <p:cNvSpPr/>
          <p:nvPr/>
        </p:nvSpPr>
        <p:spPr>
          <a:xfrm>
            <a:off x="100330" y="1722755"/>
            <a:ext cx="5955665" cy="21412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>
            <p:custDataLst>
              <p:tags r:id="rId3"/>
            </p:custDataLst>
          </p:nvPr>
        </p:nvSpPr>
        <p:spPr>
          <a:xfrm>
            <a:off x="11176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4"/>
            </p:custDataLst>
          </p:nvPr>
        </p:nvSpPr>
        <p:spPr>
          <a:xfrm>
            <a:off x="111760" y="58864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5"/>
            </p:custDataLst>
          </p:nvPr>
        </p:nvSpPr>
        <p:spPr>
          <a:xfrm>
            <a:off x="2209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BK 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6"/>
            </p:custDataLst>
          </p:nvPr>
        </p:nvSpPr>
        <p:spPr>
          <a:xfrm>
            <a:off x="2209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2.73M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7"/>
            </p:custDataLst>
          </p:nvPr>
        </p:nvSpPr>
        <p:spPr>
          <a:xfrm>
            <a:off x="2209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4件| 件均68.2W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8"/>
            </p:custDataLst>
          </p:nvPr>
        </p:nvSpPr>
        <p:spPr>
          <a:xfrm>
            <a:off x="2155825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9"/>
            </p:custDataLst>
          </p:nvPr>
        </p:nvSpPr>
        <p:spPr>
          <a:xfrm>
            <a:off x="2155825" y="58864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10"/>
            </p:custDataLst>
          </p:nvPr>
        </p:nvSpPr>
        <p:spPr>
          <a:xfrm>
            <a:off x="22656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11"/>
            </p:custDataLst>
          </p:nvPr>
        </p:nvSpPr>
        <p:spPr>
          <a:xfrm>
            <a:off x="22656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4.29M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12"/>
            </p:custDataLst>
          </p:nvPr>
        </p:nvSpPr>
        <p:spPr>
          <a:xfrm>
            <a:off x="22656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7件| 件均61.3W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13"/>
            </p:custDataLst>
          </p:nvPr>
        </p:nvSpPr>
        <p:spPr>
          <a:xfrm>
            <a:off x="422021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14"/>
            </p:custDataLst>
          </p:nvPr>
        </p:nvSpPr>
        <p:spPr>
          <a:xfrm>
            <a:off x="4220210" y="58864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15"/>
            </p:custDataLst>
          </p:nvPr>
        </p:nvSpPr>
        <p:spPr>
          <a:xfrm>
            <a:off x="4330065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16"/>
            </p:custDataLst>
          </p:nvPr>
        </p:nvSpPr>
        <p:spPr>
          <a:xfrm>
            <a:off x="4330065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17"/>
            </p:custDataLst>
          </p:nvPr>
        </p:nvSpPr>
        <p:spPr>
          <a:xfrm>
            <a:off x="4330065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100330" y="1466977"/>
            <a:ext cx="5971032" cy="256032"/>
          </a:xfrm>
          <a:prstGeom prst="rect">
            <a:avLst/>
          </a:prstGeom>
          <a:solidFill>
            <a:srgbClr val="6C3483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210058" y="1466977"/>
            <a:ext cx="58338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AB  W01–W28 银行 预约/签单/批核  APE趋势（M）</a:t>
            </a:r>
            <a:endParaRPr lang="en-US" sz="950" dirty="0"/>
          </a:p>
        </p:txBody>
      </p:sp>
      <p:graphicFrame>
        <p:nvGraphicFramePr>
          <p:cNvPr id="41" name="Chart 1"/>
          <p:cNvGraphicFramePr/>
          <p:nvPr/>
        </p:nvGraphicFramePr>
        <p:xfrm>
          <a:off x="177800" y="1881505"/>
          <a:ext cx="5789930" cy="19043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5" name="Shape 40"/>
          <p:cNvSpPr/>
          <p:nvPr/>
        </p:nvSpPr>
        <p:spPr>
          <a:xfrm>
            <a:off x="57150" y="4636135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133350" y="4627245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18"/>
            </p:custDataLst>
          </p:nvPr>
        </p:nvGraphicFramePr>
        <p:xfrm>
          <a:off x="59055" y="4928870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B4F72"/>
                          </a:solidFill>
                          <a:sym typeface="+mn-ea"/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sym typeface="+mn-ea"/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48" name="Shape 42"/>
          <p:cNvSpPr/>
          <p:nvPr/>
        </p:nvSpPr>
        <p:spPr>
          <a:xfrm>
            <a:off x="60325" y="6198235"/>
            <a:ext cx="6011545" cy="50165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49" name="Text 43"/>
          <p:cNvSpPr/>
          <p:nvPr/>
        </p:nvSpPr>
        <p:spPr>
          <a:xfrm>
            <a:off x="109220" y="6248400"/>
            <a:ext cx="5935345" cy="4699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银行 W28：民生 + 平安合计 签单 4.29M/7件、批核 0.00M/0件、预约 2.73M/4件。未批核 28.6M（37件）是 Q2 批核的核心储量。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007" name="sw_bg_4007"/>
          <p:cNvSpPr/>
          <p:nvPr/>
        </p:nvSpPr>
        <p:spPr>
          <a:xfrm>
            <a:off x="100965" y="3980815"/>
            <a:ext cx="5955030" cy="528320"/>
          </a:xfrm>
          <a:prstGeom prst="rect">
            <a:avLst/>
          </a:prstGeom>
          <a:solidFill>
            <a:srgbClr val="EEF2FF"/>
          </a:solidFill>
          <a:ln w="9525">
            <a:solidFill>
              <a:srgbClr val="BFDBFE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37" name="sw_4007"/>
          <p:cNvSpPr/>
          <p:nvPr/>
        </p:nvSpPr>
        <p:spPr>
          <a:xfrm>
            <a:off x="100965" y="4006215"/>
            <a:ext cx="5942965" cy="341630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W08 批核峰值 46.9M 为全年迄今最高单周，由民生大额集中放款驱动，非可持续常态。W11 批核 36.0M 为第二峰，显示积压件的波动性清转模式。近期批核节奏已回落至正常区间。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8" name="Chart 0"/>
          <p:cNvGraphicFramePr/>
          <p:nvPr>
            <p:custDataLst>
              <p:tags r:id="rId19"/>
            </p:custDataLst>
          </p:nvPr>
        </p:nvGraphicFramePr>
        <p:xfrm>
          <a:off x="6320790" y="1102995"/>
          <a:ext cx="5703570" cy="5534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Shape 36"/>
          <p:cNvSpPr/>
          <p:nvPr/>
        </p:nvSpPr>
        <p:spPr>
          <a:xfrm>
            <a:off x="6198235" y="647065"/>
            <a:ext cx="5839460" cy="255905"/>
          </a:xfrm>
          <a:prstGeom prst="rect">
            <a:avLst/>
          </a:prstGeom>
          <a:solidFill>
            <a:srgbClr val="6B2737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1" name="Text 37"/>
          <p:cNvSpPr/>
          <p:nvPr/>
        </p:nvSpPr>
        <p:spPr>
          <a:xfrm>
            <a:off x="6308090" y="647065"/>
            <a:ext cx="499364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  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各分行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年批核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APE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业绩排名</a:t>
            </a: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（M）</a:t>
            </a:r>
            <a:endParaRPr lang="en-US" sz="950" dirty="0"/>
          </a:p>
        </p:txBody>
      </p:sp>
      <p:sp>
        <p:nvSpPr>
          <p:cNvPr id="4003" name="sw_bg_4003"/>
          <p:cNvSpPr/>
          <p:nvPr/>
        </p:nvSpPr>
        <p:spPr>
          <a:xfrm>
            <a:off x="6198235" y="6160135"/>
            <a:ext cx="5853430" cy="563245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12" name="sw_4003"/>
          <p:cNvSpPr/>
          <p:nvPr/>
        </p:nvSpPr>
        <p:spPr>
          <a:xfrm>
            <a:off x="6198235" y="6223000"/>
            <a:ext cx="5854065" cy="47688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民生广州分行 以 44.1M 居榜首，民生南京分行 37.1M 紧随。前四行合计 130.1M，占 BK 总批核 57%，头部集中度显著，大额单效率突出。</a:t>
            </a:r>
            <a:endParaRPr lang="zh-CN" sz="800" b="1" dirty="0">
              <a:solidFill>
                <a:srgbClr val="7B241C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71" name="Shape 255"/>
          <p:cNvSpPr/>
          <p:nvPr/>
        </p:nvSpPr>
        <p:spPr>
          <a:xfrm flipV="1">
            <a:off x="6198235" y="6151245"/>
            <a:ext cx="5892165" cy="54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 flipV="1">
            <a:off x="71120" y="6170930"/>
            <a:ext cx="5981065" cy="54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欧阳芷茵</cp:lastModifiedBy>
  <cp:revision>66</cp:revision>
  <dcterms:created xsi:type="dcterms:W3CDTF">2026-03-26T15:42:00Z</dcterms:created>
  <dcterms:modified xsi:type="dcterms:W3CDTF">2026-06-02T05:49:53Z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2052-12.1.0.26375</vt:lpwstr>
  </property>
</Properties>
</file>