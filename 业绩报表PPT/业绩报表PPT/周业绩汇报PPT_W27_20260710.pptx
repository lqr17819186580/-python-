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2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2" r:id="rId6"/>
    <p:sldId id="258" r:id="rId7"/>
    <p:sldId id="270" r:id="rId8"/>
    <p:sldId id="260" r:id="rId9"/>
    <p:sldId id="271" r:id="rId10"/>
    <p:sldId id="263" r:id="rId11"/>
    <p:sldId id="272" r:id="rId12"/>
    <p:sldId id="276" r:id="rId13"/>
    <p:sldId id="277" r:id="rId14"/>
    <p:sldId id="278" r:id="rId15"/>
  </p:sldIdLst>
  <p:sldSz cx="12192000" cy="6858000"/>
  <p:notesSz cx="6858000" cy="12192000"/>
  <p:custDataLst>
    <p:tags r:id="rId1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B2737"/>
    <a:srgbClr val="6C3483"/>
    <a:srgbClr val="CC4E3F"/>
    <a:srgbClr val="9B2335"/>
    <a:srgbClr val="0D594A"/>
    <a:srgbClr val="0F6957"/>
    <a:srgbClr val="117A65"/>
    <a:srgbClr val="7B241C"/>
    <a:srgbClr val="8B4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tags" Target="tags/tag10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6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7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8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1"/>
              <c:layout>
                <c:manualLayout>
                  <c:x val="-0.0076754385964912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0.0131578947368421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500.3</c:v>
                </c:pt>
                <c:pt idx="1">
                  <c:v>71.82</c:v>
                </c:pt>
                <c:pt idx="2">
                  <c:v>24.62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Lbl>
              <c:idx val="2"/>
              <c:layout>
                <c:manualLayout>
                  <c:x val="0.0043859649122807"/>
                  <c:y val="-0.00193798449612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28947368421053"/>
                      <c:h val="0.0697674418604651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83.84</c:v>
                </c:pt>
                <c:pt idx="1">
                  <c:v>9.3</c:v>
                </c:pt>
                <c:pt idx="2">
                  <c:v>4.61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1"/>
              <c:layout>
                <c:manualLayout>
                  <c:x val="0.0164473684210526"/>
                  <c:y val="-0.0038759689922480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281432748538012"/>
                  <c:y val="0.0012919896640826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08040935672515"/>
                      <c:h val="0.0752583979328165"/>
                    </c:manualLayout>
                  </c15:layout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经代业务</c:v>
                </c:pt>
                <c:pt idx="1">
                  <c:v>代理人业务</c:v>
                </c:pt>
                <c:pt idx="2">
                  <c:v>KA 业务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11.42</c:v>
                </c:pt>
                <c:pt idx="1">
                  <c:v>6.57</c:v>
                </c:pt>
                <c:pt idx="2">
                  <c:v>0.03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6a8ab36-1a2b-4a65-a8dc-7db2cf40693d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2794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22.6</c:v>
                </c:pt>
                <c:pt idx="1">
                  <c:v>38.9</c:v>
                </c:pt>
                <c:pt idx="2">
                  <c:v>34.3</c:v>
                </c:pt>
                <c:pt idx="3">
                  <c:v>29.1</c:v>
                </c:pt>
                <c:pt idx="4">
                  <c:v>45.5</c:v>
                </c:pt>
                <c:pt idx="5">
                  <c:v>178.8</c:v>
                </c:pt>
                <c:pt idx="6">
                  <c:v>41.3</c:v>
                </c:pt>
                <c:pt idx="7">
                  <c:v>62.4</c:v>
                </c:pt>
                <c:pt idx="8">
                  <c:v>155.8</c:v>
                </c:pt>
                <c:pt idx="9">
                  <c:v>87.7</c:v>
                </c:pt>
                <c:pt idx="10">
                  <c:v>199.2</c:v>
                </c:pt>
                <c:pt idx="11">
                  <c:v>145.8</c:v>
                </c:pt>
                <c:pt idx="12">
                  <c:v>53.9</c:v>
                </c:pt>
                <c:pt idx="13">
                  <c:v>56.37</c:v>
                </c:pt>
                <c:pt idx="14">
                  <c:v>81.48</c:v>
                </c:pt>
                <c:pt idx="15">
                  <c:v>67.38</c:v>
                </c:pt>
                <c:pt idx="16">
                  <c:v>81.87</c:v>
                </c:pt>
                <c:pt idx="17">
                  <c:v>84.35</c:v>
                </c:pt>
                <c:pt idx="18">
                  <c:v>29.55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2794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25.1</c:v>
                </c:pt>
                <c:pt idx="1">
                  <c:v>37.8</c:v>
                </c:pt>
                <c:pt idx="2">
                  <c:v>36</c:v>
                </c:pt>
                <c:pt idx="3">
                  <c:v>21.1</c:v>
                </c:pt>
                <c:pt idx="4">
                  <c:v>39.6</c:v>
                </c:pt>
                <c:pt idx="5">
                  <c:v>188.7</c:v>
                </c:pt>
                <c:pt idx="6">
                  <c:v>34.3</c:v>
                </c:pt>
                <c:pt idx="7">
                  <c:v>67.7</c:v>
                </c:pt>
                <c:pt idx="8">
                  <c:v>156.2</c:v>
                </c:pt>
                <c:pt idx="9">
                  <c:v>88</c:v>
                </c:pt>
                <c:pt idx="10">
                  <c:v>188.4</c:v>
                </c:pt>
                <c:pt idx="11">
                  <c:v>153.1</c:v>
                </c:pt>
                <c:pt idx="12">
                  <c:v>47.9</c:v>
                </c:pt>
                <c:pt idx="13">
                  <c:v>61.13</c:v>
                </c:pt>
                <c:pt idx="14">
                  <c:v>82.15</c:v>
                </c:pt>
                <c:pt idx="15">
                  <c:v>62.1</c:v>
                </c:pt>
                <c:pt idx="16">
                  <c:v>86.14</c:v>
                </c:pt>
                <c:pt idx="17">
                  <c:v>85.69</c:v>
                </c:pt>
                <c:pt idx="18">
                  <c:v>17.24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27940" cap="flat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Sheet1!$A$2:$A$20</c:f>
              <c:strCache>
                <c:ptCount val="19"/>
                <c:pt idx="0">
                  <c:v>25-Jan</c:v>
                </c:pt>
                <c:pt idx="1">
                  <c:v>25-Feb</c:v>
                </c:pt>
                <c:pt idx="2">
                  <c:v>25-Mar</c:v>
                </c:pt>
                <c:pt idx="3">
                  <c:v>25-Apr</c:v>
                </c:pt>
                <c:pt idx="4">
                  <c:v>25-May</c:v>
                </c:pt>
                <c:pt idx="5">
                  <c:v>25-Jun</c:v>
                </c:pt>
                <c:pt idx="6">
                  <c:v>25-Jul</c:v>
                </c:pt>
                <c:pt idx="7">
                  <c:v>25-Aug</c:v>
                </c:pt>
                <c:pt idx="8">
                  <c:v>25-Sep</c:v>
                </c:pt>
                <c:pt idx="9">
                  <c:v>25-Oct</c:v>
                </c:pt>
                <c:pt idx="10">
                  <c:v>25-Nov</c:v>
                </c:pt>
                <c:pt idx="11">
                  <c:v>25-Dec</c:v>
                </c:pt>
                <c:pt idx="12">
                  <c:v>26-Jan</c:v>
                </c:pt>
                <c:pt idx="13">
                  <c:v>26-Feb</c:v>
                </c:pt>
                <c:pt idx="14">
                  <c:v>26-Mar</c:v>
                </c:pt>
                <c:pt idx="15">
                  <c:v>26-Apr</c:v>
                </c:pt>
                <c:pt idx="16">
                  <c:v>26-May</c:v>
                </c:pt>
                <c:pt idx="17">
                  <c:v>26-Jun</c:v>
                </c:pt>
                <c:pt idx="18">
                  <c:v>26-Jul</c:v>
                </c:pt>
              </c:strCache>
            </c:strRef>
          </c:cat>
          <c:val>
            <c:numRef>
              <c:f>Sheet1!$D$2:$D$20</c:f>
              <c:numCache>
                <c:formatCode>General</c:formatCode>
                <c:ptCount val="19"/>
                <c:pt idx="0">
                  <c:v>41.4</c:v>
                </c:pt>
                <c:pt idx="1">
                  <c:v>21.7</c:v>
                </c:pt>
                <c:pt idx="2">
                  <c:v>35.5</c:v>
                </c:pt>
                <c:pt idx="3">
                  <c:v>27.5</c:v>
                </c:pt>
                <c:pt idx="4">
                  <c:v>28.6</c:v>
                </c:pt>
                <c:pt idx="5">
                  <c:v>77</c:v>
                </c:pt>
                <c:pt idx="6">
                  <c:v>102.9</c:v>
                </c:pt>
                <c:pt idx="7">
                  <c:v>44.9</c:v>
                </c:pt>
                <c:pt idx="8">
                  <c:v>61.4</c:v>
                </c:pt>
                <c:pt idx="9">
                  <c:v>93.4</c:v>
                </c:pt>
                <c:pt idx="10">
                  <c:v>38.7</c:v>
                </c:pt>
                <c:pt idx="11">
                  <c:v>43.7</c:v>
                </c:pt>
                <c:pt idx="12">
                  <c:v>116.78</c:v>
                </c:pt>
                <c:pt idx="13">
                  <c:v>143.73</c:v>
                </c:pt>
                <c:pt idx="14">
                  <c:v>85.76</c:v>
                </c:pt>
                <c:pt idx="15">
                  <c:v>91.15</c:v>
                </c:pt>
                <c:pt idx="16">
                  <c:v>72.81</c:v>
                </c:pt>
                <c:pt idx="17">
                  <c:v>62.21</c:v>
                </c:pt>
                <c:pt idx="18">
                  <c:v>24.31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4279d99-b91a-40d8-99bc-af3f7ab8993c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38598512621766"/>
          <c:y val="0.104184170727609"/>
          <c:w val="0.923096260605426"/>
          <c:h val="0.8123676692992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实际批核 APE(M)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62.21</c:v>
                </c:pt>
                <c:pt idx="6">
                  <c:v>24.31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预测 APE(M)</c:v>
                </c:pt>
              </c:strCache>
            </c:strRef>
          </c:tx>
          <c:spPr>
            <a:solidFill>
              <a:srgbClr val="BDC7DA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9491398-6801-4b1c-8b75-0873e5e58d8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预约 APE(M)</c:v>
                </c:pt>
              </c:strCache>
            </c:strRef>
          </c:tx>
          <c:spPr>
            <a:solidFill>
              <a:srgbClr val="8B451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4513"/>
              </a:solidFill>
              <a:effectLst/>
            </c:spPr>
          </c:dPt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53.9M / 132件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56.4M / 110件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81.5M / 216件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67.4M / 173件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81.9M / 223件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84.3M / 231件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29.6M / 71件</a:t>
                    </a:r>
                    <a:endParaRPr altLang="en-US"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53.9</c:v>
                </c:pt>
                <c:pt idx="1">
                  <c:v>56.37</c:v>
                </c:pt>
                <c:pt idx="2">
                  <c:v>81.48</c:v>
                </c:pt>
                <c:pt idx="3">
                  <c:v>67.38</c:v>
                </c:pt>
                <c:pt idx="4">
                  <c:v>81.87</c:v>
                </c:pt>
                <c:pt idx="5">
                  <c:v>84.35</c:v>
                </c:pt>
                <c:pt idx="6">
                  <c:v>29.55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01"/>
        <c:axId val="2094734602"/>
      </c:barChart>
      <c:catAx>
        <c:axId val="209473460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2"/>
        <c:crosses val="autoZero"/>
        <c:auto val="1"/>
        <c:lblAlgn val="ctr"/>
        <c:lblOffset val="100"/>
        <c:noMultiLvlLbl val="1"/>
      </c:catAx>
      <c:valAx>
        <c:axId val="209473460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5251b26-8693-4ab6-8b63-0920fe5d477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签单 APE(M)</c:v>
                </c:pt>
              </c:strCache>
            </c:strRef>
          </c:tx>
          <c:spPr>
            <a:solidFill>
              <a:srgbClr val="C8890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47.9M / 114件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61.1M / 121件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82.2M / 212件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62.1M / 162件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86.1M / 225件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85.7M / 239件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17.2M / 51件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47.9</c:v>
                </c:pt>
                <c:pt idx="1">
                  <c:v>61.13</c:v>
                </c:pt>
                <c:pt idx="2">
                  <c:v>82.15</c:v>
                </c:pt>
                <c:pt idx="3">
                  <c:v>62.1</c:v>
                </c:pt>
                <c:pt idx="4">
                  <c:v>86.14</c:v>
                </c:pt>
                <c:pt idx="5">
                  <c:v>85.69</c:v>
                </c:pt>
                <c:pt idx="6">
                  <c:v>17.24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11"/>
        <c:axId val="2094734612"/>
      </c:barChart>
      <c:catAx>
        <c:axId val="20947346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2"/>
        <c:crosses val="autoZero"/>
        <c:auto val="1"/>
        <c:lblAlgn val="ctr"/>
        <c:lblOffset val="100"/>
        <c:noMultiLvlLbl val="1"/>
      </c:catAx>
      <c:valAx>
        <c:axId val="209473461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1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0dec645-e600-4d9a-8260-22cba13a246f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Lbls>
            <c:dLbl>
              <c:idx val="0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116.8M / 203件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143.7M / 180件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85.8M / 143件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t>APE 91.2M / 192件</a:t>
                    </a:r>
                    <a:endParaRPr alt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72.8M / 163件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62.2M / 172件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 defTabSz="914400">
                      <a:defRPr lang="zh-CN" sz="900" b="1" i="0" u="none" strike="noStrike" kern="1200" baseline="0">
                        <a:solidFill>
                          <a:schemeClr val="tx1"/>
                        </a:solidFill>
                        <a:latin typeface="Arial" panose="020B0604020202020204"/>
                        <a:ea typeface="+mn-ea"/>
                        <a:cs typeface="+mn-cs"/>
                      </a:defRPr>
                    </a:pPr>
                    <a:r>
                      <a:rPr>
                        <a:solidFill>
                          <a:schemeClr val="tx1"/>
                        </a:solidFill>
                      </a:rPr>
                      <a:t>APE 24.3M / 69件</a:t>
                    </a:r>
                    <a:endParaRPr>
                      <a:solidFill>
                        <a:schemeClr val="tx1"/>
                      </a:solidFill>
                    </a:endParaRP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&quot;APE &quot;#,##0.0&quot;M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116.78</c:v>
                </c:pt>
                <c:pt idx="1">
                  <c:v>143.73</c:v>
                </c:pt>
                <c:pt idx="2">
                  <c:v>85.76</c:v>
                </c:pt>
                <c:pt idx="3">
                  <c:v>91.15</c:v>
                </c:pt>
                <c:pt idx="4">
                  <c:v>72.81</c:v>
                </c:pt>
                <c:pt idx="5">
                  <c:v>62.21</c:v>
                </c:pt>
                <c:pt idx="6">
                  <c:v>24.31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621"/>
        <c:axId val="2094734622"/>
      </c:barChart>
      <c:catAx>
        <c:axId val="209473462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1100" b="1" i="0" u="none" strike="noStrike" kern="1200" baseline="0">
                <a:solidFill>
                  <a:srgbClr val="1A1A2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2"/>
        <c:crosses val="autoZero"/>
        <c:auto val="1"/>
        <c:lblAlgn val="ctr"/>
        <c:lblOffset val="100"/>
        <c:noMultiLvlLbl val="1"/>
      </c:catAx>
      <c:valAx>
        <c:axId val="209473462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62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5dc3024-979f-4d4f-afef-84b7f5517ea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 APE(M)</c:v>
                </c:pt>
              </c:strCache>
            </c:strRef>
          </c:tx>
          <c:spPr>
            <a:ln w="31750" cap="flat" cmpd="sng" algn="ctr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 cmpd="sng" algn="ctr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7"/>
                <c:pt idx="0">
                  <c:v>42.32</c:v>
                </c:pt>
                <c:pt idx="1">
                  <c:v>29.76</c:v>
                </c:pt>
                <c:pt idx="2">
                  <c:v>67.65</c:v>
                </c:pt>
                <c:pt idx="3">
                  <c:v>46.32</c:v>
                </c:pt>
                <c:pt idx="4">
                  <c:v>62.59</c:v>
                </c:pt>
                <c:pt idx="5">
                  <c:v>63.97</c:v>
                </c:pt>
                <c:pt idx="6">
                  <c:v>16.83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 APE(M)</c:v>
                </c:pt>
              </c:strCache>
            </c:strRef>
          </c:tx>
          <c:spPr>
            <a:ln w="3175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7"/>
                <c:pt idx="0">
                  <c:v>36.68</c:v>
                </c:pt>
                <c:pt idx="1">
                  <c:v>34.31</c:v>
                </c:pt>
                <c:pt idx="2">
                  <c:v>68.56</c:v>
                </c:pt>
                <c:pt idx="3">
                  <c:v>46.86</c:v>
                </c:pt>
                <c:pt idx="4">
                  <c:v>62.22</c:v>
                </c:pt>
                <c:pt idx="5">
                  <c:v>65.6</c:v>
                </c:pt>
                <c:pt idx="6">
                  <c:v>11.99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批核 APE(M)</c:v>
                </c:pt>
              </c:strCache>
            </c:strRef>
          </c:tx>
          <c:spPr>
            <a:ln w="3175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1A1A2E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7"/>
                <c:pt idx="0">
                  <c:v>26-Jan</c:v>
                </c:pt>
                <c:pt idx="1">
                  <c:v>26-Feb</c:v>
                </c:pt>
                <c:pt idx="2">
                  <c:v>26-Mar</c:v>
                </c:pt>
                <c:pt idx="3">
                  <c:v>26-Apr</c:v>
                </c:pt>
                <c:pt idx="4">
                  <c:v>26-May</c:v>
                </c:pt>
                <c:pt idx="5">
                  <c:v>26-Jun</c:v>
                </c:pt>
                <c:pt idx="6">
                  <c:v>26-Jul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7"/>
                <c:pt idx="0">
                  <c:v>86.18</c:v>
                </c:pt>
                <c:pt idx="1">
                  <c:v>124.06</c:v>
                </c:pt>
                <c:pt idx="2">
                  <c:v>81.03</c:v>
                </c:pt>
                <c:pt idx="3">
                  <c:v>85.9</c:v>
                </c:pt>
                <c:pt idx="4">
                  <c:v>56.85</c:v>
                </c:pt>
                <c:pt idx="5">
                  <c:v>48.65</c:v>
                </c:pt>
                <c:pt idx="6">
                  <c:v>21.66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d0b552af-4141-4fc5-9f8d-3ff1cddacd4b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6.674</c:v>
                </c:pt>
                <c:pt idx="1">
                  <c:v>9.7305</c:v>
                </c:pt>
                <c:pt idx="2">
                  <c:v>13.3508</c:v>
                </c:pt>
                <c:pt idx="3">
                  <c:v>8.8521</c:v>
                </c:pt>
                <c:pt idx="4">
                  <c:v>20.9667</c:v>
                </c:pt>
                <c:pt idx="5">
                  <c:v>6.4338</c:v>
                </c:pt>
                <c:pt idx="6">
                  <c:v>5.872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4.958</c:v>
                </c:pt>
                <c:pt idx="1">
                  <c:v>11.2125</c:v>
                </c:pt>
                <c:pt idx="2">
                  <c:v>12.1301</c:v>
                </c:pt>
                <c:pt idx="3">
                  <c:v>9.9324</c:v>
                </c:pt>
                <c:pt idx="4">
                  <c:v>19.8732</c:v>
                </c:pt>
                <c:pt idx="5">
                  <c:v>7.2777</c:v>
                </c:pt>
                <c:pt idx="6">
                  <c:v>0.156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6.7618</c:v>
                </c:pt>
                <c:pt idx="1">
                  <c:v>10.5184</c:v>
                </c:pt>
                <c:pt idx="2">
                  <c:v>6.2942</c:v>
                </c:pt>
                <c:pt idx="3">
                  <c:v>16.602</c:v>
                </c:pt>
                <c:pt idx="4">
                  <c:v>6.0226</c:v>
                </c:pt>
                <c:pt idx="5">
                  <c:v>17.1128</c:v>
                </c:pt>
                <c:pt idx="6">
                  <c:v>0.6345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282501"/>
        <c:axId val="82282502"/>
      </c:lineChart>
      <c:catAx>
        <c:axId val="822825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2"/>
        <c:crosses val="autoZero"/>
        <c:auto val="1"/>
        <c:lblAlgn val="ctr"/>
        <c:lblOffset val="100"/>
        <c:noMultiLvlLbl val="1"/>
      </c:catAx>
      <c:valAx>
        <c:axId val="822825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2825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c43087c-415b-4fc4-a17e-53adbba72ec9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2.6315</c:v>
                </c:pt>
                <c:pt idx="4">
                  <c:v>2.391</c:v>
                </c:pt>
                <c:pt idx="5">
                  <c:v>0.819</c:v>
                </c:pt>
                <c:pt idx="6">
                  <c:v>0.234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1.023</c:v>
                </c:pt>
                <c:pt idx="1">
                  <c:v>0.39</c:v>
                </c:pt>
                <c:pt idx="2">
                  <c:v>0.312</c:v>
                </c:pt>
                <c:pt idx="3">
                  <c:v>1.8935</c:v>
                </c:pt>
                <c:pt idx="4">
                  <c:v>3.129</c:v>
                </c:pt>
                <c:pt idx="5">
                  <c:v>0.819</c:v>
                </c:pt>
                <c:pt idx="6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1.3447</c:v>
                </c:pt>
                <c:pt idx="1">
                  <c:v>0.39</c:v>
                </c:pt>
                <c:pt idx="2">
                  <c:v>0.468</c:v>
                </c:pt>
                <c:pt idx="3">
                  <c:v>1.6926</c:v>
                </c:pt>
                <c:pt idx="4">
                  <c:v>2.607</c:v>
                </c:pt>
                <c:pt idx="5">
                  <c:v>0.633</c:v>
                </c:pt>
                <c:pt idx="6">
                  <c:v>0.741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510401"/>
        <c:axId val="82510402"/>
      </c:lineChart>
      <c:catAx>
        <c:axId val="8251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2"/>
        <c:crosses val="autoZero"/>
        <c:auto val="1"/>
        <c:lblAlgn val="ctr"/>
        <c:lblOffset val="100"/>
        <c:noMultiLvlLbl val="1"/>
      </c:catAx>
      <c:valAx>
        <c:axId val="8251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51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e914a25b-3f80-4275-962b-bd972c75c976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13.8622</c:v>
                </c:pt>
                <c:pt idx="1">
                  <c:v>7.3632</c:v>
                </c:pt>
                <c:pt idx="2">
                  <c:v>14.82</c:v>
                </c:pt>
                <c:pt idx="3">
                  <c:v>7.332</c:v>
                </c:pt>
                <c:pt idx="4">
                  <c:v>6.864</c:v>
                </c:pt>
                <c:pt idx="5">
                  <c:v>10.0542</c:v>
                </c:pt>
                <c:pt idx="6">
                  <c:v>6.24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17.1382</c:v>
                </c:pt>
                <c:pt idx="1">
                  <c:v>8.3772</c:v>
                </c:pt>
                <c:pt idx="2">
                  <c:v>13.26</c:v>
                </c:pt>
                <c:pt idx="3">
                  <c:v>8.502</c:v>
                </c:pt>
                <c:pt idx="4">
                  <c:v>6.864</c:v>
                </c:pt>
                <c:pt idx="5">
                  <c:v>11.2242</c:v>
                </c:pt>
                <c:pt idx="6">
                  <c:v>4.68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18.2598</c:v>
                </c:pt>
                <c:pt idx="1">
                  <c:v>93.9401</c:v>
                </c:pt>
                <c:pt idx="2">
                  <c:v>58.6997</c:v>
                </c:pt>
                <c:pt idx="3">
                  <c:v>27.222</c:v>
                </c:pt>
                <c:pt idx="4">
                  <c:v>21.7036</c:v>
                </c:pt>
                <c:pt idx="5">
                  <c:v>6.24</c:v>
                </c:pt>
                <c:pt idx="6">
                  <c:v>1.56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6601"/>
        <c:axId val="86602"/>
      </c:lineChart>
      <c:catAx>
        <c:axId val="86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2"/>
        <c:crosses val="autoZero"/>
        <c:auto val="1"/>
        <c:lblAlgn val="ctr"/>
        <c:lblOffset val="100"/>
        <c:noMultiLvlLbl val="1"/>
      </c:catAx>
      <c:valAx>
        <c:axId val="86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6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5b30b2d-c004-4cc1-a046-98d8cdcaee1c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6.1763</c:v>
                </c:pt>
                <c:pt idx="1">
                  <c:v>4.9992</c:v>
                </c:pt>
                <c:pt idx="2">
                  <c:v>15.0477</c:v>
                </c:pt>
                <c:pt idx="3">
                  <c:v>23.6304</c:v>
                </c:pt>
                <c:pt idx="4">
                  <c:v>28.9432</c:v>
                </c:pt>
                <c:pt idx="5">
                  <c:v>38.5652</c:v>
                </c:pt>
                <c:pt idx="6">
                  <c:v>11.751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2.5883</c:v>
                </c:pt>
                <c:pt idx="1">
                  <c:v>7.5732</c:v>
                </c:pt>
                <c:pt idx="2">
                  <c:v>15.8277</c:v>
                </c:pt>
                <c:pt idx="3">
                  <c:v>22.523</c:v>
                </c:pt>
                <c:pt idx="4">
                  <c:v>28.3147</c:v>
                </c:pt>
                <c:pt idx="5">
                  <c:v>36.3713</c:v>
                </c:pt>
                <c:pt idx="6">
                  <c:v>9.1823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41.7944</c:v>
                </c:pt>
                <c:pt idx="1">
                  <c:v>5.6723</c:v>
                </c:pt>
                <c:pt idx="2">
                  <c:v>5.929</c:v>
                </c:pt>
                <c:pt idx="3">
                  <c:v>15.0442</c:v>
                </c:pt>
                <c:pt idx="4">
                  <c:v>25.229</c:v>
                </c:pt>
                <c:pt idx="5">
                  <c:v>25.7477</c:v>
                </c:pt>
                <c:pt idx="6">
                  <c:v>6.9189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601"/>
        <c:axId val="82151602"/>
      </c:lineChart>
      <c:catAx>
        <c:axId val="821516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2"/>
        <c:crosses val="autoZero"/>
        <c:auto val="1"/>
        <c:lblAlgn val="ctr"/>
        <c:lblOffset val="100"/>
        <c:noMultiLvlLbl val="1"/>
      </c:catAx>
      <c:valAx>
        <c:axId val="821516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6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3516c40-ccd4-4b1d-8f3c-fe1cd0f34671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17.0096</c:v>
                </c:pt>
                <c:pt idx="1">
                  <c:v>16.1054</c:v>
                </c:pt>
                <c:pt idx="2">
                  <c:v>25.5418</c:v>
                </c:pt>
                <c:pt idx="3">
                  <c:v>15.6775</c:v>
                </c:pt>
                <c:pt idx="4">
                  <c:v>19.7349</c:v>
                </c:pt>
                <c:pt idx="5">
                  <c:v>22.9566</c:v>
                </c:pt>
                <c:pt idx="6">
                  <c:v>5.2022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13.7444</c:v>
                </c:pt>
                <c:pt idx="1">
                  <c:v>15.2288</c:v>
                </c:pt>
                <c:pt idx="2">
                  <c:v>28.3861</c:v>
                </c:pt>
                <c:pt idx="3">
                  <c:v>14.7969</c:v>
                </c:pt>
                <c:pt idx="4">
                  <c:v>20.378</c:v>
                </c:pt>
                <c:pt idx="5">
                  <c:v>23.8791</c:v>
                </c:pt>
                <c:pt idx="6">
                  <c:v>2.993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45.9626</c:v>
                </c:pt>
                <c:pt idx="1">
                  <c:v>20.3124</c:v>
                </c:pt>
                <c:pt idx="2">
                  <c:v>13.5305</c:v>
                </c:pt>
                <c:pt idx="3">
                  <c:v>28.8356</c:v>
                </c:pt>
                <c:pt idx="4">
                  <c:v>10.8491</c:v>
                </c:pt>
                <c:pt idx="5">
                  <c:v>12.4729</c:v>
                </c:pt>
                <c:pt idx="6">
                  <c:v>14.3784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770401"/>
        <c:axId val="82770402"/>
      </c:lineChart>
      <c:catAx>
        <c:axId val="827704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2"/>
        <c:crosses val="autoZero"/>
        <c:auto val="1"/>
        <c:lblAlgn val="ctr"/>
        <c:lblOffset val="100"/>
        <c:noMultiLvlLbl val="1"/>
      </c:catAx>
      <c:valAx>
        <c:axId val="827704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7704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810f2af-9c7c-41f8-a26d-4e4109e73045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0.4368</c:v>
                </c:pt>
                <c:pt idx="1">
                  <c:v>0.0798</c:v>
                </c:pt>
                <c:pt idx="2">
                  <c:v>1.9639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0.0898</c:v>
                </c:pt>
                <c:pt idx="1">
                  <c:v>0.4368</c:v>
                </c:pt>
                <c:pt idx="2">
                  <c:v>2.0437</c:v>
                </c:pt>
                <c:pt idx="3">
                  <c:v>0.4201</c:v>
                </c:pt>
                <c:pt idx="4">
                  <c:v>0.0447</c:v>
                </c:pt>
                <c:pt idx="5">
                  <c:v>4.0757</c:v>
                </c:pt>
                <c:pt idx="6">
                  <c:v>0.2262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0.5802</c:v>
                </c:pt>
                <c:pt idx="1">
                  <c:v>0.897</c:v>
                </c:pt>
                <c:pt idx="2">
                  <c:v>0.3355</c:v>
                </c:pt>
                <c:pt idx="3">
                  <c:v>1.755</c:v>
                </c:pt>
                <c:pt idx="4">
                  <c:v>0.5743</c:v>
                </c:pt>
                <c:pt idx="5">
                  <c:v>0</c:v>
                </c:pt>
                <c:pt idx="6">
                  <c:v>0.078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2151201"/>
        <c:axId val="82151202"/>
      </c:lineChart>
      <c:catAx>
        <c:axId val="821512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2"/>
        <c:crosses val="autoZero"/>
        <c:auto val="1"/>
        <c:lblAlgn val="ctr"/>
        <c:lblOffset val="100"/>
        <c:noMultiLvlLbl val="1"/>
      </c:catAx>
      <c:valAx>
        <c:axId val="821512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21512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da179a0-edd7-4fc5-8553-973b2140e5e7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8"/>
          <c:h val="0.88"/>
        </c:manualLayout>
      </c:layout>
      <c:lineChart>
        <c:grouping val="standard"/>
        <c:varyColors val="0"/>
        <c:ser>
          <c:idx val="0"/>
          <c:order val="0"/>
          <c:tx>
            <c:strRef>
              <c:f>Sheet1!$A$8</c:f>
              <c:strCache>
                <c:ptCount val="1"/>
                <c:pt idx="0">
                  <c:v>预约</c:v>
                </c:pt>
              </c:strCache>
            </c:strRef>
          </c:tx>
          <c:spPr>
            <a:ln w="22225" cap="rnd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Sheet1!$B2:$D8</c:f>
              <c:numCache>
                <c:formatCode>0.0</c:formatCode>
                <c:ptCount val="7"/>
                <c:pt idx="0">
                  <c:v>2.39</c:v>
                </c:pt>
                <c:pt idx="1">
                  <c:v>12.1092</c:v>
                </c:pt>
                <c:pt idx="2">
                  <c:v>1.8188</c:v>
                </c:pt>
                <c:pt idx="3">
                  <c:v>4</c:v>
                </c:pt>
                <c:pt idx="4">
                  <c:v>0.0088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Sheet1!$A$8</c:f>
              <c:strCache>
                <c:ptCount val="1"/>
                <c:pt idx="0">
                  <c:v>签单</c:v>
                </c:pt>
              </c:strCache>
            </c:strRef>
          </c:tx>
          <c:spPr>
            <a:ln w="22225" cap="rnd" cmpd="sng" algn="ctr">
              <a:solidFill>
                <a:srgbClr val="1A7A3F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A3F"/>
              </a:solidFill>
              <a:ln w="9525" cap="flat" cmpd="sng" algn="ctr">
                <a:solidFill>
                  <a:srgbClr val="1A7A3F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Sheet1!$B3:$D8</c:f>
              <c:numCache>
                <c:formatCode>0.0</c:formatCode>
                <c:ptCount val="7"/>
                <c:pt idx="0">
                  <c:v>2.39</c:v>
                </c:pt>
                <c:pt idx="1">
                  <c:v>12.1092</c:v>
                </c:pt>
                <c:pt idx="2">
                  <c:v>1.8</c:v>
                </c:pt>
                <c:pt idx="3">
                  <c:v>0.0188</c:v>
                </c:pt>
                <c:pt idx="4">
                  <c:v>4.0088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Sheet1!$A$8</c:f>
              <c:strCache>
                <c:ptCount val="1"/>
                <c:pt idx="0">
                  <c:v>批核</c:v>
                </c:pt>
              </c:strCache>
            </c:strRef>
          </c:tx>
          <c:spPr>
            <a:ln w="22225" cap="rnd" cmpd="sng" algn="ctr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0392B"/>
              </a:solidFill>
              <a:ln w="9525" cap="flat" cmpd="sng" algn="ctr">
                <a:solidFill>
                  <a:srgbClr val="C0392B"/>
                </a:solidFill>
                <a:prstDash val="solid"/>
                <a:round/>
              </a:ln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Sheet1!$B$1:$D$8</c:f>
              <c:strCache>
                <c:ptCount val="7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</c:strCache>
            </c:strRef>
          </c:cat>
          <c:val>
            <c:numRef>
              <c:f>Sheet1!$B4:$D8</c:f>
              <c:numCache>
                <c:formatCode>0.0</c:formatCode>
                <c:ptCount val="7"/>
                <c:pt idx="0">
                  <c:v>2.078</c:v>
                </c:pt>
                <c:pt idx="1">
                  <c:v>12</c:v>
                </c:pt>
                <c:pt idx="2">
                  <c:v>0.4992</c:v>
                </c:pt>
                <c:pt idx="3">
                  <c:v>0</c:v>
                </c:pt>
                <c:pt idx="4">
                  <c:v>5.8276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87301"/>
        <c:axId val="87302"/>
      </c:lineChart>
      <c:catAx>
        <c:axId val="8730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50" b="1" i="0" u="none" strike="noStrike" kern="1200" baseline="0">
                <a:solidFill>
                  <a:srgbClr val="374151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2"/>
        <c:crosses val="autoZero"/>
        <c:auto val="1"/>
        <c:lblAlgn val="ctr"/>
        <c:lblOffset val="100"/>
        <c:noMultiLvlLbl val="1"/>
      </c:catAx>
      <c:valAx>
        <c:axId val="8730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D0D8E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rgbClr val="94A3B8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87301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375a80eb-c526-4ac3-8945-2c4dde78ddea}"/>
      </c:ext>
    </c:extLst>
  </c:chart>
  <c:spPr>
    <a:solidFill>
      <a:srgbClr val="FFFFFF"/>
    </a:solidFill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APE构成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796B"/>
              </a:solidFill>
              <a:effectLst/>
            </c:spPr>
          </c:dPt>
          <c:dPt>
            <c:idx val="1"/>
            <c:bubble3D val="0"/>
            <c:spPr>
              <a:solidFill>
                <a:srgbClr val="C8890A"/>
              </a:solidFill>
              <a:effectLst/>
            </c:spPr>
          </c:dPt>
          <c:dPt>
            <c:idx val="2"/>
            <c:bubble3D val="0"/>
            <c:spPr>
              <a:solidFill>
                <a:srgbClr val="2E86C1"/>
              </a:solidFill>
              <a:effectLst/>
            </c:spPr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已批核</c:v>
                </c:pt>
                <c:pt idx="1">
                  <c:v>未批核</c:v>
                </c:pt>
                <c:pt idx="2">
                  <c:v>待签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596.75</c:v>
                </c:pt>
                <c:pt idx="1">
                  <c:v>97.75</c:v>
                </c:pt>
                <c:pt idx="2">
                  <c:v>18.02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20a6ab99-be55-4806-a3dd-2f3f6e3251c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55926430517711"/>
          <c:y val="0.0733187040144572"/>
          <c:w val="0.838709128065395"/>
          <c:h val="0.86624499806376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已批核 APE(M)</c:v>
                </c:pt>
              </c:strCache>
            </c:strRef>
          </c:tx>
          <c:spPr>
            <a:solidFill>
              <a:srgbClr val="1A7A3F"/>
            </a:solidFill>
            <a:effectLst/>
          </c:spPr>
          <c:invertIfNegative val="0"/>
          <c:dLbls>
            <c:dLbl>
              <c:idx val="3"/>
              <c:layout>
                <c:manualLayout>
                  <c:x val="-0.00728079874685725"/>
                  <c:y val="0.0037133381305472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536444141689373"/>
                      <c:h val="0.0300761585129728"/>
                    </c:manualLayout>
                  </c15:layout>
                </c:ext>
              </c:extLst>
            </c:dLbl>
            <c:dLbl>
              <c:idx val="4"/>
              <c:layout>
                <c:manualLayout>
                  <c:x val="-0.00683525516987192"/>
                  <c:y val="-0.001701434735410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0.0148160762942779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0.00358636417486077"/>
                  <c:y val="0.001745950342546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79710144927536"/>
                      <c:h val="0.0585710679121434"/>
                    </c:manualLayout>
                  </c15:layout>
                </c:ext>
              </c:extLst>
            </c:dLbl>
            <c:dLbl>
              <c:idx val="7"/>
              <c:layout>
                <c:manualLayout>
                  <c:x val="-0.00809047411918225"/>
                  <c:y val="-0.0040370458323438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227.63</c:v>
                </c:pt>
                <c:pt idx="1">
                  <c:v>146.34</c:v>
                </c:pt>
                <c:pt idx="2">
                  <c:v>126.34</c:v>
                </c:pt>
                <c:pt idx="3">
                  <c:v>63.95</c:v>
                </c:pt>
                <c:pt idx="4">
                  <c:v>20.4</c:v>
                </c:pt>
                <c:pt idx="5">
                  <c:v>7.88</c:v>
                </c:pt>
                <c:pt idx="6">
                  <c:v>4.22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EB954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25.15</c:v>
                </c:pt>
                <c:pt idx="1">
                  <c:v>20.85</c:v>
                </c:pt>
                <c:pt idx="2">
                  <c:v>37.84</c:v>
                </c:pt>
                <c:pt idx="3">
                  <c:v>8.6</c:v>
                </c:pt>
                <c:pt idx="4">
                  <c:v>0</c:v>
                </c:pt>
                <c:pt idx="5">
                  <c:v>0.7</c:v>
                </c:pt>
                <c:pt idx="6">
                  <c:v>4.61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1.56</c:v>
                </c:pt>
                <c:pt idx="1">
                  <c:v>2.97</c:v>
                </c:pt>
                <c:pt idx="2">
                  <c:v>6.89</c:v>
                </c:pt>
                <c:pt idx="3">
                  <c:v>6.34</c:v>
                </c:pt>
                <c:pt idx="4">
                  <c:v>0</c:v>
                </c:pt>
                <c:pt idx="5">
                  <c:v>0.23</c:v>
                </c:pt>
                <c:pt idx="6">
                  <c:v>0.03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目标缺口 APE(M)</c:v>
                </c:pt>
              </c:strCache>
            </c:strRef>
          </c:tx>
          <c:spPr>
            <a:solidFill>
              <a:srgbClr val="C8C8C8"/>
            </a:solidFill>
            <a:ln w="9525">
              <a:solidFill>
                <a:srgbClr val="999999"/>
              </a:solidFill>
              <a:prstDash val="dash"/>
            </a:ln>
            <a:effectLst/>
          </c:spPr>
          <c:invertIfNegative val="0"/>
          <c:dLbls>
            <c:dLbl>
              <c:idx val="3"/>
              <c:layout>
                <c:manualLayout>
                  <c:x val="-0.000119306107500867"/>
                  <c:y val="0.00648960811451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.00122805437265101"/>
                  <c:y val="0.0018652396893848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.00699732616834952"/>
                  <c:y val="-0.0051987858607419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341887777294476"/>
                      <c:h val="0.0508192828306816"/>
                    </c:manualLayout>
                  </c15:layout>
                </c:ext>
              </c:extLst>
            </c:dLbl>
            <c:numFmt formatCode="#,##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1" i="0" u="none" strike="noStrike" kern="12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Sheet1!$A$2:$A$9</c:f>
              <c:strCache>
                <c:ptCount val="8"/>
                <c:pt idx="0">
                  <c:v>BK业务</c:v>
                </c:pt>
                <c:pt idx="1">
                  <c:v>永明经代</c:v>
                </c:pt>
                <c:pt idx="2">
                  <c:v>同行经代</c:v>
                </c:pt>
                <c:pt idx="3">
                  <c:v>天领业务</c:v>
                </c:pt>
                <c:pt idx="4">
                  <c:v>ICLUB业务</c:v>
                </c:pt>
                <c:pt idx="5">
                  <c:v>成事家办</c:v>
                </c:pt>
                <c:pt idx="6">
                  <c:v>合伙转介业务</c:v>
                </c:pt>
                <c:pt idx="7">
                  <c:v>IFA业务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169.84</c:v>
                </c:pt>
                <c:pt idx="2">
                  <c:v>0</c:v>
                </c:pt>
                <c:pt idx="3">
                  <c:v>114.11</c:v>
                </c:pt>
                <c:pt idx="4">
                  <c:v>31.6</c:v>
                </c:pt>
                <c:pt idx="5">
                  <c:v>61.19</c:v>
                </c:pt>
                <c:pt idx="6">
                  <c:v>64.14</c:v>
                </c:pt>
                <c:pt idx="7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cap="none" spc="0" normalizeH="0" baseline="0">
                <a:solidFill>
                  <a:schemeClr val="tx1">
                    <a:lumMod val="95000"/>
                    <a:lumOff val="5000"/>
                  </a:schemeClr>
                </a:solidFill>
                <a:uFill>
                  <a:solidFill>
                    <a:schemeClr val="tx1">
                      <a:lumMod val="95000"/>
                      <a:lumOff val="5000"/>
                    </a:schemeClr>
                  </a:solidFill>
                </a:u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50161406025825"/>
          <c:y val="0.0127129417747267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>
                  <a:lumMod val="95000"/>
                  <a:lumOff val="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ef7c81c-81d3-4615-8274-f7afca748f52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>
              <a:lumMod val="95000"/>
              <a:lumOff val="5000"/>
            </a:schemeClr>
          </a:solidFill>
        </a:defRPr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预约</c:v>
                </c:pt>
              </c:strCache>
            </c:strRef>
          </c:tx>
          <c:spPr>
            <a:ln w="22860" cap="flat" cmpd="sng" algn="ctr">
              <a:solidFill>
                <a:srgbClr val="2980B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980B9"/>
              </a:solidFill>
              <a:ln w="9525" cap="flat" cmpd="sng" algn="ctr">
                <a:solidFill>
                  <a:srgbClr val="2980B9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7"/>
                <c:pt idx="0">
                  <c:v>6.52</c:v>
                </c:pt>
                <c:pt idx="1">
                  <c:v>13.64</c:v>
                </c:pt>
                <c:pt idx="2">
                  <c:v>17.19</c:v>
                </c:pt>
                <c:pt idx="3">
                  <c:v>9.87</c:v>
                </c:pt>
                <c:pt idx="4">
                  <c:v>28.2</c:v>
                </c:pt>
                <c:pt idx="5">
                  <c:v>12.77</c:v>
                </c:pt>
                <c:pt idx="6">
                  <c:v>2.73</c:v>
                </c:pt>
                <c:pt idx="7">
                  <c:v>7.08</c:v>
                </c:pt>
                <c:pt idx="8">
                  <c:v>5.88</c:v>
                </c:pt>
                <c:pt idx="9">
                  <c:v>17.21</c:v>
                </c:pt>
                <c:pt idx="10">
                  <c:v>19.81</c:v>
                </c:pt>
                <c:pt idx="11">
                  <c:v>24.81</c:v>
                </c:pt>
                <c:pt idx="12">
                  <c:v>6.15</c:v>
                </c:pt>
                <c:pt idx="13">
                  <c:v>12.71</c:v>
                </c:pt>
                <c:pt idx="14">
                  <c:v>13.44</c:v>
                </c:pt>
                <c:pt idx="15">
                  <c:v>26.75</c:v>
                </c:pt>
                <c:pt idx="16">
                  <c:v>9.88</c:v>
                </c:pt>
                <c:pt idx="17">
                  <c:v>11.77</c:v>
                </c:pt>
                <c:pt idx="18">
                  <c:v>22.15</c:v>
                </c:pt>
                <c:pt idx="19">
                  <c:v>21.04</c:v>
                </c:pt>
                <c:pt idx="20">
                  <c:v>21.88</c:v>
                </c:pt>
                <c:pt idx="21">
                  <c:v>11.14</c:v>
                </c:pt>
                <c:pt idx="22">
                  <c:v>21.33</c:v>
                </c:pt>
                <c:pt idx="23">
                  <c:v>16.79</c:v>
                </c:pt>
                <c:pt idx="24">
                  <c:v>26.44</c:v>
                </c:pt>
                <c:pt idx="25">
                  <c:v>14.43</c:v>
                </c:pt>
                <c:pt idx="26">
                  <c:v>23.19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签单</c:v>
                </c:pt>
              </c:strCache>
            </c:strRef>
          </c:tx>
          <c:spPr>
            <a:ln w="22860" cap="flat" cmpd="sng" algn="ctr">
              <a:solidFill>
                <a:srgbClr val="0079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96B"/>
              </a:solidFill>
              <a:ln w="9525" cap="flat" cmpd="sng" algn="ctr">
                <a:solidFill>
                  <a:srgbClr val="00796B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7"/>
                <c:pt idx="0">
                  <c:v>2.63</c:v>
                </c:pt>
                <c:pt idx="1">
                  <c:v>10.23</c:v>
                </c:pt>
                <c:pt idx="2">
                  <c:v>12.7</c:v>
                </c:pt>
                <c:pt idx="3">
                  <c:v>11.54</c:v>
                </c:pt>
                <c:pt idx="4">
                  <c:v>31.28</c:v>
                </c:pt>
                <c:pt idx="5">
                  <c:v>12.89</c:v>
                </c:pt>
                <c:pt idx="6">
                  <c:v>3.77</c:v>
                </c:pt>
                <c:pt idx="7">
                  <c:v>7.38</c:v>
                </c:pt>
                <c:pt idx="8">
                  <c:v>4.23</c:v>
                </c:pt>
                <c:pt idx="9">
                  <c:v>11.08</c:v>
                </c:pt>
                <c:pt idx="10">
                  <c:v>18.48</c:v>
                </c:pt>
                <c:pt idx="11">
                  <c:v>26.24</c:v>
                </c:pt>
                <c:pt idx="12">
                  <c:v>16.22</c:v>
                </c:pt>
                <c:pt idx="13">
                  <c:v>6.6</c:v>
                </c:pt>
                <c:pt idx="14">
                  <c:v>14.41</c:v>
                </c:pt>
                <c:pt idx="15">
                  <c:v>18.14</c:v>
                </c:pt>
                <c:pt idx="16">
                  <c:v>16.86</c:v>
                </c:pt>
                <c:pt idx="17">
                  <c:v>13.24</c:v>
                </c:pt>
                <c:pt idx="18">
                  <c:v>20.33</c:v>
                </c:pt>
                <c:pt idx="19">
                  <c:v>14.82</c:v>
                </c:pt>
                <c:pt idx="20">
                  <c:v>33.8</c:v>
                </c:pt>
                <c:pt idx="21">
                  <c:v>11.77</c:v>
                </c:pt>
                <c:pt idx="22">
                  <c:v>13.07</c:v>
                </c:pt>
                <c:pt idx="23">
                  <c:v>19.94</c:v>
                </c:pt>
                <c:pt idx="24">
                  <c:v>26.37</c:v>
                </c:pt>
                <c:pt idx="25">
                  <c:v>19.77</c:v>
                </c:pt>
                <c:pt idx="26">
                  <c:v>9.97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递交</c:v>
                </c:pt>
              </c:strCache>
            </c:strRef>
          </c:tx>
          <c:spPr>
            <a:ln w="22860" cap="flat" cmpd="sng" algn="ctr">
              <a:solidFill>
                <a:srgbClr val="C8890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890A"/>
              </a:solidFill>
              <a:ln w="9525" cap="flat" cmpd="sng" algn="ctr">
                <a:solidFill>
                  <a:srgbClr val="C8890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7"/>
                <c:pt idx="0">
                  <c:v>9.96</c:v>
                </c:pt>
                <c:pt idx="1">
                  <c:v>7.8</c:v>
                </c:pt>
                <c:pt idx="2">
                  <c:v>10.95</c:v>
                </c:pt>
                <c:pt idx="3">
                  <c:v>16.19</c:v>
                </c:pt>
                <c:pt idx="4">
                  <c:v>31.58</c:v>
                </c:pt>
                <c:pt idx="5">
                  <c:v>14.41</c:v>
                </c:pt>
                <c:pt idx="6">
                  <c:v>0</c:v>
                </c:pt>
                <c:pt idx="7">
                  <c:v>4.01</c:v>
                </c:pt>
                <c:pt idx="8">
                  <c:v>10.9</c:v>
                </c:pt>
                <c:pt idx="9">
                  <c:v>9.83</c:v>
                </c:pt>
                <c:pt idx="10">
                  <c:v>11.17</c:v>
                </c:pt>
                <c:pt idx="11">
                  <c:v>14.23</c:v>
                </c:pt>
                <c:pt idx="12">
                  <c:v>36.38</c:v>
                </c:pt>
                <c:pt idx="13">
                  <c:v>4.16</c:v>
                </c:pt>
                <c:pt idx="14">
                  <c:v>12.33</c:v>
                </c:pt>
                <c:pt idx="15">
                  <c:v>15.46</c:v>
                </c:pt>
                <c:pt idx="16">
                  <c:v>22.93</c:v>
                </c:pt>
                <c:pt idx="17">
                  <c:v>6.79</c:v>
                </c:pt>
                <c:pt idx="18">
                  <c:v>6.94</c:v>
                </c:pt>
                <c:pt idx="19">
                  <c:v>17.48</c:v>
                </c:pt>
                <c:pt idx="20">
                  <c:v>25.31</c:v>
                </c:pt>
                <c:pt idx="21">
                  <c:v>35.36</c:v>
                </c:pt>
                <c:pt idx="22">
                  <c:v>11.36</c:v>
                </c:pt>
                <c:pt idx="23">
                  <c:v>12.01</c:v>
                </c:pt>
                <c:pt idx="24">
                  <c:v>23.05</c:v>
                </c:pt>
                <c:pt idx="25">
                  <c:v>24.51</c:v>
                </c:pt>
                <c:pt idx="26">
                  <c:v>15.14</c:v>
                </c:pt>
              </c:numCache>
            </c:numRef>
          </c:val>
          <c:smooth val="1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批核</c:v>
                </c:pt>
              </c:strCache>
            </c:strRef>
          </c:tx>
          <c:spPr>
            <a:ln w="22860" cap="flat" cmpd="sng" algn="ctr">
              <a:solidFill>
                <a:srgbClr val="1F386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3864"/>
              </a:solidFill>
              <a:ln w="9525" cap="flat" cmpd="sng" algn="ctr">
                <a:solidFill>
                  <a:srgbClr val="1F386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27"/>
                <c:pt idx="0">
                  <c:v>18.04</c:v>
                </c:pt>
                <c:pt idx="1">
                  <c:v>46.35</c:v>
                </c:pt>
                <c:pt idx="2">
                  <c:v>29.21</c:v>
                </c:pt>
                <c:pt idx="3">
                  <c:v>20.07</c:v>
                </c:pt>
                <c:pt idx="4">
                  <c:v>29.97</c:v>
                </c:pt>
                <c:pt idx="5">
                  <c:v>39.45</c:v>
                </c:pt>
                <c:pt idx="6">
                  <c:v>7.26</c:v>
                </c:pt>
                <c:pt idx="7">
                  <c:v>67.05</c:v>
                </c:pt>
                <c:pt idx="8">
                  <c:v>15.84</c:v>
                </c:pt>
                <c:pt idx="9">
                  <c:v>11.12</c:v>
                </c:pt>
                <c:pt idx="10">
                  <c:v>41.56</c:v>
                </c:pt>
                <c:pt idx="11">
                  <c:v>7.94</c:v>
                </c:pt>
                <c:pt idx="12">
                  <c:v>15.72</c:v>
                </c:pt>
                <c:pt idx="13">
                  <c:v>12.38</c:v>
                </c:pt>
                <c:pt idx="14">
                  <c:v>24.32</c:v>
                </c:pt>
                <c:pt idx="15">
                  <c:v>24.57</c:v>
                </c:pt>
                <c:pt idx="16">
                  <c:v>23.49</c:v>
                </c:pt>
                <c:pt idx="17">
                  <c:v>8.41</c:v>
                </c:pt>
                <c:pt idx="18">
                  <c:v>15.89</c:v>
                </c:pt>
                <c:pt idx="19">
                  <c:v>20.39</c:v>
                </c:pt>
                <c:pt idx="20">
                  <c:v>28.09</c:v>
                </c:pt>
                <c:pt idx="21">
                  <c:v>12.47</c:v>
                </c:pt>
                <c:pt idx="22">
                  <c:v>12</c:v>
                </c:pt>
                <c:pt idx="23">
                  <c:v>15.44</c:v>
                </c:pt>
                <c:pt idx="24">
                  <c:v>19.28</c:v>
                </c:pt>
                <c:pt idx="25">
                  <c:v>11.35</c:v>
                </c:pt>
                <c:pt idx="26">
                  <c:v>15.98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5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75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75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e2502c51-a1de-4bca-bfdc-f4099c23b2f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651515151515152"/>
          <c:y val="0.0566666666666667"/>
          <c:w val="0.913383838383838"/>
          <c:h val="0.68927777777777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dLbl>
              <c:idx val="5"/>
              <c:layout>
                <c:manualLayout>
                  <c:x val="-0.00852272727272727"/>
                  <c:y val="-0.026944444444444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113.52</c:v>
                </c:pt>
                <c:pt idx="1">
                  <c:v>39.23</c:v>
                </c:pt>
                <c:pt idx="2">
                  <c:v>25.55</c:v>
                </c:pt>
                <c:pt idx="3">
                  <c:v>13.28</c:v>
                </c:pt>
                <c:pt idx="4">
                  <c:v>10.9</c:v>
                </c:pt>
                <c:pt idx="5">
                  <c:v>1.88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5"/>
              <c:layout>
                <c:manualLayout>
                  <c:x val="0.864583333333333"/>
                  <c:y val="0.6540088200494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37.83</c:v>
                </c:pt>
                <c:pt idx="1">
                  <c:v>5.3</c:v>
                </c:pt>
                <c:pt idx="2">
                  <c:v>3.61</c:v>
                </c:pt>
                <c:pt idx="3">
                  <c:v>0</c:v>
                </c:pt>
                <c:pt idx="4">
                  <c:v>5.36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3"/>
              <c:layout>
                <c:manualLayout>
                  <c:x val="0.890467171717172"/>
                  <c:y val="0.65367860600193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0.0266203703703704"/>
                  <c:y val="0.0038888888888888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534722222222222"/>
                  <c:y val="0.5326419812842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姜通</c:v>
                </c:pt>
                <c:pt idx="1">
                  <c:v>战略合作</c:v>
                </c:pt>
                <c:pt idx="2">
                  <c:v>高瑶</c:v>
                </c:pt>
                <c:pt idx="3">
                  <c:v>Mark</c:v>
                </c:pt>
                <c:pt idx="4">
                  <c:v>白博文</c:v>
                </c:pt>
                <c:pt idx="5">
                  <c:v>魏子璐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6.73</c:v>
                </c:pt>
                <c:pt idx="1">
                  <c:v>0.68</c:v>
                </c:pt>
                <c:pt idx="2">
                  <c:v>0</c:v>
                </c:pt>
                <c:pt idx="3">
                  <c:v>0</c:v>
                </c:pt>
                <c:pt idx="4">
                  <c:v>2.34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37415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7415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109a323-4fec-471e-ba7d-9a6a58acaf3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48572650486475"/>
          <c:y val="0.0500227376080036"/>
          <c:w val="0.8376777504544"/>
          <c:h val="0.7552978626648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批核 APE(M)</c:v>
                </c:pt>
              </c:strCache>
            </c:strRef>
          </c:tx>
          <c:spPr>
            <a:solidFill>
              <a:srgbClr val="00796B"/>
            </a:solidFill>
            <a:effectLst/>
          </c:spPr>
          <c:invertIfNegative val="0"/>
          <c:dLbls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8.35</c:v>
                </c:pt>
                <c:pt idx="1">
                  <c:v>12.48</c:v>
                </c:pt>
                <c:pt idx="2">
                  <c:v>17.82</c:v>
                </c:pt>
                <c:pt idx="3">
                  <c:v>18.74</c:v>
                </c:pt>
                <c:pt idx="4">
                  <c:v>25.37</c:v>
                </c:pt>
                <c:pt idx="5">
                  <c:v>25.87</c:v>
                </c:pt>
                <c:pt idx="6">
                  <c:v>27.82</c:v>
                </c:pt>
                <c:pt idx="7">
                  <c:v>34.91</c:v>
                </c:pt>
                <c:pt idx="8">
                  <c:v>39.23</c:v>
                </c:pt>
                <c:pt idx="9">
                  <c:v>40.55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未批核 APE(M)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dLbl>
              <c:idx val="8"/>
              <c:layout>
                <c:manualLayout>
                  <c:x val="-0.0075863678804855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1.04</c:v>
                </c:pt>
                <c:pt idx="1">
                  <c:v>0</c:v>
                </c:pt>
                <c:pt idx="2">
                  <c:v>1.59</c:v>
                </c:pt>
                <c:pt idx="3">
                  <c:v>20.19</c:v>
                </c:pt>
                <c:pt idx="4">
                  <c:v>3.61</c:v>
                </c:pt>
                <c:pt idx="5">
                  <c:v>3.69</c:v>
                </c:pt>
                <c:pt idx="6">
                  <c:v>1.01</c:v>
                </c:pt>
                <c:pt idx="7">
                  <c:v>5.2</c:v>
                </c:pt>
                <c:pt idx="8">
                  <c:v>5.3</c:v>
                </c:pt>
                <c:pt idx="9">
                  <c:v>11.34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待签 APE(M)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dLbl>
              <c:idx val="8"/>
              <c:layout>
                <c:manualLayout>
                  <c:x val="0.0037348272642390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046218487394958"/>
                      <c:h val="0.0406144781144781"/>
                    </c:manualLayout>
                  </c15:layout>
                </c:ext>
              </c:extLst>
            </c:dLbl>
            <c:numFmt formatCode="#,##0.#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Sheet1!$A$2:$A$11</c:f>
              <c:strCache>
                <c:ptCount val="10"/>
                <c:pt idx="0">
                  <c:v>万城保险</c:v>
                </c:pt>
                <c:pt idx="1">
                  <c:v>宏鑫资产</c:v>
                </c:pt>
                <c:pt idx="2">
                  <c:v>企鹅保险</c:v>
                </c:pt>
                <c:pt idx="3">
                  <c:v>天誉国际(MGA)</c:v>
                </c:pt>
                <c:pt idx="4">
                  <c:v>万森保险</c:v>
                </c:pt>
                <c:pt idx="5">
                  <c:v>堡盛国际</c:v>
                </c:pt>
                <c:pt idx="6">
                  <c:v>利泰丰</c:v>
                </c:pt>
                <c:pt idx="7">
                  <c:v>紫荆保险</c:v>
                </c:pt>
                <c:pt idx="8">
                  <c:v>唯思</c:v>
                </c:pt>
                <c:pt idx="9">
                  <c:v>天誉国际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0.23</c:v>
                </c:pt>
                <c:pt idx="3">
                  <c:v>5.31</c:v>
                </c:pt>
                <c:pt idx="4">
                  <c:v>0</c:v>
                </c:pt>
                <c:pt idx="5">
                  <c:v>0.28</c:v>
                </c:pt>
                <c:pt idx="6">
                  <c:v>0</c:v>
                </c:pt>
                <c:pt idx="7">
                  <c:v>0.12</c:v>
                </c:pt>
                <c:pt idx="8">
                  <c:v>0.68</c:v>
                </c:pt>
                <c:pt idx="9">
                  <c:v>0.9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5197ed0-b174-4c93-ab25-51cdc9fa0e6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32088285229202"/>
          <c:y val="0.0662225705329154"/>
          <c:w val="0.954340690435767"/>
          <c:h val="0.531818181818182"/>
        </c:manualLayout>
      </c:layout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同行预约(M)</c:v>
                </c:pt>
              </c:strCache>
            </c:strRef>
          </c:tx>
          <c:spPr>
            <a:ln w="19050" cap="rnd" cmpd="sng" algn="ctr">
              <a:solidFill>
                <a:schemeClr val="accent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2"/>
              </a:solidFill>
              <a:ln w="6350" cap="flat" cmpd="sng" algn="ctr">
                <a:solidFill>
                  <a:schemeClr val="accent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27"/>
                <c:pt idx="0">
                  <c:v>3.15</c:v>
                </c:pt>
                <c:pt idx="1">
                  <c:v>6.39</c:v>
                </c:pt>
                <c:pt idx="2">
                  <c:v>8.3</c:v>
                </c:pt>
                <c:pt idx="3">
                  <c:v>5.34</c:v>
                </c:pt>
                <c:pt idx="4">
                  <c:v>6.19</c:v>
                </c:pt>
                <c:pt idx="5">
                  <c:v>5.88</c:v>
                </c:pt>
                <c:pt idx="6">
                  <c:v>2.11</c:v>
                </c:pt>
                <c:pt idx="7">
                  <c:v>6.93</c:v>
                </c:pt>
                <c:pt idx="8">
                  <c:v>3.41</c:v>
                </c:pt>
                <c:pt idx="9">
                  <c:v>9.8</c:v>
                </c:pt>
                <c:pt idx="10">
                  <c:v>11.35</c:v>
                </c:pt>
                <c:pt idx="11">
                  <c:v>12.52</c:v>
                </c:pt>
                <c:pt idx="12">
                  <c:v>3.9</c:v>
                </c:pt>
                <c:pt idx="13">
                  <c:v>6.85</c:v>
                </c:pt>
                <c:pt idx="14">
                  <c:v>8.65</c:v>
                </c:pt>
                <c:pt idx="15">
                  <c:v>19.87</c:v>
                </c:pt>
                <c:pt idx="16">
                  <c:v>3.63</c:v>
                </c:pt>
                <c:pt idx="17">
                  <c:v>9.9</c:v>
                </c:pt>
                <c:pt idx="18">
                  <c:v>11.81</c:v>
                </c:pt>
                <c:pt idx="19">
                  <c:v>11.16</c:v>
                </c:pt>
                <c:pt idx="20">
                  <c:v>15.65</c:v>
                </c:pt>
                <c:pt idx="21">
                  <c:v>8.26</c:v>
                </c:pt>
                <c:pt idx="22">
                  <c:v>15.95</c:v>
                </c:pt>
                <c:pt idx="23">
                  <c:v>15.27</c:v>
                </c:pt>
                <c:pt idx="24">
                  <c:v>14.82</c:v>
                </c:pt>
                <c:pt idx="25">
                  <c:v>12.88</c:v>
                </c:pt>
                <c:pt idx="26">
                  <c:v>11.37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同行签单(M)</c:v>
                </c:pt>
              </c:strCache>
            </c:strRef>
          </c:tx>
          <c:spPr>
            <a:ln w="19050" cap="rnd" cmpd="sng" algn="ctr">
              <a:solidFill>
                <a:schemeClr val="accent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4"/>
              </a:solidFill>
              <a:ln w="6350" cap="flat" cmpd="sng" algn="ctr">
                <a:solidFill>
                  <a:schemeClr val="accent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27"/>
                <c:pt idx="0">
                  <c:v>1.17</c:v>
                </c:pt>
                <c:pt idx="1">
                  <c:v>3.68</c:v>
                </c:pt>
                <c:pt idx="2">
                  <c:v>5.34</c:v>
                </c:pt>
                <c:pt idx="3">
                  <c:v>5.99</c:v>
                </c:pt>
                <c:pt idx="4">
                  <c:v>11.38</c:v>
                </c:pt>
                <c:pt idx="5">
                  <c:v>4.34</c:v>
                </c:pt>
                <c:pt idx="6">
                  <c:v>2.65</c:v>
                </c:pt>
                <c:pt idx="7">
                  <c:v>4.44</c:v>
                </c:pt>
                <c:pt idx="8">
                  <c:v>2.12</c:v>
                </c:pt>
                <c:pt idx="9">
                  <c:v>8.23</c:v>
                </c:pt>
                <c:pt idx="10">
                  <c:v>8.79</c:v>
                </c:pt>
                <c:pt idx="11">
                  <c:v>19.04</c:v>
                </c:pt>
                <c:pt idx="12">
                  <c:v>6.5</c:v>
                </c:pt>
                <c:pt idx="13">
                  <c:v>4.97</c:v>
                </c:pt>
                <c:pt idx="14">
                  <c:v>7.99</c:v>
                </c:pt>
                <c:pt idx="15">
                  <c:v>9.41</c:v>
                </c:pt>
                <c:pt idx="16">
                  <c:v>14.75</c:v>
                </c:pt>
                <c:pt idx="17">
                  <c:v>6</c:v>
                </c:pt>
                <c:pt idx="18">
                  <c:v>11.76</c:v>
                </c:pt>
                <c:pt idx="19">
                  <c:v>10.19</c:v>
                </c:pt>
                <c:pt idx="20">
                  <c:v>20.48</c:v>
                </c:pt>
                <c:pt idx="21">
                  <c:v>8.56</c:v>
                </c:pt>
                <c:pt idx="22">
                  <c:v>8.7</c:v>
                </c:pt>
                <c:pt idx="23">
                  <c:v>16.47</c:v>
                </c:pt>
                <c:pt idx="24">
                  <c:v>20.44</c:v>
                </c:pt>
                <c:pt idx="25">
                  <c:v>11.01</c:v>
                </c:pt>
                <c:pt idx="26">
                  <c:v>7.25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同行批核(M)</c:v>
                </c:pt>
              </c:strCache>
            </c:strRef>
          </c:tx>
          <c:spPr>
            <a:ln w="19050" cap="rnd" cmpd="sng" algn="ctr">
              <a:solidFill>
                <a:schemeClr val="accent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chemeClr val="accent6"/>
              </a:solidFill>
              <a:ln w="6350" cap="flat" cmpd="sng" algn="ctr">
                <a:solidFill>
                  <a:schemeClr val="accent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dLbl>
              <c:idx val="13"/>
              <c:delete val="1"/>
            </c:dLbl>
            <c:dLbl>
              <c:idx val="14"/>
              <c:delete val="1"/>
            </c:dLbl>
            <c:dLbl>
              <c:idx val="15"/>
              <c:delete val="1"/>
            </c:dLbl>
            <c:dLbl>
              <c:idx val="16"/>
              <c:delete val="1"/>
            </c:dLbl>
            <c:dLbl>
              <c:idx val="17"/>
              <c:delete val="1"/>
            </c:dLbl>
            <c:dLbl>
              <c:idx val="18"/>
              <c:delete val="1"/>
            </c:dLbl>
            <c:dLbl>
              <c:idx val="19"/>
              <c:delete val="1"/>
            </c:dLbl>
            <c:dLbl>
              <c:idx val="20"/>
              <c:delete val="1"/>
            </c:dLbl>
            <c:dLbl>
              <c:idx val="21"/>
              <c:delete val="1"/>
            </c:dLbl>
            <c:dLbl>
              <c:idx val="22"/>
              <c:delete val="1"/>
            </c:dLbl>
            <c:dLbl>
              <c:idx val="23"/>
              <c:delete val="1"/>
            </c:dLbl>
            <c:dLbl>
              <c:idx val="24"/>
              <c:delete val="1"/>
            </c:dLbl>
            <c:dLbl>
              <c:idx val="25"/>
              <c:delete val="1"/>
            </c:dLbl>
            <c:dLbl>
              <c:idx val="2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6350" cap="flat" cmpd="sng" algn="ctr">
                      <a:solidFill>
                        <a:schemeClr val="tx1"/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Sheet1!$A$2:$A$13</c:f>
              <c:strCache>
                <c:ptCount val="27"/>
                <c:pt idx="0">
                  <c:v>W01</c:v>
                </c:pt>
                <c:pt idx="1">
                  <c:v>W02</c:v>
                </c:pt>
                <c:pt idx="2">
                  <c:v>W03</c:v>
                </c:pt>
                <c:pt idx="3">
                  <c:v>W04</c:v>
                </c:pt>
                <c:pt idx="4">
                  <c:v>W05</c:v>
                </c:pt>
                <c:pt idx="5">
                  <c:v>W06</c:v>
                </c:pt>
                <c:pt idx="6">
                  <c:v>W07</c:v>
                </c:pt>
                <c:pt idx="7">
                  <c:v>W08</c:v>
                </c:pt>
                <c:pt idx="8">
                  <c:v>W09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  <c:pt idx="13">
                  <c:v>W14</c:v>
                </c:pt>
                <c:pt idx="14">
                  <c:v>W15</c:v>
                </c:pt>
                <c:pt idx="15">
                  <c:v>W16</c:v>
                </c:pt>
                <c:pt idx="16">
                  <c:v>W17</c:v>
                </c:pt>
                <c:pt idx="17">
                  <c:v>W18</c:v>
                </c:pt>
                <c:pt idx="18">
                  <c:v>W19</c:v>
                </c:pt>
                <c:pt idx="19">
                  <c:v>W20</c:v>
                </c:pt>
                <c:pt idx="20">
                  <c:v>W21</c:v>
                </c:pt>
                <c:pt idx="21">
                  <c:v>W22</c:v>
                </c:pt>
                <c:pt idx="22">
                  <c:v>W23</c:v>
                </c:pt>
                <c:pt idx="23">
                  <c:v>W24</c:v>
                </c:pt>
                <c:pt idx="24">
                  <c:v>W25</c:v>
                </c:pt>
                <c:pt idx="25">
                  <c:v>W26</c:v>
                </c:pt>
                <c:pt idx="26">
                  <c:v>W27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27"/>
                <c:pt idx="0">
                  <c:v>13.66</c:v>
                </c:pt>
                <c:pt idx="1">
                  <c:v>40.4</c:v>
                </c:pt>
                <c:pt idx="2">
                  <c:v>17.31</c:v>
                </c:pt>
                <c:pt idx="3">
                  <c:v>16.39</c:v>
                </c:pt>
                <c:pt idx="4">
                  <c:v>8.47</c:v>
                </c:pt>
                <c:pt idx="5">
                  <c:v>5.19</c:v>
                </c:pt>
                <c:pt idx="6">
                  <c:v>5.3</c:v>
                </c:pt>
                <c:pt idx="7">
                  <c:v>7.02</c:v>
                </c:pt>
                <c:pt idx="8">
                  <c:v>3.17</c:v>
                </c:pt>
                <c:pt idx="9">
                  <c:v>4.41</c:v>
                </c:pt>
                <c:pt idx="10">
                  <c:v>3.4</c:v>
                </c:pt>
                <c:pt idx="11">
                  <c:v>2.09</c:v>
                </c:pt>
                <c:pt idx="12">
                  <c:v>11.68</c:v>
                </c:pt>
                <c:pt idx="13">
                  <c:v>4.79</c:v>
                </c:pt>
                <c:pt idx="14">
                  <c:v>15.54</c:v>
                </c:pt>
                <c:pt idx="15">
                  <c:v>7.99</c:v>
                </c:pt>
                <c:pt idx="16">
                  <c:v>10.27</c:v>
                </c:pt>
                <c:pt idx="17">
                  <c:v>5.12</c:v>
                </c:pt>
                <c:pt idx="18">
                  <c:v>10.89</c:v>
                </c:pt>
                <c:pt idx="19">
                  <c:v>10.48</c:v>
                </c:pt>
                <c:pt idx="20">
                  <c:v>9.6</c:v>
                </c:pt>
                <c:pt idx="21">
                  <c:v>5.68</c:v>
                </c:pt>
                <c:pt idx="22">
                  <c:v>8.62</c:v>
                </c:pt>
                <c:pt idx="23">
                  <c:v>5.98</c:v>
                </c:pt>
                <c:pt idx="24">
                  <c:v>15.73</c:v>
                </c:pt>
                <c:pt idx="25">
                  <c:v>9.92</c:v>
                </c:pt>
                <c:pt idx="26">
                  <c:v>13.59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8ECF0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out"/>
        <c:minorTickMark val="none"/>
        <c:tickLblPos val="nextTo"/>
        <c:spPr>
          <a:noFill/>
          <a:ln w="12700" cap="flat" cmpd="sng" algn="ctr">
            <a:solidFill>
              <a:srgbClr val="888888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B7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81465761177136"/>
          <c:y val="0.87186520376175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927977ba-dfe8-49e2-a067-6da98031ba5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Relationship Id="rId5" Type="http://schemas.openxmlformats.org/officeDocument/2006/relationships/tags" Target="../tags/tag1.xml"/><Relationship Id="rId6" Type="http://schemas.openxmlformats.org/officeDocument/2006/relationships/image" Target="../media/image1.png"/><Relationship Id="rId7" Type="http://schemas.openxmlformats.org/officeDocument/2006/relationships/image" Target="../media/image2.svg"/><Relationship Id="rId8" Type="http://schemas.openxmlformats.org/officeDocument/2006/relationships/tags" Target="../tags/tag2.xml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tags" Target="../tags/tag3.xml"/><Relationship Id="rId12" Type="http://schemas.openxmlformats.org/officeDocument/2006/relationships/image" Target="../media/image5.svg"/><Relationship Id="rId13" Type="http://schemas.openxmlformats.org/officeDocument/2006/relationships/tags" Target="../tags/tag4.xml"/><Relationship Id="rId14" Type="http://schemas.openxmlformats.org/officeDocument/2006/relationships/image" Target="../media/image6.png"/><Relationship Id="rId15" Type="http://schemas.openxmlformats.org/officeDocument/2006/relationships/image" Target="../media/image7.svg"/><Relationship Id="rId16" Type="http://schemas.openxmlformats.org/officeDocument/2006/relationships/tags" Target="../tags/tag5.xml"/><Relationship Id="rId17" Type="http://schemas.openxmlformats.org/officeDocument/2006/relationships/image" Target="../media/image8.svg"/><Relationship Id="rId18" Type="http://schemas.openxmlformats.org/officeDocument/2006/relationships/tags" Target="../tags/tag6.xml"/><Relationship Id="rId19" Type="http://schemas.openxmlformats.org/officeDocument/2006/relationships/image" Target="../media/image9.svg"/><Relationship Id="rId20" Type="http://schemas.openxmlformats.org/officeDocument/2006/relationships/tags" Target="../tags/tag7.xml"/><Relationship Id="rId21" Type="http://schemas.openxmlformats.org/officeDocument/2006/relationships/image" Target="../media/image10.png"/><Relationship Id="rId22" Type="http://schemas.openxmlformats.org/officeDocument/2006/relationships/tags" Target="../tags/tag8.xml"/><Relationship Id="rId23" Type="http://schemas.openxmlformats.org/officeDocument/2006/relationships/image" Target="../media/image11.png"/><Relationship Id="rId24" Type="http://schemas.openxmlformats.org/officeDocument/2006/relationships/tags" Target="../tags/tag9.xml"/><Relationship Id="rId25" Type="http://schemas.openxmlformats.org/officeDocument/2006/relationships/image" Target="../media/image12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Relationship Id="rId6" Type="http://schemas.openxmlformats.org/officeDocument/2006/relationships/chart" Target="../charts/chart13.xml"/><Relationship Id="rId7" Type="http://schemas.openxmlformats.org/officeDocument/2006/relationships/chart" Target="../charts/chart14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chart" Target="..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chart" Target="../charts/chart1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tags" Target="../tags/tag23.xml"/><Relationship Id="rId17" Type="http://schemas.openxmlformats.org/officeDocument/2006/relationships/tags" Target="../tags/tag24.xml"/><Relationship Id="rId18" Type="http://schemas.openxmlformats.org/officeDocument/2006/relationships/tags" Target="../tags/tag25.xml"/><Relationship Id="rId19" Type="http://schemas.openxmlformats.org/officeDocument/2006/relationships/tags" Target="../tags/tag26.xml"/><Relationship Id="rId20" Type="http://schemas.openxmlformats.org/officeDocument/2006/relationships/tags" Target="../tags/tag27.xml"/><Relationship Id="rId21" Type="http://schemas.openxmlformats.org/officeDocument/2006/relationships/tags" Target="../tags/tag28.xml"/><Relationship Id="rId22" Type="http://schemas.openxmlformats.org/officeDocument/2006/relationships/tags" Target="../tags/tag29.xml"/><Relationship Id="rId23" Type="http://schemas.openxmlformats.org/officeDocument/2006/relationships/tags" Target="../tags/tag30.xml"/><Relationship Id="rId24" Type="http://schemas.openxmlformats.org/officeDocument/2006/relationships/tags" Target="../tags/tag31.xml"/><Relationship Id="rId25" Type="http://schemas.openxmlformats.org/officeDocument/2006/relationships/tags" Target="../tags/tag32.xml"/><Relationship Id="rId26" Type="http://schemas.openxmlformats.org/officeDocument/2006/relationships/tags" Target="../tags/tag33.xml"/><Relationship Id="rId27" Type="http://schemas.openxmlformats.org/officeDocument/2006/relationships/tags" Target="../tags/tag34.xml"/><Relationship Id="rId28" Type="http://schemas.openxmlformats.org/officeDocument/2006/relationships/tags" Target="../tags/tag35.xml"/><Relationship Id="rId29" Type="http://schemas.openxmlformats.org/officeDocument/2006/relationships/tags" Target="../tags/tag36.xml"/><Relationship Id="rId30" Type="http://schemas.openxmlformats.org/officeDocument/2006/relationships/tags" Target="../tags/tag37.xml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0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Relationship Id="rId6" Type="http://schemas.openxmlformats.org/officeDocument/2006/relationships/tags" Target="../tags/tag42.xml"/><Relationship Id="rId7" Type="http://schemas.openxmlformats.org/officeDocument/2006/relationships/tags" Target="../tags/tag43.xml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tags" Target="../tags/tag46.xml"/><Relationship Id="rId11" Type="http://schemas.openxmlformats.org/officeDocument/2006/relationships/tags" Target="../tags/tag47.xml"/><Relationship Id="rId12" Type="http://schemas.openxmlformats.org/officeDocument/2006/relationships/tags" Target="../tags/tag48.xml"/><Relationship Id="rId13" Type="http://schemas.openxmlformats.org/officeDocument/2006/relationships/tags" Target="../tags/tag49.xml"/><Relationship Id="rId14" Type="http://schemas.openxmlformats.org/officeDocument/2006/relationships/tags" Target="../tags/tag50.xml"/><Relationship Id="rId15" Type="http://schemas.openxmlformats.org/officeDocument/2006/relationships/tags" Target="../tags/tag51.xml"/><Relationship Id="rId16" Type="http://schemas.openxmlformats.org/officeDocument/2006/relationships/tags" Target="../tags/tag52.xml"/><Relationship Id="rId17" Type="http://schemas.openxmlformats.org/officeDocument/2006/relationships/tags" Target="../tags/tag53.xm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tags" Target="../tags/tag58.xml"/><Relationship Id="rId6" Type="http://schemas.openxmlformats.org/officeDocument/2006/relationships/tags" Target="../tags/tag59.xml"/><Relationship Id="rId7" Type="http://schemas.openxmlformats.org/officeDocument/2006/relationships/tags" Target="../tags/tag60.xml"/><Relationship Id="rId8" Type="http://schemas.openxmlformats.org/officeDocument/2006/relationships/tags" Target="../tags/tag61.xml"/><Relationship Id="rId9" Type="http://schemas.openxmlformats.org/officeDocument/2006/relationships/tags" Target="../tags/tag62.xml"/><Relationship Id="rId10" Type="http://schemas.openxmlformats.org/officeDocument/2006/relationships/tags" Target="../tags/tag63.xml"/><Relationship Id="rId11" Type="http://schemas.openxmlformats.org/officeDocument/2006/relationships/tags" Target="../tags/tag64.xml"/><Relationship Id="rId12" Type="http://schemas.openxmlformats.org/officeDocument/2006/relationships/tags" Target="../tags/tag65.xml"/><Relationship Id="rId13" Type="http://schemas.openxmlformats.org/officeDocument/2006/relationships/tags" Target="../tags/tag66.xml"/><Relationship Id="rId14" Type="http://schemas.openxmlformats.org/officeDocument/2006/relationships/tags" Target="../tags/tag67.xml"/><Relationship Id="rId15" Type="http://schemas.openxmlformats.org/officeDocument/2006/relationships/tags" Target="../tags/tag68.xml"/><Relationship Id="rId16" Type="http://schemas.openxmlformats.org/officeDocument/2006/relationships/tags" Target="../tags/tag69.xml"/><Relationship Id="rId17" Type="http://schemas.openxmlformats.org/officeDocument/2006/relationships/tags" Target="../tags/tag70.xml"/><Relationship Id="rId18" Type="http://schemas.openxmlformats.org/officeDocument/2006/relationships/tags" Target="../tags/tag71.xml"/><Relationship Id="rId19" Type="http://schemas.openxmlformats.org/officeDocument/2006/relationships/tags" Target="../tags/tag72.xml"/><Relationship Id="rId20" Type="http://schemas.openxmlformats.org/officeDocument/2006/relationships/tags" Target="../tags/tag73.xml"/><Relationship Id="rId21" Type="http://schemas.openxmlformats.org/officeDocument/2006/relationships/tags" Target="../tags/tag74.xml"/><Relationship Id="rId22" Type="http://schemas.openxmlformats.org/officeDocument/2006/relationships/tags" Target="../tags/tag75.xml"/><Relationship Id="rId23" Type="http://schemas.openxmlformats.org/officeDocument/2006/relationships/tags" Target="../tags/tag76.xml"/><Relationship Id="rId24" Type="http://schemas.openxmlformats.org/officeDocument/2006/relationships/tags" Target="../tags/tag77.xml"/><Relationship Id="rId25" Type="http://schemas.openxmlformats.org/officeDocument/2006/relationships/tags" Target="../tags/tag78.xml"/><Relationship Id="rId26" Type="http://schemas.openxmlformats.org/officeDocument/2006/relationships/tags" Target="../tags/tag79.xml"/><Relationship Id="rId27" Type="http://schemas.openxmlformats.org/officeDocument/2006/relationships/tags" Target="../tags/tag80.xml"/><Relationship Id="rId28" Type="http://schemas.openxmlformats.org/officeDocument/2006/relationships/tags" Target="../tags/tag81.xml"/><Relationship Id="rId29" Type="http://schemas.openxmlformats.org/officeDocument/2006/relationships/tags" Target="../tags/tag82.xml"/><Relationship Id="rId30" Type="http://schemas.openxmlformats.org/officeDocument/2006/relationships/tags" Target="../tags/tag83.xml"/><Relationship Id="rId31" Type="http://schemas.openxmlformats.org/officeDocument/2006/relationships/tags" Target="../tags/tag84.xml"/><Relationship Id="rId32" Type="http://schemas.openxmlformats.org/officeDocument/2006/relationships/tags" Target="../tags/tag85.xml"/><Relationship Id="rId33" Type="http://schemas.openxmlformats.org/officeDocument/2006/relationships/tags" Target="../tags/tag86.xml"/><Relationship Id="rId34" Type="http://schemas.openxmlformats.org/officeDocument/2006/relationships/tags" Target="../tags/tag87.xml"/><Relationship Id="rId35" Type="http://schemas.openxmlformats.org/officeDocument/2006/relationships/tags" Target="../tags/tag88.xml"/><Relationship Id="rId36" Type="http://schemas.openxmlformats.org/officeDocument/2006/relationships/tags" Target="../tags/tag89.xml"/><Relationship Id="rId37" Type="http://schemas.openxmlformats.org/officeDocument/2006/relationships/tags" Target="../tags/tag90.xml"/><Relationship Id="rId38" Type="http://schemas.openxmlformats.org/officeDocument/2006/relationships/tags" Target="../tags/tag91.xml"/><Relationship Id="rId39" Type="http://schemas.openxmlformats.org/officeDocument/2006/relationships/tags" Target="../tags/tag92.xml"/><Relationship Id="rId40" Type="http://schemas.openxmlformats.org/officeDocument/2006/relationships/tags" Target="../tags/tag93.xml"/><Relationship Id="rId41" Type="http://schemas.openxmlformats.org/officeDocument/2006/relationships/tags" Target="../tags/tag94.xml"/><Relationship Id="rId42" Type="http://schemas.openxmlformats.org/officeDocument/2006/relationships/tags" Target="../tags/tag95.xml"/><Relationship Id="rId43" Type="http://schemas.openxmlformats.org/officeDocument/2006/relationships/tags" Target="../tags/tag96.xml"/><Relationship Id="rId44" Type="http://schemas.openxmlformats.org/officeDocument/2006/relationships/tags" Target="../tags/tag97.xml"/><Relationship Id="rId45" Type="http://schemas.openxmlformats.org/officeDocument/2006/relationships/tags" Target="../tags/tag98.xml"/><Relationship Id="rId46" Type="http://schemas.openxmlformats.org/officeDocument/2006/relationships/tags" Target="../tags/tag99.xml"/><Relationship Id="rId47" Type="http://schemas.openxmlformats.org/officeDocument/2006/relationships/image" Target="../media/image13.png"/><Relationship Id="rId48" Type="http://schemas.openxmlformats.org/officeDocument/2006/relationships/image" Target="../media/image14.png"/><Relationship Id="rId49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9144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全维度业绩分析仪表盘  |   生成日期：2026-07-31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48640"/>
            <a:ext cx="38404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384048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367588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年度目标达成率 — 2026 全业务 &amp; 永明业务 APE 达成状况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069080" y="548640"/>
            <a:ext cx="420624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069080" y="548640"/>
            <a:ext cx="4206240" cy="27432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60520" y="585216"/>
            <a:ext cx="404164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 保单阶段分布 — 2026 批核 / 未批核 / 待签 APE 构成分析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0" y="548640"/>
            <a:ext cx="3639312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548640"/>
            <a:ext cx="3639312" cy="274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503920" y="585216"/>
            <a:ext cx="347472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业务类型业绩 — 渠道批核 / 未批核 / 待签（APE in M）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" y="3429000"/>
            <a:ext cx="1196035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" y="3429000"/>
            <a:ext cx="11960352" cy="2743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82880" y="3465576"/>
            <a:ext cx="1179576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  预约 / 签单 / 批核月度趋势三线图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9456" y="877824"/>
            <a:ext cx="1508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53.6%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" y="143560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全业务目标达成率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956816" y="87782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956816" y="87782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048256" y="89611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597M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048256" y="106984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 APE（2026）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956816" y="124358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956816" y="1243584"/>
            <a:ext cx="457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48256" y="126187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1122 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048256" y="143560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批核件数（2026）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1956816" y="1609344"/>
            <a:ext cx="1828800" cy="329184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956816" y="1609344"/>
            <a:ext cx="4572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048256" y="1627632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-516M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048256" y="1801368"/>
            <a:ext cx="16916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剩余</a:t>
            </a: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9456" y="19842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全业务目标（1,113M）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19456" y="21488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19456" y="2148840"/>
            <a:ext cx="697184" cy="14630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606040" y="21122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53.6%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19456" y="23042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597M / 剩余缺口 516M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19456" y="2441448"/>
            <a:ext cx="23317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永明业务目标（976M）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19456" y="2606040"/>
            <a:ext cx="233172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9456" y="2606040"/>
            <a:ext cx="666872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606040" y="2569464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51.7%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19456" y="2761488"/>
            <a:ext cx="3611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504M / 剩余缺口 472M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1440" y="2971800"/>
            <a:ext cx="384048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1440" y="2944495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25095" y="2952115"/>
            <a:ext cx="477520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23190" y="3056255"/>
            <a:ext cx="3778250" cy="311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全业务批核 596.7M、达成率 53.6%（较上期 +1.9pct），缺口 516M。6 月预约 84.4M/签单 85.7M 高位，批核 62.2M，7 月已批 24.3M。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197096" y="877824"/>
            <a:ext cx="2573763" cy="21945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770859" y="877824"/>
            <a:ext cx="1172844" cy="2194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943703" y="877824"/>
            <a:ext cx="178594" cy="21945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8122297" y="877824"/>
            <a:ext cx="43295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19709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197096" y="1207008"/>
            <a:ext cx="1901952" cy="365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428853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批核（生效）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428853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596.8M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28853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1122 件  |  占比 80.4%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4009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5340096" y="1463040"/>
            <a:ext cx="426984" cy="23774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6208776" y="1207008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208776" y="1207008"/>
            <a:ext cx="1901952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300216" y="1271016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6300216" y="14447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97.8M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6300216" y="1755648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 件  |  占比 13.2%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351776" y="1463040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351776" y="1463040"/>
            <a:ext cx="194573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19709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97096" y="2084832"/>
            <a:ext cx="1901952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428853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28853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en-US" sz="2200" dirty="0"/>
          </a:p>
        </p:txBody>
      </p:sp>
      <p:sp>
        <p:nvSpPr>
          <p:cNvPr id="67" name="Text 65"/>
          <p:cNvSpPr/>
          <p:nvPr/>
        </p:nvSpPr>
        <p:spPr>
          <a:xfrm>
            <a:off x="428853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 件  |  占比 2.4%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34009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5340096" y="2340864"/>
            <a:ext cx="29628" cy="23774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6208776" y="2084832"/>
            <a:ext cx="1901952" cy="786384"/>
          </a:xfrm>
          <a:prstGeom prst="rect">
            <a:avLst/>
          </a:prstGeom>
          <a:solidFill>
            <a:srgbClr val="F5F7FA"/>
          </a:solidFill>
          <a:ln w="9525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08776" y="2084832"/>
            <a:ext cx="190195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6300216" y="2148840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流失（2026）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00216" y="232257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6300216" y="2633472"/>
            <a:ext cx="17190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 件  |  占比 4.0%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7351776" y="2340864"/>
            <a:ext cx="658368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351776" y="2340864"/>
            <a:ext cx="7183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4069080" y="2971800"/>
            <a:ext cx="420624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4069080" y="2944495"/>
            <a:ext cx="4206240" cy="27432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0355" y="2967355"/>
            <a:ext cx="781685" cy="164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922B2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097020" y="3041015"/>
            <a:ext cx="4105275" cy="348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596.7M 占 80.4% 为主力;未批核 97.8M+待签 18.0M=115.8M 在途待转化(待签环比 5.6→18.0M 跳升),另流失 29.7M/84件需止损。</a:t>
            </a:r>
            <a:endParaRPr lang="en-US" sz="650" dirty="0">
              <a:solidFill>
                <a:srgbClr val="1A1A2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81" name="Chart 0"/>
          <p:cNvGraphicFramePr/>
          <p:nvPr/>
        </p:nvGraphicFramePr>
        <p:xfrm>
          <a:off x="8503920" y="859536"/>
          <a:ext cx="3474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2" name="Shape 79"/>
          <p:cNvSpPr/>
          <p:nvPr/>
        </p:nvSpPr>
        <p:spPr>
          <a:xfrm>
            <a:off x="8412480" y="2971800"/>
            <a:ext cx="3639185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3" name="Shape 80"/>
          <p:cNvSpPr/>
          <p:nvPr/>
        </p:nvSpPr>
        <p:spPr>
          <a:xfrm>
            <a:off x="8412480" y="2944495"/>
            <a:ext cx="3639312" cy="27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84" name="Text 81"/>
          <p:cNvSpPr/>
          <p:nvPr/>
        </p:nvSpPr>
        <p:spPr>
          <a:xfrm>
            <a:off x="8446135" y="2952115"/>
            <a:ext cx="705485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453120" y="3141345"/>
            <a:ext cx="3507105" cy="148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经代批核 500.3M 独占 83.8% 为唯一主力,且握最大在途未批核 83.8M;代理人 71.8M、KA 24.6M 体量小。资源应优先压注经代催核转化,同时定向扩量代理人与 KA。</a:t>
            </a:r>
            <a:endParaRPr lang="en-US" sz="750" dirty="0"/>
          </a:p>
        </p:txBody>
      </p:sp>
      <p:graphicFrame>
        <p:nvGraphicFramePr>
          <p:cNvPr id="86" name="Chart 1"/>
          <p:cNvGraphicFramePr/>
          <p:nvPr/>
        </p:nvGraphicFramePr>
        <p:xfrm>
          <a:off x="219583" y="3804158"/>
          <a:ext cx="7680960" cy="2404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" name="Shape 83"/>
          <p:cNvSpPr/>
          <p:nvPr/>
        </p:nvSpPr>
        <p:spPr>
          <a:xfrm>
            <a:off x="5187952" y="3977640"/>
            <a:ext cx="2674186" cy="2148840"/>
          </a:xfrm>
          <a:prstGeom prst="rect">
            <a:avLst/>
          </a:prstGeom>
          <a:solidFill>
            <a:srgbClr val="1F3864">
              <a:alpha val="10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8" name="Text 84"/>
          <p:cNvSpPr/>
          <p:nvPr/>
        </p:nvSpPr>
        <p:spPr>
          <a:xfrm>
            <a:off x="5187952" y="3995928"/>
            <a:ext cx="267418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</a:t>
            </a:r>
            <a:endParaRPr lang="en-US" sz="750" dirty="0"/>
          </a:p>
        </p:txBody>
      </p:sp>
      <p:sp>
        <p:nvSpPr>
          <p:cNvPr id="89" name="Text 85"/>
          <p:cNvSpPr/>
          <p:nvPr/>
        </p:nvSpPr>
        <p:spPr>
          <a:xfrm>
            <a:off x="8028432" y="3721608"/>
            <a:ext cx="3931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 年月度明细</a:t>
            </a:r>
            <a:r>
              <a:rPr lang="zh-CN" alt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（包含流失单）</a:t>
            </a:r>
            <a:endParaRPr lang="zh-CN" altLang="en-US" sz="900" b="1" dirty="0">
              <a:solidFill>
                <a:srgbClr val="1A1A2E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0" name="Shape 86"/>
          <p:cNvSpPr/>
          <p:nvPr/>
        </p:nvSpPr>
        <p:spPr>
          <a:xfrm>
            <a:off x="8028432" y="3959352"/>
            <a:ext cx="3931920" cy="21945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91" name="Text 87"/>
          <p:cNvSpPr/>
          <p:nvPr/>
        </p:nvSpPr>
        <p:spPr>
          <a:xfrm>
            <a:off x="8065008" y="3995928"/>
            <a:ext cx="502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月份</a:t>
            </a:r>
            <a:endParaRPr lang="en-US" sz="750" dirty="0"/>
          </a:p>
        </p:txBody>
      </p:sp>
      <p:sp>
        <p:nvSpPr>
          <p:cNvPr id="93" name="Text 89"/>
          <p:cNvSpPr/>
          <p:nvPr/>
        </p:nvSpPr>
        <p:spPr>
          <a:xfrm>
            <a:off x="8558911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26-Feb</a:t>
            </a:r>
            <a:endParaRPr lang="en-US" sz="750" dirty="0"/>
          </a:p>
        </p:txBody>
      </p:sp>
      <p:sp>
        <p:nvSpPr>
          <p:cNvPr id="94" name="Text 90"/>
          <p:cNvSpPr/>
          <p:nvPr/>
        </p:nvSpPr>
        <p:spPr>
          <a:xfrm>
            <a:off x="9125839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26-Mar</a:t>
            </a:r>
            <a:endParaRPr lang="en-US" sz="750" dirty="0"/>
          </a:p>
        </p:txBody>
      </p:sp>
      <p:sp>
        <p:nvSpPr>
          <p:cNvPr id="95" name="Shape 91"/>
          <p:cNvSpPr/>
          <p:nvPr/>
        </p:nvSpPr>
        <p:spPr>
          <a:xfrm>
            <a:off x="8028432" y="4197096"/>
            <a:ext cx="3931920" cy="256032"/>
          </a:xfrm>
          <a:prstGeom prst="rect">
            <a:avLst/>
          </a:prstGeom>
          <a:solidFill>
            <a:srgbClr val="1F3864">
              <a:alpha val="12000"/>
            </a:srgbClr>
          </a:solidFill>
          <a:ln w="635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6" name="Shape 92"/>
          <p:cNvSpPr/>
          <p:nvPr/>
        </p:nvSpPr>
        <p:spPr>
          <a:xfrm>
            <a:off x="8028432" y="4197096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7" name="Text 93"/>
          <p:cNvSpPr/>
          <p:nvPr/>
        </p:nvSpPr>
        <p:spPr>
          <a:xfrm>
            <a:off x="8072628" y="425196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APE</a:t>
            </a:r>
            <a:endParaRPr lang="en-US" sz="750" dirty="0"/>
          </a:p>
        </p:txBody>
      </p:sp>
      <p:sp>
        <p:nvSpPr>
          <p:cNvPr id="99" name="Text 95"/>
          <p:cNvSpPr/>
          <p:nvPr/>
        </p:nvSpPr>
        <p:spPr>
          <a:xfrm>
            <a:off x="8558911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56.4</a:t>
            </a:r>
            <a:endParaRPr lang="en-US" sz="900" dirty="0"/>
          </a:p>
        </p:txBody>
      </p:sp>
      <p:sp>
        <p:nvSpPr>
          <p:cNvPr id="100" name="Text 96"/>
          <p:cNvSpPr/>
          <p:nvPr/>
        </p:nvSpPr>
        <p:spPr>
          <a:xfrm>
            <a:off x="9125839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81.5</a:t>
            </a:r>
            <a:endParaRPr lang="en-US" sz="900" dirty="0"/>
          </a:p>
        </p:txBody>
      </p:sp>
      <p:sp>
        <p:nvSpPr>
          <p:cNvPr id="101" name="Shape 97"/>
          <p:cNvSpPr/>
          <p:nvPr/>
        </p:nvSpPr>
        <p:spPr>
          <a:xfrm>
            <a:off x="8028432" y="4453128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8"/>
          <p:cNvSpPr/>
          <p:nvPr/>
        </p:nvSpPr>
        <p:spPr>
          <a:xfrm>
            <a:off x="8028432" y="4453128"/>
            <a:ext cx="3657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3" name="Text 99"/>
          <p:cNvSpPr/>
          <p:nvPr/>
        </p:nvSpPr>
        <p:spPr>
          <a:xfrm>
            <a:off x="8073898" y="4507992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 件数</a:t>
            </a:r>
            <a:endParaRPr lang="en-US" sz="750" dirty="0"/>
          </a:p>
        </p:txBody>
      </p:sp>
      <p:sp>
        <p:nvSpPr>
          <p:cNvPr id="105" name="Text 101"/>
          <p:cNvSpPr/>
          <p:nvPr/>
        </p:nvSpPr>
        <p:spPr>
          <a:xfrm>
            <a:off x="8558911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110件</a:t>
            </a:r>
            <a:endParaRPr lang="en-US" sz="900" dirty="0"/>
          </a:p>
        </p:txBody>
      </p:sp>
      <p:sp>
        <p:nvSpPr>
          <p:cNvPr id="106" name="Text 102"/>
          <p:cNvSpPr/>
          <p:nvPr/>
        </p:nvSpPr>
        <p:spPr>
          <a:xfrm>
            <a:off x="9125839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216件</a:t>
            </a:r>
            <a:endParaRPr lang="en-US" sz="900" dirty="0"/>
          </a:p>
        </p:txBody>
      </p:sp>
      <p:sp>
        <p:nvSpPr>
          <p:cNvPr id="107" name="Shape 103"/>
          <p:cNvSpPr/>
          <p:nvPr/>
        </p:nvSpPr>
        <p:spPr>
          <a:xfrm>
            <a:off x="8028432" y="4709160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8" name="Shape 104"/>
          <p:cNvSpPr/>
          <p:nvPr/>
        </p:nvSpPr>
        <p:spPr>
          <a:xfrm>
            <a:off x="8028432" y="4764024"/>
            <a:ext cx="3931920" cy="256032"/>
          </a:xfrm>
          <a:prstGeom prst="rect">
            <a:avLst/>
          </a:prstGeom>
          <a:solidFill>
            <a:srgbClr val="00796B">
              <a:alpha val="12000"/>
            </a:srgbClr>
          </a:solidFill>
          <a:ln w="635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9" name="Shape 105"/>
          <p:cNvSpPr/>
          <p:nvPr/>
        </p:nvSpPr>
        <p:spPr>
          <a:xfrm>
            <a:off x="8028432" y="4764024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0" name="Text 106"/>
          <p:cNvSpPr/>
          <p:nvPr/>
        </p:nvSpPr>
        <p:spPr>
          <a:xfrm>
            <a:off x="8072628" y="481888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APE</a:t>
            </a:r>
            <a:endParaRPr lang="en-US" sz="750" dirty="0"/>
          </a:p>
        </p:txBody>
      </p:sp>
      <p:sp>
        <p:nvSpPr>
          <p:cNvPr id="112" name="Text 108"/>
          <p:cNvSpPr/>
          <p:nvPr/>
        </p:nvSpPr>
        <p:spPr>
          <a:xfrm>
            <a:off x="8558911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61.1</a:t>
            </a:r>
            <a:endParaRPr lang="en-US" sz="900" dirty="0"/>
          </a:p>
        </p:txBody>
      </p:sp>
      <p:sp>
        <p:nvSpPr>
          <p:cNvPr id="113" name="Text 109"/>
          <p:cNvSpPr/>
          <p:nvPr/>
        </p:nvSpPr>
        <p:spPr>
          <a:xfrm>
            <a:off x="9125839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82.2</a:t>
            </a:r>
            <a:endParaRPr lang="en-US" sz="900" dirty="0"/>
          </a:p>
        </p:txBody>
      </p:sp>
      <p:sp>
        <p:nvSpPr>
          <p:cNvPr id="114" name="Shape 110"/>
          <p:cNvSpPr/>
          <p:nvPr/>
        </p:nvSpPr>
        <p:spPr>
          <a:xfrm>
            <a:off x="8028432" y="5020056"/>
            <a:ext cx="3931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5" name="Shape 111"/>
          <p:cNvSpPr/>
          <p:nvPr/>
        </p:nvSpPr>
        <p:spPr>
          <a:xfrm>
            <a:off x="8028432" y="5020056"/>
            <a:ext cx="36576" cy="256032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16" name="Text 112"/>
          <p:cNvSpPr/>
          <p:nvPr/>
        </p:nvSpPr>
        <p:spPr>
          <a:xfrm>
            <a:off x="8073898" y="50749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件数</a:t>
            </a:r>
            <a:endParaRPr lang="en-US" sz="750" dirty="0"/>
          </a:p>
        </p:txBody>
      </p:sp>
      <p:sp>
        <p:nvSpPr>
          <p:cNvPr id="118" name="Text 114"/>
          <p:cNvSpPr/>
          <p:nvPr/>
        </p:nvSpPr>
        <p:spPr>
          <a:xfrm>
            <a:off x="8558911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121件</a:t>
            </a:r>
            <a:endParaRPr lang="en-US" sz="900" dirty="0"/>
          </a:p>
        </p:txBody>
      </p:sp>
      <p:sp>
        <p:nvSpPr>
          <p:cNvPr id="119" name="Text 115"/>
          <p:cNvSpPr/>
          <p:nvPr/>
        </p:nvSpPr>
        <p:spPr>
          <a:xfrm>
            <a:off x="9125839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212件</a:t>
            </a:r>
            <a:endParaRPr lang="en-US" sz="900" dirty="0"/>
          </a:p>
        </p:txBody>
      </p:sp>
      <p:sp>
        <p:nvSpPr>
          <p:cNvPr id="120" name="Shape 116"/>
          <p:cNvSpPr/>
          <p:nvPr/>
        </p:nvSpPr>
        <p:spPr>
          <a:xfrm>
            <a:off x="8028432" y="5276088"/>
            <a:ext cx="3931920" cy="0"/>
          </a:xfrm>
          <a:prstGeom prst="line">
            <a:avLst/>
          </a:prstGeom>
          <a:noFill/>
          <a:ln w="1016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1" name="Shape 117"/>
          <p:cNvSpPr/>
          <p:nvPr/>
        </p:nvSpPr>
        <p:spPr>
          <a:xfrm>
            <a:off x="8028432" y="5330952"/>
            <a:ext cx="3931920" cy="256032"/>
          </a:xfrm>
          <a:prstGeom prst="rect">
            <a:avLst/>
          </a:prstGeom>
          <a:solidFill>
            <a:srgbClr val="1A7A3F">
              <a:alpha val="12000"/>
            </a:srgbClr>
          </a:solidFill>
          <a:ln w="635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2" name="Shape 118"/>
          <p:cNvSpPr/>
          <p:nvPr/>
        </p:nvSpPr>
        <p:spPr>
          <a:xfrm>
            <a:off x="8028432" y="5330952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3" name="Text 119"/>
          <p:cNvSpPr/>
          <p:nvPr/>
        </p:nvSpPr>
        <p:spPr>
          <a:xfrm>
            <a:off x="8072628" y="5385816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APE</a:t>
            </a:r>
            <a:endParaRPr lang="en-US" sz="750" dirty="0"/>
          </a:p>
        </p:txBody>
      </p:sp>
      <p:sp>
        <p:nvSpPr>
          <p:cNvPr id="125" name="Text 121"/>
          <p:cNvSpPr/>
          <p:nvPr/>
        </p:nvSpPr>
        <p:spPr>
          <a:xfrm>
            <a:off x="8558911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143.7</a:t>
            </a:r>
            <a:endParaRPr lang="en-US" sz="900" dirty="0"/>
          </a:p>
        </p:txBody>
      </p:sp>
      <p:sp>
        <p:nvSpPr>
          <p:cNvPr id="126" name="Text 122"/>
          <p:cNvSpPr/>
          <p:nvPr/>
        </p:nvSpPr>
        <p:spPr>
          <a:xfrm>
            <a:off x="9125839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85.8</a:t>
            </a:r>
            <a:endParaRPr lang="en-US" sz="900" dirty="0"/>
          </a:p>
        </p:txBody>
      </p:sp>
      <p:sp>
        <p:nvSpPr>
          <p:cNvPr id="127" name="Shape 123"/>
          <p:cNvSpPr/>
          <p:nvPr/>
        </p:nvSpPr>
        <p:spPr>
          <a:xfrm>
            <a:off x="8028432" y="5586984"/>
            <a:ext cx="3931920" cy="256032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8" name="Shape 124"/>
          <p:cNvSpPr/>
          <p:nvPr/>
        </p:nvSpPr>
        <p:spPr>
          <a:xfrm>
            <a:off x="8028432" y="5586984"/>
            <a:ext cx="36576" cy="25603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29" name="Text 125"/>
          <p:cNvSpPr/>
          <p:nvPr/>
        </p:nvSpPr>
        <p:spPr>
          <a:xfrm>
            <a:off x="8073898" y="5641848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 件数</a:t>
            </a:r>
            <a:endParaRPr lang="en-US" sz="750" dirty="0"/>
          </a:p>
        </p:txBody>
      </p:sp>
      <p:sp>
        <p:nvSpPr>
          <p:cNvPr id="131" name="Text 127"/>
          <p:cNvSpPr/>
          <p:nvPr/>
        </p:nvSpPr>
        <p:spPr>
          <a:xfrm>
            <a:off x="8558911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180件</a:t>
            </a:r>
            <a:endParaRPr lang="en-US" sz="900" dirty="0"/>
          </a:p>
        </p:txBody>
      </p:sp>
      <p:sp>
        <p:nvSpPr>
          <p:cNvPr id="132" name="Text 128"/>
          <p:cNvSpPr/>
          <p:nvPr/>
        </p:nvSpPr>
        <p:spPr>
          <a:xfrm>
            <a:off x="9125839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143件</a:t>
            </a:r>
            <a:endParaRPr lang="en-US" sz="900" dirty="0"/>
          </a:p>
        </p:txBody>
      </p:sp>
      <p:sp>
        <p:nvSpPr>
          <p:cNvPr id="133" name="Shape 129"/>
          <p:cNvSpPr/>
          <p:nvPr/>
        </p:nvSpPr>
        <p:spPr>
          <a:xfrm>
            <a:off x="91440" y="6181344"/>
            <a:ext cx="11960352" cy="49377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4" name="Shape 130"/>
          <p:cNvSpPr/>
          <p:nvPr/>
        </p:nvSpPr>
        <p:spPr>
          <a:xfrm>
            <a:off x="91440" y="6181344"/>
            <a:ext cx="11960352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1"/>
          <p:cNvSpPr/>
          <p:nvPr/>
        </p:nvSpPr>
        <p:spPr>
          <a:xfrm>
            <a:off x="165735" y="6245225"/>
            <a:ext cx="649605" cy="189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136" name="Text 132"/>
          <p:cNvSpPr/>
          <p:nvPr/>
        </p:nvSpPr>
        <p:spPr>
          <a:xfrm>
            <a:off x="124968" y="6419088"/>
            <a:ext cx="117591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月批核峰值 143.7M 为全年最高，此后回落至 6 月 62.2M；预约/签单上半年维持 80–86M 高位，前端动能仍在。剩余目标 516M，需后续月均 86.0M 方可达成年度 1113M。</a:t>
            </a:r>
            <a:endParaRPr lang="en-US" sz="750" dirty="0"/>
          </a:p>
        </p:txBody>
      </p:sp>
      <p:sp>
        <p:nvSpPr>
          <p:cNvPr id="137" name="Shape 133"/>
          <p:cNvSpPr/>
          <p:nvPr/>
        </p:nvSpPr>
        <p:spPr>
          <a:xfrm>
            <a:off x="91440" y="6729984"/>
            <a:ext cx="119786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8" name="Text 90"/>
          <p:cNvSpPr/>
          <p:nvPr/>
        </p:nvSpPr>
        <p:spPr>
          <a:xfrm>
            <a:off x="963320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26-Apr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39" name="Text 96"/>
          <p:cNvSpPr/>
          <p:nvPr/>
        </p:nvSpPr>
        <p:spPr>
          <a:xfrm>
            <a:off x="963320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67.4</a:t>
            </a:r>
            <a:endParaRPr lang="en-US" sz="900" dirty="0"/>
          </a:p>
        </p:txBody>
      </p:sp>
      <p:sp>
        <p:nvSpPr>
          <p:cNvPr id="140" name="Text 102"/>
          <p:cNvSpPr/>
          <p:nvPr/>
        </p:nvSpPr>
        <p:spPr>
          <a:xfrm>
            <a:off x="963320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173件</a:t>
            </a:r>
            <a:endParaRPr lang="en-US" sz="900" dirty="0"/>
          </a:p>
        </p:txBody>
      </p:sp>
      <p:sp>
        <p:nvSpPr>
          <p:cNvPr id="141" name="Text 109"/>
          <p:cNvSpPr/>
          <p:nvPr/>
        </p:nvSpPr>
        <p:spPr>
          <a:xfrm>
            <a:off x="963320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62.1</a:t>
            </a:r>
            <a:endParaRPr lang="en-US" sz="900" dirty="0"/>
          </a:p>
        </p:txBody>
      </p:sp>
      <p:sp>
        <p:nvSpPr>
          <p:cNvPr id="142" name="Text 115"/>
          <p:cNvSpPr/>
          <p:nvPr/>
        </p:nvSpPr>
        <p:spPr>
          <a:xfrm>
            <a:off x="963320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162件</a:t>
            </a:r>
            <a:endParaRPr lang="en-US" sz="900" dirty="0"/>
          </a:p>
        </p:txBody>
      </p:sp>
      <p:sp>
        <p:nvSpPr>
          <p:cNvPr id="143" name="Text 122"/>
          <p:cNvSpPr/>
          <p:nvPr/>
        </p:nvSpPr>
        <p:spPr>
          <a:xfrm>
            <a:off x="963320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91.2</a:t>
            </a:r>
            <a:endParaRPr lang="en-US" sz="900" dirty="0"/>
          </a:p>
        </p:txBody>
      </p:sp>
      <p:sp>
        <p:nvSpPr>
          <p:cNvPr id="144" name="Text 128"/>
          <p:cNvSpPr/>
          <p:nvPr/>
        </p:nvSpPr>
        <p:spPr>
          <a:xfrm>
            <a:off x="963320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192件</a:t>
            </a:r>
            <a:endParaRPr lang="en-US" sz="900" dirty="0"/>
          </a:p>
        </p:txBody>
      </p:sp>
      <p:sp>
        <p:nvSpPr>
          <p:cNvPr id="145" name="Text 90"/>
          <p:cNvSpPr/>
          <p:nvPr/>
        </p:nvSpPr>
        <p:spPr>
          <a:xfrm>
            <a:off x="1020020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26-May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6" name="Text 96"/>
          <p:cNvSpPr/>
          <p:nvPr/>
        </p:nvSpPr>
        <p:spPr>
          <a:xfrm>
            <a:off x="1020020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81.9</a:t>
            </a:r>
            <a:endParaRPr lang="en-US" sz="900" dirty="0"/>
          </a:p>
        </p:txBody>
      </p:sp>
      <p:sp>
        <p:nvSpPr>
          <p:cNvPr id="147" name="Text 102"/>
          <p:cNvSpPr/>
          <p:nvPr/>
        </p:nvSpPr>
        <p:spPr>
          <a:xfrm>
            <a:off x="1020020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223件</a:t>
            </a:r>
            <a:endParaRPr lang="en-US" sz="900" dirty="0"/>
          </a:p>
        </p:txBody>
      </p:sp>
      <p:sp>
        <p:nvSpPr>
          <p:cNvPr id="148" name="Text 109"/>
          <p:cNvSpPr/>
          <p:nvPr/>
        </p:nvSpPr>
        <p:spPr>
          <a:xfrm>
            <a:off x="1020020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86.1</a:t>
            </a:r>
            <a:endParaRPr lang="en-US" sz="900" dirty="0"/>
          </a:p>
        </p:txBody>
      </p:sp>
      <p:sp>
        <p:nvSpPr>
          <p:cNvPr id="149" name="Text 115"/>
          <p:cNvSpPr/>
          <p:nvPr/>
        </p:nvSpPr>
        <p:spPr>
          <a:xfrm>
            <a:off x="1020020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225件</a:t>
            </a:r>
            <a:endParaRPr lang="en-US" sz="900" dirty="0"/>
          </a:p>
        </p:txBody>
      </p:sp>
      <p:sp>
        <p:nvSpPr>
          <p:cNvPr id="150" name="Text 122"/>
          <p:cNvSpPr/>
          <p:nvPr/>
        </p:nvSpPr>
        <p:spPr>
          <a:xfrm>
            <a:off x="1020020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72.8</a:t>
            </a:r>
            <a:endParaRPr lang="en-US" sz="900" dirty="0"/>
          </a:p>
        </p:txBody>
      </p:sp>
      <p:sp>
        <p:nvSpPr>
          <p:cNvPr id="151" name="Text 128"/>
          <p:cNvSpPr/>
          <p:nvPr/>
        </p:nvSpPr>
        <p:spPr>
          <a:xfrm>
            <a:off x="1020020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163件</a:t>
            </a:r>
            <a:endParaRPr lang="en-US" sz="900" dirty="0"/>
          </a:p>
        </p:txBody>
      </p:sp>
      <p:sp>
        <p:nvSpPr>
          <p:cNvPr id="152" name="Text 90"/>
          <p:cNvSpPr/>
          <p:nvPr/>
        </p:nvSpPr>
        <p:spPr>
          <a:xfrm>
            <a:off x="1076720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26-Jun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53" name="Text 96"/>
          <p:cNvSpPr/>
          <p:nvPr/>
        </p:nvSpPr>
        <p:spPr>
          <a:xfrm>
            <a:off x="1076720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84.3</a:t>
            </a:r>
            <a:endParaRPr lang="en-US" sz="900" dirty="0"/>
          </a:p>
        </p:txBody>
      </p:sp>
      <p:sp>
        <p:nvSpPr>
          <p:cNvPr id="154" name="Text 102"/>
          <p:cNvSpPr/>
          <p:nvPr/>
        </p:nvSpPr>
        <p:spPr>
          <a:xfrm>
            <a:off x="1076720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231件</a:t>
            </a:r>
            <a:endParaRPr lang="en-US" sz="900" dirty="0"/>
          </a:p>
        </p:txBody>
      </p:sp>
      <p:sp>
        <p:nvSpPr>
          <p:cNvPr id="155" name="Text 109"/>
          <p:cNvSpPr/>
          <p:nvPr/>
        </p:nvSpPr>
        <p:spPr>
          <a:xfrm>
            <a:off x="1076720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85.7</a:t>
            </a:r>
            <a:endParaRPr lang="en-US" sz="900" dirty="0"/>
          </a:p>
        </p:txBody>
      </p:sp>
      <p:sp>
        <p:nvSpPr>
          <p:cNvPr id="156" name="Text 115"/>
          <p:cNvSpPr/>
          <p:nvPr/>
        </p:nvSpPr>
        <p:spPr>
          <a:xfrm>
            <a:off x="1076720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239件</a:t>
            </a:r>
            <a:endParaRPr lang="en-US" sz="900" dirty="0"/>
          </a:p>
        </p:txBody>
      </p:sp>
      <p:sp>
        <p:nvSpPr>
          <p:cNvPr id="157" name="Text 122"/>
          <p:cNvSpPr/>
          <p:nvPr/>
        </p:nvSpPr>
        <p:spPr>
          <a:xfrm>
            <a:off x="1076720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62.2</a:t>
            </a:r>
            <a:endParaRPr lang="en-US" sz="900" dirty="0"/>
          </a:p>
        </p:txBody>
      </p:sp>
      <p:sp>
        <p:nvSpPr>
          <p:cNvPr id="158" name="Text 128"/>
          <p:cNvSpPr/>
          <p:nvPr/>
        </p:nvSpPr>
        <p:spPr>
          <a:xfrm>
            <a:off x="1076720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172件</a:t>
            </a:r>
            <a:endParaRPr lang="en-US" sz="900" dirty="0"/>
          </a:p>
        </p:txBody>
      </p:sp>
      <p:sp>
        <p:nvSpPr>
          <p:cNvPr id="159" name="Text 90"/>
          <p:cNvSpPr/>
          <p:nvPr/>
        </p:nvSpPr>
        <p:spPr>
          <a:xfrm>
            <a:off x="11334204" y="3995928"/>
            <a:ext cx="566928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26-Jul</a:t>
            </a:r>
            <a:endParaRPr lang="zh-CN" altLang="en-US" sz="75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0" name="Text 96"/>
          <p:cNvSpPr/>
          <p:nvPr/>
        </p:nvSpPr>
        <p:spPr>
          <a:xfrm>
            <a:off x="11334204" y="425196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29.6</a:t>
            </a:r>
            <a:endParaRPr lang="en-US" sz="900" dirty="0"/>
          </a:p>
        </p:txBody>
      </p:sp>
      <p:sp>
        <p:nvSpPr>
          <p:cNvPr id="161" name="Text 102"/>
          <p:cNvSpPr/>
          <p:nvPr/>
        </p:nvSpPr>
        <p:spPr>
          <a:xfrm>
            <a:off x="11334204" y="4507992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71件</a:t>
            </a:r>
            <a:endParaRPr lang="en-US" sz="900" dirty="0"/>
          </a:p>
        </p:txBody>
      </p:sp>
      <p:sp>
        <p:nvSpPr>
          <p:cNvPr id="162" name="Text 109"/>
          <p:cNvSpPr/>
          <p:nvPr/>
        </p:nvSpPr>
        <p:spPr>
          <a:xfrm>
            <a:off x="11334204" y="481888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17.2</a:t>
            </a:r>
            <a:endParaRPr lang="en-US" sz="900" dirty="0"/>
          </a:p>
        </p:txBody>
      </p:sp>
      <p:sp>
        <p:nvSpPr>
          <p:cNvPr id="163" name="Text 115"/>
          <p:cNvSpPr/>
          <p:nvPr/>
        </p:nvSpPr>
        <p:spPr>
          <a:xfrm>
            <a:off x="11334204" y="507492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51件</a:t>
            </a:r>
            <a:endParaRPr lang="en-US" sz="900" dirty="0"/>
          </a:p>
        </p:txBody>
      </p:sp>
      <p:sp>
        <p:nvSpPr>
          <p:cNvPr id="164" name="Text 122"/>
          <p:cNvSpPr/>
          <p:nvPr/>
        </p:nvSpPr>
        <p:spPr>
          <a:xfrm>
            <a:off x="11334204" y="5385816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24.3</a:t>
            </a:r>
            <a:endParaRPr lang="en-US" sz="900" dirty="0"/>
          </a:p>
        </p:txBody>
      </p:sp>
      <p:sp>
        <p:nvSpPr>
          <p:cNvPr id="165" name="Text 128"/>
          <p:cNvSpPr/>
          <p:nvPr/>
        </p:nvSpPr>
        <p:spPr>
          <a:xfrm>
            <a:off x="11334204" y="5641848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/>
          <p:nvPr/>
        </p:nvSpPr>
        <p:spPr>
          <a:xfrm>
            <a:off x="190500" y="538480"/>
            <a:ext cx="5432425" cy="609981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月度效能深析  |  预约 / 签单 / 批核 三维 YoY 对比 &amp; 2026 达标路径管控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72200" y="548640"/>
            <a:ext cx="5532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6"/>
          <p:cNvSpPr/>
          <p:nvPr/>
        </p:nvSpPr>
        <p:spPr>
          <a:xfrm>
            <a:off x="91440" y="6071616"/>
            <a:ext cx="5532120" cy="621792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60" name="Shape 57"/>
          <p:cNvSpPr/>
          <p:nvPr/>
        </p:nvSpPr>
        <p:spPr>
          <a:xfrm>
            <a:off x="91440" y="6071616"/>
            <a:ext cx="553212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53670" y="6154420"/>
            <a:ext cx="638810" cy="1428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155575" y="6333490"/>
            <a:ext cx="5367020" cy="3524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750" dirty="0"/>
              <a:t>6 月预约 84.4M（环比 +3.0%）、签单 85.7M（-0.5%）前端走强，批核 62.2M（-14.6%）回落；累计达成率升至 53.6%（较上期 +1.9pct），后端放款仍是瓶颈。</a:t>
            </a:r>
            <a:endParaRPr lang="zh-CN" alt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5760720" y="538480"/>
            <a:ext cx="6305550" cy="61448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4" name="Shape 61"/>
          <p:cNvSpPr/>
          <p:nvPr/>
        </p:nvSpPr>
        <p:spPr>
          <a:xfrm>
            <a:off x="5760720" y="548640"/>
            <a:ext cx="6291072" cy="274320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852160" y="585216"/>
            <a:ext cx="61264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 2026 年批核 APE 月度走势与目标达标路径管控</a:t>
            </a:r>
            <a:endParaRPr lang="en-US" sz="850" dirty="0"/>
          </a:p>
        </p:txBody>
      </p:sp>
      <p:graphicFrame>
        <p:nvGraphicFramePr>
          <p:cNvPr id="66" name="Chart 1"/>
          <p:cNvGraphicFramePr/>
          <p:nvPr/>
        </p:nvGraphicFramePr>
        <p:xfrm>
          <a:off x="5897880" y="868680"/>
          <a:ext cx="6062345" cy="377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7" name="Shape 63"/>
          <p:cNvSpPr/>
          <p:nvPr/>
        </p:nvSpPr>
        <p:spPr>
          <a:xfrm>
            <a:off x="9592430" y="1137285"/>
            <a:ext cx="2473840" cy="3203575"/>
          </a:xfrm>
          <a:prstGeom prst="rect">
            <a:avLst/>
          </a:prstGeom>
          <a:solidFill>
            <a:srgbClr val="D6E8FF">
              <a:alpha val="60000"/>
            </a:srgbClr>
          </a:solidFill>
          <a:ln w="10160">
            <a:solidFill>
              <a:srgbClr val="9BBDE8"/>
            </a:solidFill>
            <a:prstDash val="dash"/>
          </a:ln>
        </p:spPr>
        <p:txBody>
          <a:bodyPr/>
          <a:p>
            <a:endParaRPr lang="zh-CN" altLang="en-US"/>
          </a:p>
        </p:txBody>
      </p:sp>
      <p:sp>
        <p:nvSpPr>
          <p:cNvPr id="68" name="Text 64"/>
          <p:cNvSpPr/>
          <p:nvPr/>
        </p:nvSpPr>
        <p:spPr>
          <a:xfrm>
            <a:off x="9592430" y="1197610"/>
            <a:ext cx="2184460" cy="2432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A7F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预测区间（5–12 月）→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5925185" y="3042285"/>
            <a:ext cx="6035040" cy="635"/>
          </a:xfrm>
          <a:prstGeom prst="line">
            <a:avLst/>
          </a:prstGeom>
          <a:noFill/>
          <a:ln w="12700">
            <a:solidFill>
              <a:srgbClr val="C8890A"/>
            </a:solidFill>
            <a:prstDash val="sysDot"/>
          </a:ln>
        </p:spPr>
        <p:txBody>
          <a:bodyPr/>
          <a:p/>
        </p:txBody>
      </p:sp>
      <p:sp>
        <p:nvSpPr>
          <p:cNvPr id="70" name="Text 66"/>
          <p:cNvSpPr/>
          <p:nvPr/>
        </p:nvSpPr>
        <p:spPr>
          <a:xfrm>
            <a:off x="8313420" y="1616862"/>
            <a:ext cx="301752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达标节奏线  86.0M/月（剩余 516M ÷ 6mo）</a:t>
            </a:r>
            <a:endParaRPr lang="en-US" sz="85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Shape 67"/>
          <p:cNvSpPr/>
          <p:nvPr/>
        </p:nvSpPr>
        <p:spPr>
          <a:xfrm>
            <a:off x="5925185" y="3263900"/>
            <a:ext cx="6035040" cy="635"/>
          </a:xfrm>
          <a:prstGeom prst="line">
            <a:avLst/>
          </a:prstGeom>
          <a:noFill/>
          <a:ln w="12700">
            <a:solidFill>
              <a:srgbClr val="C0392B"/>
            </a:solidFill>
            <a:prstDash val="sysDot"/>
          </a:ln>
        </p:spPr>
        <p:txBody>
          <a:bodyPr/>
          <a:p/>
        </p:txBody>
      </p:sp>
      <p:sp>
        <p:nvSpPr>
          <p:cNvPr id="72" name="Text 68"/>
          <p:cNvSpPr/>
          <p:nvPr/>
        </p:nvSpPr>
        <p:spPr>
          <a:xfrm>
            <a:off x="8787130" y="3264535"/>
            <a:ext cx="1599565" cy="261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  69.5M</a:t>
            </a:r>
            <a:endParaRPr lang="en-US" sz="85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3" name="Shape 69"/>
          <p:cNvSpPr/>
          <p:nvPr/>
        </p:nvSpPr>
        <p:spPr>
          <a:xfrm>
            <a:off x="5897880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4" name="Shape 70"/>
          <p:cNvSpPr/>
          <p:nvPr/>
        </p:nvSpPr>
        <p:spPr>
          <a:xfrm>
            <a:off x="5897880" y="5127879"/>
            <a:ext cx="1444752" cy="45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5" name="Text 71"/>
          <p:cNvSpPr/>
          <p:nvPr/>
        </p:nvSpPr>
        <p:spPr>
          <a:xfrm>
            <a:off x="5989320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596.7M</a:t>
            </a:r>
            <a:endParaRPr lang="en-US" sz="2000" dirty="0"/>
          </a:p>
        </p:txBody>
      </p:sp>
      <p:sp>
        <p:nvSpPr>
          <p:cNvPr id="76" name="Text 72"/>
          <p:cNvSpPr/>
          <p:nvPr/>
        </p:nvSpPr>
        <p:spPr>
          <a:xfrm>
            <a:off x="5989320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1–6 月已批核</a:t>
            </a:r>
            <a:endParaRPr lang="en-US" sz="800" dirty="0"/>
          </a:p>
        </p:txBody>
      </p:sp>
      <p:sp>
        <p:nvSpPr>
          <p:cNvPr id="77" name="Text 73"/>
          <p:cNvSpPr/>
          <p:nvPr/>
        </p:nvSpPr>
        <p:spPr>
          <a:xfrm>
            <a:off x="5989320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53.6% 达成率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78" name="Shape 74"/>
          <p:cNvSpPr/>
          <p:nvPr/>
        </p:nvSpPr>
        <p:spPr>
          <a:xfrm>
            <a:off x="7434072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9" name="Shape 75"/>
          <p:cNvSpPr/>
          <p:nvPr/>
        </p:nvSpPr>
        <p:spPr>
          <a:xfrm>
            <a:off x="7434072" y="5127879"/>
            <a:ext cx="1444752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0" name="Text 76"/>
          <p:cNvSpPr/>
          <p:nvPr/>
        </p:nvSpPr>
        <p:spPr>
          <a:xfrm>
            <a:off x="7525512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516M</a:t>
            </a:r>
            <a:endParaRPr lang="en-US" sz="2000" dirty="0"/>
          </a:p>
        </p:txBody>
      </p:sp>
      <p:sp>
        <p:nvSpPr>
          <p:cNvPr id="81" name="Text 77"/>
          <p:cNvSpPr/>
          <p:nvPr/>
        </p:nvSpPr>
        <p:spPr>
          <a:xfrm>
            <a:off x="7525512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剩余目标缺口</a:t>
            </a:r>
            <a:endParaRPr lang="en-US" sz="800" dirty="0"/>
          </a:p>
        </p:txBody>
      </p:sp>
      <p:sp>
        <p:nvSpPr>
          <p:cNvPr id="82" name="Text 78"/>
          <p:cNvSpPr/>
          <p:nvPr/>
        </p:nvSpPr>
        <p:spPr>
          <a:xfrm>
            <a:off x="7525512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46.4% 目标剩余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83" name="Shape 79"/>
          <p:cNvSpPr/>
          <p:nvPr/>
        </p:nvSpPr>
        <p:spPr>
          <a:xfrm>
            <a:off x="8970264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4" name="Shape 80"/>
          <p:cNvSpPr/>
          <p:nvPr/>
        </p:nvSpPr>
        <p:spPr>
          <a:xfrm>
            <a:off x="8970264" y="5127879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85" name="Text 81"/>
          <p:cNvSpPr/>
          <p:nvPr/>
        </p:nvSpPr>
        <p:spPr>
          <a:xfrm>
            <a:off x="9061704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86.0M</a:t>
            </a:r>
            <a:endParaRPr lang="en-US" sz="2000" dirty="0"/>
          </a:p>
        </p:txBody>
      </p:sp>
      <p:sp>
        <p:nvSpPr>
          <p:cNvPr id="86" name="Text 82"/>
          <p:cNvSpPr/>
          <p:nvPr/>
        </p:nvSpPr>
        <p:spPr>
          <a:xfrm>
            <a:off x="9061704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月均需达成</a:t>
            </a:r>
            <a:endParaRPr lang="en-US" sz="800" dirty="0"/>
          </a:p>
        </p:txBody>
      </p:sp>
      <p:sp>
        <p:nvSpPr>
          <p:cNvPr id="87" name="Text 83"/>
          <p:cNvSpPr/>
          <p:nvPr/>
        </p:nvSpPr>
        <p:spPr>
          <a:xfrm>
            <a:off x="9061704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剩余缺口÷剩余月份</a:t>
            </a:r>
            <a:endParaRPr lang="en-US" sz="700" dirty="0"/>
          </a:p>
        </p:txBody>
      </p:sp>
      <p:sp>
        <p:nvSpPr>
          <p:cNvPr id="88" name="Shape 84"/>
          <p:cNvSpPr/>
          <p:nvPr/>
        </p:nvSpPr>
        <p:spPr>
          <a:xfrm>
            <a:off x="10506456" y="5127879"/>
            <a:ext cx="1444752" cy="7315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89" name="Shape 85"/>
          <p:cNvSpPr/>
          <p:nvPr/>
        </p:nvSpPr>
        <p:spPr>
          <a:xfrm>
            <a:off x="10506456" y="5127879"/>
            <a:ext cx="1444752" cy="457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p/>
        </p:txBody>
      </p:sp>
      <p:sp>
        <p:nvSpPr>
          <p:cNvPr id="90" name="Text 86"/>
          <p:cNvSpPr/>
          <p:nvPr/>
        </p:nvSpPr>
        <p:spPr>
          <a:xfrm>
            <a:off x="10597896" y="5201031"/>
            <a:ext cx="12618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451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69.5M</a:t>
            </a:r>
            <a:endParaRPr lang="en-US" sz="2000" dirty="0"/>
          </a:p>
        </p:txBody>
      </p:sp>
      <p:sp>
        <p:nvSpPr>
          <p:cNvPr id="91" name="Text 87"/>
          <p:cNvSpPr/>
          <p:nvPr/>
        </p:nvSpPr>
        <p:spPr>
          <a:xfrm>
            <a:off x="10597896" y="5530215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最低月底线</a:t>
            </a:r>
            <a:endParaRPr lang="en-US" sz="800" dirty="0"/>
          </a:p>
        </p:txBody>
      </p:sp>
      <p:sp>
        <p:nvSpPr>
          <p:cNvPr id="92" name="Text 88"/>
          <p:cNvSpPr/>
          <p:nvPr/>
        </p:nvSpPr>
        <p:spPr>
          <a:xfrm>
            <a:off x="10597896" y="5676519"/>
            <a:ext cx="12618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0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最低月度目标</a:t>
            </a:r>
            <a:endParaRPr lang="zh-CN" altLang="en-US" sz="700" dirty="0">
              <a:solidFill>
                <a:srgbClr val="6B7280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93" name="Shape 89"/>
          <p:cNvSpPr/>
          <p:nvPr/>
        </p:nvSpPr>
        <p:spPr>
          <a:xfrm>
            <a:off x="5760720" y="6066155"/>
            <a:ext cx="6290945" cy="626745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94" name="Shape 90"/>
          <p:cNvSpPr/>
          <p:nvPr/>
        </p:nvSpPr>
        <p:spPr>
          <a:xfrm>
            <a:off x="5760720" y="6065139"/>
            <a:ext cx="6291072" cy="27432"/>
          </a:xfrm>
          <a:prstGeom prst="rect">
            <a:avLst/>
          </a:prstGeom>
          <a:solidFill>
            <a:srgbClr val="154360"/>
          </a:solidFill>
          <a:ln w="12700">
            <a:solidFill>
              <a:srgbClr val="154360"/>
            </a:solidFill>
            <a:prstDash val="solid"/>
          </a:ln>
        </p:spPr>
        <p:txBody>
          <a:bodyPr/>
          <a:p/>
        </p:txBody>
      </p:sp>
      <p:sp>
        <p:nvSpPr>
          <p:cNvPr id="95" name="Text 91"/>
          <p:cNvSpPr/>
          <p:nvPr/>
        </p:nvSpPr>
        <p:spPr>
          <a:xfrm>
            <a:off x="5870575" y="6109970"/>
            <a:ext cx="514985" cy="1689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43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800" dirty="0"/>
          </a:p>
        </p:txBody>
      </p:sp>
      <p:sp>
        <p:nvSpPr>
          <p:cNvPr id="96" name="Text 92"/>
          <p:cNvSpPr/>
          <p:nvPr/>
        </p:nvSpPr>
        <p:spPr>
          <a:xfrm>
            <a:off x="5852160" y="6255385"/>
            <a:ext cx="6160135" cy="430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截至 W27，已批核 596.7M（达成率 53.6%），距全年目标 1113M 还差 516M，需月均 86.0M、最低月底线 69.5M。批核节奏放缓，达标压力集中下半年。</a:t>
            </a:r>
            <a:endParaRPr lang="en-US" sz="750" dirty="0"/>
          </a:p>
        </p:txBody>
      </p:sp>
      <p:sp>
        <p:nvSpPr>
          <p:cNvPr id="98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97" name="Label_YY"/>
          <p:cNvSpPr/>
          <p:nvPr/>
        </p:nvSpPr>
        <p:spPr>
          <a:xfrm>
            <a:off x="190500" y="556895"/>
            <a:ext cx="5421630" cy="26543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预约 Appointment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99" name="Chart_YY"/>
          <p:cNvGraphicFramePr/>
          <p:nvPr/>
        </p:nvGraphicFramePr>
        <p:xfrm>
          <a:off x="198755" y="828675"/>
          <a:ext cx="4764405" cy="1328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0" name="Ann_YY"/>
          <p:cNvSpPr/>
          <p:nvPr/>
        </p:nvSpPr>
        <p:spPr>
          <a:xfrm>
            <a:off x="3629126" y="1013517"/>
            <a:ext cx="1334033" cy="2641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-65.0%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01" name="图片 100" descr="中括号右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04845" y="1517650"/>
            <a:ext cx="235585" cy="293370"/>
          </a:xfrm>
          <a:prstGeom prst="rect">
            <a:avLst/>
          </a:prstGeom>
        </p:spPr>
      </p:pic>
      <p:sp>
        <p:nvSpPr>
          <p:cNvPr id="102" name="Ann_YY"/>
          <p:cNvSpPr/>
          <p:nvPr/>
        </p:nvSpPr>
        <p:spPr>
          <a:xfrm>
            <a:off x="3629126" y="1818544"/>
            <a:ext cx="1334033" cy="2292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04" name="Label_QD"/>
          <p:cNvSpPr/>
          <p:nvPr/>
        </p:nvSpPr>
        <p:spPr>
          <a:xfrm>
            <a:off x="190500" y="2213763"/>
            <a:ext cx="5432425" cy="294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 </a:t>
            </a:r>
            <a:r>
              <a:rPr 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 Signed  |  APE(M)  件数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aphicFrame>
        <p:nvGraphicFramePr>
          <p:cNvPr id="105" name="Chart_QD"/>
          <p:cNvGraphicFramePr/>
          <p:nvPr/>
        </p:nvGraphicFramePr>
        <p:xfrm>
          <a:off x="190500" y="2666365"/>
          <a:ext cx="4747895" cy="1452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6" name="Ann_QD"/>
          <p:cNvSpPr/>
          <p:nvPr/>
        </p:nvSpPr>
        <p:spPr>
          <a:xfrm>
            <a:off x="3608984" y="2879313"/>
            <a:ext cx="1329410" cy="2673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-79.9%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08" name="Ann_QD"/>
          <p:cNvSpPr/>
          <p:nvPr/>
        </p:nvSpPr>
        <p:spPr>
          <a:xfrm>
            <a:off x="3608984" y="303888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-0.5%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11" name="图片 110" descr="中括号右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421380" y="3525520"/>
            <a:ext cx="224155" cy="200025"/>
          </a:xfrm>
          <a:prstGeom prst="rect">
            <a:avLst/>
          </a:prstGeom>
        </p:spPr>
      </p:pic>
      <p:pic>
        <p:nvPicPr>
          <p:cNvPr id="112" name="图片 111" descr="中括号右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08475" y="2931795"/>
            <a:ext cx="226060" cy="284480"/>
          </a:xfrm>
          <a:prstGeom prst="rect">
            <a:avLst/>
          </a:prstGeom>
        </p:spPr>
      </p:pic>
      <p:sp>
        <p:nvSpPr>
          <p:cNvPr id="113" name="Label_PH"/>
          <p:cNvSpPr/>
          <p:nvPr/>
        </p:nvSpPr>
        <p:spPr>
          <a:xfrm>
            <a:off x="190500" y="4175913"/>
            <a:ext cx="5432425" cy="2667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E </a:t>
            </a:r>
            <a:r>
              <a:rPr lang="zh-CN" sz="900" b="1" dirty="0">
                <a:solidFill>
                  <a:srgbClr val="FFFFFF"/>
                </a:solidFill>
                <a:ea typeface="Calibri" panose="020F0502020204030204" pitchFamily="34" charset="-122"/>
                <a:cs typeface="+mn-lt"/>
              </a:rPr>
              <a:t>批核 Approved  |  APE(M)  件数</a:t>
            </a:r>
            <a:endParaRPr lang="zh-CN" sz="900" b="1" dirty="0">
              <a:solidFill>
                <a:srgbClr val="FFFFFF"/>
              </a:solidFill>
              <a:ea typeface="Calibri" panose="020F0502020204030204" pitchFamily="34" charset="-122"/>
              <a:cs typeface="+mn-lt"/>
            </a:endParaRPr>
          </a:p>
        </p:txBody>
      </p:sp>
      <p:graphicFrame>
        <p:nvGraphicFramePr>
          <p:cNvPr id="114" name="Chart_PH"/>
          <p:cNvGraphicFramePr/>
          <p:nvPr/>
        </p:nvGraphicFramePr>
        <p:xfrm>
          <a:off x="229235" y="4499281"/>
          <a:ext cx="4522470" cy="13468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Ann_PH"/>
          <p:cNvSpPr/>
          <p:nvPr/>
        </p:nvSpPr>
        <p:spPr>
          <a:xfrm>
            <a:off x="3485413" y="4691704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-60.9%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17" name="Ann_PH"/>
          <p:cNvSpPr/>
          <p:nvPr/>
        </p:nvSpPr>
        <p:spPr>
          <a:xfrm>
            <a:off x="3485413" y="5550191"/>
            <a:ext cx="1266291" cy="1397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+23.1%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119" name="图片 118" descr="中括号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86380" y="4711700"/>
            <a:ext cx="229235" cy="265430"/>
          </a:xfrm>
          <a:prstGeom prst="rect">
            <a:avLst/>
          </a:prstGeom>
        </p:spPr>
      </p:pic>
      <p:pic>
        <p:nvPicPr>
          <p:cNvPr id="120" name="图片 119" descr="中括号右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6390" y="5232400"/>
            <a:ext cx="229235" cy="210820"/>
          </a:xfrm>
          <a:prstGeom prst="rect">
            <a:avLst/>
          </a:prstGeom>
        </p:spPr>
      </p:pic>
      <p:pic>
        <p:nvPicPr>
          <p:cNvPr id="121" name="图片 120" descr="中括号右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84345" y="1062990"/>
            <a:ext cx="235585" cy="281305"/>
          </a:xfrm>
          <a:prstGeom prst="rect">
            <a:avLst/>
          </a:prstGeom>
        </p:spPr>
      </p:pic>
      <p:sp>
        <p:nvSpPr>
          <p:cNvPr id="6" name="Ann_YY"/>
          <p:cNvSpPr/>
          <p:nvPr/>
        </p:nvSpPr>
        <p:spPr>
          <a:xfrm>
            <a:off x="3629126" y="1177380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+3.0%</a:t>
            </a:r>
            <a:endParaRPr lang="zh-CN" sz="1000" dirty="0">
              <a:solidFill>
                <a:srgbClr val="1A7A3F"/>
              </a:solidFill>
            </a:endParaRPr>
          </a:p>
        </p:txBody>
      </p:sp>
      <p:pic>
        <p:nvPicPr>
          <p:cNvPr id="7" name="图片 6" descr="中括号右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7045" y="1350010"/>
            <a:ext cx="235585" cy="276225"/>
          </a:xfrm>
          <a:prstGeom prst="rect">
            <a:avLst/>
          </a:prstGeom>
        </p:spPr>
      </p:pic>
      <p:pic>
        <p:nvPicPr>
          <p:cNvPr id="8" name="图片 7" descr="中括号右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1650" y="3249295"/>
            <a:ext cx="226060" cy="264160"/>
          </a:xfrm>
          <a:prstGeom prst="rect">
            <a:avLst/>
          </a:prstGeom>
        </p:spPr>
      </p:pic>
      <p:sp>
        <p:nvSpPr>
          <p:cNvPr id="10" name="Ann_QD"/>
          <p:cNvSpPr/>
          <p:nvPr/>
        </p:nvSpPr>
        <p:spPr>
          <a:xfrm>
            <a:off x="3608984" y="321115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+38.7%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1" name="Ann_PH"/>
          <p:cNvSpPr/>
          <p:nvPr/>
        </p:nvSpPr>
        <p:spPr>
          <a:xfrm>
            <a:off x="3485413" y="4851400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-14.6%</a:t>
            </a:r>
            <a:endParaRPr lang="zh-CN" sz="1000" dirty="0">
              <a:solidFill>
                <a:srgbClr val="C0392B"/>
              </a:solidFill>
            </a:endParaRPr>
          </a:p>
        </p:txBody>
      </p:sp>
      <p:pic>
        <p:nvPicPr>
          <p:cNvPr id="12" name="图片 11" descr="中括号右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136390" y="4935855"/>
            <a:ext cx="229235" cy="265430"/>
          </a:xfrm>
          <a:prstGeom prst="rect">
            <a:avLst/>
          </a:prstGeom>
        </p:spPr>
      </p:pic>
      <p:sp>
        <p:nvSpPr>
          <p:cNvPr id="122" name="Ann_YY"/>
          <p:cNvSpPr/>
          <p:nvPr/>
        </p:nvSpPr>
        <p:spPr>
          <a:xfrm>
            <a:off x="3629126" y="1334893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+21.5%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3" name="Ann_YY"/>
          <p:cNvSpPr/>
          <p:nvPr/>
        </p:nvSpPr>
        <p:spPr>
          <a:xfrm>
            <a:off x="3629126" y="1492405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-17.3%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4" name="Ann_YY"/>
          <p:cNvSpPr/>
          <p:nvPr/>
        </p:nvSpPr>
        <p:spPr>
          <a:xfrm>
            <a:off x="3629126" y="1649918"/>
            <a:ext cx="1334033" cy="25146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+44.5%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5" name="Ann_QD"/>
          <p:cNvSpPr/>
          <p:nvPr/>
        </p:nvSpPr>
        <p:spPr>
          <a:xfrm>
            <a:off x="3608984" y="338342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-24.4%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6" name="Ann_QD"/>
          <p:cNvSpPr/>
          <p:nvPr/>
        </p:nvSpPr>
        <p:spPr>
          <a:xfrm>
            <a:off x="3608984" y="355569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+34.4%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7" name="Ann_QD"/>
          <p:cNvSpPr/>
          <p:nvPr/>
        </p:nvSpPr>
        <p:spPr>
          <a:xfrm>
            <a:off x="3608984" y="3727963"/>
            <a:ext cx="1329410" cy="2927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+27.6%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28" name="Ann_PH"/>
          <p:cNvSpPr/>
          <p:nvPr/>
        </p:nvSpPr>
        <p:spPr>
          <a:xfrm>
            <a:off x="3485413" y="5011096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-20.1%</a:t>
            </a:r>
            <a:endParaRPr lang="zh-CN" sz="1000" dirty="0">
              <a:solidFill>
                <a:srgbClr val="C0392B"/>
              </a:solidFill>
            </a:endParaRPr>
          </a:p>
        </p:txBody>
      </p:sp>
      <p:sp>
        <p:nvSpPr>
          <p:cNvPr id="129" name="Ann_PH"/>
          <p:cNvSpPr/>
          <p:nvPr/>
        </p:nvSpPr>
        <p:spPr>
          <a:xfrm>
            <a:off x="3485413" y="5170792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1A7A3F"/>
                </a:solidFill>
              </a:rPr>
              <a:t>▲ 环比 +6.3%</a:t>
            </a:r>
            <a:endParaRPr lang="zh-CN" sz="1000" dirty="0">
              <a:solidFill>
                <a:srgbClr val="1A7A3F"/>
              </a:solidFill>
            </a:endParaRPr>
          </a:p>
        </p:txBody>
      </p:sp>
      <p:sp>
        <p:nvSpPr>
          <p:cNvPr id="130" name="Ann_PH"/>
          <p:cNvSpPr/>
          <p:nvPr/>
        </p:nvSpPr>
        <p:spPr>
          <a:xfrm>
            <a:off x="3485413" y="5330488"/>
            <a:ext cx="1266291" cy="2597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sz="1000" dirty="0">
                <a:solidFill>
                  <a:srgbClr val="C0392B"/>
                </a:solidFill>
              </a:rPr>
              <a:t>▼ 环比 -40.3%</a:t>
            </a:r>
            <a:endParaRPr lang="zh-CN" sz="1000" dirty="0">
              <a:solidFill>
                <a:srgbClr val="C0392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64592" y="64008"/>
            <a:ext cx="9875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永明业绩汇报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| Sun Life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41280" y="109728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21585" y="501015"/>
            <a:ext cx="2071370" cy="675005"/>
          </a:xfrm>
          <a:prstGeom prst="rect">
            <a:avLst/>
          </a:prstGeom>
          <a:solidFill>
            <a:srgbClr val="FFFFFF"/>
          </a:solidFill>
          <a:ln w="1524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21585" y="501015"/>
            <a:ext cx="2071370" cy="76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31440" y="574040"/>
            <a:ext cx="1954530" cy="162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永明批核APE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631440" y="700405"/>
            <a:ext cx="1954530" cy="3422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504.3M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631440" y="1027430"/>
            <a:ext cx="1173480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987件  |  达成率51.7%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44780" y="508635"/>
            <a:ext cx="2187575" cy="678815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4780" y="508635"/>
            <a:ext cx="218757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4635" y="581660"/>
            <a:ext cx="2063750" cy="165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永明年度达成率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4635" y="698500"/>
            <a:ext cx="206375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51.7%</a:t>
            </a:r>
            <a:endParaRPr lang="en-US" sz="24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4635" y="1030605"/>
            <a:ext cx="1320800" cy="160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目标976M  |  缺口472M</a:t>
            </a:r>
            <a:r>
              <a:rPr lang="en-US" sz="7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/>
            </a: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/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818380" y="510540"/>
            <a:ext cx="2206625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818380" y="510540"/>
            <a:ext cx="2206625" cy="762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28235" y="583565"/>
            <a:ext cx="2082165" cy="15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永明未批核APE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28235" y="709930"/>
            <a:ext cx="2082165" cy="3321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75.8M</a:t>
            </a:r>
            <a:endParaRPr lang="en-US" sz="2400" b="1" dirty="0">
              <a:solidFill>
                <a:srgbClr val="C8890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28235" y="1085850"/>
            <a:ext cx="185547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未批核165件|  件均45.9万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252970" y="51054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252970" y="510540"/>
            <a:ext cx="2232660" cy="76200"/>
          </a:xfrm>
          <a:prstGeom prst="rect">
            <a:avLst/>
          </a:prstGeom>
          <a:solidFill>
            <a:srgbClr val="B7950B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62825" y="58356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永明待签APE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62825" y="70993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795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8.7M</a:t>
            </a:r>
            <a:endParaRPr lang="en-US" sz="2400" b="1" dirty="0">
              <a:solidFill>
                <a:srgbClr val="B7950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62825" y="103187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待签22件  |  件均39.5万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7640" y="3905250"/>
            <a:ext cx="5803265" cy="28168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67640" y="3898265"/>
            <a:ext cx="5803265" cy="226695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59080" y="3932555"/>
            <a:ext cx="2362200" cy="1739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永明月度预约/签单/批核 APE 趋势</a:t>
            </a:r>
            <a:endParaRPr lang="en-US" sz="7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40030" y="4187825"/>
          <a:ext cx="5572125" cy="2087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167640" y="6337935"/>
            <a:ext cx="5803265" cy="367665"/>
          </a:xfrm>
          <a:prstGeom prst="rect">
            <a:avLst/>
          </a:prstGeom>
          <a:solidFill>
            <a:srgbClr val="EEF2FF"/>
          </a:solidFill>
          <a:ln w="508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67640" y="6308090"/>
            <a:ext cx="5803265" cy="28800"/>
          </a:xfrm>
          <a:prstGeom prst="rect">
            <a:avLst/>
          </a:prstGeom>
          <a:solidFill>
            <a:srgbClr val="1A7A3F"/>
          </a:solidFill>
          <a:ln w="3175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250190" y="6374765"/>
            <a:ext cx="635635" cy="1193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6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456" y="6502273"/>
            <a:ext cx="515721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永明累计批核 504.3M、达成率 51.7%（较上期 +1.9pct）,缺口 472M。TOP10 产品签单 130.2M/160 件,卓金保险计划II 以 27.6M/46 件领跑(件均59.9万)。大单储蓄险为基本盘,需保头部供给。</a:t>
            </a:r>
            <a:endParaRPr lang="en-US" sz="550" dirty="0"/>
          </a:p>
        </p:txBody>
      </p:sp>
      <p:sp>
        <p:nvSpPr>
          <p:cNvPr id="34" name="Shape 31"/>
          <p:cNvSpPr/>
          <p:nvPr/>
        </p:nvSpPr>
        <p:spPr>
          <a:xfrm>
            <a:off x="144780" y="1240790"/>
            <a:ext cx="11828145" cy="252476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35" name="Shape 32"/>
          <p:cNvSpPr/>
          <p:nvPr/>
        </p:nvSpPr>
        <p:spPr>
          <a:xfrm>
            <a:off x="144780" y="1278890"/>
            <a:ext cx="11828145" cy="2413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236220" y="1306830"/>
            <a:ext cx="11683365" cy="194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G.  永明业绩汇报数据-2026  |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6243320" y="3890645"/>
            <a:ext cx="5667375" cy="2838450"/>
          </a:xfrm>
          <a:prstGeom prst="rect">
            <a:avLst/>
          </a:prstGeom>
          <a:solidFill>
            <a:srgbClr val="FFFFFF"/>
          </a:solidFill>
          <a:ln w="7620">
            <a:solidFill>
              <a:srgbClr val="D0D8E8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9" name="Shape 96"/>
          <p:cNvSpPr/>
          <p:nvPr/>
        </p:nvSpPr>
        <p:spPr>
          <a:xfrm>
            <a:off x="6244590" y="3896995"/>
            <a:ext cx="5674360" cy="20828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0" name="Text 97"/>
          <p:cNvSpPr/>
          <p:nvPr/>
        </p:nvSpPr>
        <p:spPr>
          <a:xfrm>
            <a:off x="6386195" y="3903980"/>
            <a:ext cx="1629410" cy="191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 永明 2026年签单产品排名  </a:t>
            </a:r>
            <a:endParaRPr lang="en-US" sz="750" dirty="0"/>
          </a:p>
        </p:txBody>
      </p:sp>
      <p:sp>
        <p:nvSpPr>
          <p:cNvPr id="101" name="Shape 98"/>
          <p:cNvSpPr/>
          <p:nvPr/>
        </p:nvSpPr>
        <p:spPr>
          <a:xfrm>
            <a:off x="6271895" y="4171315"/>
            <a:ext cx="5600065" cy="219710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6496812" y="4208018"/>
            <a:ext cx="21945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650" dirty="0"/>
          </a:p>
        </p:txBody>
      </p:sp>
      <p:sp>
        <p:nvSpPr>
          <p:cNvPr id="103" name="Text 100"/>
          <p:cNvSpPr/>
          <p:nvPr/>
        </p:nvSpPr>
        <p:spPr>
          <a:xfrm>
            <a:off x="6752844" y="4208018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保司</a:t>
            </a:r>
            <a:endParaRPr lang="en-US" sz="650" dirty="0"/>
          </a:p>
        </p:txBody>
      </p:sp>
      <p:sp>
        <p:nvSpPr>
          <p:cNvPr id="104" name="Text 101"/>
          <p:cNvSpPr/>
          <p:nvPr/>
        </p:nvSpPr>
        <p:spPr>
          <a:xfrm>
            <a:off x="7137400" y="4226560"/>
            <a:ext cx="1285875" cy="127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产品名称（签单期）</a:t>
            </a:r>
            <a:endParaRPr lang="en-US" sz="650" dirty="0"/>
          </a:p>
        </p:txBody>
      </p:sp>
      <p:sp>
        <p:nvSpPr>
          <p:cNvPr id="105" name="Text 102"/>
          <p:cNvSpPr/>
          <p:nvPr/>
        </p:nvSpPr>
        <p:spPr>
          <a:xfrm>
            <a:off x="9606534" y="4217543"/>
            <a:ext cx="62179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签单件数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10264902" y="4217543"/>
            <a:ext cx="8595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总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签单APE(M)</a:t>
            </a:r>
            <a:endParaRPr lang="en-US" sz="650" dirty="0"/>
          </a:p>
        </p:txBody>
      </p:sp>
      <p:sp>
        <p:nvSpPr>
          <p:cNvPr id="107" name="Text 104"/>
          <p:cNvSpPr/>
          <p:nvPr/>
        </p:nvSpPr>
        <p:spPr>
          <a:xfrm>
            <a:off x="11161014" y="4217543"/>
            <a:ext cx="76809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件均(万)</a:t>
            </a:r>
            <a:endParaRPr lang="en-US" sz="650" dirty="0"/>
          </a:p>
        </p:txBody>
      </p:sp>
      <p:sp>
        <p:nvSpPr>
          <p:cNvPr id="108" name="Shape 105"/>
          <p:cNvSpPr/>
          <p:nvPr/>
        </p:nvSpPr>
        <p:spPr>
          <a:xfrm>
            <a:off x="6270625" y="4407535"/>
            <a:ext cx="5601335" cy="201295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09" name="Shape 106"/>
          <p:cNvSpPr/>
          <p:nvPr/>
        </p:nvSpPr>
        <p:spPr>
          <a:xfrm>
            <a:off x="6460236" y="4409186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0" name="Text 107"/>
          <p:cNvSpPr/>
          <p:nvPr/>
        </p:nvSpPr>
        <p:spPr>
          <a:xfrm>
            <a:off x="6515100" y="443661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6771132" y="443661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7228205" y="44354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113" name="Text 110"/>
          <p:cNvSpPr/>
          <p:nvPr/>
        </p:nvSpPr>
        <p:spPr>
          <a:xfrm>
            <a:off x="9624822" y="444614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</a:t>
            </a:r>
            <a:endParaRPr lang="en-US" sz="800" dirty="0"/>
          </a:p>
        </p:txBody>
      </p:sp>
      <p:sp>
        <p:nvSpPr>
          <p:cNvPr id="114" name="Text 111"/>
          <p:cNvSpPr/>
          <p:nvPr/>
        </p:nvSpPr>
        <p:spPr>
          <a:xfrm>
            <a:off x="10283190" y="444614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27.57M</a:t>
            </a:r>
            <a:endParaRPr lang="en-US" sz="800" dirty="0"/>
          </a:p>
        </p:txBody>
      </p:sp>
      <p:sp>
        <p:nvSpPr>
          <p:cNvPr id="115" name="Text 112"/>
          <p:cNvSpPr/>
          <p:nvPr/>
        </p:nvSpPr>
        <p:spPr>
          <a:xfrm>
            <a:off x="11179302" y="444614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59.9万</a:t>
            </a:r>
            <a:endParaRPr lang="en-US" sz="800" dirty="0"/>
          </a:p>
        </p:txBody>
      </p:sp>
      <p:sp>
        <p:nvSpPr>
          <p:cNvPr id="117" name="Shape 114"/>
          <p:cNvSpPr/>
          <p:nvPr/>
        </p:nvSpPr>
        <p:spPr>
          <a:xfrm>
            <a:off x="6270625" y="4608830"/>
            <a:ext cx="5601335" cy="20828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18" name="Shape 115"/>
          <p:cNvSpPr/>
          <p:nvPr/>
        </p:nvSpPr>
        <p:spPr>
          <a:xfrm>
            <a:off x="6460236" y="4617669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19" name="Text 116"/>
          <p:cNvSpPr/>
          <p:nvPr/>
        </p:nvSpPr>
        <p:spPr>
          <a:xfrm>
            <a:off x="6515100" y="464510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6771132" y="464510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228332" y="464510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22" name="Text 119"/>
          <p:cNvSpPr/>
          <p:nvPr/>
        </p:nvSpPr>
        <p:spPr>
          <a:xfrm>
            <a:off x="9624822" y="465462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10283190" y="465462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18.20M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11179302" y="465462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101.1万</a:t>
            </a:r>
            <a:endParaRPr lang="en-US" sz="800" dirty="0"/>
          </a:p>
        </p:txBody>
      </p:sp>
      <p:sp>
        <p:nvSpPr>
          <p:cNvPr id="126" name="Shape 123"/>
          <p:cNvSpPr/>
          <p:nvPr/>
        </p:nvSpPr>
        <p:spPr>
          <a:xfrm>
            <a:off x="6272530" y="4826000"/>
            <a:ext cx="5599430" cy="199390"/>
          </a:xfrm>
          <a:prstGeom prst="rect">
            <a:avLst/>
          </a:prstGeom>
          <a:solidFill>
            <a:srgbClr val="FFF8F5"/>
          </a:solidFill>
          <a:ln w="7620">
            <a:solidFill>
              <a:srgbClr val="D4875A"/>
            </a:solidFill>
            <a:prstDash val="solid"/>
          </a:ln>
        </p:spPr>
        <p:txBody>
          <a:bodyPr/>
          <a:p/>
        </p:txBody>
      </p:sp>
      <p:sp>
        <p:nvSpPr>
          <p:cNvPr id="127" name="Shape 124"/>
          <p:cNvSpPr/>
          <p:nvPr/>
        </p:nvSpPr>
        <p:spPr>
          <a:xfrm>
            <a:off x="6460236" y="4826152"/>
            <a:ext cx="36576" cy="199339"/>
          </a:xfrm>
          <a:prstGeom prst="rect">
            <a:avLst/>
          </a:prstGeom>
          <a:solidFill>
            <a:srgbClr val="6D4C41"/>
          </a:solidFill>
          <a:ln w="1270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6515100" y="48535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9" name="Text 126"/>
          <p:cNvSpPr/>
          <p:nvPr/>
        </p:nvSpPr>
        <p:spPr>
          <a:xfrm>
            <a:off x="6771132" y="48535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0" name="Text 127"/>
          <p:cNvSpPr/>
          <p:nvPr/>
        </p:nvSpPr>
        <p:spPr>
          <a:xfrm>
            <a:off x="7228332" y="4853584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9624822" y="48631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32" name="Text 129"/>
          <p:cNvSpPr/>
          <p:nvPr/>
        </p:nvSpPr>
        <p:spPr>
          <a:xfrm>
            <a:off x="10283190" y="48631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16.77M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11179302" y="48631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129.0万</a:t>
            </a:r>
            <a:endParaRPr lang="en-US" sz="800" dirty="0"/>
          </a:p>
        </p:txBody>
      </p:sp>
      <p:sp>
        <p:nvSpPr>
          <p:cNvPr id="135" name="Shape 132"/>
          <p:cNvSpPr/>
          <p:nvPr/>
        </p:nvSpPr>
        <p:spPr>
          <a:xfrm>
            <a:off x="6270625" y="5034280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6" name="Shape 133"/>
          <p:cNvSpPr/>
          <p:nvPr/>
        </p:nvSpPr>
        <p:spPr>
          <a:xfrm>
            <a:off x="6460236" y="5034636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37" name="Text 134"/>
          <p:cNvSpPr/>
          <p:nvPr/>
        </p:nvSpPr>
        <p:spPr>
          <a:xfrm>
            <a:off x="6515100" y="5062068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6771132" y="5062068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7228332" y="5062068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万年青·星河尊享保险计划II（2年）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9624822" y="50715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</a:t>
            </a:r>
            <a:endParaRPr lang="en-US" sz="800" dirty="0"/>
          </a:p>
        </p:txBody>
      </p:sp>
      <p:sp>
        <p:nvSpPr>
          <p:cNvPr id="141" name="Text 138"/>
          <p:cNvSpPr/>
          <p:nvPr/>
        </p:nvSpPr>
        <p:spPr>
          <a:xfrm>
            <a:off x="10283190" y="5071593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15.24M</a:t>
            </a:r>
            <a:endParaRPr lang="en-US" sz="800" dirty="0"/>
          </a:p>
        </p:txBody>
      </p:sp>
      <p:sp>
        <p:nvSpPr>
          <p:cNvPr id="142" name="Text 139"/>
          <p:cNvSpPr/>
          <p:nvPr/>
        </p:nvSpPr>
        <p:spPr>
          <a:xfrm>
            <a:off x="11179302" y="5071593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46.2万</a:t>
            </a:r>
            <a:endParaRPr lang="en-US" sz="800" dirty="0"/>
          </a:p>
        </p:txBody>
      </p:sp>
      <p:sp>
        <p:nvSpPr>
          <p:cNvPr id="144" name="Shape 141"/>
          <p:cNvSpPr/>
          <p:nvPr/>
        </p:nvSpPr>
        <p:spPr>
          <a:xfrm>
            <a:off x="6270625" y="5239385"/>
            <a:ext cx="5601335" cy="2032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5" name="Shape 142"/>
          <p:cNvSpPr/>
          <p:nvPr/>
        </p:nvSpPr>
        <p:spPr>
          <a:xfrm>
            <a:off x="6460236" y="5243119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46" name="Text 143"/>
          <p:cNvSpPr/>
          <p:nvPr/>
        </p:nvSpPr>
        <p:spPr>
          <a:xfrm>
            <a:off x="6515100" y="5270551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6771132" y="5270551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228332" y="5270551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万年青·星河尊享保险计划II（5年）</a:t>
            </a:r>
            <a:endParaRPr lang="en-US" sz="750" dirty="0"/>
          </a:p>
        </p:txBody>
      </p:sp>
      <p:sp>
        <p:nvSpPr>
          <p:cNvPr id="149" name="Text 146"/>
          <p:cNvSpPr/>
          <p:nvPr/>
        </p:nvSpPr>
        <p:spPr>
          <a:xfrm>
            <a:off x="9624822" y="5280076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10283190" y="5280076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12.48M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11179302" y="5280076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138.7万</a:t>
            </a:r>
            <a:endParaRPr lang="en-US" sz="800" dirty="0"/>
          </a:p>
        </p:txBody>
      </p:sp>
      <p:sp>
        <p:nvSpPr>
          <p:cNvPr id="153" name="Shape 150"/>
          <p:cNvSpPr/>
          <p:nvPr/>
        </p:nvSpPr>
        <p:spPr>
          <a:xfrm>
            <a:off x="6270625" y="5456555"/>
            <a:ext cx="5601335" cy="194310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4" name="Shape 151"/>
          <p:cNvSpPr/>
          <p:nvPr/>
        </p:nvSpPr>
        <p:spPr>
          <a:xfrm>
            <a:off x="6460236" y="545160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5" name="Text 152"/>
          <p:cNvSpPr/>
          <p:nvPr/>
        </p:nvSpPr>
        <p:spPr>
          <a:xfrm>
            <a:off x="6515100" y="547903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56" name="Text 153"/>
          <p:cNvSpPr/>
          <p:nvPr/>
        </p:nvSpPr>
        <p:spPr>
          <a:xfrm>
            <a:off x="6771132" y="547903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58" name="Text 155"/>
          <p:cNvSpPr/>
          <p:nvPr/>
        </p:nvSpPr>
        <p:spPr>
          <a:xfrm>
            <a:off x="9615297" y="5479034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10283190" y="548855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11.68M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11179302" y="548855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146.0万</a:t>
            </a:r>
            <a:endParaRPr lang="en-US" sz="800" dirty="0"/>
          </a:p>
        </p:txBody>
      </p:sp>
      <p:sp>
        <p:nvSpPr>
          <p:cNvPr id="162" name="Shape 159"/>
          <p:cNvSpPr/>
          <p:nvPr/>
        </p:nvSpPr>
        <p:spPr>
          <a:xfrm>
            <a:off x="6270625" y="5660390"/>
            <a:ext cx="5601335" cy="19939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3" name="Shape 160"/>
          <p:cNvSpPr/>
          <p:nvPr/>
        </p:nvSpPr>
        <p:spPr>
          <a:xfrm>
            <a:off x="6460236" y="566008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64" name="Text 161"/>
          <p:cNvSpPr/>
          <p:nvPr/>
        </p:nvSpPr>
        <p:spPr>
          <a:xfrm>
            <a:off x="6515100" y="568751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6771132" y="568751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67" name="Text 164"/>
          <p:cNvSpPr/>
          <p:nvPr/>
        </p:nvSpPr>
        <p:spPr>
          <a:xfrm>
            <a:off x="9624822" y="569704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68" name="Text 165"/>
          <p:cNvSpPr/>
          <p:nvPr/>
        </p:nvSpPr>
        <p:spPr>
          <a:xfrm>
            <a:off x="10283190" y="569704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9.75M</a:t>
            </a:r>
            <a:endParaRPr lang="en-US" sz="800" dirty="0"/>
          </a:p>
        </p:txBody>
      </p:sp>
      <p:sp>
        <p:nvSpPr>
          <p:cNvPr id="171" name="Shape 168"/>
          <p:cNvSpPr/>
          <p:nvPr/>
        </p:nvSpPr>
        <p:spPr>
          <a:xfrm>
            <a:off x="6270625" y="5868035"/>
            <a:ext cx="5601335" cy="200025"/>
          </a:xfrm>
          <a:prstGeom prst="rect">
            <a:avLst/>
          </a:prstGeom>
          <a:solidFill>
            <a:srgbClr val="FFFFFF"/>
          </a:solidFill>
          <a:ln w="254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72" name="Shape 169"/>
          <p:cNvSpPr/>
          <p:nvPr/>
        </p:nvSpPr>
        <p:spPr>
          <a:xfrm>
            <a:off x="6460236" y="5868568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73" name="Text 170"/>
          <p:cNvSpPr/>
          <p:nvPr/>
        </p:nvSpPr>
        <p:spPr>
          <a:xfrm>
            <a:off x="6515100" y="5896000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6771132" y="5896000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624822" y="5905525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10283190" y="5905525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6270625" y="6085840"/>
            <a:ext cx="5601335" cy="190500"/>
          </a:xfrm>
          <a:prstGeom prst="rect">
            <a:avLst/>
          </a:prstGeom>
          <a:solidFill>
            <a:srgbClr val="F5F7FA"/>
          </a:solidFill>
          <a:ln w="254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6460236" y="6077052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6515100" y="6104484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6771132" y="6104484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9624822" y="6114009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10283190" y="6114009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11179302" y="6114009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312.0万</a:t>
            </a:r>
            <a:endParaRPr lang="en-US" sz="800" dirty="0"/>
          </a:p>
        </p:txBody>
      </p:sp>
      <p:sp>
        <p:nvSpPr>
          <p:cNvPr id="190" name="Shape 187"/>
          <p:cNvSpPr/>
          <p:nvPr/>
        </p:nvSpPr>
        <p:spPr>
          <a:xfrm>
            <a:off x="6460236" y="6285535"/>
            <a:ext cx="36576" cy="199339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91" name="Text 188"/>
          <p:cNvSpPr/>
          <p:nvPr/>
        </p:nvSpPr>
        <p:spPr>
          <a:xfrm>
            <a:off x="6515100" y="6312967"/>
            <a:ext cx="20116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6771132" y="6312967"/>
            <a:ext cx="40233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800" dirty="0"/>
          </a:p>
        </p:txBody>
      </p:sp>
      <p:sp>
        <p:nvSpPr>
          <p:cNvPr id="193" name="Text 190"/>
          <p:cNvSpPr/>
          <p:nvPr/>
        </p:nvSpPr>
        <p:spPr>
          <a:xfrm>
            <a:off x="7228332" y="6312967"/>
            <a:ext cx="2779776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750" dirty="0">
                <a:solidFill>
                  <a:srgbClr val="1A1A2E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194" name="Text 191"/>
          <p:cNvSpPr/>
          <p:nvPr/>
        </p:nvSpPr>
        <p:spPr>
          <a:xfrm>
            <a:off x="9624822" y="6322492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5" name="Text 192"/>
          <p:cNvSpPr/>
          <p:nvPr/>
        </p:nvSpPr>
        <p:spPr>
          <a:xfrm>
            <a:off x="10283190" y="6322492"/>
            <a:ext cx="84124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5.99M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11179302" y="63224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46.0万</a:t>
            </a:r>
            <a:endParaRPr lang="en-US" sz="800" dirty="0"/>
          </a:p>
        </p:txBody>
      </p:sp>
      <p:sp>
        <p:nvSpPr>
          <p:cNvPr id="199" name="Shape 196"/>
          <p:cNvSpPr/>
          <p:nvPr/>
        </p:nvSpPr>
        <p:spPr>
          <a:xfrm>
            <a:off x="6242685" y="6502400"/>
            <a:ext cx="5658485" cy="216535"/>
          </a:xfrm>
          <a:prstGeom prst="rect">
            <a:avLst/>
          </a:prstGeom>
          <a:solidFill>
            <a:srgbClr val="EDE7F6"/>
          </a:solidFill>
          <a:ln w="635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00" name="Text 197"/>
          <p:cNvSpPr/>
          <p:nvPr/>
        </p:nvSpPr>
        <p:spPr>
          <a:xfrm>
            <a:off x="6501130" y="6539865"/>
            <a:ext cx="2577465" cy="165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(TOP10产品)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9606534" y="6540119"/>
            <a:ext cx="6217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160件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10246614" y="6540119"/>
            <a:ext cx="8595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130.2M</a:t>
            </a:r>
            <a:endParaRPr lang="en-US" sz="900" dirty="0"/>
          </a:p>
        </p:txBody>
      </p:sp>
      <p:sp>
        <p:nvSpPr>
          <p:cNvPr id="3" name="Shape 19"/>
          <p:cNvSpPr/>
          <p:nvPr/>
        </p:nvSpPr>
        <p:spPr>
          <a:xfrm>
            <a:off x="9718040" y="504190"/>
            <a:ext cx="2232660" cy="662940"/>
          </a:xfrm>
          <a:prstGeom prst="rect">
            <a:avLst/>
          </a:prstGeom>
          <a:solidFill>
            <a:srgbClr val="FFFFFF"/>
          </a:solidFill>
          <a:ln w="15240">
            <a:solidFill>
              <a:srgbClr val="6D4C41"/>
            </a:solidFill>
            <a:prstDash val="solid"/>
          </a:ln>
        </p:spPr>
        <p:txBody>
          <a:bodyPr/>
          <a:p/>
        </p:txBody>
      </p:sp>
      <p:sp>
        <p:nvSpPr>
          <p:cNvPr id="88" name="Shape 20"/>
          <p:cNvSpPr/>
          <p:nvPr/>
        </p:nvSpPr>
        <p:spPr>
          <a:xfrm>
            <a:off x="9718040" y="504190"/>
            <a:ext cx="2232660" cy="76200"/>
          </a:xfrm>
          <a:prstGeom prst="rect">
            <a:avLst/>
          </a:prstGeom>
          <a:solidFill>
            <a:srgbClr val="6D4C41"/>
          </a:solidFill>
          <a:ln w="12700">
            <a:solidFill>
              <a:srgbClr val="B7950B"/>
            </a:solidFill>
            <a:prstDash val="solid"/>
          </a:ln>
        </p:spPr>
        <p:txBody>
          <a:bodyPr/>
          <a:p/>
        </p:txBody>
      </p:sp>
      <p:sp>
        <p:nvSpPr>
          <p:cNvPr id="90" name="Text 21"/>
          <p:cNvSpPr/>
          <p:nvPr/>
        </p:nvSpPr>
        <p:spPr>
          <a:xfrm>
            <a:off x="9827895" y="577215"/>
            <a:ext cx="2106295" cy="156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合计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91" name="Text 22"/>
          <p:cNvSpPr/>
          <p:nvPr/>
        </p:nvSpPr>
        <p:spPr>
          <a:xfrm>
            <a:off x="9827895" y="703580"/>
            <a:ext cx="2106295" cy="3314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D4C4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667.2M</a:t>
            </a:r>
            <a:endParaRPr lang="en-US" sz="2400" b="1" dirty="0">
              <a:solidFill>
                <a:srgbClr val="6D4C4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9827895" y="1016635"/>
            <a:ext cx="2105025" cy="1530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中台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+TA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（批核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</a:t>
            </a:r>
            <a:r>
              <a:rPr lang="en-US" altLang="zh-CN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+</a:t>
            </a:r>
            <a:r>
              <a:rPr lang="zh-CN" altLang="en-US" sz="7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待签）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9" name="Text 102"/>
          <p:cNvSpPr/>
          <p:nvPr/>
        </p:nvSpPr>
        <p:spPr>
          <a:xfrm>
            <a:off x="8812530" y="4226560"/>
            <a:ext cx="621665" cy="1460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6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折扣</a:t>
            </a:r>
            <a:endParaRPr lang="zh-CN" sz="650" dirty="0"/>
          </a:p>
        </p:txBody>
      </p:sp>
      <p:sp>
        <p:nvSpPr>
          <p:cNvPr id="188" name="Text 110"/>
          <p:cNvSpPr/>
          <p:nvPr/>
        </p:nvSpPr>
        <p:spPr>
          <a:xfrm>
            <a:off x="8834882" y="44353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21%</a:t>
            </a:r>
            <a:endParaRPr lang="en-US" sz="800" dirty="0"/>
          </a:p>
        </p:txBody>
      </p:sp>
      <p:sp>
        <p:nvSpPr>
          <p:cNvPr id="197" name="Text 110"/>
          <p:cNvSpPr/>
          <p:nvPr/>
        </p:nvSpPr>
        <p:spPr>
          <a:xfrm>
            <a:off x="8847582" y="46385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198" name="Text 110"/>
          <p:cNvSpPr/>
          <p:nvPr/>
        </p:nvSpPr>
        <p:spPr>
          <a:xfrm>
            <a:off x="8869807" y="484174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800" dirty="0"/>
          </a:p>
        </p:txBody>
      </p:sp>
      <p:sp>
        <p:nvSpPr>
          <p:cNvPr id="203" name="Text 110"/>
          <p:cNvSpPr/>
          <p:nvPr/>
        </p:nvSpPr>
        <p:spPr>
          <a:xfrm>
            <a:off x="8871712" y="506209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800" dirty="0"/>
          </a:p>
        </p:txBody>
      </p:sp>
      <p:sp>
        <p:nvSpPr>
          <p:cNvPr id="204" name="Text 110"/>
          <p:cNvSpPr/>
          <p:nvPr/>
        </p:nvSpPr>
        <p:spPr>
          <a:xfrm>
            <a:off x="8864727" y="5279898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05" name="Text 110"/>
          <p:cNvSpPr/>
          <p:nvPr/>
        </p:nvSpPr>
        <p:spPr>
          <a:xfrm>
            <a:off x="8867902" y="54545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4%</a:t>
            </a:r>
            <a:endParaRPr lang="en-US" sz="800" dirty="0"/>
          </a:p>
        </p:txBody>
      </p:sp>
      <p:sp>
        <p:nvSpPr>
          <p:cNvPr id="206" name="Text 109"/>
          <p:cNvSpPr/>
          <p:nvPr/>
        </p:nvSpPr>
        <p:spPr>
          <a:xfrm>
            <a:off x="7243445" y="546417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永誉传承储蓄计划（1年）</a:t>
            </a:r>
            <a:endParaRPr lang="en-US" sz="750" dirty="0"/>
          </a:p>
        </p:txBody>
      </p:sp>
      <p:sp>
        <p:nvSpPr>
          <p:cNvPr id="207" name="Text 109"/>
          <p:cNvSpPr/>
          <p:nvPr/>
        </p:nvSpPr>
        <p:spPr>
          <a:xfrm>
            <a:off x="7237095" y="5686425"/>
            <a:ext cx="1398270" cy="144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万年青·星河传承保险计划II（5年）</a:t>
            </a:r>
            <a:endParaRPr lang="en-US" sz="750" dirty="0"/>
          </a:p>
        </p:txBody>
      </p:sp>
      <p:sp>
        <p:nvSpPr>
          <p:cNvPr id="245" name="Text 110"/>
          <p:cNvSpPr/>
          <p:nvPr/>
        </p:nvSpPr>
        <p:spPr>
          <a:xfrm>
            <a:off x="8861552" y="5676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800" dirty="0"/>
          </a:p>
        </p:txBody>
      </p:sp>
      <p:sp>
        <p:nvSpPr>
          <p:cNvPr id="247" name="Text 110"/>
          <p:cNvSpPr/>
          <p:nvPr/>
        </p:nvSpPr>
        <p:spPr>
          <a:xfrm>
            <a:off x="8883777" y="612762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800" dirty="0"/>
          </a:p>
        </p:txBody>
      </p:sp>
      <p:sp>
        <p:nvSpPr>
          <p:cNvPr id="248" name="Text 136"/>
          <p:cNvSpPr/>
          <p:nvPr/>
        </p:nvSpPr>
        <p:spPr>
          <a:xfrm>
            <a:off x="7228205" y="5901690"/>
            <a:ext cx="1417320" cy="156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万年青·卓金保险计划II（5年）</a:t>
            </a:r>
            <a:endParaRPr lang="en-US" sz="750" dirty="0"/>
          </a:p>
        </p:txBody>
      </p:sp>
      <p:sp>
        <p:nvSpPr>
          <p:cNvPr id="249" name="Text 110"/>
          <p:cNvSpPr/>
          <p:nvPr/>
        </p:nvSpPr>
        <p:spPr>
          <a:xfrm>
            <a:off x="8884412" y="59053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59%</a:t>
            </a:r>
            <a:endParaRPr lang="en-US" sz="800" dirty="0"/>
          </a:p>
        </p:txBody>
      </p:sp>
      <p:sp>
        <p:nvSpPr>
          <p:cNvPr id="255" name="Text 166"/>
          <p:cNvSpPr/>
          <p:nvPr/>
        </p:nvSpPr>
        <p:spPr>
          <a:xfrm>
            <a:off x="11182477" y="5881192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41.6万</a:t>
            </a:r>
            <a:endParaRPr lang="en-US" sz="800" dirty="0"/>
          </a:p>
        </p:txBody>
      </p:sp>
      <p:sp>
        <p:nvSpPr>
          <p:cNvPr id="256" name="Text 157"/>
          <p:cNvSpPr/>
          <p:nvPr/>
        </p:nvSpPr>
        <p:spPr>
          <a:xfrm>
            <a:off x="11182477" y="5682234"/>
            <a:ext cx="749808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325.0万</a:t>
            </a:r>
            <a:endParaRPr lang="en-US" sz="800" dirty="0"/>
          </a:p>
        </p:txBody>
      </p:sp>
      <p:sp>
        <p:nvSpPr>
          <p:cNvPr id="257" name="Text 118"/>
          <p:cNvSpPr/>
          <p:nvPr/>
        </p:nvSpPr>
        <p:spPr>
          <a:xfrm>
            <a:off x="7228205" y="6130290"/>
            <a:ext cx="1569720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万年青·星河传承保险计划II（2年）</a:t>
            </a:r>
            <a:endParaRPr lang="en-US" sz="750" dirty="0"/>
          </a:p>
        </p:txBody>
      </p:sp>
      <p:sp>
        <p:nvSpPr>
          <p:cNvPr id="258" name="Text 110"/>
          <p:cNvSpPr/>
          <p:nvPr/>
        </p:nvSpPr>
        <p:spPr>
          <a:xfrm>
            <a:off x="8886952" y="6311773"/>
            <a:ext cx="603504" cy="15361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800" dirty="0"/>
          </a:p>
        </p:txBody>
      </p:sp>
      <p:sp>
        <p:nvSpPr>
          <p:cNvPr id="89" name="Shape 34"/>
          <p:cNvSpPr/>
          <p:nvPr/>
        </p:nvSpPr>
        <p:spPr>
          <a:xfrm>
            <a:off x="236220" y="1553845"/>
            <a:ext cx="11664950" cy="20447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228" name="Text 35"/>
          <p:cNvSpPr/>
          <p:nvPr/>
        </p:nvSpPr>
        <p:spPr>
          <a:xfrm>
            <a:off x="273050" y="1591945"/>
            <a:ext cx="113919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牌照</a:t>
            </a:r>
            <a:endParaRPr lang="en-US" sz="700" dirty="0"/>
          </a:p>
        </p:txBody>
      </p:sp>
      <p:sp>
        <p:nvSpPr>
          <p:cNvPr id="229" name="Text 36"/>
          <p:cNvSpPr/>
          <p:nvPr/>
        </p:nvSpPr>
        <p:spPr>
          <a:xfrm>
            <a:off x="78486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Apr-26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0" name="Text 37"/>
          <p:cNvSpPr/>
          <p:nvPr/>
        </p:nvSpPr>
        <p:spPr>
          <a:xfrm>
            <a:off x="243078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May-26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1" name="Text 38"/>
          <p:cNvSpPr/>
          <p:nvPr/>
        </p:nvSpPr>
        <p:spPr>
          <a:xfrm>
            <a:off x="4222750" y="159194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Jun-26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232" name="Text 39"/>
          <p:cNvSpPr/>
          <p:nvPr/>
        </p:nvSpPr>
        <p:spPr>
          <a:xfrm>
            <a:off x="7697470" y="1572895"/>
            <a:ext cx="1736725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 APE（M）</a:t>
            </a:r>
            <a:endParaRPr lang="en-US" sz="700" dirty="0"/>
          </a:p>
        </p:txBody>
      </p:sp>
      <p:sp>
        <p:nvSpPr>
          <p:cNvPr id="233" name="Text 40"/>
          <p:cNvSpPr/>
          <p:nvPr/>
        </p:nvSpPr>
        <p:spPr>
          <a:xfrm>
            <a:off x="9560560" y="1572895"/>
            <a:ext cx="1718310" cy="130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本月已递交 APE（M）</a:t>
            </a:r>
            <a:endParaRPr lang="en-US" sz="700" dirty="0"/>
          </a:p>
        </p:txBody>
      </p:sp>
      <p:sp>
        <p:nvSpPr>
          <p:cNvPr id="234" name="Shape 41"/>
          <p:cNvSpPr/>
          <p:nvPr/>
        </p:nvSpPr>
        <p:spPr>
          <a:xfrm>
            <a:off x="236220" y="177292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35" name="Shape 42"/>
          <p:cNvSpPr/>
          <p:nvPr/>
        </p:nvSpPr>
        <p:spPr>
          <a:xfrm>
            <a:off x="236220" y="177292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6" name="Text 43"/>
          <p:cNvSpPr/>
          <p:nvPr/>
        </p:nvSpPr>
        <p:spPr>
          <a:xfrm>
            <a:off x="326390" y="180975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JF</a:t>
            </a:r>
            <a:endParaRPr lang="en-US" sz="800" dirty="0"/>
          </a:p>
        </p:txBody>
      </p:sp>
      <p:sp>
        <p:nvSpPr>
          <p:cNvPr id="237" name="Text 44"/>
          <p:cNvSpPr/>
          <p:nvPr/>
        </p:nvSpPr>
        <p:spPr>
          <a:xfrm>
            <a:off x="740410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39.50M</a:t>
            </a:r>
            <a:endParaRPr lang="en-US" sz="850" dirty="0"/>
          </a:p>
        </p:txBody>
      </p:sp>
      <p:sp>
        <p:nvSpPr>
          <p:cNvPr id="238" name="Text 45"/>
          <p:cNvSpPr/>
          <p:nvPr/>
        </p:nvSpPr>
        <p:spPr>
          <a:xfrm>
            <a:off x="244919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22.24M</a:t>
            </a:r>
            <a:endParaRPr lang="en-US" sz="850" dirty="0"/>
          </a:p>
        </p:txBody>
      </p:sp>
      <p:sp>
        <p:nvSpPr>
          <p:cNvPr id="239" name="Text 46"/>
          <p:cNvSpPr/>
          <p:nvPr/>
        </p:nvSpPr>
        <p:spPr>
          <a:xfrm>
            <a:off x="4241165" y="180975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27.45M</a:t>
            </a:r>
            <a:endParaRPr lang="en-US" sz="850" dirty="0"/>
          </a:p>
        </p:txBody>
      </p:sp>
      <p:sp>
        <p:nvSpPr>
          <p:cNvPr id="240" name="Text 47"/>
          <p:cNvSpPr/>
          <p:nvPr/>
        </p:nvSpPr>
        <p:spPr>
          <a:xfrm>
            <a:off x="7715885" y="179070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25.68M</a:t>
            </a:r>
            <a:endParaRPr lang="en-US" sz="850" dirty="0"/>
          </a:p>
        </p:txBody>
      </p:sp>
      <p:sp>
        <p:nvSpPr>
          <p:cNvPr id="241" name="Text 48"/>
          <p:cNvSpPr/>
          <p:nvPr/>
        </p:nvSpPr>
        <p:spPr>
          <a:xfrm>
            <a:off x="9578975" y="179070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9.20M</a:t>
            </a:r>
            <a:endParaRPr lang="en-US" sz="850" dirty="0"/>
          </a:p>
        </p:txBody>
      </p:sp>
      <p:sp>
        <p:nvSpPr>
          <p:cNvPr id="253" name="Shape 49"/>
          <p:cNvSpPr/>
          <p:nvPr/>
        </p:nvSpPr>
        <p:spPr>
          <a:xfrm>
            <a:off x="236220" y="2019935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54" name="Shape 50"/>
          <p:cNvSpPr/>
          <p:nvPr/>
        </p:nvSpPr>
        <p:spPr>
          <a:xfrm>
            <a:off x="236220" y="201993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3" name="Text 51"/>
          <p:cNvSpPr/>
          <p:nvPr/>
        </p:nvSpPr>
        <p:spPr>
          <a:xfrm>
            <a:off x="326390" y="20567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UNINWIN</a:t>
            </a:r>
            <a:endParaRPr lang="en-US" sz="800" dirty="0"/>
          </a:p>
        </p:txBody>
      </p:sp>
      <p:sp>
        <p:nvSpPr>
          <p:cNvPr id="274" name="Text 52"/>
          <p:cNvSpPr/>
          <p:nvPr/>
        </p:nvSpPr>
        <p:spPr>
          <a:xfrm>
            <a:off x="740410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15.18M</a:t>
            </a:r>
            <a:endParaRPr lang="en-US" sz="850" dirty="0"/>
          </a:p>
        </p:txBody>
      </p:sp>
      <p:sp>
        <p:nvSpPr>
          <p:cNvPr id="275" name="Text 53"/>
          <p:cNvSpPr/>
          <p:nvPr/>
        </p:nvSpPr>
        <p:spPr>
          <a:xfrm>
            <a:off x="244919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12.81M</a:t>
            </a:r>
            <a:endParaRPr lang="en-US" sz="850" dirty="0"/>
          </a:p>
        </p:txBody>
      </p:sp>
      <p:sp>
        <p:nvSpPr>
          <p:cNvPr id="276" name="Text 54"/>
          <p:cNvSpPr/>
          <p:nvPr/>
        </p:nvSpPr>
        <p:spPr>
          <a:xfrm>
            <a:off x="4241165" y="205676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14.96M</a:t>
            </a:r>
            <a:endParaRPr lang="en-US" sz="850" dirty="0"/>
          </a:p>
        </p:txBody>
      </p:sp>
      <p:sp>
        <p:nvSpPr>
          <p:cNvPr id="277" name="Text 55"/>
          <p:cNvSpPr/>
          <p:nvPr/>
        </p:nvSpPr>
        <p:spPr>
          <a:xfrm>
            <a:off x="7715885" y="203771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25.17M</a:t>
            </a:r>
            <a:endParaRPr lang="en-US" sz="850" dirty="0"/>
          </a:p>
        </p:txBody>
      </p:sp>
      <p:sp>
        <p:nvSpPr>
          <p:cNvPr id="278" name="Text 56"/>
          <p:cNvSpPr/>
          <p:nvPr/>
        </p:nvSpPr>
        <p:spPr>
          <a:xfrm>
            <a:off x="9578975" y="203771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7.57M</a:t>
            </a:r>
            <a:endParaRPr lang="en-US" sz="850" dirty="0"/>
          </a:p>
        </p:txBody>
      </p:sp>
      <p:sp>
        <p:nvSpPr>
          <p:cNvPr id="279" name="Shape 57"/>
          <p:cNvSpPr/>
          <p:nvPr/>
        </p:nvSpPr>
        <p:spPr>
          <a:xfrm>
            <a:off x="236220" y="2266315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0" name="Shape 58"/>
          <p:cNvSpPr/>
          <p:nvPr/>
        </p:nvSpPr>
        <p:spPr>
          <a:xfrm>
            <a:off x="236220" y="2266315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1" name="Text 59"/>
          <p:cNvSpPr/>
          <p:nvPr/>
        </p:nvSpPr>
        <p:spPr>
          <a:xfrm>
            <a:off x="335280" y="230378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DW-Non-Bank</a:t>
            </a:r>
            <a:endParaRPr lang="en-US" sz="800" dirty="0"/>
          </a:p>
        </p:txBody>
      </p:sp>
      <p:sp>
        <p:nvSpPr>
          <p:cNvPr id="282" name="Text 60"/>
          <p:cNvSpPr/>
          <p:nvPr/>
        </p:nvSpPr>
        <p:spPr>
          <a:xfrm>
            <a:off x="749300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0.48M</a:t>
            </a:r>
            <a:endParaRPr lang="en-US" sz="850" dirty="0"/>
          </a:p>
        </p:txBody>
      </p:sp>
      <p:sp>
        <p:nvSpPr>
          <p:cNvPr id="283" name="Text 61"/>
          <p:cNvSpPr/>
          <p:nvPr/>
        </p:nvSpPr>
        <p:spPr>
          <a:xfrm>
            <a:off x="244919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0.09M</a:t>
            </a:r>
            <a:endParaRPr lang="en-US" sz="850" dirty="0"/>
          </a:p>
        </p:txBody>
      </p:sp>
      <p:sp>
        <p:nvSpPr>
          <p:cNvPr id="284" name="Text 62"/>
          <p:cNvSpPr/>
          <p:nvPr/>
        </p:nvSpPr>
        <p:spPr>
          <a:xfrm>
            <a:off x="4241165" y="230378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285" name="Text 63"/>
          <p:cNvSpPr/>
          <p:nvPr/>
        </p:nvSpPr>
        <p:spPr>
          <a:xfrm>
            <a:off x="7715885" y="228473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1.01M</a:t>
            </a:r>
            <a:endParaRPr lang="en-US" sz="850" dirty="0"/>
          </a:p>
        </p:txBody>
      </p:sp>
      <p:sp>
        <p:nvSpPr>
          <p:cNvPr id="286" name="Text 64"/>
          <p:cNvSpPr/>
          <p:nvPr/>
        </p:nvSpPr>
        <p:spPr>
          <a:xfrm>
            <a:off x="9578975" y="228473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/>
          </a:p>
        </p:txBody>
      </p:sp>
      <p:sp>
        <p:nvSpPr>
          <p:cNvPr id="287" name="Shape 65"/>
          <p:cNvSpPr/>
          <p:nvPr/>
        </p:nvSpPr>
        <p:spPr>
          <a:xfrm>
            <a:off x="236220" y="2770505"/>
            <a:ext cx="11664950" cy="241300"/>
          </a:xfrm>
          <a:prstGeom prst="rect">
            <a:avLst/>
          </a:prstGeom>
          <a:solidFill>
            <a:srgbClr val="EBF5FB"/>
          </a:solidFill>
          <a:ln w="889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88" name="Shape 66"/>
          <p:cNvSpPr/>
          <p:nvPr/>
        </p:nvSpPr>
        <p:spPr>
          <a:xfrm>
            <a:off x="236220" y="2770505"/>
            <a:ext cx="76200" cy="2413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89" name="Text 67"/>
          <p:cNvSpPr/>
          <p:nvPr/>
        </p:nvSpPr>
        <p:spPr>
          <a:xfrm>
            <a:off x="344170" y="280797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 Total</a:t>
            </a:r>
            <a:endParaRPr lang="en-US" sz="800" dirty="0"/>
          </a:p>
        </p:txBody>
      </p:sp>
      <p:sp>
        <p:nvSpPr>
          <p:cNvPr id="290" name="Text 68"/>
          <p:cNvSpPr/>
          <p:nvPr/>
        </p:nvSpPr>
        <p:spPr>
          <a:xfrm>
            <a:off x="740410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55.16M</a:t>
            </a:r>
            <a:endParaRPr lang="en-US" sz="850" dirty="0"/>
          </a:p>
        </p:txBody>
      </p:sp>
      <p:sp>
        <p:nvSpPr>
          <p:cNvPr id="291" name="Text 69"/>
          <p:cNvSpPr/>
          <p:nvPr/>
        </p:nvSpPr>
        <p:spPr>
          <a:xfrm>
            <a:off x="2449195" y="28079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35.15M</a:t>
            </a:r>
            <a:endParaRPr lang="en-US" sz="850" dirty="0"/>
          </a:p>
        </p:txBody>
      </p:sp>
      <p:sp>
        <p:nvSpPr>
          <p:cNvPr id="292" name="Text 70"/>
          <p:cNvSpPr/>
          <p:nvPr/>
        </p:nvSpPr>
        <p:spPr>
          <a:xfrm>
            <a:off x="4551045" y="278511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42.41M</a:t>
            </a:r>
            <a:endParaRPr lang="en-US" sz="850" dirty="0"/>
          </a:p>
        </p:txBody>
      </p:sp>
      <p:sp>
        <p:nvSpPr>
          <p:cNvPr id="293" name="Text 71"/>
          <p:cNvSpPr/>
          <p:nvPr/>
        </p:nvSpPr>
        <p:spPr>
          <a:xfrm>
            <a:off x="7715885" y="278892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51.86M</a:t>
            </a:r>
            <a:endParaRPr lang="en-US" sz="850" dirty="0"/>
          </a:p>
        </p:txBody>
      </p:sp>
      <p:sp>
        <p:nvSpPr>
          <p:cNvPr id="294" name="Text 72"/>
          <p:cNvSpPr/>
          <p:nvPr/>
        </p:nvSpPr>
        <p:spPr>
          <a:xfrm>
            <a:off x="9578975" y="278892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16.78M</a:t>
            </a:r>
            <a:endParaRPr lang="en-US" sz="850" dirty="0"/>
          </a:p>
        </p:txBody>
      </p:sp>
      <p:sp>
        <p:nvSpPr>
          <p:cNvPr id="295" name="Shape 73"/>
          <p:cNvSpPr/>
          <p:nvPr/>
        </p:nvSpPr>
        <p:spPr>
          <a:xfrm>
            <a:off x="236220" y="3017520"/>
            <a:ext cx="11664950" cy="241300"/>
          </a:xfrm>
          <a:prstGeom prst="rect">
            <a:avLst/>
          </a:prstGeom>
          <a:solidFill>
            <a:srgbClr val="FFF8E1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96" name="Shape 74"/>
          <p:cNvSpPr/>
          <p:nvPr/>
        </p:nvSpPr>
        <p:spPr>
          <a:xfrm>
            <a:off x="236220" y="3017520"/>
            <a:ext cx="76200" cy="24130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7" name="Text 75"/>
          <p:cNvSpPr/>
          <p:nvPr/>
        </p:nvSpPr>
        <p:spPr>
          <a:xfrm>
            <a:off x="335280" y="305498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DW Bank</a:t>
            </a:r>
            <a:endParaRPr lang="en-US" sz="800" dirty="0"/>
          </a:p>
        </p:txBody>
      </p:sp>
      <p:sp>
        <p:nvSpPr>
          <p:cNvPr id="298" name="Text 76"/>
          <p:cNvSpPr/>
          <p:nvPr/>
        </p:nvSpPr>
        <p:spPr>
          <a:xfrm>
            <a:off x="722630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27.22M</a:t>
            </a:r>
            <a:endParaRPr lang="en-US" sz="850" dirty="0"/>
          </a:p>
        </p:txBody>
      </p:sp>
      <p:sp>
        <p:nvSpPr>
          <p:cNvPr id="299" name="Text 77"/>
          <p:cNvSpPr/>
          <p:nvPr/>
        </p:nvSpPr>
        <p:spPr>
          <a:xfrm>
            <a:off x="244919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21.70M</a:t>
            </a:r>
            <a:endParaRPr lang="en-US" sz="850" dirty="0"/>
          </a:p>
        </p:txBody>
      </p:sp>
      <p:sp>
        <p:nvSpPr>
          <p:cNvPr id="300" name="Text 78"/>
          <p:cNvSpPr/>
          <p:nvPr/>
        </p:nvSpPr>
        <p:spPr>
          <a:xfrm>
            <a:off x="4241165" y="305498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6.24M</a:t>
            </a:r>
            <a:endParaRPr lang="en-US" sz="850" dirty="0"/>
          </a:p>
        </p:txBody>
      </p:sp>
      <p:sp>
        <p:nvSpPr>
          <p:cNvPr id="301" name="Text 79"/>
          <p:cNvSpPr/>
          <p:nvPr/>
        </p:nvSpPr>
        <p:spPr>
          <a:xfrm>
            <a:off x="7715885" y="303593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23.91M</a:t>
            </a:r>
            <a:endParaRPr lang="en-US" sz="850" dirty="0"/>
          </a:p>
        </p:txBody>
      </p:sp>
      <p:sp>
        <p:nvSpPr>
          <p:cNvPr id="302" name="Text 80"/>
          <p:cNvSpPr/>
          <p:nvPr/>
        </p:nvSpPr>
        <p:spPr>
          <a:xfrm>
            <a:off x="9578975" y="3035935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2.34M</a:t>
            </a:r>
            <a:endParaRPr lang="en-US" sz="850" dirty="0"/>
          </a:p>
        </p:txBody>
      </p:sp>
      <p:sp>
        <p:nvSpPr>
          <p:cNvPr id="303" name="Shape 81"/>
          <p:cNvSpPr/>
          <p:nvPr/>
        </p:nvSpPr>
        <p:spPr>
          <a:xfrm>
            <a:off x="236220" y="3264535"/>
            <a:ext cx="11664950" cy="241300"/>
          </a:xfrm>
          <a:prstGeom prst="rect">
            <a:avLst/>
          </a:prstGeom>
          <a:solidFill>
            <a:srgbClr val="EDE7F6"/>
          </a:solidFill>
          <a:ln w="8890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304" name="Shape 82"/>
          <p:cNvSpPr/>
          <p:nvPr/>
        </p:nvSpPr>
        <p:spPr>
          <a:xfrm>
            <a:off x="236220" y="3264535"/>
            <a:ext cx="76200" cy="2413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305" name="Text 83"/>
          <p:cNvSpPr/>
          <p:nvPr/>
        </p:nvSpPr>
        <p:spPr>
          <a:xfrm>
            <a:off x="353060" y="3301365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</a:t>
            </a:r>
            <a:endParaRPr lang="en-US" sz="800" dirty="0"/>
          </a:p>
        </p:txBody>
      </p:sp>
      <p:sp>
        <p:nvSpPr>
          <p:cNvPr id="306" name="Text 84"/>
          <p:cNvSpPr/>
          <p:nvPr/>
        </p:nvSpPr>
        <p:spPr>
          <a:xfrm>
            <a:off x="2191385" y="329946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48.43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7" name="Text 44"/>
          <p:cNvSpPr/>
          <p:nvPr/>
        </p:nvSpPr>
        <p:spPr>
          <a:xfrm>
            <a:off x="2115820" y="180911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14.67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8" name="Text 36"/>
          <p:cNvSpPr/>
          <p:nvPr/>
        </p:nvSpPr>
        <p:spPr>
          <a:xfrm>
            <a:off x="2058670" y="160210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09" name="Text 76"/>
          <p:cNvSpPr/>
          <p:nvPr/>
        </p:nvSpPr>
        <p:spPr>
          <a:xfrm>
            <a:off x="2138680" y="305879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94.72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0" name="Text 60"/>
          <p:cNvSpPr/>
          <p:nvPr/>
        </p:nvSpPr>
        <p:spPr>
          <a:xfrm>
            <a:off x="2118995" y="231330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0.08M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1" name="Text 52"/>
          <p:cNvSpPr/>
          <p:nvPr/>
        </p:nvSpPr>
        <p:spPr>
          <a:xfrm>
            <a:off x="2115820" y="2056765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15.02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2" name="Text 68"/>
          <p:cNvSpPr/>
          <p:nvPr/>
        </p:nvSpPr>
        <p:spPr>
          <a:xfrm>
            <a:off x="2141855" y="27965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29.77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3" name="Text 84"/>
          <p:cNvSpPr/>
          <p:nvPr/>
        </p:nvSpPr>
        <p:spPr>
          <a:xfrm>
            <a:off x="3871595" y="33020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31.37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4" name="Text 44"/>
          <p:cNvSpPr/>
          <p:nvPr/>
        </p:nvSpPr>
        <p:spPr>
          <a:xfrm>
            <a:off x="3804920" y="1811655"/>
            <a:ext cx="631190" cy="1714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13.81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5" name="Text 36"/>
          <p:cNvSpPr/>
          <p:nvPr/>
        </p:nvSpPr>
        <p:spPr>
          <a:xfrm>
            <a:off x="3747770" y="16046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endParaRPr lang="zh-CN" altLang="en-US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16" name="Text 76"/>
          <p:cNvSpPr/>
          <p:nvPr/>
        </p:nvSpPr>
        <p:spPr>
          <a:xfrm>
            <a:off x="3827780" y="3061335"/>
            <a:ext cx="608330" cy="1733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6.24M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7" name="Text 60"/>
          <p:cNvSpPr/>
          <p:nvPr/>
        </p:nvSpPr>
        <p:spPr>
          <a:xfrm>
            <a:off x="3808095" y="23158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8" name="Text 52"/>
          <p:cNvSpPr/>
          <p:nvPr/>
        </p:nvSpPr>
        <p:spPr>
          <a:xfrm>
            <a:off x="3804920" y="20593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8.68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9" name="Text 68"/>
          <p:cNvSpPr/>
          <p:nvPr/>
        </p:nvSpPr>
        <p:spPr>
          <a:xfrm>
            <a:off x="3830955" y="279908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22.48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0" name="Text 84"/>
          <p:cNvSpPr/>
          <p:nvPr/>
        </p:nvSpPr>
        <p:spPr>
          <a:xfrm>
            <a:off x="572262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53.92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1" name="Text 44"/>
          <p:cNvSpPr/>
          <p:nvPr/>
        </p:nvSpPr>
        <p:spPr>
          <a:xfrm>
            <a:off x="565594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39.50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2" name="Text 36"/>
          <p:cNvSpPr/>
          <p:nvPr/>
        </p:nvSpPr>
        <p:spPr>
          <a:xfrm>
            <a:off x="559879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( 17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23" name="Text 76"/>
          <p:cNvSpPr/>
          <p:nvPr/>
        </p:nvSpPr>
        <p:spPr>
          <a:xfrm>
            <a:off x="567880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27.22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4" name="Text 60"/>
          <p:cNvSpPr/>
          <p:nvPr/>
        </p:nvSpPr>
        <p:spPr>
          <a:xfrm>
            <a:off x="565912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5" name="Text 52"/>
          <p:cNvSpPr/>
          <p:nvPr/>
        </p:nvSpPr>
        <p:spPr>
          <a:xfrm>
            <a:off x="565594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15.68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6" name="Text 68"/>
          <p:cNvSpPr/>
          <p:nvPr/>
        </p:nvSpPr>
        <p:spPr>
          <a:xfrm>
            <a:off x="5681980" y="278320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59.18</a:t>
            </a: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7" name="Shape 57"/>
          <p:cNvSpPr/>
          <p:nvPr/>
        </p:nvSpPr>
        <p:spPr>
          <a:xfrm>
            <a:off x="240030" y="3514090"/>
            <a:ext cx="11664950" cy="24130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28" name="Shape 58"/>
          <p:cNvSpPr/>
          <p:nvPr/>
        </p:nvSpPr>
        <p:spPr>
          <a:xfrm>
            <a:off x="240030" y="351409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/>
        </p:txBody>
      </p:sp>
      <p:sp>
        <p:nvSpPr>
          <p:cNvPr id="329" name="Text 59"/>
          <p:cNvSpPr/>
          <p:nvPr/>
        </p:nvSpPr>
        <p:spPr>
          <a:xfrm>
            <a:off x="347980" y="3551555"/>
            <a:ext cx="1122045" cy="1797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800" b="1" dirty="0"/>
              <a:t>3 Items Total</a:t>
            </a:r>
            <a:endParaRPr lang="en-US" altLang="zh-CN" sz="800" b="1" dirty="0"/>
          </a:p>
        </p:txBody>
      </p:sp>
      <p:sp>
        <p:nvSpPr>
          <p:cNvPr id="330" name="Text 60"/>
          <p:cNvSpPr/>
          <p:nvPr/>
        </p:nvSpPr>
        <p:spPr>
          <a:xfrm>
            <a:off x="2122805" y="356108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172.92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1" name="Text 60"/>
          <p:cNvSpPr/>
          <p:nvPr/>
        </p:nvSpPr>
        <p:spPr>
          <a:xfrm>
            <a:off x="3811905" y="35636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112.55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2" name="Text 60"/>
          <p:cNvSpPr/>
          <p:nvPr/>
        </p:nvSpPr>
        <p:spPr>
          <a:xfrm>
            <a:off x="566293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140.32</a:t>
            </a: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3" name="Text 38"/>
          <p:cNvSpPr/>
          <p:nvPr/>
        </p:nvSpPr>
        <p:spPr>
          <a:xfrm>
            <a:off x="6478905" y="1582420"/>
            <a:ext cx="984250" cy="1187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Jul-26 批核APE（M）</a:t>
            </a:r>
            <a:endParaRPr lang="en-US" sz="700" dirty="0">
              <a:solidFill>
                <a:srgbClr val="FFFFFF"/>
              </a:solidFill>
            </a:endParaRPr>
          </a:p>
        </p:txBody>
      </p:sp>
      <p:sp>
        <p:nvSpPr>
          <p:cNvPr id="334" name="Text 46"/>
          <p:cNvSpPr/>
          <p:nvPr/>
        </p:nvSpPr>
        <p:spPr>
          <a:xfrm>
            <a:off x="6057265" y="1793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10.85M</a:t>
            </a:r>
            <a:endParaRPr lang="en-US" sz="850" dirty="0"/>
          </a:p>
        </p:txBody>
      </p:sp>
      <p:sp>
        <p:nvSpPr>
          <p:cNvPr id="335" name="Text 54"/>
          <p:cNvSpPr/>
          <p:nvPr/>
        </p:nvSpPr>
        <p:spPr>
          <a:xfrm>
            <a:off x="6057265" y="2040255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9.17M</a:t>
            </a:r>
            <a:endParaRPr lang="en-US" sz="850" dirty="0"/>
          </a:p>
        </p:txBody>
      </p:sp>
      <p:sp>
        <p:nvSpPr>
          <p:cNvPr id="336" name="Text 62"/>
          <p:cNvSpPr/>
          <p:nvPr/>
        </p:nvSpPr>
        <p:spPr>
          <a:xfrm>
            <a:off x="6057265" y="228727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0.08M</a:t>
            </a:r>
            <a:endParaRPr lang="en-US" sz="850" dirty="0"/>
          </a:p>
        </p:txBody>
      </p:sp>
      <p:sp>
        <p:nvSpPr>
          <p:cNvPr id="337" name="Text 70"/>
          <p:cNvSpPr/>
          <p:nvPr/>
        </p:nvSpPr>
        <p:spPr>
          <a:xfrm>
            <a:off x="6367145" y="2768600"/>
            <a:ext cx="1096645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20.10M</a:t>
            </a:r>
            <a:endParaRPr lang="en-US" sz="850" dirty="0"/>
          </a:p>
        </p:txBody>
      </p:sp>
      <p:sp>
        <p:nvSpPr>
          <p:cNvPr id="338" name="Text 78"/>
          <p:cNvSpPr/>
          <p:nvPr/>
        </p:nvSpPr>
        <p:spPr>
          <a:xfrm>
            <a:off x="6057265" y="3038475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1.56M</a:t>
            </a:r>
            <a:endParaRPr lang="en-US" sz="850" dirty="0"/>
          </a:p>
        </p:txBody>
      </p:sp>
      <p:sp>
        <p:nvSpPr>
          <p:cNvPr id="339" name="Text 36"/>
          <p:cNvSpPr/>
          <p:nvPr/>
        </p:nvSpPr>
        <p:spPr>
          <a:xfrm>
            <a:off x="7355205" y="157289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( 28 Apr)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40" name="Text 84"/>
          <p:cNvSpPr/>
          <p:nvPr/>
        </p:nvSpPr>
        <p:spPr>
          <a:xfrm>
            <a:off x="7479030" y="32893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5.62M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1" name="Text 44"/>
          <p:cNvSpPr/>
          <p:nvPr/>
        </p:nvSpPr>
        <p:spPr>
          <a:xfrm>
            <a:off x="7412355" y="17989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2" name="Text 76"/>
          <p:cNvSpPr/>
          <p:nvPr/>
        </p:nvSpPr>
        <p:spPr>
          <a:xfrm>
            <a:off x="7435215" y="30480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1.117M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3" name="Text 60"/>
          <p:cNvSpPr/>
          <p:nvPr/>
        </p:nvSpPr>
        <p:spPr>
          <a:xfrm>
            <a:off x="7415530" y="23031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4" name="Text 52"/>
          <p:cNvSpPr/>
          <p:nvPr/>
        </p:nvSpPr>
        <p:spPr>
          <a:xfrm>
            <a:off x="7412355" y="2046605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5" name="Text 68"/>
          <p:cNvSpPr/>
          <p:nvPr/>
        </p:nvSpPr>
        <p:spPr>
          <a:xfrm>
            <a:off x="7438390" y="278066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5.25M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6" name="Text 60"/>
          <p:cNvSpPr/>
          <p:nvPr/>
        </p:nvSpPr>
        <p:spPr>
          <a:xfrm>
            <a:off x="7419340" y="35509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7" name="Text 84"/>
          <p:cNvSpPr/>
          <p:nvPr/>
        </p:nvSpPr>
        <p:spPr>
          <a:xfrm>
            <a:off x="9183370" y="328168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41.09M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8" name="Text 44"/>
          <p:cNvSpPr/>
          <p:nvPr/>
        </p:nvSpPr>
        <p:spPr>
          <a:xfrm>
            <a:off x="9116695" y="1791335"/>
            <a:ext cx="63119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9" name="Text 36"/>
          <p:cNvSpPr/>
          <p:nvPr/>
        </p:nvSpPr>
        <p:spPr>
          <a:xfrm>
            <a:off x="9059545" y="158432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17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0" name="Text 76"/>
          <p:cNvSpPr/>
          <p:nvPr/>
        </p:nvSpPr>
        <p:spPr>
          <a:xfrm>
            <a:off x="9139555" y="304038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68.28M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1" name="Text 60"/>
          <p:cNvSpPr/>
          <p:nvPr/>
        </p:nvSpPr>
        <p:spPr>
          <a:xfrm>
            <a:off x="9119870" y="229552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2" name="Text 52"/>
          <p:cNvSpPr/>
          <p:nvPr/>
        </p:nvSpPr>
        <p:spPr>
          <a:xfrm>
            <a:off x="9116695" y="203898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14.04M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3" name="Text 68"/>
          <p:cNvSpPr/>
          <p:nvPr/>
        </p:nvSpPr>
        <p:spPr>
          <a:xfrm>
            <a:off x="9142730" y="2769235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56.12M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4" name="Text 60"/>
          <p:cNvSpPr/>
          <p:nvPr/>
        </p:nvSpPr>
        <p:spPr>
          <a:xfrm>
            <a:off x="9123680" y="354330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163.49M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5" name="Text 84"/>
          <p:cNvSpPr/>
          <p:nvPr/>
        </p:nvSpPr>
        <p:spPr>
          <a:xfrm>
            <a:off x="11068050" y="3276600"/>
            <a:ext cx="5207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6" name="Text 44"/>
          <p:cNvSpPr/>
          <p:nvPr/>
        </p:nvSpPr>
        <p:spPr>
          <a:xfrm>
            <a:off x="11001375" y="1786255"/>
            <a:ext cx="631190" cy="177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7" name="Text 36"/>
          <p:cNvSpPr/>
          <p:nvPr/>
        </p:nvSpPr>
        <p:spPr>
          <a:xfrm>
            <a:off x="10944225" y="1579245"/>
            <a:ext cx="793750" cy="1200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ALICE</a:t>
            </a:r>
            <a:r>
              <a:rPr lang="zh-CN" alt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数据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(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16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 Apr</a:t>
            </a:r>
            <a:r>
              <a:rPr lang="en-US" altLang="zh-CN" sz="7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)</a:t>
            </a:r>
            <a:endParaRPr lang="en-US" altLang="zh-CN" sz="700" b="1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58" name="Text 76"/>
          <p:cNvSpPr/>
          <p:nvPr/>
        </p:nvSpPr>
        <p:spPr>
          <a:xfrm>
            <a:off x="11024235" y="3035300"/>
            <a:ext cx="608330" cy="176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9" name="Text 60"/>
          <p:cNvSpPr/>
          <p:nvPr/>
        </p:nvSpPr>
        <p:spPr>
          <a:xfrm>
            <a:off x="11004550" y="2290445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0" name="Text 52"/>
          <p:cNvSpPr/>
          <p:nvPr/>
        </p:nvSpPr>
        <p:spPr>
          <a:xfrm>
            <a:off x="11001375" y="2033905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1" name="Text 68"/>
          <p:cNvSpPr/>
          <p:nvPr/>
        </p:nvSpPr>
        <p:spPr>
          <a:xfrm>
            <a:off x="11027410" y="2783840"/>
            <a:ext cx="587375" cy="2165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2" name="Text 60"/>
          <p:cNvSpPr/>
          <p:nvPr/>
        </p:nvSpPr>
        <p:spPr>
          <a:xfrm>
            <a:off x="11008360" y="3538220"/>
            <a:ext cx="628650" cy="167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3" name="Shape 49"/>
          <p:cNvSpPr/>
          <p:nvPr/>
        </p:nvSpPr>
        <p:spPr>
          <a:xfrm>
            <a:off x="229870" y="2518410"/>
            <a:ext cx="11664950" cy="24130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64" name="Shape 50"/>
          <p:cNvSpPr/>
          <p:nvPr/>
        </p:nvSpPr>
        <p:spPr>
          <a:xfrm>
            <a:off x="239395" y="2518410"/>
            <a:ext cx="76200" cy="241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p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5" name="Text 51"/>
          <p:cNvSpPr/>
          <p:nvPr/>
        </p:nvSpPr>
        <p:spPr>
          <a:xfrm>
            <a:off x="320040" y="2555240"/>
            <a:ext cx="112204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EG</a:t>
            </a:r>
            <a:endParaRPr lang="en-US" sz="800" dirty="0"/>
          </a:p>
        </p:txBody>
      </p:sp>
      <p:sp>
        <p:nvSpPr>
          <p:cNvPr id="366" name="Text 52"/>
          <p:cNvSpPr/>
          <p:nvPr/>
        </p:nvSpPr>
        <p:spPr>
          <a:xfrm>
            <a:off x="734060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7" name="Text 53"/>
          <p:cNvSpPr/>
          <p:nvPr/>
        </p:nvSpPr>
        <p:spPr>
          <a:xfrm>
            <a:off x="244284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8" name="Text 54"/>
          <p:cNvSpPr/>
          <p:nvPr/>
        </p:nvSpPr>
        <p:spPr>
          <a:xfrm>
            <a:off x="4234815" y="255524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69" name="Text 55"/>
          <p:cNvSpPr/>
          <p:nvPr/>
        </p:nvSpPr>
        <p:spPr>
          <a:xfrm>
            <a:off x="7709535" y="2536190"/>
            <a:ext cx="171831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0" name="Text 56"/>
          <p:cNvSpPr/>
          <p:nvPr/>
        </p:nvSpPr>
        <p:spPr>
          <a:xfrm>
            <a:off x="9572625" y="2536190"/>
            <a:ext cx="1699895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1" name="Text 52"/>
          <p:cNvSpPr/>
          <p:nvPr/>
        </p:nvSpPr>
        <p:spPr>
          <a:xfrm>
            <a:off x="2109470" y="2555240"/>
            <a:ext cx="631190" cy="1771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2" name="Text 52"/>
          <p:cNvSpPr/>
          <p:nvPr/>
        </p:nvSpPr>
        <p:spPr>
          <a:xfrm>
            <a:off x="3798570" y="25577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3" name="Text 52"/>
          <p:cNvSpPr/>
          <p:nvPr/>
        </p:nvSpPr>
        <p:spPr>
          <a:xfrm>
            <a:off x="564959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3.51M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4" name="Text 54"/>
          <p:cNvSpPr/>
          <p:nvPr/>
        </p:nvSpPr>
        <p:spPr>
          <a:xfrm>
            <a:off x="6050915" y="2538730"/>
            <a:ext cx="1718310" cy="1758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/>
              <a:t>0M</a:t>
            </a:r>
            <a:endParaRPr lang="en-US" sz="850" dirty="0"/>
          </a:p>
        </p:txBody>
      </p:sp>
      <p:sp>
        <p:nvSpPr>
          <p:cNvPr id="375" name="Text 52"/>
          <p:cNvSpPr/>
          <p:nvPr/>
        </p:nvSpPr>
        <p:spPr>
          <a:xfrm>
            <a:off x="7406005" y="2545080"/>
            <a:ext cx="631190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6" name="Text 52"/>
          <p:cNvSpPr/>
          <p:nvPr/>
        </p:nvSpPr>
        <p:spPr>
          <a:xfrm>
            <a:off x="9110345" y="253746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0.00M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7" name="Text 52"/>
          <p:cNvSpPr/>
          <p:nvPr/>
        </p:nvSpPr>
        <p:spPr>
          <a:xfrm>
            <a:off x="10995025" y="2532380"/>
            <a:ext cx="63119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</a:t>
            </a:r>
            <a:endParaRPr lang="en-US" sz="85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85"/>
          <p:cNvSpPr/>
          <p:nvPr/>
        </p:nvSpPr>
        <p:spPr>
          <a:xfrm>
            <a:off x="7700645" y="1009015"/>
            <a:ext cx="432371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" y="530352"/>
            <a:ext cx="2231136" cy="3657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0116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53.6%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0116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全业务达成率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248716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48716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7860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597M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7860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已批核APE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486460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64608" y="530352"/>
            <a:ext cx="2231136" cy="3657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95604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5604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年度目标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24204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42048" y="530352"/>
            <a:ext cx="2231136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3348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516M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3348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剩余缺口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619488" y="530352"/>
            <a:ext cx="2231136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619488" y="530352"/>
            <a:ext cx="2231136" cy="3657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10928" y="566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1122件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10928" y="758952"/>
            <a:ext cx="2011680" cy="1188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已批核件数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109855" y="996950"/>
            <a:ext cx="378269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9855" y="996950"/>
            <a:ext cx="3793490" cy="25590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201041" y="1033526"/>
            <a:ext cx="37673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  达成率 × 目标规模 × 件数 — 业务线战略象限气泡图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856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31889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135724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18757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100M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222592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205625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200M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3094609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2924937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3615817" y="1290574"/>
            <a:ext cx="0" cy="484632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446145" y="6169406"/>
            <a:ext cx="34747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360M</a:t>
            </a:r>
            <a:endParaRPr lang="en-US" sz="600" dirty="0"/>
          </a:p>
        </p:txBody>
      </p:sp>
      <p:sp>
        <p:nvSpPr>
          <p:cNvPr id="46" name="Shape 43"/>
          <p:cNvSpPr/>
          <p:nvPr/>
        </p:nvSpPr>
        <p:spPr>
          <a:xfrm>
            <a:off x="488569" y="613689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-78359" y="606374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88569" y="505993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-78359" y="498678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650" dirty="0"/>
          </a:p>
        </p:txBody>
      </p:sp>
      <p:sp>
        <p:nvSpPr>
          <p:cNvPr id="50" name="Shape 47"/>
          <p:cNvSpPr/>
          <p:nvPr/>
        </p:nvSpPr>
        <p:spPr>
          <a:xfrm>
            <a:off x="488569" y="398297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-78359" y="390982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40%</a:t>
            </a:r>
            <a:endParaRPr lang="en-US" sz="650" dirty="0"/>
          </a:p>
        </p:txBody>
      </p:sp>
      <p:sp>
        <p:nvSpPr>
          <p:cNvPr id="52" name="Shape 49"/>
          <p:cNvSpPr/>
          <p:nvPr/>
        </p:nvSpPr>
        <p:spPr>
          <a:xfrm>
            <a:off x="488569" y="290601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-78359" y="283286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650" dirty="0"/>
          </a:p>
        </p:txBody>
      </p:sp>
      <p:sp>
        <p:nvSpPr>
          <p:cNvPr id="54" name="Shape 51"/>
          <p:cNvSpPr/>
          <p:nvPr/>
        </p:nvSpPr>
        <p:spPr>
          <a:xfrm>
            <a:off x="488569" y="1829054"/>
            <a:ext cx="3127248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-78359" y="1755902"/>
            <a:ext cx="50292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80%</a:t>
            </a:r>
            <a:endParaRPr lang="en-US" sz="650" dirty="0"/>
          </a:p>
        </p:txBody>
      </p:sp>
      <p:sp>
        <p:nvSpPr>
          <p:cNvPr id="56" name="Shape 53"/>
          <p:cNvSpPr/>
          <p:nvPr/>
        </p:nvSpPr>
        <p:spPr>
          <a:xfrm>
            <a:off x="488569" y="4359910"/>
            <a:ext cx="3127248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dash"/>
          </a:ln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525145" y="4222750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时间基准33%</a:t>
            </a:r>
            <a:endParaRPr lang="en-US" sz="650" dirty="0"/>
          </a:p>
        </p:txBody>
      </p:sp>
      <p:sp>
        <p:nvSpPr>
          <p:cNvPr id="58" name="Text 55"/>
          <p:cNvSpPr/>
          <p:nvPr/>
        </p:nvSpPr>
        <p:spPr>
          <a:xfrm>
            <a:off x="2057273" y="6337046"/>
            <a:ext cx="77724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目标APE →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35001" y="3269742"/>
            <a:ext cx="20116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率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↑</a:t>
            </a:r>
            <a:endParaRPr lang="en-US" sz="650" dirty="0"/>
          </a:p>
        </p:txBody>
      </p:sp>
      <p:sp>
        <p:nvSpPr>
          <p:cNvPr id="60" name="Shape 57"/>
          <p:cNvSpPr/>
          <p:nvPr/>
        </p:nvSpPr>
        <p:spPr>
          <a:xfrm>
            <a:off x="488569" y="1290574"/>
            <a:ext cx="1563624" cy="3069336"/>
          </a:xfrm>
          <a:prstGeom prst="rect">
            <a:avLst/>
          </a:prstGeom>
          <a:solidFill>
            <a:srgbClr val="FEF9C3">
              <a:alpha val="50000"/>
            </a:srgbClr>
          </a:solidFill>
          <a:ln w="381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61" name="Shape 58"/>
          <p:cNvSpPr/>
          <p:nvPr/>
        </p:nvSpPr>
        <p:spPr>
          <a:xfrm>
            <a:off x="2052193" y="1290574"/>
            <a:ext cx="1563624" cy="3069336"/>
          </a:xfrm>
          <a:prstGeom prst="rect">
            <a:avLst/>
          </a:prstGeom>
          <a:solidFill>
            <a:srgbClr val="DCFCE7">
              <a:alpha val="50000"/>
            </a:srgbClr>
          </a:solidFill>
          <a:ln w="381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62" name="Shape 59"/>
          <p:cNvSpPr/>
          <p:nvPr/>
        </p:nvSpPr>
        <p:spPr>
          <a:xfrm>
            <a:off x="488569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52193" y="4359910"/>
            <a:ext cx="1563624" cy="1776984"/>
          </a:xfrm>
          <a:prstGeom prst="rect">
            <a:avLst/>
          </a:prstGeom>
          <a:solidFill>
            <a:srgbClr val="FEE2E2">
              <a:alpha val="50000"/>
            </a:srgbClr>
          </a:solidFill>
          <a:ln w="381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543433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小目标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B4530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107057" y="134543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达标</a:t>
            </a:r>
            <a:endParaRPr lang="en-US" sz="600" dirty="0"/>
          </a:p>
        </p:txBody>
      </p:sp>
      <p:sp>
        <p:nvSpPr>
          <p:cNvPr id="66" name="Text 63"/>
          <p:cNvSpPr/>
          <p:nvPr/>
        </p:nvSpPr>
        <p:spPr>
          <a:xfrm>
            <a:off x="543433" y="4414774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待激活</a:t>
            </a:r>
            <a:endParaRPr lang="en-US" sz="600" dirty="0"/>
          </a:p>
        </p:txBody>
      </p:sp>
      <p:sp>
        <p:nvSpPr>
          <p:cNvPr id="67" name="Text 64"/>
          <p:cNvSpPr/>
          <p:nvPr/>
        </p:nvSpPr>
        <p:spPr>
          <a:xfrm>
            <a:off x="2107057" y="441477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大目标</a:t>
            </a:r>
            <a:endParaRPr lang="en-US" sz="600" dirty="0"/>
          </a:p>
          <a:p>
            <a:pPr marL="0" indent="0">
              <a:buNone/>
            </a:pPr>
            <a:r>
              <a:rPr lang="en-US" sz="60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落后</a:t>
            </a:r>
            <a:endParaRPr lang="en-US" sz="600" dirty="0"/>
          </a:p>
        </p:txBody>
      </p:sp>
      <p:sp>
        <p:nvSpPr>
          <p:cNvPr id="68" name="Shape 65"/>
          <p:cNvSpPr/>
          <p:nvPr/>
        </p:nvSpPr>
        <p:spPr>
          <a:xfrm>
            <a:off x="2004452" y="1295574"/>
            <a:ext cx="442955" cy="442955"/>
          </a:xfrm>
          <a:prstGeom prst="ellipse">
            <a:avLst/>
          </a:prstGeom>
          <a:solidFill>
            <a:srgbClr val="1F3864">
              <a:alpha val="80000"/>
            </a:srgbClr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1883029" y="17535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/>
          </a:p>
        </p:txBody>
      </p:sp>
      <p:sp>
        <p:nvSpPr>
          <p:cNvPr id="70" name="Shape 67"/>
          <p:cNvSpPr/>
          <p:nvPr/>
        </p:nvSpPr>
        <p:spPr>
          <a:xfrm>
            <a:off x="3155522" y="3875554"/>
            <a:ext cx="573117" cy="573117"/>
          </a:xfrm>
          <a:prstGeom prst="ellipse">
            <a:avLst/>
          </a:prstGeom>
          <a:solidFill>
            <a:srgbClr val="1A7A3F">
              <a:alpha val="80000"/>
            </a:srgbClr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3099180" y="446367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r>
              <a:rPr lang="zh-CN" alt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2" name="Shape 69"/>
          <p:cNvSpPr/>
          <p:nvPr/>
        </p:nvSpPr>
        <p:spPr>
          <a:xfrm>
            <a:off x="1624936" y="2125497"/>
            <a:ext cx="507042" cy="507042"/>
          </a:xfrm>
          <a:prstGeom prst="ellipse">
            <a:avLst/>
          </a:prstGeom>
          <a:solidFill>
            <a:srgbClr val="E67E22">
              <a:alpha val="8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1535557" y="2647539"/>
            <a:ext cx="685800" cy="242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经</a:t>
            </a:r>
            <a:r>
              <a:rPr lang="en-US" sz="6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</a:t>
            </a:r>
            <a:endParaRPr lang="en-US" sz="650" dirty="0"/>
          </a:p>
        </p:txBody>
      </p:sp>
      <p:sp>
        <p:nvSpPr>
          <p:cNvPr id="74" name="Shape 71"/>
          <p:cNvSpPr/>
          <p:nvPr/>
        </p:nvSpPr>
        <p:spPr>
          <a:xfrm>
            <a:off x="1946956" y="4434298"/>
            <a:ext cx="436330" cy="436330"/>
          </a:xfrm>
          <a:prstGeom prst="ellipse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75" name="Text 72"/>
          <p:cNvSpPr/>
          <p:nvPr/>
        </p:nvSpPr>
        <p:spPr>
          <a:xfrm>
            <a:off x="1822221" y="48856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en-US" sz="650" dirty="0"/>
          </a:p>
        </p:txBody>
      </p:sp>
      <p:sp>
        <p:nvSpPr>
          <p:cNvPr id="76" name="Shape 73"/>
          <p:cNvSpPr/>
          <p:nvPr/>
        </p:nvSpPr>
        <p:spPr>
          <a:xfrm>
            <a:off x="841381" y="4251427"/>
            <a:ext cx="197803" cy="197803"/>
          </a:xfrm>
          <a:prstGeom prst="ellipse">
            <a:avLst/>
          </a:prstGeom>
          <a:solidFill>
            <a:srgbClr val="8E44AD">
              <a:alpha val="80000"/>
            </a:srgbClr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7" name="Text 74"/>
          <p:cNvSpPr/>
          <p:nvPr/>
        </p:nvSpPr>
        <p:spPr>
          <a:xfrm>
            <a:off x="597382" y="4464229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650" dirty="0"/>
          </a:p>
        </p:txBody>
      </p:sp>
      <p:sp>
        <p:nvSpPr>
          <p:cNvPr id="78" name="Shape 75"/>
          <p:cNvSpPr/>
          <p:nvPr/>
        </p:nvSpPr>
        <p:spPr>
          <a:xfrm>
            <a:off x="967919" y="5603500"/>
            <a:ext cx="257453" cy="257453"/>
          </a:xfrm>
          <a:prstGeom prst="ellipse">
            <a:avLst/>
          </a:prstGeom>
          <a:solidFill>
            <a:srgbClr val="16A085">
              <a:alpha val="80000"/>
            </a:srgbClr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9" name="Text 76"/>
          <p:cNvSpPr/>
          <p:nvPr/>
        </p:nvSpPr>
        <p:spPr>
          <a:xfrm>
            <a:off x="753745" y="5875952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650" dirty="0"/>
          </a:p>
        </p:txBody>
      </p:sp>
      <p:sp>
        <p:nvSpPr>
          <p:cNvPr id="80" name="Shape 77"/>
          <p:cNvSpPr/>
          <p:nvPr/>
        </p:nvSpPr>
        <p:spPr>
          <a:xfrm>
            <a:off x="1006832" y="5888770"/>
            <a:ext cx="231746" cy="231746"/>
          </a:xfrm>
          <a:prstGeom prst="ellipse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81" name="Text 78"/>
          <p:cNvSpPr/>
          <p:nvPr/>
        </p:nvSpPr>
        <p:spPr>
          <a:xfrm>
            <a:off x="779805" y="570917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650" dirty="0"/>
          </a:p>
        </p:txBody>
      </p:sp>
      <p:sp>
        <p:nvSpPr>
          <p:cNvPr id="82" name="Shape 79"/>
          <p:cNvSpPr/>
          <p:nvPr/>
        </p:nvSpPr>
        <p:spPr>
          <a:xfrm>
            <a:off x="644891" y="6010198"/>
            <a:ext cx="121697" cy="121697"/>
          </a:xfrm>
          <a:prstGeom prst="ellipse">
            <a:avLst/>
          </a:prstGeom>
          <a:solidFill>
            <a:srgbClr val="B0B0B0">
              <a:alpha val="80000"/>
            </a:srgbClr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83" name="Text 80"/>
          <p:cNvSpPr/>
          <p:nvPr/>
        </p:nvSpPr>
        <p:spPr>
          <a:xfrm>
            <a:off x="362839" y="5830606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</a:t>
            </a:r>
            <a:endParaRPr lang="en-US" sz="650" dirty="0"/>
          </a:p>
        </p:txBody>
      </p:sp>
      <p:sp>
        <p:nvSpPr>
          <p:cNvPr id="84" name="Shape 81"/>
          <p:cNvSpPr/>
          <p:nvPr/>
        </p:nvSpPr>
        <p:spPr>
          <a:xfrm>
            <a:off x="109855" y="6300470"/>
            <a:ext cx="3776345" cy="39624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 flipV="1">
            <a:off x="114935" y="6297295"/>
            <a:ext cx="378333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201041" y="6337046"/>
            <a:ext cx="37673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7" name="Text 84"/>
          <p:cNvSpPr/>
          <p:nvPr/>
        </p:nvSpPr>
        <p:spPr>
          <a:xfrm>
            <a:off x="186055" y="6456045"/>
            <a:ext cx="3606800" cy="2101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113.8% 唯一超额,同行经代 79.0%（较上期 +5pct）势头最强;永明经代 43.0%、天领 33.1% 目标大仍落后为战略风险;IFA/合伙/成事≤11% 待激活。</a:t>
            </a:r>
            <a:endParaRPr lang="en-US" sz="550" dirty="0"/>
          </a:p>
        </p:txBody>
      </p:sp>
      <p:sp>
        <p:nvSpPr>
          <p:cNvPr id="88" name="Shape 85"/>
          <p:cNvSpPr/>
          <p:nvPr/>
        </p:nvSpPr>
        <p:spPr>
          <a:xfrm>
            <a:off x="3952875" y="996950"/>
            <a:ext cx="3702685" cy="568769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89" name="Shape 86"/>
          <p:cNvSpPr/>
          <p:nvPr/>
        </p:nvSpPr>
        <p:spPr>
          <a:xfrm>
            <a:off x="3964305" y="993140"/>
            <a:ext cx="3691255" cy="259715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90" name="Text 87"/>
          <p:cNvSpPr/>
          <p:nvPr/>
        </p:nvSpPr>
        <p:spPr>
          <a:xfrm>
            <a:off x="4055745" y="1038225"/>
            <a:ext cx="3380105" cy="1873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全业务目标缺口分解 — Gap Waterfall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27" name="Shape 124"/>
          <p:cNvSpPr/>
          <p:nvPr/>
        </p:nvSpPr>
        <p:spPr>
          <a:xfrm>
            <a:off x="4074160" y="5974715"/>
            <a:ext cx="3467100" cy="285115"/>
          </a:xfrm>
          <a:prstGeom prst="rect">
            <a:avLst/>
          </a:prstGeom>
          <a:solidFill>
            <a:srgbClr val="FDECEA"/>
          </a:solidFill>
          <a:ln w="1016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28" name="Text 125"/>
          <p:cNvSpPr/>
          <p:nvPr/>
        </p:nvSpPr>
        <p:spPr>
          <a:xfrm>
            <a:off x="4110736" y="604443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已达成仅 53.6%  |  剩余缺口 516M  |  需 6 个月完成 46.4%</a:t>
            </a:r>
            <a:endParaRPr lang="en-US" sz="800" dirty="0"/>
          </a:p>
        </p:txBody>
      </p:sp>
      <p:sp>
        <p:nvSpPr>
          <p:cNvPr id="129" name="Shape 126"/>
          <p:cNvSpPr/>
          <p:nvPr/>
        </p:nvSpPr>
        <p:spPr>
          <a:xfrm>
            <a:off x="3964305" y="6300470"/>
            <a:ext cx="3690620" cy="41021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0" name="Shape 127"/>
          <p:cNvSpPr/>
          <p:nvPr/>
        </p:nvSpPr>
        <p:spPr>
          <a:xfrm>
            <a:off x="3964305" y="6308725"/>
            <a:ext cx="3686400" cy="28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31" name="Text 128"/>
          <p:cNvSpPr/>
          <p:nvPr/>
        </p:nvSpPr>
        <p:spPr>
          <a:xfrm>
            <a:off x="4055745" y="6327775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055745" y="6438900"/>
            <a:ext cx="3401060" cy="2273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 596.7M+在途 115.8M=712.5M,距目标 1113M 仍差 400M。BK 批核最大 227.6M,永明经代/同行经代次之;缺口主压永明经代与天领,靠放量+在途填补。</a:t>
            </a:r>
            <a:endParaRPr lang="en-US" sz="550" dirty="0"/>
          </a:p>
        </p:txBody>
      </p:sp>
      <p:sp>
        <p:nvSpPr>
          <p:cNvPr id="28" name="Shape 88"/>
          <p:cNvSpPr/>
          <p:nvPr/>
        </p:nvSpPr>
        <p:spPr>
          <a:xfrm>
            <a:off x="4402455" y="562508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3" name="Text 89"/>
          <p:cNvSpPr/>
          <p:nvPr/>
        </p:nvSpPr>
        <p:spPr>
          <a:xfrm>
            <a:off x="3868039" y="555193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0M</a:t>
            </a:r>
            <a:endParaRPr lang="en-US" sz="650" dirty="0"/>
          </a:p>
        </p:txBody>
      </p:sp>
      <p:sp>
        <p:nvSpPr>
          <p:cNvPr id="134" name="Shape 90"/>
          <p:cNvSpPr/>
          <p:nvPr/>
        </p:nvSpPr>
        <p:spPr>
          <a:xfrm>
            <a:off x="4407535" y="452780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5" name="Text 91"/>
          <p:cNvSpPr/>
          <p:nvPr/>
        </p:nvSpPr>
        <p:spPr>
          <a:xfrm>
            <a:off x="3868039" y="445465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300M</a:t>
            </a:r>
            <a:endParaRPr lang="en-US" sz="650" dirty="0"/>
          </a:p>
        </p:txBody>
      </p:sp>
      <p:sp>
        <p:nvSpPr>
          <p:cNvPr id="136" name="Shape 92"/>
          <p:cNvSpPr/>
          <p:nvPr/>
        </p:nvSpPr>
        <p:spPr>
          <a:xfrm>
            <a:off x="4407535" y="343052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7" name="Text 93"/>
          <p:cNvSpPr/>
          <p:nvPr/>
        </p:nvSpPr>
        <p:spPr>
          <a:xfrm>
            <a:off x="3868039" y="335737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600M</a:t>
            </a:r>
            <a:endParaRPr lang="en-US" sz="650" dirty="0"/>
          </a:p>
        </p:txBody>
      </p:sp>
      <p:sp>
        <p:nvSpPr>
          <p:cNvPr id="138" name="Shape 94"/>
          <p:cNvSpPr/>
          <p:nvPr/>
        </p:nvSpPr>
        <p:spPr>
          <a:xfrm>
            <a:off x="4407535" y="2333244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39" name="Text 95"/>
          <p:cNvSpPr/>
          <p:nvPr/>
        </p:nvSpPr>
        <p:spPr>
          <a:xfrm>
            <a:off x="3868039" y="2260092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900M</a:t>
            </a:r>
            <a:endParaRPr lang="en-US" sz="650" dirty="0"/>
          </a:p>
        </p:txBody>
      </p:sp>
      <p:sp>
        <p:nvSpPr>
          <p:cNvPr id="140" name="Shape 96"/>
          <p:cNvSpPr/>
          <p:nvPr/>
        </p:nvSpPr>
        <p:spPr>
          <a:xfrm>
            <a:off x="4407535" y="1554175"/>
            <a:ext cx="3108960" cy="0"/>
          </a:xfrm>
          <a:prstGeom prst="line">
            <a:avLst/>
          </a:prstGeom>
          <a:noFill/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1" name="Text 97"/>
          <p:cNvSpPr/>
          <p:nvPr/>
        </p:nvSpPr>
        <p:spPr>
          <a:xfrm>
            <a:off x="3868039" y="1481023"/>
            <a:ext cx="347472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1113M</a:t>
            </a:r>
            <a:endParaRPr lang="en-US" sz="650" dirty="0"/>
          </a:p>
        </p:txBody>
      </p:sp>
      <p:sp>
        <p:nvSpPr>
          <p:cNvPr id="142" name="Shape 98"/>
          <p:cNvSpPr/>
          <p:nvPr/>
        </p:nvSpPr>
        <p:spPr>
          <a:xfrm>
            <a:off x="4270375" y="1554480"/>
            <a:ext cx="241300" cy="4070985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  <p:txBody>
          <a:bodyPr/>
          <a:p/>
        </p:txBody>
      </p:sp>
      <p:sp>
        <p:nvSpPr>
          <p:cNvPr id="143" name="Text 99"/>
          <p:cNvSpPr/>
          <p:nvPr/>
        </p:nvSpPr>
        <p:spPr>
          <a:xfrm>
            <a:off x="4194175" y="349819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1,113</a:t>
            </a:r>
            <a:endParaRPr lang="en-US" sz="750" dirty="0"/>
          </a:p>
        </p:txBody>
      </p:sp>
      <p:sp>
        <p:nvSpPr>
          <p:cNvPr id="144" name="Text 100"/>
          <p:cNvSpPr/>
          <p:nvPr/>
        </p:nvSpPr>
        <p:spPr>
          <a:xfrm>
            <a:off x="4177919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年度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目标</a:t>
            </a:r>
            <a:endParaRPr lang="en-US" sz="650" dirty="0"/>
          </a:p>
        </p:txBody>
      </p:sp>
      <p:sp>
        <p:nvSpPr>
          <p:cNvPr id="145" name="Shape 101"/>
          <p:cNvSpPr/>
          <p:nvPr/>
        </p:nvSpPr>
        <p:spPr>
          <a:xfrm>
            <a:off x="4654423" y="5625084"/>
            <a:ext cx="91440" cy="0"/>
          </a:xfrm>
          <a:prstGeom prst="line">
            <a:avLst/>
          </a:prstGeom>
          <a:noFill/>
          <a:ln w="5080">
            <a:solidFill>
              <a:srgbClr val="94A3B8"/>
            </a:solidFill>
            <a:prstDash val="sysDot"/>
          </a:ln>
        </p:spPr>
        <p:txBody>
          <a:bodyPr/>
          <a:p/>
        </p:txBody>
      </p:sp>
      <p:sp>
        <p:nvSpPr>
          <p:cNvPr id="146" name="Shape 102"/>
          <p:cNvSpPr/>
          <p:nvPr/>
        </p:nvSpPr>
        <p:spPr>
          <a:xfrm>
            <a:off x="4563110" y="1554480"/>
            <a:ext cx="241200" cy="83251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47" name="Text 103"/>
          <p:cNvSpPr/>
          <p:nvPr/>
        </p:nvSpPr>
        <p:spPr>
          <a:xfrm>
            <a:off x="4480433" y="1331600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−228</a:t>
            </a:r>
            <a:endParaRPr lang="en-US" sz="75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8" name="Text 104"/>
          <p:cNvSpPr/>
          <p:nvPr/>
        </p:nvSpPr>
        <p:spPr>
          <a:xfrm>
            <a:off x="4495165" y="5658485"/>
            <a:ext cx="33845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业务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0" name="Shape 106"/>
          <p:cNvSpPr/>
          <p:nvPr/>
        </p:nvSpPr>
        <p:spPr>
          <a:xfrm>
            <a:off x="4860925" y="2386997"/>
            <a:ext cx="241200" cy="535213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1" name="Text 107"/>
          <p:cNvSpPr/>
          <p:nvPr/>
        </p:nvSpPr>
        <p:spPr>
          <a:xfrm>
            <a:off x="4785106" y="2164117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−146</a:t>
            </a:r>
            <a:endParaRPr lang="en-US" sz="7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2" name="Text 108"/>
          <p:cNvSpPr/>
          <p:nvPr/>
        </p:nvSpPr>
        <p:spPr>
          <a:xfrm>
            <a:off x="4789805" y="5657850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</a:t>
            </a:r>
            <a:endParaRPr 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313" name="Shape_313"/>
          <p:cNvSpPr/>
          <p:nvPr/>
        </p:nvSpPr>
        <p:spPr>
          <a:xfrm>
            <a:off x="5178425" y="2922210"/>
            <a:ext cx="241200" cy="462066"/>
          </a:xfrm>
          <a:prstGeom prst="rect">
            <a:avLst/>
          </a:prstGeom>
          <a:solidFill>
            <a:srgbClr val="EB954B"/>
          </a:solidFill>
          <a:ln w="9525">
            <a:solidFill>
              <a:srgbClr val="EB954B"/>
            </a:solidFill>
          </a:ln>
        </p:spPr>
        <p:txBody>
          <a:bodyPr/>
          <a:p/>
        </p:txBody>
      </p:sp>
      <p:sp>
        <p:nvSpPr>
          <p:cNvPr id="155" name="Shape 114"/>
          <p:cNvSpPr/>
          <p:nvPr/>
        </p:nvSpPr>
        <p:spPr>
          <a:xfrm>
            <a:off x="6605905" y="3737025"/>
            <a:ext cx="244475" cy="357503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6" name="Text 115"/>
          <p:cNvSpPr/>
          <p:nvPr/>
        </p:nvSpPr>
        <p:spPr>
          <a:xfrm>
            <a:off x="6517767" y="3514145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−98</a:t>
            </a:r>
            <a:endParaRPr lang="en-US" sz="750" b="1" dirty="0">
              <a:solidFill>
                <a:schemeClr val="accent4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7" name="Text 116"/>
          <p:cNvSpPr/>
          <p:nvPr/>
        </p:nvSpPr>
        <p:spPr>
          <a:xfrm>
            <a:off x="6577711" y="566064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59" name="Shape 118"/>
          <p:cNvSpPr/>
          <p:nvPr/>
        </p:nvSpPr>
        <p:spPr>
          <a:xfrm>
            <a:off x="6917055" y="4094529"/>
            <a:ext cx="241300" cy="65905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60" name="Text 119"/>
          <p:cNvSpPr/>
          <p:nvPr/>
        </p:nvSpPr>
        <p:spPr>
          <a:xfrm>
            <a:off x="6850380" y="3871649"/>
            <a:ext cx="349885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−18</a:t>
            </a:r>
            <a:endParaRPr lang="en-US" sz="700" dirty="0"/>
          </a:p>
        </p:txBody>
      </p:sp>
      <p:sp>
        <p:nvSpPr>
          <p:cNvPr id="161" name="Text 120"/>
          <p:cNvSpPr/>
          <p:nvPr/>
        </p:nvSpPr>
        <p:spPr>
          <a:xfrm>
            <a:off x="6943090" y="5668010"/>
            <a:ext cx="27813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</a:t>
            </a:r>
            <a:endParaRPr lang="en-US" sz="650" dirty="0"/>
          </a:p>
        </p:txBody>
      </p:sp>
      <p:sp>
        <p:nvSpPr>
          <p:cNvPr id="162" name="Shape 121"/>
          <p:cNvSpPr/>
          <p:nvPr/>
        </p:nvSpPr>
        <p:spPr>
          <a:xfrm>
            <a:off x="7194550" y="4160434"/>
            <a:ext cx="238760" cy="1464649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63" name="Text 122"/>
          <p:cNvSpPr/>
          <p:nvPr/>
        </p:nvSpPr>
        <p:spPr>
          <a:xfrm>
            <a:off x="7118223" y="3937554"/>
            <a:ext cx="3840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400</a:t>
            </a:r>
            <a:endParaRPr lang="en-US" sz="750" dirty="0"/>
          </a:p>
        </p:txBody>
      </p:sp>
      <p:sp>
        <p:nvSpPr>
          <p:cNvPr id="164" name="Text 123"/>
          <p:cNvSpPr/>
          <p:nvPr/>
        </p:nvSpPr>
        <p:spPr>
          <a:xfrm>
            <a:off x="7081647" y="5670804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预估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缺口</a:t>
            </a:r>
            <a:endParaRPr lang="en-US" sz="650" dirty="0"/>
          </a:p>
        </p:txBody>
      </p:sp>
      <p:sp>
        <p:nvSpPr>
          <p:cNvPr id="165" name="Text 108"/>
          <p:cNvSpPr/>
          <p:nvPr/>
        </p:nvSpPr>
        <p:spPr>
          <a:xfrm>
            <a:off x="5117465" y="5671185"/>
            <a:ext cx="3346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经代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8" name="Text 104"/>
          <p:cNvSpPr/>
          <p:nvPr/>
        </p:nvSpPr>
        <p:spPr>
          <a:xfrm>
            <a:off x="5420995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69" name="Text 107"/>
          <p:cNvSpPr/>
          <p:nvPr/>
        </p:nvSpPr>
        <p:spPr>
          <a:xfrm>
            <a:off x="5104765" y="2699330"/>
            <a:ext cx="384175" cy="971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−126</a:t>
            </a:r>
            <a:endParaRPr lang="en-US" sz="7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0" name="Shape_315"/>
          <p:cNvSpPr/>
          <p:nvPr/>
        </p:nvSpPr>
        <p:spPr>
          <a:xfrm>
            <a:off x="5488940" y="3384276"/>
            <a:ext cx="241200" cy="233886"/>
          </a:xfrm>
          <a:prstGeom prst="rect">
            <a:avLst/>
          </a:prstGeom>
          <a:solidFill>
            <a:srgbClr val="5295C3"/>
          </a:solidFill>
          <a:ln w="9525">
            <a:solidFill>
              <a:srgbClr val="2980B9"/>
            </a:solidFill>
          </a:ln>
        </p:spPr>
        <p:txBody>
          <a:bodyPr/>
          <a:p/>
        </p:txBody>
      </p:sp>
      <p:sp>
        <p:nvSpPr>
          <p:cNvPr id="171" name="Text_314"/>
          <p:cNvSpPr/>
          <p:nvPr/>
        </p:nvSpPr>
        <p:spPr>
          <a:xfrm>
            <a:off x="5525135" y="3161396"/>
            <a:ext cx="2495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5295C3"/>
                </a:solidFill>
                <a:cs typeface="+mn-lt"/>
              </a:rPr>
              <a:t>−64</a:t>
            </a:r>
            <a:endParaRPr lang="en-US" altLang="zh-CN" sz="750" b="1" dirty="0">
              <a:solidFill>
                <a:srgbClr val="5295C3"/>
              </a:solidFill>
              <a:cs typeface="+mn-lt"/>
            </a:endParaRPr>
          </a:p>
        </p:txBody>
      </p:sp>
      <p:sp>
        <p:nvSpPr>
          <p:cNvPr id="172" name="Shape_315"/>
          <p:cNvSpPr/>
          <p:nvPr/>
        </p:nvSpPr>
        <p:spPr>
          <a:xfrm>
            <a:off x="5778500" y="3618162"/>
            <a:ext cx="241300" cy="74609"/>
          </a:xfrm>
          <a:prstGeom prst="rect">
            <a:avLst/>
          </a:prstGeom>
          <a:solidFill>
            <a:srgbClr val="7030A0"/>
          </a:solidFill>
          <a:ln w="9525">
            <a:solidFill>
              <a:srgbClr val="7030A0"/>
            </a:solidFill>
          </a:ln>
        </p:spPr>
        <p:txBody>
          <a:bodyPr/>
          <a:p/>
        </p:txBody>
      </p:sp>
      <p:sp>
        <p:nvSpPr>
          <p:cNvPr id="173" name="Text_314"/>
          <p:cNvSpPr/>
          <p:nvPr/>
        </p:nvSpPr>
        <p:spPr>
          <a:xfrm>
            <a:off x="5805805" y="3395282"/>
            <a:ext cx="249555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7030A0"/>
                </a:solidFill>
                <a:cs typeface="+mn-lt"/>
              </a:rPr>
              <a:t>−20</a:t>
            </a:r>
            <a:endParaRPr lang="en-US" altLang="zh-CN" sz="750" b="1" dirty="0">
              <a:solidFill>
                <a:srgbClr val="7030A0"/>
              </a:solidFill>
              <a:cs typeface="+mn-lt"/>
            </a:endParaRPr>
          </a:p>
        </p:txBody>
      </p:sp>
      <p:sp>
        <p:nvSpPr>
          <p:cNvPr id="175" name="Text 104"/>
          <p:cNvSpPr/>
          <p:nvPr/>
        </p:nvSpPr>
        <p:spPr>
          <a:xfrm>
            <a:off x="5738495" y="566801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altLang="zh-CN" sz="65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76" name="Text 104"/>
          <p:cNvSpPr/>
          <p:nvPr/>
        </p:nvSpPr>
        <p:spPr>
          <a:xfrm>
            <a:off x="5946775" y="568325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77" name="Shape_315"/>
          <p:cNvSpPr/>
          <p:nvPr/>
        </p:nvSpPr>
        <p:spPr>
          <a:xfrm>
            <a:off x="6337300" y="3721592"/>
            <a:ext cx="241300" cy="1543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/>
          <a:p/>
        </p:txBody>
      </p:sp>
      <p:sp>
        <p:nvSpPr>
          <p:cNvPr id="178" name="Text_314"/>
          <p:cNvSpPr/>
          <p:nvPr/>
        </p:nvSpPr>
        <p:spPr>
          <a:xfrm>
            <a:off x="6356985" y="3498712"/>
            <a:ext cx="249555" cy="1333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chemeClr val="accent6">
                    <a:lumMod val="60000"/>
                    <a:lumOff val="40000"/>
                  </a:schemeClr>
                </a:solidFill>
                <a:cs typeface="+mn-lt"/>
              </a:rPr>
              <a:t>−4</a:t>
            </a:r>
            <a:endParaRPr lang="en-US" sz="750" b="1" dirty="0">
              <a:solidFill>
                <a:schemeClr val="accent6">
                  <a:lumMod val="60000"/>
                  <a:lumOff val="40000"/>
                </a:schemeClr>
              </a:solidFill>
              <a:cs typeface="+mn-lt"/>
            </a:endParaRPr>
          </a:p>
        </p:txBody>
      </p:sp>
      <p:sp>
        <p:nvSpPr>
          <p:cNvPr id="180" name="Text 104"/>
          <p:cNvSpPr/>
          <p:nvPr/>
        </p:nvSpPr>
        <p:spPr>
          <a:xfrm>
            <a:off x="6311900" y="567309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成事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家办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182" name="Shape_315"/>
          <p:cNvSpPr/>
          <p:nvPr/>
        </p:nvSpPr>
        <p:spPr>
          <a:xfrm flipV="1">
            <a:off x="6057900" y="3692772"/>
            <a:ext cx="241300" cy="28819"/>
          </a:xfrm>
          <a:prstGeom prst="rect">
            <a:avLst/>
          </a:prstGeom>
          <a:solidFill>
            <a:srgbClr val="C0392B"/>
          </a:solidFill>
          <a:ln w="9525">
            <a:solidFill>
              <a:srgbClr val="C0392B"/>
            </a:solidFill>
          </a:ln>
        </p:spPr>
        <p:txBody>
          <a:bodyPr/>
          <a:p/>
        </p:txBody>
      </p:sp>
      <p:sp>
        <p:nvSpPr>
          <p:cNvPr id="183" name="Text_314"/>
          <p:cNvSpPr/>
          <p:nvPr/>
        </p:nvSpPr>
        <p:spPr>
          <a:xfrm>
            <a:off x="6128385" y="3469892"/>
            <a:ext cx="249555" cy="139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750" b="1" dirty="0">
                <a:solidFill>
                  <a:srgbClr val="C00000"/>
                </a:solidFill>
                <a:cs typeface="+mn-lt"/>
              </a:rPr>
              <a:t>−8</a:t>
            </a:r>
            <a:endParaRPr lang="en-US" sz="750" b="1" dirty="0">
              <a:solidFill>
                <a:srgbClr val="C00000"/>
              </a:solidFill>
              <a:cs typeface="+mn-lt"/>
            </a:endParaRPr>
          </a:p>
        </p:txBody>
      </p:sp>
      <p:sp>
        <p:nvSpPr>
          <p:cNvPr id="185" name="Text 104"/>
          <p:cNvSpPr/>
          <p:nvPr/>
        </p:nvSpPr>
        <p:spPr>
          <a:xfrm>
            <a:off x="6007100" y="5662930"/>
            <a:ext cx="36004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合伙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zh-CN" altLang="en-US" sz="650" dirty="0">
                <a:solidFill>
                  <a:srgbClr val="37415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转介</a:t>
            </a:r>
            <a:endParaRPr lang="zh-CN" altLang="en-US" sz="6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  <a:p>
            <a:pPr marL="0" indent="0" algn="ctr">
              <a:buNone/>
            </a:pPr>
            <a:r>
              <a:rPr lang="en-US" sz="6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650" dirty="0"/>
          </a:p>
        </p:txBody>
      </p:sp>
      <p:sp>
        <p:nvSpPr>
          <p:cNvPr id="9002" name="s9002"/>
          <p:cNvSpPr/>
          <p:nvPr/>
        </p:nvSpPr>
        <p:spPr>
          <a:xfrm>
            <a:off x="7700450" y="992604"/>
            <a:ext cx="4323220" cy="25500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/>
          <a:p/>
        </p:txBody>
      </p:sp>
      <p:sp>
        <p:nvSpPr>
          <p:cNvPr id="9003" name="s9003"/>
          <p:cNvSpPr/>
          <p:nvPr/>
        </p:nvSpPr>
        <p:spPr>
          <a:xfrm>
            <a:off x="7700450" y="992604"/>
            <a:ext cx="5484" cy="25500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04" name="s9004"/>
          <p:cNvSpPr/>
          <p:nvPr/>
        </p:nvSpPr>
        <p:spPr>
          <a:xfrm>
            <a:off x="7774052" y="992604"/>
            <a:ext cx="4295800" cy="25500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  业务线月度三线趋势 — 预约 / 签单 / 批核（APE in M，Jan–Jul 2026）</a:t>
            </a:r>
            <a:endParaRPr lang="zh-CN" sz="9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0" name="ld0"/>
          <p:cNvSpPr/>
          <p:nvPr/>
        </p:nvSpPr>
        <p:spPr>
          <a:xfrm>
            <a:off x="10232480" y="6143402"/>
            <a:ext cx="36560" cy="36560"/>
          </a:xfrm>
          <a:prstGeom prst="ellipse">
            <a:avLst/>
          </a:prstGeom>
          <a:solidFill>
            <a:srgbClr val="2980B9"/>
          </a:solidFill>
          <a:ln>
            <a:noFill/>
          </a:ln>
        </p:spPr>
        <p:txBody>
          <a:bodyPr/>
          <a:p/>
        </p:txBody>
      </p:sp>
      <p:sp>
        <p:nvSpPr>
          <p:cNvPr id="9093" name="lt0"/>
          <p:cNvSpPr/>
          <p:nvPr/>
        </p:nvSpPr>
        <p:spPr>
          <a:xfrm>
            <a:off x="102877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预约</a:t>
            </a:r>
            <a:endParaRPr lang="zh-CN" sz="80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1" name="ld1"/>
          <p:cNvSpPr/>
          <p:nvPr/>
        </p:nvSpPr>
        <p:spPr>
          <a:xfrm>
            <a:off x="10780880" y="6143402"/>
            <a:ext cx="36560" cy="36560"/>
          </a:xfrm>
          <a:prstGeom prst="ellipse">
            <a:avLst/>
          </a:prstGeom>
          <a:solidFill>
            <a:srgbClr val="1A7A3F"/>
          </a:solidFill>
          <a:ln>
            <a:noFill/>
          </a:ln>
        </p:spPr>
        <p:txBody>
          <a:bodyPr/>
          <a:p/>
        </p:txBody>
      </p:sp>
      <p:sp>
        <p:nvSpPr>
          <p:cNvPr id="9094" name="lt1"/>
          <p:cNvSpPr/>
          <p:nvPr/>
        </p:nvSpPr>
        <p:spPr>
          <a:xfrm>
            <a:off x="108361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签单</a:t>
            </a:r>
            <a:endParaRPr lang="zh-CN" sz="80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92" name="ld2"/>
          <p:cNvSpPr/>
          <p:nvPr/>
        </p:nvSpPr>
        <p:spPr>
          <a:xfrm>
            <a:off x="11329280" y="6143402"/>
            <a:ext cx="36560" cy="365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/>
          <a:p/>
        </p:txBody>
      </p:sp>
      <p:sp>
        <p:nvSpPr>
          <p:cNvPr id="9095" name="lt2"/>
          <p:cNvSpPr/>
          <p:nvPr/>
        </p:nvSpPr>
        <p:spPr>
          <a:xfrm>
            <a:off x="11384505" y="6096162"/>
            <a:ext cx="475280" cy="502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批核</a:t>
            </a:r>
            <a:endParaRPr lang="zh-CN" sz="800" b="1" dirty="0">
              <a:solidFill>
                <a:srgbClr val="C0392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sp>
        <p:nvSpPr>
          <p:cNvPr id="9010" name="s9010"/>
          <p:cNvSpPr/>
          <p:nvPr/>
        </p:nvSpPr>
        <p:spPr>
          <a:xfrm>
            <a:off x="7750335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2" name="s9012"/>
          <p:cNvSpPr/>
          <p:nvPr/>
        </p:nvSpPr>
        <p:spPr>
          <a:xfrm>
            <a:off x="7759475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5295C3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天领业务</a:t>
            </a:r>
            <a:endParaRPr lang="zh-CN" sz="850" b="1" dirty="0">
              <a:solidFill>
                <a:srgbClr val="5295C3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3" name="C9013"/>
          <p:cNvGraphicFramePr>
            <a:graphicFrameLocks noGrp="1"/>
          </p:cNvGraphicFramePr>
          <p:nvPr/>
        </p:nvGraphicFramePr>
        <p:xfrm>
          <a:off x="7750175" y="1447800"/>
          <a:ext cx="2072005" cy="962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014" name="s9014"/>
          <p:cNvSpPr/>
          <p:nvPr/>
        </p:nvSpPr>
        <p:spPr>
          <a:xfrm>
            <a:off x="9881783" y="1287826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16" name="s9016"/>
          <p:cNvSpPr/>
          <p:nvPr/>
        </p:nvSpPr>
        <p:spPr>
          <a:xfrm>
            <a:off x="9890923" y="1296966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成事家办</a:t>
            </a:r>
            <a:endParaRPr lang="zh-CN" sz="850" b="1" dirty="0">
              <a:solidFill>
                <a:srgbClr val="16A085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17" name="C9017"/>
          <p:cNvGraphicFramePr>
            <a:graphicFrameLocks noGrp="1"/>
          </p:cNvGraphicFramePr>
          <p:nvPr/>
        </p:nvGraphicFramePr>
        <p:xfrm>
          <a:off x="9881870" y="1447800"/>
          <a:ext cx="2072005" cy="102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18" name="s9018"/>
          <p:cNvSpPr/>
          <p:nvPr/>
        </p:nvSpPr>
        <p:spPr>
          <a:xfrm>
            <a:off x="7759860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0" name="s9020"/>
          <p:cNvSpPr/>
          <p:nvPr/>
        </p:nvSpPr>
        <p:spPr>
          <a:xfrm>
            <a:off x="7769000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BK业务</a:t>
            </a:r>
            <a:endParaRPr lang="zh-CN" sz="850" b="1" dirty="0">
              <a:solidFill>
                <a:srgbClr val="1A7A3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1" name="C9021"/>
          <p:cNvGraphicFramePr>
            <a:graphicFrameLocks noGrp="1"/>
          </p:cNvGraphicFramePr>
          <p:nvPr/>
        </p:nvGraphicFramePr>
        <p:xfrm>
          <a:off x="7759700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022" name="s9022"/>
          <p:cNvSpPr/>
          <p:nvPr/>
        </p:nvSpPr>
        <p:spPr>
          <a:xfrm>
            <a:off x="9891308" y="2524997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4" name="s9024"/>
          <p:cNvSpPr/>
          <p:nvPr/>
        </p:nvSpPr>
        <p:spPr>
          <a:xfrm>
            <a:off x="9900448" y="2534137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同行经代</a:t>
            </a:r>
            <a:endParaRPr lang="zh-CN" sz="850" b="1" dirty="0">
              <a:solidFill>
                <a:srgbClr val="E67E22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5" name="C9025"/>
          <p:cNvGraphicFramePr>
            <a:graphicFrameLocks noGrp="1"/>
          </p:cNvGraphicFramePr>
          <p:nvPr/>
        </p:nvGraphicFramePr>
        <p:xfrm>
          <a:off x="9891395" y="2684780"/>
          <a:ext cx="2072005" cy="10039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26" name="s9026"/>
          <p:cNvSpPr/>
          <p:nvPr/>
        </p:nvSpPr>
        <p:spPr>
          <a:xfrm>
            <a:off x="7759860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28" name="s9028"/>
          <p:cNvSpPr/>
          <p:nvPr/>
        </p:nvSpPr>
        <p:spPr>
          <a:xfrm>
            <a:off x="7769000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永明经代</a:t>
            </a:r>
            <a:endParaRPr lang="zh-CN" sz="850" b="1" dirty="0">
              <a:solidFill>
                <a:srgbClr val="2980B9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29" name="C9029"/>
          <p:cNvGraphicFramePr>
            <a:graphicFrameLocks noGrp="1"/>
          </p:cNvGraphicFramePr>
          <p:nvPr/>
        </p:nvGraphicFramePr>
        <p:xfrm>
          <a:off x="7759860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030" name="s9030"/>
          <p:cNvSpPr/>
          <p:nvPr/>
        </p:nvSpPr>
        <p:spPr>
          <a:xfrm>
            <a:off x="9891308" y="3781218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2" name="s9032"/>
          <p:cNvSpPr/>
          <p:nvPr/>
        </p:nvSpPr>
        <p:spPr>
          <a:xfrm>
            <a:off x="9900448" y="3790358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850" b="1" dirty="0">
                <a:solidFill>
                  <a:srgbClr val="EB954B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合伙转介</a:t>
            </a:r>
            <a:endParaRPr lang="zh-CN" sz="850" b="1" dirty="0">
              <a:solidFill>
                <a:srgbClr val="EB954B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3" name="C9033"/>
          <p:cNvGraphicFramePr>
            <a:graphicFrameLocks noGrp="1"/>
          </p:cNvGraphicFramePr>
          <p:nvPr/>
        </p:nvGraphicFramePr>
        <p:xfrm>
          <a:off x="9891308" y="3941168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34" name="s9034"/>
          <p:cNvSpPr/>
          <p:nvPr/>
        </p:nvSpPr>
        <p:spPr>
          <a:xfrm>
            <a:off x="7759860" y="5027914"/>
            <a:ext cx="2072038" cy="1206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/>
          <a:p/>
        </p:txBody>
      </p:sp>
      <p:sp>
        <p:nvSpPr>
          <p:cNvPr id="9036" name="s9036"/>
          <p:cNvSpPr/>
          <p:nvPr/>
        </p:nvSpPr>
        <p:spPr>
          <a:xfrm>
            <a:off x="7769000" y="5037054"/>
            <a:ext cx="2053758" cy="14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950" b="1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ICLUB业务</a:t>
            </a:r>
            <a:endParaRPr lang="zh-CN" sz="950" b="1" dirty="0">
              <a:solidFill>
                <a:srgbClr val="7030A0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9037" name="C9037"/>
          <p:cNvGraphicFramePr>
            <a:graphicFrameLocks noGrp="1"/>
          </p:cNvGraphicFramePr>
          <p:nvPr/>
        </p:nvGraphicFramePr>
        <p:xfrm>
          <a:off x="7759860" y="5187864"/>
          <a:ext cx="2072038" cy="10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6" name="Shape 126"/>
          <p:cNvSpPr/>
          <p:nvPr/>
        </p:nvSpPr>
        <p:spPr>
          <a:xfrm>
            <a:off x="7700010" y="6308725"/>
            <a:ext cx="4323715" cy="375920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7" name="Shape 127"/>
          <p:cNvSpPr/>
          <p:nvPr/>
        </p:nvSpPr>
        <p:spPr>
          <a:xfrm flipV="1">
            <a:off x="7709535" y="6313805"/>
            <a:ext cx="4298315" cy="32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9" name="Text 128"/>
          <p:cNvSpPr/>
          <p:nvPr/>
        </p:nvSpPr>
        <p:spPr>
          <a:xfrm>
            <a:off x="7820025" y="6336030"/>
            <a:ext cx="3672840" cy="1377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0" name="Text 129"/>
          <p:cNvSpPr/>
          <p:nvPr/>
        </p:nvSpPr>
        <p:spPr>
          <a:xfrm>
            <a:off x="7802880" y="6452235"/>
            <a:ext cx="4047490" cy="2025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sz="5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sym typeface="+mn-ea"/>
              </a:rPr>
              <a:t>同行经代 6 月预约 38.6M/签单 36.4M 跃居各线首位(超永明经代)；BK 批核由 2 月峰 93.9M 落至 6 月 6.2M。各线节奏分化，需差异管理。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0"/>
          <p:cNvSpPr/>
          <p:nvPr/>
        </p:nvSpPr>
        <p:spPr>
          <a:xfrm>
            <a:off x="4608830" y="3375660"/>
            <a:ext cx="746125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业务端视角仪表盘  |  Sales &amp; Channel View 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" y="558800"/>
            <a:ext cx="4389120" cy="6144768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1440" y="548640"/>
            <a:ext cx="4389120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422452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  保单阶段构成（100%堆叠）— 各业务线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109728" cy="10972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627632" y="877824"/>
            <a:ext cx="109728" cy="10972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764792" y="877824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373120" y="886714"/>
            <a:ext cx="109728" cy="10972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93135" y="896239"/>
            <a:ext cx="9144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6568" y="4436618"/>
            <a:ext cx="36576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99720" y="443661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9720" y="461949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254.3M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579880" y="445490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79880" y="4454906"/>
            <a:ext cx="103746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616456" y="4509770"/>
            <a:ext cx="98259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617340" y="4454906"/>
            <a:ext cx="50352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3916" y="4509770"/>
            <a:ext cx="4486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10%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120859" y="4454906"/>
            <a:ext cx="31789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198368" y="450062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227.6▌25.1▌1.6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26568" y="5662422"/>
            <a:ext cx="36576" cy="347472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99720" y="56624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99720" y="58453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170.2M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1579880" y="56807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579880" y="5680710"/>
            <a:ext cx="97623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616456" y="5735574"/>
            <a:ext cx="92137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86%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56116" y="5680710"/>
            <a:ext cx="494608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592692" y="5735574"/>
            <a:ext cx="43974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12%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050723" y="5680710"/>
            <a:ext cx="101925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198368" y="57264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146.3▌20.9▌3.0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6568" y="2581021"/>
            <a:ext cx="36576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99720" y="2581021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99720" y="2763901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171.1M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1579880" y="2599309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79880" y="2599309"/>
            <a:ext cx="1071950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616456" y="2654173"/>
            <a:ext cx="101708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74%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651830" y="2599309"/>
            <a:ext cx="40485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2688406" y="2654173"/>
            <a:ext cx="3499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22%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056685" y="2599309"/>
            <a:ext cx="95963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198368" y="2645029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126.3▌37.8▌6.9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26568" y="5058410"/>
            <a:ext cx="36576" cy="34747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9720" y="5058410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99720" y="5241290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78.9M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1579880" y="5076698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579880" y="5076698"/>
            <a:ext cx="979456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616456" y="5131562"/>
            <a:ext cx="9245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81%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559336" y="5076698"/>
            <a:ext cx="365641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2595912" y="5131562"/>
            <a:ext cx="310777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11%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924977" y="5076698"/>
            <a:ext cx="227671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198368" y="512241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64.0▌8.6▌6.3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226568" y="1982724"/>
            <a:ext cx="36576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299720" y="1982724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99720" y="2165604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20.4M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1579880" y="2001012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579880" y="2001012"/>
            <a:ext cx="1530698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616456" y="2055876"/>
            <a:ext cx="147583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110578" y="2001012"/>
            <a:ext cx="42070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198368" y="204673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20.4▌0.0▌0.0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26568" y="3164078"/>
            <a:ext cx="36576" cy="34747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299720" y="3164078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299720" y="3346958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8.8M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1579880" y="3182366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1579880" y="3182366"/>
            <a:ext cx="1051699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16456" y="3237230"/>
            <a:ext cx="99683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89%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631579" y="3182366"/>
            <a:ext cx="411119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2668155" y="3237230"/>
            <a:ext cx="356255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3042698" y="3182366"/>
            <a:ext cx="10995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3198368" y="322808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7.9▌0.7▌0.2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1697990" y="1056640"/>
            <a:ext cx="142176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绿=批核 M  |  橙=未批核 M  |  蓝=待签 M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91440" y="6309360"/>
            <a:ext cx="43891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91440" y="6309360"/>
            <a:ext cx="438912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182880" y="6345936"/>
            <a:ext cx="422452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1" name="Text 89"/>
          <p:cNvSpPr/>
          <p:nvPr/>
        </p:nvSpPr>
        <p:spPr>
          <a:xfrm>
            <a:off x="182880" y="6474333"/>
            <a:ext cx="422452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同行经代未批占比最高(22%/37.8M)催核优先;永明经代未批降至12%(20.9M)催核见效;合伙转介52%但仅4.6M。按未批规模推进。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4608830" y="548640"/>
            <a:ext cx="7461250" cy="273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4608576" y="548640"/>
            <a:ext cx="7461504" cy="2560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4700016" y="585216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  保单总量构成 — 甜甜圈 &amp; 阶段 KPI</a:t>
            </a:r>
            <a:endParaRPr lang="en-US" sz="850" dirty="0"/>
          </a:p>
        </p:txBody>
      </p:sp>
      <p:graphicFrame>
        <p:nvGraphicFramePr>
          <p:cNvPr id="95" name="Chart 0"/>
          <p:cNvGraphicFramePr/>
          <p:nvPr/>
        </p:nvGraphicFramePr>
        <p:xfrm>
          <a:off x="4700270" y="841375"/>
          <a:ext cx="2377440" cy="2045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6" name="Shape 93"/>
          <p:cNvSpPr/>
          <p:nvPr/>
        </p:nvSpPr>
        <p:spPr>
          <a:xfrm>
            <a:off x="7242175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7" name="Shape 94"/>
          <p:cNvSpPr/>
          <p:nvPr/>
        </p:nvSpPr>
        <p:spPr>
          <a:xfrm>
            <a:off x="7242048" y="852678"/>
            <a:ext cx="1444752" cy="457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98" name="Text 95"/>
          <p:cNvSpPr/>
          <p:nvPr/>
        </p:nvSpPr>
        <p:spPr>
          <a:xfrm>
            <a:off x="7333488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已批核</a:t>
            </a:r>
            <a:endParaRPr lang="en-US" sz="900" dirty="0"/>
          </a:p>
        </p:txBody>
      </p:sp>
      <p:sp>
        <p:nvSpPr>
          <p:cNvPr id="99" name="Text 96"/>
          <p:cNvSpPr/>
          <p:nvPr/>
        </p:nvSpPr>
        <p:spPr>
          <a:xfrm>
            <a:off x="7333488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596.8M</a:t>
            </a:r>
            <a:endParaRPr lang="en-US" sz="2200" dirty="0"/>
          </a:p>
        </p:txBody>
      </p:sp>
      <p:sp>
        <p:nvSpPr>
          <p:cNvPr id="100" name="Text 97"/>
          <p:cNvSpPr/>
          <p:nvPr/>
        </p:nvSpPr>
        <p:spPr>
          <a:xfrm>
            <a:off x="7333488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1122件  83.8%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7333488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02" name="Shape 99"/>
          <p:cNvSpPr/>
          <p:nvPr/>
        </p:nvSpPr>
        <p:spPr>
          <a:xfrm>
            <a:off x="7333488" y="1821942"/>
            <a:ext cx="839785" cy="146304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03" name="Text 100"/>
          <p:cNvSpPr/>
          <p:nvPr/>
        </p:nvSpPr>
        <p:spPr>
          <a:xfrm>
            <a:off x="7333488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83.8%  占管道总量</a:t>
            </a:r>
            <a:endParaRPr lang="en-US" sz="700" dirty="0"/>
          </a:p>
        </p:txBody>
      </p:sp>
      <p:sp>
        <p:nvSpPr>
          <p:cNvPr id="104" name="Text 101"/>
          <p:cNvSpPr/>
          <p:nvPr/>
        </p:nvSpPr>
        <p:spPr>
          <a:xfrm>
            <a:off x="7333488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1122件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7333488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712.5M 中占</a:t>
            </a:r>
            <a:endParaRPr lang="en-US" sz="650" dirty="0"/>
          </a:p>
        </p:txBody>
      </p:sp>
      <p:sp>
        <p:nvSpPr>
          <p:cNvPr id="106" name="Text 103"/>
          <p:cNvSpPr/>
          <p:nvPr/>
        </p:nvSpPr>
        <p:spPr>
          <a:xfrm>
            <a:off x="7333488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83.8%</a:t>
            </a:r>
            <a:endParaRPr lang="en-US" sz="1600" dirty="0"/>
          </a:p>
        </p:txBody>
      </p:sp>
      <p:sp>
        <p:nvSpPr>
          <p:cNvPr id="107" name="Shape 104"/>
          <p:cNvSpPr/>
          <p:nvPr/>
        </p:nvSpPr>
        <p:spPr>
          <a:xfrm>
            <a:off x="8815070" y="852805"/>
            <a:ext cx="1444625" cy="1991360"/>
          </a:xfrm>
          <a:prstGeom prst="rect">
            <a:avLst/>
          </a:prstGeom>
          <a:solidFill>
            <a:srgbClr val="F5F7F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8" name="Shape 105"/>
          <p:cNvSpPr/>
          <p:nvPr/>
        </p:nvSpPr>
        <p:spPr>
          <a:xfrm>
            <a:off x="8814816" y="852678"/>
            <a:ext cx="1444752" cy="457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09" name="Text 106"/>
          <p:cNvSpPr/>
          <p:nvPr/>
        </p:nvSpPr>
        <p:spPr>
          <a:xfrm>
            <a:off x="8906256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8906256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97.8M</a:t>
            </a:r>
            <a:endParaRPr lang="en-US" sz="2200" dirty="0"/>
          </a:p>
        </p:txBody>
      </p:sp>
      <p:sp>
        <p:nvSpPr>
          <p:cNvPr id="111" name="Text 108"/>
          <p:cNvSpPr/>
          <p:nvPr/>
        </p:nvSpPr>
        <p:spPr>
          <a:xfrm>
            <a:off x="8906256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233件  13.7%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8906256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13" name="Shape 110"/>
          <p:cNvSpPr/>
          <p:nvPr/>
        </p:nvSpPr>
        <p:spPr>
          <a:xfrm>
            <a:off x="8906256" y="1821942"/>
            <a:ext cx="382768" cy="146304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14" name="Text 111"/>
          <p:cNvSpPr/>
          <p:nvPr/>
        </p:nvSpPr>
        <p:spPr>
          <a:xfrm>
            <a:off x="8906256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13.7%  占管道总量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8906256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233件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8906256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712.5M 中占</a:t>
            </a:r>
            <a:endParaRPr lang="en-US" sz="650" dirty="0"/>
          </a:p>
        </p:txBody>
      </p:sp>
      <p:sp>
        <p:nvSpPr>
          <p:cNvPr id="117" name="Text 114"/>
          <p:cNvSpPr/>
          <p:nvPr/>
        </p:nvSpPr>
        <p:spPr>
          <a:xfrm>
            <a:off x="8906256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13.7%</a:t>
            </a:r>
            <a:endParaRPr lang="en-US" sz="1600" dirty="0"/>
          </a:p>
        </p:txBody>
      </p:sp>
      <p:sp>
        <p:nvSpPr>
          <p:cNvPr id="118" name="Shape 115"/>
          <p:cNvSpPr/>
          <p:nvPr/>
        </p:nvSpPr>
        <p:spPr>
          <a:xfrm>
            <a:off x="10387330" y="852805"/>
            <a:ext cx="1444625" cy="1990725"/>
          </a:xfrm>
          <a:prstGeom prst="rect">
            <a:avLst/>
          </a:prstGeom>
          <a:solidFill>
            <a:srgbClr val="F5F7FA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19" name="Shape 116"/>
          <p:cNvSpPr/>
          <p:nvPr/>
        </p:nvSpPr>
        <p:spPr>
          <a:xfrm>
            <a:off x="10387584" y="852678"/>
            <a:ext cx="1444752" cy="45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0" name="Text 117"/>
          <p:cNvSpPr/>
          <p:nvPr/>
        </p:nvSpPr>
        <p:spPr>
          <a:xfrm>
            <a:off x="10479024" y="94411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900" dirty="0"/>
          </a:p>
        </p:txBody>
      </p:sp>
      <p:sp>
        <p:nvSpPr>
          <p:cNvPr id="121" name="Text 118"/>
          <p:cNvSpPr/>
          <p:nvPr/>
        </p:nvSpPr>
        <p:spPr>
          <a:xfrm>
            <a:off x="10479024" y="1163574"/>
            <a:ext cx="1316736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en-US" sz="2200" dirty="0"/>
          </a:p>
        </p:txBody>
      </p:sp>
      <p:sp>
        <p:nvSpPr>
          <p:cNvPr id="122" name="Text 119"/>
          <p:cNvSpPr/>
          <p:nvPr/>
        </p:nvSpPr>
        <p:spPr>
          <a:xfrm>
            <a:off x="10479024" y="1584198"/>
            <a:ext cx="13167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   2.5%</a:t>
            </a:r>
            <a:endParaRPr lang="en-US" sz="800" dirty="0"/>
          </a:p>
        </p:txBody>
      </p:sp>
      <p:sp>
        <p:nvSpPr>
          <p:cNvPr id="123" name="Shape 120"/>
          <p:cNvSpPr/>
          <p:nvPr/>
        </p:nvSpPr>
        <p:spPr>
          <a:xfrm>
            <a:off x="10479024" y="1821942"/>
            <a:ext cx="1280160" cy="146304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24" name="Shape 121"/>
          <p:cNvSpPr/>
          <p:nvPr/>
        </p:nvSpPr>
        <p:spPr>
          <a:xfrm>
            <a:off x="10479024" y="1821942"/>
            <a:ext cx="57607" cy="146304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25" name="Text 122"/>
          <p:cNvSpPr/>
          <p:nvPr/>
        </p:nvSpPr>
        <p:spPr>
          <a:xfrm>
            <a:off x="10479024" y="2004822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2.5%  占管道总量</a:t>
            </a:r>
            <a:endParaRPr lang="en-US" sz="700" dirty="0"/>
          </a:p>
        </p:txBody>
      </p:sp>
      <p:sp>
        <p:nvSpPr>
          <p:cNvPr id="126" name="Text 123"/>
          <p:cNvSpPr/>
          <p:nvPr/>
        </p:nvSpPr>
        <p:spPr>
          <a:xfrm>
            <a:off x="10479024" y="2205990"/>
            <a:ext cx="131673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en-US" sz="900" dirty="0"/>
          </a:p>
        </p:txBody>
      </p:sp>
      <p:sp>
        <p:nvSpPr>
          <p:cNvPr id="127" name="Text 124"/>
          <p:cNvSpPr/>
          <p:nvPr/>
        </p:nvSpPr>
        <p:spPr>
          <a:xfrm>
            <a:off x="10479024" y="2407158"/>
            <a:ext cx="131673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712.5M 中占</a:t>
            </a:r>
            <a:endParaRPr lang="en-US" sz="650" dirty="0"/>
          </a:p>
        </p:txBody>
      </p:sp>
      <p:sp>
        <p:nvSpPr>
          <p:cNvPr id="128" name="Text 125"/>
          <p:cNvSpPr/>
          <p:nvPr/>
        </p:nvSpPr>
        <p:spPr>
          <a:xfrm>
            <a:off x="10479024" y="2571750"/>
            <a:ext cx="1316736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2.5%</a:t>
            </a:r>
            <a:endParaRPr lang="en-US" sz="1600" dirty="0"/>
          </a:p>
        </p:txBody>
      </p:sp>
      <p:sp>
        <p:nvSpPr>
          <p:cNvPr id="129" name="Shape 126"/>
          <p:cNvSpPr/>
          <p:nvPr/>
        </p:nvSpPr>
        <p:spPr>
          <a:xfrm>
            <a:off x="4608576" y="2902077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0" name="Shape 127"/>
          <p:cNvSpPr/>
          <p:nvPr/>
        </p:nvSpPr>
        <p:spPr>
          <a:xfrm>
            <a:off x="4608576" y="2902077"/>
            <a:ext cx="7461504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131" name="Text 128"/>
          <p:cNvSpPr/>
          <p:nvPr/>
        </p:nvSpPr>
        <p:spPr>
          <a:xfrm>
            <a:off x="4700016" y="2938653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32" name="Text 129"/>
          <p:cNvSpPr/>
          <p:nvPr/>
        </p:nvSpPr>
        <p:spPr>
          <a:xfrm>
            <a:off x="4700016" y="3057525"/>
            <a:ext cx="729691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管道 712.5M:已批 596.7M(83.8%)、未批 97.8M(13.7%)、待签 18.0M(2.5%)。在途 115.8M 转化可推高达成约 10pct。</a:t>
            </a:r>
            <a:endParaRPr lang="en-US" sz="550" dirty="0"/>
          </a:p>
        </p:txBody>
      </p:sp>
      <p:sp>
        <p:nvSpPr>
          <p:cNvPr id="134" name="Shape 131"/>
          <p:cNvSpPr/>
          <p:nvPr/>
        </p:nvSpPr>
        <p:spPr>
          <a:xfrm>
            <a:off x="4608576" y="3362706"/>
            <a:ext cx="7461504" cy="2560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5" name="Text 132"/>
          <p:cNvSpPr/>
          <p:nvPr/>
        </p:nvSpPr>
        <p:spPr>
          <a:xfrm>
            <a:off x="4700016" y="3399282"/>
            <a:ext cx="7296912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目标 vs 已批核/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未批核</a:t>
            </a:r>
            <a:r>
              <a:rPr lang="en-US" altLang="zh-CN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/</a:t>
            </a:r>
            <a:r>
              <a:rPr lang="zh-CN" alt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待签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APE — 各业务线对比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M）</a:t>
            </a:r>
            <a:endParaRPr lang="en-US" sz="850" dirty="0"/>
          </a:p>
        </p:txBody>
      </p:sp>
      <p:sp>
        <p:nvSpPr>
          <p:cNvPr id="137" name="Shape 133"/>
          <p:cNvSpPr/>
          <p:nvPr/>
        </p:nvSpPr>
        <p:spPr>
          <a:xfrm>
            <a:off x="4608576" y="6309360"/>
            <a:ext cx="7461504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38" name="Shape 134"/>
          <p:cNvSpPr/>
          <p:nvPr/>
        </p:nvSpPr>
        <p:spPr>
          <a:xfrm>
            <a:off x="4608576" y="6309360"/>
            <a:ext cx="7461504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39" name="Text 135"/>
          <p:cNvSpPr/>
          <p:nvPr/>
        </p:nvSpPr>
        <p:spPr>
          <a:xfrm>
            <a:off x="4700016" y="6345936"/>
            <a:ext cx="7296912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4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graphicFrame>
        <p:nvGraphicFramePr>
          <p:cNvPr id="400" name="Chart_JM"/>
          <p:cNvGraphicFramePr/>
          <p:nvPr/>
        </p:nvGraphicFramePr>
        <p:xfrm>
          <a:off x="4698365" y="3629660"/>
          <a:ext cx="7299325" cy="26739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1" name="Text 29"/>
          <p:cNvSpPr/>
          <p:nvPr/>
        </p:nvSpPr>
        <p:spPr>
          <a:xfrm>
            <a:off x="4700270" y="6467475"/>
            <a:ext cx="6459220" cy="200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批核 227.6M/目标 200M=113.8% 超额。永明经代目标最大(340M)批 146.3M、缺口 194M 最大;天领 63.9/193M、同行经代 126.3/160M 亦缺口显著,是冲刺重点。</a:t>
            </a:r>
            <a:endParaRPr lang="en-US" sz="550" dirty="0"/>
          </a:p>
        </p:txBody>
      </p:sp>
      <p:sp>
        <p:nvSpPr>
          <p:cNvPr id="143" name="Shape 70"/>
          <p:cNvSpPr/>
          <p:nvPr/>
        </p:nvSpPr>
        <p:spPr>
          <a:xfrm>
            <a:off x="226568" y="3808222"/>
            <a:ext cx="36576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144" name="Text 71"/>
          <p:cNvSpPr/>
          <p:nvPr/>
        </p:nvSpPr>
        <p:spPr>
          <a:xfrm>
            <a:off x="299720" y="3808222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50" dirty="0"/>
          </a:p>
        </p:txBody>
      </p:sp>
      <p:sp>
        <p:nvSpPr>
          <p:cNvPr id="145" name="Text 72"/>
          <p:cNvSpPr/>
          <p:nvPr/>
        </p:nvSpPr>
        <p:spPr>
          <a:xfrm>
            <a:off x="299720" y="3991102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8.9M</a:t>
            </a:r>
            <a:endParaRPr lang="en-US" sz="650" dirty="0"/>
          </a:p>
        </p:txBody>
      </p:sp>
      <p:sp>
        <p:nvSpPr>
          <p:cNvPr id="146" name="Shape 73"/>
          <p:cNvSpPr/>
          <p:nvPr/>
        </p:nvSpPr>
        <p:spPr>
          <a:xfrm>
            <a:off x="1579880" y="3826510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7" name="Shape 74"/>
          <p:cNvSpPr/>
          <p:nvPr/>
        </p:nvSpPr>
        <p:spPr>
          <a:xfrm>
            <a:off x="1579880" y="3826510"/>
            <a:ext cx="459202" cy="27432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48" name="Text 75"/>
          <p:cNvSpPr/>
          <p:nvPr/>
        </p:nvSpPr>
        <p:spPr>
          <a:xfrm>
            <a:off x="1616456" y="3881374"/>
            <a:ext cx="40433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48%</a:t>
            </a:r>
            <a:endParaRPr lang="en-US" sz="750" dirty="0"/>
          </a:p>
        </p:txBody>
      </p:sp>
      <p:sp>
        <p:nvSpPr>
          <p:cNvPr id="149" name="Shape 76"/>
          <p:cNvSpPr/>
          <p:nvPr/>
        </p:nvSpPr>
        <p:spPr>
          <a:xfrm>
            <a:off x="2039082" y="3826510"/>
            <a:ext cx="1093476" cy="27432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150" name="Text 77"/>
          <p:cNvSpPr/>
          <p:nvPr/>
        </p:nvSpPr>
        <p:spPr>
          <a:xfrm>
            <a:off x="2075658" y="3881374"/>
            <a:ext cx="103861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52%</a:t>
            </a:r>
            <a:endParaRPr lang="en-US" sz="750" dirty="0"/>
          </a:p>
        </p:txBody>
      </p:sp>
      <p:sp>
        <p:nvSpPr>
          <p:cNvPr id="151" name="Shape 78"/>
          <p:cNvSpPr/>
          <p:nvPr/>
        </p:nvSpPr>
        <p:spPr>
          <a:xfrm>
            <a:off x="3132558" y="3826510"/>
            <a:ext cx="20090" cy="2743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  <p:txBody>
          <a:bodyPr/>
          <a:p/>
        </p:txBody>
      </p:sp>
      <p:sp>
        <p:nvSpPr>
          <p:cNvPr id="152" name="Text 79"/>
          <p:cNvSpPr/>
          <p:nvPr/>
        </p:nvSpPr>
        <p:spPr>
          <a:xfrm>
            <a:off x="3198368" y="387223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4.2▌4.6▌0.0</a:t>
            </a:r>
            <a:endParaRPr lang="en-US" sz="700" dirty="0"/>
          </a:p>
        </p:txBody>
      </p:sp>
      <p:sp>
        <p:nvSpPr>
          <p:cNvPr id="154" name="Shape 80"/>
          <p:cNvSpPr/>
          <p:nvPr/>
        </p:nvSpPr>
        <p:spPr>
          <a:xfrm>
            <a:off x="226568" y="1447546"/>
            <a:ext cx="36576" cy="347472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p/>
        </p:txBody>
      </p:sp>
      <p:sp>
        <p:nvSpPr>
          <p:cNvPr id="155" name="Text 81"/>
          <p:cNvSpPr/>
          <p:nvPr/>
        </p:nvSpPr>
        <p:spPr>
          <a:xfrm>
            <a:off x="299720" y="1447546"/>
            <a:ext cx="12435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0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50" dirty="0"/>
          </a:p>
        </p:txBody>
      </p:sp>
      <p:sp>
        <p:nvSpPr>
          <p:cNvPr id="156" name="Text 82"/>
          <p:cNvSpPr/>
          <p:nvPr/>
        </p:nvSpPr>
        <p:spPr>
          <a:xfrm>
            <a:off x="299720" y="1630426"/>
            <a:ext cx="1243584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 0.0M</a:t>
            </a:r>
            <a:endParaRPr lang="en-US" sz="650" dirty="0"/>
          </a:p>
        </p:txBody>
      </p:sp>
      <p:sp>
        <p:nvSpPr>
          <p:cNvPr id="157" name="Shape 83"/>
          <p:cNvSpPr/>
          <p:nvPr/>
        </p:nvSpPr>
        <p:spPr>
          <a:xfrm>
            <a:off x="1579880" y="1465834"/>
            <a:ext cx="1572768" cy="27432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58" name="Text 84"/>
          <p:cNvSpPr/>
          <p:nvPr/>
        </p:nvSpPr>
        <p:spPr>
          <a:xfrm>
            <a:off x="3198368" y="151155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0.0▌0.0▌0.0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85470"/>
            <a:ext cx="59436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" y="548640"/>
            <a:ext cx="594360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58521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  全流程转化漏斗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03250" y="10502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03250" y="1050290"/>
            <a:ext cx="2277110" cy="27051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01295" y="1121410"/>
            <a:ext cx="348615" cy="1149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8495" y="1094105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424.8M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51175" y="1094105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1070件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03250" y="1482090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250" y="1482090"/>
            <a:ext cx="1980565" cy="27051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01295" y="152654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58495" y="153543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407.8M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39390" y="152654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1038件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250" y="194119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3250" y="1941195"/>
            <a:ext cx="1568450" cy="270510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01295" y="1967230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递交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495" y="197612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410.2M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06320" y="1985010"/>
            <a:ext cx="69659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1033件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250" y="2355215"/>
            <a:ext cx="4699000" cy="27051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03250" y="2355215"/>
            <a:ext cx="4426585" cy="27051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01295" y="2435225"/>
            <a:ext cx="34861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58495" y="2425700"/>
            <a:ext cx="1044575" cy="1231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593.6M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88899" y="2419604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1121件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" y="2980944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" y="2980944"/>
            <a:ext cx="594360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82880" y="3017520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33" name="Text 31"/>
          <p:cNvSpPr/>
          <p:nvPr/>
        </p:nvSpPr>
        <p:spPr>
          <a:xfrm>
            <a:off x="182880" y="3136392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全流程:预约 424.8M→签单 407.8M→递交 410.2M→批核 593.6M。批核高于预约因含跨周积压释放;预约→签单留存约 96% 高效,前端获客是天花板,需扩预约入口。</a:t>
            </a:r>
            <a:endParaRPr lang="en-US" sz="550" dirty="0"/>
          </a:p>
        </p:txBody>
      </p:sp>
      <p:sp>
        <p:nvSpPr>
          <p:cNvPr id="34" name="Shape 32"/>
          <p:cNvSpPr/>
          <p:nvPr/>
        </p:nvSpPr>
        <p:spPr>
          <a:xfrm>
            <a:off x="6163056" y="548640"/>
            <a:ext cx="5888736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163056" y="548640"/>
            <a:ext cx="5888736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254496" y="58521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 周度APE波动趋势（预约/签单/递交/批核）</a:t>
            </a:r>
            <a:endParaRPr lang="en-US" sz="8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6272784" y="841248"/>
          <a:ext cx="5687568" cy="20482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8" name="Shape 35"/>
          <p:cNvSpPr/>
          <p:nvPr/>
        </p:nvSpPr>
        <p:spPr>
          <a:xfrm>
            <a:off x="6163056" y="2980944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6163056" y="2980944"/>
            <a:ext cx="5888736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6254496" y="3017520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41" name="Text 38"/>
          <p:cNvSpPr/>
          <p:nvPr/>
        </p:nvSpPr>
        <p:spPr>
          <a:xfrm>
            <a:off x="6254496" y="3136392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周度脉冲明显:批核 W08 峰 67.0M 为存量集中放款,签单 W21 峰 33.8M、预约 W05 峰 28.2M,W07 普遍低谷。四阶段节奏错位,需平滑执行。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91440" y="3493008"/>
            <a:ext cx="3840480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91440" y="3493008"/>
            <a:ext cx="3840480" cy="2560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182880" y="3529584"/>
            <a:ext cx="367588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本周业绩快报 — W27（2026）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201168" y="3803904"/>
            <a:ext cx="3639312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256032" y="3840480"/>
            <a:ext cx="68580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41832" y="3840480"/>
            <a:ext cx="96012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APE（M）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901952" y="3840480"/>
            <a:ext cx="59436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2496312" y="3840480"/>
            <a:ext cx="1389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201168" y="4023360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1" name="Shape 48"/>
          <p:cNvSpPr/>
          <p:nvPr/>
        </p:nvSpPr>
        <p:spPr>
          <a:xfrm>
            <a:off x="201168" y="4023360"/>
            <a:ext cx="36576" cy="4023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274320" y="4114800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941832" y="4096512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23.2M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1901952" y="4114800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54件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2496312" y="4114800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环比+60.7%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01168" y="4443984"/>
            <a:ext cx="3639312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57" name="Shape 54"/>
          <p:cNvSpPr/>
          <p:nvPr/>
        </p:nvSpPr>
        <p:spPr>
          <a:xfrm>
            <a:off x="201168" y="4443984"/>
            <a:ext cx="36576" cy="40233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274320" y="4535424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941832" y="4517136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10.0M</a:t>
            </a:r>
            <a:endParaRPr lang="en-US" sz="1400" dirty="0"/>
          </a:p>
        </p:txBody>
      </p:sp>
      <p:sp>
        <p:nvSpPr>
          <p:cNvPr id="60" name="Text 57"/>
          <p:cNvSpPr/>
          <p:nvPr/>
        </p:nvSpPr>
        <p:spPr>
          <a:xfrm>
            <a:off x="1901952" y="4535424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30件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2496312" y="4535424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 环比-49.6%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201168" y="4864608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63" name="Shape 60"/>
          <p:cNvSpPr/>
          <p:nvPr/>
        </p:nvSpPr>
        <p:spPr>
          <a:xfrm>
            <a:off x="201168" y="4864608"/>
            <a:ext cx="36576" cy="40233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274320" y="4956048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941832" y="4937760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16.0M</a:t>
            </a:r>
            <a:endParaRPr lang="en-US" sz="1400" dirty="0"/>
          </a:p>
        </p:txBody>
      </p:sp>
      <p:sp>
        <p:nvSpPr>
          <p:cNvPr id="66" name="Text 63"/>
          <p:cNvSpPr/>
          <p:nvPr/>
        </p:nvSpPr>
        <p:spPr>
          <a:xfrm>
            <a:off x="1901952" y="4956048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en-US" sz="1000" dirty="0"/>
          </a:p>
        </p:txBody>
      </p:sp>
      <p:sp>
        <p:nvSpPr>
          <p:cNvPr id="67" name="Text 64"/>
          <p:cNvSpPr/>
          <p:nvPr/>
        </p:nvSpPr>
        <p:spPr>
          <a:xfrm>
            <a:off x="2496312" y="4956048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▲ 环比+40.8%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01168" y="5285232"/>
            <a:ext cx="3639312" cy="402336"/>
          </a:xfrm>
          <a:prstGeom prst="rect">
            <a:avLst/>
          </a:prstGeom>
          <a:solidFill>
            <a:srgbClr val="FFF8E1"/>
          </a:solidFill>
          <a:ln w="1016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69" name="Shape 66"/>
          <p:cNvSpPr/>
          <p:nvPr/>
        </p:nvSpPr>
        <p:spPr>
          <a:xfrm>
            <a:off x="201168" y="5285232"/>
            <a:ext cx="36576" cy="402336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67"/>
          <p:cNvSpPr/>
          <p:nvPr/>
        </p:nvSpPr>
        <p:spPr>
          <a:xfrm>
            <a:off x="274320" y="5376672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</a:t>
            </a:r>
            <a:endParaRPr lang="en-US" sz="1000" dirty="0"/>
          </a:p>
        </p:txBody>
      </p:sp>
      <p:sp>
        <p:nvSpPr>
          <p:cNvPr id="71" name="Text 68"/>
          <p:cNvSpPr/>
          <p:nvPr/>
        </p:nvSpPr>
        <p:spPr>
          <a:xfrm>
            <a:off x="911352" y="5358384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97.8M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1901952" y="5376672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233件</a:t>
            </a:r>
            <a:endParaRPr lang="en-US" sz="1000" dirty="0"/>
          </a:p>
        </p:txBody>
      </p:sp>
      <p:sp>
        <p:nvSpPr>
          <p:cNvPr id="73" name="Text 70"/>
          <p:cNvSpPr/>
          <p:nvPr/>
        </p:nvSpPr>
        <p:spPr>
          <a:xfrm>
            <a:off x="2496312" y="5376672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待转化优先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201168" y="5705856"/>
            <a:ext cx="3639312" cy="402336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75" name="Shape 72"/>
          <p:cNvSpPr/>
          <p:nvPr/>
        </p:nvSpPr>
        <p:spPr>
          <a:xfrm>
            <a:off x="201168" y="5705856"/>
            <a:ext cx="36576" cy="402336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274320" y="5797296"/>
            <a:ext cx="63093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941832" y="5779008"/>
            <a:ext cx="9235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18.0M</a:t>
            </a:r>
            <a:endParaRPr lang="en-US" sz="1400" dirty="0"/>
          </a:p>
        </p:txBody>
      </p:sp>
      <p:sp>
        <p:nvSpPr>
          <p:cNvPr id="78" name="Text 75"/>
          <p:cNvSpPr/>
          <p:nvPr/>
        </p:nvSpPr>
        <p:spPr>
          <a:xfrm>
            <a:off x="1901952" y="5797296"/>
            <a:ext cx="55778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37件</a:t>
            </a:r>
            <a:endParaRPr lang="en-US" sz="1000" dirty="0"/>
          </a:p>
        </p:txBody>
      </p:sp>
      <p:sp>
        <p:nvSpPr>
          <p:cNvPr id="79" name="Text 76"/>
          <p:cNvSpPr/>
          <p:nvPr/>
        </p:nvSpPr>
        <p:spPr>
          <a:xfrm>
            <a:off x="2496312" y="5797296"/>
            <a:ext cx="133502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尽快推进</a:t>
            </a:r>
            <a:endParaRPr lang="en-US" sz="850" dirty="0"/>
          </a:p>
        </p:txBody>
      </p:sp>
      <p:sp>
        <p:nvSpPr>
          <p:cNvPr id="80" name="Shape 77"/>
          <p:cNvSpPr/>
          <p:nvPr/>
        </p:nvSpPr>
        <p:spPr>
          <a:xfrm>
            <a:off x="91440" y="6254496"/>
            <a:ext cx="384048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81" name="Shape 78"/>
          <p:cNvSpPr/>
          <p:nvPr/>
        </p:nvSpPr>
        <p:spPr>
          <a:xfrm>
            <a:off x="91440" y="6254496"/>
            <a:ext cx="3840480" cy="2743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182880" y="6291072"/>
            <a:ext cx="367588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3" name="Text 80"/>
          <p:cNvSpPr/>
          <p:nvPr/>
        </p:nvSpPr>
        <p:spPr>
          <a:xfrm>
            <a:off x="182880" y="6409944"/>
            <a:ext cx="367588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W27 预约 23.2M/54件回升、签单 10.0M/30件、批核 16.0M/43件。在途未批 97.8M/233件为批核核心储量。</a:t>
            </a:r>
            <a:endParaRPr lang="en-US" sz="550" dirty="0"/>
          </a:p>
        </p:txBody>
      </p:sp>
      <p:sp>
        <p:nvSpPr>
          <p:cNvPr id="84" name="Shape 81"/>
          <p:cNvSpPr/>
          <p:nvPr/>
        </p:nvSpPr>
        <p:spPr>
          <a:xfrm>
            <a:off x="4059936" y="3493008"/>
            <a:ext cx="7991856" cy="316382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5" name="Shape 82"/>
          <p:cNvSpPr/>
          <p:nvPr/>
        </p:nvSpPr>
        <p:spPr>
          <a:xfrm>
            <a:off x="4059936" y="3493008"/>
            <a:ext cx="799185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6" name="Text 83"/>
          <p:cNvSpPr/>
          <p:nvPr/>
        </p:nvSpPr>
        <p:spPr>
          <a:xfrm>
            <a:off x="4151376" y="3529584"/>
            <a:ext cx="782726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 KEY ACCOUNT TOP10 排名 </a:t>
            </a:r>
            <a:endParaRPr lang="en-US" sz="850" dirty="0"/>
          </a:p>
        </p:txBody>
      </p:sp>
      <p:sp>
        <p:nvSpPr>
          <p:cNvPr id="87" name="Shape 84"/>
          <p:cNvSpPr/>
          <p:nvPr/>
        </p:nvSpPr>
        <p:spPr>
          <a:xfrm>
            <a:off x="4169664" y="3803904"/>
            <a:ext cx="7790688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88" name="Text 85"/>
          <p:cNvSpPr/>
          <p:nvPr/>
        </p:nvSpPr>
        <p:spPr>
          <a:xfrm>
            <a:off x="4206240" y="3840480"/>
            <a:ext cx="2926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4517136" y="3840480"/>
            <a:ext cx="8961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ACCOUNT</a:t>
            </a:r>
            <a:endParaRPr lang="en-US" sz="700" dirty="0"/>
          </a:p>
        </p:txBody>
      </p:sp>
      <p:sp>
        <p:nvSpPr>
          <p:cNvPr id="90" name="Text 87"/>
          <p:cNvSpPr/>
          <p:nvPr/>
        </p:nvSpPr>
        <p:spPr>
          <a:xfrm>
            <a:off x="5431536" y="3840480"/>
            <a:ext cx="76809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业务细分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6217920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700" dirty="0"/>
          </a:p>
        </p:txBody>
      </p:sp>
      <p:sp>
        <p:nvSpPr>
          <p:cNvPr id="92" name="Text 89"/>
          <p:cNvSpPr/>
          <p:nvPr/>
        </p:nvSpPr>
        <p:spPr>
          <a:xfrm>
            <a:off x="7059168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批核件数</a:t>
            </a:r>
            <a:endParaRPr lang="en-US" sz="700" dirty="0"/>
          </a:p>
        </p:txBody>
      </p:sp>
      <p:sp>
        <p:nvSpPr>
          <p:cNvPr id="93" name="Text 90"/>
          <p:cNvSpPr/>
          <p:nvPr/>
        </p:nvSpPr>
        <p:spPr>
          <a:xfrm>
            <a:off x="7626096" y="3840480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未批核APE</a:t>
            </a:r>
            <a:endParaRPr lang="en-US" sz="700" dirty="0"/>
          </a:p>
        </p:txBody>
      </p:sp>
      <p:sp>
        <p:nvSpPr>
          <p:cNvPr id="94" name="Text 91"/>
          <p:cNvSpPr/>
          <p:nvPr/>
        </p:nvSpPr>
        <p:spPr>
          <a:xfrm>
            <a:off x="8467344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未批核件数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9034272" y="3840480"/>
            <a:ext cx="67665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待签APE</a:t>
            </a:r>
            <a:endParaRPr lang="en-US" sz="700" dirty="0"/>
          </a:p>
        </p:txBody>
      </p:sp>
      <p:sp>
        <p:nvSpPr>
          <p:cNvPr id="96" name="Text 93"/>
          <p:cNvSpPr/>
          <p:nvPr/>
        </p:nvSpPr>
        <p:spPr>
          <a:xfrm>
            <a:off x="9729216" y="38404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待签件数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10296144" y="3840480"/>
            <a:ext cx="85953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合计APE</a:t>
            </a:r>
            <a:endParaRPr lang="en-US" sz="700" dirty="0"/>
          </a:p>
        </p:txBody>
      </p:sp>
      <p:sp>
        <p:nvSpPr>
          <p:cNvPr id="98" name="Text 95"/>
          <p:cNvSpPr/>
          <p:nvPr/>
        </p:nvSpPr>
        <p:spPr>
          <a:xfrm>
            <a:off x="11173968" y="3840480"/>
            <a:ext cx="58521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合计件数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4169664" y="4078224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00" name="Shape 97"/>
          <p:cNvSpPr/>
          <p:nvPr/>
        </p:nvSpPr>
        <p:spPr>
          <a:xfrm>
            <a:off x="4169664" y="4078224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1" name="Shape 98"/>
          <p:cNvSpPr/>
          <p:nvPr/>
        </p:nvSpPr>
        <p:spPr>
          <a:xfrm>
            <a:off x="4279392" y="4133088"/>
            <a:ext cx="128016" cy="128016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p/>
        </p:txBody>
      </p:sp>
      <p:sp>
        <p:nvSpPr>
          <p:cNvPr id="102" name="Text 99"/>
          <p:cNvSpPr/>
          <p:nvPr/>
        </p:nvSpPr>
        <p:spPr>
          <a:xfrm>
            <a:off x="4242816" y="411480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03" name="Text 100"/>
          <p:cNvSpPr/>
          <p:nvPr/>
        </p:nvSpPr>
        <p:spPr>
          <a:xfrm>
            <a:off x="4553712" y="411480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民生银行</a:t>
            </a:r>
            <a:endParaRPr lang="en-US" sz="850" dirty="0"/>
          </a:p>
        </p:txBody>
      </p:sp>
      <p:sp>
        <p:nvSpPr>
          <p:cNvPr id="104" name="Text 101"/>
          <p:cNvSpPr/>
          <p:nvPr/>
        </p:nvSpPr>
        <p:spPr>
          <a:xfrm>
            <a:off x="5468112" y="411480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05" name="Text 102"/>
          <p:cNvSpPr/>
          <p:nvPr/>
        </p:nvSpPr>
        <p:spPr>
          <a:xfrm>
            <a:off x="6254496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187.5M</a:t>
            </a:r>
            <a:endParaRPr lang="en-US" sz="800" dirty="0"/>
          </a:p>
        </p:txBody>
      </p:sp>
      <p:sp>
        <p:nvSpPr>
          <p:cNvPr id="106" name="Text 103"/>
          <p:cNvSpPr/>
          <p:nvPr/>
        </p:nvSpPr>
        <p:spPr>
          <a:xfrm>
            <a:off x="7095744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172</a:t>
            </a:r>
            <a:endParaRPr lang="en-US" sz="800" dirty="0"/>
          </a:p>
        </p:txBody>
      </p:sp>
      <p:sp>
        <p:nvSpPr>
          <p:cNvPr id="107" name="Text 104"/>
          <p:cNvSpPr/>
          <p:nvPr/>
        </p:nvSpPr>
        <p:spPr>
          <a:xfrm>
            <a:off x="7662672" y="411480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12.7M</a:t>
            </a:r>
            <a:endParaRPr lang="en-US" sz="800" dirty="0"/>
          </a:p>
        </p:txBody>
      </p:sp>
      <p:sp>
        <p:nvSpPr>
          <p:cNvPr id="108" name="Text 105"/>
          <p:cNvSpPr/>
          <p:nvPr/>
        </p:nvSpPr>
        <p:spPr>
          <a:xfrm>
            <a:off x="8503920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00" dirty="0"/>
          </a:p>
        </p:txBody>
      </p:sp>
      <p:sp>
        <p:nvSpPr>
          <p:cNvPr id="109" name="Text 106"/>
          <p:cNvSpPr/>
          <p:nvPr/>
        </p:nvSpPr>
        <p:spPr>
          <a:xfrm>
            <a:off x="9070848" y="411480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1.6M</a:t>
            </a:r>
            <a:endParaRPr lang="en-US" sz="800" dirty="0"/>
          </a:p>
        </p:txBody>
      </p:sp>
      <p:sp>
        <p:nvSpPr>
          <p:cNvPr id="110" name="Text 107"/>
          <p:cNvSpPr/>
          <p:nvPr/>
        </p:nvSpPr>
        <p:spPr>
          <a:xfrm>
            <a:off x="9765792" y="411480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11" name="Text 108"/>
          <p:cNvSpPr/>
          <p:nvPr/>
        </p:nvSpPr>
        <p:spPr>
          <a:xfrm>
            <a:off x="10332720" y="411480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201.8M</a:t>
            </a:r>
            <a:endParaRPr lang="en-US" sz="800" dirty="0"/>
          </a:p>
        </p:txBody>
      </p:sp>
      <p:sp>
        <p:nvSpPr>
          <p:cNvPr id="112" name="Text 109"/>
          <p:cNvSpPr/>
          <p:nvPr/>
        </p:nvSpPr>
        <p:spPr>
          <a:xfrm>
            <a:off x="11210544" y="411480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169664" y="4279392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14" name="Shape 111"/>
          <p:cNvSpPr/>
          <p:nvPr/>
        </p:nvSpPr>
        <p:spPr>
          <a:xfrm>
            <a:off x="4169664" y="4279392"/>
            <a:ext cx="36576" cy="182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15" name="Shape 112"/>
          <p:cNvSpPr/>
          <p:nvPr/>
        </p:nvSpPr>
        <p:spPr>
          <a:xfrm>
            <a:off x="4279392" y="4334256"/>
            <a:ext cx="128016" cy="128016"/>
          </a:xfrm>
          <a:prstGeom prst="ellipse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  <p:txBody>
          <a:bodyPr/>
          <a:p/>
        </p:txBody>
      </p:sp>
      <p:sp>
        <p:nvSpPr>
          <p:cNvPr id="116" name="Text 113"/>
          <p:cNvSpPr/>
          <p:nvPr/>
        </p:nvSpPr>
        <p:spPr>
          <a:xfrm>
            <a:off x="4242816" y="431596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17" name="Text 114"/>
          <p:cNvSpPr/>
          <p:nvPr/>
        </p:nvSpPr>
        <p:spPr>
          <a:xfrm>
            <a:off x="4553712" y="431596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</a:t>
            </a:r>
            <a:endParaRPr lang="en-US" sz="850" dirty="0"/>
          </a:p>
        </p:txBody>
      </p:sp>
      <p:sp>
        <p:nvSpPr>
          <p:cNvPr id="118" name="Text 115"/>
          <p:cNvSpPr/>
          <p:nvPr/>
        </p:nvSpPr>
        <p:spPr>
          <a:xfrm>
            <a:off x="5468112" y="431596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19" name="Text 116"/>
          <p:cNvSpPr/>
          <p:nvPr/>
        </p:nvSpPr>
        <p:spPr>
          <a:xfrm>
            <a:off x="6254496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40.5M</a:t>
            </a:r>
            <a:endParaRPr lang="en-US" sz="800" dirty="0"/>
          </a:p>
        </p:txBody>
      </p:sp>
      <p:sp>
        <p:nvSpPr>
          <p:cNvPr id="120" name="Text 117"/>
          <p:cNvSpPr/>
          <p:nvPr/>
        </p:nvSpPr>
        <p:spPr>
          <a:xfrm>
            <a:off x="7095744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800" dirty="0"/>
          </a:p>
        </p:txBody>
      </p:sp>
      <p:sp>
        <p:nvSpPr>
          <p:cNvPr id="121" name="Text 118"/>
          <p:cNvSpPr/>
          <p:nvPr/>
        </p:nvSpPr>
        <p:spPr>
          <a:xfrm>
            <a:off x="7662672" y="431596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11.3M</a:t>
            </a:r>
            <a:endParaRPr lang="en-US" sz="800" dirty="0"/>
          </a:p>
        </p:txBody>
      </p:sp>
      <p:sp>
        <p:nvSpPr>
          <p:cNvPr id="122" name="Text 119"/>
          <p:cNvSpPr/>
          <p:nvPr/>
        </p:nvSpPr>
        <p:spPr>
          <a:xfrm>
            <a:off x="8503920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800" dirty="0"/>
          </a:p>
        </p:txBody>
      </p:sp>
      <p:sp>
        <p:nvSpPr>
          <p:cNvPr id="123" name="Text 120"/>
          <p:cNvSpPr/>
          <p:nvPr/>
        </p:nvSpPr>
        <p:spPr>
          <a:xfrm>
            <a:off x="9070848" y="431596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0.9M</a:t>
            </a:r>
            <a:endParaRPr lang="en-US" sz="800" dirty="0"/>
          </a:p>
        </p:txBody>
      </p:sp>
      <p:sp>
        <p:nvSpPr>
          <p:cNvPr id="124" name="Text 121"/>
          <p:cNvSpPr/>
          <p:nvPr/>
        </p:nvSpPr>
        <p:spPr>
          <a:xfrm>
            <a:off x="9765792" y="431596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25" name="Text 122"/>
          <p:cNvSpPr/>
          <p:nvPr/>
        </p:nvSpPr>
        <p:spPr>
          <a:xfrm>
            <a:off x="10332720" y="431596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52.8M</a:t>
            </a:r>
            <a:endParaRPr lang="en-US" sz="800" dirty="0"/>
          </a:p>
        </p:txBody>
      </p:sp>
      <p:sp>
        <p:nvSpPr>
          <p:cNvPr id="126" name="Text 123"/>
          <p:cNvSpPr/>
          <p:nvPr/>
        </p:nvSpPr>
        <p:spPr>
          <a:xfrm>
            <a:off x="11210544" y="431596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114</a:t>
            </a:r>
            <a:endParaRPr lang="en-US" sz="800" dirty="0"/>
          </a:p>
        </p:txBody>
      </p:sp>
      <p:sp>
        <p:nvSpPr>
          <p:cNvPr id="127" name="Shape 124"/>
          <p:cNvSpPr/>
          <p:nvPr/>
        </p:nvSpPr>
        <p:spPr>
          <a:xfrm>
            <a:off x="4169664" y="4480560"/>
            <a:ext cx="7790688" cy="182880"/>
          </a:xfrm>
          <a:prstGeom prst="rect">
            <a:avLst/>
          </a:prstGeom>
          <a:solidFill>
            <a:srgbClr val="F5F0FA"/>
          </a:solidFill>
          <a:ln w="8890">
            <a:solidFill>
              <a:srgbClr val="C5A8E0"/>
            </a:solidFill>
            <a:prstDash val="solid"/>
          </a:ln>
        </p:spPr>
        <p:txBody>
          <a:bodyPr/>
          <a:p/>
        </p:txBody>
      </p:sp>
      <p:sp>
        <p:nvSpPr>
          <p:cNvPr id="128" name="Shape 125"/>
          <p:cNvSpPr/>
          <p:nvPr/>
        </p:nvSpPr>
        <p:spPr>
          <a:xfrm>
            <a:off x="4169664" y="4480560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29" name="Shape 126"/>
          <p:cNvSpPr/>
          <p:nvPr/>
        </p:nvSpPr>
        <p:spPr>
          <a:xfrm>
            <a:off x="4279392" y="4535424"/>
            <a:ext cx="128016" cy="128016"/>
          </a:xfrm>
          <a:prstGeom prst="ellipse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p/>
        </p:txBody>
      </p:sp>
      <p:sp>
        <p:nvSpPr>
          <p:cNvPr id="130" name="Text 127"/>
          <p:cNvSpPr/>
          <p:nvPr/>
        </p:nvSpPr>
        <p:spPr>
          <a:xfrm>
            <a:off x="4242816" y="451713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131" name="Text 128"/>
          <p:cNvSpPr/>
          <p:nvPr/>
        </p:nvSpPr>
        <p:spPr>
          <a:xfrm>
            <a:off x="4553712" y="451713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平安银行</a:t>
            </a:r>
            <a:endParaRPr lang="en-US" sz="850" dirty="0"/>
          </a:p>
        </p:txBody>
      </p:sp>
      <p:sp>
        <p:nvSpPr>
          <p:cNvPr id="132" name="Text 129"/>
          <p:cNvSpPr/>
          <p:nvPr/>
        </p:nvSpPr>
        <p:spPr>
          <a:xfrm>
            <a:off x="5468112" y="451713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133" name="Text 130"/>
          <p:cNvSpPr/>
          <p:nvPr/>
        </p:nvSpPr>
        <p:spPr>
          <a:xfrm>
            <a:off x="6254496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40.1M</a:t>
            </a:r>
            <a:endParaRPr lang="en-US" sz="800" dirty="0"/>
          </a:p>
        </p:txBody>
      </p:sp>
      <p:sp>
        <p:nvSpPr>
          <p:cNvPr id="134" name="Text 131"/>
          <p:cNvSpPr/>
          <p:nvPr/>
        </p:nvSpPr>
        <p:spPr>
          <a:xfrm>
            <a:off x="7095744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00" dirty="0"/>
          </a:p>
        </p:txBody>
      </p:sp>
      <p:sp>
        <p:nvSpPr>
          <p:cNvPr id="135" name="Text 132"/>
          <p:cNvSpPr/>
          <p:nvPr/>
        </p:nvSpPr>
        <p:spPr>
          <a:xfrm>
            <a:off x="7662672" y="451713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12.5M</a:t>
            </a:r>
            <a:endParaRPr lang="en-US" sz="800" dirty="0"/>
          </a:p>
        </p:txBody>
      </p:sp>
      <p:sp>
        <p:nvSpPr>
          <p:cNvPr id="136" name="Text 133"/>
          <p:cNvSpPr/>
          <p:nvPr/>
        </p:nvSpPr>
        <p:spPr>
          <a:xfrm>
            <a:off x="8503920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37" name="Text 134"/>
          <p:cNvSpPr/>
          <p:nvPr/>
        </p:nvSpPr>
        <p:spPr>
          <a:xfrm>
            <a:off x="9070848" y="451713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38" name="Text 135"/>
          <p:cNvSpPr/>
          <p:nvPr/>
        </p:nvSpPr>
        <p:spPr>
          <a:xfrm>
            <a:off x="9765792" y="451713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39" name="Text 136"/>
          <p:cNvSpPr/>
          <p:nvPr/>
        </p:nvSpPr>
        <p:spPr>
          <a:xfrm>
            <a:off x="10332720" y="451713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52.6M</a:t>
            </a:r>
            <a:endParaRPr lang="en-US" sz="800" dirty="0"/>
          </a:p>
        </p:txBody>
      </p:sp>
      <p:sp>
        <p:nvSpPr>
          <p:cNvPr id="140" name="Text 137"/>
          <p:cNvSpPr/>
          <p:nvPr/>
        </p:nvSpPr>
        <p:spPr>
          <a:xfrm>
            <a:off x="11210544" y="451713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</a:t>
            </a:r>
            <a:endParaRPr lang="en-US" sz="800" dirty="0"/>
          </a:p>
        </p:txBody>
      </p:sp>
      <p:sp>
        <p:nvSpPr>
          <p:cNvPr id="141" name="Shape 138"/>
          <p:cNvSpPr/>
          <p:nvPr/>
        </p:nvSpPr>
        <p:spPr>
          <a:xfrm>
            <a:off x="4169664" y="4681728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42" name="Shape 139"/>
          <p:cNvSpPr/>
          <p:nvPr/>
        </p:nvSpPr>
        <p:spPr>
          <a:xfrm>
            <a:off x="4169664" y="4681728"/>
            <a:ext cx="36576" cy="1828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43" name="Text 140"/>
          <p:cNvSpPr/>
          <p:nvPr/>
        </p:nvSpPr>
        <p:spPr>
          <a:xfrm>
            <a:off x="4242816" y="471830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44" name="Text 141"/>
          <p:cNvSpPr/>
          <p:nvPr/>
        </p:nvSpPr>
        <p:spPr>
          <a:xfrm>
            <a:off x="4553712" y="471830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唯思</a:t>
            </a:r>
            <a:endParaRPr lang="en-US" sz="850" dirty="0"/>
          </a:p>
        </p:txBody>
      </p:sp>
      <p:sp>
        <p:nvSpPr>
          <p:cNvPr id="145" name="Text 142"/>
          <p:cNvSpPr/>
          <p:nvPr/>
        </p:nvSpPr>
        <p:spPr>
          <a:xfrm>
            <a:off x="5468112" y="471830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46" name="Text 143"/>
          <p:cNvSpPr/>
          <p:nvPr/>
        </p:nvSpPr>
        <p:spPr>
          <a:xfrm>
            <a:off x="6254496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39.2M</a:t>
            </a:r>
            <a:endParaRPr lang="en-US" sz="800" dirty="0"/>
          </a:p>
        </p:txBody>
      </p:sp>
      <p:sp>
        <p:nvSpPr>
          <p:cNvPr id="147" name="Text 144"/>
          <p:cNvSpPr/>
          <p:nvPr/>
        </p:nvSpPr>
        <p:spPr>
          <a:xfrm>
            <a:off x="7095744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00" dirty="0"/>
          </a:p>
        </p:txBody>
      </p:sp>
      <p:sp>
        <p:nvSpPr>
          <p:cNvPr id="148" name="Text 145"/>
          <p:cNvSpPr/>
          <p:nvPr/>
        </p:nvSpPr>
        <p:spPr>
          <a:xfrm>
            <a:off x="7662672" y="471830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5.3M</a:t>
            </a:r>
            <a:endParaRPr lang="en-US" sz="800" dirty="0"/>
          </a:p>
        </p:txBody>
      </p:sp>
      <p:sp>
        <p:nvSpPr>
          <p:cNvPr id="149" name="Text 146"/>
          <p:cNvSpPr/>
          <p:nvPr/>
        </p:nvSpPr>
        <p:spPr>
          <a:xfrm>
            <a:off x="8503920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800" dirty="0"/>
          </a:p>
        </p:txBody>
      </p:sp>
      <p:sp>
        <p:nvSpPr>
          <p:cNvPr id="150" name="Text 147"/>
          <p:cNvSpPr/>
          <p:nvPr/>
        </p:nvSpPr>
        <p:spPr>
          <a:xfrm>
            <a:off x="9070848" y="471830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0.7M</a:t>
            </a:r>
            <a:endParaRPr lang="en-US" sz="800" dirty="0"/>
          </a:p>
        </p:txBody>
      </p:sp>
      <p:sp>
        <p:nvSpPr>
          <p:cNvPr id="151" name="Text 148"/>
          <p:cNvSpPr/>
          <p:nvPr/>
        </p:nvSpPr>
        <p:spPr>
          <a:xfrm>
            <a:off x="9765792" y="471830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152" name="Text 149"/>
          <p:cNvSpPr/>
          <p:nvPr/>
        </p:nvSpPr>
        <p:spPr>
          <a:xfrm>
            <a:off x="10332720" y="471830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45.2M</a:t>
            </a:r>
            <a:endParaRPr lang="en-US" sz="800" dirty="0"/>
          </a:p>
        </p:txBody>
      </p:sp>
      <p:sp>
        <p:nvSpPr>
          <p:cNvPr id="153" name="Text 150"/>
          <p:cNvSpPr/>
          <p:nvPr/>
        </p:nvSpPr>
        <p:spPr>
          <a:xfrm>
            <a:off x="11210544" y="471830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134</a:t>
            </a:r>
            <a:endParaRPr lang="en-US" sz="800" dirty="0"/>
          </a:p>
        </p:txBody>
      </p:sp>
      <p:sp>
        <p:nvSpPr>
          <p:cNvPr id="154" name="Shape 151"/>
          <p:cNvSpPr/>
          <p:nvPr/>
        </p:nvSpPr>
        <p:spPr>
          <a:xfrm>
            <a:off x="4169664" y="4882896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155" name="Shape 152"/>
          <p:cNvSpPr/>
          <p:nvPr/>
        </p:nvSpPr>
        <p:spPr>
          <a:xfrm>
            <a:off x="4169664" y="488289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56" name="Text 153"/>
          <p:cNvSpPr/>
          <p:nvPr/>
        </p:nvSpPr>
        <p:spPr>
          <a:xfrm>
            <a:off x="4242816" y="491947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57" name="Text 154"/>
          <p:cNvSpPr/>
          <p:nvPr/>
        </p:nvSpPr>
        <p:spPr>
          <a:xfrm>
            <a:off x="4553712" y="491947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紫荆保险</a:t>
            </a:r>
            <a:endParaRPr lang="en-US" sz="850" dirty="0"/>
          </a:p>
        </p:txBody>
      </p:sp>
      <p:sp>
        <p:nvSpPr>
          <p:cNvPr id="158" name="Text 155"/>
          <p:cNvSpPr/>
          <p:nvPr/>
        </p:nvSpPr>
        <p:spPr>
          <a:xfrm>
            <a:off x="5468112" y="491947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59" name="Text 156"/>
          <p:cNvSpPr/>
          <p:nvPr/>
        </p:nvSpPr>
        <p:spPr>
          <a:xfrm>
            <a:off x="6254496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34.9M</a:t>
            </a:r>
            <a:endParaRPr lang="en-US" sz="800" dirty="0"/>
          </a:p>
        </p:txBody>
      </p:sp>
      <p:sp>
        <p:nvSpPr>
          <p:cNvPr id="160" name="Text 157"/>
          <p:cNvSpPr/>
          <p:nvPr/>
        </p:nvSpPr>
        <p:spPr>
          <a:xfrm>
            <a:off x="7095744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61" name="Text 158"/>
          <p:cNvSpPr/>
          <p:nvPr/>
        </p:nvSpPr>
        <p:spPr>
          <a:xfrm>
            <a:off x="7662672" y="491947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5.2M</a:t>
            </a:r>
            <a:endParaRPr lang="en-US" sz="800" dirty="0"/>
          </a:p>
        </p:txBody>
      </p:sp>
      <p:sp>
        <p:nvSpPr>
          <p:cNvPr id="162" name="Text 159"/>
          <p:cNvSpPr/>
          <p:nvPr/>
        </p:nvSpPr>
        <p:spPr>
          <a:xfrm>
            <a:off x="8503920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163" name="Text 160"/>
          <p:cNvSpPr/>
          <p:nvPr/>
        </p:nvSpPr>
        <p:spPr>
          <a:xfrm>
            <a:off x="9070848" y="4919472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0.1M</a:t>
            </a:r>
            <a:endParaRPr lang="en-US" sz="800" dirty="0"/>
          </a:p>
        </p:txBody>
      </p:sp>
      <p:sp>
        <p:nvSpPr>
          <p:cNvPr id="164" name="Text 161"/>
          <p:cNvSpPr/>
          <p:nvPr/>
        </p:nvSpPr>
        <p:spPr>
          <a:xfrm>
            <a:off x="9765792" y="491947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65" name="Text 162"/>
          <p:cNvSpPr/>
          <p:nvPr/>
        </p:nvSpPr>
        <p:spPr>
          <a:xfrm>
            <a:off x="10332720" y="491947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40.2M</a:t>
            </a:r>
            <a:endParaRPr lang="en-US" sz="800" dirty="0"/>
          </a:p>
        </p:txBody>
      </p:sp>
      <p:sp>
        <p:nvSpPr>
          <p:cNvPr id="166" name="Text 163"/>
          <p:cNvSpPr/>
          <p:nvPr/>
        </p:nvSpPr>
        <p:spPr>
          <a:xfrm>
            <a:off x="11210544" y="491947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</a:t>
            </a:r>
            <a:endParaRPr lang="en-US" sz="800" dirty="0"/>
          </a:p>
        </p:txBody>
      </p:sp>
      <p:sp>
        <p:nvSpPr>
          <p:cNvPr id="167" name="Shape 164"/>
          <p:cNvSpPr/>
          <p:nvPr/>
        </p:nvSpPr>
        <p:spPr>
          <a:xfrm>
            <a:off x="4169664" y="5084064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68" name="Shape 165"/>
          <p:cNvSpPr/>
          <p:nvPr/>
        </p:nvSpPr>
        <p:spPr>
          <a:xfrm>
            <a:off x="4169664" y="5084064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69" name="Text 166"/>
          <p:cNvSpPr/>
          <p:nvPr/>
        </p:nvSpPr>
        <p:spPr>
          <a:xfrm>
            <a:off x="4242816" y="5120640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800" dirty="0"/>
          </a:p>
        </p:txBody>
      </p:sp>
      <p:sp>
        <p:nvSpPr>
          <p:cNvPr id="170" name="Text 167"/>
          <p:cNvSpPr/>
          <p:nvPr/>
        </p:nvSpPr>
        <p:spPr>
          <a:xfrm>
            <a:off x="4553712" y="51206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天领重庆</a:t>
            </a:r>
            <a:endParaRPr lang="en-US" sz="850" dirty="0"/>
          </a:p>
        </p:txBody>
      </p:sp>
      <p:sp>
        <p:nvSpPr>
          <p:cNvPr id="171" name="Text 168"/>
          <p:cNvSpPr/>
          <p:nvPr/>
        </p:nvSpPr>
        <p:spPr>
          <a:xfrm>
            <a:off x="5468112" y="5120640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172" name="Text 169"/>
          <p:cNvSpPr/>
          <p:nvPr/>
        </p:nvSpPr>
        <p:spPr>
          <a:xfrm>
            <a:off x="6254496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27.9M</a:t>
            </a:r>
            <a:endParaRPr lang="en-US" sz="800" dirty="0"/>
          </a:p>
        </p:txBody>
      </p:sp>
      <p:sp>
        <p:nvSpPr>
          <p:cNvPr id="173" name="Text 170"/>
          <p:cNvSpPr/>
          <p:nvPr/>
        </p:nvSpPr>
        <p:spPr>
          <a:xfrm>
            <a:off x="7095744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</a:t>
            </a:r>
            <a:endParaRPr lang="en-US" sz="800" dirty="0"/>
          </a:p>
        </p:txBody>
      </p:sp>
      <p:sp>
        <p:nvSpPr>
          <p:cNvPr id="174" name="Text 171"/>
          <p:cNvSpPr/>
          <p:nvPr/>
        </p:nvSpPr>
        <p:spPr>
          <a:xfrm>
            <a:off x="7662672" y="512064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2.9M</a:t>
            </a:r>
            <a:endParaRPr lang="en-US" sz="800" dirty="0"/>
          </a:p>
        </p:txBody>
      </p:sp>
      <p:sp>
        <p:nvSpPr>
          <p:cNvPr id="175" name="Text 172"/>
          <p:cNvSpPr/>
          <p:nvPr/>
        </p:nvSpPr>
        <p:spPr>
          <a:xfrm>
            <a:off x="8503920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00" dirty="0"/>
          </a:p>
        </p:txBody>
      </p:sp>
      <p:sp>
        <p:nvSpPr>
          <p:cNvPr id="176" name="Text 173"/>
          <p:cNvSpPr/>
          <p:nvPr/>
        </p:nvSpPr>
        <p:spPr>
          <a:xfrm>
            <a:off x="9070848" y="512064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1.9M</a:t>
            </a:r>
            <a:endParaRPr lang="en-US" sz="800" dirty="0"/>
          </a:p>
        </p:txBody>
      </p:sp>
      <p:sp>
        <p:nvSpPr>
          <p:cNvPr id="177" name="Text 174"/>
          <p:cNvSpPr/>
          <p:nvPr/>
        </p:nvSpPr>
        <p:spPr>
          <a:xfrm>
            <a:off x="9765792" y="512064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178" name="Text 175"/>
          <p:cNvSpPr/>
          <p:nvPr/>
        </p:nvSpPr>
        <p:spPr>
          <a:xfrm>
            <a:off x="10332720" y="512064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32.7M</a:t>
            </a:r>
            <a:endParaRPr lang="en-US" sz="800" dirty="0"/>
          </a:p>
        </p:txBody>
      </p:sp>
      <p:sp>
        <p:nvSpPr>
          <p:cNvPr id="179" name="Text 176"/>
          <p:cNvSpPr/>
          <p:nvPr/>
        </p:nvSpPr>
        <p:spPr>
          <a:xfrm>
            <a:off x="11210544" y="512064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118</a:t>
            </a:r>
            <a:endParaRPr lang="en-US" sz="800" dirty="0"/>
          </a:p>
        </p:txBody>
      </p:sp>
      <p:sp>
        <p:nvSpPr>
          <p:cNvPr id="180" name="Shape 177"/>
          <p:cNvSpPr/>
          <p:nvPr/>
        </p:nvSpPr>
        <p:spPr>
          <a:xfrm>
            <a:off x="4169664" y="5285232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81" name="Shape 178"/>
          <p:cNvSpPr/>
          <p:nvPr/>
        </p:nvSpPr>
        <p:spPr>
          <a:xfrm>
            <a:off x="4169664" y="5285232"/>
            <a:ext cx="36576" cy="1828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p/>
        </p:txBody>
      </p:sp>
      <p:sp>
        <p:nvSpPr>
          <p:cNvPr id="182" name="Text 179"/>
          <p:cNvSpPr/>
          <p:nvPr/>
        </p:nvSpPr>
        <p:spPr>
          <a:xfrm>
            <a:off x="4242816" y="5321808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800" dirty="0"/>
          </a:p>
        </p:txBody>
      </p:sp>
      <p:sp>
        <p:nvSpPr>
          <p:cNvPr id="183" name="Text 180"/>
          <p:cNvSpPr/>
          <p:nvPr/>
        </p:nvSpPr>
        <p:spPr>
          <a:xfrm>
            <a:off x="4553712" y="5321808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利泰丰</a:t>
            </a:r>
            <a:endParaRPr lang="en-US" sz="850" dirty="0"/>
          </a:p>
        </p:txBody>
      </p:sp>
      <p:sp>
        <p:nvSpPr>
          <p:cNvPr id="184" name="Text 181"/>
          <p:cNvSpPr/>
          <p:nvPr/>
        </p:nvSpPr>
        <p:spPr>
          <a:xfrm>
            <a:off x="5468112" y="5321808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E44A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185" name="Text 182"/>
          <p:cNvSpPr/>
          <p:nvPr/>
        </p:nvSpPr>
        <p:spPr>
          <a:xfrm>
            <a:off x="6254496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27.8M</a:t>
            </a:r>
            <a:endParaRPr lang="en-US" sz="800" dirty="0"/>
          </a:p>
        </p:txBody>
      </p:sp>
      <p:sp>
        <p:nvSpPr>
          <p:cNvPr id="186" name="Text 183"/>
          <p:cNvSpPr/>
          <p:nvPr/>
        </p:nvSpPr>
        <p:spPr>
          <a:xfrm>
            <a:off x="7095744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187" name="Text 184"/>
          <p:cNvSpPr/>
          <p:nvPr/>
        </p:nvSpPr>
        <p:spPr>
          <a:xfrm>
            <a:off x="7662672" y="5321808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1.0M</a:t>
            </a:r>
            <a:endParaRPr lang="en-US" sz="800" dirty="0"/>
          </a:p>
        </p:txBody>
      </p:sp>
      <p:sp>
        <p:nvSpPr>
          <p:cNvPr id="188" name="Text 185"/>
          <p:cNvSpPr/>
          <p:nvPr/>
        </p:nvSpPr>
        <p:spPr>
          <a:xfrm>
            <a:off x="8503920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189" name="Text 186"/>
          <p:cNvSpPr/>
          <p:nvPr/>
        </p:nvSpPr>
        <p:spPr>
          <a:xfrm>
            <a:off x="9070848" y="5321808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190" name="Text 187"/>
          <p:cNvSpPr/>
          <p:nvPr/>
        </p:nvSpPr>
        <p:spPr>
          <a:xfrm>
            <a:off x="9765792" y="5321808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191" name="Text 188"/>
          <p:cNvSpPr/>
          <p:nvPr/>
        </p:nvSpPr>
        <p:spPr>
          <a:xfrm>
            <a:off x="10332720" y="5321808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28.8M</a:t>
            </a:r>
            <a:endParaRPr lang="en-US" sz="800" dirty="0"/>
          </a:p>
        </p:txBody>
      </p:sp>
      <p:sp>
        <p:nvSpPr>
          <p:cNvPr id="192" name="Text 189"/>
          <p:cNvSpPr/>
          <p:nvPr/>
        </p:nvSpPr>
        <p:spPr>
          <a:xfrm>
            <a:off x="11210544" y="5321808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800" dirty="0"/>
          </a:p>
        </p:txBody>
      </p:sp>
      <p:sp>
        <p:nvSpPr>
          <p:cNvPr id="193" name="Shape 190"/>
          <p:cNvSpPr/>
          <p:nvPr/>
        </p:nvSpPr>
        <p:spPr>
          <a:xfrm>
            <a:off x="4169664" y="5486400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194" name="Shape 191"/>
          <p:cNvSpPr/>
          <p:nvPr/>
        </p:nvSpPr>
        <p:spPr>
          <a:xfrm>
            <a:off x="4169664" y="5486400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195" name="Text 192"/>
          <p:cNvSpPr/>
          <p:nvPr/>
        </p:nvSpPr>
        <p:spPr>
          <a:xfrm>
            <a:off x="4242816" y="5522976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196" name="Text 193"/>
          <p:cNvSpPr/>
          <p:nvPr/>
        </p:nvSpPr>
        <p:spPr>
          <a:xfrm>
            <a:off x="4553712" y="5522976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堡盛国际</a:t>
            </a:r>
            <a:endParaRPr lang="en-US" sz="850" dirty="0"/>
          </a:p>
        </p:txBody>
      </p:sp>
      <p:sp>
        <p:nvSpPr>
          <p:cNvPr id="197" name="Text 194"/>
          <p:cNvSpPr/>
          <p:nvPr/>
        </p:nvSpPr>
        <p:spPr>
          <a:xfrm>
            <a:off x="5468112" y="5522976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198" name="Text 195"/>
          <p:cNvSpPr/>
          <p:nvPr/>
        </p:nvSpPr>
        <p:spPr>
          <a:xfrm>
            <a:off x="6254496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25.9M</a:t>
            </a:r>
            <a:endParaRPr lang="en-US" sz="800" dirty="0"/>
          </a:p>
        </p:txBody>
      </p:sp>
      <p:sp>
        <p:nvSpPr>
          <p:cNvPr id="199" name="Text 196"/>
          <p:cNvSpPr/>
          <p:nvPr/>
        </p:nvSpPr>
        <p:spPr>
          <a:xfrm>
            <a:off x="7095744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67</a:t>
            </a:r>
            <a:endParaRPr lang="en-US" sz="800" dirty="0"/>
          </a:p>
        </p:txBody>
      </p:sp>
      <p:sp>
        <p:nvSpPr>
          <p:cNvPr id="200" name="Text 197"/>
          <p:cNvSpPr/>
          <p:nvPr/>
        </p:nvSpPr>
        <p:spPr>
          <a:xfrm>
            <a:off x="7662672" y="5522976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3.7M</a:t>
            </a:r>
            <a:endParaRPr lang="en-US" sz="800" dirty="0"/>
          </a:p>
        </p:txBody>
      </p:sp>
      <p:sp>
        <p:nvSpPr>
          <p:cNvPr id="201" name="Text 198"/>
          <p:cNvSpPr/>
          <p:nvPr/>
        </p:nvSpPr>
        <p:spPr>
          <a:xfrm>
            <a:off x="8503920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800" dirty="0"/>
          </a:p>
        </p:txBody>
      </p:sp>
      <p:sp>
        <p:nvSpPr>
          <p:cNvPr id="202" name="Text 199"/>
          <p:cNvSpPr/>
          <p:nvPr/>
        </p:nvSpPr>
        <p:spPr>
          <a:xfrm>
            <a:off x="9070848" y="5522976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0.3M</a:t>
            </a:r>
            <a:endParaRPr lang="en-US" sz="800" dirty="0"/>
          </a:p>
        </p:txBody>
      </p:sp>
      <p:sp>
        <p:nvSpPr>
          <p:cNvPr id="203" name="Text 200"/>
          <p:cNvSpPr/>
          <p:nvPr/>
        </p:nvSpPr>
        <p:spPr>
          <a:xfrm>
            <a:off x="9765792" y="5522976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204" name="Text 201"/>
          <p:cNvSpPr/>
          <p:nvPr/>
        </p:nvSpPr>
        <p:spPr>
          <a:xfrm>
            <a:off x="10332720" y="5522976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29.8M</a:t>
            </a:r>
            <a:endParaRPr lang="en-US" sz="800" dirty="0"/>
          </a:p>
        </p:txBody>
      </p:sp>
      <p:sp>
        <p:nvSpPr>
          <p:cNvPr id="205" name="Text 202"/>
          <p:cNvSpPr/>
          <p:nvPr/>
        </p:nvSpPr>
        <p:spPr>
          <a:xfrm>
            <a:off x="11210544" y="5522976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80</a:t>
            </a:r>
            <a:endParaRPr lang="en-US" sz="800" dirty="0"/>
          </a:p>
        </p:txBody>
      </p:sp>
      <p:sp>
        <p:nvSpPr>
          <p:cNvPr id="206" name="Shape 203"/>
          <p:cNvSpPr/>
          <p:nvPr/>
        </p:nvSpPr>
        <p:spPr>
          <a:xfrm>
            <a:off x="4169664" y="5687568"/>
            <a:ext cx="7790688" cy="182880"/>
          </a:xfrm>
          <a:prstGeom prst="rect">
            <a:avLst/>
          </a:prstGeom>
          <a:solidFill>
            <a:srgbClr val="F5F7FA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07" name="Shape 204"/>
          <p:cNvSpPr/>
          <p:nvPr/>
        </p:nvSpPr>
        <p:spPr>
          <a:xfrm>
            <a:off x="4169664" y="5687568"/>
            <a:ext cx="36576" cy="1828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p/>
        </p:txBody>
      </p:sp>
      <p:sp>
        <p:nvSpPr>
          <p:cNvPr id="208" name="Text 205"/>
          <p:cNvSpPr/>
          <p:nvPr/>
        </p:nvSpPr>
        <p:spPr>
          <a:xfrm>
            <a:off x="4242816" y="5724144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800" dirty="0"/>
          </a:p>
        </p:txBody>
      </p:sp>
      <p:sp>
        <p:nvSpPr>
          <p:cNvPr id="209" name="Text 206"/>
          <p:cNvSpPr/>
          <p:nvPr/>
        </p:nvSpPr>
        <p:spPr>
          <a:xfrm>
            <a:off x="4553712" y="5724144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万森保险</a:t>
            </a:r>
            <a:endParaRPr lang="en-US" sz="850" dirty="0"/>
          </a:p>
        </p:txBody>
      </p:sp>
      <p:sp>
        <p:nvSpPr>
          <p:cNvPr id="210" name="Text 207"/>
          <p:cNvSpPr/>
          <p:nvPr/>
        </p:nvSpPr>
        <p:spPr>
          <a:xfrm>
            <a:off x="5468112" y="5724144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80B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11" name="Text 208"/>
          <p:cNvSpPr/>
          <p:nvPr/>
        </p:nvSpPr>
        <p:spPr>
          <a:xfrm>
            <a:off x="6254496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25.4M</a:t>
            </a:r>
            <a:endParaRPr lang="en-US" sz="800" dirty="0"/>
          </a:p>
        </p:txBody>
      </p:sp>
      <p:sp>
        <p:nvSpPr>
          <p:cNvPr id="212" name="Text 209"/>
          <p:cNvSpPr/>
          <p:nvPr/>
        </p:nvSpPr>
        <p:spPr>
          <a:xfrm>
            <a:off x="7095744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77</a:t>
            </a:r>
            <a:endParaRPr lang="en-US" sz="800" dirty="0"/>
          </a:p>
        </p:txBody>
      </p:sp>
      <p:sp>
        <p:nvSpPr>
          <p:cNvPr id="213" name="Text 210"/>
          <p:cNvSpPr/>
          <p:nvPr/>
        </p:nvSpPr>
        <p:spPr>
          <a:xfrm>
            <a:off x="7662672" y="572414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3.6M</a:t>
            </a:r>
            <a:endParaRPr lang="en-US" sz="800" dirty="0"/>
          </a:p>
        </p:txBody>
      </p:sp>
      <p:sp>
        <p:nvSpPr>
          <p:cNvPr id="214" name="Text 211"/>
          <p:cNvSpPr/>
          <p:nvPr/>
        </p:nvSpPr>
        <p:spPr>
          <a:xfrm>
            <a:off x="8503920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800" dirty="0"/>
          </a:p>
        </p:txBody>
      </p:sp>
      <p:sp>
        <p:nvSpPr>
          <p:cNvPr id="215" name="Text 212"/>
          <p:cNvSpPr/>
          <p:nvPr/>
        </p:nvSpPr>
        <p:spPr>
          <a:xfrm>
            <a:off x="9070848" y="5724144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0.0M</a:t>
            </a:r>
            <a:endParaRPr lang="en-US" sz="800" dirty="0"/>
          </a:p>
        </p:txBody>
      </p:sp>
      <p:sp>
        <p:nvSpPr>
          <p:cNvPr id="216" name="Text 213"/>
          <p:cNvSpPr/>
          <p:nvPr/>
        </p:nvSpPr>
        <p:spPr>
          <a:xfrm>
            <a:off x="9765792" y="5724144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00" dirty="0"/>
          </a:p>
        </p:txBody>
      </p:sp>
      <p:sp>
        <p:nvSpPr>
          <p:cNvPr id="217" name="Text 214"/>
          <p:cNvSpPr/>
          <p:nvPr/>
        </p:nvSpPr>
        <p:spPr>
          <a:xfrm>
            <a:off x="10332720" y="5724144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29.0M</a:t>
            </a:r>
            <a:endParaRPr lang="en-US" sz="800" dirty="0"/>
          </a:p>
        </p:txBody>
      </p:sp>
      <p:sp>
        <p:nvSpPr>
          <p:cNvPr id="218" name="Text 215"/>
          <p:cNvSpPr/>
          <p:nvPr/>
        </p:nvSpPr>
        <p:spPr>
          <a:xfrm>
            <a:off x="11210544" y="5724144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85</a:t>
            </a:r>
            <a:endParaRPr lang="en-US" sz="800" dirty="0"/>
          </a:p>
        </p:txBody>
      </p:sp>
      <p:sp>
        <p:nvSpPr>
          <p:cNvPr id="219" name="Shape 216"/>
          <p:cNvSpPr/>
          <p:nvPr/>
        </p:nvSpPr>
        <p:spPr>
          <a:xfrm>
            <a:off x="4169664" y="5888736"/>
            <a:ext cx="7790688" cy="18288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0"/>
            </a:solidFill>
            <a:prstDash val="solid"/>
          </a:ln>
        </p:spPr>
        <p:txBody>
          <a:bodyPr/>
          <a:p/>
        </p:txBody>
      </p:sp>
      <p:sp>
        <p:nvSpPr>
          <p:cNvPr id="220" name="Shape 217"/>
          <p:cNvSpPr/>
          <p:nvPr/>
        </p:nvSpPr>
        <p:spPr>
          <a:xfrm>
            <a:off x="4169664" y="5888736"/>
            <a:ext cx="36576" cy="182880"/>
          </a:xfrm>
          <a:prstGeom prst="rect">
            <a:avLst/>
          </a:prstGeom>
          <a:solidFill>
            <a:srgbClr val="1A7A3F"/>
          </a:solidFill>
          <a:ln w="12700">
            <a:solidFill>
              <a:srgbClr val="1A7A3F"/>
            </a:solidFill>
            <a:prstDash val="solid"/>
          </a:ln>
        </p:spPr>
        <p:txBody>
          <a:bodyPr/>
          <a:p/>
        </p:txBody>
      </p:sp>
      <p:sp>
        <p:nvSpPr>
          <p:cNvPr id="221" name="Text 218"/>
          <p:cNvSpPr/>
          <p:nvPr/>
        </p:nvSpPr>
        <p:spPr>
          <a:xfrm>
            <a:off x="4242816" y="5925312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800" dirty="0"/>
          </a:p>
        </p:txBody>
      </p:sp>
      <p:sp>
        <p:nvSpPr>
          <p:cNvPr id="222" name="Text 219"/>
          <p:cNvSpPr/>
          <p:nvPr/>
        </p:nvSpPr>
        <p:spPr>
          <a:xfrm>
            <a:off x="4553712" y="5925312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天誉国际(MGA)</a:t>
            </a:r>
            <a:endParaRPr lang="en-US" sz="850" dirty="0"/>
          </a:p>
        </p:txBody>
      </p:sp>
      <p:sp>
        <p:nvSpPr>
          <p:cNvPr id="223" name="Text 220"/>
          <p:cNvSpPr/>
          <p:nvPr/>
        </p:nvSpPr>
        <p:spPr>
          <a:xfrm>
            <a:off x="5468112" y="5925312"/>
            <a:ext cx="74980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7A3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1"/>
          <p:cNvSpPr/>
          <p:nvPr/>
        </p:nvSpPr>
        <p:spPr>
          <a:xfrm>
            <a:off x="6254496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18.7M</a:t>
            </a:r>
            <a:endParaRPr lang="en-US" sz="800" dirty="0"/>
          </a:p>
        </p:txBody>
      </p:sp>
      <p:sp>
        <p:nvSpPr>
          <p:cNvPr id="225" name="Text 222"/>
          <p:cNvSpPr/>
          <p:nvPr/>
        </p:nvSpPr>
        <p:spPr>
          <a:xfrm>
            <a:off x="7095744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00" dirty="0"/>
          </a:p>
        </p:txBody>
      </p:sp>
      <p:sp>
        <p:nvSpPr>
          <p:cNvPr id="226" name="Text 223"/>
          <p:cNvSpPr/>
          <p:nvPr/>
        </p:nvSpPr>
        <p:spPr>
          <a:xfrm>
            <a:off x="7662672" y="5925312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20.2M</a:t>
            </a:r>
            <a:endParaRPr lang="en-US" sz="800" dirty="0"/>
          </a:p>
        </p:txBody>
      </p:sp>
      <p:sp>
        <p:nvSpPr>
          <p:cNvPr id="227" name="Text 224"/>
          <p:cNvSpPr/>
          <p:nvPr/>
        </p:nvSpPr>
        <p:spPr>
          <a:xfrm>
            <a:off x="8503920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</a:t>
            </a:r>
            <a:endParaRPr lang="en-US" sz="800" dirty="0"/>
          </a:p>
        </p:txBody>
      </p:sp>
      <p:sp>
        <p:nvSpPr>
          <p:cNvPr id="228" name="Text 225"/>
          <p:cNvSpPr/>
          <p:nvPr/>
        </p:nvSpPr>
        <p:spPr>
          <a:xfrm>
            <a:off x="9070975" y="5925185"/>
            <a:ext cx="65849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5.3M</a:t>
            </a:r>
            <a:endParaRPr lang="en-US" sz="800" dirty="0"/>
          </a:p>
        </p:txBody>
      </p:sp>
      <p:sp>
        <p:nvSpPr>
          <p:cNvPr id="229" name="Text 226"/>
          <p:cNvSpPr/>
          <p:nvPr/>
        </p:nvSpPr>
        <p:spPr>
          <a:xfrm>
            <a:off x="9765792" y="5925312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00" dirty="0"/>
          </a:p>
        </p:txBody>
      </p:sp>
      <p:sp>
        <p:nvSpPr>
          <p:cNvPr id="230" name="Text 227"/>
          <p:cNvSpPr/>
          <p:nvPr/>
        </p:nvSpPr>
        <p:spPr>
          <a:xfrm>
            <a:off x="10332720" y="5925312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44.2M</a:t>
            </a:r>
            <a:endParaRPr lang="en-US" sz="800" dirty="0"/>
          </a:p>
        </p:txBody>
      </p:sp>
      <p:sp>
        <p:nvSpPr>
          <p:cNvPr id="231" name="Text 228"/>
          <p:cNvSpPr/>
          <p:nvPr/>
        </p:nvSpPr>
        <p:spPr>
          <a:xfrm>
            <a:off x="11210544" y="5925312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143</a:t>
            </a:r>
            <a:endParaRPr lang="en-US" sz="800" dirty="0"/>
          </a:p>
        </p:txBody>
      </p:sp>
      <p:sp>
        <p:nvSpPr>
          <p:cNvPr id="232" name="Shape 229"/>
          <p:cNvSpPr/>
          <p:nvPr/>
        </p:nvSpPr>
        <p:spPr>
          <a:xfrm>
            <a:off x="4169664" y="6089904"/>
            <a:ext cx="7790688" cy="201168"/>
          </a:xfrm>
          <a:prstGeom prst="rect">
            <a:avLst/>
          </a:prstGeom>
          <a:solidFill>
            <a:srgbClr val="EDE7F6"/>
          </a:solidFill>
          <a:ln w="9525">
            <a:solidFill>
              <a:srgbClr val="9575CD"/>
            </a:solidFill>
            <a:prstDash val="solid"/>
          </a:ln>
        </p:spPr>
        <p:txBody>
          <a:bodyPr/>
          <a:p/>
        </p:txBody>
      </p:sp>
      <p:sp>
        <p:nvSpPr>
          <p:cNvPr id="233" name="Text 230"/>
          <p:cNvSpPr/>
          <p:nvPr/>
        </p:nvSpPr>
        <p:spPr>
          <a:xfrm>
            <a:off x="4553712" y="609981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TOP10合计</a:t>
            </a:r>
            <a:endParaRPr lang="en-US" sz="800" dirty="0"/>
          </a:p>
        </p:txBody>
      </p:sp>
      <p:sp>
        <p:nvSpPr>
          <p:cNvPr id="234" name="Text 231"/>
          <p:cNvSpPr/>
          <p:nvPr/>
        </p:nvSpPr>
        <p:spPr>
          <a:xfrm>
            <a:off x="6254496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468.0M</a:t>
            </a:r>
            <a:endParaRPr lang="en-US" sz="800" dirty="0"/>
          </a:p>
        </p:txBody>
      </p:sp>
      <p:sp>
        <p:nvSpPr>
          <p:cNvPr id="235" name="Text 232"/>
          <p:cNvSpPr/>
          <p:nvPr/>
        </p:nvSpPr>
        <p:spPr>
          <a:xfrm>
            <a:off x="7095744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820件</a:t>
            </a:r>
            <a:endParaRPr lang="en-US" sz="800" dirty="0"/>
          </a:p>
        </p:txBody>
      </p:sp>
      <p:sp>
        <p:nvSpPr>
          <p:cNvPr id="236" name="Text 233"/>
          <p:cNvSpPr/>
          <p:nvPr/>
        </p:nvSpPr>
        <p:spPr>
          <a:xfrm>
            <a:off x="7662672" y="6099810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78.3M</a:t>
            </a:r>
            <a:endParaRPr lang="en-US" sz="800" dirty="0"/>
          </a:p>
        </p:txBody>
      </p:sp>
      <p:sp>
        <p:nvSpPr>
          <p:cNvPr id="237" name="Text 234"/>
          <p:cNvSpPr/>
          <p:nvPr/>
        </p:nvSpPr>
        <p:spPr>
          <a:xfrm>
            <a:off x="8503920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184件</a:t>
            </a:r>
            <a:endParaRPr lang="en-US" sz="800" dirty="0"/>
          </a:p>
        </p:txBody>
      </p:sp>
      <p:sp>
        <p:nvSpPr>
          <p:cNvPr id="238" name="Text 235"/>
          <p:cNvSpPr/>
          <p:nvPr/>
        </p:nvSpPr>
        <p:spPr>
          <a:xfrm>
            <a:off x="9070848" y="6099810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E86C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10.7M</a:t>
            </a:r>
            <a:endParaRPr lang="en-US" sz="800" dirty="0"/>
          </a:p>
        </p:txBody>
      </p:sp>
      <p:sp>
        <p:nvSpPr>
          <p:cNvPr id="239" name="Text 236"/>
          <p:cNvSpPr/>
          <p:nvPr/>
        </p:nvSpPr>
        <p:spPr>
          <a:xfrm>
            <a:off x="9765792" y="6099810"/>
            <a:ext cx="53035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26件</a:t>
            </a:r>
            <a:endParaRPr lang="en-US" sz="800" dirty="0"/>
          </a:p>
        </p:txBody>
      </p:sp>
      <p:sp>
        <p:nvSpPr>
          <p:cNvPr id="240" name="Text 237"/>
          <p:cNvSpPr/>
          <p:nvPr/>
        </p:nvSpPr>
        <p:spPr>
          <a:xfrm>
            <a:off x="10332720" y="6099810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557.1M</a:t>
            </a:r>
            <a:endParaRPr lang="en-US" sz="800" dirty="0"/>
          </a:p>
        </p:txBody>
      </p:sp>
      <p:sp>
        <p:nvSpPr>
          <p:cNvPr id="241" name="Text 238"/>
          <p:cNvSpPr/>
          <p:nvPr/>
        </p:nvSpPr>
        <p:spPr>
          <a:xfrm>
            <a:off x="11210544" y="609981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1030件</a:t>
            </a:r>
            <a:endParaRPr lang="en-US" sz="800" dirty="0"/>
          </a:p>
        </p:txBody>
      </p:sp>
      <p:sp>
        <p:nvSpPr>
          <p:cNvPr id="242" name="Shape 239"/>
          <p:cNvSpPr/>
          <p:nvPr/>
        </p:nvSpPr>
        <p:spPr>
          <a:xfrm>
            <a:off x="4059936" y="6254496"/>
            <a:ext cx="799185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43" name="Shape 240"/>
          <p:cNvSpPr/>
          <p:nvPr/>
        </p:nvSpPr>
        <p:spPr>
          <a:xfrm>
            <a:off x="4059936" y="6254496"/>
            <a:ext cx="799185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44" name="Text 241"/>
          <p:cNvSpPr/>
          <p:nvPr/>
        </p:nvSpPr>
        <p:spPr>
          <a:xfrm>
            <a:off x="4151376" y="6291072"/>
            <a:ext cx="782726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45" name="Text 242"/>
          <p:cNvSpPr/>
          <p:nvPr/>
        </p:nvSpPr>
        <p:spPr>
          <a:xfrm>
            <a:off x="4151376" y="6409944"/>
            <a:ext cx="782726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TOP10 KA 累计批核 468.0M，占全业务 78.4%，高度集中。民生银行 187.5M/172 件居首，是最核心单一客户，亦是最大集中风险点。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3"/>
          <p:cNvSpPr/>
          <p:nvPr/>
        </p:nvSpPr>
        <p:spPr>
          <a:xfrm>
            <a:off x="91440" y="3657600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64592" y="7315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执行管理端分析仪表盘  |  Execution Management View  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0" y="109728"/>
            <a:ext cx="1965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内部文件 · 仅供使用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" y="530225"/>
            <a:ext cx="5943600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82880" y="3694176"/>
            <a:ext cx="5779008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批核业绩热力矩阵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（APE in M</a:t>
            </a: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）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163056" y="3657600"/>
            <a:ext cx="5888736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2" name="Shape 190"/>
          <p:cNvSpPr/>
          <p:nvPr/>
        </p:nvSpPr>
        <p:spPr>
          <a:xfrm>
            <a:off x="6163056" y="3657600"/>
            <a:ext cx="5888736" cy="2560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93" name="Text 191"/>
          <p:cNvSpPr/>
          <p:nvPr/>
        </p:nvSpPr>
        <p:spPr>
          <a:xfrm>
            <a:off x="6254496" y="3694176"/>
            <a:ext cx="5724144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  签批时效综合分析 — 业务线时效 &amp; 分档分布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254750" y="3959225"/>
            <a:ext cx="5659755" cy="254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195" name="Text 193"/>
          <p:cNvSpPr/>
          <p:nvPr/>
        </p:nvSpPr>
        <p:spPr>
          <a:xfrm>
            <a:off x="6351270" y="3996055"/>
            <a:ext cx="469900" cy="1390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业务线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6" name="Text 194"/>
          <p:cNvSpPr/>
          <p:nvPr/>
        </p:nvSpPr>
        <p:spPr>
          <a:xfrm>
            <a:off x="7059360" y="3996055"/>
            <a:ext cx="6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件数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7" name="Text 195"/>
          <p:cNvSpPr/>
          <p:nvPr/>
        </p:nvSpPr>
        <p:spPr>
          <a:xfrm>
            <a:off x="7687770" y="3996055"/>
            <a:ext cx="95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件均APE(万</a:t>
            </a:r>
            <a:r>
              <a:rPr lang="en-US" sz="6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650" dirty="0"/>
          </a:p>
        </p:txBody>
      </p:sp>
      <p:sp>
        <p:nvSpPr>
          <p:cNvPr id="198" name="Text 196"/>
          <p:cNvSpPr/>
          <p:nvPr/>
        </p:nvSpPr>
        <p:spPr>
          <a:xfrm>
            <a:off x="857093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平均时效(天)</a:t>
            </a:r>
            <a:endParaRPr lang="en-US" sz="8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9" name="Text 197"/>
          <p:cNvSpPr/>
          <p:nvPr/>
        </p:nvSpPr>
        <p:spPr>
          <a:xfrm>
            <a:off x="9469520" y="3996055"/>
            <a:ext cx="70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P90时效(天)</a:t>
            </a:r>
            <a:endParaRPr lang="en-US" sz="800" dirty="0"/>
          </a:p>
        </p:txBody>
      </p:sp>
      <p:sp>
        <p:nvSpPr>
          <p:cNvPr id="700" name="Text 698"/>
          <p:cNvSpPr/>
          <p:nvPr/>
        </p:nvSpPr>
        <p:spPr>
          <a:xfrm>
            <a:off x="10303340" y="3996055"/>
            <a:ext cx="660000" cy="161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中位时效(天)</a:t>
            </a:r>
            <a:endParaRPr lang="en-US" sz="800" dirty="0"/>
          </a:p>
        </p:txBody>
      </p:sp>
      <p:sp>
        <p:nvSpPr>
          <p:cNvPr id="701" name="Text 699"/>
          <p:cNvSpPr/>
          <p:nvPr/>
        </p:nvSpPr>
        <p:spPr>
          <a:xfrm>
            <a:off x="11234420" y="3987800"/>
            <a:ext cx="631825" cy="1701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最大时效(天)</a:t>
            </a:r>
            <a:endParaRPr lang="en-US" sz="800" dirty="0"/>
          </a:p>
        </p:txBody>
      </p:sp>
      <p:sp>
        <p:nvSpPr>
          <p:cNvPr id="200" name="Shape 198"/>
          <p:cNvSpPr/>
          <p:nvPr/>
        </p:nvSpPr>
        <p:spPr>
          <a:xfrm>
            <a:off x="6254750" y="4178935"/>
            <a:ext cx="5659755" cy="299720"/>
          </a:xfrm>
          <a:prstGeom prst="rect">
            <a:avLst/>
          </a:prstGeom>
          <a:solidFill>
            <a:srgbClr val="FEF2F2"/>
          </a:solidFill>
          <a:ln w="762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01" name="Shape 199"/>
          <p:cNvSpPr/>
          <p:nvPr/>
        </p:nvSpPr>
        <p:spPr>
          <a:xfrm>
            <a:off x="6254750" y="4178935"/>
            <a:ext cx="76200" cy="299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202" name="Text 200"/>
          <p:cNvSpPr/>
          <p:nvPr/>
        </p:nvSpPr>
        <p:spPr>
          <a:xfrm>
            <a:off x="6327775" y="422465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天领业务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7110160" y="422465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188</a:t>
            </a:r>
            <a:endParaRPr lang="en-US" sz="850" dirty="0"/>
          </a:p>
        </p:txBody>
      </p:sp>
      <p:sp>
        <p:nvSpPr>
          <p:cNvPr id="204" name="Text 202"/>
          <p:cNvSpPr/>
          <p:nvPr/>
        </p:nvSpPr>
        <p:spPr>
          <a:xfrm>
            <a:off x="7821120" y="422465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876778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9601600" y="422465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02" name="Text 700"/>
          <p:cNvSpPr/>
          <p:nvPr/>
        </p:nvSpPr>
        <p:spPr>
          <a:xfrm>
            <a:off x="10516700" y="422465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850" dirty="0"/>
          </a:p>
        </p:txBody>
      </p:sp>
      <p:sp>
        <p:nvSpPr>
          <p:cNvPr id="703" name="Text 701"/>
          <p:cNvSpPr/>
          <p:nvPr/>
        </p:nvSpPr>
        <p:spPr>
          <a:xfrm>
            <a:off x="11431170" y="422465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125</a:t>
            </a:r>
            <a:endParaRPr lang="en-US" sz="850" dirty="0"/>
          </a:p>
        </p:txBody>
      </p:sp>
      <p:sp>
        <p:nvSpPr>
          <p:cNvPr id="209" name="Text 207"/>
          <p:cNvSpPr/>
          <p:nvPr/>
        </p:nvSpPr>
        <p:spPr>
          <a:xfrm>
            <a:off x="6327775" y="44805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成事家办</a:t>
            </a:r>
            <a:endParaRPr lang="en-US" sz="800" dirty="0"/>
          </a:p>
        </p:txBody>
      </p:sp>
      <p:sp>
        <p:nvSpPr>
          <p:cNvPr id="210" name="Text 208"/>
          <p:cNvSpPr/>
          <p:nvPr/>
        </p:nvSpPr>
        <p:spPr>
          <a:xfrm>
            <a:off x="7110160" y="44805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7821120" y="44805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876778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13" name="Text 211"/>
          <p:cNvSpPr/>
          <p:nvPr/>
        </p:nvSpPr>
        <p:spPr>
          <a:xfrm>
            <a:off x="9601600" y="44805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</a:t>
            </a:r>
            <a:endParaRPr lang="en-US" sz="850" dirty="0"/>
          </a:p>
        </p:txBody>
      </p:sp>
      <p:sp>
        <p:nvSpPr>
          <p:cNvPr id="704" name="Text 702"/>
          <p:cNvSpPr/>
          <p:nvPr/>
        </p:nvSpPr>
        <p:spPr>
          <a:xfrm>
            <a:off x="10516700" y="44805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05" name="Text 703"/>
          <p:cNvSpPr/>
          <p:nvPr/>
        </p:nvSpPr>
        <p:spPr>
          <a:xfrm>
            <a:off x="11431170" y="44805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166</a:t>
            </a:r>
            <a:endParaRPr lang="en-US" sz="850" dirty="0"/>
          </a:p>
        </p:txBody>
      </p:sp>
      <p:sp>
        <p:nvSpPr>
          <p:cNvPr id="216" name="Text 214"/>
          <p:cNvSpPr/>
          <p:nvPr/>
        </p:nvSpPr>
        <p:spPr>
          <a:xfrm>
            <a:off x="6327775" y="473646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BK业务</a:t>
            </a:r>
            <a:endParaRPr lang="en-US" sz="800" dirty="0"/>
          </a:p>
        </p:txBody>
      </p:sp>
      <p:sp>
        <p:nvSpPr>
          <p:cNvPr id="217" name="Text 215"/>
          <p:cNvSpPr/>
          <p:nvPr/>
        </p:nvSpPr>
        <p:spPr>
          <a:xfrm>
            <a:off x="7110160" y="473646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</a:t>
            </a:r>
            <a:endParaRPr lang="en-US" sz="850" dirty="0"/>
          </a:p>
        </p:txBody>
      </p:sp>
      <p:sp>
        <p:nvSpPr>
          <p:cNvPr id="218" name="Text 216"/>
          <p:cNvSpPr/>
          <p:nvPr/>
        </p:nvSpPr>
        <p:spPr>
          <a:xfrm>
            <a:off x="7821120" y="473646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116</a:t>
            </a:r>
            <a:endParaRPr lang="en-US" sz="850" dirty="0"/>
          </a:p>
        </p:txBody>
      </p:sp>
      <p:sp>
        <p:nvSpPr>
          <p:cNvPr id="219" name="Text 217"/>
          <p:cNvSpPr/>
          <p:nvPr/>
        </p:nvSpPr>
        <p:spPr>
          <a:xfrm>
            <a:off x="876778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72</a:t>
            </a:r>
            <a:endParaRPr lang="en-US" sz="850" dirty="0"/>
          </a:p>
        </p:txBody>
      </p:sp>
      <p:sp>
        <p:nvSpPr>
          <p:cNvPr id="220" name="Text 218"/>
          <p:cNvSpPr/>
          <p:nvPr/>
        </p:nvSpPr>
        <p:spPr>
          <a:xfrm>
            <a:off x="9601600" y="473646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145</a:t>
            </a:r>
            <a:endParaRPr lang="en-US" sz="850" dirty="0"/>
          </a:p>
        </p:txBody>
      </p:sp>
      <p:sp>
        <p:nvSpPr>
          <p:cNvPr id="706" name="Text 704"/>
          <p:cNvSpPr/>
          <p:nvPr/>
        </p:nvSpPr>
        <p:spPr>
          <a:xfrm>
            <a:off x="10516700" y="473646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74</a:t>
            </a:r>
            <a:endParaRPr lang="en-US" sz="850" dirty="0"/>
          </a:p>
        </p:txBody>
      </p:sp>
      <p:sp>
        <p:nvSpPr>
          <p:cNvPr id="707" name="Text 705"/>
          <p:cNvSpPr/>
          <p:nvPr/>
        </p:nvSpPr>
        <p:spPr>
          <a:xfrm>
            <a:off x="11431170" y="473646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220</a:t>
            </a:r>
            <a:endParaRPr lang="en-US" sz="850" dirty="0"/>
          </a:p>
        </p:txBody>
      </p:sp>
      <p:sp>
        <p:nvSpPr>
          <p:cNvPr id="223" name="Text 221"/>
          <p:cNvSpPr/>
          <p:nvPr/>
        </p:nvSpPr>
        <p:spPr>
          <a:xfrm>
            <a:off x="6327775" y="499237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同行经代</a:t>
            </a:r>
            <a:endParaRPr lang="en-US" sz="800" dirty="0"/>
          </a:p>
        </p:txBody>
      </p:sp>
      <p:sp>
        <p:nvSpPr>
          <p:cNvPr id="224" name="Text 222"/>
          <p:cNvSpPr/>
          <p:nvPr/>
        </p:nvSpPr>
        <p:spPr>
          <a:xfrm>
            <a:off x="7110160" y="499237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282</a:t>
            </a:r>
            <a:endParaRPr lang="en-US" sz="850" dirty="0"/>
          </a:p>
        </p:txBody>
      </p:sp>
      <p:sp>
        <p:nvSpPr>
          <p:cNvPr id="225" name="Text 223"/>
          <p:cNvSpPr/>
          <p:nvPr/>
        </p:nvSpPr>
        <p:spPr>
          <a:xfrm>
            <a:off x="7821120" y="499237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45</a:t>
            </a:r>
            <a:endParaRPr lang="en-US" sz="850" dirty="0"/>
          </a:p>
        </p:txBody>
      </p:sp>
      <p:sp>
        <p:nvSpPr>
          <p:cNvPr id="226" name="Text 224"/>
          <p:cNvSpPr/>
          <p:nvPr/>
        </p:nvSpPr>
        <p:spPr>
          <a:xfrm>
            <a:off x="876778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850" dirty="0"/>
          </a:p>
        </p:txBody>
      </p:sp>
      <p:sp>
        <p:nvSpPr>
          <p:cNvPr id="227" name="Text 225"/>
          <p:cNvSpPr/>
          <p:nvPr/>
        </p:nvSpPr>
        <p:spPr>
          <a:xfrm>
            <a:off x="9601600" y="499237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</a:t>
            </a:r>
            <a:endParaRPr lang="en-US" sz="850" dirty="0"/>
          </a:p>
        </p:txBody>
      </p:sp>
      <p:sp>
        <p:nvSpPr>
          <p:cNvPr id="708" name="Text 706"/>
          <p:cNvSpPr/>
          <p:nvPr/>
        </p:nvSpPr>
        <p:spPr>
          <a:xfrm>
            <a:off x="10516700" y="499237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709" name="Text 707"/>
          <p:cNvSpPr/>
          <p:nvPr/>
        </p:nvSpPr>
        <p:spPr>
          <a:xfrm>
            <a:off x="11431170" y="499237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84</a:t>
            </a:r>
            <a:endParaRPr lang="en-US" sz="850" dirty="0"/>
          </a:p>
        </p:txBody>
      </p:sp>
      <p:sp>
        <p:nvSpPr>
          <p:cNvPr id="230" name="Text 228"/>
          <p:cNvSpPr/>
          <p:nvPr/>
        </p:nvSpPr>
        <p:spPr>
          <a:xfrm>
            <a:off x="6327775" y="524891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永明经代</a:t>
            </a:r>
            <a:endParaRPr lang="en-US" sz="800" dirty="0"/>
          </a:p>
        </p:txBody>
      </p:sp>
      <p:sp>
        <p:nvSpPr>
          <p:cNvPr id="231" name="Text 229"/>
          <p:cNvSpPr/>
          <p:nvPr/>
        </p:nvSpPr>
        <p:spPr>
          <a:xfrm>
            <a:off x="7110160" y="524891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387</a:t>
            </a:r>
            <a:endParaRPr lang="en-US" sz="850" dirty="0"/>
          </a:p>
        </p:txBody>
      </p:sp>
      <p:sp>
        <p:nvSpPr>
          <p:cNvPr id="232" name="Text 230"/>
          <p:cNvSpPr/>
          <p:nvPr/>
        </p:nvSpPr>
        <p:spPr>
          <a:xfrm>
            <a:off x="7821120" y="524891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233" name="Text 231"/>
          <p:cNvSpPr/>
          <p:nvPr/>
        </p:nvSpPr>
        <p:spPr>
          <a:xfrm>
            <a:off x="876778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234" name="Text 232"/>
          <p:cNvSpPr/>
          <p:nvPr/>
        </p:nvSpPr>
        <p:spPr>
          <a:xfrm>
            <a:off x="9601600" y="524891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0" name="Text 708"/>
          <p:cNvSpPr/>
          <p:nvPr/>
        </p:nvSpPr>
        <p:spPr>
          <a:xfrm>
            <a:off x="10516700" y="524891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11" name="Text 709"/>
          <p:cNvSpPr/>
          <p:nvPr/>
        </p:nvSpPr>
        <p:spPr>
          <a:xfrm>
            <a:off x="11431170" y="524891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107</a:t>
            </a:r>
            <a:endParaRPr lang="en-US" sz="850" dirty="0"/>
          </a:p>
        </p:txBody>
      </p:sp>
      <p:sp>
        <p:nvSpPr>
          <p:cNvPr id="237" name="Text 235"/>
          <p:cNvSpPr/>
          <p:nvPr/>
        </p:nvSpPr>
        <p:spPr>
          <a:xfrm>
            <a:off x="6327775" y="5504815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合伙转介</a:t>
            </a:r>
            <a:endParaRPr lang="en-US" sz="800" dirty="0"/>
          </a:p>
        </p:txBody>
      </p:sp>
      <p:sp>
        <p:nvSpPr>
          <p:cNvPr id="238" name="Text 236"/>
          <p:cNvSpPr/>
          <p:nvPr/>
        </p:nvSpPr>
        <p:spPr>
          <a:xfrm>
            <a:off x="7110160" y="5504815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850" dirty="0"/>
          </a:p>
        </p:txBody>
      </p:sp>
      <p:sp>
        <p:nvSpPr>
          <p:cNvPr id="239" name="Text 237"/>
          <p:cNvSpPr/>
          <p:nvPr/>
        </p:nvSpPr>
        <p:spPr>
          <a:xfrm>
            <a:off x="7821120" y="5504815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850" dirty="0"/>
          </a:p>
        </p:txBody>
      </p:sp>
      <p:sp>
        <p:nvSpPr>
          <p:cNvPr id="240" name="Text 238"/>
          <p:cNvSpPr/>
          <p:nvPr/>
        </p:nvSpPr>
        <p:spPr>
          <a:xfrm>
            <a:off x="876778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241" name="Text 239"/>
          <p:cNvSpPr/>
          <p:nvPr/>
        </p:nvSpPr>
        <p:spPr>
          <a:xfrm>
            <a:off x="9601600" y="5504815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38</a:t>
            </a:r>
            <a:endParaRPr lang="en-US" sz="850" dirty="0"/>
          </a:p>
        </p:txBody>
      </p:sp>
      <p:sp>
        <p:nvSpPr>
          <p:cNvPr id="712" name="Text 710"/>
          <p:cNvSpPr/>
          <p:nvPr/>
        </p:nvSpPr>
        <p:spPr>
          <a:xfrm>
            <a:off x="10516700" y="5504815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850" dirty="0"/>
          </a:p>
        </p:txBody>
      </p:sp>
      <p:sp>
        <p:nvSpPr>
          <p:cNvPr id="713" name="Text 711"/>
          <p:cNvSpPr/>
          <p:nvPr/>
        </p:nvSpPr>
        <p:spPr>
          <a:xfrm>
            <a:off x="11431170" y="5504815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44" name="Text 242"/>
          <p:cNvSpPr/>
          <p:nvPr/>
        </p:nvSpPr>
        <p:spPr>
          <a:xfrm>
            <a:off x="6327775" y="576072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ICLUB</a:t>
            </a:r>
            <a:endParaRPr lang="en-US" sz="800" dirty="0"/>
          </a:p>
        </p:txBody>
      </p:sp>
      <p:sp>
        <p:nvSpPr>
          <p:cNvPr id="245" name="Text 243"/>
          <p:cNvSpPr/>
          <p:nvPr/>
        </p:nvSpPr>
        <p:spPr>
          <a:xfrm>
            <a:off x="7110160" y="576072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7821120" y="576072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185</a:t>
            </a:r>
            <a:endParaRPr lang="en-US" sz="850" dirty="0"/>
          </a:p>
        </p:txBody>
      </p:sp>
      <p:sp>
        <p:nvSpPr>
          <p:cNvPr id="247" name="Text 245"/>
          <p:cNvSpPr/>
          <p:nvPr/>
        </p:nvSpPr>
        <p:spPr>
          <a:xfrm>
            <a:off x="876778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</a:t>
            </a:r>
            <a:endParaRPr lang="en-US" sz="850" dirty="0"/>
          </a:p>
        </p:txBody>
      </p:sp>
      <p:sp>
        <p:nvSpPr>
          <p:cNvPr id="248" name="Text 246"/>
          <p:cNvSpPr/>
          <p:nvPr/>
        </p:nvSpPr>
        <p:spPr>
          <a:xfrm>
            <a:off x="9601600" y="576072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59</a:t>
            </a:r>
            <a:endParaRPr lang="en-US" sz="850" dirty="0"/>
          </a:p>
        </p:txBody>
      </p:sp>
      <p:sp>
        <p:nvSpPr>
          <p:cNvPr id="714" name="Text 712"/>
          <p:cNvSpPr/>
          <p:nvPr/>
        </p:nvSpPr>
        <p:spPr>
          <a:xfrm>
            <a:off x="10516700" y="576072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850" dirty="0"/>
          </a:p>
        </p:txBody>
      </p:sp>
      <p:sp>
        <p:nvSpPr>
          <p:cNvPr id="715" name="Text 713"/>
          <p:cNvSpPr/>
          <p:nvPr/>
        </p:nvSpPr>
        <p:spPr>
          <a:xfrm>
            <a:off x="11431170" y="576072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76</a:t>
            </a:r>
            <a:endParaRPr lang="en-US" sz="850" dirty="0"/>
          </a:p>
        </p:txBody>
      </p:sp>
      <p:sp>
        <p:nvSpPr>
          <p:cNvPr id="718" name="Text 716"/>
          <p:cNvSpPr/>
          <p:nvPr/>
        </p:nvSpPr>
        <p:spPr>
          <a:xfrm>
            <a:off x="6327775" y="606044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IFA业务</a:t>
            </a:r>
            <a:endParaRPr lang="en-US" sz="800" dirty="0"/>
          </a:p>
        </p:txBody>
      </p:sp>
      <p:sp>
        <p:nvSpPr>
          <p:cNvPr id="719" name="Text 717"/>
          <p:cNvSpPr/>
          <p:nvPr/>
        </p:nvSpPr>
        <p:spPr>
          <a:xfrm>
            <a:off x="7130480" y="606044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0" name="Text 718"/>
          <p:cNvSpPr/>
          <p:nvPr/>
        </p:nvSpPr>
        <p:spPr>
          <a:xfrm>
            <a:off x="7841440" y="606044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1" name="Text 719"/>
          <p:cNvSpPr/>
          <p:nvPr/>
        </p:nvSpPr>
        <p:spPr>
          <a:xfrm>
            <a:off x="878810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2" name="Text 720"/>
          <p:cNvSpPr/>
          <p:nvPr/>
        </p:nvSpPr>
        <p:spPr>
          <a:xfrm>
            <a:off x="9621920" y="606044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3" name="Text 721"/>
          <p:cNvSpPr/>
          <p:nvPr/>
        </p:nvSpPr>
        <p:spPr>
          <a:xfrm>
            <a:off x="10537020" y="606044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4" name="Text 722"/>
          <p:cNvSpPr/>
          <p:nvPr/>
        </p:nvSpPr>
        <p:spPr>
          <a:xfrm>
            <a:off x="11487050" y="606044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0202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850" dirty="0"/>
          </a:p>
        </p:txBody>
      </p:sp>
      <p:sp>
        <p:nvSpPr>
          <p:cNvPr id="727" name="Text 725"/>
          <p:cNvSpPr/>
          <p:nvPr/>
        </p:nvSpPr>
        <p:spPr>
          <a:xfrm>
            <a:off x="6327775" y="6360160"/>
            <a:ext cx="14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</a:t>
            </a:r>
            <a:endParaRPr lang="en-US" sz="800" dirty="0"/>
          </a:p>
        </p:txBody>
      </p:sp>
      <p:sp>
        <p:nvSpPr>
          <p:cNvPr id="728" name="Text 726"/>
          <p:cNvSpPr/>
          <p:nvPr/>
        </p:nvSpPr>
        <p:spPr>
          <a:xfrm>
            <a:off x="7110160" y="6360160"/>
            <a:ext cx="6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1122</a:t>
            </a:r>
            <a:endParaRPr lang="en-US" sz="850" dirty="0"/>
          </a:p>
        </p:txBody>
      </p:sp>
      <p:sp>
        <p:nvSpPr>
          <p:cNvPr id="729" name="Text 727"/>
          <p:cNvSpPr/>
          <p:nvPr/>
        </p:nvSpPr>
        <p:spPr>
          <a:xfrm>
            <a:off x="7821120" y="6360160"/>
            <a:ext cx="95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53</a:t>
            </a:r>
            <a:endParaRPr lang="en-US" sz="850" dirty="0"/>
          </a:p>
        </p:txBody>
      </p:sp>
      <p:sp>
        <p:nvSpPr>
          <p:cNvPr id="730" name="Text 728"/>
          <p:cNvSpPr/>
          <p:nvPr/>
        </p:nvSpPr>
        <p:spPr>
          <a:xfrm>
            <a:off x="876778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850" dirty="0"/>
          </a:p>
        </p:txBody>
      </p:sp>
      <p:sp>
        <p:nvSpPr>
          <p:cNvPr id="731" name="Text 729"/>
          <p:cNvSpPr/>
          <p:nvPr/>
        </p:nvSpPr>
        <p:spPr>
          <a:xfrm>
            <a:off x="9601600" y="6360160"/>
            <a:ext cx="70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75</a:t>
            </a:r>
            <a:endParaRPr lang="en-US" sz="850" dirty="0"/>
          </a:p>
        </p:txBody>
      </p:sp>
      <p:sp>
        <p:nvSpPr>
          <p:cNvPr id="732" name="Text 730"/>
          <p:cNvSpPr/>
          <p:nvPr/>
        </p:nvSpPr>
        <p:spPr>
          <a:xfrm>
            <a:off x="10516700" y="6360160"/>
            <a:ext cx="660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850" dirty="0"/>
          </a:p>
        </p:txBody>
      </p:sp>
      <p:sp>
        <p:nvSpPr>
          <p:cNvPr id="733" name="Text 731"/>
          <p:cNvSpPr/>
          <p:nvPr/>
        </p:nvSpPr>
        <p:spPr>
          <a:xfrm>
            <a:off x="11431170" y="6360160"/>
            <a:ext cx="355000" cy="2076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244</a:t>
            </a:r>
            <a:endParaRPr lang="en-US" sz="850" dirty="0"/>
          </a:p>
        </p:txBody>
      </p:sp>
      <p:sp>
        <p:nvSpPr>
          <p:cNvPr id="250" name="Shape 247"/>
          <p:cNvSpPr/>
          <p:nvPr/>
        </p:nvSpPr>
        <p:spPr>
          <a:xfrm>
            <a:off x="6163056" y="625449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1" name="Shape 248"/>
          <p:cNvSpPr/>
          <p:nvPr/>
        </p:nvSpPr>
        <p:spPr>
          <a:xfrm>
            <a:off x="6163056" y="6254496"/>
            <a:ext cx="5888736" cy="27432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252" name="Text 249"/>
          <p:cNvSpPr/>
          <p:nvPr/>
        </p:nvSpPr>
        <p:spPr>
          <a:xfrm>
            <a:off x="6254496" y="6291072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4A23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253" name="Text 250"/>
          <p:cNvSpPr/>
          <p:nvPr/>
        </p:nvSpPr>
        <p:spPr>
          <a:xfrm>
            <a:off x="6254496" y="6409944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整体平均 30.3 天、P90 74.7 天,SLA 达标率 88.7%。BK 件均 116万但平均 71.8 天/P90 145 天、达标率仅 47.4%,唯一超 SLA,大额件审核慢;天领 19.7 天最优。&gt;90天积压 83 件占 21.2% APE,需专项提速。</a:t>
            </a:r>
            <a:endParaRPr lang="en-US" sz="550" dirty="0"/>
          </a:p>
        </p:txBody>
      </p:sp>
      <p:sp>
        <p:nvSpPr>
          <p:cNvPr id="258" name="Shape 254"/>
          <p:cNvSpPr/>
          <p:nvPr/>
        </p:nvSpPr>
        <p:spPr>
          <a:xfrm>
            <a:off x="91440" y="3196971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259" name="Shape 255"/>
          <p:cNvSpPr/>
          <p:nvPr/>
        </p:nvSpPr>
        <p:spPr>
          <a:xfrm>
            <a:off x="73660" y="3161411"/>
            <a:ext cx="5943600" cy="2743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  <p:txBody>
          <a:bodyPr/>
          <a:p/>
        </p:txBody>
      </p:sp>
      <p:sp>
        <p:nvSpPr>
          <p:cNvPr id="260" name="Text 256"/>
          <p:cNvSpPr/>
          <p:nvPr/>
        </p:nvSpPr>
        <p:spPr>
          <a:xfrm>
            <a:off x="165100" y="3197987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8" name="Text 257"/>
          <p:cNvSpPr/>
          <p:nvPr/>
        </p:nvSpPr>
        <p:spPr>
          <a:xfrm>
            <a:off x="165100" y="3316859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预约累计 424.8M/1070件,同行经代领跑 129.1M/367件(占30%),永明经代 122.2M 次之。W05 单周 28.2M 为年内峰值,近周回升。</a:t>
            </a:r>
            <a:endParaRPr lang="en-US" sz="550" dirty="0"/>
          </a:p>
        </p:txBody>
      </p:sp>
      <p:sp>
        <p:nvSpPr>
          <p:cNvPr id="470" name="Shape 448"/>
          <p:cNvSpPr/>
          <p:nvPr/>
        </p:nvSpPr>
        <p:spPr>
          <a:xfrm>
            <a:off x="6144006" y="3188716"/>
            <a:ext cx="5888736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472" name="Text 450"/>
          <p:cNvSpPr/>
          <p:nvPr/>
        </p:nvSpPr>
        <p:spPr>
          <a:xfrm>
            <a:off x="6236716" y="3197987"/>
            <a:ext cx="5724144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7B241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9" name="Text 451"/>
          <p:cNvSpPr/>
          <p:nvPr/>
        </p:nvSpPr>
        <p:spPr>
          <a:xfrm>
            <a:off x="6236716" y="3316859"/>
            <a:ext cx="572414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签单累计 407.8M/1038件,同行经代领跑 122.4M/352件(占30%),永明经代 119.4M 次之。W21 单周 33.8M 为年内峰值,签单稳健。</a:t>
            </a:r>
            <a:endParaRPr lang="en-US" sz="550" dirty="0"/>
          </a:p>
        </p:txBody>
      </p:sp>
      <p:sp>
        <p:nvSpPr>
          <p:cNvPr id="187" name="Shape 185"/>
          <p:cNvSpPr/>
          <p:nvPr/>
        </p:nvSpPr>
        <p:spPr>
          <a:xfrm>
            <a:off x="91440" y="6254496"/>
            <a:ext cx="5943600" cy="402336"/>
          </a:xfrm>
          <a:prstGeom prst="rect">
            <a:avLst/>
          </a:prstGeom>
          <a:solidFill>
            <a:srgbClr val="EEF2FF"/>
          </a:solidFill>
          <a:ln w="6350">
            <a:solidFill>
              <a:srgbClr val="C5CEE8"/>
            </a:solidFill>
            <a:prstDash val="solid"/>
          </a:ln>
        </p:spPr>
        <p:txBody>
          <a:bodyPr/>
          <a:p/>
        </p:txBody>
      </p:sp>
      <p:sp>
        <p:nvSpPr>
          <p:cNvPr id="188" name="Shape 186"/>
          <p:cNvSpPr/>
          <p:nvPr/>
        </p:nvSpPr>
        <p:spPr>
          <a:xfrm>
            <a:off x="91440" y="6254496"/>
            <a:ext cx="5943600" cy="2743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p/>
        </p:txBody>
      </p:sp>
      <p:sp>
        <p:nvSpPr>
          <p:cNvPr id="189" name="Text 187"/>
          <p:cNvSpPr/>
          <p:nvPr/>
        </p:nvSpPr>
        <p:spPr>
          <a:xfrm>
            <a:off x="182880" y="6291072"/>
            <a:ext cx="5779008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1A6B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</a:t>
            </a:r>
            <a:endParaRPr lang="en-US" sz="550" dirty="0"/>
          </a:p>
        </p:txBody>
      </p:sp>
      <p:sp>
        <p:nvSpPr>
          <p:cNvPr id="10" name="Text 188"/>
          <p:cNvSpPr/>
          <p:nvPr/>
        </p:nvSpPr>
        <p:spPr>
          <a:xfrm>
            <a:off x="182880" y="6409944"/>
            <a:ext cx="577900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批核累计 593.6M/1121件,BK 领跑 227.6M/196件(38%),永明经代 146.3M 次之。W08 峰 67.0M 为年内最高,近周批核回落。</a:t>
            </a:r>
            <a:endParaRPr lang="en-US" sz="550" dirty="0"/>
          </a:p>
        </p:txBody>
      </p:sp>
      <p:sp>
        <p:nvSpPr>
          <p:cNvPr id="905" name="T6262"/>
          <p:cNvSpPr/>
          <p:nvPr/>
        </p:nvSpPr>
        <p:spPr>
          <a:xfrm>
            <a:off x="5729384" y="6065376"/>
            <a:ext cx="390000" cy="11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sz="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43件</a:t>
            </a:r>
            <a:endParaRPr lang="zh-CN" sz="500" dirty="0"/>
          </a:p>
        </p:txBody>
      </p:sp>
      <p:sp>
        <p:nvSpPr>
          <p:cNvPr id="906" name="Rectangle 905"/>
          <p:cNvSpPr/>
          <p:nvPr/>
        </p:nvSpPr>
        <p:spPr>
          <a:xfrm>
            <a:off x="182880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7" name="TextBox 906"/>
          <p:cNvSpPr txBox="1"/>
          <p:nvPr/>
        </p:nvSpPr>
        <p:spPr>
          <a:xfrm>
            <a:off x="262880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Q  周度预约业绩热力矩阵（APE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08" name="TextBox 907"/>
          <p:cNvSpPr txBox="1"/>
          <p:nvPr/>
        </p:nvSpPr>
        <p:spPr>
          <a:xfrm>
            <a:off x="86288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09" name="TextBox 908"/>
          <p:cNvSpPr txBox="1"/>
          <p:nvPr/>
        </p:nvSpPr>
        <p:spPr>
          <a:xfrm>
            <a:off x="121012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0" name="TextBox 909"/>
          <p:cNvSpPr txBox="1"/>
          <p:nvPr/>
        </p:nvSpPr>
        <p:spPr>
          <a:xfrm>
            <a:off x="155737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1" name="TextBox 910"/>
          <p:cNvSpPr txBox="1"/>
          <p:nvPr/>
        </p:nvSpPr>
        <p:spPr>
          <a:xfrm>
            <a:off x="190462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2" name="TextBox 911"/>
          <p:cNvSpPr txBox="1"/>
          <p:nvPr/>
        </p:nvSpPr>
        <p:spPr>
          <a:xfrm>
            <a:off x="225187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3" name="TextBox 912"/>
          <p:cNvSpPr txBox="1"/>
          <p:nvPr/>
        </p:nvSpPr>
        <p:spPr>
          <a:xfrm>
            <a:off x="259912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94637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5" name="TextBox 914"/>
          <p:cNvSpPr txBox="1"/>
          <p:nvPr/>
        </p:nvSpPr>
        <p:spPr>
          <a:xfrm>
            <a:off x="329362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6" name="TextBox 915"/>
          <p:cNvSpPr txBox="1"/>
          <p:nvPr/>
        </p:nvSpPr>
        <p:spPr>
          <a:xfrm>
            <a:off x="364087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7" name="TextBox 916"/>
          <p:cNvSpPr txBox="1"/>
          <p:nvPr/>
        </p:nvSpPr>
        <p:spPr>
          <a:xfrm>
            <a:off x="398812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8" name="TextBox 917"/>
          <p:cNvSpPr txBox="1"/>
          <p:nvPr/>
        </p:nvSpPr>
        <p:spPr>
          <a:xfrm>
            <a:off x="433537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19" name="TextBox 918"/>
          <p:cNvSpPr txBox="1"/>
          <p:nvPr/>
        </p:nvSpPr>
        <p:spPr>
          <a:xfrm>
            <a:off x="468261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0" name="TextBox 919"/>
          <p:cNvSpPr txBox="1"/>
          <p:nvPr/>
        </p:nvSpPr>
        <p:spPr>
          <a:xfrm>
            <a:off x="502986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1" name="TextBox 920"/>
          <p:cNvSpPr txBox="1"/>
          <p:nvPr/>
        </p:nvSpPr>
        <p:spPr>
          <a:xfrm>
            <a:off x="537711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2" name="TextBox 921"/>
          <p:cNvSpPr txBox="1"/>
          <p:nvPr/>
        </p:nvSpPr>
        <p:spPr>
          <a:xfrm>
            <a:off x="572436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923" name="TextBox 922"/>
          <p:cNvSpPr txBox="1"/>
          <p:nvPr/>
        </p:nvSpPr>
        <p:spPr>
          <a:xfrm>
            <a:off x="202880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24" name="Rectangle 923"/>
          <p:cNvSpPr/>
          <p:nvPr/>
        </p:nvSpPr>
        <p:spPr>
          <a:xfrm>
            <a:off x="868880" y="1022032"/>
            <a:ext cx="335249" cy="250996"/>
          </a:xfrm>
          <a:prstGeom prst="rect">
            <a:avLst/>
          </a:prstGeom>
          <a:solidFill>
            <a:srgbClr val="2980B9">
              <a:alpha val="4342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5" name="TextBox 924"/>
          <p:cNvSpPr txBox="1"/>
          <p:nvPr/>
        </p:nvSpPr>
        <p:spPr>
          <a:xfrm>
            <a:off x="86288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6" name="TextBox 925"/>
          <p:cNvSpPr txBox="1"/>
          <p:nvPr/>
        </p:nvSpPr>
        <p:spPr>
          <a:xfrm>
            <a:off x="86288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7" name="Rectangle 926"/>
          <p:cNvSpPr/>
          <p:nvPr/>
        </p:nvSpPr>
        <p:spPr>
          <a:xfrm>
            <a:off x="1563378" y="1022032"/>
            <a:ext cx="335249" cy="250996"/>
          </a:xfrm>
          <a:prstGeom prst="rect">
            <a:avLst/>
          </a:prstGeom>
          <a:solidFill>
            <a:srgbClr val="2980B9">
              <a:alpha val="51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8" name="TextBox 927"/>
          <p:cNvSpPr txBox="1"/>
          <p:nvPr/>
        </p:nvSpPr>
        <p:spPr>
          <a:xfrm>
            <a:off x="155737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29" name="TextBox 928"/>
          <p:cNvSpPr txBox="1"/>
          <p:nvPr/>
        </p:nvSpPr>
        <p:spPr>
          <a:xfrm>
            <a:off x="155737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0" name="Rectangle 929"/>
          <p:cNvSpPr/>
          <p:nvPr/>
        </p:nvSpPr>
        <p:spPr>
          <a:xfrm>
            <a:off x="1910627" y="1022032"/>
            <a:ext cx="335249" cy="250996"/>
          </a:xfrm>
          <a:prstGeom prst="rect">
            <a:avLst/>
          </a:prstGeom>
          <a:solidFill>
            <a:srgbClr val="2980B9">
              <a:alpha val="60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1" name="TextBox 930"/>
          <p:cNvSpPr txBox="1"/>
          <p:nvPr/>
        </p:nvSpPr>
        <p:spPr>
          <a:xfrm>
            <a:off x="190462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2" name="TextBox 931"/>
          <p:cNvSpPr txBox="1"/>
          <p:nvPr/>
        </p:nvSpPr>
        <p:spPr>
          <a:xfrm>
            <a:off x="190462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3" name="Rectangle 932"/>
          <p:cNvSpPr/>
          <p:nvPr/>
        </p:nvSpPr>
        <p:spPr>
          <a:xfrm>
            <a:off x="2257876" y="1022032"/>
            <a:ext cx="335249" cy="250996"/>
          </a:xfrm>
          <a:prstGeom prst="rect">
            <a:avLst/>
          </a:prstGeom>
          <a:solidFill>
            <a:srgbClr val="2980B9">
              <a:alpha val="307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4" name="TextBox 933"/>
          <p:cNvSpPr txBox="1"/>
          <p:nvPr/>
        </p:nvSpPr>
        <p:spPr>
          <a:xfrm>
            <a:off x="225187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5" name="TextBox 934"/>
          <p:cNvSpPr txBox="1"/>
          <p:nvPr/>
        </p:nvSpPr>
        <p:spPr>
          <a:xfrm>
            <a:off x="225187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6" name="Rectangle 935"/>
          <p:cNvSpPr/>
          <p:nvPr/>
        </p:nvSpPr>
        <p:spPr>
          <a:xfrm>
            <a:off x="2605125" y="1022032"/>
            <a:ext cx="335249" cy="250996"/>
          </a:xfrm>
          <a:prstGeom prst="rect">
            <a:avLst/>
          </a:prstGeom>
          <a:solidFill>
            <a:srgbClr val="2980B9">
              <a:alpha val="372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7" name="TextBox 936"/>
          <p:cNvSpPr txBox="1"/>
          <p:nvPr/>
        </p:nvSpPr>
        <p:spPr>
          <a:xfrm>
            <a:off x="259912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8" name="TextBox 937"/>
          <p:cNvSpPr txBox="1"/>
          <p:nvPr/>
        </p:nvSpPr>
        <p:spPr>
          <a:xfrm>
            <a:off x="259912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39" name="Rectangle 938"/>
          <p:cNvSpPr/>
          <p:nvPr/>
        </p:nvSpPr>
        <p:spPr>
          <a:xfrm>
            <a:off x="2952374" y="1022032"/>
            <a:ext cx="335249" cy="250996"/>
          </a:xfrm>
          <a:prstGeom prst="rect">
            <a:avLst/>
          </a:prstGeom>
          <a:solidFill>
            <a:srgbClr val="2980B9">
              <a:alpha val="8306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0" name="TextBox 939"/>
          <p:cNvSpPr txBox="1"/>
          <p:nvPr/>
        </p:nvSpPr>
        <p:spPr>
          <a:xfrm>
            <a:off x="294637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1" name="TextBox 940"/>
          <p:cNvSpPr txBox="1"/>
          <p:nvPr/>
        </p:nvSpPr>
        <p:spPr>
          <a:xfrm>
            <a:off x="294637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2" name="Rectangle 941"/>
          <p:cNvSpPr/>
          <p:nvPr/>
        </p:nvSpPr>
        <p:spPr>
          <a:xfrm>
            <a:off x="3299623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3" name="TextBox 942"/>
          <p:cNvSpPr txBox="1"/>
          <p:nvPr/>
        </p:nvSpPr>
        <p:spPr>
          <a:xfrm>
            <a:off x="329362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4" name="TextBox 943"/>
          <p:cNvSpPr txBox="1"/>
          <p:nvPr/>
        </p:nvSpPr>
        <p:spPr>
          <a:xfrm>
            <a:off x="329362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5" name="Rectangle 944"/>
          <p:cNvSpPr/>
          <p:nvPr/>
        </p:nvSpPr>
        <p:spPr>
          <a:xfrm>
            <a:off x="3646872" y="1022032"/>
            <a:ext cx="335249" cy="250996"/>
          </a:xfrm>
          <a:prstGeom prst="rect">
            <a:avLst/>
          </a:prstGeom>
          <a:solidFill>
            <a:srgbClr val="2980B9">
              <a:alpha val="461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6" name="TextBox 945"/>
          <p:cNvSpPr txBox="1"/>
          <p:nvPr/>
        </p:nvSpPr>
        <p:spPr>
          <a:xfrm>
            <a:off x="364087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7" name="TextBox 946"/>
          <p:cNvSpPr txBox="1"/>
          <p:nvPr/>
        </p:nvSpPr>
        <p:spPr>
          <a:xfrm>
            <a:off x="364087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48" name="Rectangle 947"/>
          <p:cNvSpPr/>
          <p:nvPr/>
        </p:nvSpPr>
        <p:spPr>
          <a:xfrm>
            <a:off x="3994121" y="1022032"/>
            <a:ext cx="335249" cy="250996"/>
          </a:xfrm>
          <a:prstGeom prst="rect">
            <a:avLst/>
          </a:prstGeom>
          <a:solidFill>
            <a:srgbClr val="2980B9">
              <a:alpha val="355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9" name="TextBox 948"/>
          <p:cNvSpPr txBox="1"/>
          <p:nvPr/>
        </p:nvSpPr>
        <p:spPr>
          <a:xfrm>
            <a:off x="398812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0" name="TextBox 949"/>
          <p:cNvSpPr txBox="1"/>
          <p:nvPr/>
        </p:nvSpPr>
        <p:spPr>
          <a:xfrm>
            <a:off x="398812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1" name="Rectangle 950"/>
          <p:cNvSpPr/>
          <p:nvPr/>
        </p:nvSpPr>
        <p:spPr>
          <a:xfrm>
            <a:off x="4341370" y="1022032"/>
            <a:ext cx="335249" cy="250996"/>
          </a:xfrm>
          <a:prstGeom prst="rect">
            <a:avLst/>
          </a:prstGeom>
          <a:solidFill>
            <a:srgbClr val="2980B9">
              <a:alpha val="346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2" name="TextBox 951"/>
          <p:cNvSpPr txBox="1"/>
          <p:nvPr/>
        </p:nvSpPr>
        <p:spPr>
          <a:xfrm>
            <a:off x="433537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3" name="TextBox 952"/>
          <p:cNvSpPr txBox="1"/>
          <p:nvPr/>
        </p:nvSpPr>
        <p:spPr>
          <a:xfrm>
            <a:off x="433537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4" name="Rectangle 953"/>
          <p:cNvSpPr/>
          <p:nvPr/>
        </p:nvSpPr>
        <p:spPr>
          <a:xfrm>
            <a:off x="4688619" y="1022032"/>
            <a:ext cx="335249" cy="250996"/>
          </a:xfrm>
          <a:prstGeom prst="rect">
            <a:avLst/>
          </a:prstGeom>
          <a:solidFill>
            <a:srgbClr val="2980B9">
              <a:alpha val="311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5" name="TextBox 954"/>
          <p:cNvSpPr txBox="1"/>
          <p:nvPr/>
        </p:nvSpPr>
        <p:spPr>
          <a:xfrm>
            <a:off x="468261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6" name="TextBox 955"/>
          <p:cNvSpPr txBox="1"/>
          <p:nvPr/>
        </p:nvSpPr>
        <p:spPr>
          <a:xfrm>
            <a:off x="468261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7" name="Rectangle 956"/>
          <p:cNvSpPr/>
          <p:nvPr/>
        </p:nvSpPr>
        <p:spPr>
          <a:xfrm>
            <a:off x="5035868" y="1022032"/>
            <a:ext cx="335249" cy="250996"/>
          </a:xfrm>
          <a:prstGeom prst="rect">
            <a:avLst/>
          </a:prstGeom>
          <a:solidFill>
            <a:srgbClr val="2980B9">
              <a:alpha val="518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8" name="TextBox 957"/>
          <p:cNvSpPr txBox="1"/>
          <p:nvPr/>
        </p:nvSpPr>
        <p:spPr>
          <a:xfrm>
            <a:off x="502986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59" name="TextBox 958"/>
          <p:cNvSpPr txBox="1"/>
          <p:nvPr/>
        </p:nvSpPr>
        <p:spPr>
          <a:xfrm>
            <a:off x="502986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0" name="Rectangle 959"/>
          <p:cNvSpPr/>
          <p:nvPr/>
        </p:nvSpPr>
        <p:spPr>
          <a:xfrm>
            <a:off x="5383117" y="1022032"/>
            <a:ext cx="335249" cy="250996"/>
          </a:xfrm>
          <a:prstGeom prst="rect">
            <a:avLst/>
          </a:prstGeom>
          <a:solidFill>
            <a:srgbClr val="2980B9">
              <a:alpha val="3132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1" name="TextBox 960"/>
          <p:cNvSpPr txBox="1"/>
          <p:nvPr/>
        </p:nvSpPr>
        <p:spPr>
          <a:xfrm>
            <a:off x="537711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2" name="TextBox 961"/>
          <p:cNvSpPr txBox="1"/>
          <p:nvPr/>
        </p:nvSpPr>
        <p:spPr>
          <a:xfrm>
            <a:off x="537711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963" name="Rectangle 962"/>
          <p:cNvSpPr/>
          <p:nvPr/>
        </p:nvSpPr>
        <p:spPr>
          <a:xfrm>
            <a:off x="5730366" y="1022032"/>
            <a:ext cx="335249" cy="250996"/>
          </a:xfrm>
          <a:prstGeom prst="rect">
            <a:avLst/>
          </a:prstGeom>
          <a:solidFill>
            <a:srgbClr val="2980B9">
              <a:alpha val="734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4" name="TextBox 963"/>
          <p:cNvSpPr txBox="1"/>
          <p:nvPr/>
        </p:nvSpPr>
        <p:spPr>
          <a:xfrm>
            <a:off x="572436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5" name="TextBox 964"/>
          <p:cNvSpPr txBox="1"/>
          <p:nvPr/>
        </p:nvSpPr>
        <p:spPr>
          <a:xfrm>
            <a:off x="572436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6" name="TextBox 965"/>
          <p:cNvSpPr txBox="1"/>
          <p:nvPr/>
        </p:nvSpPr>
        <p:spPr>
          <a:xfrm>
            <a:off x="202880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67" name="Rectangle 966"/>
          <p:cNvSpPr/>
          <p:nvPr/>
        </p:nvSpPr>
        <p:spPr>
          <a:xfrm>
            <a:off x="1216129" y="1285028"/>
            <a:ext cx="335249" cy="250996"/>
          </a:xfrm>
          <a:prstGeom prst="rect">
            <a:avLst/>
          </a:prstGeom>
          <a:solidFill>
            <a:srgbClr val="374151">
              <a:alpha val="4495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8" name="TextBox 967"/>
          <p:cNvSpPr txBox="1"/>
          <p:nvPr/>
        </p:nvSpPr>
        <p:spPr>
          <a:xfrm>
            <a:off x="121012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69" name="TextBox 968"/>
          <p:cNvSpPr txBox="1"/>
          <p:nvPr/>
        </p:nvSpPr>
        <p:spPr>
          <a:xfrm>
            <a:off x="121012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0" name="Rectangle 969"/>
          <p:cNvSpPr/>
          <p:nvPr/>
        </p:nvSpPr>
        <p:spPr>
          <a:xfrm>
            <a:off x="1563378" y="1285028"/>
            <a:ext cx="335249" cy="250996"/>
          </a:xfrm>
          <a:prstGeom prst="rect">
            <a:avLst/>
          </a:prstGeom>
          <a:solidFill>
            <a:srgbClr val="374151">
              <a:alpha val="659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1" name="TextBox 970"/>
          <p:cNvSpPr txBox="1"/>
          <p:nvPr/>
        </p:nvSpPr>
        <p:spPr>
          <a:xfrm>
            <a:off x="155737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2" name="TextBox 971"/>
          <p:cNvSpPr txBox="1"/>
          <p:nvPr/>
        </p:nvSpPr>
        <p:spPr>
          <a:xfrm>
            <a:off x="155737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3" name="Rectangle 972"/>
          <p:cNvSpPr/>
          <p:nvPr/>
        </p:nvSpPr>
        <p:spPr>
          <a:xfrm>
            <a:off x="1910627" y="1285028"/>
            <a:ext cx="335249" cy="250996"/>
          </a:xfrm>
          <a:prstGeom prst="rect">
            <a:avLst/>
          </a:prstGeom>
          <a:solidFill>
            <a:srgbClr val="374151">
              <a:alpha val="523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4" name="TextBox 973"/>
          <p:cNvSpPr txBox="1"/>
          <p:nvPr/>
        </p:nvSpPr>
        <p:spPr>
          <a:xfrm>
            <a:off x="190462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5" name="TextBox 974"/>
          <p:cNvSpPr txBox="1"/>
          <p:nvPr/>
        </p:nvSpPr>
        <p:spPr>
          <a:xfrm>
            <a:off x="190462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76" name="Rectangle 975"/>
          <p:cNvSpPr/>
          <p:nvPr/>
        </p:nvSpPr>
        <p:spPr>
          <a:xfrm>
            <a:off x="2952374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7" name="TextBox 976"/>
          <p:cNvSpPr txBox="1"/>
          <p:nvPr/>
        </p:nvSpPr>
        <p:spPr>
          <a:xfrm>
            <a:off x="294637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8" name="TextBox 977"/>
          <p:cNvSpPr txBox="1"/>
          <p:nvPr/>
        </p:nvSpPr>
        <p:spPr>
          <a:xfrm>
            <a:off x="294637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9" name="Rectangle 978"/>
          <p:cNvSpPr/>
          <p:nvPr/>
        </p:nvSpPr>
        <p:spPr>
          <a:xfrm>
            <a:off x="3646872" y="1285028"/>
            <a:ext cx="335249" cy="250996"/>
          </a:xfrm>
          <a:prstGeom prst="rect">
            <a:avLst/>
          </a:prstGeom>
          <a:solidFill>
            <a:srgbClr val="374151">
              <a:alpha val="3023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0" name="TextBox 979"/>
          <p:cNvSpPr txBox="1"/>
          <p:nvPr/>
        </p:nvSpPr>
        <p:spPr>
          <a:xfrm>
            <a:off x="364087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1" name="TextBox 980"/>
          <p:cNvSpPr txBox="1"/>
          <p:nvPr/>
        </p:nvSpPr>
        <p:spPr>
          <a:xfrm>
            <a:off x="364087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2" name="Rectangle 981"/>
          <p:cNvSpPr/>
          <p:nvPr/>
        </p:nvSpPr>
        <p:spPr>
          <a:xfrm>
            <a:off x="3994121" y="1285028"/>
            <a:ext cx="335249" cy="250996"/>
          </a:xfrm>
          <a:prstGeom prst="rect">
            <a:avLst/>
          </a:prstGeom>
          <a:solidFill>
            <a:srgbClr val="374151">
              <a:alpha val="3939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3" name="TextBox 982"/>
          <p:cNvSpPr txBox="1"/>
          <p:nvPr/>
        </p:nvSpPr>
        <p:spPr>
          <a:xfrm>
            <a:off x="398812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4" name="TextBox 983"/>
          <p:cNvSpPr txBox="1"/>
          <p:nvPr/>
        </p:nvSpPr>
        <p:spPr>
          <a:xfrm>
            <a:off x="398812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5" name="Rectangle 984"/>
          <p:cNvSpPr/>
          <p:nvPr/>
        </p:nvSpPr>
        <p:spPr>
          <a:xfrm>
            <a:off x="5035868" y="1285028"/>
            <a:ext cx="335249" cy="250996"/>
          </a:xfrm>
          <a:prstGeom prst="rect">
            <a:avLst/>
          </a:prstGeom>
          <a:solidFill>
            <a:srgbClr val="374151">
              <a:alpha val="380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6" name="TextBox 985"/>
          <p:cNvSpPr txBox="1"/>
          <p:nvPr/>
        </p:nvSpPr>
        <p:spPr>
          <a:xfrm>
            <a:off x="502986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7" name="TextBox 986"/>
          <p:cNvSpPr txBox="1"/>
          <p:nvPr/>
        </p:nvSpPr>
        <p:spPr>
          <a:xfrm>
            <a:off x="502986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88" name="Rectangle 987"/>
          <p:cNvSpPr/>
          <p:nvPr/>
        </p:nvSpPr>
        <p:spPr>
          <a:xfrm>
            <a:off x="5730366" y="1285028"/>
            <a:ext cx="335249" cy="250996"/>
          </a:xfrm>
          <a:prstGeom prst="rect">
            <a:avLst/>
          </a:prstGeom>
          <a:solidFill>
            <a:srgbClr val="374151">
              <a:alpha val="32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9" name="TextBox 988"/>
          <p:cNvSpPr txBox="1"/>
          <p:nvPr/>
        </p:nvSpPr>
        <p:spPr>
          <a:xfrm>
            <a:off x="572436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90" name="TextBox 989"/>
          <p:cNvSpPr txBox="1"/>
          <p:nvPr/>
        </p:nvSpPr>
        <p:spPr>
          <a:xfrm>
            <a:off x="572436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991" name="TextBox 990"/>
          <p:cNvSpPr txBox="1"/>
          <p:nvPr/>
        </p:nvSpPr>
        <p:spPr>
          <a:xfrm>
            <a:off x="202880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992" name="Rectangle 991"/>
          <p:cNvSpPr/>
          <p:nvPr/>
        </p:nvSpPr>
        <p:spPr>
          <a:xfrm>
            <a:off x="1216129" y="1548024"/>
            <a:ext cx="335249" cy="250996"/>
          </a:xfrm>
          <a:prstGeom prst="rect">
            <a:avLst/>
          </a:prstGeom>
          <a:solidFill>
            <a:srgbClr val="1F3864">
              <a:alpha val="96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3" name="TextBox 992"/>
          <p:cNvSpPr txBox="1"/>
          <p:nvPr/>
        </p:nvSpPr>
        <p:spPr>
          <a:xfrm>
            <a:off x="121012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4" name="TextBox 993"/>
          <p:cNvSpPr txBox="1"/>
          <p:nvPr/>
        </p:nvSpPr>
        <p:spPr>
          <a:xfrm>
            <a:off x="121012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5" name="Rectangle 994"/>
          <p:cNvSpPr/>
          <p:nvPr/>
        </p:nvSpPr>
        <p:spPr>
          <a:xfrm>
            <a:off x="1563378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6" name="TextBox 995"/>
          <p:cNvSpPr txBox="1"/>
          <p:nvPr/>
        </p:nvSpPr>
        <p:spPr>
          <a:xfrm>
            <a:off x="155737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7" name="TextBox 996"/>
          <p:cNvSpPr txBox="1"/>
          <p:nvPr/>
        </p:nvSpPr>
        <p:spPr>
          <a:xfrm>
            <a:off x="155737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998" name="Rectangle 997"/>
          <p:cNvSpPr/>
          <p:nvPr/>
        </p:nvSpPr>
        <p:spPr>
          <a:xfrm>
            <a:off x="1910627" y="1548024"/>
            <a:ext cx="335249" cy="250996"/>
          </a:xfrm>
          <a:prstGeom prst="rect">
            <a:avLst/>
          </a:prstGeom>
          <a:solidFill>
            <a:srgbClr val="1F3864">
              <a:alpha val="485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9" name="TextBox 998"/>
          <p:cNvSpPr txBox="1"/>
          <p:nvPr/>
        </p:nvSpPr>
        <p:spPr>
          <a:xfrm>
            <a:off x="190462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190462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1" name="Rectangle 1000"/>
          <p:cNvSpPr/>
          <p:nvPr/>
        </p:nvSpPr>
        <p:spPr>
          <a:xfrm>
            <a:off x="2257876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2" name="TextBox 1001"/>
          <p:cNvSpPr txBox="1"/>
          <p:nvPr/>
        </p:nvSpPr>
        <p:spPr>
          <a:xfrm>
            <a:off x="225187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3" name="TextBox 1002"/>
          <p:cNvSpPr txBox="1"/>
          <p:nvPr/>
        </p:nvSpPr>
        <p:spPr>
          <a:xfrm>
            <a:off x="225187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4" name="Rectangle 1003"/>
          <p:cNvSpPr/>
          <p:nvPr/>
        </p:nvSpPr>
        <p:spPr>
          <a:xfrm>
            <a:off x="2605125" y="1548024"/>
            <a:ext cx="335249" cy="250996"/>
          </a:xfrm>
          <a:prstGeom prst="rect">
            <a:avLst/>
          </a:prstGeom>
          <a:solidFill>
            <a:srgbClr val="1F3864">
              <a:alpha val="303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Box 1004"/>
          <p:cNvSpPr txBox="1"/>
          <p:nvPr/>
        </p:nvSpPr>
        <p:spPr>
          <a:xfrm>
            <a:off x="259912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6" name="TextBox 1005"/>
          <p:cNvSpPr txBox="1"/>
          <p:nvPr/>
        </p:nvSpPr>
        <p:spPr>
          <a:xfrm>
            <a:off x="259912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7" name="Rectangle 1006"/>
          <p:cNvSpPr/>
          <p:nvPr/>
        </p:nvSpPr>
        <p:spPr>
          <a:xfrm>
            <a:off x="2952374" y="1548024"/>
            <a:ext cx="335249" cy="250996"/>
          </a:xfrm>
          <a:prstGeom prst="rect">
            <a:avLst/>
          </a:prstGeom>
          <a:solidFill>
            <a:srgbClr val="1F3864">
              <a:alpha val="389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8" name="TextBox 1007"/>
          <p:cNvSpPr txBox="1"/>
          <p:nvPr/>
        </p:nvSpPr>
        <p:spPr>
          <a:xfrm>
            <a:off x="294637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09" name="TextBox 1008"/>
          <p:cNvSpPr txBox="1"/>
          <p:nvPr/>
        </p:nvSpPr>
        <p:spPr>
          <a:xfrm>
            <a:off x="294637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0" name="Rectangle 1009"/>
          <p:cNvSpPr/>
          <p:nvPr/>
        </p:nvSpPr>
        <p:spPr>
          <a:xfrm>
            <a:off x="3299623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1" name="TextBox 1010"/>
          <p:cNvSpPr txBox="1"/>
          <p:nvPr/>
        </p:nvSpPr>
        <p:spPr>
          <a:xfrm>
            <a:off x="329362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2" name="TextBox 1011"/>
          <p:cNvSpPr txBox="1"/>
          <p:nvPr/>
        </p:nvSpPr>
        <p:spPr>
          <a:xfrm>
            <a:off x="329362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3" name="Rectangle 1012"/>
          <p:cNvSpPr/>
          <p:nvPr/>
        </p:nvSpPr>
        <p:spPr>
          <a:xfrm>
            <a:off x="3646872" y="1548024"/>
            <a:ext cx="335249" cy="250996"/>
          </a:xfrm>
          <a:prstGeom prst="rect">
            <a:avLst/>
          </a:prstGeom>
          <a:solidFill>
            <a:srgbClr val="1F3864">
              <a:alpha val="732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4" name="TextBox 1013"/>
          <p:cNvSpPr txBox="1"/>
          <p:nvPr/>
        </p:nvSpPr>
        <p:spPr>
          <a:xfrm>
            <a:off x="364087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5" name="TextBox 1014"/>
          <p:cNvSpPr txBox="1"/>
          <p:nvPr/>
        </p:nvSpPr>
        <p:spPr>
          <a:xfrm>
            <a:off x="364087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6" name="Rectangle 1015"/>
          <p:cNvSpPr/>
          <p:nvPr/>
        </p:nvSpPr>
        <p:spPr>
          <a:xfrm>
            <a:off x="3994121" y="1548024"/>
            <a:ext cx="335249" cy="250996"/>
          </a:xfrm>
          <a:prstGeom prst="rect">
            <a:avLst/>
          </a:prstGeom>
          <a:solidFill>
            <a:srgbClr val="1F3864">
              <a:alpha val="410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TextBox 1016"/>
          <p:cNvSpPr txBox="1"/>
          <p:nvPr/>
        </p:nvSpPr>
        <p:spPr>
          <a:xfrm>
            <a:off x="398812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8" name="TextBox 1017"/>
          <p:cNvSpPr txBox="1"/>
          <p:nvPr/>
        </p:nvSpPr>
        <p:spPr>
          <a:xfrm>
            <a:off x="398812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19" name="Rectangle 1018"/>
          <p:cNvSpPr/>
          <p:nvPr/>
        </p:nvSpPr>
        <p:spPr>
          <a:xfrm>
            <a:off x="4341370" y="1548024"/>
            <a:ext cx="335249" cy="250996"/>
          </a:xfrm>
          <a:prstGeom prst="rect">
            <a:avLst/>
          </a:prstGeom>
          <a:solidFill>
            <a:srgbClr val="1F3864">
              <a:alpha val="817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0" name="TextBox 1019"/>
          <p:cNvSpPr txBox="1"/>
          <p:nvPr/>
        </p:nvSpPr>
        <p:spPr>
          <a:xfrm>
            <a:off x="433537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1" name="TextBox 1020"/>
          <p:cNvSpPr txBox="1"/>
          <p:nvPr/>
        </p:nvSpPr>
        <p:spPr>
          <a:xfrm>
            <a:off x="433537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2" name="Rectangle 1021"/>
          <p:cNvSpPr/>
          <p:nvPr/>
        </p:nvSpPr>
        <p:spPr>
          <a:xfrm>
            <a:off x="4688619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TextBox 1022"/>
          <p:cNvSpPr txBox="1"/>
          <p:nvPr/>
        </p:nvSpPr>
        <p:spPr>
          <a:xfrm>
            <a:off x="468261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4" name="TextBox 1023"/>
          <p:cNvSpPr txBox="1"/>
          <p:nvPr/>
        </p:nvSpPr>
        <p:spPr>
          <a:xfrm>
            <a:off x="468261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25" name="Rectangle 1024"/>
          <p:cNvSpPr/>
          <p:nvPr/>
        </p:nvSpPr>
        <p:spPr>
          <a:xfrm>
            <a:off x="5035868" y="1548024"/>
            <a:ext cx="335249" cy="250996"/>
          </a:xfrm>
          <a:prstGeom prst="rect">
            <a:avLst/>
          </a:prstGeom>
          <a:solidFill>
            <a:srgbClr val="1F3864">
              <a:alpha val="795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6" name="TextBox 1025"/>
          <p:cNvSpPr txBox="1"/>
          <p:nvPr/>
        </p:nvSpPr>
        <p:spPr>
          <a:xfrm>
            <a:off x="502986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7" name="TextBox 1026"/>
          <p:cNvSpPr txBox="1"/>
          <p:nvPr/>
        </p:nvSpPr>
        <p:spPr>
          <a:xfrm>
            <a:off x="502986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8" name="Rectangle 1027"/>
          <p:cNvSpPr/>
          <p:nvPr/>
        </p:nvSpPr>
        <p:spPr>
          <a:xfrm>
            <a:off x="5383117" y="1548024"/>
            <a:ext cx="335249" cy="250996"/>
          </a:xfrm>
          <a:prstGeom prst="rect">
            <a:avLst/>
          </a:prstGeom>
          <a:solidFill>
            <a:srgbClr val="1F3864">
              <a:alpha val="357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TextBox 1028"/>
          <p:cNvSpPr txBox="1"/>
          <p:nvPr/>
        </p:nvSpPr>
        <p:spPr>
          <a:xfrm>
            <a:off x="537711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30" name="TextBox 1029"/>
          <p:cNvSpPr txBox="1"/>
          <p:nvPr/>
        </p:nvSpPr>
        <p:spPr>
          <a:xfrm>
            <a:off x="537711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031" name="Rectangle 1030"/>
          <p:cNvSpPr/>
          <p:nvPr/>
        </p:nvSpPr>
        <p:spPr>
          <a:xfrm>
            <a:off x="5730366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2" name="TextBox 1031"/>
          <p:cNvSpPr txBox="1"/>
          <p:nvPr/>
        </p:nvSpPr>
        <p:spPr>
          <a:xfrm>
            <a:off x="572436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3" name="TextBox 1032"/>
          <p:cNvSpPr txBox="1"/>
          <p:nvPr/>
        </p:nvSpPr>
        <p:spPr>
          <a:xfrm>
            <a:off x="572436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4" name="TextBox 1033"/>
          <p:cNvSpPr txBox="1"/>
          <p:nvPr/>
        </p:nvSpPr>
        <p:spPr>
          <a:xfrm>
            <a:off x="202880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35" name="Rectangle 1034"/>
          <p:cNvSpPr/>
          <p:nvPr/>
        </p:nvSpPr>
        <p:spPr>
          <a:xfrm>
            <a:off x="868880" y="1811020"/>
            <a:ext cx="335249" cy="250996"/>
          </a:xfrm>
          <a:prstGeom prst="rect">
            <a:avLst/>
          </a:prstGeom>
          <a:solidFill>
            <a:srgbClr val="E67E22">
              <a:alpha val="3188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6" name="TextBox 1035"/>
          <p:cNvSpPr txBox="1"/>
          <p:nvPr/>
        </p:nvSpPr>
        <p:spPr>
          <a:xfrm>
            <a:off x="86288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7" name="TextBox 1036"/>
          <p:cNvSpPr txBox="1"/>
          <p:nvPr/>
        </p:nvSpPr>
        <p:spPr>
          <a:xfrm>
            <a:off x="86288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38" name="Rectangle 1037"/>
          <p:cNvSpPr/>
          <p:nvPr/>
        </p:nvSpPr>
        <p:spPr>
          <a:xfrm>
            <a:off x="1216129" y="1811020"/>
            <a:ext cx="335249" cy="250996"/>
          </a:xfrm>
          <a:prstGeom prst="rect">
            <a:avLst/>
          </a:prstGeom>
          <a:solidFill>
            <a:srgbClr val="E67E22">
              <a:alpha val="3523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9" name="TextBox 1038"/>
          <p:cNvSpPr txBox="1"/>
          <p:nvPr/>
        </p:nvSpPr>
        <p:spPr>
          <a:xfrm>
            <a:off x="121012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0" name="TextBox 1039"/>
          <p:cNvSpPr txBox="1"/>
          <p:nvPr/>
        </p:nvSpPr>
        <p:spPr>
          <a:xfrm>
            <a:off x="121012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1" name="Rectangle 1040"/>
          <p:cNvSpPr/>
          <p:nvPr/>
        </p:nvSpPr>
        <p:spPr>
          <a:xfrm>
            <a:off x="1563378" y="1811020"/>
            <a:ext cx="335249" cy="250996"/>
          </a:xfrm>
          <a:prstGeom prst="rect">
            <a:avLst/>
          </a:prstGeom>
          <a:solidFill>
            <a:srgbClr val="E67E22">
              <a:alpha val="520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TextBox 1041"/>
          <p:cNvSpPr txBox="1"/>
          <p:nvPr/>
        </p:nvSpPr>
        <p:spPr>
          <a:xfrm>
            <a:off x="155737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3" name="TextBox 1042"/>
          <p:cNvSpPr txBox="1"/>
          <p:nvPr/>
        </p:nvSpPr>
        <p:spPr>
          <a:xfrm>
            <a:off x="155737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4" name="Rectangle 1043"/>
          <p:cNvSpPr/>
          <p:nvPr/>
        </p:nvSpPr>
        <p:spPr>
          <a:xfrm>
            <a:off x="1910627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5" name="TextBox 1044"/>
          <p:cNvSpPr txBox="1"/>
          <p:nvPr/>
        </p:nvSpPr>
        <p:spPr>
          <a:xfrm>
            <a:off x="190462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6" name="TextBox 1045"/>
          <p:cNvSpPr txBox="1"/>
          <p:nvPr/>
        </p:nvSpPr>
        <p:spPr>
          <a:xfrm>
            <a:off x="190462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7" name="Rectangle 1046"/>
          <p:cNvSpPr/>
          <p:nvPr/>
        </p:nvSpPr>
        <p:spPr>
          <a:xfrm>
            <a:off x="2257876" y="1811020"/>
            <a:ext cx="335249" cy="250996"/>
          </a:xfrm>
          <a:prstGeom prst="rect">
            <a:avLst/>
          </a:prstGeom>
          <a:solidFill>
            <a:srgbClr val="E67E22">
              <a:alpha val="3638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TextBox 1047"/>
          <p:cNvSpPr txBox="1"/>
          <p:nvPr/>
        </p:nvSpPr>
        <p:spPr>
          <a:xfrm>
            <a:off x="225187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49" name="TextBox 1048"/>
          <p:cNvSpPr txBox="1"/>
          <p:nvPr/>
        </p:nvSpPr>
        <p:spPr>
          <a:xfrm>
            <a:off x="225187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0" name="Rectangle 1049"/>
          <p:cNvSpPr/>
          <p:nvPr/>
        </p:nvSpPr>
        <p:spPr>
          <a:xfrm>
            <a:off x="2605125" y="1811020"/>
            <a:ext cx="335249" cy="250996"/>
          </a:xfrm>
          <a:prstGeom prst="rect">
            <a:avLst/>
          </a:prstGeom>
          <a:solidFill>
            <a:srgbClr val="E67E22">
              <a:alpha val="518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TextBox 1050"/>
          <p:cNvSpPr txBox="1"/>
          <p:nvPr/>
        </p:nvSpPr>
        <p:spPr>
          <a:xfrm>
            <a:off x="259912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2" name="TextBox 1051"/>
          <p:cNvSpPr txBox="1"/>
          <p:nvPr/>
        </p:nvSpPr>
        <p:spPr>
          <a:xfrm>
            <a:off x="259912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3" name="Rectangle 1052"/>
          <p:cNvSpPr/>
          <p:nvPr/>
        </p:nvSpPr>
        <p:spPr>
          <a:xfrm>
            <a:off x="2952374" y="1811020"/>
            <a:ext cx="335249" cy="250996"/>
          </a:xfrm>
          <a:prstGeom prst="rect">
            <a:avLst/>
          </a:prstGeom>
          <a:solidFill>
            <a:srgbClr val="E67E22">
              <a:alpha val="614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TextBox 1053"/>
          <p:cNvSpPr txBox="1"/>
          <p:nvPr/>
        </p:nvSpPr>
        <p:spPr>
          <a:xfrm>
            <a:off x="294637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5" name="TextBox 1054"/>
          <p:cNvSpPr txBox="1"/>
          <p:nvPr/>
        </p:nvSpPr>
        <p:spPr>
          <a:xfrm>
            <a:off x="294637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6" name="Rectangle 1055"/>
          <p:cNvSpPr/>
          <p:nvPr/>
        </p:nvSpPr>
        <p:spPr>
          <a:xfrm>
            <a:off x="3299623" y="1811020"/>
            <a:ext cx="335249" cy="250996"/>
          </a:xfrm>
          <a:prstGeom prst="rect">
            <a:avLst/>
          </a:prstGeom>
          <a:solidFill>
            <a:srgbClr val="E67E22">
              <a:alpha val="528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TextBox 1056"/>
          <p:cNvSpPr txBox="1"/>
          <p:nvPr/>
        </p:nvSpPr>
        <p:spPr>
          <a:xfrm>
            <a:off x="329362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8" name="TextBox 1057"/>
          <p:cNvSpPr txBox="1"/>
          <p:nvPr/>
        </p:nvSpPr>
        <p:spPr>
          <a:xfrm>
            <a:off x="329362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59" name="Rectangle 1058"/>
          <p:cNvSpPr/>
          <p:nvPr/>
        </p:nvSpPr>
        <p:spPr>
          <a:xfrm>
            <a:off x="3646872" y="1811020"/>
            <a:ext cx="335249" cy="250996"/>
          </a:xfrm>
          <a:prstGeom prst="rect">
            <a:avLst/>
          </a:prstGeom>
          <a:solidFill>
            <a:srgbClr val="E67E22">
              <a:alpha val="854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TextBox 1059"/>
          <p:cNvSpPr txBox="1"/>
          <p:nvPr/>
        </p:nvSpPr>
        <p:spPr>
          <a:xfrm>
            <a:off x="364087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1" name="TextBox 1060"/>
          <p:cNvSpPr txBox="1"/>
          <p:nvPr/>
        </p:nvSpPr>
        <p:spPr>
          <a:xfrm>
            <a:off x="364087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3994121" y="1811020"/>
            <a:ext cx="335249" cy="250996"/>
          </a:xfrm>
          <a:prstGeom prst="rect">
            <a:avLst/>
          </a:prstGeom>
          <a:solidFill>
            <a:srgbClr val="E67E22">
              <a:alpha val="5242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TextBox 1062"/>
          <p:cNvSpPr txBox="1"/>
          <p:nvPr/>
        </p:nvSpPr>
        <p:spPr>
          <a:xfrm>
            <a:off x="398812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4" name="TextBox 1063"/>
          <p:cNvSpPr txBox="1"/>
          <p:nvPr/>
        </p:nvSpPr>
        <p:spPr>
          <a:xfrm>
            <a:off x="398812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065" name="Rectangle 1064"/>
          <p:cNvSpPr/>
          <p:nvPr/>
        </p:nvSpPr>
        <p:spPr>
          <a:xfrm>
            <a:off x="4341370" y="1811020"/>
            <a:ext cx="335249" cy="250996"/>
          </a:xfrm>
          <a:prstGeom prst="rect">
            <a:avLst/>
          </a:prstGeom>
          <a:solidFill>
            <a:srgbClr val="E67E22">
              <a:alpha val="81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6" name="TextBox 1065"/>
          <p:cNvSpPr txBox="1"/>
          <p:nvPr/>
        </p:nvSpPr>
        <p:spPr>
          <a:xfrm>
            <a:off x="433537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7" name="TextBox 1066"/>
          <p:cNvSpPr txBox="1"/>
          <p:nvPr/>
        </p:nvSpPr>
        <p:spPr>
          <a:xfrm>
            <a:off x="433537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8" name="Rectangle 1067"/>
          <p:cNvSpPr/>
          <p:nvPr/>
        </p:nvSpPr>
        <p:spPr>
          <a:xfrm>
            <a:off x="4688619" y="1811020"/>
            <a:ext cx="335249" cy="250996"/>
          </a:xfrm>
          <a:prstGeom prst="rect">
            <a:avLst/>
          </a:prstGeom>
          <a:solidFill>
            <a:srgbClr val="E67E22">
              <a:alpha val="7411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TextBox 1068"/>
          <p:cNvSpPr txBox="1"/>
          <p:nvPr/>
        </p:nvSpPr>
        <p:spPr>
          <a:xfrm>
            <a:off x="468261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0" name="TextBox 1069"/>
          <p:cNvSpPr txBox="1"/>
          <p:nvPr/>
        </p:nvSpPr>
        <p:spPr>
          <a:xfrm>
            <a:off x="468261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1" name="Rectangle 1070"/>
          <p:cNvSpPr/>
          <p:nvPr/>
        </p:nvSpPr>
        <p:spPr>
          <a:xfrm>
            <a:off x="5035868" y="1811020"/>
            <a:ext cx="335249" cy="250996"/>
          </a:xfrm>
          <a:prstGeom prst="rect">
            <a:avLst/>
          </a:prstGeom>
          <a:solidFill>
            <a:srgbClr val="E67E22">
              <a:alpha val="630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TextBox 1071"/>
          <p:cNvSpPr txBox="1"/>
          <p:nvPr/>
        </p:nvSpPr>
        <p:spPr>
          <a:xfrm>
            <a:off x="502986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3" name="TextBox 1072"/>
          <p:cNvSpPr txBox="1"/>
          <p:nvPr/>
        </p:nvSpPr>
        <p:spPr>
          <a:xfrm>
            <a:off x="502986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4" name="Rectangle 1073"/>
          <p:cNvSpPr/>
          <p:nvPr/>
        </p:nvSpPr>
        <p:spPr>
          <a:xfrm>
            <a:off x="5383117" y="1811020"/>
            <a:ext cx="335249" cy="250996"/>
          </a:xfrm>
          <a:prstGeom prst="rect">
            <a:avLst/>
          </a:prstGeom>
          <a:solidFill>
            <a:srgbClr val="E67E22">
              <a:alpha val="7881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TextBox 1074"/>
          <p:cNvSpPr txBox="1"/>
          <p:nvPr/>
        </p:nvSpPr>
        <p:spPr>
          <a:xfrm>
            <a:off x="537711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6" name="TextBox 1075"/>
          <p:cNvSpPr txBox="1"/>
          <p:nvPr/>
        </p:nvSpPr>
        <p:spPr>
          <a:xfrm>
            <a:off x="537711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7" name="Rectangle 1076"/>
          <p:cNvSpPr/>
          <p:nvPr/>
        </p:nvSpPr>
        <p:spPr>
          <a:xfrm>
            <a:off x="5730366" y="1811020"/>
            <a:ext cx="335249" cy="250996"/>
          </a:xfrm>
          <a:prstGeom prst="rect">
            <a:avLst/>
          </a:prstGeom>
          <a:solidFill>
            <a:srgbClr val="E67E22">
              <a:alpha val="64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TextBox 1077"/>
          <p:cNvSpPr txBox="1"/>
          <p:nvPr/>
        </p:nvSpPr>
        <p:spPr>
          <a:xfrm>
            <a:off x="572436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9" name="TextBox 1078"/>
          <p:cNvSpPr txBox="1"/>
          <p:nvPr/>
        </p:nvSpPr>
        <p:spPr>
          <a:xfrm>
            <a:off x="572436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0" name="TextBox 1079"/>
          <p:cNvSpPr txBox="1"/>
          <p:nvPr/>
        </p:nvSpPr>
        <p:spPr>
          <a:xfrm>
            <a:off x="202880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081" name="Rectangle 1080"/>
          <p:cNvSpPr/>
          <p:nvPr/>
        </p:nvSpPr>
        <p:spPr>
          <a:xfrm>
            <a:off x="868880" y="2074016"/>
            <a:ext cx="335249" cy="250996"/>
          </a:xfrm>
          <a:prstGeom prst="rect">
            <a:avLst/>
          </a:prstGeom>
          <a:solidFill>
            <a:srgbClr val="1A7A3F">
              <a:alpha val="506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TextBox 1081"/>
          <p:cNvSpPr txBox="1"/>
          <p:nvPr/>
        </p:nvSpPr>
        <p:spPr>
          <a:xfrm>
            <a:off x="86288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83" name="TextBox 1082"/>
          <p:cNvSpPr txBox="1"/>
          <p:nvPr/>
        </p:nvSpPr>
        <p:spPr>
          <a:xfrm>
            <a:off x="86288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84" name="Rectangle 1083"/>
          <p:cNvSpPr/>
          <p:nvPr/>
        </p:nvSpPr>
        <p:spPr>
          <a:xfrm>
            <a:off x="1216129" y="2074016"/>
            <a:ext cx="335249" cy="250996"/>
          </a:xfrm>
          <a:prstGeom prst="rect">
            <a:avLst/>
          </a:prstGeom>
          <a:solidFill>
            <a:srgbClr val="1A7A3F">
              <a:alpha val="736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5" name="TextBox 1084"/>
          <p:cNvSpPr txBox="1"/>
          <p:nvPr/>
        </p:nvSpPr>
        <p:spPr>
          <a:xfrm>
            <a:off x="121012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6" name="TextBox 1085"/>
          <p:cNvSpPr txBox="1"/>
          <p:nvPr/>
        </p:nvSpPr>
        <p:spPr>
          <a:xfrm>
            <a:off x="121012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7" name="Rectangle 1086"/>
          <p:cNvSpPr/>
          <p:nvPr/>
        </p:nvSpPr>
        <p:spPr>
          <a:xfrm>
            <a:off x="1563378" y="2074016"/>
            <a:ext cx="335249" cy="250996"/>
          </a:xfrm>
          <a:prstGeom prst="rect">
            <a:avLst/>
          </a:prstGeom>
          <a:solidFill>
            <a:srgbClr val="1A7A3F">
              <a:alpha val="5971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8" name="TextBox 1087"/>
          <p:cNvSpPr txBox="1"/>
          <p:nvPr/>
        </p:nvSpPr>
        <p:spPr>
          <a:xfrm>
            <a:off x="155737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9" name="TextBox 1088"/>
          <p:cNvSpPr txBox="1"/>
          <p:nvPr/>
        </p:nvSpPr>
        <p:spPr>
          <a:xfrm>
            <a:off x="155737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0" name="Rectangle 1089"/>
          <p:cNvSpPr/>
          <p:nvPr/>
        </p:nvSpPr>
        <p:spPr>
          <a:xfrm>
            <a:off x="1910627" y="2074016"/>
            <a:ext cx="335249" cy="250996"/>
          </a:xfrm>
          <a:prstGeom prst="rect">
            <a:avLst/>
          </a:prstGeom>
          <a:solidFill>
            <a:srgbClr val="1A7A3F">
              <a:alpha val="803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1" name="TextBox 1090"/>
          <p:cNvSpPr txBox="1"/>
          <p:nvPr/>
        </p:nvSpPr>
        <p:spPr>
          <a:xfrm>
            <a:off x="190462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2" name="TextBox 1091"/>
          <p:cNvSpPr txBox="1"/>
          <p:nvPr/>
        </p:nvSpPr>
        <p:spPr>
          <a:xfrm>
            <a:off x="190462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3" name="Rectangle 1092"/>
          <p:cNvSpPr/>
          <p:nvPr/>
        </p:nvSpPr>
        <p:spPr>
          <a:xfrm>
            <a:off x="2257876" y="2074016"/>
            <a:ext cx="335249" cy="250996"/>
          </a:xfrm>
          <a:prstGeom prst="rect">
            <a:avLst/>
          </a:prstGeom>
          <a:solidFill>
            <a:srgbClr val="1A7A3F">
              <a:alpha val="39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4" name="TextBox 1093"/>
          <p:cNvSpPr txBox="1"/>
          <p:nvPr/>
        </p:nvSpPr>
        <p:spPr>
          <a:xfrm>
            <a:off x="225187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5" name="TextBox 1094"/>
          <p:cNvSpPr txBox="1"/>
          <p:nvPr/>
        </p:nvSpPr>
        <p:spPr>
          <a:xfrm>
            <a:off x="225187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096" name="Rectangle 1095"/>
          <p:cNvSpPr/>
          <p:nvPr/>
        </p:nvSpPr>
        <p:spPr>
          <a:xfrm>
            <a:off x="2605125" y="2074016"/>
            <a:ext cx="335249" cy="250996"/>
          </a:xfrm>
          <a:prstGeom prst="rect">
            <a:avLst/>
          </a:prstGeom>
          <a:solidFill>
            <a:srgbClr val="1A7A3F">
              <a:alpha val="72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7" name="TextBox 1096"/>
          <p:cNvSpPr txBox="1"/>
          <p:nvPr/>
        </p:nvSpPr>
        <p:spPr>
          <a:xfrm>
            <a:off x="259912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8" name="TextBox 1097"/>
          <p:cNvSpPr txBox="1"/>
          <p:nvPr/>
        </p:nvSpPr>
        <p:spPr>
          <a:xfrm>
            <a:off x="259912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9" name="Rectangle 1098"/>
          <p:cNvSpPr/>
          <p:nvPr/>
        </p:nvSpPr>
        <p:spPr>
          <a:xfrm>
            <a:off x="2952374" y="2074016"/>
            <a:ext cx="335249" cy="250996"/>
          </a:xfrm>
          <a:prstGeom prst="rect">
            <a:avLst/>
          </a:prstGeom>
          <a:solidFill>
            <a:srgbClr val="1A7A3F">
              <a:alpha val="732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0" name="TextBox 1099"/>
          <p:cNvSpPr txBox="1"/>
          <p:nvPr/>
        </p:nvSpPr>
        <p:spPr>
          <a:xfrm>
            <a:off x="294637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1" name="TextBox 1100"/>
          <p:cNvSpPr txBox="1"/>
          <p:nvPr/>
        </p:nvSpPr>
        <p:spPr>
          <a:xfrm>
            <a:off x="294637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2" name="Rectangle 1101"/>
          <p:cNvSpPr/>
          <p:nvPr/>
        </p:nvSpPr>
        <p:spPr>
          <a:xfrm>
            <a:off x="3299623" y="2074016"/>
            <a:ext cx="335249" cy="250996"/>
          </a:xfrm>
          <a:prstGeom prst="rect">
            <a:avLst/>
          </a:prstGeom>
          <a:solidFill>
            <a:srgbClr val="1A7A3F">
              <a:alpha val="83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3" name="TextBox 1102"/>
          <p:cNvSpPr txBox="1"/>
          <p:nvPr/>
        </p:nvSpPr>
        <p:spPr>
          <a:xfrm>
            <a:off x="329362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4" name="TextBox 1103"/>
          <p:cNvSpPr txBox="1"/>
          <p:nvPr/>
        </p:nvSpPr>
        <p:spPr>
          <a:xfrm>
            <a:off x="329362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5" name="Rectangle 1104"/>
          <p:cNvSpPr/>
          <p:nvPr/>
        </p:nvSpPr>
        <p:spPr>
          <a:xfrm>
            <a:off x="3646872" y="2074016"/>
            <a:ext cx="335249" cy="250996"/>
          </a:xfrm>
          <a:prstGeom prst="rect">
            <a:avLst/>
          </a:prstGeom>
          <a:solidFill>
            <a:srgbClr val="1A7A3F">
              <a:alpha val="660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6" name="TextBox 1105"/>
          <p:cNvSpPr txBox="1"/>
          <p:nvPr/>
        </p:nvSpPr>
        <p:spPr>
          <a:xfrm>
            <a:off x="364087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7" name="TextBox 1106"/>
          <p:cNvSpPr txBox="1"/>
          <p:nvPr/>
        </p:nvSpPr>
        <p:spPr>
          <a:xfrm>
            <a:off x="364087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8" name="Rectangle 1107"/>
          <p:cNvSpPr/>
          <p:nvPr/>
        </p:nvSpPr>
        <p:spPr>
          <a:xfrm>
            <a:off x="3994121" y="2074016"/>
            <a:ext cx="335249" cy="250996"/>
          </a:xfrm>
          <a:prstGeom prst="rect">
            <a:avLst/>
          </a:prstGeom>
          <a:solidFill>
            <a:srgbClr val="1A7A3F">
              <a:alpha val="5510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9" name="TextBox 1108"/>
          <p:cNvSpPr txBox="1"/>
          <p:nvPr/>
        </p:nvSpPr>
        <p:spPr>
          <a:xfrm>
            <a:off x="398812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0" name="TextBox 1109"/>
          <p:cNvSpPr txBox="1"/>
          <p:nvPr/>
        </p:nvSpPr>
        <p:spPr>
          <a:xfrm>
            <a:off x="398812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1" name="Rectangle 1110"/>
          <p:cNvSpPr/>
          <p:nvPr/>
        </p:nvSpPr>
        <p:spPr>
          <a:xfrm>
            <a:off x="4341370" y="2074016"/>
            <a:ext cx="335249" cy="250996"/>
          </a:xfrm>
          <a:prstGeom prst="rect">
            <a:avLst/>
          </a:prstGeom>
          <a:solidFill>
            <a:srgbClr val="1A7A3F">
              <a:alpha val="756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2" name="TextBox 1111"/>
          <p:cNvSpPr txBox="1"/>
          <p:nvPr/>
        </p:nvSpPr>
        <p:spPr>
          <a:xfrm>
            <a:off x="433537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3" name="TextBox 1112"/>
          <p:cNvSpPr txBox="1"/>
          <p:nvPr/>
        </p:nvSpPr>
        <p:spPr>
          <a:xfrm>
            <a:off x="433537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4" name="Rectangle 1113"/>
          <p:cNvSpPr/>
          <p:nvPr/>
        </p:nvSpPr>
        <p:spPr>
          <a:xfrm>
            <a:off x="4688619" y="2074016"/>
            <a:ext cx="335249" cy="250996"/>
          </a:xfrm>
          <a:prstGeom prst="rect">
            <a:avLst/>
          </a:prstGeom>
          <a:solidFill>
            <a:srgbClr val="1A7A3F">
              <a:alpha val="8364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5" name="TextBox 1114"/>
          <p:cNvSpPr txBox="1"/>
          <p:nvPr/>
        </p:nvSpPr>
        <p:spPr>
          <a:xfrm>
            <a:off x="468261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6" name="TextBox 1115"/>
          <p:cNvSpPr txBox="1"/>
          <p:nvPr/>
        </p:nvSpPr>
        <p:spPr>
          <a:xfrm>
            <a:off x="468261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7" name="Rectangle 1116"/>
          <p:cNvSpPr/>
          <p:nvPr/>
        </p:nvSpPr>
        <p:spPr>
          <a:xfrm>
            <a:off x="5035868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8" name="TextBox 1117"/>
          <p:cNvSpPr txBox="1"/>
          <p:nvPr/>
        </p:nvSpPr>
        <p:spPr>
          <a:xfrm>
            <a:off x="502986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9" name="TextBox 1118"/>
          <p:cNvSpPr txBox="1"/>
          <p:nvPr/>
        </p:nvSpPr>
        <p:spPr>
          <a:xfrm>
            <a:off x="502986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0" name="Rectangle 1119"/>
          <p:cNvSpPr/>
          <p:nvPr/>
        </p:nvSpPr>
        <p:spPr>
          <a:xfrm>
            <a:off x="5383117" y="2074016"/>
            <a:ext cx="335249" cy="250996"/>
          </a:xfrm>
          <a:prstGeom prst="rect">
            <a:avLst/>
          </a:prstGeom>
          <a:solidFill>
            <a:srgbClr val="1A7A3F">
              <a:alpha val="510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1" name="TextBox 1120"/>
          <p:cNvSpPr txBox="1"/>
          <p:nvPr/>
        </p:nvSpPr>
        <p:spPr>
          <a:xfrm>
            <a:off x="537711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2" name="TextBox 1121"/>
          <p:cNvSpPr txBox="1"/>
          <p:nvPr/>
        </p:nvSpPr>
        <p:spPr>
          <a:xfrm>
            <a:off x="537711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123" name="Rectangle 1122"/>
          <p:cNvSpPr/>
          <p:nvPr/>
        </p:nvSpPr>
        <p:spPr>
          <a:xfrm>
            <a:off x="5730366" y="2074016"/>
            <a:ext cx="335249" cy="250996"/>
          </a:xfrm>
          <a:prstGeom prst="rect">
            <a:avLst/>
          </a:prstGeom>
          <a:solidFill>
            <a:srgbClr val="1A7A3F">
              <a:alpha val="636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4" name="TextBox 1123"/>
          <p:cNvSpPr txBox="1"/>
          <p:nvPr/>
        </p:nvSpPr>
        <p:spPr>
          <a:xfrm>
            <a:off x="572436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5" name="TextBox 1124"/>
          <p:cNvSpPr txBox="1"/>
          <p:nvPr/>
        </p:nvSpPr>
        <p:spPr>
          <a:xfrm>
            <a:off x="572436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6" name="TextBox 1125"/>
          <p:cNvSpPr txBox="1"/>
          <p:nvPr/>
        </p:nvSpPr>
        <p:spPr>
          <a:xfrm>
            <a:off x="202880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27" name="Rectangle 1126"/>
          <p:cNvSpPr/>
          <p:nvPr/>
        </p:nvSpPr>
        <p:spPr>
          <a:xfrm>
            <a:off x="1216129" y="2337012"/>
            <a:ext cx="335249" cy="250996"/>
          </a:xfrm>
          <a:prstGeom prst="rect">
            <a:avLst/>
          </a:prstGeom>
          <a:solidFill>
            <a:srgbClr val="94A3B8">
              <a:alpha val="255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8" name="TextBox 1127"/>
          <p:cNvSpPr txBox="1"/>
          <p:nvPr/>
        </p:nvSpPr>
        <p:spPr>
          <a:xfrm>
            <a:off x="1210129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29" name="TextBox 1128"/>
          <p:cNvSpPr txBox="1"/>
          <p:nvPr/>
        </p:nvSpPr>
        <p:spPr>
          <a:xfrm>
            <a:off x="1210129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0" name="Rectangle 1129"/>
          <p:cNvSpPr/>
          <p:nvPr/>
        </p:nvSpPr>
        <p:spPr>
          <a:xfrm>
            <a:off x="2257876" y="2337012"/>
            <a:ext cx="335249" cy="250996"/>
          </a:xfrm>
          <a:prstGeom prst="rect">
            <a:avLst/>
          </a:prstGeom>
          <a:solidFill>
            <a:srgbClr val="94A3B8">
              <a:alpha val="323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1" name="TextBox 1130"/>
          <p:cNvSpPr txBox="1"/>
          <p:nvPr/>
        </p:nvSpPr>
        <p:spPr>
          <a:xfrm>
            <a:off x="225187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2" name="TextBox 1131"/>
          <p:cNvSpPr txBox="1"/>
          <p:nvPr/>
        </p:nvSpPr>
        <p:spPr>
          <a:xfrm>
            <a:off x="225187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3" name="Rectangle 1132"/>
          <p:cNvSpPr/>
          <p:nvPr/>
        </p:nvSpPr>
        <p:spPr>
          <a:xfrm>
            <a:off x="2952374" y="2337012"/>
            <a:ext cx="335249" cy="250996"/>
          </a:xfrm>
          <a:prstGeom prst="rect">
            <a:avLst/>
          </a:prstGeom>
          <a:solidFill>
            <a:srgbClr val="94A3B8">
              <a:alpha val="258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4" name="TextBox 1133"/>
          <p:cNvSpPr txBox="1"/>
          <p:nvPr/>
        </p:nvSpPr>
        <p:spPr>
          <a:xfrm>
            <a:off x="294637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5" name="TextBox 1134"/>
          <p:cNvSpPr txBox="1"/>
          <p:nvPr/>
        </p:nvSpPr>
        <p:spPr>
          <a:xfrm>
            <a:off x="294637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6" name="Rectangle 1135"/>
          <p:cNvSpPr/>
          <p:nvPr/>
        </p:nvSpPr>
        <p:spPr>
          <a:xfrm>
            <a:off x="4341370" y="2337012"/>
            <a:ext cx="335249" cy="250996"/>
          </a:xfrm>
          <a:prstGeom prst="rect">
            <a:avLst/>
          </a:prstGeom>
          <a:solidFill>
            <a:srgbClr val="94A3B8">
              <a:alpha val="264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7" name="TextBox 1136"/>
          <p:cNvSpPr txBox="1"/>
          <p:nvPr/>
        </p:nvSpPr>
        <p:spPr>
          <a:xfrm>
            <a:off x="4335370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8" name="TextBox 1137"/>
          <p:cNvSpPr txBox="1"/>
          <p:nvPr/>
        </p:nvSpPr>
        <p:spPr>
          <a:xfrm>
            <a:off x="4335370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39" name="Rectangle 1138"/>
          <p:cNvSpPr/>
          <p:nvPr/>
        </p:nvSpPr>
        <p:spPr>
          <a:xfrm>
            <a:off x="5035868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0" name="TextBox 1139"/>
          <p:cNvSpPr txBox="1"/>
          <p:nvPr/>
        </p:nvSpPr>
        <p:spPr>
          <a:xfrm>
            <a:off x="5029868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1" name="TextBox 1140"/>
          <p:cNvSpPr txBox="1"/>
          <p:nvPr/>
        </p:nvSpPr>
        <p:spPr>
          <a:xfrm>
            <a:off x="5029868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2" name="Rectangle 1141"/>
          <p:cNvSpPr/>
          <p:nvPr/>
        </p:nvSpPr>
        <p:spPr>
          <a:xfrm>
            <a:off x="5730366" y="2337012"/>
            <a:ext cx="335249" cy="250996"/>
          </a:xfrm>
          <a:prstGeom prst="rect">
            <a:avLst/>
          </a:prstGeom>
          <a:solidFill>
            <a:srgbClr val="94A3B8">
              <a:alpha val="297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3" name="TextBox 1142"/>
          <p:cNvSpPr txBox="1"/>
          <p:nvPr/>
        </p:nvSpPr>
        <p:spPr>
          <a:xfrm>
            <a:off x="572436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4" name="TextBox 1143"/>
          <p:cNvSpPr txBox="1"/>
          <p:nvPr/>
        </p:nvSpPr>
        <p:spPr>
          <a:xfrm>
            <a:off x="572436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145" name="TextBox 1144"/>
          <p:cNvSpPr txBox="1"/>
          <p:nvPr/>
        </p:nvSpPr>
        <p:spPr>
          <a:xfrm>
            <a:off x="202880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146" name="Rectangle 1145"/>
          <p:cNvSpPr/>
          <p:nvPr/>
        </p:nvSpPr>
        <p:spPr>
          <a:xfrm>
            <a:off x="868880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7" name="TextBox 1146"/>
          <p:cNvSpPr txBox="1"/>
          <p:nvPr/>
        </p:nvSpPr>
        <p:spPr>
          <a:xfrm>
            <a:off x="862880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48" name="TextBox 1147"/>
          <p:cNvSpPr txBox="1"/>
          <p:nvPr/>
        </p:nvSpPr>
        <p:spPr>
          <a:xfrm>
            <a:off x="862880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49" name="Rectangle 1148"/>
          <p:cNvSpPr/>
          <p:nvPr/>
        </p:nvSpPr>
        <p:spPr>
          <a:xfrm>
            <a:off x="2257876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0" name="TextBox 1149"/>
          <p:cNvSpPr txBox="1"/>
          <p:nvPr/>
        </p:nvSpPr>
        <p:spPr>
          <a:xfrm>
            <a:off x="2251876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1" name="TextBox 1150"/>
          <p:cNvSpPr txBox="1"/>
          <p:nvPr/>
        </p:nvSpPr>
        <p:spPr>
          <a:xfrm>
            <a:off x="2251876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2" name="Rectangle 1151"/>
          <p:cNvSpPr/>
          <p:nvPr/>
        </p:nvSpPr>
        <p:spPr>
          <a:xfrm>
            <a:off x="2952374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3" name="TextBox 1152"/>
          <p:cNvSpPr txBox="1"/>
          <p:nvPr/>
        </p:nvSpPr>
        <p:spPr>
          <a:xfrm>
            <a:off x="2946374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4" name="TextBox 1153"/>
          <p:cNvSpPr txBox="1"/>
          <p:nvPr/>
        </p:nvSpPr>
        <p:spPr>
          <a:xfrm>
            <a:off x="2946374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155" name="TextBox 1154"/>
          <p:cNvSpPr txBox="1"/>
          <p:nvPr/>
        </p:nvSpPr>
        <p:spPr>
          <a:xfrm>
            <a:off x="202880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156" name="Rectangle 1155"/>
          <p:cNvSpPr/>
          <p:nvPr/>
        </p:nvSpPr>
        <p:spPr>
          <a:xfrm>
            <a:off x="86888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7" name="TextBox 1156"/>
          <p:cNvSpPr txBox="1"/>
          <p:nvPr/>
        </p:nvSpPr>
        <p:spPr>
          <a:xfrm>
            <a:off x="86288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58" name="TextBox 1157"/>
          <p:cNvSpPr txBox="1"/>
          <p:nvPr/>
        </p:nvSpPr>
        <p:spPr>
          <a:xfrm>
            <a:off x="86288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59" name="Rectangle 1158"/>
          <p:cNvSpPr/>
          <p:nvPr/>
        </p:nvSpPr>
        <p:spPr>
          <a:xfrm>
            <a:off x="121612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0" name="TextBox 1159"/>
          <p:cNvSpPr txBox="1"/>
          <p:nvPr/>
        </p:nvSpPr>
        <p:spPr>
          <a:xfrm>
            <a:off x="121012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1" name="TextBox 1160"/>
          <p:cNvSpPr txBox="1"/>
          <p:nvPr/>
        </p:nvSpPr>
        <p:spPr>
          <a:xfrm>
            <a:off x="121012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2" name="Rectangle 1161"/>
          <p:cNvSpPr/>
          <p:nvPr/>
        </p:nvSpPr>
        <p:spPr>
          <a:xfrm>
            <a:off x="156337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3" name="TextBox 1162"/>
          <p:cNvSpPr txBox="1"/>
          <p:nvPr/>
        </p:nvSpPr>
        <p:spPr>
          <a:xfrm>
            <a:off x="155737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4" name="TextBox 1163"/>
          <p:cNvSpPr txBox="1"/>
          <p:nvPr/>
        </p:nvSpPr>
        <p:spPr>
          <a:xfrm>
            <a:off x="155737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5" name="Rectangle 1164"/>
          <p:cNvSpPr/>
          <p:nvPr/>
        </p:nvSpPr>
        <p:spPr>
          <a:xfrm>
            <a:off x="191062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6" name="TextBox 1165"/>
          <p:cNvSpPr txBox="1"/>
          <p:nvPr/>
        </p:nvSpPr>
        <p:spPr>
          <a:xfrm>
            <a:off x="190462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67" name="TextBox 1166"/>
          <p:cNvSpPr txBox="1"/>
          <p:nvPr/>
        </p:nvSpPr>
        <p:spPr>
          <a:xfrm>
            <a:off x="190462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68" name="Rectangle 1167"/>
          <p:cNvSpPr/>
          <p:nvPr/>
        </p:nvSpPr>
        <p:spPr>
          <a:xfrm>
            <a:off x="225787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9" name="TextBox 1168"/>
          <p:cNvSpPr txBox="1"/>
          <p:nvPr/>
        </p:nvSpPr>
        <p:spPr>
          <a:xfrm>
            <a:off x="225187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9.9M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0" name="TextBox 1169"/>
          <p:cNvSpPr txBox="1"/>
          <p:nvPr/>
        </p:nvSpPr>
        <p:spPr>
          <a:xfrm>
            <a:off x="225187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1" name="Rectangle 1170"/>
          <p:cNvSpPr/>
          <p:nvPr/>
        </p:nvSpPr>
        <p:spPr>
          <a:xfrm>
            <a:off x="260512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2" name="TextBox 1171"/>
          <p:cNvSpPr txBox="1"/>
          <p:nvPr/>
        </p:nvSpPr>
        <p:spPr>
          <a:xfrm>
            <a:off x="259912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3" name="TextBox 1172"/>
          <p:cNvSpPr txBox="1"/>
          <p:nvPr/>
        </p:nvSpPr>
        <p:spPr>
          <a:xfrm>
            <a:off x="259912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4" name="Rectangle 1173"/>
          <p:cNvSpPr/>
          <p:nvPr/>
        </p:nvSpPr>
        <p:spPr>
          <a:xfrm>
            <a:off x="295237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5" name="TextBox 1174"/>
          <p:cNvSpPr txBox="1"/>
          <p:nvPr/>
        </p:nvSpPr>
        <p:spPr>
          <a:xfrm>
            <a:off x="294637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22.2M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6" name="TextBox 1175"/>
          <p:cNvSpPr txBox="1"/>
          <p:nvPr/>
        </p:nvSpPr>
        <p:spPr>
          <a:xfrm>
            <a:off x="294637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77" name="Rectangle 1176"/>
          <p:cNvSpPr/>
          <p:nvPr/>
        </p:nvSpPr>
        <p:spPr>
          <a:xfrm>
            <a:off x="329962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8" name="TextBox 1177"/>
          <p:cNvSpPr txBox="1"/>
          <p:nvPr/>
        </p:nvSpPr>
        <p:spPr>
          <a:xfrm>
            <a:off x="329362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79" name="TextBox 1178"/>
          <p:cNvSpPr txBox="1"/>
          <p:nvPr/>
        </p:nvSpPr>
        <p:spPr>
          <a:xfrm>
            <a:off x="329362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0" name="Rectangle 1179"/>
          <p:cNvSpPr/>
          <p:nvPr/>
        </p:nvSpPr>
        <p:spPr>
          <a:xfrm>
            <a:off x="364687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1" name="TextBox 1180"/>
          <p:cNvSpPr txBox="1"/>
          <p:nvPr/>
        </p:nvSpPr>
        <p:spPr>
          <a:xfrm>
            <a:off x="364087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2" name="TextBox 1181"/>
          <p:cNvSpPr txBox="1"/>
          <p:nvPr/>
        </p:nvSpPr>
        <p:spPr>
          <a:xfrm>
            <a:off x="364087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3" name="Rectangle 1182"/>
          <p:cNvSpPr/>
          <p:nvPr/>
        </p:nvSpPr>
        <p:spPr>
          <a:xfrm>
            <a:off x="399412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4" name="TextBox 1183"/>
          <p:cNvSpPr txBox="1"/>
          <p:nvPr/>
        </p:nvSpPr>
        <p:spPr>
          <a:xfrm>
            <a:off x="398812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5" name="TextBox 1184"/>
          <p:cNvSpPr txBox="1"/>
          <p:nvPr/>
        </p:nvSpPr>
        <p:spPr>
          <a:xfrm>
            <a:off x="398812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6" name="Rectangle 1185"/>
          <p:cNvSpPr/>
          <p:nvPr/>
        </p:nvSpPr>
        <p:spPr>
          <a:xfrm>
            <a:off x="434137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7" name="TextBox 1186"/>
          <p:cNvSpPr txBox="1"/>
          <p:nvPr/>
        </p:nvSpPr>
        <p:spPr>
          <a:xfrm>
            <a:off x="433537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21.3M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88" name="TextBox 1187"/>
          <p:cNvSpPr txBox="1"/>
          <p:nvPr/>
        </p:nvSpPr>
        <p:spPr>
          <a:xfrm>
            <a:off x="433537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89" name="Rectangle 1188"/>
          <p:cNvSpPr/>
          <p:nvPr/>
        </p:nvSpPr>
        <p:spPr>
          <a:xfrm>
            <a:off x="468861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0" name="TextBox 1189"/>
          <p:cNvSpPr txBox="1"/>
          <p:nvPr/>
        </p:nvSpPr>
        <p:spPr>
          <a:xfrm>
            <a:off x="468261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1" name="TextBox 1190"/>
          <p:cNvSpPr txBox="1"/>
          <p:nvPr/>
        </p:nvSpPr>
        <p:spPr>
          <a:xfrm>
            <a:off x="468261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2" name="Rectangle 1191"/>
          <p:cNvSpPr/>
          <p:nvPr/>
        </p:nvSpPr>
        <p:spPr>
          <a:xfrm>
            <a:off x="503586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3" name="TextBox 1192"/>
          <p:cNvSpPr txBox="1"/>
          <p:nvPr/>
        </p:nvSpPr>
        <p:spPr>
          <a:xfrm>
            <a:off x="502986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4" name="TextBox 1193"/>
          <p:cNvSpPr txBox="1"/>
          <p:nvPr/>
        </p:nvSpPr>
        <p:spPr>
          <a:xfrm>
            <a:off x="502986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72件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5" name="Rectangle 1194"/>
          <p:cNvSpPr/>
          <p:nvPr/>
        </p:nvSpPr>
        <p:spPr>
          <a:xfrm>
            <a:off x="538311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6" name="TextBox 1195"/>
          <p:cNvSpPr txBox="1"/>
          <p:nvPr/>
        </p:nvSpPr>
        <p:spPr>
          <a:xfrm>
            <a:off x="537711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197" name="TextBox 1196"/>
          <p:cNvSpPr txBox="1"/>
          <p:nvPr/>
        </p:nvSpPr>
        <p:spPr>
          <a:xfrm>
            <a:off x="537711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198" name="Rectangle 1197"/>
          <p:cNvSpPr/>
          <p:nvPr/>
        </p:nvSpPr>
        <p:spPr>
          <a:xfrm>
            <a:off x="573036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9" name="TextBox 1198"/>
          <p:cNvSpPr txBox="1"/>
          <p:nvPr/>
        </p:nvSpPr>
        <p:spPr>
          <a:xfrm>
            <a:off x="572436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200" name="TextBox 1199"/>
          <p:cNvSpPr txBox="1"/>
          <p:nvPr/>
        </p:nvSpPr>
        <p:spPr>
          <a:xfrm>
            <a:off x="572436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201" name="Rectangle 1200"/>
          <p:cNvSpPr/>
          <p:nvPr/>
        </p:nvSpPr>
        <p:spPr>
          <a:xfrm>
            <a:off x="6163056" y="5600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2" name="TextBox 1201"/>
          <p:cNvSpPr txBox="1"/>
          <p:nvPr/>
        </p:nvSpPr>
        <p:spPr>
          <a:xfrm>
            <a:off x="6243056" y="5600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R  周度签单业绩热力矩阵（APE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3" name="TextBox 1202"/>
          <p:cNvSpPr txBox="1"/>
          <p:nvPr/>
        </p:nvSpPr>
        <p:spPr>
          <a:xfrm>
            <a:off x="684305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4" name="TextBox 1203"/>
          <p:cNvSpPr txBox="1"/>
          <p:nvPr/>
        </p:nvSpPr>
        <p:spPr>
          <a:xfrm>
            <a:off x="719030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5" name="TextBox 1204"/>
          <p:cNvSpPr txBox="1"/>
          <p:nvPr/>
        </p:nvSpPr>
        <p:spPr>
          <a:xfrm>
            <a:off x="753755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6" name="TextBox 1205"/>
          <p:cNvSpPr txBox="1"/>
          <p:nvPr/>
        </p:nvSpPr>
        <p:spPr>
          <a:xfrm>
            <a:off x="788480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7" name="TextBox 1206"/>
          <p:cNvSpPr txBox="1"/>
          <p:nvPr/>
        </p:nvSpPr>
        <p:spPr>
          <a:xfrm>
            <a:off x="823205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8" name="TextBox 1207"/>
          <p:cNvSpPr txBox="1"/>
          <p:nvPr/>
        </p:nvSpPr>
        <p:spPr>
          <a:xfrm>
            <a:off x="8579301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09" name="TextBox 1208"/>
          <p:cNvSpPr txBox="1"/>
          <p:nvPr/>
        </p:nvSpPr>
        <p:spPr>
          <a:xfrm>
            <a:off x="8926550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0" name="TextBox 1209"/>
          <p:cNvSpPr txBox="1"/>
          <p:nvPr/>
        </p:nvSpPr>
        <p:spPr>
          <a:xfrm>
            <a:off x="9273799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1" name="TextBox 1210"/>
          <p:cNvSpPr txBox="1"/>
          <p:nvPr/>
        </p:nvSpPr>
        <p:spPr>
          <a:xfrm>
            <a:off x="9621048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2" name="TextBox 1211"/>
          <p:cNvSpPr txBox="1"/>
          <p:nvPr/>
        </p:nvSpPr>
        <p:spPr>
          <a:xfrm>
            <a:off x="9968297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3" name="TextBox 1212"/>
          <p:cNvSpPr txBox="1"/>
          <p:nvPr/>
        </p:nvSpPr>
        <p:spPr>
          <a:xfrm>
            <a:off x="10315546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4" name="TextBox 1213"/>
          <p:cNvSpPr txBox="1"/>
          <p:nvPr/>
        </p:nvSpPr>
        <p:spPr>
          <a:xfrm>
            <a:off x="10662795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5" name="TextBox 1214"/>
          <p:cNvSpPr txBox="1"/>
          <p:nvPr/>
        </p:nvSpPr>
        <p:spPr>
          <a:xfrm>
            <a:off x="11010044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6" name="TextBox 1215"/>
          <p:cNvSpPr txBox="1"/>
          <p:nvPr/>
        </p:nvSpPr>
        <p:spPr>
          <a:xfrm>
            <a:off x="11357293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7" name="TextBox 1216"/>
          <p:cNvSpPr txBox="1"/>
          <p:nvPr/>
        </p:nvSpPr>
        <p:spPr>
          <a:xfrm>
            <a:off x="11704542" y="8360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218" name="TextBox 1217"/>
          <p:cNvSpPr txBox="1"/>
          <p:nvPr/>
        </p:nvSpPr>
        <p:spPr>
          <a:xfrm>
            <a:off x="6183056" y="101603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19" name="Rectangle 1218"/>
          <p:cNvSpPr/>
          <p:nvPr/>
        </p:nvSpPr>
        <p:spPr>
          <a:xfrm>
            <a:off x="6849056" y="1022032"/>
            <a:ext cx="335249" cy="250996"/>
          </a:xfrm>
          <a:prstGeom prst="rect">
            <a:avLst/>
          </a:prstGeom>
          <a:solidFill>
            <a:srgbClr val="2980B9">
              <a:alpha val="56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0" name="TextBox 1219"/>
          <p:cNvSpPr txBox="1"/>
          <p:nvPr/>
        </p:nvSpPr>
        <p:spPr>
          <a:xfrm>
            <a:off x="684305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1" name="TextBox 1220"/>
          <p:cNvSpPr txBox="1"/>
          <p:nvPr/>
        </p:nvSpPr>
        <p:spPr>
          <a:xfrm>
            <a:off x="684305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2" name="Rectangle 1221"/>
          <p:cNvSpPr/>
          <p:nvPr/>
        </p:nvSpPr>
        <p:spPr>
          <a:xfrm>
            <a:off x="7196305" y="1022032"/>
            <a:ext cx="335249" cy="250996"/>
          </a:xfrm>
          <a:prstGeom prst="rect">
            <a:avLst/>
          </a:prstGeom>
          <a:solidFill>
            <a:srgbClr val="2980B9">
              <a:alpha val="345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3" name="TextBox 1222"/>
          <p:cNvSpPr txBox="1"/>
          <p:nvPr/>
        </p:nvSpPr>
        <p:spPr>
          <a:xfrm>
            <a:off x="719030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4" name="TextBox 1223"/>
          <p:cNvSpPr txBox="1"/>
          <p:nvPr/>
        </p:nvSpPr>
        <p:spPr>
          <a:xfrm>
            <a:off x="719030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5" name="Rectangle 1224"/>
          <p:cNvSpPr/>
          <p:nvPr/>
        </p:nvSpPr>
        <p:spPr>
          <a:xfrm>
            <a:off x="7543554" y="1022032"/>
            <a:ext cx="335249" cy="250996"/>
          </a:xfrm>
          <a:prstGeom prst="rect">
            <a:avLst/>
          </a:prstGeom>
          <a:solidFill>
            <a:srgbClr val="2980B9">
              <a:alpha val="38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6" name="TextBox 1225"/>
          <p:cNvSpPr txBox="1"/>
          <p:nvPr/>
        </p:nvSpPr>
        <p:spPr>
          <a:xfrm>
            <a:off x="753755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7" name="TextBox 1226"/>
          <p:cNvSpPr txBox="1"/>
          <p:nvPr/>
        </p:nvSpPr>
        <p:spPr>
          <a:xfrm>
            <a:off x="753755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28" name="Rectangle 1227"/>
          <p:cNvSpPr/>
          <p:nvPr/>
        </p:nvSpPr>
        <p:spPr>
          <a:xfrm>
            <a:off x="7890803" y="1022032"/>
            <a:ext cx="335249" cy="250996"/>
          </a:xfrm>
          <a:prstGeom prst="rect">
            <a:avLst/>
          </a:prstGeom>
          <a:solidFill>
            <a:srgbClr val="2980B9">
              <a:alpha val="632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9" name="TextBox 1228"/>
          <p:cNvSpPr txBox="1"/>
          <p:nvPr/>
        </p:nvSpPr>
        <p:spPr>
          <a:xfrm>
            <a:off x="788480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0" name="TextBox 1229"/>
          <p:cNvSpPr txBox="1"/>
          <p:nvPr/>
        </p:nvSpPr>
        <p:spPr>
          <a:xfrm>
            <a:off x="788480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1" name="Rectangle 1230"/>
          <p:cNvSpPr/>
          <p:nvPr/>
        </p:nvSpPr>
        <p:spPr>
          <a:xfrm>
            <a:off x="8238052" y="1022032"/>
            <a:ext cx="335249" cy="250996"/>
          </a:xfrm>
          <a:prstGeom prst="rect">
            <a:avLst/>
          </a:prstGeom>
          <a:solidFill>
            <a:srgbClr val="2980B9">
              <a:alpha val="317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2" name="TextBox 1231"/>
          <p:cNvSpPr txBox="1"/>
          <p:nvPr/>
        </p:nvSpPr>
        <p:spPr>
          <a:xfrm>
            <a:off x="823205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3" name="TextBox 1232"/>
          <p:cNvSpPr txBox="1"/>
          <p:nvPr/>
        </p:nvSpPr>
        <p:spPr>
          <a:xfrm>
            <a:off x="823205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4" name="Rectangle 1233"/>
          <p:cNvSpPr/>
          <p:nvPr/>
        </p:nvSpPr>
        <p:spPr>
          <a:xfrm>
            <a:off x="8585301" y="1022032"/>
            <a:ext cx="335249" cy="250996"/>
          </a:xfrm>
          <a:prstGeom prst="rect">
            <a:avLst/>
          </a:prstGeom>
          <a:solidFill>
            <a:srgbClr val="2980B9">
              <a:alpha val="273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5" name="TextBox 1234"/>
          <p:cNvSpPr txBox="1"/>
          <p:nvPr/>
        </p:nvSpPr>
        <p:spPr>
          <a:xfrm>
            <a:off x="8579301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6" name="TextBox 1235"/>
          <p:cNvSpPr txBox="1"/>
          <p:nvPr/>
        </p:nvSpPr>
        <p:spPr>
          <a:xfrm>
            <a:off x="8579301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37" name="Rectangle 1236"/>
          <p:cNvSpPr/>
          <p:nvPr/>
        </p:nvSpPr>
        <p:spPr>
          <a:xfrm>
            <a:off x="8932550" y="1022032"/>
            <a:ext cx="335249" cy="250996"/>
          </a:xfrm>
          <a:prstGeom prst="rect">
            <a:avLst/>
          </a:prstGeom>
          <a:solidFill>
            <a:srgbClr val="2980B9">
              <a:alpha val="689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8" name="TextBox 1237"/>
          <p:cNvSpPr txBox="1"/>
          <p:nvPr/>
        </p:nvSpPr>
        <p:spPr>
          <a:xfrm>
            <a:off x="8926550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9" name="TextBox 1238"/>
          <p:cNvSpPr txBox="1"/>
          <p:nvPr/>
        </p:nvSpPr>
        <p:spPr>
          <a:xfrm>
            <a:off x="8926550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0" name="Rectangle 1239"/>
          <p:cNvSpPr/>
          <p:nvPr/>
        </p:nvSpPr>
        <p:spPr>
          <a:xfrm>
            <a:off x="9279799" y="1022032"/>
            <a:ext cx="335249" cy="250996"/>
          </a:xfrm>
          <a:prstGeom prst="rect">
            <a:avLst/>
          </a:prstGeom>
          <a:solidFill>
            <a:srgbClr val="2980B9">
              <a:alpha val="467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1" name="TextBox 1240"/>
          <p:cNvSpPr txBox="1"/>
          <p:nvPr/>
        </p:nvSpPr>
        <p:spPr>
          <a:xfrm>
            <a:off x="9273799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2" name="TextBox 1241"/>
          <p:cNvSpPr txBox="1"/>
          <p:nvPr/>
        </p:nvSpPr>
        <p:spPr>
          <a:xfrm>
            <a:off x="9273799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3" name="Rectangle 1242"/>
          <p:cNvSpPr/>
          <p:nvPr/>
        </p:nvSpPr>
        <p:spPr>
          <a:xfrm>
            <a:off x="9627048" y="1022032"/>
            <a:ext cx="335249" cy="2509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4" name="TextBox 1243"/>
          <p:cNvSpPr txBox="1"/>
          <p:nvPr/>
        </p:nvSpPr>
        <p:spPr>
          <a:xfrm>
            <a:off x="9621048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5" name="TextBox 1244"/>
          <p:cNvSpPr txBox="1"/>
          <p:nvPr/>
        </p:nvSpPr>
        <p:spPr>
          <a:xfrm>
            <a:off x="9621048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6" name="Rectangle 1245"/>
          <p:cNvSpPr/>
          <p:nvPr/>
        </p:nvSpPr>
        <p:spPr>
          <a:xfrm>
            <a:off x="9974297" y="1022032"/>
            <a:ext cx="335249" cy="250996"/>
          </a:xfrm>
          <a:prstGeom prst="rect">
            <a:avLst/>
          </a:prstGeom>
          <a:solidFill>
            <a:srgbClr val="2980B9">
              <a:alpha val="380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7" name="TextBox 1246"/>
          <p:cNvSpPr txBox="1"/>
          <p:nvPr/>
        </p:nvSpPr>
        <p:spPr>
          <a:xfrm>
            <a:off x="9968297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8" name="TextBox 1247"/>
          <p:cNvSpPr txBox="1"/>
          <p:nvPr/>
        </p:nvSpPr>
        <p:spPr>
          <a:xfrm>
            <a:off x="9968297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49" name="Rectangle 1248"/>
          <p:cNvSpPr/>
          <p:nvPr/>
        </p:nvSpPr>
        <p:spPr>
          <a:xfrm>
            <a:off x="10321546" y="1022032"/>
            <a:ext cx="335249" cy="250996"/>
          </a:xfrm>
          <a:prstGeom prst="rect">
            <a:avLst/>
          </a:prstGeom>
          <a:solidFill>
            <a:srgbClr val="2980B9">
              <a:alpha val="283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0" name="TextBox 1249"/>
          <p:cNvSpPr txBox="1"/>
          <p:nvPr/>
        </p:nvSpPr>
        <p:spPr>
          <a:xfrm>
            <a:off x="10315546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1" name="TextBox 1250"/>
          <p:cNvSpPr txBox="1"/>
          <p:nvPr/>
        </p:nvSpPr>
        <p:spPr>
          <a:xfrm>
            <a:off x="10315546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2" name="Rectangle 1251"/>
          <p:cNvSpPr/>
          <p:nvPr/>
        </p:nvSpPr>
        <p:spPr>
          <a:xfrm>
            <a:off x="10668795" y="1022032"/>
            <a:ext cx="335249" cy="250996"/>
          </a:xfrm>
          <a:prstGeom prst="rect">
            <a:avLst/>
          </a:prstGeom>
          <a:solidFill>
            <a:srgbClr val="2980B9">
              <a:alpha val="32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3" name="TextBox 1252"/>
          <p:cNvSpPr txBox="1"/>
          <p:nvPr/>
        </p:nvSpPr>
        <p:spPr>
          <a:xfrm>
            <a:off x="10662795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4" name="TextBox 1253"/>
          <p:cNvSpPr txBox="1"/>
          <p:nvPr/>
        </p:nvSpPr>
        <p:spPr>
          <a:xfrm>
            <a:off x="10662795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5" name="Rectangle 1254"/>
          <p:cNvSpPr/>
          <p:nvPr/>
        </p:nvSpPr>
        <p:spPr>
          <a:xfrm>
            <a:off x="11016044" y="1022032"/>
            <a:ext cx="335249" cy="250996"/>
          </a:xfrm>
          <a:prstGeom prst="rect">
            <a:avLst/>
          </a:prstGeom>
          <a:solidFill>
            <a:srgbClr val="2980B9">
              <a:alpha val="411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6" name="TextBox 1255"/>
          <p:cNvSpPr txBox="1"/>
          <p:nvPr/>
        </p:nvSpPr>
        <p:spPr>
          <a:xfrm>
            <a:off x="11010044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7" name="TextBox 1256"/>
          <p:cNvSpPr txBox="1"/>
          <p:nvPr/>
        </p:nvSpPr>
        <p:spPr>
          <a:xfrm>
            <a:off x="11010044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58" name="Rectangle 1257"/>
          <p:cNvSpPr/>
          <p:nvPr/>
        </p:nvSpPr>
        <p:spPr>
          <a:xfrm>
            <a:off x="11363293" y="1022032"/>
            <a:ext cx="335249" cy="250996"/>
          </a:xfrm>
          <a:prstGeom prst="rect">
            <a:avLst/>
          </a:prstGeom>
          <a:solidFill>
            <a:srgbClr val="2980B9">
              <a:alpha val="375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9" name="TextBox 1258"/>
          <p:cNvSpPr txBox="1"/>
          <p:nvPr/>
        </p:nvSpPr>
        <p:spPr>
          <a:xfrm>
            <a:off x="11357293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0" name="TextBox 1259"/>
          <p:cNvSpPr txBox="1"/>
          <p:nvPr/>
        </p:nvSpPr>
        <p:spPr>
          <a:xfrm>
            <a:off x="11357293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1" name="Rectangle 1260"/>
          <p:cNvSpPr/>
          <p:nvPr/>
        </p:nvSpPr>
        <p:spPr>
          <a:xfrm>
            <a:off x="11710542" y="1022032"/>
            <a:ext cx="335249" cy="250996"/>
          </a:xfrm>
          <a:prstGeom prst="rect">
            <a:avLst/>
          </a:prstGeom>
          <a:solidFill>
            <a:srgbClr val="2980B9">
              <a:alpha val="26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2" name="TextBox 1261"/>
          <p:cNvSpPr txBox="1"/>
          <p:nvPr/>
        </p:nvSpPr>
        <p:spPr>
          <a:xfrm>
            <a:off x="11704542" y="10240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3" name="TextBox 1262"/>
          <p:cNvSpPr txBox="1"/>
          <p:nvPr/>
        </p:nvSpPr>
        <p:spPr>
          <a:xfrm>
            <a:off x="11704542" y="11540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264" name="TextBox 1263"/>
          <p:cNvSpPr txBox="1"/>
          <p:nvPr/>
        </p:nvSpPr>
        <p:spPr>
          <a:xfrm>
            <a:off x="6183056" y="127902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265" name="Rectangle 1264"/>
          <p:cNvSpPr/>
          <p:nvPr/>
        </p:nvSpPr>
        <p:spPr>
          <a:xfrm>
            <a:off x="7196305" y="1285028"/>
            <a:ext cx="335249" cy="250996"/>
          </a:xfrm>
          <a:prstGeom prst="rect">
            <a:avLst/>
          </a:prstGeom>
          <a:solidFill>
            <a:srgbClr val="374151">
              <a:alpha val="3192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6" name="TextBox 1265"/>
          <p:cNvSpPr txBox="1"/>
          <p:nvPr/>
        </p:nvSpPr>
        <p:spPr>
          <a:xfrm>
            <a:off x="719030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7" name="TextBox 1266"/>
          <p:cNvSpPr txBox="1"/>
          <p:nvPr/>
        </p:nvSpPr>
        <p:spPr>
          <a:xfrm>
            <a:off x="719030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68" name="Rectangle 1267"/>
          <p:cNvSpPr/>
          <p:nvPr/>
        </p:nvSpPr>
        <p:spPr>
          <a:xfrm>
            <a:off x="7543554" y="1285028"/>
            <a:ext cx="335249" cy="250996"/>
          </a:xfrm>
          <a:prstGeom prst="rect">
            <a:avLst/>
          </a:prstGeom>
          <a:solidFill>
            <a:srgbClr val="374151">
              <a:alpha val="378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9" name="TextBox 1268"/>
          <p:cNvSpPr txBox="1"/>
          <p:nvPr/>
        </p:nvSpPr>
        <p:spPr>
          <a:xfrm>
            <a:off x="753755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0" name="TextBox 1269"/>
          <p:cNvSpPr txBox="1"/>
          <p:nvPr/>
        </p:nvSpPr>
        <p:spPr>
          <a:xfrm>
            <a:off x="753755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1" name="Rectangle 1270"/>
          <p:cNvSpPr/>
          <p:nvPr/>
        </p:nvSpPr>
        <p:spPr>
          <a:xfrm>
            <a:off x="7890803" y="1285028"/>
            <a:ext cx="335249" cy="2509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2" name="TextBox 1271"/>
          <p:cNvSpPr txBox="1"/>
          <p:nvPr/>
        </p:nvSpPr>
        <p:spPr>
          <a:xfrm>
            <a:off x="7884803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3" name="TextBox 1272"/>
          <p:cNvSpPr txBox="1"/>
          <p:nvPr/>
        </p:nvSpPr>
        <p:spPr>
          <a:xfrm>
            <a:off x="7884803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4" name="Rectangle 1273"/>
          <p:cNvSpPr/>
          <p:nvPr/>
        </p:nvSpPr>
        <p:spPr>
          <a:xfrm>
            <a:off x="8238052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5" name="TextBox 1274"/>
          <p:cNvSpPr txBox="1"/>
          <p:nvPr/>
        </p:nvSpPr>
        <p:spPr>
          <a:xfrm>
            <a:off x="8232052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6" name="TextBox 1275"/>
          <p:cNvSpPr txBox="1"/>
          <p:nvPr/>
        </p:nvSpPr>
        <p:spPr>
          <a:xfrm>
            <a:off x="8232052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77" name="Rectangle 1276"/>
          <p:cNvSpPr/>
          <p:nvPr/>
        </p:nvSpPr>
        <p:spPr>
          <a:xfrm>
            <a:off x="8585301" y="1285028"/>
            <a:ext cx="335249" cy="250996"/>
          </a:xfrm>
          <a:prstGeom prst="rect">
            <a:avLst/>
          </a:prstGeom>
          <a:solidFill>
            <a:srgbClr val="374151">
              <a:alpha val="5537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8" name="TextBox 1277"/>
          <p:cNvSpPr txBox="1"/>
          <p:nvPr/>
        </p:nvSpPr>
        <p:spPr>
          <a:xfrm>
            <a:off x="8579301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79" name="TextBox 1278"/>
          <p:cNvSpPr txBox="1"/>
          <p:nvPr/>
        </p:nvSpPr>
        <p:spPr>
          <a:xfrm>
            <a:off x="8579301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0" name="Rectangle 1279"/>
          <p:cNvSpPr/>
          <p:nvPr/>
        </p:nvSpPr>
        <p:spPr>
          <a:xfrm>
            <a:off x="8932550" y="1285028"/>
            <a:ext cx="335249" cy="250996"/>
          </a:xfrm>
          <a:prstGeom prst="rect">
            <a:avLst/>
          </a:prstGeom>
          <a:solidFill>
            <a:srgbClr val="374151">
              <a:alpha val="9013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1" name="TextBox 1280"/>
          <p:cNvSpPr txBox="1"/>
          <p:nvPr/>
        </p:nvSpPr>
        <p:spPr>
          <a:xfrm>
            <a:off x="8926550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2" name="TextBox 1281"/>
          <p:cNvSpPr txBox="1"/>
          <p:nvPr/>
        </p:nvSpPr>
        <p:spPr>
          <a:xfrm>
            <a:off x="8926550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3" name="Rectangle 1282"/>
          <p:cNvSpPr/>
          <p:nvPr/>
        </p:nvSpPr>
        <p:spPr>
          <a:xfrm>
            <a:off x="9279799" y="1285028"/>
            <a:ext cx="335249" cy="250996"/>
          </a:xfrm>
          <a:prstGeom prst="rect">
            <a:avLst/>
          </a:prstGeom>
          <a:solidFill>
            <a:srgbClr val="374151">
              <a:alpha val="556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4" name="TextBox 1283"/>
          <p:cNvSpPr txBox="1"/>
          <p:nvPr/>
        </p:nvSpPr>
        <p:spPr>
          <a:xfrm>
            <a:off x="9273799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5" name="TextBox 1284"/>
          <p:cNvSpPr txBox="1"/>
          <p:nvPr/>
        </p:nvSpPr>
        <p:spPr>
          <a:xfrm>
            <a:off x="9273799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86" name="Rectangle 1285"/>
          <p:cNvSpPr/>
          <p:nvPr/>
        </p:nvSpPr>
        <p:spPr>
          <a:xfrm>
            <a:off x="9627048" y="1285028"/>
            <a:ext cx="335249" cy="250996"/>
          </a:xfrm>
          <a:prstGeom prst="rect">
            <a:avLst/>
          </a:prstGeom>
          <a:solidFill>
            <a:srgbClr val="374151">
              <a:alpha val="5396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7" name="TextBox 1286"/>
          <p:cNvSpPr txBox="1"/>
          <p:nvPr/>
        </p:nvSpPr>
        <p:spPr>
          <a:xfrm>
            <a:off x="9621048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8" name="TextBox 1287"/>
          <p:cNvSpPr txBox="1"/>
          <p:nvPr/>
        </p:nvSpPr>
        <p:spPr>
          <a:xfrm>
            <a:off x="9621048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89" name="Rectangle 1288"/>
          <p:cNvSpPr/>
          <p:nvPr/>
        </p:nvSpPr>
        <p:spPr>
          <a:xfrm>
            <a:off x="9974297" y="1285028"/>
            <a:ext cx="335249" cy="250996"/>
          </a:xfrm>
          <a:prstGeom prst="rect">
            <a:avLst/>
          </a:prstGeom>
          <a:solidFill>
            <a:srgbClr val="374151">
              <a:alpha val="372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0" name="TextBox 1289"/>
          <p:cNvSpPr txBox="1"/>
          <p:nvPr/>
        </p:nvSpPr>
        <p:spPr>
          <a:xfrm>
            <a:off x="9968297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1" name="TextBox 1290"/>
          <p:cNvSpPr txBox="1"/>
          <p:nvPr/>
        </p:nvSpPr>
        <p:spPr>
          <a:xfrm>
            <a:off x="9968297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2" name="Rectangle 1291"/>
          <p:cNvSpPr/>
          <p:nvPr/>
        </p:nvSpPr>
        <p:spPr>
          <a:xfrm>
            <a:off x="10321546" y="1285028"/>
            <a:ext cx="335249" cy="250996"/>
          </a:xfrm>
          <a:prstGeom prst="rect">
            <a:avLst/>
          </a:prstGeom>
          <a:solidFill>
            <a:srgbClr val="374151">
              <a:alpha val="2907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3" name="TextBox 1292"/>
          <p:cNvSpPr txBox="1"/>
          <p:nvPr/>
        </p:nvSpPr>
        <p:spPr>
          <a:xfrm>
            <a:off x="10315546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4" name="TextBox 1293"/>
          <p:cNvSpPr txBox="1"/>
          <p:nvPr/>
        </p:nvSpPr>
        <p:spPr>
          <a:xfrm>
            <a:off x="10315546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5" name="Rectangle 1294"/>
          <p:cNvSpPr/>
          <p:nvPr/>
        </p:nvSpPr>
        <p:spPr>
          <a:xfrm>
            <a:off x="10668795" y="1285028"/>
            <a:ext cx="335249" cy="250996"/>
          </a:xfrm>
          <a:prstGeom prst="rect">
            <a:avLst/>
          </a:prstGeom>
          <a:solidFill>
            <a:srgbClr val="374151">
              <a:alpha val="311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6" name="TextBox 1295"/>
          <p:cNvSpPr txBox="1"/>
          <p:nvPr/>
        </p:nvSpPr>
        <p:spPr>
          <a:xfrm>
            <a:off x="10662795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7" name="TextBox 1296"/>
          <p:cNvSpPr txBox="1"/>
          <p:nvPr/>
        </p:nvSpPr>
        <p:spPr>
          <a:xfrm>
            <a:off x="10662795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298" name="Rectangle 1297"/>
          <p:cNvSpPr/>
          <p:nvPr/>
        </p:nvSpPr>
        <p:spPr>
          <a:xfrm>
            <a:off x="11016044" y="1285028"/>
            <a:ext cx="335249" cy="250996"/>
          </a:xfrm>
          <a:prstGeom prst="rect">
            <a:avLst/>
          </a:prstGeom>
          <a:solidFill>
            <a:srgbClr val="374151">
              <a:alpha val="453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9" name="TextBox 1298"/>
          <p:cNvSpPr txBox="1"/>
          <p:nvPr/>
        </p:nvSpPr>
        <p:spPr>
          <a:xfrm>
            <a:off x="11010044" y="12870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0" name="TextBox 1299"/>
          <p:cNvSpPr txBox="1"/>
          <p:nvPr/>
        </p:nvSpPr>
        <p:spPr>
          <a:xfrm>
            <a:off x="11010044" y="14170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301" name="TextBox 1300"/>
          <p:cNvSpPr txBox="1"/>
          <p:nvPr/>
        </p:nvSpPr>
        <p:spPr>
          <a:xfrm>
            <a:off x="6183056" y="154202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02" name="Rectangle 1301"/>
          <p:cNvSpPr/>
          <p:nvPr/>
        </p:nvSpPr>
        <p:spPr>
          <a:xfrm>
            <a:off x="6849056" y="1548024"/>
            <a:ext cx="335249" cy="250996"/>
          </a:xfrm>
          <a:prstGeom prst="rect">
            <a:avLst/>
          </a:prstGeom>
          <a:solidFill>
            <a:srgbClr val="1F3864">
              <a:alpha val="8636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3" name="TextBox 1302"/>
          <p:cNvSpPr txBox="1"/>
          <p:nvPr/>
        </p:nvSpPr>
        <p:spPr>
          <a:xfrm>
            <a:off x="684305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4" name="TextBox 1303"/>
          <p:cNvSpPr txBox="1"/>
          <p:nvPr/>
        </p:nvSpPr>
        <p:spPr>
          <a:xfrm>
            <a:off x="684305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05" name="Rectangle 1304"/>
          <p:cNvSpPr/>
          <p:nvPr/>
        </p:nvSpPr>
        <p:spPr>
          <a:xfrm>
            <a:off x="7196305" y="1548024"/>
            <a:ext cx="335249" cy="250996"/>
          </a:xfrm>
          <a:prstGeom prst="rect">
            <a:avLst/>
          </a:prstGeom>
          <a:solidFill>
            <a:srgbClr val="1F3864">
              <a:alpha val="27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6" name="TextBox 1305"/>
          <p:cNvSpPr txBox="1"/>
          <p:nvPr/>
        </p:nvSpPr>
        <p:spPr>
          <a:xfrm>
            <a:off x="719030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7" name="TextBox 1306"/>
          <p:cNvSpPr txBox="1"/>
          <p:nvPr/>
        </p:nvSpPr>
        <p:spPr>
          <a:xfrm>
            <a:off x="719030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08" name="Rectangle 1307"/>
          <p:cNvSpPr/>
          <p:nvPr/>
        </p:nvSpPr>
        <p:spPr>
          <a:xfrm>
            <a:off x="7543554" y="1548024"/>
            <a:ext cx="335249" cy="2509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9" name="TextBox 1308"/>
          <p:cNvSpPr txBox="1"/>
          <p:nvPr/>
        </p:nvSpPr>
        <p:spPr>
          <a:xfrm>
            <a:off x="753755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0" name="TextBox 1309"/>
          <p:cNvSpPr txBox="1"/>
          <p:nvPr/>
        </p:nvSpPr>
        <p:spPr>
          <a:xfrm>
            <a:off x="753755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1" name="Rectangle 1310"/>
          <p:cNvSpPr/>
          <p:nvPr/>
        </p:nvSpPr>
        <p:spPr>
          <a:xfrm>
            <a:off x="7890803" y="1548024"/>
            <a:ext cx="335249" cy="250996"/>
          </a:xfrm>
          <a:prstGeom prst="rect">
            <a:avLst/>
          </a:prstGeom>
          <a:solidFill>
            <a:srgbClr val="1F3864">
              <a:alpha val="590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2" name="TextBox 1311"/>
          <p:cNvSpPr txBox="1"/>
          <p:nvPr/>
        </p:nvSpPr>
        <p:spPr>
          <a:xfrm>
            <a:off x="788480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3" name="TextBox 1312"/>
          <p:cNvSpPr txBox="1"/>
          <p:nvPr/>
        </p:nvSpPr>
        <p:spPr>
          <a:xfrm>
            <a:off x="788480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4" name="Rectangle 1313"/>
          <p:cNvSpPr/>
          <p:nvPr/>
        </p:nvSpPr>
        <p:spPr>
          <a:xfrm>
            <a:off x="8238052" y="1548024"/>
            <a:ext cx="335249" cy="250996"/>
          </a:xfrm>
          <a:prstGeom prst="rect">
            <a:avLst/>
          </a:prstGeom>
          <a:solidFill>
            <a:srgbClr val="1F3864">
              <a:alpha val="34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5" name="TextBox 1314"/>
          <p:cNvSpPr txBox="1"/>
          <p:nvPr/>
        </p:nvSpPr>
        <p:spPr>
          <a:xfrm>
            <a:off x="823205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6" name="TextBox 1315"/>
          <p:cNvSpPr txBox="1"/>
          <p:nvPr/>
        </p:nvSpPr>
        <p:spPr>
          <a:xfrm>
            <a:off x="823205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17" name="Rectangle 1316"/>
          <p:cNvSpPr/>
          <p:nvPr/>
        </p:nvSpPr>
        <p:spPr>
          <a:xfrm>
            <a:off x="8585301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8" name="TextBox 1317"/>
          <p:cNvSpPr txBox="1"/>
          <p:nvPr/>
        </p:nvSpPr>
        <p:spPr>
          <a:xfrm>
            <a:off x="8579301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19" name="TextBox 1318"/>
          <p:cNvSpPr txBox="1"/>
          <p:nvPr/>
        </p:nvSpPr>
        <p:spPr>
          <a:xfrm>
            <a:off x="8579301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0" name="Rectangle 1319"/>
          <p:cNvSpPr/>
          <p:nvPr/>
        </p:nvSpPr>
        <p:spPr>
          <a:xfrm>
            <a:off x="8932550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1" name="TextBox 1320"/>
          <p:cNvSpPr txBox="1"/>
          <p:nvPr/>
        </p:nvSpPr>
        <p:spPr>
          <a:xfrm>
            <a:off x="8926550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2" name="TextBox 1321"/>
          <p:cNvSpPr txBox="1"/>
          <p:nvPr/>
        </p:nvSpPr>
        <p:spPr>
          <a:xfrm>
            <a:off x="8926550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3" name="Rectangle 1322"/>
          <p:cNvSpPr/>
          <p:nvPr/>
        </p:nvSpPr>
        <p:spPr>
          <a:xfrm>
            <a:off x="9279799" y="1548024"/>
            <a:ext cx="335249" cy="250996"/>
          </a:xfrm>
          <a:prstGeom prst="rect">
            <a:avLst/>
          </a:prstGeom>
          <a:solidFill>
            <a:srgbClr val="1F3864">
              <a:alpha val="4272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4" name="TextBox 1323"/>
          <p:cNvSpPr txBox="1"/>
          <p:nvPr/>
        </p:nvSpPr>
        <p:spPr>
          <a:xfrm>
            <a:off x="9273799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5" name="TextBox 1324"/>
          <p:cNvSpPr txBox="1"/>
          <p:nvPr/>
        </p:nvSpPr>
        <p:spPr>
          <a:xfrm>
            <a:off x="9273799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26" name="Rectangle 1325"/>
          <p:cNvSpPr/>
          <p:nvPr/>
        </p:nvSpPr>
        <p:spPr>
          <a:xfrm>
            <a:off x="9627048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7" name="TextBox 1326"/>
          <p:cNvSpPr txBox="1"/>
          <p:nvPr/>
        </p:nvSpPr>
        <p:spPr>
          <a:xfrm>
            <a:off x="9621048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8" name="TextBox 1327"/>
          <p:cNvSpPr txBox="1"/>
          <p:nvPr/>
        </p:nvSpPr>
        <p:spPr>
          <a:xfrm>
            <a:off x="9621048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29" name="Rectangle 1328"/>
          <p:cNvSpPr/>
          <p:nvPr/>
        </p:nvSpPr>
        <p:spPr>
          <a:xfrm>
            <a:off x="9974297" y="1548024"/>
            <a:ext cx="335249" cy="250996"/>
          </a:xfrm>
          <a:prstGeom prst="rect">
            <a:avLst/>
          </a:prstGeom>
          <a:solidFill>
            <a:srgbClr val="1F3864">
              <a:alpha val="45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0" name="TextBox 1329"/>
          <p:cNvSpPr txBox="1"/>
          <p:nvPr/>
        </p:nvSpPr>
        <p:spPr>
          <a:xfrm>
            <a:off x="9968297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31" name="TextBox 1330"/>
          <p:cNvSpPr txBox="1"/>
          <p:nvPr/>
        </p:nvSpPr>
        <p:spPr>
          <a:xfrm>
            <a:off x="9968297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332" name="Rectangle 1331"/>
          <p:cNvSpPr/>
          <p:nvPr/>
        </p:nvSpPr>
        <p:spPr>
          <a:xfrm>
            <a:off x="10321546" y="1548024"/>
            <a:ext cx="335249" cy="250996"/>
          </a:xfrm>
          <a:prstGeom prst="rect">
            <a:avLst/>
          </a:prstGeom>
          <a:solidFill>
            <a:srgbClr val="1F3864">
              <a:alpha val="9045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3" name="TextBox 1332"/>
          <p:cNvSpPr txBox="1"/>
          <p:nvPr/>
        </p:nvSpPr>
        <p:spPr>
          <a:xfrm>
            <a:off x="10315546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4" name="TextBox 1333"/>
          <p:cNvSpPr txBox="1"/>
          <p:nvPr/>
        </p:nvSpPr>
        <p:spPr>
          <a:xfrm>
            <a:off x="10315546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5" name="Rectangle 1334"/>
          <p:cNvSpPr/>
          <p:nvPr/>
        </p:nvSpPr>
        <p:spPr>
          <a:xfrm>
            <a:off x="10668795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6" name="TextBox 1335"/>
          <p:cNvSpPr txBox="1"/>
          <p:nvPr/>
        </p:nvSpPr>
        <p:spPr>
          <a:xfrm>
            <a:off x="10662795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7" name="TextBox 1336"/>
          <p:cNvSpPr txBox="1"/>
          <p:nvPr/>
        </p:nvSpPr>
        <p:spPr>
          <a:xfrm>
            <a:off x="10662795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38" name="Rectangle 1337"/>
          <p:cNvSpPr/>
          <p:nvPr/>
        </p:nvSpPr>
        <p:spPr>
          <a:xfrm>
            <a:off x="11016044" y="1548024"/>
            <a:ext cx="335249" cy="250996"/>
          </a:xfrm>
          <a:prstGeom prst="rect">
            <a:avLst/>
          </a:prstGeom>
          <a:solidFill>
            <a:srgbClr val="1F3864">
              <a:alpha val="807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9" name="TextBox 1338"/>
          <p:cNvSpPr txBox="1"/>
          <p:nvPr/>
        </p:nvSpPr>
        <p:spPr>
          <a:xfrm>
            <a:off x="11010044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0" name="TextBox 1339"/>
          <p:cNvSpPr txBox="1"/>
          <p:nvPr/>
        </p:nvSpPr>
        <p:spPr>
          <a:xfrm>
            <a:off x="11010044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1" name="Rectangle 1340"/>
          <p:cNvSpPr/>
          <p:nvPr/>
        </p:nvSpPr>
        <p:spPr>
          <a:xfrm>
            <a:off x="11363293" y="1548024"/>
            <a:ext cx="335249" cy="250996"/>
          </a:xfrm>
          <a:prstGeom prst="rect">
            <a:avLst/>
          </a:prstGeom>
          <a:solidFill>
            <a:srgbClr val="1F3864">
              <a:alpha val="7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2" name="TextBox 1341"/>
          <p:cNvSpPr txBox="1"/>
          <p:nvPr/>
        </p:nvSpPr>
        <p:spPr>
          <a:xfrm>
            <a:off x="11357293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3" name="TextBox 1342"/>
          <p:cNvSpPr txBox="1"/>
          <p:nvPr/>
        </p:nvSpPr>
        <p:spPr>
          <a:xfrm>
            <a:off x="11357293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4" name="Rectangle 1343"/>
          <p:cNvSpPr/>
          <p:nvPr/>
        </p:nvSpPr>
        <p:spPr>
          <a:xfrm>
            <a:off x="11710542" y="1548024"/>
            <a:ext cx="335249" cy="250996"/>
          </a:xfrm>
          <a:prstGeom prst="rect">
            <a:avLst/>
          </a:prstGeom>
          <a:solidFill>
            <a:srgbClr val="1F3864">
              <a:alpha val="659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5" name="TextBox 1344"/>
          <p:cNvSpPr txBox="1"/>
          <p:nvPr/>
        </p:nvSpPr>
        <p:spPr>
          <a:xfrm>
            <a:off x="11704542" y="15500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6" name="TextBox 1345"/>
          <p:cNvSpPr txBox="1"/>
          <p:nvPr/>
        </p:nvSpPr>
        <p:spPr>
          <a:xfrm>
            <a:off x="11704542" y="16800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47" name="TextBox 1346"/>
          <p:cNvSpPr txBox="1"/>
          <p:nvPr/>
        </p:nvSpPr>
        <p:spPr>
          <a:xfrm>
            <a:off x="6183056" y="1805020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48" name="Rectangle 1347"/>
          <p:cNvSpPr/>
          <p:nvPr/>
        </p:nvSpPr>
        <p:spPr>
          <a:xfrm>
            <a:off x="6849056" y="1811020"/>
            <a:ext cx="335249" cy="250996"/>
          </a:xfrm>
          <a:prstGeom prst="rect">
            <a:avLst/>
          </a:prstGeom>
          <a:solidFill>
            <a:srgbClr val="E67E22">
              <a:alpha val="352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9" name="TextBox 1348"/>
          <p:cNvSpPr txBox="1"/>
          <p:nvPr/>
        </p:nvSpPr>
        <p:spPr>
          <a:xfrm>
            <a:off x="684305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0" name="TextBox 1349"/>
          <p:cNvSpPr txBox="1"/>
          <p:nvPr/>
        </p:nvSpPr>
        <p:spPr>
          <a:xfrm>
            <a:off x="684305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1" name="Rectangle 1350"/>
          <p:cNvSpPr/>
          <p:nvPr/>
        </p:nvSpPr>
        <p:spPr>
          <a:xfrm>
            <a:off x="7196305" y="1811020"/>
            <a:ext cx="335249" cy="250996"/>
          </a:xfrm>
          <a:prstGeom prst="rect">
            <a:avLst/>
          </a:prstGeom>
          <a:solidFill>
            <a:srgbClr val="E67E22">
              <a:alpha val="3057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2" name="TextBox 1351"/>
          <p:cNvSpPr txBox="1"/>
          <p:nvPr/>
        </p:nvSpPr>
        <p:spPr>
          <a:xfrm>
            <a:off x="719030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3" name="TextBox 1352"/>
          <p:cNvSpPr txBox="1"/>
          <p:nvPr/>
        </p:nvSpPr>
        <p:spPr>
          <a:xfrm>
            <a:off x="719030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4" name="Rectangle 1353"/>
          <p:cNvSpPr/>
          <p:nvPr/>
        </p:nvSpPr>
        <p:spPr>
          <a:xfrm>
            <a:off x="7543554" y="1811020"/>
            <a:ext cx="335249" cy="250996"/>
          </a:xfrm>
          <a:prstGeom prst="rect">
            <a:avLst/>
          </a:prstGeom>
          <a:solidFill>
            <a:srgbClr val="E67E22">
              <a:alpha val="537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5" name="TextBox 1354"/>
          <p:cNvSpPr txBox="1"/>
          <p:nvPr/>
        </p:nvSpPr>
        <p:spPr>
          <a:xfrm>
            <a:off x="753755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6" name="TextBox 1355"/>
          <p:cNvSpPr txBox="1"/>
          <p:nvPr/>
        </p:nvSpPr>
        <p:spPr>
          <a:xfrm>
            <a:off x="753755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7" name="Rectangle 1356"/>
          <p:cNvSpPr/>
          <p:nvPr/>
        </p:nvSpPr>
        <p:spPr>
          <a:xfrm>
            <a:off x="7890803" y="1811020"/>
            <a:ext cx="335249" cy="250996"/>
          </a:xfrm>
          <a:prstGeom prst="rect">
            <a:avLst/>
          </a:prstGeom>
          <a:solidFill>
            <a:srgbClr val="E67E22">
              <a:alpha val="450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8" name="TextBox 1357"/>
          <p:cNvSpPr txBox="1"/>
          <p:nvPr/>
        </p:nvSpPr>
        <p:spPr>
          <a:xfrm>
            <a:off x="788480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59" name="TextBox 1358"/>
          <p:cNvSpPr txBox="1"/>
          <p:nvPr/>
        </p:nvSpPr>
        <p:spPr>
          <a:xfrm>
            <a:off x="788480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0" name="Rectangle 1359"/>
          <p:cNvSpPr/>
          <p:nvPr/>
        </p:nvSpPr>
        <p:spPr>
          <a:xfrm>
            <a:off x="8238052" y="1811020"/>
            <a:ext cx="335249" cy="250996"/>
          </a:xfrm>
          <a:prstGeom prst="rect">
            <a:avLst/>
          </a:prstGeom>
          <a:solidFill>
            <a:srgbClr val="E67E22">
              <a:alpha val="9380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1" name="TextBox 1360"/>
          <p:cNvSpPr txBox="1"/>
          <p:nvPr/>
        </p:nvSpPr>
        <p:spPr>
          <a:xfrm>
            <a:off x="823205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2" name="TextBox 1361"/>
          <p:cNvSpPr txBox="1"/>
          <p:nvPr/>
        </p:nvSpPr>
        <p:spPr>
          <a:xfrm>
            <a:off x="823205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3" name="Rectangle 1362"/>
          <p:cNvSpPr/>
          <p:nvPr/>
        </p:nvSpPr>
        <p:spPr>
          <a:xfrm>
            <a:off x="8585301" y="1811020"/>
            <a:ext cx="335249" cy="250996"/>
          </a:xfrm>
          <a:prstGeom prst="rect">
            <a:avLst/>
          </a:prstGeom>
          <a:solidFill>
            <a:srgbClr val="E67E22">
              <a:alpha val="349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4" name="TextBox 1363"/>
          <p:cNvSpPr txBox="1"/>
          <p:nvPr/>
        </p:nvSpPr>
        <p:spPr>
          <a:xfrm>
            <a:off x="8579301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5" name="TextBox 1364"/>
          <p:cNvSpPr txBox="1"/>
          <p:nvPr/>
        </p:nvSpPr>
        <p:spPr>
          <a:xfrm>
            <a:off x="8579301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66" name="Rectangle 1365"/>
          <p:cNvSpPr/>
          <p:nvPr/>
        </p:nvSpPr>
        <p:spPr>
          <a:xfrm>
            <a:off x="8932550" y="1811020"/>
            <a:ext cx="335249" cy="250996"/>
          </a:xfrm>
          <a:prstGeom prst="rect">
            <a:avLst/>
          </a:prstGeom>
          <a:solidFill>
            <a:srgbClr val="E67E22">
              <a:alpha val="620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7" name="TextBox 1366"/>
          <p:cNvSpPr txBox="1"/>
          <p:nvPr/>
        </p:nvSpPr>
        <p:spPr>
          <a:xfrm>
            <a:off x="8926550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8" name="TextBox 1367"/>
          <p:cNvSpPr txBox="1"/>
          <p:nvPr/>
        </p:nvSpPr>
        <p:spPr>
          <a:xfrm>
            <a:off x="8926550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69" name="Rectangle 1368"/>
          <p:cNvSpPr/>
          <p:nvPr/>
        </p:nvSpPr>
        <p:spPr>
          <a:xfrm>
            <a:off x="9279799" y="1811020"/>
            <a:ext cx="335249" cy="250996"/>
          </a:xfrm>
          <a:prstGeom prst="rect">
            <a:avLst/>
          </a:prstGeom>
          <a:solidFill>
            <a:srgbClr val="E67E22">
              <a:alpha val="5729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0" name="TextBox 1369"/>
          <p:cNvSpPr txBox="1"/>
          <p:nvPr/>
        </p:nvSpPr>
        <p:spPr>
          <a:xfrm>
            <a:off x="9273799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1" name="TextBox 1370"/>
          <p:cNvSpPr txBox="1"/>
          <p:nvPr/>
        </p:nvSpPr>
        <p:spPr>
          <a:xfrm>
            <a:off x="9273799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2" name="Rectangle 1371"/>
          <p:cNvSpPr/>
          <p:nvPr/>
        </p:nvSpPr>
        <p:spPr>
          <a:xfrm>
            <a:off x="9627048" y="1811020"/>
            <a:ext cx="335249" cy="2509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3" name="TextBox 1372"/>
          <p:cNvSpPr txBox="1"/>
          <p:nvPr/>
        </p:nvSpPr>
        <p:spPr>
          <a:xfrm>
            <a:off x="9621048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13.6M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4" name="TextBox 1373"/>
          <p:cNvSpPr txBox="1"/>
          <p:nvPr/>
        </p:nvSpPr>
        <p:spPr>
          <a:xfrm>
            <a:off x="9621048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75" name="Rectangle 1374"/>
          <p:cNvSpPr/>
          <p:nvPr/>
        </p:nvSpPr>
        <p:spPr>
          <a:xfrm>
            <a:off x="9974297" y="1811020"/>
            <a:ext cx="335249" cy="250996"/>
          </a:xfrm>
          <a:prstGeom prst="rect">
            <a:avLst/>
          </a:prstGeom>
          <a:solidFill>
            <a:srgbClr val="E67E22">
              <a:alpha val="5453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6" name="TextBox 1375"/>
          <p:cNvSpPr txBox="1"/>
          <p:nvPr/>
        </p:nvSpPr>
        <p:spPr>
          <a:xfrm>
            <a:off x="9968297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7" name="TextBox 1376"/>
          <p:cNvSpPr txBox="1"/>
          <p:nvPr/>
        </p:nvSpPr>
        <p:spPr>
          <a:xfrm>
            <a:off x="9968297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78" name="Rectangle 1377"/>
          <p:cNvSpPr/>
          <p:nvPr/>
        </p:nvSpPr>
        <p:spPr>
          <a:xfrm>
            <a:off x="10321546" y="1811020"/>
            <a:ext cx="335249" cy="250996"/>
          </a:xfrm>
          <a:prstGeom prst="rect">
            <a:avLst/>
          </a:prstGeom>
          <a:solidFill>
            <a:srgbClr val="E67E22">
              <a:alpha val="447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9" name="TextBox 1378"/>
          <p:cNvSpPr txBox="1"/>
          <p:nvPr/>
        </p:nvSpPr>
        <p:spPr>
          <a:xfrm>
            <a:off x="10315546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0" name="TextBox 1379"/>
          <p:cNvSpPr txBox="1"/>
          <p:nvPr/>
        </p:nvSpPr>
        <p:spPr>
          <a:xfrm>
            <a:off x="10315546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81" name="Rectangle 1380"/>
          <p:cNvSpPr/>
          <p:nvPr/>
        </p:nvSpPr>
        <p:spPr>
          <a:xfrm>
            <a:off x="10668795" y="1811020"/>
            <a:ext cx="335249" cy="250996"/>
          </a:xfrm>
          <a:prstGeom prst="rect">
            <a:avLst/>
          </a:prstGeom>
          <a:solidFill>
            <a:srgbClr val="E67E22">
              <a:alpha val="910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2" name="TextBox 1381"/>
          <p:cNvSpPr txBox="1"/>
          <p:nvPr/>
        </p:nvSpPr>
        <p:spPr>
          <a:xfrm>
            <a:off x="10662795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3" name="TextBox 1382"/>
          <p:cNvSpPr txBox="1"/>
          <p:nvPr/>
        </p:nvSpPr>
        <p:spPr>
          <a:xfrm>
            <a:off x="10662795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4" name="Rectangle 1383"/>
          <p:cNvSpPr/>
          <p:nvPr/>
        </p:nvSpPr>
        <p:spPr>
          <a:xfrm>
            <a:off x="11016044" y="1811020"/>
            <a:ext cx="335249" cy="250996"/>
          </a:xfrm>
          <a:prstGeom prst="rect">
            <a:avLst/>
          </a:prstGeom>
          <a:solidFill>
            <a:srgbClr val="E67E22">
              <a:alpha val="842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5" name="TextBox 1384"/>
          <p:cNvSpPr txBox="1"/>
          <p:nvPr/>
        </p:nvSpPr>
        <p:spPr>
          <a:xfrm>
            <a:off x="11010044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6" name="TextBox 1385"/>
          <p:cNvSpPr txBox="1"/>
          <p:nvPr/>
        </p:nvSpPr>
        <p:spPr>
          <a:xfrm>
            <a:off x="11010044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7" name="Rectangle 1386"/>
          <p:cNvSpPr/>
          <p:nvPr/>
        </p:nvSpPr>
        <p:spPr>
          <a:xfrm>
            <a:off x="11363293" y="1811020"/>
            <a:ext cx="335249" cy="250996"/>
          </a:xfrm>
          <a:prstGeom prst="rect">
            <a:avLst/>
          </a:prstGeom>
          <a:solidFill>
            <a:srgbClr val="E67E22">
              <a:alpha val="7317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8" name="TextBox 1387"/>
          <p:cNvSpPr txBox="1"/>
          <p:nvPr/>
        </p:nvSpPr>
        <p:spPr>
          <a:xfrm>
            <a:off x="11357293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89" name="TextBox 1388"/>
          <p:cNvSpPr txBox="1"/>
          <p:nvPr/>
        </p:nvSpPr>
        <p:spPr>
          <a:xfrm>
            <a:off x="11357293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0" name="Rectangle 1389"/>
          <p:cNvSpPr/>
          <p:nvPr/>
        </p:nvSpPr>
        <p:spPr>
          <a:xfrm>
            <a:off x="11710542" y="1811020"/>
            <a:ext cx="335249" cy="250996"/>
          </a:xfrm>
          <a:prstGeom prst="rect">
            <a:avLst/>
          </a:prstGeom>
          <a:solidFill>
            <a:srgbClr val="E67E22">
              <a:alpha val="5270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1" name="TextBox 1390"/>
          <p:cNvSpPr txBox="1"/>
          <p:nvPr/>
        </p:nvSpPr>
        <p:spPr>
          <a:xfrm>
            <a:off x="11704542" y="18130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92" name="TextBox 1391"/>
          <p:cNvSpPr txBox="1"/>
          <p:nvPr/>
        </p:nvSpPr>
        <p:spPr>
          <a:xfrm>
            <a:off x="11704542" y="19430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393" name="TextBox 1392"/>
          <p:cNvSpPr txBox="1"/>
          <p:nvPr/>
        </p:nvSpPr>
        <p:spPr>
          <a:xfrm>
            <a:off x="6183056" y="2068016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394" name="Rectangle 1393"/>
          <p:cNvSpPr/>
          <p:nvPr/>
        </p:nvSpPr>
        <p:spPr>
          <a:xfrm>
            <a:off x="6849056" y="2074016"/>
            <a:ext cx="335249" cy="250996"/>
          </a:xfrm>
          <a:prstGeom prst="rect">
            <a:avLst/>
          </a:prstGeom>
          <a:solidFill>
            <a:srgbClr val="1A7A3F">
              <a:alpha val="609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5" name="TextBox 1394"/>
          <p:cNvSpPr txBox="1"/>
          <p:nvPr/>
        </p:nvSpPr>
        <p:spPr>
          <a:xfrm>
            <a:off x="684305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6" name="TextBox 1395"/>
          <p:cNvSpPr txBox="1"/>
          <p:nvPr/>
        </p:nvSpPr>
        <p:spPr>
          <a:xfrm>
            <a:off x="684305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7" name="Rectangle 1396"/>
          <p:cNvSpPr/>
          <p:nvPr/>
        </p:nvSpPr>
        <p:spPr>
          <a:xfrm>
            <a:off x="7196305" y="2074016"/>
            <a:ext cx="335249" cy="250996"/>
          </a:xfrm>
          <a:prstGeom prst="rect">
            <a:avLst/>
          </a:prstGeom>
          <a:solidFill>
            <a:srgbClr val="1A7A3F">
              <a:alpha val="5568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8" name="TextBox 1397"/>
          <p:cNvSpPr txBox="1"/>
          <p:nvPr/>
        </p:nvSpPr>
        <p:spPr>
          <a:xfrm>
            <a:off x="719030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99" name="TextBox 1398"/>
          <p:cNvSpPr txBox="1"/>
          <p:nvPr/>
        </p:nvSpPr>
        <p:spPr>
          <a:xfrm>
            <a:off x="719030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0" name="Rectangle 1399"/>
          <p:cNvSpPr/>
          <p:nvPr/>
        </p:nvSpPr>
        <p:spPr>
          <a:xfrm>
            <a:off x="7543554" y="2074016"/>
            <a:ext cx="335249" cy="250996"/>
          </a:xfrm>
          <a:prstGeom prst="rect">
            <a:avLst/>
          </a:prstGeom>
          <a:solidFill>
            <a:srgbClr val="1A7A3F">
              <a:alpha val="464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1" name="TextBox 1400"/>
          <p:cNvSpPr txBox="1"/>
          <p:nvPr/>
        </p:nvSpPr>
        <p:spPr>
          <a:xfrm>
            <a:off x="753755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2" name="TextBox 1401"/>
          <p:cNvSpPr txBox="1"/>
          <p:nvPr/>
        </p:nvSpPr>
        <p:spPr>
          <a:xfrm>
            <a:off x="753755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3" name="Rectangle 1402"/>
          <p:cNvSpPr/>
          <p:nvPr/>
        </p:nvSpPr>
        <p:spPr>
          <a:xfrm>
            <a:off x="7890803" y="2074016"/>
            <a:ext cx="335249" cy="250996"/>
          </a:xfrm>
          <a:prstGeom prst="rect">
            <a:avLst/>
          </a:prstGeom>
          <a:solidFill>
            <a:srgbClr val="1A7A3F">
              <a:alpha val="697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4" name="TextBox 1403"/>
          <p:cNvSpPr txBox="1"/>
          <p:nvPr/>
        </p:nvSpPr>
        <p:spPr>
          <a:xfrm>
            <a:off x="788480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5" name="TextBox 1404"/>
          <p:cNvSpPr txBox="1"/>
          <p:nvPr/>
        </p:nvSpPr>
        <p:spPr>
          <a:xfrm>
            <a:off x="788480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06" name="Rectangle 1405"/>
          <p:cNvSpPr/>
          <p:nvPr/>
        </p:nvSpPr>
        <p:spPr>
          <a:xfrm>
            <a:off x="8238052" y="2074016"/>
            <a:ext cx="335249" cy="250996"/>
          </a:xfrm>
          <a:prstGeom prst="rect">
            <a:avLst/>
          </a:prstGeom>
          <a:solidFill>
            <a:srgbClr val="1A7A3F">
              <a:alpha val="423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7" name="TextBox 1406"/>
          <p:cNvSpPr txBox="1"/>
          <p:nvPr/>
        </p:nvSpPr>
        <p:spPr>
          <a:xfrm>
            <a:off x="823205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8" name="TextBox 1407"/>
          <p:cNvSpPr txBox="1"/>
          <p:nvPr/>
        </p:nvSpPr>
        <p:spPr>
          <a:xfrm>
            <a:off x="823205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09" name="Rectangle 1408"/>
          <p:cNvSpPr/>
          <p:nvPr/>
        </p:nvSpPr>
        <p:spPr>
          <a:xfrm>
            <a:off x="8585301" y="2074016"/>
            <a:ext cx="335249" cy="250996"/>
          </a:xfrm>
          <a:prstGeom prst="rect">
            <a:avLst/>
          </a:prstGeom>
          <a:solidFill>
            <a:srgbClr val="1A7A3F">
              <a:alpha val="57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0" name="TextBox 1409"/>
          <p:cNvSpPr txBox="1"/>
          <p:nvPr/>
        </p:nvSpPr>
        <p:spPr>
          <a:xfrm>
            <a:off x="8579301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1" name="TextBox 1410"/>
          <p:cNvSpPr txBox="1"/>
          <p:nvPr/>
        </p:nvSpPr>
        <p:spPr>
          <a:xfrm>
            <a:off x="8579301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2" name="Rectangle 1411"/>
          <p:cNvSpPr/>
          <p:nvPr/>
        </p:nvSpPr>
        <p:spPr>
          <a:xfrm>
            <a:off x="8932550" y="2074016"/>
            <a:ext cx="335249" cy="250996"/>
          </a:xfrm>
          <a:prstGeom prst="rect">
            <a:avLst/>
          </a:prstGeom>
          <a:solidFill>
            <a:srgbClr val="1A7A3F">
              <a:alpha val="6397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3" name="TextBox 1412"/>
          <p:cNvSpPr txBox="1"/>
          <p:nvPr/>
        </p:nvSpPr>
        <p:spPr>
          <a:xfrm>
            <a:off x="8926550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4" name="TextBox 1413"/>
          <p:cNvSpPr txBox="1"/>
          <p:nvPr/>
        </p:nvSpPr>
        <p:spPr>
          <a:xfrm>
            <a:off x="8926550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5" name="Rectangle 1414"/>
          <p:cNvSpPr/>
          <p:nvPr/>
        </p:nvSpPr>
        <p:spPr>
          <a:xfrm>
            <a:off x="9279799" y="2074016"/>
            <a:ext cx="335249" cy="250996"/>
          </a:xfrm>
          <a:prstGeom prst="rect">
            <a:avLst/>
          </a:prstGeom>
          <a:solidFill>
            <a:srgbClr val="1A7A3F">
              <a:alpha val="5853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6" name="TextBox 1415"/>
          <p:cNvSpPr txBox="1"/>
          <p:nvPr/>
        </p:nvSpPr>
        <p:spPr>
          <a:xfrm>
            <a:off x="9273799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7" name="TextBox 1416"/>
          <p:cNvSpPr txBox="1"/>
          <p:nvPr/>
        </p:nvSpPr>
        <p:spPr>
          <a:xfrm>
            <a:off x="9273799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18" name="Rectangle 1417"/>
          <p:cNvSpPr/>
          <p:nvPr/>
        </p:nvSpPr>
        <p:spPr>
          <a:xfrm>
            <a:off x="9627048" y="2074016"/>
            <a:ext cx="335249" cy="250996"/>
          </a:xfrm>
          <a:prstGeom prst="rect">
            <a:avLst/>
          </a:prstGeom>
          <a:solidFill>
            <a:srgbClr val="1A7A3F">
              <a:alpha val="781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9" name="TextBox 1418"/>
          <p:cNvSpPr txBox="1"/>
          <p:nvPr/>
        </p:nvSpPr>
        <p:spPr>
          <a:xfrm>
            <a:off x="9621048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0" name="TextBox 1419"/>
          <p:cNvSpPr txBox="1"/>
          <p:nvPr/>
        </p:nvSpPr>
        <p:spPr>
          <a:xfrm>
            <a:off x="9621048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1" name="Rectangle 1420"/>
          <p:cNvSpPr/>
          <p:nvPr/>
        </p:nvSpPr>
        <p:spPr>
          <a:xfrm>
            <a:off x="9974297" y="2074016"/>
            <a:ext cx="335249" cy="250996"/>
          </a:xfrm>
          <a:prstGeom prst="rect">
            <a:avLst/>
          </a:prstGeom>
          <a:solidFill>
            <a:srgbClr val="1A7A3F">
              <a:alpha val="4974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2" name="TextBox 1421"/>
          <p:cNvSpPr txBox="1"/>
          <p:nvPr/>
        </p:nvSpPr>
        <p:spPr>
          <a:xfrm>
            <a:off x="9968297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3" name="TextBox 1422"/>
          <p:cNvSpPr txBox="1"/>
          <p:nvPr/>
        </p:nvSpPr>
        <p:spPr>
          <a:xfrm>
            <a:off x="9968297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24" name="Rectangle 1423"/>
          <p:cNvSpPr/>
          <p:nvPr/>
        </p:nvSpPr>
        <p:spPr>
          <a:xfrm>
            <a:off x="10321546" y="2074016"/>
            <a:ext cx="335249" cy="250996"/>
          </a:xfrm>
          <a:prstGeom prst="rect">
            <a:avLst/>
          </a:prstGeom>
          <a:solidFill>
            <a:srgbClr val="1A7A3F">
              <a:alpha val="6462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5" name="TextBox 1424"/>
          <p:cNvSpPr txBox="1"/>
          <p:nvPr/>
        </p:nvSpPr>
        <p:spPr>
          <a:xfrm>
            <a:off x="10315546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6" name="TextBox 1425"/>
          <p:cNvSpPr txBox="1"/>
          <p:nvPr/>
        </p:nvSpPr>
        <p:spPr>
          <a:xfrm>
            <a:off x="10315546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7" name="Rectangle 1426"/>
          <p:cNvSpPr/>
          <p:nvPr/>
        </p:nvSpPr>
        <p:spPr>
          <a:xfrm>
            <a:off x="10668795" y="2074016"/>
            <a:ext cx="335249" cy="250996"/>
          </a:xfrm>
          <a:prstGeom prst="rect">
            <a:avLst/>
          </a:prstGeom>
          <a:solidFill>
            <a:srgbClr val="1A7A3F">
              <a:alpha val="595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8" name="TextBox 1427"/>
          <p:cNvSpPr txBox="1"/>
          <p:nvPr/>
        </p:nvSpPr>
        <p:spPr>
          <a:xfrm>
            <a:off x="10662795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29" name="TextBox 1428"/>
          <p:cNvSpPr txBox="1"/>
          <p:nvPr/>
        </p:nvSpPr>
        <p:spPr>
          <a:xfrm>
            <a:off x="10662795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0" name="Rectangle 1429"/>
          <p:cNvSpPr/>
          <p:nvPr/>
        </p:nvSpPr>
        <p:spPr>
          <a:xfrm>
            <a:off x="11016044" y="2074016"/>
            <a:ext cx="335249" cy="2509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1" name="TextBox 1430"/>
          <p:cNvSpPr txBox="1"/>
          <p:nvPr/>
        </p:nvSpPr>
        <p:spPr>
          <a:xfrm>
            <a:off x="11010044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2" name="TextBox 1431"/>
          <p:cNvSpPr txBox="1"/>
          <p:nvPr/>
        </p:nvSpPr>
        <p:spPr>
          <a:xfrm>
            <a:off x="11010044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33" name="Rectangle 1432"/>
          <p:cNvSpPr/>
          <p:nvPr/>
        </p:nvSpPr>
        <p:spPr>
          <a:xfrm>
            <a:off x="11363293" y="2074016"/>
            <a:ext cx="335249" cy="250996"/>
          </a:xfrm>
          <a:prstGeom prst="rect">
            <a:avLst/>
          </a:prstGeom>
          <a:solidFill>
            <a:srgbClr val="1A7A3F">
              <a:alpha val="4244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4" name="TextBox 1433"/>
          <p:cNvSpPr txBox="1"/>
          <p:nvPr/>
        </p:nvSpPr>
        <p:spPr>
          <a:xfrm>
            <a:off x="11357293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5" name="TextBox 1434"/>
          <p:cNvSpPr txBox="1"/>
          <p:nvPr/>
        </p:nvSpPr>
        <p:spPr>
          <a:xfrm>
            <a:off x="11357293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6" name="Rectangle 1435"/>
          <p:cNvSpPr/>
          <p:nvPr/>
        </p:nvSpPr>
        <p:spPr>
          <a:xfrm>
            <a:off x="11710542" y="2074016"/>
            <a:ext cx="335249" cy="250996"/>
          </a:xfrm>
          <a:prstGeom prst="rect">
            <a:avLst/>
          </a:prstGeom>
          <a:solidFill>
            <a:srgbClr val="1A7A3F">
              <a:alpha val="4217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7" name="TextBox 1436"/>
          <p:cNvSpPr txBox="1"/>
          <p:nvPr/>
        </p:nvSpPr>
        <p:spPr>
          <a:xfrm>
            <a:off x="11704542" y="20760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8" name="TextBox 1437"/>
          <p:cNvSpPr txBox="1"/>
          <p:nvPr/>
        </p:nvSpPr>
        <p:spPr>
          <a:xfrm>
            <a:off x="11704542" y="22060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439" name="TextBox 1438"/>
          <p:cNvSpPr txBox="1"/>
          <p:nvPr/>
        </p:nvSpPr>
        <p:spPr>
          <a:xfrm>
            <a:off x="6183056" y="2331012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40" name="Rectangle 1439"/>
          <p:cNvSpPr/>
          <p:nvPr/>
        </p:nvSpPr>
        <p:spPr>
          <a:xfrm>
            <a:off x="7196305" y="2337012"/>
            <a:ext cx="335249" cy="250996"/>
          </a:xfrm>
          <a:prstGeom prst="rect">
            <a:avLst/>
          </a:prstGeom>
          <a:solidFill>
            <a:srgbClr val="94A3B8">
              <a:alpha val="2528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1" name="TextBox 1440"/>
          <p:cNvSpPr txBox="1"/>
          <p:nvPr/>
        </p:nvSpPr>
        <p:spPr>
          <a:xfrm>
            <a:off x="7190305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2" name="TextBox 1441"/>
          <p:cNvSpPr txBox="1"/>
          <p:nvPr/>
        </p:nvSpPr>
        <p:spPr>
          <a:xfrm>
            <a:off x="7190305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3" name="Rectangle 1442"/>
          <p:cNvSpPr/>
          <p:nvPr/>
        </p:nvSpPr>
        <p:spPr>
          <a:xfrm>
            <a:off x="7543554" y="2337012"/>
            <a:ext cx="335249" cy="250996"/>
          </a:xfrm>
          <a:prstGeom prst="rect">
            <a:avLst/>
          </a:prstGeom>
          <a:solidFill>
            <a:srgbClr val="94A3B8">
              <a:alpha val="252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4" name="TextBox 1443"/>
          <p:cNvSpPr txBox="1"/>
          <p:nvPr/>
        </p:nvSpPr>
        <p:spPr>
          <a:xfrm>
            <a:off x="753755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5" name="TextBox 1444"/>
          <p:cNvSpPr txBox="1"/>
          <p:nvPr/>
        </p:nvSpPr>
        <p:spPr>
          <a:xfrm>
            <a:off x="753755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6" name="Rectangle 1445"/>
          <p:cNvSpPr/>
          <p:nvPr/>
        </p:nvSpPr>
        <p:spPr>
          <a:xfrm>
            <a:off x="8238052" y="2337012"/>
            <a:ext cx="335249" cy="250996"/>
          </a:xfrm>
          <a:prstGeom prst="rect">
            <a:avLst/>
          </a:prstGeom>
          <a:solidFill>
            <a:srgbClr val="94A3B8">
              <a:alpha val="3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7" name="TextBox 1446"/>
          <p:cNvSpPr txBox="1"/>
          <p:nvPr/>
        </p:nvSpPr>
        <p:spPr>
          <a:xfrm>
            <a:off x="823205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8" name="TextBox 1447"/>
          <p:cNvSpPr txBox="1"/>
          <p:nvPr/>
        </p:nvSpPr>
        <p:spPr>
          <a:xfrm>
            <a:off x="823205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49" name="Rectangle 1448"/>
          <p:cNvSpPr/>
          <p:nvPr/>
        </p:nvSpPr>
        <p:spPr>
          <a:xfrm>
            <a:off x="8932550" y="2337012"/>
            <a:ext cx="335249" cy="250996"/>
          </a:xfrm>
          <a:prstGeom prst="rect">
            <a:avLst/>
          </a:prstGeom>
          <a:solidFill>
            <a:srgbClr val="94A3B8">
              <a:alpha val="258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0" name="TextBox 1449"/>
          <p:cNvSpPr txBox="1"/>
          <p:nvPr/>
        </p:nvSpPr>
        <p:spPr>
          <a:xfrm>
            <a:off x="8926550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1" name="TextBox 1450"/>
          <p:cNvSpPr txBox="1"/>
          <p:nvPr/>
        </p:nvSpPr>
        <p:spPr>
          <a:xfrm>
            <a:off x="8926550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2" name="Rectangle 1451"/>
          <p:cNvSpPr/>
          <p:nvPr/>
        </p:nvSpPr>
        <p:spPr>
          <a:xfrm>
            <a:off x="10321546" y="2337012"/>
            <a:ext cx="335249" cy="250996"/>
          </a:xfrm>
          <a:prstGeom prst="rect">
            <a:avLst/>
          </a:prstGeom>
          <a:solidFill>
            <a:srgbClr val="94A3B8">
              <a:alpha val="26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3" name="TextBox 1452"/>
          <p:cNvSpPr txBox="1"/>
          <p:nvPr/>
        </p:nvSpPr>
        <p:spPr>
          <a:xfrm>
            <a:off x="10315546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4" name="TextBox 1453"/>
          <p:cNvSpPr txBox="1"/>
          <p:nvPr/>
        </p:nvSpPr>
        <p:spPr>
          <a:xfrm>
            <a:off x="10315546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5" name="Rectangle 1454"/>
          <p:cNvSpPr/>
          <p:nvPr/>
        </p:nvSpPr>
        <p:spPr>
          <a:xfrm>
            <a:off x="11016044" y="2337012"/>
            <a:ext cx="335249" cy="250996"/>
          </a:xfrm>
          <a:prstGeom prst="rect">
            <a:avLst/>
          </a:prstGeom>
          <a:solidFill>
            <a:srgbClr val="94A3B8">
              <a:alpha val="2687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6" name="TextBox 1455"/>
          <p:cNvSpPr txBox="1"/>
          <p:nvPr/>
        </p:nvSpPr>
        <p:spPr>
          <a:xfrm>
            <a:off x="11010044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7" name="TextBox 1456"/>
          <p:cNvSpPr txBox="1"/>
          <p:nvPr/>
        </p:nvSpPr>
        <p:spPr>
          <a:xfrm>
            <a:off x="11010044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58" name="Rectangle 1457"/>
          <p:cNvSpPr/>
          <p:nvPr/>
        </p:nvSpPr>
        <p:spPr>
          <a:xfrm>
            <a:off x="11363293" y="2337012"/>
            <a:ext cx="335249" cy="2509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9" name="TextBox 1458"/>
          <p:cNvSpPr txBox="1"/>
          <p:nvPr/>
        </p:nvSpPr>
        <p:spPr>
          <a:xfrm>
            <a:off x="11357293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0" name="TextBox 1459"/>
          <p:cNvSpPr txBox="1"/>
          <p:nvPr/>
        </p:nvSpPr>
        <p:spPr>
          <a:xfrm>
            <a:off x="11357293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1" name="Rectangle 1460"/>
          <p:cNvSpPr/>
          <p:nvPr/>
        </p:nvSpPr>
        <p:spPr>
          <a:xfrm>
            <a:off x="11710542" y="2337012"/>
            <a:ext cx="335249" cy="250996"/>
          </a:xfrm>
          <a:prstGeom prst="rect">
            <a:avLst/>
          </a:prstGeom>
          <a:solidFill>
            <a:srgbClr val="94A3B8">
              <a:alpha val="293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2" name="TextBox 1461"/>
          <p:cNvSpPr txBox="1"/>
          <p:nvPr/>
        </p:nvSpPr>
        <p:spPr>
          <a:xfrm>
            <a:off x="11704542" y="23390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3" name="TextBox 1462"/>
          <p:cNvSpPr txBox="1"/>
          <p:nvPr/>
        </p:nvSpPr>
        <p:spPr>
          <a:xfrm>
            <a:off x="11704542" y="24690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464" name="TextBox 1463"/>
          <p:cNvSpPr txBox="1"/>
          <p:nvPr/>
        </p:nvSpPr>
        <p:spPr>
          <a:xfrm>
            <a:off x="6183056" y="2594008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465" name="Rectangle 1464"/>
          <p:cNvSpPr/>
          <p:nvPr/>
        </p:nvSpPr>
        <p:spPr>
          <a:xfrm>
            <a:off x="6849056" y="2600008"/>
            <a:ext cx="335249" cy="250996"/>
          </a:xfrm>
          <a:prstGeom prst="rect">
            <a:avLst/>
          </a:prstGeom>
          <a:solidFill>
            <a:srgbClr val="8E44AD">
              <a:alpha val="587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6" name="TextBox 1465"/>
          <p:cNvSpPr txBox="1"/>
          <p:nvPr/>
        </p:nvSpPr>
        <p:spPr>
          <a:xfrm>
            <a:off x="6843056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7" name="TextBox 1466"/>
          <p:cNvSpPr txBox="1"/>
          <p:nvPr/>
        </p:nvSpPr>
        <p:spPr>
          <a:xfrm>
            <a:off x="6843056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68" name="Rectangle 1467"/>
          <p:cNvSpPr/>
          <p:nvPr/>
        </p:nvSpPr>
        <p:spPr>
          <a:xfrm>
            <a:off x="7890803" y="2600008"/>
            <a:ext cx="335249" cy="2509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9" name="TextBox 1468"/>
          <p:cNvSpPr txBox="1"/>
          <p:nvPr/>
        </p:nvSpPr>
        <p:spPr>
          <a:xfrm>
            <a:off x="7884803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0" name="TextBox 1469"/>
          <p:cNvSpPr txBox="1"/>
          <p:nvPr/>
        </p:nvSpPr>
        <p:spPr>
          <a:xfrm>
            <a:off x="7884803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1" name="Rectangle 1470"/>
          <p:cNvSpPr/>
          <p:nvPr/>
        </p:nvSpPr>
        <p:spPr>
          <a:xfrm>
            <a:off x="8585301" y="2600008"/>
            <a:ext cx="335249" cy="2509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2" name="TextBox 1471"/>
          <p:cNvSpPr txBox="1"/>
          <p:nvPr/>
        </p:nvSpPr>
        <p:spPr>
          <a:xfrm>
            <a:off x="8579301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3" name="TextBox 1472"/>
          <p:cNvSpPr txBox="1"/>
          <p:nvPr/>
        </p:nvSpPr>
        <p:spPr>
          <a:xfrm>
            <a:off x="8579301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474" name="Rectangle 1473"/>
          <p:cNvSpPr/>
          <p:nvPr/>
        </p:nvSpPr>
        <p:spPr>
          <a:xfrm>
            <a:off x="8932550" y="2600008"/>
            <a:ext cx="335249" cy="250996"/>
          </a:xfrm>
          <a:prstGeom prst="rect">
            <a:avLst/>
          </a:prstGeom>
          <a:solidFill>
            <a:srgbClr val="8E44AD">
              <a:alpha val="2516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5" name="TextBox 1474"/>
          <p:cNvSpPr txBox="1"/>
          <p:nvPr/>
        </p:nvSpPr>
        <p:spPr>
          <a:xfrm>
            <a:off x="8926550" y="26020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6" name="TextBox 1475"/>
          <p:cNvSpPr txBox="1"/>
          <p:nvPr/>
        </p:nvSpPr>
        <p:spPr>
          <a:xfrm>
            <a:off x="8926550" y="27320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477" name="TextBox 1476"/>
          <p:cNvSpPr txBox="1"/>
          <p:nvPr/>
        </p:nvSpPr>
        <p:spPr>
          <a:xfrm>
            <a:off x="6183056" y="2857004"/>
            <a:ext cx="650000" cy="2629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478" name="Rectangle 1477"/>
          <p:cNvSpPr/>
          <p:nvPr/>
        </p:nvSpPr>
        <p:spPr>
          <a:xfrm>
            <a:off x="684905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9" name="TextBox 1478"/>
          <p:cNvSpPr txBox="1"/>
          <p:nvPr/>
        </p:nvSpPr>
        <p:spPr>
          <a:xfrm>
            <a:off x="684305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0" name="TextBox 1479"/>
          <p:cNvSpPr txBox="1"/>
          <p:nvPr/>
        </p:nvSpPr>
        <p:spPr>
          <a:xfrm>
            <a:off x="684305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1" name="Rectangle 1480"/>
          <p:cNvSpPr/>
          <p:nvPr/>
        </p:nvSpPr>
        <p:spPr>
          <a:xfrm>
            <a:off x="719630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2" name="TextBox 1481"/>
          <p:cNvSpPr txBox="1"/>
          <p:nvPr/>
        </p:nvSpPr>
        <p:spPr>
          <a:xfrm>
            <a:off x="719030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3" name="TextBox 1482"/>
          <p:cNvSpPr txBox="1"/>
          <p:nvPr/>
        </p:nvSpPr>
        <p:spPr>
          <a:xfrm>
            <a:off x="719030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4" name="Rectangle 1483"/>
          <p:cNvSpPr/>
          <p:nvPr/>
        </p:nvSpPr>
        <p:spPr>
          <a:xfrm>
            <a:off x="754355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5" name="TextBox 1484"/>
          <p:cNvSpPr txBox="1"/>
          <p:nvPr/>
        </p:nvSpPr>
        <p:spPr>
          <a:xfrm>
            <a:off x="753755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6" name="TextBox 1485"/>
          <p:cNvSpPr txBox="1"/>
          <p:nvPr/>
        </p:nvSpPr>
        <p:spPr>
          <a:xfrm>
            <a:off x="753755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87" name="Rectangle 1486"/>
          <p:cNvSpPr/>
          <p:nvPr/>
        </p:nvSpPr>
        <p:spPr>
          <a:xfrm>
            <a:off x="789080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8" name="TextBox 1487"/>
          <p:cNvSpPr txBox="1"/>
          <p:nvPr/>
        </p:nvSpPr>
        <p:spPr>
          <a:xfrm>
            <a:off x="788480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89" name="TextBox 1488"/>
          <p:cNvSpPr txBox="1"/>
          <p:nvPr/>
        </p:nvSpPr>
        <p:spPr>
          <a:xfrm>
            <a:off x="788480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0" name="Rectangle 1489"/>
          <p:cNvSpPr/>
          <p:nvPr/>
        </p:nvSpPr>
        <p:spPr>
          <a:xfrm>
            <a:off x="823805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1" name="TextBox 1490"/>
          <p:cNvSpPr txBox="1"/>
          <p:nvPr/>
        </p:nvSpPr>
        <p:spPr>
          <a:xfrm>
            <a:off x="823205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2" name="TextBox 1491"/>
          <p:cNvSpPr txBox="1"/>
          <p:nvPr/>
        </p:nvSpPr>
        <p:spPr>
          <a:xfrm>
            <a:off x="823205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3" name="Rectangle 1492"/>
          <p:cNvSpPr/>
          <p:nvPr/>
        </p:nvSpPr>
        <p:spPr>
          <a:xfrm>
            <a:off x="8585301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4" name="TextBox 1493"/>
          <p:cNvSpPr txBox="1"/>
          <p:nvPr/>
        </p:nvSpPr>
        <p:spPr>
          <a:xfrm>
            <a:off x="8579301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13.2M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5" name="TextBox 1494"/>
          <p:cNvSpPr txBox="1"/>
          <p:nvPr/>
        </p:nvSpPr>
        <p:spPr>
          <a:xfrm>
            <a:off x="8579301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6" name="Rectangle 1495"/>
          <p:cNvSpPr/>
          <p:nvPr/>
        </p:nvSpPr>
        <p:spPr>
          <a:xfrm>
            <a:off x="8932550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7" name="TextBox 1496"/>
          <p:cNvSpPr txBox="1"/>
          <p:nvPr/>
        </p:nvSpPr>
        <p:spPr>
          <a:xfrm>
            <a:off x="8926550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498" name="TextBox 1497"/>
          <p:cNvSpPr txBox="1"/>
          <p:nvPr/>
        </p:nvSpPr>
        <p:spPr>
          <a:xfrm>
            <a:off x="8926550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499" name="Rectangle 1498"/>
          <p:cNvSpPr/>
          <p:nvPr/>
        </p:nvSpPr>
        <p:spPr>
          <a:xfrm>
            <a:off x="9279799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0" name="TextBox 1499"/>
          <p:cNvSpPr txBox="1"/>
          <p:nvPr/>
        </p:nvSpPr>
        <p:spPr>
          <a:xfrm>
            <a:off x="9273799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14.8M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1" name="TextBox 1500"/>
          <p:cNvSpPr txBox="1"/>
          <p:nvPr/>
        </p:nvSpPr>
        <p:spPr>
          <a:xfrm>
            <a:off x="9273799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2" name="Rectangle 1501"/>
          <p:cNvSpPr/>
          <p:nvPr/>
        </p:nvSpPr>
        <p:spPr>
          <a:xfrm>
            <a:off x="9627048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3" name="TextBox 1502"/>
          <p:cNvSpPr txBox="1"/>
          <p:nvPr/>
        </p:nvSpPr>
        <p:spPr>
          <a:xfrm>
            <a:off x="9621048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33.8M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4" name="TextBox 1503"/>
          <p:cNvSpPr txBox="1"/>
          <p:nvPr/>
        </p:nvSpPr>
        <p:spPr>
          <a:xfrm>
            <a:off x="9621048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5" name="Rectangle 1504"/>
          <p:cNvSpPr/>
          <p:nvPr/>
        </p:nvSpPr>
        <p:spPr>
          <a:xfrm>
            <a:off x="9974297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6" name="TextBox 1505"/>
          <p:cNvSpPr txBox="1"/>
          <p:nvPr/>
        </p:nvSpPr>
        <p:spPr>
          <a:xfrm>
            <a:off x="9968297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07" name="TextBox 1506"/>
          <p:cNvSpPr txBox="1"/>
          <p:nvPr/>
        </p:nvSpPr>
        <p:spPr>
          <a:xfrm>
            <a:off x="9968297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08" name="Rectangle 1507"/>
          <p:cNvSpPr/>
          <p:nvPr/>
        </p:nvSpPr>
        <p:spPr>
          <a:xfrm>
            <a:off x="10321546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9" name="TextBox 1508"/>
          <p:cNvSpPr txBox="1"/>
          <p:nvPr/>
        </p:nvSpPr>
        <p:spPr>
          <a:xfrm>
            <a:off x="10315546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13.1M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0" name="TextBox 1509"/>
          <p:cNvSpPr txBox="1"/>
          <p:nvPr/>
        </p:nvSpPr>
        <p:spPr>
          <a:xfrm>
            <a:off x="10315546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37件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1" name="Rectangle 1510"/>
          <p:cNvSpPr/>
          <p:nvPr/>
        </p:nvSpPr>
        <p:spPr>
          <a:xfrm>
            <a:off x="10668795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2" name="TextBox 1511"/>
          <p:cNvSpPr txBox="1"/>
          <p:nvPr/>
        </p:nvSpPr>
        <p:spPr>
          <a:xfrm>
            <a:off x="10662795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3" name="TextBox 1512"/>
          <p:cNvSpPr txBox="1"/>
          <p:nvPr/>
        </p:nvSpPr>
        <p:spPr>
          <a:xfrm>
            <a:off x="10662795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4" name="Rectangle 1513"/>
          <p:cNvSpPr/>
          <p:nvPr/>
        </p:nvSpPr>
        <p:spPr>
          <a:xfrm>
            <a:off x="11016044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5" name="TextBox 1514"/>
          <p:cNvSpPr txBox="1"/>
          <p:nvPr/>
        </p:nvSpPr>
        <p:spPr>
          <a:xfrm>
            <a:off x="11010044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26.4M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6" name="TextBox 1515"/>
          <p:cNvSpPr txBox="1"/>
          <p:nvPr/>
        </p:nvSpPr>
        <p:spPr>
          <a:xfrm>
            <a:off x="11010044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68件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17" name="Rectangle 1516"/>
          <p:cNvSpPr/>
          <p:nvPr/>
        </p:nvSpPr>
        <p:spPr>
          <a:xfrm>
            <a:off x="11363293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8" name="TextBox 1517"/>
          <p:cNvSpPr txBox="1"/>
          <p:nvPr/>
        </p:nvSpPr>
        <p:spPr>
          <a:xfrm>
            <a:off x="11357293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19.8M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19" name="TextBox 1518"/>
          <p:cNvSpPr txBox="1"/>
          <p:nvPr/>
        </p:nvSpPr>
        <p:spPr>
          <a:xfrm>
            <a:off x="11357293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0" name="Rectangle 1519"/>
          <p:cNvSpPr/>
          <p:nvPr/>
        </p:nvSpPr>
        <p:spPr>
          <a:xfrm>
            <a:off x="11710542" y="2863004"/>
            <a:ext cx="335249" cy="2509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1" name="TextBox 1520"/>
          <p:cNvSpPr txBox="1"/>
          <p:nvPr/>
        </p:nvSpPr>
        <p:spPr>
          <a:xfrm>
            <a:off x="11704542" y="28650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10.0M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522" name="TextBox 1521"/>
          <p:cNvSpPr txBox="1"/>
          <p:nvPr/>
        </p:nvSpPr>
        <p:spPr>
          <a:xfrm>
            <a:off x="11704542" y="29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523" name="Rectangle 1522"/>
          <p:cNvSpPr/>
          <p:nvPr/>
        </p:nvSpPr>
        <p:spPr>
          <a:xfrm>
            <a:off x="182880" y="3657600"/>
            <a:ext cx="5888736" cy="256032"/>
          </a:xfrm>
          <a:prstGeom prst="rect">
            <a:avLst/>
          </a:prstGeom>
          <a:solidFill>
            <a:srgbClr val="7E1F1F"/>
          </a:solidFill>
          <a:ln w="3175">
            <a:solidFill>
              <a:srgbClr val="7E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4" name="TextBox 1523"/>
          <p:cNvSpPr txBox="1"/>
          <p:nvPr/>
        </p:nvSpPr>
        <p:spPr>
          <a:xfrm>
            <a:off x="262880" y="3657600"/>
            <a:ext cx="5888736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 panose="020F0502020204030204"/>
              </a:rPr>
              <a:t>S  周度批核业绩热力矩阵（APE in M）</a:t>
            </a:r>
            <a:endParaRPr sz="11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25" name="TextBox 1524"/>
          <p:cNvSpPr txBox="1"/>
          <p:nvPr/>
        </p:nvSpPr>
        <p:spPr>
          <a:xfrm>
            <a:off x="86288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6" name="TextBox 1525"/>
          <p:cNvSpPr txBox="1"/>
          <p:nvPr/>
        </p:nvSpPr>
        <p:spPr>
          <a:xfrm>
            <a:off x="121012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7" name="TextBox 1526"/>
          <p:cNvSpPr txBox="1"/>
          <p:nvPr/>
        </p:nvSpPr>
        <p:spPr>
          <a:xfrm>
            <a:off x="155737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8" name="TextBox 1527"/>
          <p:cNvSpPr txBox="1"/>
          <p:nvPr/>
        </p:nvSpPr>
        <p:spPr>
          <a:xfrm>
            <a:off x="190462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W16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29" name="TextBox 1528"/>
          <p:cNvSpPr txBox="1"/>
          <p:nvPr/>
        </p:nvSpPr>
        <p:spPr>
          <a:xfrm>
            <a:off x="225187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W17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0" name="TextBox 1529"/>
          <p:cNvSpPr txBox="1"/>
          <p:nvPr/>
        </p:nvSpPr>
        <p:spPr>
          <a:xfrm>
            <a:off x="2599125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W18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1" name="TextBox 1530"/>
          <p:cNvSpPr txBox="1"/>
          <p:nvPr/>
        </p:nvSpPr>
        <p:spPr>
          <a:xfrm>
            <a:off x="2946374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W19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2" name="TextBox 1531"/>
          <p:cNvSpPr txBox="1"/>
          <p:nvPr/>
        </p:nvSpPr>
        <p:spPr>
          <a:xfrm>
            <a:off x="3293623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W20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3" name="TextBox 1532"/>
          <p:cNvSpPr txBox="1"/>
          <p:nvPr/>
        </p:nvSpPr>
        <p:spPr>
          <a:xfrm>
            <a:off x="3640872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W21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4" name="TextBox 1533"/>
          <p:cNvSpPr txBox="1"/>
          <p:nvPr/>
        </p:nvSpPr>
        <p:spPr>
          <a:xfrm>
            <a:off x="3988121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W22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5" name="TextBox 1534"/>
          <p:cNvSpPr txBox="1"/>
          <p:nvPr/>
        </p:nvSpPr>
        <p:spPr>
          <a:xfrm>
            <a:off x="4335370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W23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6" name="TextBox 1535"/>
          <p:cNvSpPr txBox="1"/>
          <p:nvPr/>
        </p:nvSpPr>
        <p:spPr>
          <a:xfrm>
            <a:off x="4682619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W24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7" name="TextBox 1536"/>
          <p:cNvSpPr txBox="1"/>
          <p:nvPr/>
        </p:nvSpPr>
        <p:spPr>
          <a:xfrm>
            <a:off x="5029868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Calibri" panose="020F0502020204030204"/>
              </a:rPr>
              <a:t>W25</a:t>
            </a:r>
            <a:endParaRPr sz="800" b="0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8" name="TextBox 1537"/>
          <p:cNvSpPr txBox="1"/>
          <p:nvPr/>
        </p:nvSpPr>
        <p:spPr>
          <a:xfrm>
            <a:off x="5377117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W26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39" name="TextBox 1538"/>
          <p:cNvSpPr txBox="1"/>
          <p:nvPr/>
        </p:nvSpPr>
        <p:spPr>
          <a:xfrm>
            <a:off x="5724366" y="3933632"/>
            <a:ext cx="347249" cy="1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666666"/>
                </a:solidFill>
                <a:latin typeface="Calibri" panose="020F0502020204030204"/>
              </a:rPr>
              <a:t>W27</a:t>
            </a:r>
            <a:endParaRPr sz="800" b="1">
              <a:solidFill>
                <a:srgbClr val="666666"/>
              </a:solidFill>
              <a:latin typeface="Calibri" panose="020F0502020204030204"/>
            </a:endParaRPr>
          </a:p>
        </p:txBody>
      </p:sp>
      <p:sp>
        <p:nvSpPr>
          <p:cNvPr id="1540" name="TextBox 1539"/>
          <p:cNvSpPr txBox="1"/>
          <p:nvPr/>
        </p:nvSpPr>
        <p:spPr>
          <a:xfrm>
            <a:off x="202880" y="411363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天领业务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41" name="Rectangle 1540"/>
          <p:cNvSpPr/>
          <p:nvPr/>
        </p:nvSpPr>
        <p:spPr>
          <a:xfrm>
            <a:off x="868880" y="4119632"/>
            <a:ext cx="335249" cy="251296"/>
          </a:xfrm>
          <a:prstGeom prst="rect">
            <a:avLst/>
          </a:prstGeom>
          <a:solidFill>
            <a:srgbClr val="2980B9">
              <a:alpha val="3255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" name="TextBox 1541"/>
          <p:cNvSpPr txBox="1"/>
          <p:nvPr/>
        </p:nvSpPr>
        <p:spPr>
          <a:xfrm>
            <a:off x="86288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3" name="TextBox 1542"/>
          <p:cNvSpPr txBox="1"/>
          <p:nvPr/>
        </p:nvSpPr>
        <p:spPr>
          <a:xfrm>
            <a:off x="86288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4" name="Rectangle 1543"/>
          <p:cNvSpPr/>
          <p:nvPr/>
        </p:nvSpPr>
        <p:spPr>
          <a:xfrm>
            <a:off x="1216129" y="4119632"/>
            <a:ext cx="335249" cy="251296"/>
          </a:xfrm>
          <a:prstGeom prst="rect">
            <a:avLst/>
          </a:prstGeom>
          <a:solidFill>
            <a:srgbClr val="2980B9">
              <a:alpha val="5031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5" name="TextBox 1544"/>
          <p:cNvSpPr txBox="1"/>
          <p:nvPr/>
        </p:nvSpPr>
        <p:spPr>
          <a:xfrm>
            <a:off x="121012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6" name="TextBox 1545"/>
          <p:cNvSpPr txBox="1"/>
          <p:nvPr/>
        </p:nvSpPr>
        <p:spPr>
          <a:xfrm>
            <a:off x="121012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7" name="Rectangle 1546"/>
          <p:cNvSpPr/>
          <p:nvPr/>
        </p:nvSpPr>
        <p:spPr>
          <a:xfrm>
            <a:off x="1563378" y="4119632"/>
            <a:ext cx="335249" cy="251296"/>
          </a:xfrm>
          <a:prstGeom prst="rect">
            <a:avLst/>
          </a:prstGeom>
          <a:solidFill>
            <a:srgbClr val="2980B9">
              <a:alpha val="307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8" name="TextBox 1547"/>
          <p:cNvSpPr txBox="1"/>
          <p:nvPr/>
        </p:nvSpPr>
        <p:spPr>
          <a:xfrm>
            <a:off x="155737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49" name="TextBox 1548"/>
          <p:cNvSpPr txBox="1"/>
          <p:nvPr/>
        </p:nvSpPr>
        <p:spPr>
          <a:xfrm>
            <a:off x="155737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0" name="Rectangle 1549"/>
          <p:cNvSpPr/>
          <p:nvPr/>
        </p:nvSpPr>
        <p:spPr>
          <a:xfrm>
            <a:off x="1910627" y="4119632"/>
            <a:ext cx="335249" cy="251296"/>
          </a:xfrm>
          <a:prstGeom prst="rect">
            <a:avLst/>
          </a:prstGeom>
          <a:solidFill>
            <a:srgbClr val="2980B9">
              <a:alpha val="5404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1" name="TextBox 1550"/>
          <p:cNvSpPr txBox="1"/>
          <p:nvPr/>
        </p:nvSpPr>
        <p:spPr>
          <a:xfrm>
            <a:off x="190462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3.5M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2" name="TextBox 1551"/>
          <p:cNvSpPr txBox="1"/>
          <p:nvPr/>
        </p:nvSpPr>
        <p:spPr>
          <a:xfrm>
            <a:off x="190462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3" name="Rectangle 1552"/>
          <p:cNvSpPr/>
          <p:nvPr/>
        </p:nvSpPr>
        <p:spPr>
          <a:xfrm>
            <a:off x="2257876" y="4119632"/>
            <a:ext cx="335249" cy="251296"/>
          </a:xfrm>
          <a:prstGeom prst="rect">
            <a:avLst/>
          </a:prstGeom>
          <a:solidFill>
            <a:srgbClr val="2980B9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4" name="TextBox 1553"/>
          <p:cNvSpPr txBox="1"/>
          <p:nvPr/>
        </p:nvSpPr>
        <p:spPr>
          <a:xfrm>
            <a:off x="225187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55" name="TextBox 1554"/>
          <p:cNvSpPr txBox="1"/>
          <p:nvPr/>
        </p:nvSpPr>
        <p:spPr>
          <a:xfrm>
            <a:off x="225187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56" name="Rectangle 1555"/>
          <p:cNvSpPr/>
          <p:nvPr/>
        </p:nvSpPr>
        <p:spPr>
          <a:xfrm>
            <a:off x="2605125" y="4119632"/>
            <a:ext cx="335249" cy="251296"/>
          </a:xfrm>
          <a:prstGeom prst="rect">
            <a:avLst/>
          </a:prstGeom>
          <a:solidFill>
            <a:srgbClr val="2980B9">
              <a:alpha val="337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7" name="TextBox 1556"/>
          <p:cNvSpPr txBox="1"/>
          <p:nvPr/>
        </p:nvSpPr>
        <p:spPr>
          <a:xfrm>
            <a:off x="2599125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8" name="TextBox 1557"/>
          <p:cNvSpPr txBox="1"/>
          <p:nvPr/>
        </p:nvSpPr>
        <p:spPr>
          <a:xfrm>
            <a:off x="2599125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59" name="Rectangle 1558"/>
          <p:cNvSpPr/>
          <p:nvPr/>
        </p:nvSpPr>
        <p:spPr>
          <a:xfrm>
            <a:off x="2952374" y="4119632"/>
            <a:ext cx="335249" cy="251296"/>
          </a:xfrm>
          <a:prstGeom prst="rect">
            <a:avLst/>
          </a:prstGeom>
          <a:solidFill>
            <a:srgbClr val="2980B9">
              <a:alpha val="278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0" name="TextBox 1559"/>
          <p:cNvSpPr txBox="1"/>
          <p:nvPr/>
        </p:nvSpPr>
        <p:spPr>
          <a:xfrm>
            <a:off x="2946374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1" name="TextBox 1560"/>
          <p:cNvSpPr txBox="1"/>
          <p:nvPr/>
        </p:nvSpPr>
        <p:spPr>
          <a:xfrm>
            <a:off x="2946374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2" name="Rectangle 1561"/>
          <p:cNvSpPr/>
          <p:nvPr/>
        </p:nvSpPr>
        <p:spPr>
          <a:xfrm>
            <a:off x="3299623" y="4119632"/>
            <a:ext cx="335249" cy="251296"/>
          </a:xfrm>
          <a:prstGeom prst="rect">
            <a:avLst/>
          </a:prstGeom>
          <a:solidFill>
            <a:srgbClr val="2980B9">
              <a:alpha val="4743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3" name="TextBox 1562"/>
          <p:cNvSpPr txBox="1"/>
          <p:nvPr/>
        </p:nvSpPr>
        <p:spPr>
          <a:xfrm>
            <a:off x="3293623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4" name="TextBox 1563"/>
          <p:cNvSpPr txBox="1"/>
          <p:nvPr/>
        </p:nvSpPr>
        <p:spPr>
          <a:xfrm>
            <a:off x="3293623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5" name="Rectangle 1564"/>
          <p:cNvSpPr/>
          <p:nvPr/>
        </p:nvSpPr>
        <p:spPr>
          <a:xfrm>
            <a:off x="3646872" y="4119632"/>
            <a:ext cx="335249" cy="251296"/>
          </a:xfrm>
          <a:prstGeom prst="rect">
            <a:avLst/>
          </a:prstGeom>
          <a:solidFill>
            <a:srgbClr val="2980B9">
              <a:alpha val="404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6" name="TextBox 1565"/>
          <p:cNvSpPr txBox="1"/>
          <p:nvPr/>
        </p:nvSpPr>
        <p:spPr>
          <a:xfrm>
            <a:off x="3640872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7" name="TextBox 1566"/>
          <p:cNvSpPr txBox="1"/>
          <p:nvPr/>
        </p:nvSpPr>
        <p:spPr>
          <a:xfrm>
            <a:off x="3640872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68" name="Rectangle 1567"/>
          <p:cNvSpPr/>
          <p:nvPr/>
        </p:nvSpPr>
        <p:spPr>
          <a:xfrm>
            <a:off x="3994121" y="4119632"/>
            <a:ext cx="335249" cy="251296"/>
          </a:xfrm>
          <a:prstGeom prst="rect">
            <a:avLst/>
          </a:prstGeom>
          <a:solidFill>
            <a:srgbClr val="2980B9">
              <a:alpha val="68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9" name="TextBox 1568"/>
          <p:cNvSpPr txBox="1"/>
          <p:nvPr/>
        </p:nvSpPr>
        <p:spPr>
          <a:xfrm>
            <a:off x="3988121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0" name="TextBox 1569"/>
          <p:cNvSpPr txBox="1"/>
          <p:nvPr/>
        </p:nvSpPr>
        <p:spPr>
          <a:xfrm>
            <a:off x="3988121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1" name="Rectangle 1570"/>
          <p:cNvSpPr/>
          <p:nvPr/>
        </p:nvSpPr>
        <p:spPr>
          <a:xfrm>
            <a:off x="4341370" y="4119632"/>
            <a:ext cx="335249" cy="251296"/>
          </a:xfrm>
          <a:prstGeom prst="rect">
            <a:avLst/>
          </a:prstGeom>
          <a:solidFill>
            <a:srgbClr val="2980B9">
              <a:alpha val="4645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2" name="TextBox 1571"/>
          <p:cNvSpPr txBox="1"/>
          <p:nvPr/>
        </p:nvSpPr>
        <p:spPr>
          <a:xfrm>
            <a:off x="4335370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2.6M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3" name="TextBox 1572"/>
          <p:cNvSpPr txBox="1"/>
          <p:nvPr/>
        </p:nvSpPr>
        <p:spPr>
          <a:xfrm>
            <a:off x="4335370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4" name="Rectangle 1573"/>
          <p:cNvSpPr/>
          <p:nvPr/>
        </p:nvSpPr>
        <p:spPr>
          <a:xfrm>
            <a:off x="4688619" y="4119632"/>
            <a:ext cx="335249" cy="251296"/>
          </a:xfrm>
          <a:prstGeom prst="rect">
            <a:avLst/>
          </a:prstGeom>
          <a:solidFill>
            <a:srgbClr val="2980B9">
              <a:alpha val="966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5" name="TextBox 1574"/>
          <p:cNvSpPr txBox="1"/>
          <p:nvPr/>
        </p:nvSpPr>
        <p:spPr>
          <a:xfrm>
            <a:off x="4682619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8.7M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6" name="TextBox 1575"/>
          <p:cNvSpPr txBox="1"/>
          <p:nvPr/>
        </p:nvSpPr>
        <p:spPr>
          <a:xfrm>
            <a:off x="4682619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77" name="Rectangle 1576"/>
          <p:cNvSpPr/>
          <p:nvPr/>
        </p:nvSpPr>
        <p:spPr>
          <a:xfrm>
            <a:off x="5035868" y="4119632"/>
            <a:ext cx="335249" cy="251296"/>
          </a:xfrm>
          <a:prstGeom prst="rect">
            <a:avLst/>
          </a:prstGeom>
          <a:solidFill>
            <a:srgbClr val="2980B9">
              <a:alpha val="278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8" name="TextBox 1577"/>
          <p:cNvSpPr txBox="1"/>
          <p:nvPr/>
        </p:nvSpPr>
        <p:spPr>
          <a:xfrm>
            <a:off x="5029868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79" name="TextBox 1578"/>
          <p:cNvSpPr txBox="1"/>
          <p:nvPr/>
        </p:nvSpPr>
        <p:spPr>
          <a:xfrm>
            <a:off x="5029868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0" name="Rectangle 1579"/>
          <p:cNvSpPr/>
          <p:nvPr/>
        </p:nvSpPr>
        <p:spPr>
          <a:xfrm>
            <a:off x="5383117" y="4119632"/>
            <a:ext cx="335249" cy="251296"/>
          </a:xfrm>
          <a:prstGeom prst="rect">
            <a:avLst/>
          </a:prstGeom>
          <a:solidFill>
            <a:srgbClr val="2980B9">
              <a:alpha val="297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1" name="TextBox 1580"/>
          <p:cNvSpPr txBox="1"/>
          <p:nvPr/>
        </p:nvSpPr>
        <p:spPr>
          <a:xfrm>
            <a:off x="5377117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2" name="TextBox 1581"/>
          <p:cNvSpPr txBox="1"/>
          <p:nvPr/>
        </p:nvSpPr>
        <p:spPr>
          <a:xfrm>
            <a:off x="5377117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3" name="Rectangle 1582"/>
          <p:cNvSpPr/>
          <p:nvPr/>
        </p:nvSpPr>
        <p:spPr>
          <a:xfrm>
            <a:off x="5730366" y="4119632"/>
            <a:ext cx="335249" cy="251296"/>
          </a:xfrm>
          <a:prstGeom prst="rect">
            <a:avLst/>
          </a:prstGeom>
          <a:solidFill>
            <a:srgbClr val="2980B9">
              <a:alpha val="276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4" name="TextBox 1583"/>
          <p:cNvSpPr txBox="1"/>
          <p:nvPr/>
        </p:nvSpPr>
        <p:spPr>
          <a:xfrm>
            <a:off x="5724366" y="412163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980B9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5" name="TextBox 1584"/>
          <p:cNvSpPr txBox="1"/>
          <p:nvPr/>
        </p:nvSpPr>
        <p:spPr>
          <a:xfrm>
            <a:off x="5724366" y="425192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2980B9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2980B9"/>
              </a:solidFill>
              <a:latin typeface="Calibri" panose="020F0502020204030204"/>
            </a:endParaRPr>
          </a:p>
        </p:txBody>
      </p:sp>
      <p:sp>
        <p:nvSpPr>
          <p:cNvPr id="1586" name="TextBox 1585"/>
          <p:cNvSpPr txBox="1"/>
          <p:nvPr/>
        </p:nvSpPr>
        <p:spPr>
          <a:xfrm>
            <a:off x="202880" y="437692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成事家办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587" name="Rectangle 1586"/>
          <p:cNvSpPr/>
          <p:nvPr/>
        </p:nvSpPr>
        <p:spPr>
          <a:xfrm>
            <a:off x="1216129" y="4382928"/>
            <a:ext cx="335249" cy="251296"/>
          </a:xfrm>
          <a:prstGeom prst="rect">
            <a:avLst/>
          </a:prstGeom>
          <a:solidFill>
            <a:srgbClr val="374151">
              <a:alpha val="423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8" name="TextBox 1587"/>
          <p:cNvSpPr txBox="1"/>
          <p:nvPr/>
        </p:nvSpPr>
        <p:spPr>
          <a:xfrm>
            <a:off x="1210129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0.2M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89" name="TextBox 1588"/>
          <p:cNvSpPr txBox="1"/>
          <p:nvPr/>
        </p:nvSpPr>
        <p:spPr>
          <a:xfrm>
            <a:off x="1210129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0" name="Rectangle 1589"/>
          <p:cNvSpPr/>
          <p:nvPr/>
        </p:nvSpPr>
        <p:spPr>
          <a:xfrm>
            <a:off x="1563378" y="4382928"/>
            <a:ext cx="335249" cy="251296"/>
          </a:xfrm>
          <a:prstGeom prst="rect">
            <a:avLst/>
          </a:prstGeom>
          <a:solidFill>
            <a:srgbClr val="374151">
              <a:alpha val="521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1" name="TextBox 1590"/>
          <p:cNvSpPr txBox="1"/>
          <p:nvPr/>
        </p:nvSpPr>
        <p:spPr>
          <a:xfrm>
            <a:off x="155737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2" name="TextBox 1591"/>
          <p:cNvSpPr txBox="1"/>
          <p:nvPr/>
        </p:nvSpPr>
        <p:spPr>
          <a:xfrm>
            <a:off x="155737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3" name="Rectangle 1592"/>
          <p:cNvSpPr/>
          <p:nvPr/>
        </p:nvSpPr>
        <p:spPr>
          <a:xfrm>
            <a:off x="1910627" y="4382928"/>
            <a:ext cx="335249" cy="251296"/>
          </a:xfrm>
          <a:prstGeom prst="rect">
            <a:avLst/>
          </a:prstGeom>
          <a:solidFill>
            <a:srgbClr val="374151">
              <a:alpha val="307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4" name="TextBox 1593"/>
          <p:cNvSpPr txBox="1"/>
          <p:nvPr/>
        </p:nvSpPr>
        <p:spPr>
          <a:xfrm>
            <a:off x="190462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5" name="TextBox 1594"/>
          <p:cNvSpPr txBox="1"/>
          <p:nvPr/>
        </p:nvSpPr>
        <p:spPr>
          <a:xfrm>
            <a:off x="190462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596" name="Rectangle 1595"/>
          <p:cNvSpPr/>
          <p:nvPr/>
        </p:nvSpPr>
        <p:spPr>
          <a:xfrm>
            <a:off x="2257876" y="4382928"/>
            <a:ext cx="335249" cy="251296"/>
          </a:xfrm>
          <a:prstGeom prst="rect">
            <a:avLst/>
          </a:prstGeom>
          <a:solidFill>
            <a:srgbClr val="374151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7" name="TextBox 1596"/>
          <p:cNvSpPr txBox="1"/>
          <p:nvPr/>
        </p:nvSpPr>
        <p:spPr>
          <a:xfrm>
            <a:off x="225187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8" name="TextBox 1597"/>
          <p:cNvSpPr txBox="1"/>
          <p:nvPr/>
        </p:nvSpPr>
        <p:spPr>
          <a:xfrm>
            <a:off x="225187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99" name="Rectangle 1598"/>
          <p:cNvSpPr/>
          <p:nvPr/>
        </p:nvSpPr>
        <p:spPr>
          <a:xfrm>
            <a:off x="2605125" y="4382928"/>
            <a:ext cx="335249" cy="251296"/>
          </a:xfrm>
          <a:prstGeom prst="rect">
            <a:avLst/>
          </a:prstGeom>
          <a:solidFill>
            <a:srgbClr val="374151">
              <a:alpha val="451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0" name="TextBox 1599"/>
          <p:cNvSpPr txBox="1"/>
          <p:nvPr/>
        </p:nvSpPr>
        <p:spPr>
          <a:xfrm>
            <a:off x="2599125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01" name="TextBox 1600"/>
          <p:cNvSpPr txBox="1"/>
          <p:nvPr/>
        </p:nvSpPr>
        <p:spPr>
          <a:xfrm>
            <a:off x="2599125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02" name="Rectangle 1601"/>
          <p:cNvSpPr/>
          <p:nvPr/>
        </p:nvSpPr>
        <p:spPr>
          <a:xfrm>
            <a:off x="2952374" y="4382928"/>
            <a:ext cx="335249" cy="251296"/>
          </a:xfrm>
          <a:prstGeom prst="rect">
            <a:avLst/>
          </a:prstGeom>
          <a:solidFill>
            <a:srgbClr val="374151">
              <a:alpha val="8424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3" name="TextBox 1602"/>
          <p:cNvSpPr txBox="1"/>
          <p:nvPr/>
        </p:nvSpPr>
        <p:spPr>
          <a:xfrm>
            <a:off x="2946374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4" name="TextBox 1603"/>
          <p:cNvSpPr txBox="1"/>
          <p:nvPr/>
        </p:nvSpPr>
        <p:spPr>
          <a:xfrm>
            <a:off x="2946374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5" name="Rectangle 1604"/>
          <p:cNvSpPr/>
          <p:nvPr/>
        </p:nvSpPr>
        <p:spPr>
          <a:xfrm>
            <a:off x="3299623" y="4382928"/>
            <a:ext cx="335249" cy="251296"/>
          </a:xfrm>
          <a:prstGeom prst="rect">
            <a:avLst/>
          </a:prstGeom>
          <a:solidFill>
            <a:srgbClr val="374151">
              <a:alpha val="880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6" name="TextBox 1605"/>
          <p:cNvSpPr txBox="1"/>
          <p:nvPr/>
        </p:nvSpPr>
        <p:spPr>
          <a:xfrm>
            <a:off x="3293623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0.9M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7" name="TextBox 1606"/>
          <p:cNvSpPr txBox="1"/>
          <p:nvPr/>
        </p:nvSpPr>
        <p:spPr>
          <a:xfrm>
            <a:off x="3293623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08" name="Rectangle 1607"/>
          <p:cNvSpPr/>
          <p:nvPr/>
        </p:nvSpPr>
        <p:spPr>
          <a:xfrm>
            <a:off x="3646872" y="4382928"/>
            <a:ext cx="335249" cy="251296"/>
          </a:xfrm>
          <a:prstGeom prst="rect">
            <a:avLst/>
          </a:prstGeom>
          <a:solidFill>
            <a:srgbClr val="374151">
              <a:alpha val="753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9" name="TextBox 1608"/>
          <p:cNvSpPr txBox="1"/>
          <p:nvPr/>
        </p:nvSpPr>
        <p:spPr>
          <a:xfrm>
            <a:off x="3640872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0" name="TextBox 1609"/>
          <p:cNvSpPr txBox="1"/>
          <p:nvPr/>
        </p:nvSpPr>
        <p:spPr>
          <a:xfrm>
            <a:off x="3640872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1" name="Rectangle 1610"/>
          <p:cNvSpPr/>
          <p:nvPr/>
        </p:nvSpPr>
        <p:spPr>
          <a:xfrm>
            <a:off x="5035868" y="4382928"/>
            <a:ext cx="335249" cy="251296"/>
          </a:xfrm>
          <a:prstGeom prst="rect">
            <a:avLst/>
          </a:prstGeom>
          <a:solidFill>
            <a:srgbClr val="374151">
              <a:alpha val="5451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2" name="TextBox 1611"/>
          <p:cNvSpPr txBox="1"/>
          <p:nvPr/>
        </p:nvSpPr>
        <p:spPr>
          <a:xfrm>
            <a:off x="5029868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374151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3" name="TextBox 1612"/>
          <p:cNvSpPr txBox="1"/>
          <p:nvPr/>
        </p:nvSpPr>
        <p:spPr>
          <a:xfrm>
            <a:off x="5029868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374151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374151"/>
              </a:solidFill>
              <a:latin typeface="Calibri" panose="020F0502020204030204"/>
            </a:endParaRPr>
          </a:p>
        </p:txBody>
      </p:sp>
      <p:sp>
        <p:nvSpPr>
          <p:cNvPr id="1614" name="Rectangle 1613"/>
          <p:cNvSpPr/>
          <p:nvPr/>
        </p:nvSpPr>
        <p:spPr>
          <a:xfrm>
            <a:off x="5383117" y="4382928"/>
            <a:ext cx="335249" cy="251296"/>
          </a:xfrm>
          <a:prstGeom prst="rect">
            <a:avLst/>
          </a:prstGeom>
          <a:solidFill>
            <a:srgbClr val="374151">
              <a:alpha val="5961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5" name="TextBox 1614"/>
          <p:cNvSpPr txBox="1"/>
          <p:nvPr/>
        </p:nvSpPr>
        <p:spPr>
          <a:xfrm>
            <a:off x="5377117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6" name="TextBox 1615"/>
          <p:cNvSpPr txBox="1"/>
          <p:nvPr/>
        </p:nvSpPr>
        <p:spPr>
          <a:xfrm>
            <a:off x="5377117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7" name="Rectangle 1616"/>
          <p:cNvSpPr/>
          <p:nvPr/>
        </p:nvSpPr>
        <p:spPr>
          <a:xfrm>
            <a:off x="5730366" y="4382928"/>
            <a:ext cx="335249" cy="251296"/>
          </a:xfrm>
          <a:prstGeom prst="rect">
            <a:avLst/>
          </a:prstGeom>
          <a:solidFill>
            <a:srgbClr val="374151">
              <a:alpha val="625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8" name="TextBox 1617"/>
          <p:cNvSpPr txBox="1"/>
          <p:nvPr/>
        </p:nvSpPr>
        <p:spPr>
          <a:xfrm>
            <a:off x="5724366" y="438492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19" name="TextBox 1618"/>
          <p:cNvSpPr txBox="1"/>
          <p:nvPr/>
        </p:nvSpPr>
        <p:spPr>
          <a:xfrm>
            <a:off x="5724366" y="451522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0" name="TextBox 1619"/>
          <p:cNvSpPr txBox="1"/>
          <p:nvPr/>
        </p:nvSpPr>
        <p:spPr>
          <a:xfrm>
            <a:off x="202880" y="464022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BK业务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21" name="Rectangle 1620"/>
          <p:cNvSpPr/>
          <p:nvPr/>
        </p:nvSpPr>
        <p:spPr>
          <a:xfrm>
            <a:off x="868880" y="4646224"/>
            <a:ext cx="335249" cy="251296"/>
          </a:xfrm>
          <a:prstGeom prst="rect">
            <a:avLst/>
          </a:prstGeom>
          <a:solidFill>
            <a:srgbClr val="1F3864">
              <a:alpha val="366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2" name="TextBox 1621"/>
          <p:cNvSpPr txBox="1"/>
          <p:nvPr/>
        </p:nvSpPr>
        <p:spPr>
          <a:xfrm>
            <a:off x="86288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3" name="TextBox 1622"/>
          <p:cNvSpPr txBox="1"/>
          <p:nvPr/>
        </p:nvSpPr>
        <p:spPr>
          <a:xfrm>
            <a:off x="86288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4" name="Rectangle 1623"/>
          <p:cNvSpPr/>
          <p:nvPr/>
        </p:nvSpPr>
        <p:spPr>
          <a:xfrm>
            <a:off x="1216129" y="4646224"/>
            <a:ext cx="335249" cy="251296"/>
          </a:xfrm>
          <a:prstGeom prst="rect">
            <a:avLst/>
          </a:prstGeom>
          <a:solidFill>
            <a:srgbClr val="1F3864">
              <a:alpha val="477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5" name="TextBox 1624"/>
          <p:cNvSpPr txBox="1"/>
          <p:nvPr/>
        </p:nvSpPr>
        <p:spPr>
          <a:xfrm>
            <a:off x="121012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6" name="TextBox 1625"/>
          <p:cNvSpPr txBox="1"/>
          <p:nvPr/>
        </p:nvSpPr>
        <p:spPr>
          <a:xfrm>
            <a:off x="121012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27" name="Rectangle 1626"/>
          <p:cNvSpPr/>
          <p:nvPr/>
        </p:nvSpPr>
        <p:spPr>
          <a:xfrm>
            <a:off x="1563378" y="4646224"/>
            <a:ext cx="335249" cy="251296"/>
          </a:xfrm>
          <a:prstGeom prst="rect">
            <a:avLst/>
          </a:prstGeom>
          <a:solidFill>
            <a:srgbClr val="1F3864">
              <a:alpha val="656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8" name="TextBox 1627"/>
          <p:cNvSpPr txBox="1"/>
          <p:nvPr/>
        </p:nvSpPr>
        <p:spPr>
          <a:xfrm>
            <a:off x="155737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29" name="TextBox 1628"/>
          <p:cNvSpPr txBox="1"/>
          <p:nvPr/>
        </p:nvSpPr>
        <p:spPr>
          <a:xfrm>
            <a:off x="155737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0" name="Rectangle 1629"/>
          <p:cNvSpPr/>
          <p:nvPr/>
        </p:nvSpPr>
        <p:spPr>
          <a:xfrm>
            <a:off x="1910627" y="4646224"/>
            <a:ext cx="335249" cy="251296"/>
          </a:xfrm>
          <a:prstGeom prst="rect">
            <a:avLst/>
          </a:prstGeom>
          <a:solidFill>
            <a:srgbClr val="1F3864">
              <a:alpha val="8756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1" name="TextBox 1630"/>
          <p:cNvSpPr txBox="1"/>
          <p:nvPr/>
        </p:nvSpPr>
        <p:spPr>
          <a:xfrm>
            <a:off x="190462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2" name="TextBox 1631"/>
          <p:cNvSpPr txBox="1"/>
          <p:nvPr/>
        </p:nvSpPr>
        <p:spPr>
          <a:xfrm>
            <a:off x="190462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33" name="Rectangle 1632"/>
          <p:cNvSpPr/>
          <p:nvPr/>
        </p:nvSpPr>
        <p:spPr>
          <a:xfrm>
            <a:off x="2257876" y="4646224"/>
            <a:ext cx="335249" cy="251296"/>
          </a:xfrm>
          <a:prstGeom prst="rect">
            <a:avLst/>
          </a:prstGeom>
          <a:solidFill>
            <a:srgbClr val="1F3864">
              <a:alpha val="4157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4" name="TextBox 1633"/>
          <p:cNvSpPr txBox="1"/>
          <p:nvPr/>
        </p:nvSpPr>
        <p:spPr>
          <a:xfrm>
            <a:off x="225187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5" name="TextBox 1634"/>
          <p:cNvSpPr txBox="1"/>
          <p:nvPr/>
        </p:nvSpPr>
        <p:spPr>
          <a:xfrm>
            <a:off x="225187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6" name="Rectangle 1635"/>
          <p:cNvSpPr/>
          <p:nvPr/>
        </p:nvSpPr>
        <p:spPr>
          <a:xfrm>
            <a:off x="2605125" y="4646224"/>
            <a:ext cx="335249" cy="251296"/>
          </a:xfrm>
          <a:prstGeom prst="rect">
            <a:avLst/>
          </a:prstGeom>
          <a:solidFill>
            <a:srgbClr val="1F3864">
              <a:alpha val="353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7" name="TextBox 1636"/>
          <p:cNvSpPr txBox="1"/>
          <p:nvPr/>
        </p:nvSpPr>
        <p:spPr>
          <a:xfrm>
            <a:off x="2599125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1.9M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8" name="TextBox 1637"/>
          <p:cNvSpPr txBox="1"/>
          <p:nvPr/>
        </p:nvSpPr>
        <p:spPr>
          <a:xfrm>
            <a:off x="2599125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39" name="Rectangle 1638"/>
          <p:cNvSpPr/>
          <p:nvPr/>
        </p:nvSpPr>
        <p:spPr>
          <a:xfrm>
            <a:off x="2952374" y="4646224"/>
            <a:ext cx="335249" cy="251296"/>
          </a:xfrm>
          <a:prstGeom prst="rect">
            <a:avLst/>
          </a:prstGeom>
          <a:solidFill>
            <a:srgbClr val="1F3864">
              <a:alpha val="4250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0" name="TextBox 1639"/>
          <p:cNvSpPr txBox="1"/>
          <p:nvPr/>
        </p:nvSpPr>
        <p:spPr>
          <a:xfrm>
            <a:off x="2946374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1" name="TextBox 1640"/>
          <p:cNvSpPr txBox="1"/>
          <p:nvPr/>
        </p:nvSpPr>
        <p:spPr>
          <a:xfrm>
            <a:off x="2946374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2" name="Rectangle 1641"/>
          <p:cNvSpPr/>
          <p:nvPr/>
        </p:nvSpPr>
        <p:spPr>
          <a:xfrm>
            <a:off x="3299623" y="4646224"/>
            <a:ext cx="335249" cy="251296"/>
          </a:xfrm>
          <a:prstGeom prst="rect">
            <a:avLst/>
          </a:prstGeom>
          <a:solidFill>
            <a:srgbClr val="1F3864">
              <a:alpha val="374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3" name="TextBox 1642"/>
          <p:cNvSpPr txBox="1"/>
          <p:nvPr/>
        </p:nvSpPr>
        <p:spPr>
          <a:xfrm>
            <a:off x="3293623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4" name="TextBox 1643"/>
          <p:cNvSpPr txBox="1"/>
          <p:nvPr/>
        </p:nvSpPr>
        <p:spPr>
          <a:xfrm>
            <a:off x="3293623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45" name="Rectangle 1644"/>
          <p:cNvSpPr/>
          <p:nvPr/>
        </p:nvSpPr>
        <p:spPr>
          <a:xfrm>
            <a:off x="3646872" y="4646224"/>
            <a:ext cx="335249" cy="251296"/>
          </a:xfrm>
          <a:prstGeom prst="rect">
            <a:avLst/>
          </a:prstGeom>
          <a:solidFill>
            <a:srgbClr val="1F3864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6" name="TextBox 1645"/>
          <p:cNvSpPr txBox="1"/>
          <p:nvPr/>
        </p:nvSpPr>
        <p:spPr>
          <a:xfrm>
            <a:off x="3640872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14.1M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7" name="TextBox 1646"/>
          <p:cNvSpPr txBox="1"/>
          <p:nvPr/>
        </p:nvSpPr>
        <p:spPr>
          <a:xfrm>
            <a:off x="3640872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48" name="Rectangle 1647"/>
          <p:cNvSpPr/>
          <p:nvPr/>
        </p:nvSpPr>
        <p:spPr>
          <a:xfrm>
            <a:off x="3994121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9" name="TextBox 1648"/>
          <p:cNvSpPr txBox="1"/>
          <p:nvPr/>
        </p:nvSpPr>
        <p:spPr>
          <a:xfrm>
            <a:off x="3988121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0" name="TextBox 1649"/>
          <p:cNvSpPr txBox="1"/>
          <p:nvPr/>
        </p:nvSpPr>
        <p:spPr>
          <a:xfrm>
            <a:off x="3988121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1" name="Rectangle 1650"/>
          <p:cNvSpPr/>
          <p:nvPr/>
        </p:nvSpPr>
        <p:spPr>
          <a:xfrm>
            <a:off x="4341370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2" name="TextBox 1651"/>
          <p:cNvSpPr txBox="1"/>
          <p:nvPr/>
        </p:nvSpPr>
        <p:spPr>
          <a:xfrm>
            <a:off x="4335370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3" name="TextBox 1652"/>
          <p:cNvSpPr txBox="1"/>
          <p:nvPr/>
        </p:nvSpPr>
        <p:spPr>
          <a:xfrm>
            <a:off x="4335370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4" name="Rectangle 1653"/>
          <p:cNvSpPr/>
          <p:nvPr/>
        </p:nvSpPr>
        <p:spPr>
          <a:xfrm>
            <a:off x="4688619" y="4646224"/>
            <a:ext cx="335249" cy="251296"/>
          </a:xfrm>
          <a:prstGeom prst="rect">
            <a:avLst/>
          </a:prstGeom>
          <a:solidFill>
            <a:srgbClr val="1F3864">
              <a:alpha val="2914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5" name="TextBox 1654"/>
          <p:cNvSpPr txBox="1"/>
          <p:nvPr/>
        </p:nvSpPr>
        <p:spPr>
          <a:xfrm>
            <a:off x="4682619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6" name="TextBox 1655"/>
          <p:cNvSpPr txBox="1"/>
          <p:nvPr/>
        </p:nvSpPr>
        <p:spPr>
          <a:xfrm>
            <a:off x="4682619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7" name="Rectangle 1656"/>
          <p:cNvSpPr/>
          <p:nvPr/>
        </p:nvSpPr>
        <p:spPr>
          <a:xfrm>
            <a:off x="5035868" y="4646224"/>
            <a:ext cx="335249" cy="251296"/>
          </a:xfrm>
          <a:prstGeom prst="rect">
            <a:avLst/>
          </a:prstGeom>
          <a:solidFill>
            <a:srgbClr val="1F3864">
              <a:alpha val="3991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8" name="TextBox 1657"/>
          <p:cNvSpPr txBox="1"/>
          <p:nvPr/>
        </p:nvSpPr>
        <p:spPr>
          <a:xfrm>
            <a:off x="5029868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2.8M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59" name="TextBox 1658"/>
          <p:cNvSpPr txBox="1"/>
          <p:nvPr/>
        </p:nvSpPr>
        <p:spPr>
          <a:xfrm>
            <a:off x="5029868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6件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0" name="Rectangle 1659"/>
          <p:cNvSpPr/>
          <p:nvPr/>
        </p:nvSpPr>
        <p:spPr>
          <a:xfrm>
            <a:off x="5383117" y="4646224"/>
            <a:ext cx="335249" cy="251296"/>
          </a:xfrm>
          <a:prstGeom prst="rect">
            <a:avLst/>
          </a:prstGeom>
          <a:solidFill>
            <a:srgbClr val="1F3864">
              <a:alpha val="2665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1" name="TextBox 1660"/>
          <p:cNvSpPr txBox="1"/>
          <p:nvPr/>
        </p:nvSpPr>
        <p:spPr>
          <a:xfrm>
            <a:off x="5377117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0.3M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2" name="TextBox 1661"/>
          <p:cNvSpPr txBox="1"/>
          <p:nvPr/>
        </p:nvSpPr>
        <p:spPr>
          <a:xfrm>
            <a:off x="5377117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3" name="Rectangle 1662"/>
          <p:cNvSpPr/>
          <p:nvPr/>
        </p:nvSpPr>
        <p:spPr>
          <a:xfrm>
            <a:off x="5730366" y="4646224"/>
            <a:ext cx="335249" cy="251296"/>
          </a:xfrm>
          <a:prstGeom prst="rect">
            <a:avLst/>
          </a:prstGeom>
          <a:solidFill>
            <a:srgbClr val="1F3864">
              <a:alpha val="33287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4" name="TextBox 1663"/>
          <p:cNvSpPr txBox="1"/>
          <p:nvPr/>
        </p:nvSpPr>
        <p:spPr>
          <a:xfrm>
            <a:off x="5724366" y="464822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F3864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5" name="TextBox 1664"/>
          <p:cNvSpPr txBox="1"/>
          <p:nvPr/>
        </p:nvSpPr>
        <p:spPr>
          <a:xfrm>
            <a:off x="5724366" y="477852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F3864"/>
                </a:solidFill>
                <a:latin typeface="Calibri" panose="020F0502020204030204"/>
              </a:rPr>
              <a:t>3件</a:t>
            </a:r>
            <a:endParaRPr sz="700" b="0">
              <a:solidFill>
                <a:srgbClr val="1F3864"/>
              </a:solidFill>
              <a:latin typeface="Calibri" panose="020F0502020204030204"/>
            </a:endParaRPr>
          </a:p>
        </p:txBody>
      </p:sp>
      <p:sp>
        <p:nvSpPr>
          <p:cNvPr id="1666" name="TextBox 1665"/>
          <p:cNvSpPr txBox="1"/>
          <p:nvPr/>
        </p:nvSpPr>
        <p:spPr>
          <a:xfrm>
            <a:off x="202880" y="4903520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同行经代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667" name="Rectangle 1666"/>
          <p:cNvSpPr/>
          <p:nvPr/>
        </p:nvSpPr>
        <p:spPr>
          <a:xfrm>
            <a:off x="868880" y="4909520"/>
            <a:ext cx="335249" cy="251296"/>
          </a:xfrm>
          <a:prstGeom prst="rect">
            <a:avLst/>
          </a:prstGeom>
          <a:solidFill>
            <a:srgbClr val="E67E22">
              <a:alpha val="5086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8" name="TextBox 1667"/>
          <p:cNvSpPr txBox="1"/>
          <p:nvPr/>
        </p:nvSpPr>
        <p:spPr>
          <a:xfrm>
            <a:off x="86288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4.3M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69" name="TextBox 1668"/>
          <p:cNvSpPr txBox="1"/>
          <p:nvPr/>
        </p:nvSpPr>
        <p:spPr>
          <a:xfrm>
            <a:off x="86288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0" name="Rectangle 1669"/>
          <p:cNvSpPr/>
          <p:nvPr/>
        </p:nvSpPr>
        <p:spPr>
          <a:xfrm>
            <a:off x="1216129" y="4909520"/>
            <a:ext cx="335249" cy="251296"/>
          </a:xfrm>
          <a:prstGeom prst="rect">
            <a:avLst/>
          </a:prstGeom>
          <a:solidFill>
            <a:srgbClr val="E67E22">
              <a:alpha val="3455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1" name="TextBox 1670"/>
          <p:cNvSpPr txBox="1"/>
          <p:nvPr/>
        </p:nvSpPr>
        <p:spPr>
          <a:xfrm>
            <a:off x="121012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1.6M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2" name="TextBox 1671"/>
          <p:cNvSpPr txBox="1"/>
          <p:nvPr/>
        </p:nvSpPr>
        <p:spPr>
          <a:xfrm>
            <a:off x="121012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3" name="Rectangle 1672"/>
          <p:cNvSpPr/>
          <p:nvPr/>
        </p:nvSpPr>
        <p:spPr>
          <a:xfrm>
            <a:off x="1563378" y="4909520"/>
            <a:ext cx="335249" cy="251296"/>
          </a:xfrm>
          <a:prstGeom prst="rect">
            <a:avLst/>
          </a:prstGeom>
          <a:solidFill>
            <a:srgbClr val="E67E22">
              <a:alpha val="435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4" name="TextBox 1673"/>
          <p:cNvSpPr txBox="1"/>
          <p:nvPr/>
        </p:nvSpPr>
        <p:spPr>
          <a:xfrm>
            <a:off x="155737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3.1M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5" name="TextBox 1674"/>
          <p:cNvSpPr txBox="1"/>
          <p:nvPr/>
        </p:nvSpPr>
        <p:spPr>
          <a:xfrm>
            <a:off x="155737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6" name="Rectangle 1675"/>
          <p:cNvSpPr/>
          <p:nvPr/>
        </p:nvSpPr>
        <p:spPr>
          <a:xfrm>
            <a:off x="1910627" y="4909520"/>
            <a:ext cx="335249" cy="251296"/>
          </a:xfrm>
          <a:prstGeom prst="rect">
            <a:avLst/>
          </a:prstGeom>
          <a:solidFill>
            <a:srgbClr val="E67E22">
              <a:alpha val="4510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7" name="TextBox 1676"/>
          <p:cNvSpPr txBox="1"/>
          <p:nvPr/>
        </p:nvSpPr>
        <p:spPr>
          <a:xfrm>
            <a:off x="190462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8" name="TextBox 1677"/>
          <p:cNvSpPr txBox="1"/>
          <p:nvPr/>
        </p:nvSpPr>
        <p:spPr>
          <a:xfrm>
            <a:off x="190462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79" name="Rectangle 1678"/>
          <p:cNvSpPr/>
          <p:nvPr/>
        </p:nvSpPr>
        <p:spPr>
          <a:xfrm>
            <a:off x="2257876" y="4909520"/>
            <a:ext cx="335249" cy="251296"/>
          </a:xfrm>
          <a:prstGeom prst="rect">
            <a:avLst/>
          </a:prstGeom>
          <a:solidFill>
            <a:srgbClr val="E67E22">
              <a:alpha val="5296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0" name="TextBox 1679"/>
          <p:cNvSpPr txBox="1"/>
          <p:nvPr/>
        </p:nvSpPr>
        <p:spPr>
          <a:xfrm>
            <a:off x="225187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1" name="TextBox 1680"/>
          <p:cNvSpPr txBox="1"/>
          <p:nvPr/>
        </p:nvSpPr>
        <p:spPr>
          <a:xfrm>
            <a:off x="225187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2" name="Rectangle 1681"/>
          <p:cNvSpPr/>
          <p:nvPr/>
        </p:nvSpPr>
        <p:spPr>
          <a:xfrm>
            <a:off x="2605125" y="4909520"/>
            <a:ext cx="335249" cy="251296"/>
          </a:xfrm>
          <a:prstGeom prst="rect">
            <a:avLst/>
          </a:prstGeom>
          <a:solidFill>
            <a:srgbClr val="E67E22">
              <a:alpha val="4889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3" name="TextBox 1682"/>
          <p:cNvSpPr txBox="1"/>
          <p:nvPr/>
        </p:nvSpPr>
        <p:spPr>
          <a:xfrm>
            <a:off x="2599125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4" name="TextBox 1683"/>
          <p:cNvSpPr txBox="1"/>
          <p:nvPr/>
        </p:nvSpPr>
        <p:spPr>
          <a:xfrm>
            <a:off x="2599125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85" name="Rectangle 1684"/>
          <p:cNvSpPr/>
          <p:nvPr/>
        </p:nvSpPr>
        <p:spPr>
          <a:xfrm>
            <a:off x="2952374" y="4909520"/>
            <a:ext cx="335249" cy="251296"/>
          </a:xfrm>
          <a:prstGeom prst="rect">
            <a:avLst/>
          </a:prstGeom>
          <a:solidFill>
            <a:srgbClr val="E67E22">
              <a:alpha val="860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6" name="TextBox 1685"/>
          <p:cNvSpPr txBox="1"/>
          <p:nvPr/>
        </p:nvSpPr>
        <p:spPr>
          <a:xfrm>
            <a:off x="2946374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10.2M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7" name="TextBox 1686"/>
          <p:cNvSpPr txBox="1"/>
          <p:nvPr/>
        </p:nvSpPr>
        <p:spPr>
          <a:xfrm>
            <a:off x="2946374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88" name="Rectangle 1687"/>
          <p:cNvSpPr/>
          <p:nvPr/>
        </p:nvSpPr>
        <p:spPr>
          <a:xfrm>
            <a:off x="3299623" y="4909520"/>
            <a:ext cx="335249" cy="251296"/>
          </a:xfrm>
          <a:prstGeom prst="rect">
            <a:avLst/>
          </a:prstGeom>
          <a:solidFill>
            <a:srgbClr val="E67E22">
              <a:alpha val="4798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9" name="TextBox 1688"/>
          <p:cNvSpPr txBox="1"/>
          <p:nvPr/>
        </p:nvSpPr>
        <p:spPr>
          <a:xfrm>
            <a:off x="3293623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3.9M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0" name="TextBox 1689"/>
          <p:cNvSpPr txBox="1"/>
          <p:nvPr/>
        </p:nvSpPr>
        <p:spPr>
          <a:xfrm>
            <a:off x="3293623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1" name="Rectangle 1690"/>
          <p:cNvSpPr/>
          <p:nvPr/>
        </p:nvSpPr>
        <p:spPr>
          <a:xfrm>
            <a:off x="3646872" y="4909520"/>
            <a:ext cx="335249" cy="251296"/>
          </a:xfrm>
          <a:prstGeom prst="rect">
            <a:avLst/>
          </a:prstGeom>
          <a:solidFill>
            <a:srgbClr val="E67E22">
              <a:alpha val="6763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2" name="TextBox 1691"/>
          <p:cNvSpPr txBox="1"/>
          <p:nvPr/>
        </p:nvSpPr>
        <p:spPr>
          <a:xfrm>
            <a:off x="3640872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7.1M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3" name="TextBox 1692"/>
          <p:cNvSpPr txBox="1"/>
          <p:nvPr/>
        </p:nvSpPr>
        <p:spPr>
          <a:xfrm>
            <a:off x="3640872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4" name="Rectangle 1693"/>
          <p:cNvSpPr/>
          <p:nvPr/>
        </p:nvSpPr>
        <p:spPr>
          <a:xfrm>
            <a:off x="3994121" y="4909520"/>
            <a:ext cx="335249" cy="251296"/>
          </a:xfrm>
          <a:prstGeom prst="rect">
            <a:avLst/>
          </a:prstGeom>
          <a:solidFill>
            <a:srgbClr val="E67E22">
              <a:alpha val="4550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5" name="TextBox 1694"/>
          <p:cNvSpPr txBox="1"/>
          <p:nvPr/>
        </p:nvSpPr>
        <p:spPr>
          <a:xfrm>
            <a:off x="3988121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3.4M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6" name="TextBox 1695"/>
          <p:cNvSpPr txBox="1"/>
          <p:nvPr/>
        </p:nvSpPr>
        <p:spPr>
          <a:xfrm>
            <a:off x="3988121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697" name="Rectangle 1696"/>
          <p:cNvSpPr/>
          <p:nvPr/>
        </p:nvSpPr>
        <p:spPr>
          <a:xfrm>
            <a:off x="4341370" y="4909520"/>
            <a:ext cx="335249" cy="251296"/>
          </a:xfrm>
          <a:prstGeom prst="rect">
            <a:avLst/>
          </a:prstGeom>
          <a:solidFill>
            <a:srgbClr val="E67E22">
              <a:alpha val="5686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8" name="TextBox 1697"/>
          <p:cNvSpPr txBox="1"/>
          <p:nvPr/>
        </p:nvSpPr>
        <p:spPr>
          <a:xfrm>
            <a:off x="4335370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99" name="TextBox 1698"/>
          <p:cNvSpPr txBox="1"/>
          <p:nvPr/>
        </p:nvSpPr>
        <p:spPr>
          <a:xfrm>
            <a:off x="4335370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19件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0" name="Rectangle 1699"/>
          <p:cNvSpPr/>
          <p:nvPr/>
        </p:nvSpPr>
        <p:spPr>
          <a:xfrm>
            <a:off x="4688619" y="4909520"/>
            <a:ext cx="335249" cy="251296"/>
          </a:xfrm>
          <a:prstGeom prst="rect">
            <a:avLst/>
          </a:prstGeom>
          <a:solidFill>
            <a:srgbClr val="E67E22">
              <a:alpha val="4119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1" name="TextBox 1700"/>
          <p:cNvSpPr txBox="1"/>
          <p:nvPr/>
        </p:nvSpPr>
        <p:spPr>
          <a:xfrm>
            <a:off x="4682619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2.7M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2" name="TextBox 1701"/>
          <p:cNvSpPr txBox="1"/>
          <p:nvPr/>
        </p:nvSpPr>
        <p:spPr>
          <a:xfrm>
            <a:off x="4682619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3" name="Rectangle 1702"/>
          <p:cNvSpPr/>
          <p:nvPr/>
        </p:nvSpPr>
        <p:spPr>
          <a:xfrm>
            <a:off x="5035868" y="4909520"/>
            <a:ext cx="335249" cy="251296"/>
          </a:xfrm>
          <a:prstGeom prst="rect">
            <a:avLst/>
          </a:prstGeom>
          <a:solidFill>
            <a:srgbClr val="E67E22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4" name="TextBox 1703"/>
          <p:cNvSpPr txBox="1"/>
          <p:nvPr/>
        </p:nvSpPr>
        <p:spPr>
          <a:xfrm>
            <a:off x="5029868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5" name="TextBox 1704"/>
          <p:cNvSpPr txBox="1"/>
          <p:nvPr/>
        </p:nvSpPr>
        <p:spPr>
          <a:xfrm>
            <a:off x="5029868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28件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06" name="Rectangle 1705"/>
          <p:cNvSpPr/>
          <p:nvPr/>
        </p:nvSpPr>
        <p:spPr>
          <a:xfrm>
            <a:off x="5383117" y="4909520"/>
            <a:ext cx="335249" cy="251296"/>
          </a:xfrm>
          <a:prstGeom prst="rect">
            <a:avLst/>
          </a:prstGeom>
          <a:solidFill>
            <a:srgbClr val="E67E22">
              <a:alpha val="4998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7" name="TextBox 1706"/>
          <p:cNvSpPr txBox="1"/>
          <p:nvPr/>
        </p:nvSpPr>
        <p:spPr>
          <a:xfrm>
            <a:off x="5377117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4.2M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8" name="TextBox 1707"/>
          <p:cNvSpPr txBox="1"/>
          <p:nvPr/>
        </p:nvSpPr>
        <p:spPr>
          <a:xfrm>
            <a:off x="5377117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15件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09" name="Rectangle 1708"/>
          <p:cNvSpPr/>
          <p:nvPr/>
        </p:nvSpPr>
        <p:spPr>
          <a:xfrm>
            <a:off x="5730366" y="4909520"/>
            <a:ext cx="335249" cy="251296"/>
          </a:xfrm>
          <a:prstGeom prst="rect">
            <a:avLst/>
          </a:prstGeom>
          <a:solidFill>
            <a:srgbClr val="E67E22">
              <a:alpha val="5143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0" name="TextBox 1709"/>
          <p:cNvSpPr txBox="1"/>
          <p:nvPr/>
        </p:nvSpPr>
        <p:spPr>
          <a:xfrm>
            <a:off x="5724366" y="4911520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E67E22"/>
                </a:solidFill>
                <a:latin typeface="Calibri" panose="020F0502020204030204"/>
              </a:rPr>
              <a:t>4.4M</a:t>
            </a:r>
            <a:endParaRPr sz="800" b="1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11" name="TextBox 1710"/>
          <p:cNvSpPr txBox="1"/>
          <p:nvPr/>
        </p:nvSpPr>
        <p:spPr>
          <a:xfrm>
            <a:off x="5724366" y="5041816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E67E22"/>
                </a:solidFill>
                <a:latin typeface="Calibri" panose="020F0502020204030204"/>
              </a:rPr>
              <a:t>14件</a:t>
            </a:r>
            <a:endParaRPr sz="700" b="0">
              <a:solidFill>
                <a:srgbClr val="E67E22"/>
              </a:solidFill>
              <a:latin typeface="Calibri" panose="020F0502020204030204"/>
            </a:endParaRPr>
          </a:p>
        </p:txBody>
      </p:sp>
      <p:sp>
        <p:nvSpPr>
          <p:cNvPr id="1712" name="TextBox 1711"/>
          <p:cNvSpPr txBox="1"/>
          <p:nvPr/>
        </p:nvSpPr>
        <p:spPr>
          <a:xfrm>
            <a:off x="202880" y="5166816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永明经代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13" name="Rectangle 1712"/>
          <p:cNvSpPr/>
          <p:nvPr/>
        </p:nvSpPr>
        <p:spPr>
          <a:xfrm>
            <a:off x="868880" y="5172816"/>
            <a:ext cx="335249" cy="251296"/>
          </a:xfrm>
          <a:prstGeom prst="rect">
            <a:avLst/>
          </a:prstGeom>
          <a:solidFill>
            <a:srgbClr val="1A7A3F">
              <a:alpha val="69325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4" name="TextBox 1713"/>
          <p:cNvSpPr txBox="1"/>
          <p:nvPr/>
        </p:nvSpPr>
        <p:spPr>
          <a:xfrm>
            <a:off x="86288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7.3M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5" name="TextBox 1714"/>
          <p:cNvSpPr txBox="1"/>
          <p:nvPr/>
        </p:nvSpPr>
        <p:spPr>
          <a:xfrm>
            <a:off x="86288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16" name="Rectangle 1715"/>
          <p:cNvSpPr/>
          <p:nvPr/>
        </p:nvSpPr>
        <p:spPr>
          <a:xfrm>
            <a:off x="1216129" y="5172816"/>
            <a:ext cx="335249" cy="251296"/>
          </a:xfrm>
          <a:prstGeom prst="rect">
            <a:avLst/>
          </a:prstGeom>
          <a:solidFill>
            <a:srgbClr val="1A7A3F">
              <a:alpha val="442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7" name="TextBox 1716"/>
          <p:cNvSpPr txBox="1"/>
          <p:nvPr/>
        </p:nvSpPr>
        <p:spPr>
          <a:xfrm>
            <a:off x="121012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8" name="TextBox 1717"/>
          <p:cNvSpPr txBox="1"/>
          <p:nvPr/>
        </p:nvSpPr>
        <p:spPr>
          <a:xfrm>
            <a:off x="121012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11件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19" name="Rectangle 1718"/>
          <p:cNvSpPr/>
          <p:nvPr/>
        </p:nvSpPr>
        <p:spPr>
          <a:xfrm>
            <a:off x="1563378" y="5172816"/>
            <a:ext cx="335249" cy="251296"/>
          </a:xfrm>
          <a:prstGeom prst="rect">
            <a:avLst/>
          </a:prstGeom>
          <a:solidFill>
            <a:srgbClr val="1A7A3F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0" name="TextBox 1719"/>
          <p:cNvSpPr txBox="1"/>
          <p:nvPr/>
        </p:nvSpPr>
        <p:spPr>
          <a:xfrm>
            <a:off x="155737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1" name="TextBox 1720"/>
          <p:cNvSpPr txBox="1"/>
          <p:nvPr/>
        </p:nvSpPr>
        <p:spPr>
          <a:xfrm>
            <a:off x="155737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25件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2" name="Rectangle 1721"/>
          <p:cNvSpPr/>
          <p:nvPr/>
        </p:nvSpPr>
        <p:spPr>
          <a:xfrm>
            <a:off x="1910627" y="5172816"/>
            <a:ext cx="335249" cy="251296"/>
          </a:xfrm>
          <a:prstGeom prst="rect">
            <a:avLst/>
          </a:prstGeom>
          <a:solidFill>
            <a:srgbClr val="1A7A3F">
              <a:alpha val="5290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3" name="TextBox 1722"/>
          <p:cNvSpPr txBox="1"/>
          <p:nvPr/>
        </p:nvSpPr>
        <p:spPr>
          <a:xfrm>
            <a:off x="190462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4.6M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4" name="TextBox 1723"/>
          <p:cNvSpPr txBox="1"/>
          <p:nvPr/>
        </p:nvSpPr>
        <p:spPr>
          <a:xfrm>
            <a:off x="190462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25" name="Rectangle 1724"/>
          <p:cNvSpPr/>
          <p:nvPr/>
        </p:nvSpPr>
        <p:spPr>
          <a:xfrm>
            <a:off x="2257876" y="5172816"/>
            <a:ext cx="335249" cy="251296"/>
          </a:xfrm>
          <a:prstGeom prst="rect">
            <a:avLst/>
          </a:prstGeom>
          <a:solidFill>
            <a:srgbClr val="1A7A3F">
              <a:alpha val="58721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6" name="TextBox 1725"/>
          <p:cNvSpPr txBox="1"/>
          <p:nvPr/>
        </p:nvSpPr>
        <p:spPr>
          <a:xfrm>
            <a:off x="225187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7" name="TextBox 1726"/>
          <p:cNvSpPr txBox="1"/>
          <p:nvPr/>
        </p:nvSpPr>
        <p:spPr>
          <a:xfrm>
            <a:off x="225187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28" name="Rectangle 1727"/>
          <p:cNvSpPr/>
          <p:nvPr/>
        </p:nvSpPr>
        <p:spPr>
          <a:xfrm>
            <a:off x="2605125" y="5172816"/>
            <a:ext cx="335249" cy="251296"/>
          </a:xfrm>
          <a:prstGeom prst="rect">
            <a:avLst/>
          </a:prstGeom>
          <a:solidFill>
            <a:srgbClr val="1A7A3F">
              <a:alpha val="3170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9" name="TextBox 1728"/>
          <p:cNvSpPr txBox="1"/>
          <p:nvPr/>
        </p:nvSpPr>
        <p:spPr>
          <a:xfrm>
            <a:off x="2599125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1.1M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0" name="TextBox 1729"/>
          <p:cNvSpPr txBox="1"/>
          <p:nvPr/>
        </p:nvSpPr>
        <p:spPr>
          <a:xfrm>
            <a:off x="2599125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1" name="Rectangle 1730"/>
          <p:cNvSpPr/>
          <p:nvPr/>
        </p:nvSpPr>
        <p:spPr>
          <a:xfrm>
            <a:off x="2952374" y="5172816"/>
            <a:ext cx="335249" cy="251296"/>
          </a:xfrm>
          <a:prstGeom prst="rect">
            <a:avLst/>
          </a:prstGeom>
          <a:solidFill>
            <a:srgbClr val="1A7A3F">
              <a:alpha val="2896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2" name="TextBox 1731"/>
          <p:cNvSpPr txBox="1"/>
          <p:nvPr/>
        </p:nvSpPr>
        <p:spPr>
          <a:xfrm>
            <a:off x="2946374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0.7M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3" name="TextBox 1732"/>
          <p:cNvSpPr txBox="1"/>
          <p:nvPr/>
        </p:nvSpPr>
        <p:spPr>
          <a:xfrm>
            <a:off x="2946374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4" name="Rectangle 1733"/>
          <p:cNvSpPr/>
          <p:nvPr/>
        </p:nvSpPr>
        <p:spPr>
          <a:xfrm>
            <a:off x="3299623" y="5172816"/>
            <a:ext cx="335249" cy="251296"/>
          </a:xfrm>
          <a:prstGeom prst="rect">
            <a:avLst/>
          </a:prstGeom>
          <a:solidFill>
            <a:srgbClr val="1A7A3F">
              <a:alpha val="6499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5" name="TextBox 1734"/>
          <p:cNvSpPr txBox="1"/>
          <p:nvPr/>
        </p:nvSpPr>
        <p:spPr>
          <a:xfrm>
            <a:off x="3293623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6.6M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36" name="TextBox 1735"/>
          <p:cNvSpPr txBox="1"/>
          <p:nvPr/>
        </p:nvSpPr>
        <p:spPr>
          <a:xfrm>
            <a:off x="3293623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13件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37" name="Rectangle 1736"/>
          <p:cNvSpPr/>
          <p:nvPr/>
        </p:nvSpPr>
        <p:spPr>
          <a:xfrm>
            <a:off x="3646872" y="5172816"/>
            <a:ext cx="335249" cy="251296"/>
          </a:xfrm>
          <a:prstGeom prst="rect">
            <a:avLst/>
          </a:prstGeom>
          <a:solidFill>
            <a:srgbClr val="1A7A3F">
              <a:alpha val="3980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8" name="TextBox 1737"/>
          <p:cNvSpPr txBox="1"/>
          <p:nvPr/>
        </p:nvSpPr>
        <p:spPr>
          <a:xfrm>
            <a:off x="3640872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2.5M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39" name="TextBox 1738"/>
          <p:cNvSpPr txBox="1"/>
          <p:nvPr/>
        </p:nvSpPr>
        <p:spPr>
          <a:xfrm>
            <a:off x="3640872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8件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0" name="Rectangle 1739"/>
          <p:cNvSpPr/>
          <p:nvPr/>
        </p:nvSpPr>
        <p:spPr>
          <a:xfrm>
            <a:off x="3994121" y="5172816"/>
            <a:ext cx="335249" cy="251296"/>
          </a:xfrm>
          <a:prstGeom prst="rect">
            <a:avLst/>
          </a:prstGeom>
          <a:solidFill>
            <a:srgbClr val="1A7A3F">
              <a:alpha val="3857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" name="TextBox 1740"/>
          <p:cNvSpPr txBox="1"/>
          <p:nvPr/>
        </p:nvSpPr>
        <p:spPr>
          <a:xfrm>
            <a:off x="3988121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2.2M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2" name="TextBox 1741"/>
          <p:cNvSpPr txBox="1"/>
          <p:nvPr/>
        </p:nvSpPr>
        <p:spPr>
          <a:xfrm>
            <a:off x="3988121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7件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3" name="Rectangle 1742"/>
          <p:cNvSpPr/>
          <p:nvPr/>
        </p:nvSpPr>
        <p:spPr>
          <a:xfrm>
            <a:off x="4341370" y="5172816"/>
            <a:ext cx="335249" cy="251296"/>
          </a:xfrm>
          <a:prstGeom prst="rect">
            <a:avLst/>
          </a:prstGeom>
          <a:solidFill>
            <a:srgbClr val="1A7A3F">
              <a:alpha val="4480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" name="TextBox 1743"/>
          <p:cNvSpPr txBox="1"/>
          <p:nvPr/>
        </p:nvSpPr>
        <p:spPr>
          <a:xfrm>
            <a:off x="4335370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5" name="TextBox 1744"/>
          <p:cNvSpPr txBox="1"/>
          <p:nvPr/>
        </p:nvSpPr>
        <p:spPr>
          <a:xfrm>
            <a:off x="4335370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6" name="Rectangle 1745"/>
          <p:cNvSpPr/>
          <p:nvPr/>
        </p:nvSpPr>
        <p:spPr>
          <a:xfrm>
            <a:off x="4688619" y="5172816"/>
            <a:ext cx="335249" cy="251296"/>
          </a:xfrm>
          <a:prstGeom prst="rect">
            <a:avLst/>
          </a:prstGeom>
          <a:solidFill>
            <a:srgbClr val="1A7A3F">
              <a:alpha val="44716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" name="TextBox 1746"/>
          <p:cNvSpPr txBox="1"/>
          <p:nvPr/>
        </p:nvSpPr>
        <p:spPr>
          <a:xfrm>
            <a:off x="4682619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3.3M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8" name="TextBox 1747"/>
          <p:cNvSpPr txBox="1"/>
          <p:nvPr/>
        </p:nvSpPr>
        <p:spPr>
          <a:xfrm>
            <a:off x="4682619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10件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49" name="Rectangle 1748"/>
          <p:cNvSpPr/>
          <p:nvPr/>
        </p:nvSpPr>
        <p:spPr>
          <a:xfrm>
            <a:off x="5035868" y="5172816"/>
            <a:ext cx="335249" cy="251296"/>
          </a:xfrm>
          <a:prstGeom prst="rect">
            <a:avLst/>
          </a:prstGeom>
          <a:solidFill>
            <a:srgbClr val="1A7A3F">
              <a:alpha val="4408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0" name="TextBox 1749"/>
          <p:cNvSpPr txBox="1"/>
          <p:nvPr/>
        </p:nvSpPr>
        <p:spPr>
          <a:xfrm>
            <a:off x="5029868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1A7A3F"/>
                </a:solidFill>
                <a:latin typeface="Calibri" panose="020F0502020204030204"/>
              </a:rPr>
              <a:t>3.2M</a:t>
            </a:r>
            <a:endParaRPr sz="800" b="1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1" name="TextBox 1750"/>
          <p:cNvSpPr txBox="1"/>
          <p:nvPr/>
        </p:nvSpPr>
        <p:spPr>
          <a:xfrm>
            <a:off x="5029868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A7A3F"/>
                </a:solidFill>
                <a:latin typeface="Calibri" panose="020F0502020204030204"/>
              </a:rPr>
              <a:t>9件</a:t>
            </a:r>
            <a:endParaRPr sz="700" b="0">
              <a:solidFill>
                <a:srgbClr val="1A7A3F"/>
              </a:solidFill>
              <a:latin typeface="Calibri" panose="020F0502020204030204"/>
            </a:endParaRPr>
          </a:p>
        </p:txBody>
      </p:sp>
      <p:sp>
        <p:nvSpPr>
          <p:cNvPr id="1752" name="Rectangle 1751"/>
          <p:cNvSpPr/>
          <p:nvPr/>
        </p:nvSpPr>
        <p:spPr>
          <a:xfrm>
            <a:off x="5383117" y="5172816"/>
            <a:ext cx="335249" cy="251296"/>
          </a:xfrm>
          <a:prstGeom prst="rect">
            <a:avLst/>
          </a:prstGeom>
          <a:solidFill>
            <a:srgbClr val="1A7A3F">
              <a:alpha val="59583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3" name="TextBox 1752"/>
          <p:cNvSpPr txBox="1"/>
          <p:nvPr/>
        </p:nvSpPr>
        <p:spPr>
          <a:xfrm>
            <a:off x="5377117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5.7M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4" name="TextBox 1753"/>
          <p:cNvSpPr txBox="1"/>
          <p:nvPr/>
        </p:nvSpPr>
        <p:spPr>
          <a:xfrm>
            <a:off x="5377117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16件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5" name="Rectangle 1754"/>
          <p:cNvSpPr/>
          <p:nvPr/>
        </p:nvSpPr>
        <p:spPr>
          <a:xfrm>
            <a:off x="5730366" y="5172816"/>
            <a:ext cx="335249" cy="251296"/>
          </a:xfrm>
          <a:prstGeom prst="rect">
            <a:avLst/>
          </a:prstGeom>
          <a:solidFill>
            <a:srgbClr val="1A7A3F">
              <a:alpha val="80290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6" name="TextBox 1755"/>
          <p:cNvSpPr txBox="1"/>
          <p:nvPr/>
        </p:nvSpPr>
        <p:spPr>
          <a:xfrm>
            <a:off x="5724366" y="5174816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9.2M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7" name="TextBox 1756"/>
          <p:cNvSpPr txBox="1"/>
          <p:nvPr/>
        </p:nvSpPr>
        <p:spPr>
          <a:xfrm>
            <a:off x="5724366" y="5305112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20件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58" name="TextBox 1757"/>
          <p:cNvSpPr txBox="1"/>
          <p:nvPr/>
        </p:nvSpPr>
        <p:spPr>
          <a:xfrm>
            <a:off x="202880" y="5430112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合伙转介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59" name="Rectangle 1758"/>
          <p:cNvSpPr/>
          <p:nvPr/>
        </p:nvSpPr>
        <p:spPr>
          <a:xfrm>
            <a:off x="868880" y="5436112"/>
            <a:ext cx="335249" cy="251296"/>
          </a:xfrm>
          <a:prstGeom prst="rect">
            <a:avLst/>
          </a:prstGeom>
          <a:solidFill>
            <a:srgbClr val="94A3B8">
              <a:alpha val="5949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0" name="TextBox 1759"/>
          <p:cNvSpPr txBox="1"/>
          <p:nvPr/>
        </p:nvSpPr>
        <p:spPr>
          <a:xfrm>
            <a:off x="862880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0.6M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1" name="TextBox 1760"/>
          <p:cNvSpPr txBox="1"/>
          <p:nvPr/>
        </p:nvSpPr>
        <p:spPr>
          <a:xfrm>
            <a:off x="862880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4件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2" name="Rectangle 1761"/>
          <p:cNvSpPr/>
          <p:nvPr/>
        </p:nvSpPr>
        <p:spPr>
          <a:xfrm>
            <a:off x="1563378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3" name="TextBox 1762"/>
          <p:cNvSpPr txBox="1"/>
          <p:nvPr/>
        </p:nvSpPr>
        <p:spPr>
          <a:xfrm>
            <a:off x="1557378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4" name="TextBox 1763"/>
          <p:cNvSpPr txBox="1"/>
          <p:nvPr/>
        </p:nvSpPr>
        <p:spPr>
          <a:xfrm>
            <a:off x="1557378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65" name="Rectangle 1764"/>
          <p:cNvSpPr/>
          <p:nvPr/>
        </p:nvSpPr>
        <p:spPr>
          <a:xfrm>
            <a:off x="1910627" y="5436112"/>
            <a:ext cx="335249" cy="251296"/>
          </a:xfrm>
          <a:prstGeom prst="rect">
            <a:avLst/>
          </a:prstGeom>
          <a:solidFill>
            <a:srgbClr val="94A3B8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6" name="TextBox 1765"/>
          <p:cNvSpPr txBox="1"/>
          <p:nvPr/>
        </p:nvSpPr>
        <p:spPr>
          <a:xfrm>
            <a:off x="1904627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1.2M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7" name="TextBox 1766"/>
          <p:cNvSpPr txBox="1"/>
          <p:nvPr/>
        </p:nvSpPr>
        <p:spPr>
          <a:xfrm>
            <a:off x="1904627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68" name="Rectangle 1767"/>
          <p:cNvSpPr/>
          <p:nvPr/>
        </p:nvSpPr>
        <p:spPr>
          <a:xfrm>
            <a:off x="2605125" y="5436112"/>
            <a:ext cx="335249" cy="251296"/>
          </a:xfrm>
          <a:prstGeom prst="rect">
            <a:avLst/>
          </a:prstGeom>
          <a:solidFill>
            <a:srgbClr val="94A3B8">
              <a:alpha val="2592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9" name="TextBox 1768"/>
          <p:cNvSpPr txBox="1"/>
          <p:nvPr/>
        </p:nvSpPr>
        <p:spPr>
          <a:xfrm>
            <a:off x="2599125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0" name="TextBox 1769"/>
          <p:cNvSpPr txBox="1"/>
          <p:nvPr/>
        </p:nvSpPr>
        <p:spPr>
          <a:xfrm>
            <a:off x="2599125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1" name="Rectangle 1770"/>
          <p:cNvSpPr/>
          <p:nvPr/>
        </p:nvSpPr>
        <p:spPr>
          <a:xfrm>
            <a:off x="2952374" y="5436112"/>
            <a:ext cx="335249" cy="251296"/>
          </a:xfrm>
          <a:prstGeom prst="rect">
            <a:avLst/>
          </a:prstGeom>
          <a:solidFill>
            <a:srgbClr val="94A3B8">
              <a:alpha val="58759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2" name="TextBox 1771"/>
          <p:cNvSpPr txBox="1"/>
          <p:nvPr/>
        </p:nvSpPr>
        <p:spPr>
          <a:xfrm>
            <a:off x="2946374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0.5M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73" name="TextBox 1772"/>
          <p:cNvSpPr txBox="1"/>
          <p:nvPr/>
        </p:nvSpPr>
        <p:spPr>
          <a:xfrm>
            <a:off x="2946374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74" name="Rectangle 1773"/>
          <p:cNvSpPr/>
          <p:nvPr/>
        </p:nvSpPr>
        <p:spPr>
          <a:xfrm>
            <a:off x="3646872" y="5436112"/>
            <a:ext cx="335249" cy="251296"/>
          </a:xfrm>
          <a:prstGeom prst="rect">
            <a:avLst/>
          </a:prstGeom>
          <a:solidFill>
            <a:srgbClr val="94A3B8">
              <a:alpha val="2594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5" name="TextBox 1774"/>
          <p:cNvSpPr txBox="1"/>
          <p:nvPr/>
        </p:nvSpPr>
        <p:spPr>
          <a:xfrm>
            <a:off x="3640872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6" name="TextBox 1775"/>
          <p:cNvSpPr txBox="1"/>
          <p:nvPr/>
        </p:nvSpPr>
        <p:spPr>
          <a:xfrm>
            <a:off x="3640872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7" name="Rectangle 1776"/>
          <p:cNvSpPr/>
          <p:nvPr/>
        </p:nvSpPr>
        <p:spPr>
          <a:xfrm>
            <a:off x="5383117" y="5436112"/>
            <a:ext cx="335249" cy="251296"/>
          </a:xfrm>
          <a:prstGeom prst="rect">
            <a:avLst/>
          </a:prstGeom>
          <a:solidFill>
            <a:srgbClr val="94A3B8">
              <a:alpha val="29838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8" name="TextBox 1777"/>
          <p:cNvSpPr txBox="1"/>
          <p:nvPr/>
        </p:nvSpPr>
        <p:spPr>
          <a:xfrm>
            <a:off x="5377117" y="5438112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94A3B8"/>
                </a:solidFill>
                <a:latin typeface="Calibri" panose="020F0502020204030204"/>
              </a:rPr>
              <a:t>0.1M</a:t>
            </a:r>
            <a:endParaRPr sz="800" b="1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79" name="TextBox 1778"/>
          <p:cNvSpPr txBox="1"/>
          <p:nvPr/>
        </p:nvSpPr>
        <p:spPr>
          <a:xfrm>
            <a:off x="5377117" y="5568408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94A3B8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1780" name="TextBox 1779"/>
          <p:cNvSpPr txBox="1"/>
          <p:nvPr/>
        </p:nvSpPr>
        <p:spPr>
          <a:xfrm>
            <a:off x="202880" y="5693408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303030"/>
                </a:solidFill>
                <a:latin typeface="Calibri" panose="020F0502020204030204"/>
              </a:rPr>
              <a:t>ICLUB业务</a:t>
            </a:r>
            <a:endParaRPr sz="900" b="1">
              <a:solidFill>
                <a:srgbClr val="303030"/>
              </a:solidFill>
              <a:latin typeface="Calibri" panose="020F0502020204030204"/>
            </a:endParaRPr>
          </a:p>
        </p:txBody>
      </p:sp>
      <p:sp>
        <p:nvSpPr>
          <p:cNvPr id="1781" name="Rectangle 1780"/>
          <p:cNvSpPr/>
          <p:nvPr/>
        </p:nvSpPr>
        <p:spPr>
          <a:xfrm>
            <a:off x="868880" y="5699408"/>
            <a:ext cx="335249" cy="251296"/>
          </a:xfrm>
          <a:prstGeom prst="rect">
            <a:avLst/>
          </a:prstGeom>
          <a:solidFill>
            <a:srgbClr val="8E44AD">
              <a:alpha val="3231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2" name="TextBox 1781"/>
          <p:cNvSpPr txBox="1"/>
          <p:nvPr/>
        </p:nvSpPr>
        <p:spPr>
          <a:xfrm>
            <a:off x="862880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0.4M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83" name="TextBox 1782"/>
          <p:cNvSpPr txBox="1"/>
          <p:nvPr/>
        </p:nvSpPr>
        <p:spPr>
          <a:xfrm>
            <a:off x="862880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84" name="Rectangle 1783"/>
          <p:cNvSpPr/>
          <p:nvPr/>
        </p:nvSpPr>
        <p:spPr>
          <a:xfrm>
            <a:off x="2952374" y="5699408"/>
            <a:ext cx="335249" cy="251296"/>
          </a:xfrm>
          <a:prstGeom prst="rect">
            <a:avLst/>
          </a:prstGeom>
          <a:solidFill>
            <a:srgbClr val="8E44AD">
              <a:alpha val="25352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5" name="TextBox 1784"/>
          <p:cNvSpPr txBox="1"/>
          <p:nvPr/>
        </p:nvSpPr>
        <p:spPr>
          <a:xfrm>
            <a:off x="2946374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8E44AD"/>
                </a:solidFill>
                <a:latin typeface="Calibri" panose="020F0502020204030204"/>
              </a:rPr>
              <a:t>0.0M</a:t>
            </a:r>
            <a:endParaRPr sz="800" b="1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86" name="TextBox 1785"/>
          <p:cNvSpPr txBox="1"/>
          <p:nvPr/>
        </p:nvSpPr>
        <p:spPr>
          <a:xfrm>
            <a:off x="2946374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8E44AD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8E44AD"/>
              </a:solidFill>
              <a:latin typeface="Calibri" panose="020F0502020204030204"/>
            </a:endParaRPr>
          </a:p>
        </p:txBody>
      </p:sp>
      <p:sp>
        <p:nvSpPr>
          <p:cNvPr id="1787" name="Rectangle 1786"/>
          <p:cNvSpPr/>
          <p:nvPr/>
        </p:nvSpPr>
        <p:spPr>
          <a:xfrm>
            <a:off x="3299623" y="5699408"/>
            <a:ext cx="335249" cy="251296"/>
          </a:xfrm>
          <a:prstGeom prst="rect">
            <a:avLst/>
          </a:prstGeom>
          <a:solidFill>
            <a:srgbClr val="8E44AD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8" name="TextBox 1787"/>
          <p:cNvSpPr txBox="1"/>
          <p:nvPr/>
        </p:nvSpPr>
        <p:spPr>
          <a:xfrm>
            <a:off x="3293623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4.0M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89" name="TextBox 1788"/>
          <p:cNvSpPr txBox="1"/>
          <p:nvPr/>
        </p:nvSpPr>
        <p:spPr>
          <a:xfrm>
            <a:off x="3293623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1件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90" name="Rectangle 1789"/>
          <p:cNvSpPr/>
          <p:nvPr/>
        </p:nvSpPr>
        <p:spPr>
          <a:xfrm>
            <a:off x="3646872" y="5699408"/>
            <a:ext cx="335249" cy="251296"/>
          </a:xfrm>
          <a:prstGeom prst="rect">
            <a:avLst/>
          </a:prstGeom>
          <a:solidFill>
            <a:srgbClr val="8E44AD">
              <a:alpha val="58914"/>
            </a:srgbClr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1" name="TextBox 1790"/>
          <p:cNvSpPr txBox="1"/>
          <p:nvPr/>
        </p:nvSpPr>
        <p:spPr>
          <a:xfrm>
            <a:off x="3640872" y="5701408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 panose="020F0502020204030204"/>
              </a:rPr>
              <a:t>1.8M</a:t>
            </a:r>
            <a:endParaRPr sz="800" b="1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92" name="TextBox 1791"/>
          <p:cNvSpPr txBox="1"/>
          <p:nvPr/>
        </p:nvSpPr>
        <p:spPr>
          <a:xfrm>
            <a:off x="3640872" y="5831704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Calibri" panose="020F0502020204030204"/>
              </a:rPr>
              <a:t>2件</a:t>
            </a:r>
            <a:endParaRPr sz="7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93" name="TextBox 1792"/>
          <p:cNvSpPr txBox="1"/>
          <p:nvPr/>
        </p:nvSpPr>
        <p:spPr>
          <a:xfrm>
            <a:off x="202880" y="5956704"/>
            <a:ext cx="650000" cy="26329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  <a:latin typeface="Calibri" panose="020F0502020204030204"/>
              </a:rPr>
              <a:t>合计</a:t>
            </a:r>
            <a:endParaRPr sz="1000" b="1">
              <a:solidFill>
                <a:srgbClr val="202020"/>
              </a:solidFill>
              <a:latin typeface="Calibri" panose="020F0502020204030204"/>
            </a:endParaRPr>
          </a:p>
        </p:txBody>
      </p:sp>
      <p:sp>
        <p:nvSpPr>
          <p:cNvPr id="1794" name="Rectangle 1793"/>
          <p:cNvSpPr/>
          <p:nvPr/>
        </p:nvSpPr>
        <p:spPr>
          <a:xfrm>
            <a:off x="86888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5" name="TextBox 1794"/>
          <p:cNvSpPr txBox="1"/>
          <p:nvPr/>
        </p:nvSpPr>
        <p:spPr>
          <a:xfrm>
            <a:off x="86288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15.7M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6" name="TextBox 1795"/>
          <p:cNvSpPr txBox="1"/>
          <p:nvPr/>
        </p:nvSpPr>
        <p:spPr>
          <a:xfrm>
            <a:off x="86288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797" name="Rectangle 1796"/>
          <p:cNvSpPr/>
          <p:nvPr/>
        </p:nvSpPr>
        <p:spPr>
          <a:xfrm>
            <a:off x="121612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8" name="TextBox 1797"/>
          <p:cNvSpPr txBox="1"/>
          <p:nvPr/>
        </p:nvSpPr>
        <p:spPr>
          <a:xfrm>
            <a:off x="121012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799" name="TextBox 1798"/>
          <p:cNvSpPr txBox="1"/>
          <p:nvPr/>
        </p:nvSpPr>
        <p:spPr>
          <a:xfrm>
            <a:off x="121012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24件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0" name="Rectangle 1799"/>
          <p:cNvSpPr/>
          <p:nvPr/>
        </p:nvSpPr>
        <p:spPr>
          <a:xfrm>
            <a:off x="156337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1" name="TextBox 1800"/>
          <p:cNvSpPr txBox="1"/>
          <p:nvPr/>
        </p:nvSpPr>
        <p:spPr>
          <a:xfrm>
            <a:off x="155737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2" name="TextBox 1801"/>
          <p:cNvSpPr txBox="1"/>
          <p:nvPr/>
        </p:nvSpPr>
        <p:spPr>
          <a:xfrm>
            <a:off x="155737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59件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3" name="Rectangle 1802"/>
          <p:cNvSpPr/>
          <p:nvPr/>
        </p:nvSpPr>
        <p:spPr>
          <a:xfrm>
            <a:off x="191062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4" name="TextBox 1803"/>
          <p:cNvSpPr txBox="1"/>
          <p:nvPr/>
        </p:nvSpPr>
        <p:spPr>
          <a:xfrm>
            <a:off x="190462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24.6M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5" name="TextBox 1804"/>
          <p:cNvSpPr txBox="1"/>
          <p:nvPr/>
        </p:nvSpPr>
        <p:spPr>
          <a:xfrm>
            <a:off x="190462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45件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6" name="Rectangle 1805"/>
          <p:cNvSpPr/>
          <p:nvPr/>
        </p:nvSpPr>
        <p:spPr>
          <a:xfrm>
            <a:off x="225787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7" name="TextBox 1806"/>
          <p:cNvSpPr txBox="1"/>
          <p:nvPr/>
        </p:nvSpPr>
        <p:spPr>
          <a:xfrm>
            <a:off x="225187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23.5M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08" name="TextBox 1807"/>
          <p:cNvSpPr txBox="1"/>
          <p:nvPr/>
        </p:nvSpPr>
        <p:spPr>
          <a:xfrm>
            <a:off x="225187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09" name="Rectangle 1808"/>
          <p:cNvSpPr/>
          <p:nvPr/>
        </p:nvSpPr>
        <p:spPr>
          <a:xfrm>
            <a:off x="2605125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0" name="TextBox 1809"/>
          <p:cNvSpPr txBox="1"/>
          <p:nvPr/>
        </p:nvSpPr>
        <p:spPr>
          <a:xfrm>
            <a:off x="2599125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8.4M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1" name="TextBox 1810"/>
          <p:cNvSpPr txBox="1"/>
          <p:nvPr/>
        </p:nvSpPr>
        <p:spPr>
          <a:xfrm>
            <a:off x="2599125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2" name="Rectangle 1811"/>
          <p:cNvSpPr/>
          <p:nvPr/>
        </p:nvSpPr>
        <p:spPr>
          <a:xfrm>
            <a:off x="2952374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3" name="TextBox 1812"/>
          <p:cNvSpPr txBox="1"/>
          <p:nvPr/>
        </p:nvSpPr>
        <p:spPr>
          <a:xfrm>
            <a:off x="2946374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15.9M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4" name="TextBox 1813"/>
          <p:cNvSpPr txBox="1"/>
          <p:nvPr/>
        </p:nvSpPr>
        <p:spPr>
          <a:xfrm>
            <a:off x="2946374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5" name="Rectangle 1814"/>
          <p:cNvSpPr/>
          <p:nvPr/>
        </p:nvSpPr>
        <p:spPr>
          <a:xfrm>
            <a:off x="3299623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6" name="TextBox 1815"/>
          <p:cNvSpPr txBox="1"/>
          <p:nvPr/>
        </p:nvSpPr>
        <p:spPr>
          <a:xfrm>
            <a:off x="3293623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20.4M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17" name="TextBox 1816"/>
          <p:cNvSpPr txBox="1"/>
          <p:nvPr/>
        </p:nvSpPr>
        <p:spPr>
          <a:xfrm>
            <a:off x="3293623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46件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18" name="Rectangle 1817"/>
          <p:cNvSpPr/>
          <p:nvPr/>
        </p:nvSpPr>
        <p:spPr>
          <a:xfrm>
            <a:off x="3646872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9" name="TextBox 1818"/>
          <p:cNvSpPr txBox="1"/>
          <p:nvPr/>
        </p:nvSpPr>
        <p:spPr>
          <a:xfrm>
            <a:off x="3640872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28.1M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0" name="TextBox 1819"/>
          <p:cNvSpPr txBox="1"/>
          <p:nvPr/>
        </p:nvSpPr>
        <p:spPr>
          <a:xfrm>
            <a:off x="3640872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1" name="Rectangle 1820"/>
          <p:cNvSpPr/>
          <p:nvPr/>
        </p:nvSpPr>
        <p:spPr>
          <a:xfrm>
            <a:off x="3994121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2" name="TextBox 1821"/>
          <p:cNvSpPr txBox="1"/>
          <p:nvPr/>
        </p:nvSpPr>
        <p:spPr>
          <a:xfrm>
            <a:off x="3988121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12.5M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3" name="TextBox 1822"/>
          <p:cNvSpPr txBox="1"/>
          <p:nvPr/>
        </p:nvSpPr>
        <p:spPr>
          <a:xfrm>
            <a:off x="3988121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4" name="Rectangle 1823"/>
          <p:cNvSpPr/>
          <p:nvPr/>
        </p:nvSpPr>
        <p:spPr>
          <a:xfrm>
            <a:off x="4341370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5" name="TextBox 1824"/>
          <p:cNvSpPr txBox="1"/>
          <p:nvPr/>
        </p:nvSpPr>
        <p:spPr>
          <a:xfrm>
            <a:off x="4335370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12.0M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6" name="TextBox 1825"/>
          <p:cNvSpPr txBox="1"/>
          <p:nvPr/>
        </p:nvSpPr>
        <p:spPr>
          <a:xfrm>
            <a:off x="4335370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44件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27" name="Rectangle 1826"/>
          <p:cNvSpPr/>
          <p:nvPr/>
        </p:nvSpPr>
        <p:spPr>
          <a:xfrm>
            <a:off x="4688619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8" name="TextBox 1827"/>
          <p:cNvSpPr txBox="1"/>
          <p:nvPr/>
        </p:nvSpPr>
        <p:spPr>
          <a:xfrm>
            <a:off x="4682619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15.4M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29" name="TextBox 1828"/>
          <p:cNvSpPr txBox="1"/>
          <p:nvPr/>
        </p:nvSpPr>
        <p:spPr>
          <a:xfrm>
            <a:off x="4682619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31件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30" name="Rectangle 1829"/>
          <p:cNvSpPr/>
          <p:nvPr/>
        </p:nvSpPr>
        <p:spPr>
          <a:xfrm>
            <a:off x="5035868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1" name="TextBox 1830"/>
          <p:cNvSpPr txBox="1"/>
          <p:nvPr/>
        </p:nvSpPr>
        <p:spPr>
          <a:xfrm>
            <a:off x="5029868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19.3M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32" name="TextBox 1831"/>
          <p:cNvSpPr txBox="1"/>
          <p:nvPr/>
        </p:nvSpPr>
        <p:spPr>
          <a:xfrm>
            <a:off x="5029868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50件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33" name="Rectangle 1832"/>
          <p:cNvSpPr/>
          <p:nvPr/>
        </p:nvSpPr>
        <p:spPr>
          <a:xfrm>
            <a:off x="5383117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4" name="TextBox 1833"/>
          <p:cNvSpPr txBox="1"/>
          <p:nvPr/>
        </p:nvSpPr>
        <p:spPr>
          <a:xfrm>
            <a:off x="5377117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11.3M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35" name="TextBox 1834"/>
          <p:cNvSpPr txBox="1"/>
          <p:nvPr/>
        </p:nvSpPr>
        <p:spPr>
          <a:xfrm>
            <a:off x="5377117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42件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  <p:sp>
        <p:nvSpPr>
          <p:cNvPr id="1836" name="Rectangle 1835"/>
          <p:cNvSpPr/>
          <p:nvPr/>
        </p:nvSpPr>
        <p:spPr>
          <a:xfrm>
            <a:off x="5730366" y="5962704"/>
            <a:ext cx="335249" cy="251296"/>
          </a:xfrm>
          <a:prstGeom prst="rect">
            <a:avLst/>
          </a:prstGeom>
          <a:solidFill>
            <a:srgbClr val="ECECEC"/>
          </a:solidFill>
          <a:ln w="31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7" name="TextBox 1836"/>
          <p:cNvSpPr txBox="1"/>
          <p:nvPr/>
        </p:nvSpPr>
        <p:spPr>
          <a:xfrm>
            <a:off x="5724366" y="5964704"/>
            <a:ext cx="347249" cy="13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2C3E50"/>
                </a:solidFill>
                <a:latin typeface="Calibri" panose="020F0502020204030204"/>
              </a:rPr>
              <a:t>16.0M</a:t>
            </a:r>
            <a:endParaRPr sz="800" b="1">
              <a:solidFill>
                <a:srgbClr val="2C3E50"/>
              </a:solidFill>
              <a:latin typeface="Calibri" panose="020F0502020204030204"/>
            </a:endParaRPr>
          </a:p>
        </p:txBody>
      </p:sp>
      <p:sp>
        <p:nvSpPr>
          <p:cNvPr id="1838" name="TextBox 1837"/>
          <p:cNvSpPr txBox="1"/>
          <p:nvPr/>
        </p:nvSpPr>
        <p:spPr>
          <a:xfrm>
            <a:off x="5724366" y="6095000"/>
            <a:ext cx="347249" cy="115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7A7A7A"/>
                </a:solidFill>
                <a:latin typeface="Calibri" panose="020F0502020204030204"/>
              </a:rPr>
              <a:t>43件</a:t>
            </a:r>
            <a:endParaRPr sz="700" b="0">
              <a:solidFill>
                <a:srgbClr val="7A7A7A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4"/>
          <p:cNvSpPr/>
          <p:nvPr>
            <p:custDataLst>
              <p:tags r:id="rId3"/>
            </p:custDataLst>
          </p:nvPr>
        </p:nvSpPr>
        <p:spPr>
          <a:xfrm>
            <a:off x="3902710" y="500253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4"/>
          <p:cNvSpPr/>
          <p:nvPr>
            <p:custDataLst>
              <p:tags r:id="rId4"/>
            </p:custDataLst>
          </p:nvPr>
        </p:nvSpPr>
        <p:spPr>
          <a:xfrm>
            <a:off x="1992630" y="500253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Shape 4"/>
          <p:cNvSpPr/>
          <p:nvPr>
            <p:custDataLst>
              <p:tags r:id="rId5"/>
            </p:custDataLst>
          </p:nvPr>
        </p:nvSpPr>
        <p:spPr>
          <a:xfrm>
            <a:off x="91440" y="526923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5972810" y="3529330"/>
            <a:ext cx="5888990" cy="308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" name="Shape 3"/>
          <p:cNvSpPr/>
          <p:nvPr>
            <p:custDataLst>
              <p:tags r:id="rId6"/>
            </p:custDataLst>
          </p:nvPr>
        </p:nvSpPr>
        <p:spPr>
          <a:xfrm>
            <a:off x="5974715" y="568960"/>
            <a:ext cx="5913120" cy="2325370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9263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7"/>
            </p:custDataLst>
          </p:nvPr>
        </p:nvSpPr>
        <p:spPr>
          <a:xfrm>
            <a:off x="5974715" y="567055"/>
            <a:ext cx="5913120" cy="295275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" name="Text 4"/>
          <p:cNvSpPr/>
          <p:nvPr>
            <p:custDataLst>
              <p:tags r:id="rId8"/>
            </p:custDataLst>
          </p:nvPr>
        </p:nvSpPr>
        <p:spPr>
          <a:xfrm>
            <a:off x="6029325" y="592455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U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同行推荐人分析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>
            <p:custDataLst>
              <p:tags r:id="rId9"/>
            </p:custDataLst>
          </p:nvPr>
        </p:nvGraphicFramePr>
        <p:xfrm>
          <a:off x="5974715" y="895985"/>
          <a:ext cx="5842000" cy="1962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Shape 6"/>
          <p:cNvSpPr/>
          <p:nvPr>
            <p:custDataLst>
              <p:tags r:id="rId10"/>
            </p:custDataLst>
          </p:nvPr>
        </p:nvSpPr>
        <p:spPr>
          <a:xfrm>
            <a:off x="5930900" y="2950845"/>
            <a:ext cx="6035040" cy="425450"/>
          </a:xfrm>
          <a:prstGeom prst="rect">
            <a:avLst/>
          </a:prstGeom>
          <a:solidFill>
            <a:srgbClr val="EDE7F6"/>
          </a:solidFill>
          <a:ln w="12700">
            <a:solidFill>
              <a:srgbClr val="8E44AD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>
            <p:custDataLst>
              <p:tags r:id="rId11"/>
            </p:custDataLst>
          </p:nvPr>
        </p:nvSpPr>
        <p:spPr>
          <a:xfrm>
            <a:off x="5930900" y="2846070"/>
            <a:ext cx="54000" cy="42037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>
            <p:custDataLst>
              <p:tags r:id="rId12"/>
            </p:custDataLst>
          </p:nvPr>
        </p:nvSpPr>
        <p:spPr>
          <a:xfrm>
            <a:off x="6040755" y="2968625"/>
            <a:ext cx="5852160" cy="356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235A"/>
                </a:solidFill>
              </a:rPr>
              <a:t>So What：  姜通批核 113.5M/307件、战略合作 39.2M/116件,合计占同行批核 74.7%。姜通件均≈37万为大单驱动,战略合作走量为流量驱动。头部高度集中,需差异化对接与风险分散。</a:t>
            </a:r>
            <a:endParaRPr lang="en-US" sz="850" dirty="0">
              <a:solidFill>
                <a:srgbClr val="374151"/>
              </a:solidFill>
            </a:endParaRPr>
          </a:p>
        </p:txBody>
      </p:sp>
      <p:sp>
        <p:nvSpPr>
          <p:cNvPr id="14" name="Shape 10"/>
          <p:cNvSpPr/>
          <p:nvPr>
            <p:custDataLst>
              <p:tags r:id="rId13"/>
            </p:custDataLst>
          </p:nvPr>
        </p:nvSpPr>
        <p:spPr>
          <a:xfrm>
            <a:off x="5948045" y="3496945"/>
            <a:ext cx="5914390" cy="291465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Chart 1"/>
          <p:cNvGraphicFramePr/>
          <p:nvPr>
            <p:custDataLst>
              <p:tags r:id="rId14"/>
            </p:custDataLst>
          </p:nvPr>
        </p:nvGraphicFramePr>
        <p:xfrm>
          <a:off x="5948045" y="3825875"/>
          <a:ext cx="5904230" cy="279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Shape 13"/>
          <p:cNvSpPr/>
          <p:nvPr>
            <p:custDataLst>
              <p:tags r:id="rId15"/>
            </p:custDataLst>
          </p:nvPr>
        </p:nvSpPr>
        <p:spPr>
          <a:xfrm>
            <a:off x="176530" y="6029325"/>
            <a:ext cx="5481320" cy="494030"/>
          </a:xfrm>
          <a:prstGeom prst="rect">
            <a:avLst/>
          </a:prstGeom>
          <a:solidFill>
            <a:srgbClr val="E8F5E9"/>
          </a:solidFill>
          <a:ln w="12700">
            <a:solidFill>
              <a:srgbClr val="00796B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4"/>
          <p:cNvSpPr/>
          <p:nvPr>
            <p:custDataLst>
              <p:tags r:id="rId16"/>
            </p:custDataLst>
          </p:nvPr>
        </p:nvSpPr>
        <p:spPr>
          <a:xfrm>
            <a:off x="176530" y="6029579"/>
            <a:ext cx="54864" cy="493776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286258" y="6047867"/>
            <a:ext cx="5257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085"/>
                </a:solidFill>
              </a:rPr>
              <a:t>So What：  Mark 批核 13.3M/批核率 100% 件质量最高;姜通在途未批核 37.8M、批核率升至 75%（较上期 68%）质量改善;白博文 5.4M 待跟。头部推荐人质量分化,持续催核提速。</a:t>
            </a:r>
            <a:endParaRPr lang="en-US" sz="850" dirty="0"/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4" name="Text 4"/>
          <p:cNvSpPr/>
          <p:nvPr>
            <p:custDataLst>
              <p:tags r:id="rId18"/>
            </p:custDataLst>
          </p:nvPr>
        </p:nvSpPr>
        <p:spPr>
          <a:xfrm>
            <a:off x="6002655" y="3511550"/>
            <a:ext cx="2948940" cy="2305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V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同行 TOP 10 KEY ACCOUNT分析</a:t>
            </a:r>
            <a:r>
              <a:rPr lang="en-US" sz="850" b="1" dirty="0">
                <a:solidFill>
                  <a:srgbClr val="1B2A4A"/>
                </a:solidFill>
                <a:sym typeface="+mn-ea"/>
              </a:rPr>
              <a:t>  </a:t>
            </a:r>
            <a:r>
              <a:rPr lang="en-US" sz="85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sz="1100" b="1" dirty="0">
                <a:solidFill>
                  <a:schemeClr val="bg1"/>
                </a:solidFill>
                <a:sym typeface="+mn-ea"/>
              </a:rPr>
              <a:t> </a:t>
            </a:r>
            <a:endParaRPr lang="en-US" sz="1100" dirty="0"/>
          </a:p>
        </p:txBody>
      </p:sp>
      <p:sp>
        <p:nvSpPr>
          <p:cNvPr id="7" name="Text 6"/>
          <p:cNvSpPr/>
          <p:nvPr>
            <p:custDataLst>
              <p:tags r:id="rId19"/>
            </p:custDataLst>
          </p:nvPr>
        </p:nvSpPr>
        <p:spPr>
          <a:xfrm>
            <a:off x="174625" y="626745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</a:t>
            </a:r>
            <a:r>
              <a:rPr lang="en-US" altLang="zh-CN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2026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12" name="Text 7"/>
          <p:cNvSpPr/>
          <p:nvPr>
            <p:custDataLst>
              <p:tags r:id="rId20"/>
            </p:custDataLst>
          </p:nvPr>
        </p:nvSpPr>
        <p:spPr>
          <a:xfrm>
            <a:off x="174625" y="753110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136.8M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>
            <p:custDataLst>
              <p:tags r:id="rId21"/>
            </p:custDataLst>
          </p:nvPr>
        </p:nvSpPr>
        <p:spPr>
          <a:xfrm>
            <a:off x="174625" y="1090295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7415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296件  |  件均46.2万</a:t>
            </a:r>
            <a:endParaRPr lang="en-US" sz="750" dirty="0"/>
          </a:p>
        </p:txBody>
      </p:sp>
      <p:sp>
        <p:nvSpPr>
          <p:cNvPr id="16" name="Shape 10"/>
          <p:cNvSpPr/>
          <p:nvPr>
            <p:custDataLst>
              <p:tags r:id="rId22"/>
            </p:custDataLst>
          </p:nvPr>
        </p:nvSpPr>
        <p:spPr>
          <a:xfrm>
            <a:off x="109855" y="500380"/>
            <a:ext cx="1782445" cy="76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25" name="Text 6"/>
          <p:cNvSpPr/>
          <p:nvPr>
            <p:custDataLst>
              <p:tags r:id="rId23"/>
            </p:custDataLst>
          </p:nvPr>
        </p:nvSpPr>
        <p:spPr>
          <a:xfrm>
            <a:off x="2079625" y="620395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同行未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批核APE</a:t>
            </a:r>
            <a:endParaRPr lang="en-US" sz="850" dirty="0"/>
          </a:p>
        </p:txBody>
      </p:sp>
      <p:sp>
        <p:nvSpPr>
          <p:cNvPr id="26" name="Text 7"/>
          <p:cNvSpPr/>
          <p:nvPr>
            <p:custDataLst>
              <p:tags r:id="rId24"/>
            </p:custDataLst>
          </p:nvPr>
        </p:nvSpPr>
        <p:spPr>
          <a:xfrm>
            <a:off x="2079625" y="746760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64.4M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8"/>
          <p:cNvSpPr/>
          <p:nvPr>
            <p:custDataLst>
              <p:tags r:id="rId25"/>
            </p:custDataLst>
          </p:nvPr>
        </p:nvSpPr>
        <p:spPr>
          <a:xfrm>
            <a:off x="2079625" y="1083945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165件  |  件均35.6万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8" name="Shape 10"/>
          <p:cNvSpPr/>
          <p:nvPr>
            <p:custDataLst>
              <p:tags r:id="rId26"/>
            </p:custDataLst>
          </p:nvPr>
        </p:nvSpPr>
        <p:spPr>
          <a:xfrm>
            <a:off x="2005330" y="494030"/>
            <a:ext cx="1782445" cy="76200"/>
          </a:xfrm>
          <a:prstGeom prst="rect">
            <a:avLst/>
          </a:prstGeom>
          <a:solidFill>
            <a:srgbClr val="4A235A"/>
          </a:solidFill>
          <a:ln w="12700">
            <a:solidFill>
              <a:srgbClr val="7030A0"/>
            </a:solidFill>
            <a:prstDash val="solid"/>
          </a:ln>
        </p:spPr>
        <p:txBody>
          <a:bodyPr/>
          <a:p/>
        </p:txBody>
      </p:sp>
      <p:sp>
        <p:nvSpPr>
          <p:cNvPr id="30" name="Text 6"/>
          <p:cNvSpPr/>
          <p:nvPr>
            <p:custDataLst>
              <p:tags r:id="rId27"/>
            </p:custDataLst>
          </p:nvPr>
        </p:nvSpPr>
        <p:spPr>
          <a:xfrm>
            <a:off x="3975735" y="614045"/>
            <a:ext cx="1710055" cy="132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6B7280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同行待签</a:t>
            </a:r>
            <a:r>
              <a:rPr lang="en-US" sz="85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50" dirty="0"/>
          </a:p>
        </p:txBody>
      </p:sp>
      <p:sp>
        <p:nvSpPr>
          <p:cNvPr id="31" name="Text 7"/>
          <p:cNvSpPr/>
          <p:nvPr>
            <p:custDataLst>
              <p:tags r:id="rId28"/>
            </p:custDataLst>
          </p:nvPr>
        </p:nvSpPr>
        <p:spPr>
          <a:xfrm>
            <a:off x="3975735" y="740410"/>
            <a:ext cx="1710055" cy="2787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1.5M</a:t>
            </a:r>
            <a:endParaRPr lang="en-US" sz="2400" b="1" dirty="0">
              <a:solidFill>
                <a:srgbClr val="1F386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8"/>
          <p:cNvSpPr/>
          <p:nvPr>
            <p:custDataLst>
              <p:tags r:id="rId29"/>
            </p:custDataLst>
          </p:nvPr>
        </p:nvSpPr>
        <p:spPr>
          <a:xfrm>
            <a:off x="3975735" y="1077595"/>
            <a:ext cx="1710055" cy="116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750">
                <a:solidFill>
                  <a:srgbClr val="374151"/>
                </a:solidFill>
                <a:latin typeface="Calibri" panose="020F0502020204030204"/>
              </a:rPr>
              <a:t>23件  |  件均42.9万</a:t>
            </a:r>
            <a:endParaRPr lang="zh-CN" altLang="en-US" sz="750" dirty="0">
              <a:solidFill>
                <a:srgbClr val="374151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33" name="Shape 10"/>
          <p:cNvSpPr/>
          <p:nvPr>
            <p:custDataLst>
              <p:tags r:id="rId30"/>
            </p:custDataLst>
          </p:nvPr>
        </p:nvSpPr>
        <p:spPr>
          <a:xfrm>
            <a:off x="3901440" y="487680"/>
            <a:ext cx="1782445" cy="76200"/>
          </a:xfrm>
          <a:prstGeom prst="rect">
            <a:avLst/>
          </a:prstGeom>
          <a:solidFill>
            <a:srgbClr val="00796B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/>
          <a:p/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31445" y="1392047"/>
          <a:ext cx="5526405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265"/>
                <a:gridCol w="477520"/>
                <a:gridCol w="545465"/>
                <a:gridCol w="702310"/>
                <a:gridCol w="613925"/>
                <a:gridCol w="638810"/>
                <a:gridCol w="529865"/>
                <a:gridCol w="631190"/>
                <a:gridCol w="536965"/>
              </a:tblGrid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KEY ACCOUNT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未批核件数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待签件数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合计APE(M)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2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合计件数</a:t>
                      </a:r>
                      <a:endParaRPr lang="zh-CN" sz="72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40.55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83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11.34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0.90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52.79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唯思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39.23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5.30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0.68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45.21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紫荆保险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34.91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5.20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40.22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利泰丰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1.01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28.83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堡盛国际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25.87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3.69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29.84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万森保险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25.37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3.61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28.98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天誉国际(MGA)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18.74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20.19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5.31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44.23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企鹅保险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17.82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1.59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0.23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19.64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宏鑫资产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12.48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万城保险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8.35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1.04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9.38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中天家办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7.22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18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2.77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1.61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30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臻略财富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3.24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2.59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5.99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德方集团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2.34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晋誉财富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1.88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卓樾会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1.65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龙腾财富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1.45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1.60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富仕德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1.15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0.22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1.37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太富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0.80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动力势能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巨蚁环球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0.39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共享经纪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C0392B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C0392B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0.28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钜诚保险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94A3B8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dirty="0">
                        <a:solidFill>
                          <a:srgbClr val="94A3B8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裕承资产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0.16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0.57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0.73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众安国际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0.12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时代保险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0.08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672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香港宜达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6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—</a:t>
                      </a:r>
                      <a:endParaRPr lang="en-US" alt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0.04</a:t>
                      </a:r>
                      <a:endParaRPr lang="zh-CN" sz="760" b="1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4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</a:t>
                      </a:r>
                      <a:endParaRPr lang="zh-CN" sz="74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1919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272.68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669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58.69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165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9.86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23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341.23</a:t>
                      </a:r>
                      <a:endParaRPr lang="zh-CN" sz="78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6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857</a:t>
                      </a:r>
                      <a:endParaRPr lang="zh-CN" sz="76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3"/>
          <p:cNvSpPr/>
          <p:nvPr/>
        </p:nvSpPr>
        <p:spPr>
          <a:xfrm>
            <a:off x="265430" y="1485900"/>
            <a:ext cx="11710670" cy="1875155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09550" y="38100"/>
            <a:ext cx="3747770" cy="3841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Pip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eline &amp; Approval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48" name="Shape 42"/>
          <p:cNvSpPr/>
          <p:nvPr>
            <p:custDataLst>
              <p:tags r:id="rId2"/>
            </p:custDataLst>
          </p:nvPr>
        </p:nvSpPr>
        <p:spPr>
          <a:xfrm>
            <a:off x="6404610" y="556260"/>
            <a:ext cx="1800860" cy="85217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9" name="Shape 43"/>
          <p:cNvSpPr/>
          <p:nvPr>
            <p:custDataLst>
              <p:tags r:id="rId3"/>
            </p:custDataLst>
          </p:nvPr>
        </p:nvSpPr>
        <p:spPr>
          <a:xfrm flipH="1">
            <a:off x="6388100" y="556260"/>
            <a:ext cx="54000" cy="842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0" name="Text 44"/>
          <p:cNvSpPr/>
          <p:nvPr>
            <p:custDataLst>
              <p:tags r:id="rId4"/>
            </p:custDataLst>
          </p:nvPr>
        </p:nvSpPr>
        <p:spPr>
          <a:xfrm>
            <a:off x="6514338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同行W27预约</a:t>
            </a:r>
            <a:endParaRPr lang="en-US" sz="800" dirty="0"/>
          </a:p>
        </p:txBody>
      </p:sp>
      <p:sp>
        <p:nvSpPr>
          <p:cNvPr id="51" name="Text 45"/>
          <p:cNvSpPr/>
          <p:nvPr>
            <p:custDataLst>
              <p:tags r:id="rId5"/>
            </p:custDataLst>
          </p:nvPr>
        </p:nvSpPr>
        <p:spPr>
          <a:xfrm>
            <a:off x="6514338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11.37M</a:t>
            </a:r>
            <a:endParaRPr lang="en-US" sz="1800" dirty="0"/>
          </a:p>
        </p:txBody>
      </p:sp>
      <p:sp>
        <p:nvSpPr>
          <p:cNvPr id="52" name="Text 46"/>
          <p:cNvSpPr/>
          <p:nvPr>
            <p:custDataLst>
              <p:tags r:id="rId6"/>
            </p:custDataLst>
          </p:nvPr>
        </p:nvSpPr>
        <p:spPr>
          <a:xfrm>
            <a:off x="6514338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34件| 件均33.4W</a:t>
            </a:r>
            <a:endParaRPr lang="en-US" sz="750" dirty="0"/>
          </a:p>
        </p:txBody>
      </p:sp>
      <p:sp>
        <p:nvSpPr>
          <p:cNvPr id="53" name="Shape 47"/>
          <p:cNvSpPr/>
          <p:nvPr>
            <p:custDataLst>
              <p:tags r:id="rId7"/>
            </p:custDataLst>
          </p:nvPr>
        </p:nvSpPr>
        <p:spPr>
          <a:xfrm>
            <a:off x="8282305" y="556260"/>
            <a:ext cx="1757045" cy="852805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4" name="Shape 48"/>
          <p:cNvSpPr/>
          <p:nvPr>
            <p:custDataLst>
              <p:tags r:id="rId8"/>
            </p:custDataLst>
          </p:nvPr>
        </p:nvSpPr>
        <p:spPr>
          <a:xfrm>
            <a:off x="8282178" y="556260"/>
            <a:ext cx="54864" cy="8424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55" name="Text 49"/>
          <p:cNvSpPr/>
          <p:nvPr>
            <p:custDataLst>
              <p:tags r:id="rId9"/>
            </p:custDataLst>
          </p:nvPr>
        </p:nvSpPr>
        <p:spPr>
          <a:xfrm>
            <a:off x="8391906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同行W27签单</a:t>
            </a:r>
            <a:endParaRPr lang="en-US" sz="800" dirty="0"/>
          </a:p>
        </p:txBody>
      </p:sp>
      <p:sp>
        <p:nvSpPr>
          <p:cNvPr id="56" name="Text 50"/>
          <p:cNvSpPr/>
          <p:nvPr>
            <p:custDataLst>
              <p:tags r:id="rId10"/>
            </p:custDataLst>
          </p:nvPr>
        </p:nvSpPr>
        <p:spPr>
          <a:xfrm>
            <a:off x="8391906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7.25M</a:t>
            </a:r>
            <a:endParaRPr lang="en-US" sz="1800" dirty="0"/>
          </a:p>
        </p:txBody>
      </p:sp>
      <p:sp>
        <p:nvSpPr>
          <p:cNvPr id="57" name="Text 51"/>
          <p:cNvSpPr/>
          <p:nvPr>
            <p:custDataLst>
              <p:tags r:id="rId11"/>
            </p:custDataLst>
          </p:nvPr>
        </p:nvSpPr>
        <p:spPr>
          <a:xfrm>
            <a:off x="8391906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25件| 件均29.0W</a:t>
            </a:r>
            <a:endParaRPr lang="en-US" sz="750" dirty="0"/>
          </a:p>
        </p:txBody>
      </p:sp>
      <p:sp>
        <p:nvSpPr>
          <p:cNvPr id="58" name="Shape 52"/>
          <p:cNvSpPr/>
          <p:nvPr>
            <p:custDataLst>
              <p:tags r:id="rId12"/>
            </p:custDataLst>
          </p:nvPr>
        </p:nvSpPr>
        <p:spPr>
          <a:xfrm>
            <a:off x="10139680" y="556260"/>
            <a:ext cx="1901190" cy="84201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9" name="Shape 53"/>
          <p:cNvSpPr/>
          <p:nvPr>
            <p:custDataLst>
              <p:tags r:id="rId13"/>
            </p:custDataLst>
          </p:nvPr>
        </p:nvSpPr>
        <p:spPr>
          <a:xfrm>
            <a:off x="10139426" y="556260"/>
            <a:ext cx="54864" cy="804672"/>
          </a:xfrm>
          <a:prstGeom prst="rect">
            <a:avLst/>
          </a:prstGeom>
          <a:solidFill>
            <a:srgbClr val="6C3483"/>
          </a:solidFill>
          <a:ln w="12700">
            <a:solidFill>
              <a:srgbClr val="00796B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Text 54"/>
          <p:cNvSpPr/>
          <p:nvPr>
            <p:custDataLst>
              <p:tags r:id="rId14"/>
            </p:custDataLst>
          </p:nvPr>
        </p:nvSpPr>
        <p:spPr>
          <a:xfrm>
            <a:off x="10249154" y="611124"/>
            <a:ext cx="108813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同行W27批核</a:t>
            </a:r>
            <a:endParaRPr lang="en-US" sz="800" dirty="0"/>
          </a:p>
        </p:txBody>
      </p:sp>
      <p:sp>
        <p:nvSpPr>
          <p:cNvPr id="61" name="Text 55"/>
          <p:cNvSpPr/>
          <p:nvPr>
            <p:custDataLst>
              <p:tags r:id="rId15"/>
            </p:custDataLst>
          </p:nvPr>
        </p:nvSpPr>
        <p:spPr>
          <a:xfrm>
            <a:off x="10249154" y="784860"/>
            <a:ext cx="108813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13.59M</a:t>
            </a:r>
            <a:endParaRPr lang="en-US" sz="1800" b="1" dirty="0">
              <a:solidFill>
                <a:srgbClr val="6C3483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2" name="Text 56"/>
          <p:cNvSpPr/>
          <p:nvPr>
            <p:custDataLst>
              <p:tags r:id="rId16"/>
            </p:custDataLst>
          </p:nvPr>
        </p:nvSpPr>
        <p:spPr>
          <a:xfrm>
            <a:off x="10249154" y="1095756"/>
            <a:ext cx="108813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34件| 件均40.0W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7939405" y="3824605"/>
            <a:ext cx="4015740" cy="255905"/>
          </a:xfrm>
          <a:prstGeom prst="rect">
            <a:avLst/>
          </a:prstGeom>
          <a:solidFill>
            <a:srgbClr val="1B4F72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7972425" y="3824605"/>
            <a:ext cx="211709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  W27 本周快报  |  同行</a:t>
            </a:r>
            <a:endParaRPr lang="en-US" sz="950" dirty="0"/>
          </a:p>
        </p:txBody>
      </p:sp>
      <p:graphicFrame>
        <p:nvGraphicFramePr>
          <p:cNvPr id="47" name="Table 2"/>
          <p:cNvGraphicFramePr>
            <a:graphicFrameLocks noGrp="1"/>
          </p:cNvGraphicFramePr>
          <p:nvPr/>
        </p:nvGraphicFramePr>
        <p:xfrm>
          <a:off x="7927340" y="4099052"/>
          <a:ext cx="4034790" cy="2685415"/>
        </p:xfrm>
        <a:graphic>
          <a:graphicData uri="http://schemas.openxmlformats.org/drawingml/2006/table">
            <a:tbl>
              <a:tblPr/>
              <a:tblGrid>
                <a:gridCol w="1093470"/>
                <a:gridCol w="995045"/>
                <a:gridCol w="1051560"/>
                <a:gridCol w="894715"/>
              </a:tblGrid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天誉国际(MGA)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5.23M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3.92M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2.18M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万森保险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0.62M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1.54M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2.19M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万城保险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3.42M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天誉国际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1.61M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0.87M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00796B"/>
                          </a:solidFill>
                        </a:rPr>
                        <a:t>0.74M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中天家办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1.92M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0.44M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0.39M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唯思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0.63M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0.24M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1.51M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企鹅保险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1.55M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堡盛国际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0.28M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0.23M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0.55M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裕承资产</a:t>
                      </a:r>
                      <a:endParaRPr lang="zh-CN" alt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0.57M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0.00M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marL="0" algn="l">
                        <a:buClrTx/>
                        <a:buSzTx/>
                        <a:buFontTx/>
                        <a:buNone/>
                      </a:pPr>
                      <a:r>
                        <a:rPr sz="850" b="1">
                          <a:solidFill>
                            <a:srgbClr val="1A1A2E"/>
                          </a:solidFill>
                        </a:rPr>
                        <a:t>紫荆保险</a:t>
                      </a:r>
                      <a:endParaRPr lang="en-US" sz="850" b="1" dirty="0">
                        <a:solidFill>
                          <a:srgbClr val="1A1A2E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B4F72"/>
                          </a:solidFill>
                        </a:rPr>
                        <a:t>0.12M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sz="800">
                          <a:solidFill>
                            <a:srgbClr val="64748B"/>
                          </a:solidFill>
                        </a:rPr>
                        <a:t>0.32M</a:t>
                      </a:r>
                      <a:endParaRPr lang="en-US" alt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850"/>
                        <a:t>合计</a:t>
                      </a:r>
                      <a:endParaRPr lang="zh-CN" altLang="en-US" sz="85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11.37M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7.25M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13.59M</a:t>
                      </a: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233680" y="3408680"/>
            <a:ext cx="11751310" cy="325120"/>
          </a:xfrm>
          <a:prstGeom prst="rect">
            <a:avLst/>
          </a:prstGeom>
          <a:solidFill>
            <a:srgbClr val="F0F7FF"/>
          </a:solidFill>
          <a:ln w="12700">
            <a:solidFill>
              <a:srgbClr val="BFDBF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4" name="Text 58"/>
          <p:cNvSpPr/>
          <p:nvPr/>
        </p:nvSpPr>
        <p:spPr>
          <a:xfrm>
            <a:off x="261620" y="3408680"/>
            <a:ext cx="11292205" cy="2654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What：  W27 同行批核 13.59M、预约 11.37M 均高于签单 7.25M,批核放量、签单短期走弱;管道厚,需盯后续签单与批核延续性。</a:t>
            </a:r>
            <a:endParaRPr lang="en-US" sz="800" dirty="0">
              <a:solidFill>
                <a:srgbClr val="37415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" name="Shape 34"/>
          <p:cNvSpPr/>
          <p:nvPr/>
        </p:nvSpPr>
        <p:spPr>
          <a:xfrm>
            <a:off x="251460" y="1459230"/>
            <a:ext cx="11729085" cy="226695"/>
          </a:xfrm>
          <a:prstGeom prst="rect">
            <a:avLst/>
          </a:prstGeom>
          <a:solidFill>
            <a:srgbClr val="1E5128"/>
          </a:solidFill>
          <a:ln w="12700">
            <a:solidFill>
              <a:srgbClr val="1E512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61315" y="1476375"/>
            <a:ext cx="7435215" cy="186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  W01–W27 同行 预约/签单/批核 趋势（M）</a:t>
            </a:r>
            <a:endParaRPr lang="en-US" sz="95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333375" y="1740535"/>
          <a:ext cx="11569065" cy="15919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1" name="Shape 4"/>
          <p:cNvSpPr/>
          <p:nvPr/>
        </p:nvSpPr>
        <p:spPr>
          <a:xfrm>
            <a:off x="182880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5"/>
          <p:cNvSpPr/>
          <p:nvPr/>
        </p:nvSpPr>
        <p:spPr>
          <a:xfrm>
            <a:off x="182880" y="566928"/>
            <a:ext cx="54864" cy="84124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92608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本月预约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41" name="Text 7"/>
          <p:cNvSpPr/>
          <p:nvPr/>
        </p:nvSpPr>
        <p:spPr>
          <a:xfrm>
            <a:off x="292608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16.95M</a:t>
            </a:r>
            <a:endParaRPr lang="en-US" sz="1800" dirty="0"/>
          </a:p>
        </p:txBody>
      </p:sp>
      <p:sp>
        <p:nvSpPr>
          <p:cNvPr id="42" name="Text 8"/>
          <p:cNvSpPr/>
          <p:nvPr/>
        </p:nvSpPr>
        <p:spPr>
          <a:xfrm>
            <a:off x="292608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50件 | 件均33.9W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43" name="Shape 9"/>
          <p:cNvSpPr/>
          <p:nvPr/>
        </p:nvSpPr>
        <p:spPr>
          <a:xfrm>
            <a:off x="2176272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10"/>
          <p:cNvSpPr/>
          <p:nvPr/>
        </p:nvSpPr>
        <p:spPr>
          <a:xfrm>
            <a:off x="2176272" y="566928"/>
            <a:ext cx="54864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p/>
        </p:txBody>
      </p:sp>
      <p:sp>
        <p:nvSpPr>
          <p:cNvPr id="65" name="Text 11"/>
          <p:cNvSpPr/>
          <p:nvPr/>
        </p:nvSpPr>
        <p:spPr>
          <a:xfrm>
            <a:off x="2286000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本月签单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66" name="Text 12"/>
          <p:cNvSpPr/>
          <p:nvPr/>
        </p:nvSpPr>
        <p:spPr>
          <a:xfrm>
            <a:off x="2286000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12.18M</a:t>
            </a:r>
            <a:endParaRPr lang="en-US" sz="1800" dirty="0"/>
          </a:p>
        </p:txBody>
      </p:sp>
      <p:sp>
        <p:nvSpPr>
          <p:cNvPr id="67" name="Text 13"/>
          <p:cNvSpPr/>
          <p:nvPr/>
        </p:nvSpPr>
        <p:spPr>
          <a:xfrm>
            <a:off x="2286000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42件 | 件均29.0W</a:t>
            </a:r>
            <a:endParaRPr lang="en-US" sz="750" dirty="0"/>
          </a:p>
        </p:txBody>
      </p:sp>
      <p:sp>
        <p:nvSpPr>
          <p:cNvPr id="68" name="Shape 14"/>
          <p:cNvSpPr/>
          <p:nvPr/>
        </p:nvSpPr>
        <p:spPr>
          <a:xfrm>
            <a:off x="4169664" y="566928"/>
            <a:ext cx="1828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9" name="Shape 15"/>
          <p:cNvSpPr/>
          <p:nvPr/>
        </p:nvSpPr>
        <p:spPr>
          <a:xfrm>
            <a:off x="4169664" y="566928"/>
            <a:ext cx="54864" cy="841248"/>
          </a:xfrm>
          <a:prstGeom prst="rect">
            <a:avLst/>
          </a:prstGeom>
          <a:solidFill>
            <a:srgbClr val="C8890A"/>
          </a:solidFill>
          <a:ln w="12700">
            <a:solidFill>
              <a:srgbClr val="C8890A"/>
            </a:solidFill>
            <a:prstDash val="solid"/>
          </a:ln>
        </p:spPr>
        <p:txBody>
          <a:bodyPr/>
          <a:p/>
        </p:txBody>
      </p:sp>
      <p:sp>
        <p:nvSpPr>
          <p:cNvPr id="70" name="Text 16"/>
          <p:cNvSpPr/>
          <p:nvPr/>
        </p:nvSpPr>
        <p:spPr>
          <a:xfrm>
            <a:off x="4279392" y="621792"/>
            <a:ext cx="1682496" cy="2011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同行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本月批核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APE</a:t>
            </a:r>
            <a:endParaRPr lang="en-US" sz="800" dirty="0"/>
          </a:p>
        </p:txBody>
      </p:sp>
      <p:sp>
        <p:nvSpPr>
          <p:cNvPr id="71" name="Text 17"/>
          <p:cNvSpPr/>
          <p:nvPr/>
        </p:nvSpPr>
        <p:spPr>
          <a:xfrm>
            <a:off x="4279392" y="795528"/>
            <a:ext cx="168249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8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21.30M</a:t>
            </a:r>
            <a:endParaRPr lang="en-US" sz="1800" dirty="0"/>
          </a:p>
        </p:txBody>
      </p:sp>
      <p:sp>
        <p:nvSpPr>
          <p:cNvPr id="72" name="Text 18"/>
          <p:cNvSpPr/>
          <p:nvPr/>
        </p:nvSpPr>
        <p:spPr>
          <a:xfrm>
            <a:off x="4279392" y="1106424"/>
            <a:ext cx="1682496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56件 | 件均38.0W</a:t>
            </a:r>
            <a:endParaRPr lang="en-US" sz="750" dirty="0"/>
          </a:p>
        </p:txBody>
      </p:sp>
      <p:sp>
        <p:nvSpPr>
          <p:cNvPr id="2100" name="s2100"/>
          <p:cNvSpPr/>
          <p:nvPr/>
        </p:nvSpPr>
        <p:spPr>
          <a:xfrm>
            <a:off x="260985" y="3824605"/>
            <a:ext cx="7313295" cy="255905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txBody>
          <a:bodyPr/>
          <a:p/>
        </p:txBody>
      </p:sp>
      <p:sp>
        <p:nvSpPr>
          <p:cNvPr id="2101" name="t2101"/>
          <p:cNvSpPr/>
          <p:nvPr/>
        </p:nvSpPr>
        <p:spPr>
          <a:xfrm>
            <a:off x="277495" y="3810635"/>
            <a:ext cx="6905625" cy="269875"/>
          </a:xfrm>
          <a:prstGeom prst="rect">
            <a:avLst/>
          </a:prstGeom>
          <a:noFill/>
        </p:spPr>
        <p:txBody>
          <a:bodyPr wrap="square" lIns="45720" tIns="0" rIns="45720" bIns="0" rtlCol="0" anchor="ctr"/>
          <a:lstStyle/>
          <a:p>
            <a:pPr marL="0" indent="0" algn="l">
              <a:buNone/>
            </a:pPr>
            <a:r>
              <a:rPr lang="en-US" alt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W</a:t>
            </a:r>
            <a:r>
              <a:rPr lang="zh-CN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</a:rPr>
              <a:t>  同行月度分析 — 重点KA 预约/签单/批核 走势 &amp; 月度汇总（APE in M）</a:t>
            </a:r>
            <a:endParaRPr lang="zh-CN" sz="95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</a:endParaRPr>
          </a:p>
        </p:txBody>
      </p:sp>
      <p:graphicFrame>
        <p:nvGraphicFramePr>
          <p:cNvPr id="2109" name="SumTable2109"/>
          <p:cNvGraphicFramePr>
            <a:graphicFrameLocks noGrp="1"/>
          </p:cNvGraphicFramePr>
          <p:nvPr>
            <p:custDataLst>
              <p:tags r:id="rId17"/>
            </p:custDataLst>
          </p:nvPr>
        </p:nvGraphicFramePr>
        <p:xfrm>
          <a:off x="260985" y="4166235"/>
          <a:ext cx="7303770" cy="2948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565"/>
                <a:gridCol w="997585"/>
                <a:gridCol w="1030605"/>
                <a:gridCol w="981075"/>
                <a:gridCol w="967740"/>
                <a:gridCol w="1049020"/>
                <a:gridCol w="1186180"/>
              </a:tblGrid>
              <a:tr h="315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月份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预约件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签单件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批核(M)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900" b="1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批核件</a:t>
                      </a:r>
                      <a:endParaRPr lang="zh-CN" sz="9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  <a:tr h="33401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Jan-26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23.19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16.33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87.76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137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5750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Feb-26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21.10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64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22.80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25.98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0F4F8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Mar-26</a:t>
                      </a:r>
                      <a:endParaRPr 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40.59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44.21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130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19.46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75</a:t>
                      </a:r>
                      <a:endParaRPr 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Apr-26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39.31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97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37.32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90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43.88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May-26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48.68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138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48.69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140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36.08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88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Jun-26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61.52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171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60.25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38.22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118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385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1A3A5C"/>
                          </a:solidFill>
                          <a:latin typeface="Calibri" panose="020F0502020204030204"/>
                        </a:rPr>
                        <a:t>Jul-26</a:t>
                      </a:r>
                      <a:endParaRPr lang="en-US" altLang="zh-CN" sz="1000" b="1" dirty="0">
                        <a:solidFill>
                          <a:srgbClr val="1A3A5C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16.95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12.18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42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21.30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374151"/>
                          </a:solidFill>
                          <a:latin typeface="Calibri" panose="020F0502020204030204"/>
                        </a:rPr>
                        <a:t>56</a:t>
                      </a:r>
                      <a:endParaRPr lang="en-US" altLang="zh-CN" sz="1000" dirty="0">
                        <a:solidFill>
                          <a:srgbClr val="374151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noFill/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合计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251.34</a:t>
                      </a:r>
                      <a:endParaRPr 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714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241.79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693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272.68</a:t>
                      </a:r>
                      <a:endParaRPr lang="en-US" altLang="zh-CN" sz="1000" b="1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sz="100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669</a:t>
                      </a:r>
                      <a:endParaRPr lang="en-US" altLang="zh-CN" sz="100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6200" marR="76200" marT="38100" marB="38100"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  <p:sp>
        <p:nvSpPr>
          <p:cNvPr id="93" name="Shape 6"/>
          <p:cNvSpPr/>
          <p:nvPr/>
        </p:nvSpPr>
        <p:spPr>
          <a:xfrm>
            <a:off x="302260" y="6348095"/>
            <a:ext cx="7228205" cy="385445"/>
          </a:xfrm>
          <a:prstGeom prst="rect">
            <a:avLst/>
          </a:prstGeom>
          <a:solidFill>
            <a:srgbClr val="FEF9C3"/>
          </a:solidFill>
          <a:ln w="12700">
            <a:solidFill>
              <a:srgbClr val="F5A623"/>
            </a:solidFill>
            <a:prstDash val="solid"/>
          </a:ln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4" name="Shape 7"/>
          <p:cNvSpPr/>
          <p:nvPr/>
        </p:nvSpPr>
        <p:spPr>
          <a:xfrm>
            <a:off x="284480" y="6348730"/>
            <a:ext cx="100965" cy="38481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p/>
        </p:txBody>
      </p:sp>
      <p:sp>
        <p:nvSpPr>
          <p:cNvPr id="95" name="Text 8"/>
          <p:cNvSpPr/>
          <p:nvPr/>
        </p:nvSpPr>
        <p:spPr>
          <a:xfrm>
            <a:off x="398145" y="6350000"/>
            <a:ext cx="7019290" cy="3619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45309"/>
                </a:solidFill>
              </a:rPr>
              <a:t>So What：  6 月同行预约 6152 万、签单 6025 万创年内新高（预约环比 +26.4%），批核 3822 万落后于前端，签单积压待批,需紧盯下半年放款节奏。</a:t>
            </a:r>
            <a:endParaRPr lang="en-US" sz="850" b="1" dirty="0">
              <a:solidFill>
                <a:srgbClr val="B4530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Shape 0"/>
          <p:cNvSpPr/>
          <p:nvPr/>
        </p:nvSpPr>
        <p:spPr>
          <a:xfrm>
            <a:off x="0" y="0"/>
            <a:ext cx="12191365" cy="475615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8288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82880" y="528955"/>
            <a:ext cx="76200" cy="7620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29273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altLang="zh-CN" sz="800" dirty="0"/>
              <a:t>BK</a:t>
            </a:r>
            <a:r>
              <a:rPr lang="zh-CN" altLang="en-US" sz="800" dirty="0"/>
              <a:t>批核</a:t>
            </a:r>
            <a:endParaRPr lang="zh-CN" altLang="en-US" sz="800" dirty="0"/>
          </a:p>
        </p:txBody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9273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4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227.6M</a:t>
            </a:r>
            <a:endParaRPr lang="en-US" sz="18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29273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196件 | 达成率113.8%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217614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2176145" y="528955"/>
            <a:ext cx="76200" cy="7620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228600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未批核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228600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25.1M</a:t>
            </a:r>
            <a:endParaRPr lang="en-US" sz="1800" dirty="0"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228600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33件 |件均76.2W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11"/>
            </p:custDataLst>
          </p:nvPr>
        </p:nvSpPr>
        <p:spPr>
          <a:xfrm>
            <a:off x="41694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4169410" y="528955"/>
            <a:ext cx="76200" cy="7620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427926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待签</a:t>
            </a:r>
            <a:endParaRPr lang="zh-CN" altLang="en-US" sz="80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27926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9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27926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616331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6163310" y="528955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62725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预约</a:t>
            </a:r>
            <a:endParaRPr lang="en-US" sz="8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62725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B23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6.24M</a:t>
            </a:r>
            <a:endParaRPr lang="en-US" sz="1800" dirty="0"/>
          </a:p>
        </p:txBody>
      </p:sp>
      <p:sp>
        <p:nvSpPr>
          <p:cNvPr id="25" name="Text 23"/>
          <p:cNvSpPr/>
          <p:nvPr>
            <p:custDataLst>
              <p:tags r:id="rId20"/>
            </p:custDataLst>
          </p:nvPr>
        </p:nvSpPr>
        <p:spPr>
          <a:xfrm>
            <a:off x="62725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10件| 件均62W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8156575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>
            <p:custDataLst>
              <p:tags r:id="rId22"/>
            </p:custDataLst>
          </p:nvPr>
        </p:nvSpPr>
        <p:spPr>
          <a:xfrm>
            <a:off x="8156575" y="528955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8266430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签单</a:t>
            </a:r>
            <a:endParaRPr lang="en-US" sz="8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8266430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27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4.68M</a:t>
            </a:r>
            <a:endParaRPr lang="en-US" sz="1800" dirty="0"/>
          </a:p>
        </p:txBody>
      </p:sp>
      <p:sp>
        <p:nvSpPr>
          <p:cNvPr id="30" name="Text 28"/>
          <p:cNvSpPr/>
          <p:nvPr>
            <p:custDataLst>
              <p:tags r:id="rId25"/>
            </p:custDataLst>
          </p:nvPr>
        </p:nvSpPr>
        <p:spPr>
          <a:xfrm>
            <a:off x="8266430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7件| 件均67W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1" name="Shape 29"/>
          <p:cNvSpPr/>
          <p:nvPr>
            <p:custDataLst>
              <p:tags r:id="rId26"/>
            </p:custDataLst>
          </p:nvPr>
        </p:nvSpPr>
        <p:spPr>
          <a:xfrm>
            <a:off x="10149840" y="528955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>
            <p:custDataLst>
              <p:tags r:id="rId27"/>
            </p:custDataLst>
          </p:nvPr>
        </p:nvSpPr>
        <p:spPr>
          <a:xfrm>
            <a:off x="10149840" y="528955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>
            <p:custDataLst>
              <p:tags r:id="rId28"/>
            </p:custDataLst>
          </p:nvPr>
        </p:nvSpPr>
        <p:spPr>
          <a:xfrm>
            <a:off x="10259695" y="583565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 </a:t>
            </a:r>
            <a:r>
              <a:rPr lang="zh-CN" altLang="en-US" sz="800" dirty="0">
                <a:solidFill>
                  <a:srgbClr val="64748B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  <a:sym typeface="+mn-ea"/>
              </a:rPr>
              <a:t>本月</a:t>
            </a: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批核</a:t>
            </a:r>
            <a:endParaRPr lang="en-US" sz="800" dirty="0"/>
          </a:p>
        </p:txBody>
      </p:sp>
      <p:sp>
        <p:nvSpPr>
          <p:cNvPr id="34" name="Text 32"/>
          <p:cNvSpPr/>
          <p:nvPr>
            <p:custDataLst>
              <p:tags r:id="rId29"/>
            </p:custDataLst>
          </p:nvPr>
        </p:nvSpPr>
        <p:spPr>
          <a:xfrm>
            <a:off x="10259695" y="757555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C348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1.56M</a:t>
            </a:r>
            <a:endParaRPr lang="en-US" sz="1800" dirty="0"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0259695" y="1068070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3件 | 件均52W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1" name="Text 1"/>
          <p:cNvSpPr/>
          <p:nvPr/>
        </p:nvSpPr>
        <p:spPr>
          <a:xfrm>
            <a:off x="228600" y="38100"/>
            <a:ext cx="9601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-120"/>
              </a:rPr>
              <a:t>银行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业绩分析仪表盘 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|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Bank</a:t>
            </a: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View</a:t>
            </a:r>
            <a:endParaRPr lang="en-US" sz="12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10515600" y="1097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CD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内部文件 · 仅供使用</a:t>
            </a:r>
            <a:endParaRPr lang="en-US" sz="900" dirty="0"/>
          </a:p>
        </p:txBody>
      </p:sp>
      <p:sp>
        <p:nvSpPr>
          <p:cNvPr id="2" name="Shape 19"/>
          <p:cNvSpPr/>
          <p:nvPr>
            <p:custDataLst>
              <p:tags r:id="rId31"/>
            </p:custDataLst>
          </p:nvPr>
        </p:nvSpPr>
        <p:spPr>
          <a:xfrm>
            <a:off x="11176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" name="Shape 20"/>
          <p:cNvSpPr/>
          <p:nvPr>
            <p:custDataLst>
              <p:tags r:id="rId32"/>
            </p:custDataLst>
          </p:nvPr>
        </p:nvSpPr>
        <p:spPr>
          <a:xfrm>
            <a:off x="111760" y="1400000"/>
            <a:ext cx="76200" cy="76200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p/>
        </p:txBody>
      </p:sp>
      <p:sp>
        <p:nvSpPr>
          <p:cNvPr id="4" name="Text 21"/>
          <p:cNvSpPr/>
          <p:nvPr>
            <p:custDataLst>
              <p:tags r:id="rId33"/>
            </p:custDataLst>
          </p:nvPr>
        </p:nvSpPr>
        <p:spPr>
          <a:xfrm>
            <a:off x="2209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W27预约</a:t>
            </a:r>
            <a:endParaRPr lang="en-US" sz="800" dirty="0"/>
          </a:p>
        </p:txBody>
      </p:sp>
      <p:sp>
        <p:nvSpPr>
          <p:cNvPr id="5" name="Text 22"/>
          <p:cNvSpPr/>
          <p:nvPr>
            <p:custDataLst>
              <p:tags r:id="rId34"/>
            </p:custDataLst>
          </p:nvPr>
        </p:nvSpPr>
        <p:spPr>
          <a:xfrm>
            <a:off x="2209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9B2335"/>
                </a:solidFill>
                <a:latin typeface="Calibri" panose="020F0502020204030204"/>
              </a:rPr>
              <a:t>5.46M</a:t>
            </a:r>
            <a:endParaRPr lang="en-US" sz="1800" dirty="0"/>
          </a:p>
        </p:txBody>
      </p:sp>
      <p:sp>
        <p:nvSpPr>
          <p:cNvPr id="37" name="Text 23"/>
          <p:cNvSpPr/>
          <p:nvPr>
            <p:custDataLst>
              <p:tags r:id="rId35"/>
            </p:custDataLst>
          </p:nvPr>
        </p:nvSpPr>
        <p:spPr>
          <a:xfrm>
            <a:off x="2209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9件 | 件均60.7W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38" name="Shape 24"/>
          <p:cNvSpPr/>
          <p:nvPr>
            <p:custDataLst>
              <p:tags r:id="rId36"/>
            </p:custDataLst>
          </p:nvPr>
        </p:nvSpPr>
        <p:spPr>
          <a:xfrm>
            <a:off x="2155825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Shape 25"/>
          <p:cNvSpPr/>
          <p:nvPr>
            <p:custDataLst>
              <p:tags r:id="rId37"/>
            </p:custDataLst>
          </p:nvPr>
        </p:nvSpPr>
        <p:spPr>
          <a:xfrm>
            <a:off x="2155825" y="1400000"/>
            <a:ext cx="76200" cy="7620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  <p:txBody>
          <a:bodyPr/>
          <a:p/>
        </p:txBody>
      </p:sp>
      <p:sp>
        <p:nvSpPr>
          <p:cNvPr id="40" name="Text 26"/>
          <p:cNvSpPr/>
          <p:nvPr>
            <p:custDataLst>
              <p:tags r:id="rId38"/>
            </p:custDataLst>
          </p:nvPr>
        </p:nvSpPr>
        <p:spPr>
          <a:xfrm>
            <a:off x="2265680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W27签单</a:t>
            </a:r>
            <a:endParaRPr lang="en-US" sz="800" dirty="0"/>
          </a:p>
        </p:txBody>
      </p:sp>
      <p:sp>
        <p:nvSpPr>
          <p:cNvPr id="41" name="Text 27"/>
          <p:cNvSpPr/>
          <p:nvPr>
            <p:custDataLst>
              <p:tags r:id="rId39"/>
            </p:custDataLst>
          </p:nvPr>
        </p:nvSpPr>
        <p:spPr>
          <a:xfrm>
            <a:off x="2265680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B2737"/>
                </a:solidFill>
                <a:latin typeface="Calibri" panose="020F0502020204030204"/>
              </a:rPr>
              <a:t>2.34M</a:t>
            </a:r>
            <a:endParaRPr lang="en-US" sz="1800" dirty="0"/>
          </a:p>
        </p:txBody>
      </p:sp>
      <p:sp>
        <p:nvSpPr>
          <p:cNvPr id="42" name="Text 28"/>
          <p:cNvSpPr/>
          <p:nvPr>
            <p:custDataLst>
              <p:tags r:id="rId40"/>
            </p:custDataLst>
          </p:nvPr>
        </p:nvSpPr>
        <p:spPr>
          <a:xfrm>
            <a:off x="2265680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3件 | 件均78.0W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3" name="Shape 29"/>
          <p:cNvSpPr/>
          <p:nvPr>
            <p:custDataLst>
              <p:tags r:id="rId41"/>
            </p:custDataLst>
          </p:nvPr>
        </p:nvSpPr>
        <p:spPr>
          <a:xfrm>
            <a:off x="4220210" y="140000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4" name="Shape 30"/>
          <p:cNvSpPr/>
          <p:nvPr>
            <p:custDataLst>
              <p:tags r:id="rId42"/>
            </p:custDataLst>
          </p:nvPr>
        </p:nvSpPr>
        <p:spPr>
          <a:xfrm>
            <a:off x="4220210" y="1400000"/>
            <a:ext cx="76200" cy="762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  <p:txBody>
          <a:bodyPr/>
          <a:p/>
        </p:txBody>
      </p:sp>
      <p:sp>
        <p:nvSpPr>
          <p:cNvPr id="45" name="Text 31"/>
          <p:cNvSpPr/>
          <p:nvPr>
            <p:custDataLst>
              <p:tags r:id="rId43"/>
            </p:custDataLst>
          </p:nvPr>
        </p:nvSpPr>
        <p:spPr>
          <a:xfrm>
            <a:off x="4330065" y="1454610"/>
            <a:ext cx="1682750" cy="1822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>
                <a:solidFill>
                  <a:srgbClr val="64748B"/>
                </a:solidFill>
                <a:latin typeface="Calibri" panose="020F0502020204030204"/>
              </a:rPr>
              <a:t>BK W27批核</a:t>
            </a:r>
            <a:endParaRPr lang="en-US" sz="800" dirty="0"/>
          </a:p>
        </p:txBody>
      </p:sp>
      <p:sp>
        <p:nvSpPr>
          <p:cNvPr id="46" name="Text 32"/>
          <p:cNvSpPr/>
          <p:nvPr>
            <p:custDataLst>
              <p:tags r:id="rId44"/>
            </p:custDataLst>
          </p:nvPr>
        </p:nvSpPr>
        <p:spPr>
          <a:xfrm>
            <a:off x="4330065" y="1628600"/>
            <a:ext cx="1682750" cy="2978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C3483"/>
                </a:solidFill>
                <a:latin typeface="Calibri" panose="020F0502020204030204"/>
              </a:rPr>
              <a:t>1.56M</a:t>
            </a:r>
            <a:endParaRPr lang="en-US" sz="1800" dirty="0"/>
          </a:p>
        </p:txBody>
      </p:sp>
      <p:sp>
        <p:nvSpPr>
          <p:cNvPr id="47" name="Text 33"/>
          <p:cNvSpPr/>
          <p:nvPr>
            <p:custDataLst>
              <p:tags r:id="rId45"/>
            </p:custDataLst>
          </p:nvPr>
        </p:nvSpPr>
        <p:spPr>
          <a:xfrm>
            <a:off x="4330065" y="1939115"/>
            <a:ext cx="1682750" cy="149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750">
                <a:solidFill>
                  <a:srgbClr val="64748B"/>
                </a:solidFill>
                <a:latin typeface="Calibri" panose="020F0502020204030204"/>
              </a:rPr>
              <a:t>3件 | 件均52.0W</a:t>
            </a:r>
            <a:endParaRPr lang="en-US" altLang="zh-CN" sz="750" dirty="0">
              <a:solidFill>
                <a:srgbClr val="64748B"/>
              </a:solidFill>
              <a:latin typeface="Calibri" panose="020F0502020204030204" pitchFamily="34" charset="0"/>
              <a:ea typeface="宋体" panose="02010600030101010101" pitchFamily="2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48" name="Shape 40"/>
          <p:cNvSpPr/>
          <p:nvPr/>
        </p:nvSpPr>
        <p:spPr>
          <a:xfrm>
            <a:off x="57150" y="2328890"/>
            <a:ext cx="6014085" cy="247015"/>
          </a:xfrm>
          <a:prstGeom prst="rect">
            <a:avLst/>
          </a:prstGeom>
          <a:solidFill>
            <a:srgbClr val="1B4F72"/>
          </a:solidFill>
          <a:ln w="12700">
            <a:solidFill>
              <a:srgbClr val="002060"/>
            </a:solidFill>
            <a:prstDash val="solid"/>
          </a:ln>
        </p:spPr>
        <p:txBody>
          <a:bodyPr/>
          <a:p/>
        </p:txBody>
      </p:sp>
      <p:sp>
        <p:nvSpPr>
          <p:cNvPr id="49" name="Text 41"/>
          <p:cNvSpPr/>
          <p:nvPr/>
        </p:nvSpPr>
        <p:spPr>
          <a:xfrm>
            <a:off x="133350" y="2320000"/>
            <a:ext cx="2510155" cy="25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1B4F72"/>
                </a:solidFill>
              </a14:hiddenFill>
            </a:ext>
          </a:ex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 W27 银行 KA 本周业绩详情（M）</a:t>
            </a:r>
            <a:endParaRPr lang="en-US" sz="950" dirty="0"/>
          </a:p>
        </p:txBody>
      </p:sp>
      <p:graphicFrame>
        <p:nvGraphicFramePr>
          <p:cNvPr id="52" name="Table 1"/>
          <p:cNvGraphicFramePr>
            <a:graphicFrameLocks noGrp="1"/>
          </p:cNvGraphicFramePr>
          <p:nvPr>
            <p:custDataLst>
              <p:tags r:id="rId46"/>
            </p:custDataLst>
          </p:nvPr>
        </p:nvGraphicFramePr>
        <p:xfrm>
          <a:off x="59055" y="2621625"/>
          <a:ext cx="6012815" cy="1172845"/>
        </p:xfrm>
        <a:graphic>
          <a:graphicData uri="http://schemas.openxmlformats.org/drawingml/2006/table">
            <a:tbl>
              <a:tblPr/>
              <a:tblGrid>
                <a:gridCol w="927100"/>
                <a:gridCol w="798195"/>
                <a:gridCol w="856615"/>
                <a:gridCol w="791086"/>
                <a:gridCol w="921958"/>
                <a:gridCol w="772160"/>
                <a:gridCol w="945701"/>
              </a:tblGrid>
              <a:tr h="401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本周预约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预约</a:t>
                      </a:r>
                      <a:endParaRPr lang="zh-CN" alt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本周签单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本周批核(M)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本周批核</a:t>
                      </a:r>
                      <a:endParaRPr lang="en-US" sz="900" b="1" dirty="0">
                        <a:solidFill>
                          <a:srgbClr val="FFFFFF"/>
                        </a:solidFill>
                        <a:sym typeface="+mn-ea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(</a:t>
                      </a: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件数</a:t>
                      </a:r>
                      <a:r>
                        <a:rPr lang="en-US" sz="900" b="1" dirty="0">
                          <a:solidFill>
                            <a:srgbClr val="FFFFFF"/>
                          </a:solidFill>
                          <a:sym typeface="+mn-ea"/>
                        </a:rPr>
                        <a:t>)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民生银行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1.56M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0.00M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0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1.56M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平安银行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B4F72"/>
                          </a:solidFill>
                        </a:rPr>
                        <a:t>3.90M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2.34M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>
                          <a:solidFill>
                            <a:srgbClr val="117A65"/>
                          </a:solidFill>
                        </a:rPr>
                        <a:t>3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0.00M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00796B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银行合计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5.46M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2.34M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alt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1.56M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p>
                      <a:pPr marL="0" indent="0" algn="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3" name="Picture 51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00000" y="1400000"/>
            <a:ext cx="5900000" cy="3500000"/>
          </a:xfrm>
          <a:prstGeom prst="rect">
            <a:avLst/>
          </a:prstGeom>
        </p:spPr>
      </p:pic>
      <p:pic>
        <p:nvPicPr>
          <p:cNvPr id="54" name="Picture 52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0000" y="5050000"/>
            <a:ext cx="120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代理人业务分析仪表盘  Agent Business View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288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430000"/>
            <a:ext cx="76200" cy="762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71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1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4F72"/>
                </a:solidFill>
              </a:rPr>
              <a:t>71.8M</a:t>
            </a:r>
            <a:endParaRPr sz="2200" b="1">
              <a:solidFill>
                <a:srgbClr val="1B4F72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271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223件 | 件均32.2W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76145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145" y="430000"/>
            <a:ext cx="76200" cy="762000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5980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代理人业务未批核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285980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17A65"/>
                </a:solidFill>
              </a:rPr>
              <a:t>9.30M</a:t>
            </a:r>
            <a:endParaRPr sz="2200" b="1">
              <a:solidFill>
                <a:srgbClr val="117A65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80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26件 | 件均35.8W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69410" y="430000"/>
            <a:ext cx="18288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9410" y="430000"/>
            <a:ext cx="76200" cy="762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245" y="484610"/>
            <a:ext cx="1682750" cy="1822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4748B"/>
                </a:solidFill>
              </a:rPr>
              <a:t>代理人业务待签</a:t>
            </a:r>
            <a:endParaRPr sz="900" b="0">
              <a:solidFill>
                <a:srgbClr val="64748B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79245" y="658600"/>
            <a:ext cx="1682750" cy="2978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0796B"/>
                </a:solidFill>
              </a:rPr>
              <a:t>6.57M</a:t>
            </a:r>
            <a:endParaRPr sz="2200" b="1">
              <a:solidFill>
                <a:srgbClr val="00796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79245" y="969115"/>
            <a:ext cx="1682750" cy="149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9件 | 件均73.0W</a:t>
            </a:r>
            <a:endParaRPr sz="800" b="0">
              <a:solidFill>
                <a:srgbClr val="64748B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00000" y="1270080"/>
            <a:ext cx="6000000" cy="27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0000" y="1540080"/>
          <a:ext cx="5999997" cy="3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4615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2793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3267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1056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1471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300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694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332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199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66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4615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462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6395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188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860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634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7889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220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53" name="Rectangle 52"/>
          <p:cNvSpPr/>
          <p:nvPr/>
        </p:nvSpPr>
        <p:spPr>
          <a:xfrm>
            <a:off x="100000" y="5100080"/>
            <a:ext cx="6000000" cy="27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0000" y="5130080"/>
            <a:ext cx="5900000" cy="2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KA明细 | 成事家办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100000" y="5370080"/>
          <a:ext cx="5999997" cy="1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333"/>
                <a:gridCol w="666666"/>
                <a:gridCol w="433333"/>
                <a:gridCol w="800000"/>
                <a:gridCol w="433333"/>
                <a:gridCol w="666666"/>
                <a:gridCol w="433333"/>
                <a:gridCol w="800000"/>
                <a:gridCol w="433333"/>
              </a:tblGrid>
              <a:tr h="268571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263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287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101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571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574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788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35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70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38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377920"/>
            <a:ext cx="5832000" cy="3000000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0000" y="3457920"/>
            <a:ext cx="5832000" cy="30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60000" y="3487920"/>
            <a:ext cx="5732000" cy="2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W27 本周快报 | 代理人业务（天领+成事家办）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6280000" y="3767920"/>
          <a:ext cx="5832000" cy="21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11866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天领成都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4.00M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天领重庆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1.87M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0.16M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0.32M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杨帆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0.39M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杨璐熙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0.12M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长沙贴牌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武汉贴牌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合肥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苏州贴牌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丁洁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台州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广西贴牌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刘微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天领深圳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宁波贴牌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厦门贴牌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666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1A2744"/>
                          </a:solidFill>
                        </a:rPr>
                        <a:t>杨洪美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8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11867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6.11M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0.16M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0.83M</a:t>
                      </a:r>
                      <a:endParaRPr sz="8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" y="60000"/>
            <a:ext cx="8000000" cy="2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KA业务分析仪表盘  |ICLUB + 合伙转介 + IFA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92000" y="80000"/>
            <a:ext cx="210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CCCCCC"/>
                </a:solidFill>
              </a:rPr>
              <a:t>内部文件 · 仅供使用</a:t>
            </a:r>
            <a:endParaRPr sz="800">
              <a:solidFill>
                <a:srgbClr val="CCCC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24.6M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34件 | 件均72.4W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060000" y="430000"/>
            <a:ext cx="1900000" cy="800000"/>
          </a:xfrm>
          <a:prstGeom prst="rect">
            <a:avLst/>
          </a:prstGeom>
          <a:noFill/>
          <a:ln w="30000">
            <a:solidFill>
              <a:srgbClr val="1B6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60000" y="430000"/>
            <a:ext cx="30000" cy="8000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未批核APE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1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B6B3A"/>
                </a:solidFill>
              </a:rPr>
              <a:t>4.61M</a:t>
            </a:r>
            <a:endParaRPr sz="2200" b="1">
              <a:solidFill>
                <a:srgbClr val="1B6B3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1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9件 | 件均51.2W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20000" y="430000"/>
            <a:ext cx="1900000" cy="800000"/>
          </a:xfrm>
          <a:prstGeom prst="rect">
            <a:avLst/>
          </a:prstGeom>
          <a:noFill/>
          <a:ln w="300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20000" y="430000"/>
            <a:ext cx="30000" cy="8000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70000" y="4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A2744"/>
                </a:solidFill>
              </a:rPr>
              <a:t>KA业务 待签APE</a:t>
            </a:r>
            <a:endParaRPr sz="900" b="0">
              <a:solidFill>
                <a:srgbClr val="1A274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70000" y="650000"/>
            <a:ext cx="183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8B1A1A"/>
                </a:solidFill>
              </a:rPr>
              <a:t>0.03M</a:t>
            </a:r>
            <a:endParaRPr sz="2200" b="1">
              <a:solidFill>
                <a:srgbClr val="8B1A1A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70000" y="990000"/>
            <a:ext cx="183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55555"/>
                </a:solidFill>
              </a:rPr>
              <a:t>2件 | 件均1.4W</a:t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00" y="1310000"/>
            <a:ext cx="5940000" cy="2600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000" y="134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ICLUB业务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100000" y="1570000"/>
          <a:ext cx="5940000" cy="1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8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1853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180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8000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2040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11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3" name="Rectangle 22"/>
          <p:cNvSpPr/>
          <p:nvPr/>
        </p:nvSpPr>
        <p:spPr>
          <a:xfrm>
            <a:off x="100000" y="2990000"/>
            <a:ext cx="5940000" cy="260000"/>
          </a:xfrm>
          <a:prstGeom prst="rect">
            <a:avLst/>
          </a:prstGeom>
          <a:solidFill>
            <a:srgbClr val="1A5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0000" y="30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合伙转介业务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100000" y="3250000"/>
          <a:ext cx="5940000" cy="3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263333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390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526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79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36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15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50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8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3333"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1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0.0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0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2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4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2744"/>
                          </a:solidFill>
                        </a:rPr>
                        <a:t>3</a:t>
                      </a:r>
                      <a:endParaRPr sz="75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63337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422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461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9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2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886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34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100000" y="6490000"/>
            <a:ext cx="5940000" cy="260000"/>
          </a:xfrm>
          <a:prstGeom prst="rect">
            <a:avLst/>
          </a:prstGeom>
          <a:solidFill>
            <a:srgbClr val="5D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0000" y="6520000"/>
            <a:ext cx="5840000" cy="2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IFA业务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100000" y="6750000"/>
          <a:ext cx="5940000" cy="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000"/>
                <a:gridCol w="660000"/>
                <a:gridCol w="429000"/>
                <a:gridCol w="792000"/>
                <a:gridCol w="429000"/>
                <a:gridCol w="660000"/>
                <a:gridCol w="429000"/>
                <a:gridCol w="792000"/>
                <a:gridCol w="429000"/>
              </a:tblGrid>
              <a:tr h="520000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未批核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待签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合计APE(万)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
件数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0000" y="430000"/>
            <a:ext cx="5832000" cy="30000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80000" y="3550000"/>
            <a:ext cx="5832000" cy="290000"/>
          </a:xfrm>
          <a:prstGeom prst="rect">
            <a:avLst/>
          </a:prstGeom>
          <a:solidFill>
            <a:srgbClr val="4A1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0000" y="3580000"/>
            <a:ext cx="5732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W27 本周快报 | KA业务</a:t>
            </a:r>
            <a:endParaRPr sz="1000" b="1">
              <a:solidFill>
                <a:srgbClr val="FFFFFF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80000" y="3850000"/>
          <a:ext cx="5832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800"/>
                <a:gridCol w="1166400"/>
                <a:gridCol w="1166400"/>
                <a:gridCol w="1166400"/>
              </a:tblGrid>
              <a:tr h="20571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KEY ACCOUNT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预约(M)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签单(M)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批核(M)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总部职能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0.23M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励欧移民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0.03M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德约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迪岸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明德长青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Molly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懿丰家族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新风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保险师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虹霖贸易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荻邦咨询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14">
                <a:tc>
                  <a:txBody>
                    <a:bodyPr wrap="square"/>
                    <a:lstStyle/>
                    <a:p>
                      <a:pPr algn="l"/>
                      <a:r>
                        <a:rPr sz="700" b="0">
                          <a:solidFill>
                            <a:srgbClr val="1A2744"/>
                          </a:solidFill>
                        </a:rPr>
                        <a:t>个人转介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1A2744"/>
                          </a:solidFill>
                        </a:rPr>
                        <a:t>0.00M</a:t>
                      </a:r>
                      <a:endParaRPr sz="700" b="0">
                        <a:solidFill>
                          <a:srgbClr val="1A2744"/>
                        </a:solidFill>
                      </a:endParaRPr>
                    </a:p>
                  </a:txBody>
                  <a:tcPr>
                    <a:solidFill>
                      <a:srgbClr val="F2F7FF"/>
                    </a:solidFill>
                  </a:tcPr>
                </a:tc>
              </a:tr>
              <a:tr h="20571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合计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0.25M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0.23M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0.00M</a:t>
                      </a:r>
                      <a:endParaRPr sz="7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2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3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4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5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6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7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8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9.xml><?xml version="1.0" encoding="utf-8"?>
<p:tagLst xmlns:p="http://schemas.openxmlformats.org/presentationml/2006/main">
  <p:tag name="KSO_DOCER_RESOURCE_TRACE_INFO" val="{&quot;id&quot;:&quot;21573901&quot;,&quot;origin&quot;:0,&quot;type&quot;:&quot;icons&quot;,&quot;user&quot;:&quot;641547233&quot;}"/>
</p:tagLst>
</file>

<file path=ppt/tags/tag1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1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6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7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8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19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0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1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2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3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4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5.xml><?xml version="1.0" encoding="utf-8"?>
<p:tagLst xmlns:p="http://schemas.openxmlformats.org/presentationml/2006/main">
  <p:tag name="KSO_WM_DIAGRAM_VIRTUALLY_FRAME" val="{&quot;height&quot;:616.1499999999999,&quot;left&quot;:10.2,&quot;top&quot;:46.45,&quot;width&quot;:482.2}"/>
</p:tagLst>
</file>

<file path=ppt/tags/tag2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8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29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0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1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2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3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4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5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6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7.xml><?xml version="1.0" encoding="utf-8"?>
<p:tagLst xmlns:p="http://schemas.openxmlformats.org/presentationml/2006/main">
  <p:tag name="KSO_WM_DIAGRAM_VIRTUALLY_FRAME" val="{&quot;height&quot;:69.39000000000001,&quot;left&quot;:7.2,&quot;top&quot;:46.58999999999999,&quot;width&quot;:935.25}"/>
</p:tagLst>
</file>

<file path=ppt/tags/tag3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3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3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4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5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6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7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8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49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0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1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2.xml><?xml version="1.0" encoding="utf-8"?>
<p:tagLst xmlns:p="http://schemas.openxmlformats.org/presentationml/2006/main">
  <p:tag name="KSO_WM_DIAGRAM_VIRTUALLY_FRAME" val="{&quot;height&quot;:67.10000000000001,&quot;left&quot;:16.5,&quot;top&quot;:43.79999999999999,&quot;width&quot;:930.28}"/>
</p:tagLst>
</file>

<file path=ppt/tags/tag53.xml><?xml version="1.0" encoding="utf-8"?>
<p:tagLst xmlns:p="http://schemas.openxmlformats.org/presentationml/2006/main">
  <p:tag name="TABLE_ENDDRAG_ORIGIN_RECT" val="527*165"/>
  <p:tag name="TABLE_ENDDRAG_RECT" val="40*299*527*165"/>
</p:tagLst>
</file>

<file path=ppt/tags/tag5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5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6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7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89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0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1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2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3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4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5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6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7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8.xml><?xml version="1.0" encoding="utf-8"?>
<p:tagLst xmlns:p="http://schemas.openxmlformats.org/presentationml/2006/main">
  <p:tag name="KSO_WM_DIAGRAM_VIRTUALLY_FRAME" val="{&quot;height&quot;:66.24,&quot;left&quot;:14.4,&quot;top&quot;:44.64,&quot;width&quot;:928.8}"/>
</p:tagLst>
</file>

<file path=ppt/tags/tag99.xml><?xml version="1.0" encoding="utf-8"?>
<p:tagLst xmlns:p="http://schemas.openxmlformats.org/presentationml/2006/main">
  <p:tag name="TABLE_ENDDRAG_ORIGIN_RECT" val="473*81"/>
  <p:tag name="TABLE_ENDDRAG_RECT" val="4*396*473*81"/>
</p:tagLst>
</file>

<file path=ppt/tags/tag100.xml><?xml version="1.0" encoding="utf-8"?>
<p:tagLst xmlns:p="http://schemas.openxmlformats.org/presentationml/2006/main">
  <p:tag name="resource_record_key" val="{&quot;10&quot;:[21573901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13066</Words>
  <Application>WPS 演示</Application>
  <PresentationFormat>On-screen Show (16:9)</PresentationFormat>
  <Paragraphs>4772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Calibri</vt:lpstr>
      <vt:lpstr>Calibri</vt:lpstr>
      <vt:lpstr>Calibri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Carrie</cp:lastModifiedBy>
  <cp:revision>67</cp:revision>
  <dcterms:created xsi:type="dcterms:W3CDTF">2026-03-26T15:42:00Z</dcterms:created>
  <dcterms:modified xsi:type="dcterms:W3CDTF">2026-07-10T11:57:42Z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E2BAF4848A5C4625BF70E805C155F5D7_12</vt:lpwstr>
  </property>
  <property fmtid="{D5CDD505-2E9C-101B-9397-08002B2CF9AE}" pid="3" name="KSOProductBuildVer">
    <vt:lpwstr>2052-12.1.0.21915</vt:lpwstr>
  </property>
</Properties>
</file>