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tags" Target="tags/tag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508.11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87.5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15.66</c:v>
                </c:pt>
                <c:pt idx="1">
                  <c:v>0.39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61.13</c:v>
                </c:pt>
                <c:pt idx="14">
                  <c:v>82.15</c:v>
                </c:pt>
                <c:pt idx="15">
                  <c:v>62.1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</c:v>
                </c:pt>
                <c:pt idx="1">
                  <c:v>61.13</c:v>
                </c:pt>
                <c:pt idx="2">
                  <c:v>82.15</c:v>
                </c:pt>
                <c:pt idx="3">
                  <c:v>62.1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</c:v>
                </c:pt>
                <c:pt idx="4">
                  <c:v>56.85</c:v>
                </c:pt>
                <c:pt idx="5">
                  <c:v>48.49</c:v>
                </c:pt>
                <c:pt idx="6">
                  <c:v>29.1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2.6315</c:v>
                </c:pt>
                <c:pt idx="4">
                  <c:v>2.235</c:v>
                </c:pt>
                <c:pt idx="5">
                  <c:v>0.819</c:v>
                </c:pt>
                <c:pt idx="6">
                  <c:v>0.234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1.8935</c:v>
                </c:pt>
                <c:pt idx="4">
                  <c:v>2.973</c:v>
                </c:pt>
                <c:pt idx="5">
                  <c:v>0.819</c:v>
                </c:pt>
                <c:pt idx="6">
                  <c:v>0.234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</c:v>
                </c:pt>
                <c:pt idx="2">
                  <c:v>0.468</c:v>
                </c:pt>
                <c:pt idx="3">
                  <c:v>1.6926</c:v>
                </c:pt>
                <c:pt idx="4">
                  <c:v>2.607</c:v>
                </c:pt>
                <c:pt idx="5">
                  <c:v>0.477</c:v>
                </c:pt>
                <c:pt idx="6">
                  <c:v>0.741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</c:v>
                </c:pt>
                <c:pt idx="3">
                  <c:v>7.332</c:v>
                </c:pt>
                <c:pt idx="4">
                  <c:v>6.864</c:v>
                </c:pt>
                <c:pt idx="5">
                  <c:v>9.2742</c:v>
                </c:pt>
                <c:pt idx="6">
                  <c:v>8.97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</c:v>
                </c:pt>
                <c:pt idx="3">
                  <c:v>8.502</c:v>
                </c:pt>
                <c:pt idx="4">
                  <c:v>6.864</c:v>
                </c:pt>
                <c:pt idx="5">
                  <c:v>10.4442</c:v>
                </c:pt>
                <c:pt idx="6">
                  <c:v>8.97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</c:v>
                </c:pt>
                <c:pt idx="4">
                  <c:v>21.7036</c:v>
                </c:pt>
                <c:pt idx="5">
                  <c:v>6.24</c:v>
                </c:pt>
                <c:pt idx="6">
                  <c:v>1.56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4.9992</c:v>
                </c:pt>
                <c:pt idx="2">
                  <c:v>15.4377</c:v>
                </c:pt>
                <c:pt idx="3">
                  <c:v>23.6274</c:v>
                </c:pt>
                <c:pt idx="4">
                  <c:v>28.1452</c:v>
                </c:pt>
                <c:pt idx="5">
                  <c:v>37.1285</c:v>
                </c:pt>
                <c:pt idx="6">
                  <c:v>24.3459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7.5732</c:v>
                </c:pt>
                <c:pt idx="2">
                  <c:v>15.8277</c:v>
                </c:pt>
                <c:pt idx="3">
                  <c:v>22.9101</c:v>
                </c:pt>
                <c:pt idx="4">
                  <c:v>27.5167</c:v>
                </c:pt>
                <c:pt idx="5">
                  <c:v>34.9346</c:v>
                </c:pt>
                <c:pt idx="6">
                  <c:v>15.8153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5.929</c:v>
                </c:pt>
                <c:pt idx="3">
                  <c:v>15.0442</c:v>
                </c:pt>
                <c:pt idx="4">
                  <c:v>25.229</c:v>
                </c:pt>
                <c:pt idx="5">
                  <c:v>25.7498</c:v>
                </c:pt>
                <c:pt idx="6">
                  <c:v>9.865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</c:v>
                </c:pt>
                <c:pt idx="5">
                  <c:v>23.8791</c:v>
                </c:pt>
                <c:pt idx="6">
                  <c:v>7.0402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</c:v>
                </c:pt>
                <c:pt idx="2">
                  <c:v>0.3355</c:v>
                </c:pt>
                <c:pt idx="3">
                  <c:v>1.755</c:v>
                </c:pt>
                <c:pt idx="4">
                  <c:v>0.5743</c:v>
                </c:pt>
                <c:pt idx="5">
                  <c:v>0</c:v>
                </c:pt>
                <c:pt idx="6">
                  <c:v>0.3239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1.8188</c:v>
                </c:pt>
                <c:pt idx="3">
                  <c:v>4</c:v>
                </c:pt>
                <c:pt idx="4">
                  <c:v>0.0088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</c:v>
                </c:pt>
                <c:pt idx="1">
                  <c:v>12.1092</c:v>
                </c:pt>
                <c:pt idx="2">
                  <c:v>1.8</c:v>
                </c:pt>
                <c:pt idx="3">
                  <c:v>0.0188</c:v>
                </c:pt>
                <c:pt idx="4">
                  <c:v>4.0088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</c:v>
                </c:pt>
                <c:pt idx="1">
                  <c:v>12</c:v>
                </c:pt>
                <c:pt idx="2">
                  <c:v>0.4992</c:v>
                </c:pt>
                <c:pt idx="3">
                  <c:v>0</c:v>
                </c:pt>
                <c:pt idx="4">
                  <c:v>5.8276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227.63</c:v>
                </c:pt>
                <c:pt idx="1">
                  <c:v>151.21</c:v>
                </c:pt>
                <c:pt idx="2">
                  <c:v>129.28</c:v>
                </c:pt>
                <c:pt idx="3">
                  <c:v>64.45</c:v>
                </c:pt>
                <c:pt idx="4">
                  <c:v>20.4</c:v>
                </c:pt>
                <c:pt idx="5">
                  <c:v>7.72</c:v>
                </c:pt>
                <c:pt idx="6">
                  <c:v>4.47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28.62</c:v>
                </c:pt>
                <c:pt idx="1">
                  <c:v>19.21</c:v>
                </c:pt>
                <c:pt idx="2">
                  <c:v>39.68</c:v>
                </c:pt>
                <c:pt idx="3">
                  <c:v>14.51</c:v>
                </c:pt>
                <c:pt idx="4">
                  <c:v>0</c:v>
                </c:pt>
                <c:pt idx="5">
                  <c:v>0.94</c:v>
                </c:pt>
                <c:pt idx="6">
                  <c:v>4.39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2.81</c:v>
                </c:pt>
                <c:pt idx="2">
                  <c:v>12.85</c:v>
                </c:pt>
                <c:pt idx="3">
                  <c:v>0.39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166.77</c:v>
                </c:pt>
                <c:pt idx="2">
                  <c:v>0</c:v>
                </c:pt>
                <c:pt idx="3">
                  <c:v>113.65</c:v>
                </c:pt>
                <c:pt idx="4">
                  <c:v>31.6</c:v>
                </c:pt>
                <c:pt idx="5">
                  <c:v>61.34</c:v>
                </c:pt>
                <c:pt idx="6">
                  <c:v>64.14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118.66</c:v>
                </c:pt>
                <c:pt idx="1">
                  <c:v>39.39</c:v>
                </c:pt>
                <c:pt idx="2">
                  <c:v>26.1</c:v>
                </c:pt>
                <c:pt idx="3">
                  <c:v>13.28</c:v>
                </c:pt>
                <c:pt idx="4">
                  <c:v>12.88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37.33</c:v>
                </c:pt>
                <c:pt idx="1">
                  <c:v>5.77</c:v>
                </c:pt>
                <c:pt idx="2">
                  <c:v>3.02</c:v>
                </c:pt>
                <c:pt idx="3">
                  <c:v>0</c:v>
                </c:pt>
                <c:pt idx="4">
                  <c:v>6.86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12.04</c:v>
                </c:pt>
                <c:pt idx="1">
                  <c:v>1.87</c:v>
                </c:pt>
                <c:pt idx="2">
                  <c:v>0</c:v>
                </c:pt>
                <c:pt idx="3">
                  <c:v>0</c:v>
                </c:pt>
                <c:pt idx="4">
                  <c:v>0.78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8.35</c:v>
                </c:pt>
                <c:pt idx="1">
                  <c:v>12.48</c:v>
                </c:pt>
                <c:pt idx="2">
                  <c:v>18.86</c:v>
                </c:pt>
                <c:pt idx="3">
                  <c:v>19.38</c:v>
                </c:pt>
                <c:pt idx="4">
                  <c:v>25.92</c:v>
                </c:pt>
                <c:pt idx="5">
                  <c:v>27.18</c:v>
                </c:pt>
                <c:pt idx="6">
                  <c:v>27.82</c:v>
                </c:pt>
                <c:pt idx="7">
                  <c:v>34.91</c:v>
                </c:pt>
                <c:pt idx="8">
                  <c:v>39.39</c:v>
                </c:pt>
                <c:pt idx="9">
                  <c:v>42.7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1.27</c:v>
                </c:pt>
                <c:pt idx="1">
                  <c:v>0</c:v>
                </c:pt>
                <c:pt idx="2">
                  <c:v>0.78</c:v>
                </c:pt>
                <c:pt idx="3">
                  <c:v>23.97</c:v>
                </c:pt>
                <c:pt idx="4">
                  <c:v>3.02</c:v>
                </c:pt>
                <c:pt idx="5">
                  <c:v>2.38</c:v>
                </c:pt>
                <c:pt idx="6">
                  <c:v>1.01</c:v>
                </c:pt>
                <c:pt idx="7">
                  <c:v>4.54</c:v>
                </c:pt>
                <c:pt idx="8">
                  <c:v>5.77</c:v>
                </c:pt>
                <c:pt idx="9">
                  <c:v>8.93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0.78</c:v>
                </c:pt>
                <c:pt idx="3">
                  <c:v>9.24</c:v>
                </c:pt>
                <c:pt idx="4">
                  <c:v>0</c:v>
                </c:pt>
                <c:pt idx="5">
                  <c:v>0.28</c:v>
                </c:pt>
                <c:pt idx="6">
                  <c:v>0</c:v>
                </c:pt>
                <c:pt idx="7">
                  <c:v>0.96</c:v>
                </c:pt>
                <c:pt idx="8">
                  <c:v>1.87</c:v>
                </c:pt>
                <c:pt idx="9">
                  <c:v>1.74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5.84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12.91</c:v>
                </c:pt>
                <c:pt idx="12">
                  <c:v>3.12</c:v>
                </c:pt>
                <c:pt idx="13">
                  <c:v>6.85</c:v>
                </c:pt>
                <c:pt idx="14">
                  <c:v>8.65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14.85</c:v>
                </c:pt>
                <c:pt idx="21">
                  <c:v>8.03</c:v>
                </c:pt>
                <c:pt idx="22">
                  <c:v>14.97</c:v>
                </c:pt>
                <c:pt idx="23">
                  <c:v>15.27</c:v>
                </c:pt>
                <c:pt idx="24">
                  <c:v>14.59</c:v>
                </c:pt>
                <c:pt idx="25">
                  <c:v>12.6</c:v>
                </c:pt>
                <c:pt idx="26">
                  <c:v>11.4</c:v>
                </c:pt>
                <c:pt idx="27">
                  <c:v>16.73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4.29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6.11</c:v>
                </c:pt>
                <c:pt idx="13">
                  <c:v>4.97</c:v>
                </c:pt>
                <c:pt idx="14">
                  <c:v>7.99</c:v>
                </c:pt>
                <c:pt idx="15">
                  <c:v>9.4</c:v>
                </c:pt>
                <c:pt idx="16">
                  <c:v>14.75</c:v>
                </c:pt>
                <c:pt idx="17">
                  <c:v>6</c:v>
                </c:pt>
                <c:pt idx="18">
                  <c:v>11.76</c:v>
                </c:pt>
                <c:pt idx="19">
                  <c:v>10.19</c:v>
                </c:pt>
                <c:pt idx="20">
                  <c:v>19.68</c:v>
                </c:pt>
                <c:pt idx="21">
                  <c:v>8.32</c:v>
                </c:pt>
                <c:pt idx="22">
                  <c:v>8.7</c:v>
                </c:pt>
                <c:pt idx="23">
                  <c:v>15.49</c:v>
                </c:pt>
                <c:pt idx="24">
                  <c:v>20.22</c:v>
                </c:pt>
                <c:pt idx="25">
                  <c:v>10.72</c:v>
                </c:pt>
                <c:pt idx="26">
                  <c:v>7.66</c:v>
                </c:pt>
                <c:pt idx="27">
                  <c:v>10.55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15.73</c:v>
                </c:pt>
                <c:pt idx="25">
                  <c:v>9.92</c:v>
                </c:pt>
                <c:pt idx="26">
                  <c:v>15.23</c:v>
                </c:pt>
                <c:pt idx="27">
                  <c:v>6.17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tags" Target="../tags/tag63.xml"/><Relationship Id="rId11" Type="http://schemas.openxmlformats.org/officeDocument/2006/relationships/tags" Target="../tags/tag64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ags" Target="../tags/tag75.xml"/><Relationship Id="rId23" Type="http://schemas.openxmlformats.org/officeDocument/2006/relationships/tags" Target="../tags/tag76.xml"/><Relationship Id="rId24" Type="http://schemas.openxmlformats.org/officeDocument/2006/relationships/tags" Target="../tags/tag77.xml"/><Relationship Id="rId25" Type="http://schemas.openxmlformats.org/officeDocument/2006/relationships/tags" Target="../tags/tag78.xml"/><Relationship Id="rId26" Type="http://schemas.openxmlformats.org/officeDocument/2006/relationships/tags" Target="../tags/tag79.xml"/><Relationship Id="rId27" Type="http://schemas.openxmlformats.org/officeDocument/2006/relationships/tags" Target="../tags/tag80.xml"/><Relationship Id="rId28" Type="http://schemas.openxmlformats.org/officeDocument/2006/relationships/tags" Target="../tags/tag81.xml"/><Relationship Id="rId29" Type="http://schemas.openxmlformats.org/officeDocument/2006/relationships/tags" Target="../tags/tag82.xml"/><Relationship Id="rId30" Type="http://schemas.openxmlformats.org/officeDocument/2006/relationships/tags" Target="../tags/tag83.xml"/><Relationship Id="rId31" Type="http://schemas.openxmlformats.org/officeDocument/2006/relationships/tags" Target="../tags/tag84.xml"/><Relationship Id="rId32" Type="http://schemas.openxmlformats.org/officeDocument/2006/relationships/tags" Target="../tags/tag85.xml"/><Relationship Id="rId33" Type="http://schemas.openxmlformats.org/officeDocument/2006/relationships/tags" Target="../tags/tag86.xml"/><Relationship Id="rId34" Type="http://schemas.openxmlformats.org/officeDocument/2006/relationships/tags" Target="../tags/tag87.xml"/><Relationship Id="rId35" Type="http://schemas.openxmlformats.org/officeDocument/2006/relationships/tags" Target="../tags/tag88.xml"/><Relationship Id="rId36" Type="http://schemas.openxmlformats.org/officeDocument/2006/relationships/tags" Target="../tags/tag89.xml"/><Relationship Id="rId37" Type="http://schemas.openxmlformats.org/officeDocument/2006/relationships/tags" Target="../tags/tag90.xml"/><Relationship Id="rId38" Type="http://schemas.openxmlformats.org/officeDocument/2006/relationships/tags" Target="../tags/tag91.xml"/><Relationship Id="rId39" Type="http://schemas.openxmlformats.org/officeDocument/2006/relationships/tags" Target="../tags/tag92.xml"/><Relationship Id="rId40" Type="http://schemas.openxmlformats.org/officeDocument/2006/relationships/tags" Target="../tags/tag93.xml"/><Relationship Id="rId41" Type="http://schemas.openxmlformats.org/officeDocument/2006/relationships/tags" Target="../tags/tag94.xml"/><Relationship Id="rId42" Type="http://schemas.openxmlformats.org/officeDocument/2006/relationships/tags" Target="../tags/tag95.xml"/><Relationship Id="rId43" Type="http://schemas.openxmlformats.org/officeDocument/2006/relationships/tags" Target="../tags/tag96.xml"/><Relationship Id="rId44" Type="http://schemas.openxmlformats.org/officeDocument/2006/relationships/tags" Target="../tags/tag97.xml"/><Relationship Id="rId45" Type="http://schemas.openxmlformats.org/officeDocument/2006/relationships/tags" Target="../tags/tag98.xml"/><Relationship Id="rId46" Type="http://schemas.openxmlformats.org/officeDocument/2006/relationships/tags" Target="../tags/tag99.xml"/><Relationship Id="rId47" Type="http://schemas.openxmlformats.org/officeDocument/2006/relationships/image" Target="../media/image13.png"/><Relationship Id="rId48" Type="http://schemas.openxmlformats.org/officeDocument/2006/relationships/image" Target="../media/image14.png"/><Relationship Id="rId4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605.2M、达成率 54.4%（较上期 +0.8pct），缺口 508M。6 月预约 84.4M/签单 85.7M 高位，批核 62.1M，7 月已批 32.9M 提速。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107.3M（235 件）+ 待签 16.0M（42 件）=123.4M 在途待转化(占批核约 20%)。管道快速推进至生效可直接拉升达成率约 11pct。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经代批核 508.1M 独占 84.0% 为唯一主力,且握最大在途未批核 87.5M;代理人 72.2M、KA 24.9M 体量小。资源应优先压注经代催核转化,同时定向扩量代理人与 KA。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8569071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13599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8569071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13599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5" name="Text 101"/>
          <p:cNvSpPr/>
          <p:nvPr/>
        </p:nvSpPr>
        <p:spPr>
          <a:xfrm>
            <a:off x="8569071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13599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2" name="Text 108"/>
          <p:cNvSpPr/>
          <p:nvPr/>
        </p:nvSpPr>
        <p:spPr>
          <a:xfrm>
            <a:off x="8569071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13599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8" name="Text 114"/>
          <p:cNvSpPr/>
          <p:nvPr/>
        </p:nvSpPr>
        <p:spPr>
          <a:xfrm>
            <a:off x="8569071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13599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5" name="Text 121"/>
          <p:cNvSpPr/>
          <p:nvPr/>
        </p:nvSpPr>
        <p:spPr>
          <a:xfrm>
            <a:off x="8569071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13599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569071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13599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月批核峰值 143.7M 为全年最高，此后回落至 6 月 62.1M；预约/签单上半年维持 80–86M 高位。剩余目标 508M，需后续月均 84.6M 方可达成年度 1113M。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9643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9643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9643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9643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9643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9643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9643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10210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10210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10210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10210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10210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10210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10210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10777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10777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10777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10777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10777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10777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10777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134436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134436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134436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134436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134436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134436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134436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6 月预约 84.4M（环比 +3.0%）、签单 85.7M（-0.5%）前端走强，批核 62.1M（-14.8%）回落；累计达成率升至 54.4%（较上期 +0.8pct），后端放款仍是瓶颈。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1–6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54.4%），距全年目标 1113M 还差 508M，需月均 84.6M。批核节奏放缓，达标压力集中下半年。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  <a:endParaRPr lang="zh-CN" sz="1000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永明累计批核 511.6M、达成率 52.4%（较上期 +0.7pct）,缺口 464M。TOP10 产品签单 130.8M/163 件,卓金保险计划II 以 27.2M/45 件领跑(件均60.4万)。大单储蓄险为基本盘,需保头部供给。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19214" y="2030620"/>
            <a:ext cx="518487" cy="518487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2564106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113.8% 唯一超额;同行经代 80.8%（较上期 +1.8pct）势头最强、永明经代 44.5% 回升;天领 33.4%(批核64.5M)仍为最大战略风险;IFA/合伙/成事≤11%。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605.2M+在途 123.4M=728.5M,距目标 1113M 仍差 384M。BK 批核最大 227.6M,永明经代/同行经代次之;缺口主压永明经代与天领,靠放量+在途填补。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72819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47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4486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61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937481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−16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61"/>
            <a:ext cx="238760" cy="140602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399618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−129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412840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89960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648555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425675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751399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528519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723164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500284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同行经代 6 月预约 37.1M/签单 34.9M 跃居各线首位；BK 批核由 2 月峰 93.9M 落至 6 月 6.2M。各线节奏分化，需差异管理。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181.8M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129.3▌39.7▌12.8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同行经代未批绝对额最大(39.7M/22%)催核优先;BK 28.6M、天领 14.5M 次之;合伙转介占比50%但仅4.4M。按未批规模推进。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728.5M:已批 605.2M(83.1%)、未批 107.3M(14.7%)、待签 16.0M(2.2%)。在途 123.4M 转化可推高达成约 11pct。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批核 227.6M/目标 200M=113.8% 超额。永明经代目标最大(340M)批 151.2M、缺口 189M 最大;天领 64.5/193M、同行经代 129.3/160M 亦缺口显著,是冲刺重点。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全流程:预约 440.9M→签单 425.8M→递交 424.6M→批核 602.0M。批核高于预约含跨周积压释放;预约→签单留存约 97% 高效,前端获客是天花板,需扩预约入口。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周度脉冲明显:批核 W08 峰 67.0M 为存量集中放款,签单 W21 峰 32.8M、预约 W05 峰 28.2M,W07 普遍低谷。四阶段节奏错位,需平滑执行。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20.3M/51件、签单 21.0M/43件、批核 6.9M/29件。在途未批 107.3M/235件为后续批核核心储量。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473.2M，占全业务 78.2%，高度集中。民生银行 187.5M/172 件居首，是最核心单一客户，亦是最大集中风险点。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整体平均 30.2 天、P90 72.0 天,SLA 达标率 88.9%。BK 件均 116万但平均 71.8 天/P90 145 天、达标率仅 47.4%,唯一超 SLA,大额件审核慢;天领 19.7 天最优。&gt;90天积压 84 件占 20.9% APE,需专项提速。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预约累计 440.9M/1114件,同行经代领跑 139.9M/398件(占32%),永明经代次之。W05 单周 28.2M 为年内峰值。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签单累计 425.8M/1077件,同行经代领跑 127.2M/367件(占30%),永明经代次之。W21 单周 32.8M 为年内峰值。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批核累计 602.0M/1156件,BK 领跑 224.5M/195件(37%),永明经代次之。W08 峰 67.0M 为年内最高。</a:t>
            </a:r>
            <a:endParaRPr lang="en-US" sz="55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6" name="TextBox 965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67" name="Rectangle 966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TextBox 987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89" name="Rectangle 988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5" name="Rectangle 1034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52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520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363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18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61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5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812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511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767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74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61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77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689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879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0" name="TextBox 1079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1" name="Rectangle 1080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6" name="TextBox 1125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27" name="Rectangle 1126"/>
          <p:cNvSpPr/>
          <p:nvPr/>
        </p:nvSpPr>
        <p:spPr>
          <a:xfrm>
            <a:off x="868880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86288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86288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3994121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98812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398812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TextBox 1144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46" name="Rectangle 1145"/>
          <p:cNvSpPr/>
          <p:nvPr/>
        </p:nvSpPr>
        <p:spPr>
          <a:xfrm>
            <a:off x="1910627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1904627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1904627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9" name="Rectangle 1148"/>
          <p:cNvSpPr/>
          <p:nvPr/>
        </p:nvSpPr>
        <p:spPr>
          <a:xfrm>
            <a:off x="2605125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599125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2599125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2" name="TextBox 1151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3" name="Rectangle 1152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5" name="TextBox 1154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6" name="Rectangle 1155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1" name="TextBox 1200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2" name="TextBox 1201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16" name="Rectangle 1215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19" name="Rectangle 1218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61" name="TextBox 1260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2" name="Rectangle 1261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5" name="Rectangle 1294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7" name="TextBox 1296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8" name="Rectangle 1297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02" name="Rectangle 1301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8" name="Rectangle 1337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1" name="Rectangle 1340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4" name="Rectangle 1343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48" name="Rectangle 1347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30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5552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462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9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356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64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593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550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460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894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866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4" name="Rectangle 1383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74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7" name="Rectangle 1386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56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0" name="Rectangle 1389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631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94" name="Rectangle 1393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0" name="Rectangle 1429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2" name="TextBox 1431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3" name="Rectangle 143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5" name="TextBox 143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6" name="Rectangle 143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8" name="TextBox 143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40" name="Rectangle 1439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9974297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968297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9968297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Rectangle 1457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1" name="Rectangle 1460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65" name="Rectangle 1464"/>
          <p:cNvSpPr/>
          <p:nvPr/>
        </p:nvSpPr>
        <p:spPr>
          <a:xfrm>
            <a:off x="7543554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7537554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7" name="TextBox 1466"/>
          <p:cNvSpPr txBox="1"/>
          <p:nvPr/>
        </p:nvSpPr>
        <p:spPr>
          <a:xfrm>
            <a:off x="7537554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68" name="Rectangle 1467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0" name="TextBox 1469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1" name="Rectangle 1470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3" name="TextBox 1472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4" name="TextBox 1473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75" name="Rectangle 1474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32.8M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4" name="Rectangle 1513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7" name="Rectangle 1516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0" name="Rectangle 151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3" name="TextBox 152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4" name="TextBox 152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9" name="TextBox 152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3" name="TextBox 153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W28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38" name="Rectangle 1537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Rectangle 1573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7" name="Rectangle 1576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9" name="TextBox 1578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0" name="Rectangle 1579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2" name="TextBox 1581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3" name="TextBox 1582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84" name="Rectangle 1583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6" name="Rectangle 1595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8" name="TextBox 1597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9" name="Rectangle 1598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2" name="Rectangle 1601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4" name="TextBox 1603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5" name="Rectangle 1604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7" name="TextBox 1606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Rectangle 1607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1" name="Rectangle 1610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4" name="Rectangle 1613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TextBox 1616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18" name="Rectangle 1617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9" name="Rectangle 1638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1" name="TextBox 1640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2" name="Rectangle 1641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4" name="TextBox 1643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5" name="Rectangle 1644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7" name="TextBox 1646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8" name="Rectangle 1647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0" name="TextBox 1649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1" name="Rectangle 1650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4" name="Rectangle 1653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6" name="TextBox 1655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7" name="Rectangle 1656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9" name="TextBox 1658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61" name="Rectangle 1660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345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3" name="TextBox 1662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4" name="Rectangle 1663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35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5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52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860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79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67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5" name="Rectangle 1684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455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7" name="TextBox 1686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8" name="Rectangle 1687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568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0" name="TextBox 1689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1" name="Rectangle 1690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411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3" name="TextBox 1692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4" name="Rectangle 1693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6" name="TextBox 1695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7" name="Rectangle 1696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499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9" name="TextBox 1698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0" name="Rectangle 1699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5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2" name="TextBox 1701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3" name="Rectangle 1702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372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5" name="TextBox 1704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6" name="TextBox 1705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07" name="Rectangle 1706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09" name="TextBox 1708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0" name="Rectangle 1709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Rectangle 1730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4" name="Rectangle 1733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7" name="Rectangle 1736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9" name="TextBox 1738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0" name="Rectangle 1739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3" name="Rectangle 1742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6" name="Rectangle 1745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49" name="Rectangle 1748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2" name="TextBox 1751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53" name="Rectangle 1752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5" name="TextBox 1754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56" name="Rectangle 1755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9" name="Rectangle 1758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2" name="Rectangle 1761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5" name="Rectangle 1764"/>
          <p:cNvSpPr/>
          <p:nvPr/>
        </p:nvSpPr>
        <p:spPr>
          <a:xfrm>
            <a:off x="3299623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3293623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3293623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8" name="Rectangle 1767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1" name="Rectangle 1770"/>
          <p:cNvSpPr/>
          <p:nvPr/>
        </p:nvSpPr>
        <p:spPr>
          <a:xfrm>
            <a:off x="5730366" y="5436112"/>
            <a:ext cx="335249" cy="251296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5724366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5724366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4" name="TextBox 177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75" name="Rectangle 1774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7" name="TextBox 1776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78" name="Rectangle 1777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1" name="Rectangle 1780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3" name="TextBox 1782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4" name="TextBox 178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85" name="Rectangle 178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87" name="TextBox 178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88" name="Rectangle 178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0" name="TextBox 178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1" name="Rectangle 179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0" name="Rectangle 179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3" name="Rectangle 180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6" name="Rectangle 180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8" name="TextBox 180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9" name="Rectangle 180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2" name="Rectangle 181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5" name="Rectangle 181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8" name="Rectangle 181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1" name="Rectangle 182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4" name="Rectangle 182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17.6M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7" name="Rectangle 182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9" name="TextBox 182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姜通批核 118.7M/328件、战略合作 39.4M/119件,合计占同行批核 74.5%。姜通件均≈36万为大单驱动,战略合作走量为流量驱动。头部高度集中,需差异化对接与风险分散。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 批核 13.3M/批核率 100% 件质量最高;姜通在途未批核 37.3M、批核率 76% 稳中向好;白博文未批 6.9M 待跟。头部推荐人质量分化,持续催核提速。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159件  |  件均37.0万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38件  |  件均41.2万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899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8.93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280.49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58.89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159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15.66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38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355.03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896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16.73M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43件| 件均38.9W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29件| 件均36.4W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6.17M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23件| 件均26.8W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8.54M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5.01M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0.45M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2.46M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2.40M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1.90M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0.70M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0.32M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1.03M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1.31M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0.78M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0.29M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0.96M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0.55M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16.73M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6.17M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同行预约 16.73M 高于签单 10.55M、批核 6.17M,前端回补、批核清淡;需盯后续周次签单与批核能否跟上。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327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21.06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40.20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43.43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39.30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37.71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265.14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753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249.79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717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280.49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6 月同行预约 6009 万、签单 5881 万高位（环比 +25%），批核 3822 万落后于前端，签单积压待批,需紧盯下半年放款节奏。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2.73M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4件 | 件均68.2W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4.29M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7件 | 件均61.3W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W28批核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0.00M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0件 | 件均0W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72.2M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225件 | 件均32.1W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15.4M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31件 | 件均49.8W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0.39M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4件 | 件均9.8W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000" y="129040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132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天领业务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56040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2828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446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3313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6445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191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1451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7936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223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12040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515040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39040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263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772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866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38808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46808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49808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77808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4.00M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0.86M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1.95M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0.35M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0.86M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6.18M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0.51M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37件 | 件均67.2W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4.39M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8件 | 件均54.9W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0.00M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0件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447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439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W28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0.02M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0.25M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13074</Words>
  <Application>WPS 演示</Application>
  <PresentationFormat>On-screen Show (16:9)</PresentationFormat>
  <Paragraphs>4780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67</cp:revision>
  <dcterms:created xsi:type="dcterms:W3CDTF">2026-03-26T15:42:00Z</dcterms:created>
  <dcterms:modified xsi:type="dcterms:W3CDTF">2026-07-19T04:20:49Z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2052-12.1.0.21915</vt:lpwstr>
  </property>
</Properties>
</file>