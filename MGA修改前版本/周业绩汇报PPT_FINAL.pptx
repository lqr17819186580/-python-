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9"/>
    <p:sldId id="277" r:id="rId20"/>
    <p:sldId id="278" r:id="rId21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10.64</c:v>
                </c:pt>
                <c:pt idx="1">
                  <c:v>6.65</c:v>
                </c:pt>
                <c:pt idx="2">
                  <c:v>0.03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0.00</c:v>
                </c:pt>
                <c:pt idx="13">
                  <c:v>0.00</c:v>
                </c:pt>
                <c:pt idx="14">
                  <c:v>0.00</c:v>
                </c:pt>
                <c:pt idx="15">
                  <c:v>0.00</c:v>
                </c:pt>
                <c:pt idx="16">
                  <c:v>0.00</c:v>
                </c:pt>
                <c:pt idx="17">
                  <c:v>0.47</c:v>
                </c:pt>
                <c:pt idx="18">
                  <c:v>22.67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0.00</c:v>
                </c:pt>
                <c:pt idx="13">
                  <c:v>0.00</c:v>
                </c:pt>
                <c:pt idx="14">
                  <c:v>0.00</c:v>
                </c:pt>
                <c:pt idx="15">
                  <c:v>0.00</c:v>
                </c:pt>
                <c:pt idx="16">
                  <c:v>0.00</c:v>
                </c:pt>
                <c:pt idx="17">
                  <c:v>0.00</c:v>
                </c:pt>
                <c:pt idx="18">
                  <c:v>23.14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0.00</c:v>
                </c:pt>
                <c:pt idx="13">
                  <c:v>0.00</c:v>
                </c:pt>
                <c:pt idx="14">
                  <c:v>0.00</c:v>
                </c:pt>
                <c:pt idx="15">
                  <c:v>0.00</c:v>
                </c:pt>
                <c:pt idx="16">
                  <c:v>0.00</c:v>
                </c:pt>
                <c:pt idx="17">
                  <c:v>0.00</c:v>
                </c:pt>
                <c:pt idx="18">
                  <c:v>0.00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0.00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132件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110件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216件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173件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223件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0.5M / 231件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22.7M / 124件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0.47</c:v>
                </c:pt>
                <c:pt idx="6">
                  <c:v>22.67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114件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121件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212件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0.0M / 162件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225件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239件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23.1M / 99件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23.14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203件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180件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143件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0.0M / 192件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163件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172件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0.0M / 104件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0.00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0.47</c:v>
                </c:pt>
                <c:pt idx="6">
                  <c:v>12.82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13.29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0.00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0.4680</c:v>
                </c:pt>
                <c:pt idx="6">
                  <c:v>5.9500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6.4180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5.0700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5.0700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1.5210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1.5210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4.0472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4.0472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0.0278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0.0278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17.32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5.0700</c:v>
                </c:pt>
                <c:pt idx="1">
                  <c:v>4.0500</c:v>
                </c:pt>
                <c:pt idx="2">
                  <c:v>1.5200</c:v>
                </c:pt>
                <c:pt idx="3">
                  <c:v>6.4200</c:v>
                </c:pt>
                <c:pt idx="4">
                  <c:v>0.0000</c:v>
                </c:pt>
                <c:pt idx="5">
                  <c:v>0.2300</c:v>
                </c:pt>
                <c:pt idx="6">
                  <c:v>0.0300</c:v>
                </c:pt>
                <c:pt idx="7">
                  <c:v>0.0000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0.0000</c:v>
                </c:pt>
                <c:pt idx="3">
                  <c:v>0.0000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194.9300</c:v>
                </c:pt>
                <c:pt idx="1">
                  <c:v>335.9500</c:v>
                </c:pt>
                <c:pt idx="2">
                  <c:v>158.4800</c:v>
                </c:pt>
                <c:pt idx="3">
                  <c:v>186.5800</c:v>
                </c:pt>
                <c:pt idx="4">
                  <c:v>52.0000</c:v>
                </c:pt>
                <c:pt idx="5">
                  <c:v>69.7700</c:v>
                </c:pt>
                <c:pt idx="6">
                  <c:v>72.9700</c:v>
                </c:pt>
                <c:pt idx="7">
                  <c:v>25.0000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2.61</c:v>
                </c:pt>
                <c:pt idx="26">
                  <c:v>12.32</c:v>
                </c:pt>
                <c:pt idx="27">
                  <c:v>8.21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2.12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0.43</c:v>
                </c:pt>
                <c:pt idx="27">
                  <c:v>11.65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战略合作</c:v>
                </c:pt>
                <c:pt idx="1">
                  <c:v>Mark</c:v>
                </c:pt>
                <c:pt idx="2">
                  <c:v>姜通</c:v>
                </c:pt>
                <c:pt idx="3">
                  <c:v>高瑶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战略合作</c:v>
                </c:pt>
                <c:pt idx="1">
                  <c:v>Mark</c:v>
                </c:pt>
                <c:pt idx="2">
                  <c:v>姜通</c:v>
                </c:pt>
                <c:pt idx="3">
                  <c:v>高瑶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</c:v>
                </c:pt>
                <c:pt idx="1">
                  <c:v>0.0</c:v>
                </c:pt>
                <c:pt idx="2">
                  <c:v>7.1</c:v>
                </c:pt>
                <c:pt idx="3">
                  <c:v>0.0</c:v>
                </c:pt>
                <c:pt idx="4">
                  <c:v>3.47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战略合作</c:v>
                </c:pt>
                <c:pt idx="1">
                  <c:v>Mark</c:v>
                </c:pt>
                <c:pt idx="2">
                  <c:v>姜通</c:v>
                </c:pt>
                <c:pt idx="3">
                  <c:v>高瑶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唯思</c:v>
                </c:pt>
                <c:pt idx="1">
                  <c:v>卓樾会</c:v>
                </c:pt>
                <c:pt idx="2">
                  <c:v>动力势能</c:v>
                </c:pt>
                <c:pt idx="3">
                  <c:v>利泰丰</c:v>
                </c:pt>
                <c:pt idx="4">
                  <c:v>共享经纪</c:v>
                </c:pt>
                <c:pt idx="5">
                  <c:v>众安国际</c:v>
                </c:pt>
                <c:pt idx="6">
                  <c:v>企鹅保险</c:v>
                </c:pt>
                <c:pt idx="7">
                  <c:v>中天家办</c:v>
                </c:pt>
                <c:pt idx="8">
                  <c:v>万森保险</c:v>
                </c:pt>
                <c:pt idx="9">
                  <c:v>万城保险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唯思</c:v>
                </c:pt>
                <c:pt idx="1">
                  <c:v>卓樾会</c:v>
                </c:pt>
                <c:pt idx="2">
                  <c:v>动力势能</c:v>
                </c:pt>
                <c:pt idx="3">
                  <c:v>利泰丰</c:v>
                </c:pt>
                <c:pt idx="4">
                  <c:v>共享经纪</c:v>
                </c:pt>
                <c:pt idx="5">
                  <c:v>众安国际</c:v>
                </c:pt>
                <c:pt idx="6">
                  <c:v>企鹅保险</c:v>
                </c:pt>
                <c:pt idx="7">
                  <c:v>中天家办</c:v>
                </c:pt>
                <c:pt idx="8">
                  <c:v>万森保险</c:v>
                </c:pt>
                <c:pt idx="9">
                  <c:v>万城保险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0.23</c:v>
                </c:pt>
                <c:pt idx="7">
                  <c:v>2.42</c:v>
                </c:pt>
                <c:pt idx="8">
                  <c:v>0.0</c:v>
                </c:pt>
                <c:pt idx="9">
                  <c:v>0.23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唯思</c:v>
                </c:pt>
                <c:pt idx="1">
                  <c:v>卓樾会</c:v>
                </c:pt>
                <c:pt idx="2">
                  <c:v>动力势能</c:v>
                </c:pt>
                <c:pt idx="3">
                  <c:v>利泰丰</c:v>
                </c:pt>
                <c:pt idx="4">
                  <c:v>共享经纪</c:v>
                </c:pt>
                <c:pt idx="5">
                  <c:v>众安国际</c:v>
                </c:pt>
                <c:pt idx="6">
                  <c:v>企鹅保险</c:v>
                </c:pt>
                <c:pt idx="7">
                  <c:v>中天家办</c:v>
                </c:pt>
                <c:pt idx="8">
                  <c:v>万森保险</c:v>
                </c:pt>
                <c:pt idx="9">
                  <c:v>万城保险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2.83</c:v>
                </c:pt>
                <c:pt idx="27">
                  <c:v>2.73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0.02</c:v>
                </c:pt>
                <c:pt idx="27">
                  <c:v>5.54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0.78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0.78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1.79M/3件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4.29</c:v>
                </c:pt>
                <c:pt idx="1">
                  <c:v>0.78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0.0</c:v>
                </c:pt>
                <c:pt idx="1">
                  <c:v>200.0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tags" Target="../tags/tag66.xml"/><Relationship Id="rId15" Type="http://schemas.openxmlformats.org/officeDocument/2006/relationships/tags" Target="../tags/tag67.xml"/><Relationship Id="rId16" Type="http://schemas.openxmlformats.org/officeDocument/2006/relationships/tags" Target="../tags/tag68.xml"/><Relationship Id="rId17" Type="http://schemas.openxmlformats.org/officeDocument/2006/relationships/tags" Target="../tags/tag69.xml"/><Relationship Id="rId18" Type="http://schemas.openxmlformats.org/officeDocument/2006/relationships/tags" Target="../tags/tag70.xml"/><Relationship Id="rId19" Type="http://schemas.openxmlformats.org/officeDocument/2006/relationships/tags" Target="../tags/tag71.xml"/><Relationship Id="rId20" Type="http://schemas.openxmlformats.org/officeDocument/2006/relationships/tags" Target="../tags/tag72.xml"/><Relationship Id="rId21" Type="http://schemas.openxmlformats.org/officeDocument/2006/relationships/tags" Target="../tags/tag73.xml"/><Relationship Id="rId22" Type="http://schemas.openxmlformats.org/officeDocument/2006/relationships/tags" Target="../tags/tag74.xml"/><Relationship Id="rId23" Type="http://schemas.openxmlformats.org/officeDocument/2006/relationships/tags" Target="../tags/tag75.xml"/><Relationship Id="rId24" Type="http://schemas.openxmlformats.org/officeDocument/2006/relationships/tags" Target="../tags/tag76.xml"/><Relationship Id="rId25" Type="http://schemas.openxmlformats.org/officeDocument/2006/relationships/tags" Target="../tags/tag77.xml"/><Relationship Id="rId26" Type="http://schemas.openxmlformats.org/officeDocument/2006/relationships/tags" Target="../tags/tag78.xml"/><Relationship Id="rId27" Type="http://schemas.openxmlformats.org/officeDocument/2006/relationships/tags" Target="../tags/tag79.xml"/><Relationship Id="rId28" Type="http://schemas.openxmlformats.org/officeDocument/2006/relationships/tags" Target="../tags/tag80.xml"/><Relationship Id="rId29" Type="http://schemas.openxmlformats.org/officeDocument/2006/relationships/tags" Target="../tags/tag81.xml"/><Relationship Id="rId30" Type="http://schemas.openxmlformats.org/officeDocument/2006/relationships/tags" Target="../tags/tag82.xml"/><Relationship Id="rId31" Type="http://schemas.openxmlformats.org/officeDocument/2006/relationships/tags" Target="../tags/tag83.xml"/><Relationship Id="rId32" Type="http://schemas.openxmlformats.org/officeDocument/2006/relationships/chart" Target="../charts/chart21.xml"/><Relationship Id="rId33" Type="http://schemas.openxmlformats.org/officeDocument/2006/relationships/chart" Target="../charts/chart22.xml"/><Relationship Id="rId34" Type="http://schemas.openxmlformats.org/officeDocument/2006/relationships/chart" Target="../charts/chart23.xml"/><Relationship Id="rId35" Type="http://schemas.openxmlformats.org/officeDocument/2006/relationships/tags" Target="../tags/tag84.xml"/><Relationship Id="rId36" Type="http://schemas.openxmlformats.org/officeDocument/2006/relationships/chart" Target="../charts/chart24.xml"/><Relationship Id="rId37" Type="http://schemas.openxmlformats.org/officeDocument/2006/relationships/chart" Target="../charts/chart25.xml"/><Relationship Id="rId38" Type="http://schemas.openxmlformats.org/officeDocument/2006/relationships/tags" Target="../tags/tag85.xml"/><Relationship Id="rId39" Type="http://schemas.openxmlformats.org/officeDocument/2006/relationships/tags" Target="../tags/tag86.xml"/><Relationship Id="rId40" Type="http://schemas.openxmlformats.org/officeDocument/2006/relationships/tags" Target="../tags/tag87.xml"/><Relationship Id="rId41" Type="http://schemas.openxmlformats.org/officeDocument/2006/relationships/tags" Target="../tags/tag88.xml"/><Relationship Id="rId42" Type="http://schemas.openxmlformats.org/officeDocument/2006/relationships/tags" Target="../tags/tag89.xml"/><Relationship Id="rId43" Type="http://schemas.openxmlformats.org/officeDocument/2006/relationships/tags" Target="../tags/tag90.xml"/><Relationship Id="rId44" Type="http://schemas.openxmlformats.org/officeDocument/2006/relationships/tags" Target="../tags/tag91.xml"/><Relationship Id="rId45" Type="http://schemas.openxmlformats.org/officeDocument/2006/relationships/tags" Target="../tags/tag92.xml"/><Relationship Id="rId46" Type="http://schemas.openxmlformats.org/officeDocument/2006/relationships/tags" Target="../tags/tag93.xml"/><Relationship Id="rId47" Type="http://schemas.openxmlformats.org/officeDocument/2006/relationships/tags" Target="../tags/tag94.xml"/><Relationship Id="rId48" Type="http://schemas.openxmlformats.org/officeDocument/2006/relationships/tags" Target="../tags/tag95.xml"/><Relationship Id="rId49" Type="http://schemas.openxmlformats.org/officeDocument/2006/relationships/tags" Target="../tags/tag96.xml"/><Relationship Id="rId50" Type="http://schemas.openxmlformats.org/officeDocument/2006/relationships/tags" Target="../tags/tag97.xml"/><Relationship Id="rId51" Type="http://schemas.openxmlformats.org/officeDocument/2006/relationships/tags" Target="../tags/tag98.xml"/><Relationship Id="rId52" Type="http://schemas.openxmlformats.org/officeDocument/2006/relationships/tags" Target="../tags/tag99.xml"/><Relationship Id="rId53" Type="http://schemas.openxmlformats.org/officeDocument/2006/relationships/tags" Target="../tags/tag100.xml"/><Relationship Id="rId54" Type="http://schemas.openxmlformats.org/officeDocument/2006/relationships/tags" Target="../tags/tag101.xml"/><Relationship Id="rId55" Type="http://schemas.openxmlformats.org/officeDocument/2006/relationships/tags" Target="../tags/tag102.xml"/><Relationship Id="rId56" Type="http://schemas.openxmlformats.org/officeDocument/2006/relationships/tags" Target="../tags/tag103.xml"/><Relationship Id="rId57" Type="http://schemas.openxmlformats.org/officeDocument/2006/relationships/image" Target="../media/image13.png"/><Relationship Id="rId58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-1113M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0M / 剩余缺口 1113M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0M / 剩余缺口 976M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0.0M，达成率 0.0%，全年目标 1113M 缺口约 1113M。3 月预约件数 216 件，环比 +96.4%，前端动能延续，Q2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0.0%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23.1M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100.0%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0.0%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0.0%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未批核（17.3M，170 件）与待签（0.0M，21 件）合计 17.3M 在管道中，占批核 APE 的 0%。若能快速推进至生效，可直接拉升达成率逾 2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307.7M 占全渠道 87.8%，是唯一业绩主力；未批核 145.9M 融资率较高，是最大转化机会。代理人（批核 25.9M）与 KA（批核 16.9M）体量极小，需明确各渠道扩量优先级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Q1 呈现存量驱动特征，1月批核峰值 0.0M 为全年迄今最高。3 月预约/签单同步走强，前端动能复苏。7月初已批核 0.0M，节后启动正常，后续 9 个月需月均 83.8M 以达成年度目标。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0696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696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696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696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696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696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696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263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263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263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263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263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263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263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830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830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22.7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830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830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830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830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830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2026 年 3 月预约件数从 2 月 110 件增至 216 件（环比 +96.4%），前端明显回暖。但 3 月件均 APE 0.0 万低于 2 月 0.0 万，显示新增单偏中小额，需关注单均下滑趋势。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-8319108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185.5M/月（剩余 1113M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 达成率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100.0% 目标剩余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185.5M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0.0M（达成率 0.0%），完成全年目标 1113M 还需约 1113M，剩余 9 个月月均需 123.7M。若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407299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+4744.6%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349625" y="1534795"/>
            <a:ext cx="1145540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+4.1%</a:t>
            </a:r>
            <a:endParaRPr lang="zh-CN" sz="1000" b="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4450715" y="3264535"/>
            <a:ext cx="1146175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▼ 环比 −96.2%</a:t>
            </a:r>
            <a:endParaRPr lang="zh-CN" sz="100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8" name="Ann_QD"/>
          <p:cNvSpPr/>
          <p:nvPr/>
        </p:nvSpPr>
        <p:spPr>
          <a:xfrm>
            <a:off x="3520440" y="3264535"/>
            <a:ext cx="1151255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+27.0%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2872740" y="472059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−95.2%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7" name="Ann_PH"/>
          <p:cNvSpPr/>
          <p:nvPr/>
        </p:nvSpPr>
        <p:spPr>
          <a:xfrm>
            <a:off x="4264025" y="5303520"/>
            <a:ext cx="1276985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+23.1%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4424680" y="1374775"/>
            <a:ext cx="1066800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▲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环比 </a:t>
            </a:r>
            <a:r>
              <a:rPr lang="en-US" alt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42.5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4478020" y="3264535"/>
            <a:ext cx="106299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</a:t>
            </a:r>
            <a:r>
              <a:rPr lang="en-US" alt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32.5</a:t>
            </a: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" name="Ann_PH"/>
          <p:cNvSpPr/>
          <p:nvPr/>
        </p:nvSpPr>
        <p:spPr>
          <a:xfrm>
            <a:off x="4227830" y="494157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40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.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达成率0.0%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13.3M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件均8.3万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件均0.0万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 TOP10 产品累计签单 7.5M（162 件），集中度高。头部产品「万年青·卓金保险计划II」贡献 1.9M/45 件，件均 4.3 万。中小额产品虽件数占比大，但单均偏低，需关注大单产品的持续性供给。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1.95M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0.78M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0.78M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39.0万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0.55M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0.47M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0.23M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7.5M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3.53M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4.69M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8.22M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5.02M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5.07M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0.00M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0.00M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5688940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550934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51762" y="5551258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537166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647817" y="5670614"/>
            <a:ext cx="461281" cy="4612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5413044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45706" y="5693064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551347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41381" y="5934092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575450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8896" y="587639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69680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03353" y="5893190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71359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天领业务达成率 0.0% 领跑全渠道，是唯一接近达标的渠道。IFA业务规模较大（批核 0.0M）但达成率仅 0.0%，是最大战略风险点。IFA业务达成率仅 0.0%，需重点关注。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0.0%  |  剩余缺口 1113M  |  需 6 个月完成 100.0%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天领业务贡献最大批核（0.0M）。已批核 + 在途合计 17.3M，距目标 1113M 仍差 1096M。若未批核 17.3M 与待签 0.0M 快速推进，可直接拉升年度达成。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1554480"/>
            <a:ext cx="241200" cy="80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1554480"/>
            <a:ext cx="241200" cy="800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1554480"/>
            <a:ext cx="244475" cy="846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−23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1639110"/>
            <a:ext cx="241300" cy="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1416230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1639110"/>
            <a:ext cx="238760" cy="3985973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141623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1090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1331600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−0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1554480"/>
            <a:ext cx="241200" cy="800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133160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−0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1554480"/>
            <a:ext cx="241300" cy="800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1331600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−0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1554480"/>
            <a:ext cx="241300" cy="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1331600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−0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1554480"/>
            <a:ext cx="241300" cy="800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1331600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−0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/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/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天领业务：3 月签单 0.0M 居首，前端动能最强。天领业务：2 月批核峰 0.0M 为存量集中放款。各业务线节奏分化明显，需按渠道特征差异化管理。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5.1M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0.0▌5.1▌0.0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4.0M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0.0▌4.0▌0.0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1.5M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0.0▌1.5▌0.0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6.4M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0.0▌6.4▌0.0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0.2M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0.0▌0.2▌0.0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天领业务未批核占比最高（100%），金额达 6.4M，催核优先级最高。其余业务线管道分布相对均衡，需按未批核规模排序推进。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0.0%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23.1M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23.1M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100.0%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100.0%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23.1M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100.0%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0.0%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23.1M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17.3M 中，批核占 0.0%（0.0M）。剩余 17.3M（未批 17.3M + 待签 0.0M）若转化可直接推高达成率 2+。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天领业务批核 0.0M 已达目标 193M 的 0.0%，是唯一接近达标的业务线。永明经代目标最大（340M）但实际仅 0.0M，缺口 340M 为最大绝对值，是最大战略风险点。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23.1M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23.1M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12.1M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 累计 0.0M 显著高于预约 17.3M，反映跨周积压存量消化效应。签单累计 17.3M，递交→批核转化效率较高。W26 预约低点 0.5M 需关注执行节奏。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签单峰 16.0M 为阶段高点；W01 批核峰 0.0M 为存量集中消化；W27 预约峰 10.8M 显示前端动能。周度节奏呈脉冲式特征，需关注执行连续性。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环比-33.4%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环比+894.0%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环比+0.0%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23.1M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6.0M/29件；签单 16.0M/30件；批核 0.0M/24件。未批核 17.3M（170件）是 Q2 批核的核心转化储量。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Molly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丁洁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万城保险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个人转介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ICLUB业务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个人转介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中天家办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企鹅保险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众安国际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保险师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ICLUB业务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198件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226件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0.0M（占全业务 0.0%），高度集中。Molly 以 0.0M 独占 0.0%，是最核心的单一客户，亦是最大集中风险点。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BK业务件均 APE 最高（0万）且平均时效 71.8 天（P90=145 天），是唯一超 SLA=60 天渠道，大额件审核慢是主要风险。天领业务均值 19.7 天效率最优。整体均值 30 天，P90=72 天。BK业务 平均时效超 60 天 SLA。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17.3M/948件。天领业务领跑，累计 6.4M/191件，占比 37%。W27 单周峰值 10.8M/39件，是本季度最高单周贡献。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签单总量 17.3M/932件。天领业务领跑，累计 6.4M/189件，占比 37%。W28 单周峰值 16.0M/30件，是本季度最高单周贡献。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批核数据暂缺。</a:t>
            </a:r>
            <a:endParaRPr lang="en-US" sz="550" dirty="0"/>
          </a:p>
        </p:txBody>
      </p:sp>
      <p:sp>
        <p:nvSpPr>
          <p:cNvPr id="63" name="T7067"/>
          <p:cNvSpPr/>
          <p:nvPr/>
        </p:nvSpPr>
        <p:spPr>
          <a:xfrm>
            <a:off x="264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zh-CN" sz="500" dirty="0"/>
          </a:p>
        </p:txBody>
      </p:sp>
      <p:sp>
        <p:nvSpPr>
          <p:cNvPr id="391" name="T8049"/>
          <p:cNvSpPr/>
          <p:nvPr/>
        </p:nvSpPr>
        <p:spPr>
          <a:xfrm>
            <a:off x="110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35件</a:t>
            </a:r>
            <a:endParaRPr lang="zh-CN" sz="500" dirty="0"/>
          </a:p>
        </p:txBody>
      </p:sp>
      <p:sp>
        <p:nvSpPr>
          <p:cNvPr id="394" name="T8052"/>
          <p:cNvSpPr/>
          <p:nvPr/>
        </p:nvSpPr>
        <p:spPr>
          <a:xfrm>
            <a:off x="114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656" name="R6047"/>
          <p:cNvSpPr/>
          <p:nvPr/>
        </p:nvSpPr>
        <p:spPr>
          <a:xfrm>
            <a:off x="4949384" y="4151376"/>
            <a:ext cx="390000" cy="290000"/>
          </a:xfrm>
          <a:prstGeom prst="rect">
            <a:avLst/>
          </a:prstGeom>
          <a:solidFill>
            <a:srgbClr val="1F3864">
              <a:alpha val="2311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59" name="R6050"/>
          <p:cNvSpPr/>
          <p:nvPr/>
        </p:nvSpPr>
        <p:spPr>
          <a:xfrm>
            <a:off x="533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2" name="T6053"/>
          <p:cNvSpPr/>
          <p:nvPr/>
        </p:nvSpPr>
        <p:spPr>
          <a:xfrm>
            <a:off x="182880" y="444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  周度预约业绩热力矩阵（APE in M）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314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5.4M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25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934" name="Rectangle 933"/>
          <p:cNvSpPr/>
          <p:nvPr/>
        </p:nvSpPr>
        <p:spPr>
          <a:xfrm>
            <a:off x="5383117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TextBox 934"/>
          <p:cNvSpPr txBox="1"/>
          <p:nvPr/>
        </p:nvSpPr>
        <p:spPr>
          <a:xfrm>
            <a:off x="5377117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0.2M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5377117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>
              <a:alpha val="892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TextBox 938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941" name="Rectangle 940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TextBox 941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2.7M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945" name="Rectangle 944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1.0M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948" name="Rectangle 947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8626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1.8M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955" name="Rectangle 954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TextBox 955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2.2M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959" name="Rectangle 958"/>
          <p:cNvSpPr/>
          <p:nvPr/>
        </p:nvSpPr>
        <p:spPr>
          <a:xfrm>
            <a:off x="5383117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TextBox 959"/>
          <p:cNvSpPr txBox="1"/>
          <p:nvPr/>
        </p:nvSpPr>
        <p:spPr>
          <a:xfrm>
            <a:off x="537711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0.0M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537711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964" name="Rectangle 963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TextBox 964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0.5M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28件</a:t>
            </a:r>
          </a:p>
        </p:txBody>
      </p:sp>
      <p:sp>
        <p:nvSpPr>
          <p:cNvPr id="967" name="Rectangle 966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10.8M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6.0M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29件</a:t>
            </a:r>
          </a:p>
        </p:txBody>
      </p:sp>
      <p:sp>
        <p:nvSpPr>
          <p:cNvPr id="973" name="Rectangle 972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  周度签单业绩热力矩阵（APE in M）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991" name="Rectangle 990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308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TextBox 991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994" name="Rectangle 993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TextBox 994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998" name="Rectangle 997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0.2M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002" name="Rectangle 1001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386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TextBox 1002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TextBox 1005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009" name="Rectangle 1008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TextBox 1009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1.5M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013" name="Rectangle 1012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254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0.0M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016" name="Rectangle 1015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020" name="Rectangle 1019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TextBox 1020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0.0M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025" name="Rectangle 1024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1.3M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22件</a:t>
            </a:r>
          </a:p>
        </p:txBody>
      </p:sp>
      <p:sp>
        <p:nvSpPr>
          <p:cNvPr id="1028" name="Rectangle 1027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16.0M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30件</a:t>
            </a:r>
          </a:p>
        </p:txBody>
      </p:sp>
      <p:sp>
        <p:nvSpPr>
          <p:cNvPr id="1031" name="Rectangle 1030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  周度批核业绩热力矩阵（APE in M）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推荐人数据待更新。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战略合作批核率 0%（批核 0.0M，未批核 0.7M），件质量最高。姜通未批核量最大（7.1M），批核率 0%，需优先排查件质量问题。头部推荐人质量差异显著，需差异化对接策略。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/>
              </a:rPr>
              <a:t>94件  |  件均5.9万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/>
              </a:rPr>
              <a:t>17件  |  件均0.0万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0.23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0.23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2.42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0.23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0.23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0.70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0.70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0.82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0.82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0.12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0.48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0.57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—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0.00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619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5.57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94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0.00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5.57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730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2.73M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21件| 件均13.0W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5.54M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16件| 件均34.6W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0件| 件均0.0W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1.68M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2.40M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0.20M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0.82M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0.70M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裕承资产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万城保险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/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/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/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/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/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/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/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5.54M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同行批核 0.00M，签单 5.54M，预约 2.73M。签单前端尚在蓄力，预约 2.7M 为节后水平，需密切跟踪后续周次是否回升。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5.57M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41件 | 件均13.6W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5.57M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 | 件均16.9W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件均0.0W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75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92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91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5.57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5.57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5.57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436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5.57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422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0.00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3 月同行预约 0 万，环比 +0.0%，前端显著回暖。3 月签单 0 万，预约-签单缺口反映大量前端件仍处「待结」状态，需密切跟进 4 月转化节奏。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达成率0.0%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5.1M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|件均13.7W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5.07M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件均36W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3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5.07M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6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件均36W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8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1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1" name="Shape 19"/>
          <p:cNvSpPr/>
          <p:nvPr>
            <p:custDataLst>
              <p:tags r:id="rId4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4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W28预约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4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/>
              </a:rPr>
              <a:t>2.73M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4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4件 | 件均68.2W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4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4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4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W28签单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4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/>
              </a:rPr>
              <a:t>4.29M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5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7件 | 件均61.3W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5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5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5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W28批核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5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5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0件 | 件均0W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5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0.00M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225件 | 件均0.0W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6.65M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31件 | 件均21.5W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4件 | 件均0.0W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267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2675" y="430000"/>
            <a:ext cx="76200" cy="762000"/>
          </a:xfrm>
          <a:prstGeom prst="rect">
            <a:avLst/>
          </a:prstGeom>
          <a:solidFill>
            <a:srgbClr val="9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51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代理人1月预约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51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9B2335"/>
                </a:solidFill>
              </a:rPr>
              <a:t>0.00M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51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31件 | 件均0.0W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594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5940" y="430000"/>
            <a:ext cx="76200" cy="762000"/>
          </a:xfrm>
          <a:prstGeom prst="rect">
            <a:avLst/>
          </a:prstGeom>
          <a:solidFill>
            <a:srgbClr val="6B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577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代理人1月签单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577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B2737"/>
                </a:solidFill>
              </a:rPr>
              <a:t>0.00M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577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29件 | 件均0.0W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20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205" y="430000"/>
            <a:ext cx="76200" cy="76200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904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代理人1月批核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04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483"/>
                </a:solidFill>
              </a:rPr>
              <a:t>0.00M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04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34件 | 件均0.0W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1272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1272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715" y="1326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 W28预约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715" y="1500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0.55M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715" y="1811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2176145" y="1272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6145" y="1272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5980" y="1326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 W28签单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5980" y="1500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6.18M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5980" y="1811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169410" y="1272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69410" y="1272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245" y="1326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 W28批核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245" y="1500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0.00M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245" y="1811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00000" y="215400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21840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天领业务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242400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厦门贴牌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台州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合肥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天领成都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天领深圳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天领重庆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宁波贴牌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广西贴牌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武汉贴牌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苏州贴牌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长沙贴牌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191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642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642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223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98400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60140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625400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丁洁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刘微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杨帆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杨洪美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杨璐熙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00" y="127200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435200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438200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代理人业务（天领+成事家办）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466200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356000"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预约(M)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签单(M)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批核(M)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56000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天领成都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4.00M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000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天领重庆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0.55M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1.95M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356000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杨帆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0.23M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000">
                <a:tc>
                  <a:txBody>
                    <a:bodyPr wrap="square"/>
                    <a:lstStyle/>
                    <a:p>
                      <a:pPr algn="l"/>
                      <a:r>
                        <a:rPr b="0" sz="800">
                          <a:solidFill>
                            <a:srgbClr val="1A2744"/>
                          </a:solidFill>
                        </a:rPr>
                        <a:t>武汉贴牌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8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356000">
                <a:tc>
                  <a:txBody>
                    <a:bodyPr wrap="square"/>
                    <a:lstStyle/>
                    <a:p>
                      <a:pPr algn="l"/>
                      <a:r>
                        <a:rPr b="1" sz="80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0.55M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6.18M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0.00M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37件 | 件均0.0W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0.03M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8件 | 件均0.3W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0件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个人转介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保险师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新风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Molly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个人转介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励欧移民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德约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总部职能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懿丰家族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明德长青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荻邦咨询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虹霖贸易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b="0" sz="750">
                          <a:solidFill>
                            <a:srgbClr val="1A2744"/>
                          </a:solidFill>
                        </a:rPr>
                        <a:t>迪岸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50">
                          <a:solidFill>
                            <a:srgbClr val="1A27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未批核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待签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合计APE(万)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
件数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KA业务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960000"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KEY ACCOUNT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预约(M)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签单(M)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批核(M)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960000">
                <a:tc>
                  <a:txBody>
                    <a:bodyPr wrap="square"/>
                    <a:lstStyle/>
                    <a:p>
                      <a:pPr algn="l"/>
                      <a:r>
                        <a:rPr b="0" sz="700">
                          <a:solidFill>
                            <a:srgbClr val="1A2744"/>
                          </a:solidFill>
                        </a:rPr>
                        <a:t>励欧移民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700">
                          <a:solidFill>
                            <a:srgbClr val="1A2744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000">
                <a:tc>
                  <a:txBody>
                    <a:bodyPr wrap="square"/>
                    <a:lstStyle/>
                    <a:p>
                      <a:pPr algn="l"/>
                      <a:r>
                        <a:rPr b="1" sz="75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750">
                          <a:solidFill>
                            <a:srgbClr val="FFFFFF"/>
                          </a:solidFill>
                        </a:rPr>
                        <a:t>0.00M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