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.xml" ContentType="application/vnd.openxmlformats-officedocument.drawingml.chart+xml"/>
  <Override PartName="/ppt/charts/chart20.xml" ContentType="application/vnd.openxmlformats-officedocument.drawingml.chart+xml"/>
  <Override PartName="/ppt/charts/chart21.xml" ContentType="application/vnd.openxmlformats-officedocument.drawingml.chart+xml"/>
  <Override PartName="/ppt/charts/chart22.xml" ContentType="application/vnd.openxmlformats-officedocument.drawingml.chart+xml"/>
  <Override PartName="/ppt/charts/chart23.xml" ContentType="application/vnd.openxmlformats-officedocument.drawingml.chart+xml"/>
  <Override PartName="/ppt/charts/chart24.xml" ContentType="application/vnd.openxmlformats-officedocument.drawingml.chart+xml"/>
  <Override PartName="/ppt/charts/chart25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hart9041.xml" ContentType="application/vnd.openxmlformats-officedocument.drawingml.chart+xml"/>
  <Override PartName="/ppt/charts/colors1.xml" ContentType="application/vnd.ms-office.chartcolorstyle+xml"/>
  <Override PartName="/ppt/charts/style1.xml" ContentType="application/vnd.ms-office.chartstyle+xml"/>
  <Override PartName="/ppt/media/image2.svg" ContentType="image/svg+xml"/>
  <Override PartName="/ppt/media/image4.svg" ContentType="image/svg+xml"/>
  <Override PartName="/ppt/media/image5.svg" ContentType="image/svg+xml"/>
  <Override PartName="/ppt/media/image7.svg" ContentType="image/svg+xml"/>
  <Override PartName="/ppt/media/image8.svg" ContentType="image/svg+xml"/>
  <Override PartName="/ppt/media/image9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5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62" r:id="rId6"/>
    <p:sldId id="258" r:id="rId7"/>
    <p:sldId id="270" r:id="rId8"/>
    <p:sldId id="260" r:id="rId9"/>
    <p:sldId id="271" r:id="rId10"/>
    <p:sldId id="263" r:id="rId11"/>
    <p:sldId id="272" r:id="rId12"/>
    <p:sldId id="276" r:id="rId19"/>
    <p:sldId id="277" r:id="rId20"/>
    <p:sldId id="278" r:id="rId21"/>
  </p:sldIdLst>
  <p:sldSz cx="12192000" cy="6858000"/>
  <p:notesSz cx="6858000" cy="12192000"/>
  <p:custDataLst>
    <p:tags r:id="rId18"/>
  </p:custData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6B2737"/>
    <a:srgbClr val="6C3483"/>
    <a:srgbClr val="CC4E3F"/>
    <a:srgbClr val="9B2335"/>
    <a:srgbClr val="0D594A"/>
    <a:srgbClr val="0F6957"/>
    <a:srgbClr val="117A65"/>
    <a:srgbClr val="7B241C"/>
    <a:srgbClr val="8B451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ableStyles" Target="tableStyles.xml"/><Relationship Id="rId18" Type="http://schemas.openxmlformats.org/officeDocument/2006/relationships/tags" Target="tags/tag105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4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1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5.xlsx"/></Relationships>
</file>

<file path=ppt/charts/_rels/chart16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1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6.xlsx"/></Relationships>
</file>

<file path=ppt/charts/_rels/chart1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7.xlsx"/></Relationships>
</file>

<file path=ppt/charts/_rels/chart1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8.xlsx"/></Relationships>
</file>

<file path=ppt/charts/_rels/chart2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9.xlsx"/><Relationship Id="rId2" Type="http://schemas.microsoft.com/office/2011/relationships/chartStyle" Target="style1.xml"/><Relationship Id="rId3" Type="http://schemas.microsoft.com/office/2011/relationships/chartColorStyle" Target="colors1.xml"/></Relationships>
</file>

<file path=ppt/charts/_rels/chart21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22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23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2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10.xlsx"/></Relationships>
</file>

<file path=ppt/charts/_rels/chart2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1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批核 APE</c:v>
                </c:pt>
              </c:strCache>
            </c:strRef>
          </c:tx>
          <c:spPr>
            <a:solidFill>
              <a:srgbClr val="00796B"/>
            </a:solidFill>
            <a:effectLst/>
          </c:spPr>
          <c:invertIfNegative val="0"/>
          <c:dLbls>
            <c:dLbl>
              <c:idx val="1"/>
              <c:layout>
                <c:manualLayout>
                  <c:x val="-0.00767543859649123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2"/>
              <c:layout>
                <c:manualLayout>
                  <c:x val="-0.0131578947368421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800" b="0" i="0" u="none" strike="noStrike" kern="1200" baseline="0">
                    <a:solidFill>
                      <a:srgbClr val="1A1A2E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Sheet1!$A$2:$A$4</c:f>
              <c:strCache>
                <c:ptCount val="3"/>
                <c:pt idx="0">
                  <c:v>经代业务</c:v>
                </c:pt>
                <c:pt idx="1">
                  <c:v>代理人业务</c:v>
                </c:pt>
                <c:pt idx="2">
                  <c:v>KA 业务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488.74</c:v>
                </c:pt>
                <c:pt idx="1">
                  <c:v>72.17</c:v>
                </c:pt>
                <c:pt idx="2">
                  <c:v>24.87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未批核 APE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dLbl>
              <c:idx val="2"/>
              <c:layout>
                <c:manualLayout>
                  <c:x val="0.0043859649122807"/>
                  <c:y val="-0.0019379844961240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0328947368421053"/>
                      <c:h val="0.0697674418604651"/>
                    </c:manualLayout>
                  </c15:layout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800" b="0" i="0" u="none" strike="noStrike" kern="1200" baseline="0">
                    <a:solidFill>
                      <a:srgbClr val="1A1A2E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Sheet1!$A$2:$A$4</c:f>
              <c:strCache>
                <c:ptCount val="3"/>
                <c:pt idx="0">
                  <c:v>经代业务</c:v>
                </c:pt>
                <c:pt idx="1">
                  <c:v>代理人业务</c:v>
                </c:pt>
                <c:pt idx="2">
                  <c:v>KA 业务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63.54</c:v>
                </c:pt>
                <c:pt idx="1">
                  <c:v>15.45</c:v>
                </c:pt>
                <c:pt idx="2">
                  <c:v>4.39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待签 APE</c:v>
                </c:pt>
              </c:strCache>
            </c:strRef>
          </c:tx>
          <c:spPr>
            <a:solidFill>
              <a:srgbClr val="C8890A"/>
            </a:solidFill>
            <a:effectLst/>
          </c:spPr>
          <c:invertIfNegative val="0"/>
          <c:dLbls>
            <c:dLbl>
              <c:idx val="1"/>
              <c:layout>
                <c:manualLayout>
                  <c:x val="0.0164473684210526"/>
                  <c:y val="-0.00387596899224806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2"/>
              <c:layout>
                <c:manualLayout>
                  <c:x val="0.0281432748538012"/>
                  <c:y val="0.00129198966408269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0508040935672515"/>
                      <c:h val="0.0752583979328165"/>
                    </c:manualLayout>
                  </c15:layout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800" b="0" i="0" u="none" strike="noStrike" kern="1200" baseline="0">
                    <a:solidFill>
                      <a:srgbClr val="1A1A2E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Sheet1!$A$2:$A$4</c:f>
              <c:strCache>
                <c:ptCount val="3"/>
                <c:pt idx="0">
                  <c:v>经代业务</c:v>
                </c:pt>
                <c:pt idx="1">
                  <c:v>代理人业务</c:v>
                </c:pt>
                <c:pt idx="2">
                  <c:v>KA 业务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6.42</c:v>
                </c:pt>
                <c:pt idx="1">
                  <c:v>0.39</c:v>
                </c:pt>
                <c:pt idx="2">
                  <c:v>0.0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solidFill>
                  <a:srgbClr val="374151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t"/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8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36a8ab36-1a2b-4a65-a8dc-7db2cf40693d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none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预约 APE(M)</c:v>
                </c:pt>
              </c:strCache>
            </c:strRef>
          </c:tx>
          <c:spPr>
            <a:ln w="27940" cap="flat" cmpd="sng" algn="ctr">
              <a:solidFill>
                <a:srgbClr val="1F3864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1F3864"/>
              </a:solidFill>
              <a:ln w="9525" cap="flat" cmpd="sng" algn="ctr">
                <a:solidFill>
                  <a:srgbClr val="1F3864"/>
                </a:solidFill>
                <a:prstDash val="solid"/>
                <a:round/>
              </a:ln>
              <a:effectLst/>
            </c:spPr>
          </c:marker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Sheet1!$A$2:$A$20</c:f>
              <c:strCache>
                <c:ptCount val="19"/>
                <c:pt idx="0">
                  <c:v>25-Jan</c:v>
                </c:pt>
                <c:pt idx="1">
                  <c:v>25-Feb</c:v>
                </c:pt>
                <c:pt idx="2">
                  <c:v>25-Mar</c:v>
                </c:pt>
                <c:pt idx="3">
                  <c:v>25-Apr</c:v>
                </c:pt>
                <c:pt idx="4">
                  <c:v>25-May</c:v>
                </c:pt>
                <c:pt idx="5">
                  <c:v>25-Jun</c:v>
                </c:pt>
                <c:pt idx="6">
                  <c:v>25-Jul</c:v>
                </c:pt>
                <c:pt idx="7">
                  <c:v>25-Aug</c:v>
                </c:pt>
                <c:pt idx="8">
                  <c:v>25-Sep</c:v>
                </c:pt>
                <c:pt idx="9">
                  <c:v>25-Oct</c:v>
                </c:pt>
                <c:pt idx="10">
                  <c:v>25-Nov</c:v>
                </c:pt>
                <c:pt idx="11">
                  <c:v>25-Dec</c:v>
                </c:pt>
                <c:pt idx="12">
                  <c:v>26-Jan</c:v>
                </c:pt>
                <c:pt idx="13">
                  <c:v>26-Feb</c:v>
                </c:pt>
                <c:pt idx="14">
                  <c:v>26-Mar</c:v>
                </c:pt>
                <c:pt idx="15">
                  <c:v>26-Apr</c:v>
                </c:pt>
                <c:pt idx="16">
                  <c:v>26-May</c:v>
                </c:pt>
                <c:pt idx="17">
                  <c:v>26-Jun</c:v>
                </c:pt>
                <c:pt idx="18">
                  <c:v>26-Jul</c:v>
                </c:pt>
              </c:strCache>
            </c:strRef>
          </c:cat>
          <c:val>
            <c:numRef>
              <c:f>Sheet1!$B$2:$B$20</c:f>
              <c:numCache>
                <c:formatCode>General</c:formatCode>
                <c:ptCount val="19"/>
                <c:pt idx="0">
                  <c:v>22.6</c:v>
                </c:pt>
                <c:pt idx="1">
                  <c:v>38.9</c:v>
                </c:pt>
                <c:pt idx="2">
                  <c:v>34.3</c:v>
                </c:pt>
                <c:pt idx="3">
                  <c:v>29.1</c:v>
                </c:pt>
                <c:pt idx="4">
                  <c:v>45.5</c:v>
                </c:pt>
                <c:pt idx="5">
                  <c:v>178.8</c:v>
                </c:pt>
                <c:pt idx="6">
                  <c:v>41.3</c:v>
                </c:pt>
                <c:pt idx="7">
                  <c:v>62.4</c:v>
                </c:pt>
                <c:pt idx="8">
                  <c:v>155.8</c:v>
                </c:pt>
                <c:pt idx="9">
                  <c:v>87.7</c:v>
                </c:pt>
                <c:pt idx="10">
                  <c:v>199.2</c:v>
                </c:pt>
                <c:pt idx="11">
                  <c:v>145.8</c:v>
                </c:pt>
                <c:pt idx="12">
                  <c:v>53.90</c:v>
                </c:pt>
                <c:pt idx="13">
                  <c:v>56.37</c:v>
                </c:pt>
                <c:pt idx="14">
                  <c:v>81.48</c:v>
                </c:pt>
                <c:pt idx="15">
                  <c:v>67.38</c:v>
                </c:pt>
                <c:pt idx="16">
                  <c:v>81.87</c:v>
                </c:pt>
                <c:pt idx="17">
                  <c:v>84.35</c:v>
                </c:pt>
                <c:pt idx="18">
                  <c:v>49.51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签单 APE(M)</c:v>
                </c:pt>
              </c:strCache>
            </c:strRef>
          </c:tx>
          <c:spPr>
            <a:ln w="27940" cap="flat" cmpd="sng" algn="ctr">
              <a:solidFill>
                <a:srgbClr val="00796B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0796B"/>
              </a:solidFill>
              <a:ln w="9525" cap="flat" cmpd="sng" algn="ctr">
                <a:solidFill>
                  <a:srgbClr val="00796B"/>
                </a:solidFill>
                <a:prstDash val="solid"/>
                <a:round/>
              </a:ln>
              <a:effectLst/>
            </c:spPr>
          </c:marker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Sheet1!$A$2:$A$20</c:f>
              <c:strCache>
                <c:ptCount val="19"/>
                <c:pt idx="0">
                  <c:v>25-Jan</c:v>
                </c:pt>
                <c:pt idx="1">
                  <c:v>25-Feb</c:v>
                </c:pt>
                <c:pt idx="2">
                  <c:v>25-Mar</c:v>
                </c:pt>
                <c:pt idx="3">
                  <c:v>25-Apr</c:v>
                </c:pt>
                <c:pt idx="4">
                  <c:v>25-May</c:v>
                </c:pt>
                <c:pt idx="5">
                  <c:v>25-Jun</c:v>
                </c:pt>
                <c:pt idx="6">
                  <c:v>25-Jul</c:v>
                </c:pt>
                <c:pt idx="7">
                  <c:v>25-Aug</c:v>
                </c:pt>
                <c:pt idx="8">
                  <c:v>25-Sep</c:v>
                </c:pt>
                <c:pt idx="9">
                  <c:v>25-Oct</c:v>
                </c:pt>
                <c:pt idx="10">
                  <c:v>25-Nov</c:v>
                </c:pt>
                <c:pt idx="11">
                  <c:v>25-Dec</c:v>
                </c:pt>
                <c:pt idx="12">
                  <c:v>26-Jan</c:v>
                </c:pt>
                <c:pt idx="13">
                  <c:v>26-Feb</c:v>
                </c:pt>
                <c:pt idx="14">
                  <c:v>26-Mar</c:v>
                </c:pt>
                <c:pt idx="15">
                  <c:v>26-Apr</c:v>
                </c:pt>
                <c:pt idx="16">
                  <c:v>26-May</c:v>
                </c:pt>
                <c:pt idx="17">
                  <c:v>26-Jun</c:v>
                </c:pt>
                <c:pt idx="18">
                  <c:v>26-Jul</c:v>
                </c:pt>
              </c:strCache>
            </c:strRef>
          </c:cat>
          <c:val>
            <c:numRef>
              <c:f>Sheet1!$C$2:$C$20</c:f>
              <c:numCache>
                <c:formatCode>General</c:formatCode>
                <c:ptCount val="19"/>
                <c:pt idx="0">
                  <c:v>25.1</c:v>
                </c:pt>
                <c:pt idx="1">
                  <c:v>37.8</c:v>
                </c:pt>
                <c:pt idx="2">
                  <c:v>36</c:v>
                </c:pt>
                <c:pt idx="3">
                  <c:v>21.1</c:v>
                </c:pt>
                <c:pt idx="4">
                  <c:v>39.6</c:v>
                </c:pt>
                <c:pt idx="5">
                  <c:v>188.7</c:v>
                </c:pt>
                <c:pt idx="6">
                  <c:v>34.3</c:v>
                </c:pt>
                <c:pt idx="7">
                  <c:v>67.7</c:v>
                </c:pt>
                <c:pt idx="8">
                  <c:v>156.2</c:v>
                </c:pt>
                <c:pt idx="9">
                  <c:v>88</c:v>
                </c:pt>
                <c:pt idx="10">
                  <c:v>188.4</c:v>
                </c:pt>
                <c:pt idx="11">
                  <c:v>153.1</c:v>
                </c:pt>
                <c:pt idx="12">
                  <c:v>47.90</c:v>
                </c:pt>
                <c:pt idx="13">
                  <c:v>61.13</c:v>
                </c:pt>
                <c:pt idx="14">
                  <c:v>82.15</c:v>
                </c:pt>
                <c:pt idx="15">
                  <c:v>62.10</c:v>
                </c:pt>
                <c:pt idx="16">
                  <c:v>86.14</c:v>
                </c:pt>
                <c:pt idx="17">
                  <c:v>85.69</c:v>
                </c:pt>
                <c:pt idx="18">
                  <c:v>39.17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批核 APE(M)</c:v>
                </c:pt>
              </c:strCache>
            </c:strRef>
          </c:tx>
          <c:spPr>
            <a:ln w="27940" cap="flat" cmpd="sng" algn="ctr">
              <a:solidFill>
                <a:srgbClr val="1A7A3F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1A7A3F"/>
              </a:solidFill>
              <a:ln w="9525" cap="flat" cmpd="sng" algn="ctr">
                <a:solidFill>
                  <a:srgbClr val="1A7A3F"/>
                </a:solidFill>
                <a:prstDash val="solid"/>
                <a:round/>
              </a:ln>
              <a:effectLst/>
            </c:spPr>
          </c:marker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Sheet1!$A$2:$A$20</c:f>
              <c:strCache>
                <c:ptCount val="19"/>
                <c:pt idx="0">
                  <c:v>25-Jan</c:v>
                </c:pt>
                <c:pt idx="1">
                  <c:v>25-Feb</c:v>
                </c:pt>
                <c:pt idx="2">
                  <c:v>25-Mar</c:v>
                </c:pt>
                <c:pt idx="3">
                  <c:v>25-Apr</c:v>
                </c:pt>
                <c:pt idx="4">
                  <c:v>25-May</c:v>
                </c:pt>
                <c:pt idx="5">
                  <c:v>25-Jun</c:v>
                </c:pt>
                <c:pt idx="6">
                  <c:v>25-Jul</c:v>
                </c:pt>
                <c:pt idx="7">
                  <c:v>25-Aug</c:v>
                </c:pt>
                <c:pt idx="8">
                  <c:v>25-Sep</c:v>
                </c:pt>
                <c:pt idx="9">
                  <c:v>25-Oct</c:v>
                </c:pt>
                <c:pt idx="10">
                  <c:v>25-Nov</c:v>
                </c:pt>
                <c:pt idx="11">
                  <c:v>25-Dec</c:v>
                </c:pt>
                <c:pt idx="12">
                  <c:v>26-Jan</c:v>
                </c:pt>
                <c:pt idx="13">
                  <c:v>26-Feb</c:v>
                </c:pt>
                <c:pt idx="14">
                  <c:v>26-Mar</c:v>
                </c:pt>
                <c:pt idx="15">
                  <c:v>26-Apr</c:v>
                </c:pt>
                <c:pt idx="16">
                  <c:v>26-May</c:v>
                </c:pt>
                <c:pt idx="17">
                  <c:v>26-Jun</c:v>
                </c:pt>
                <c:pt idx="18">
                  <c:v>26-Jul</c:v>
                </c:pt>
              </c:strCache>
            </c:strRef>
          </c:cat>
          <c:val>
            <c:numRef>
              <c:f>Sheet1!$D$2:$D$20</c:f>
              <c:numCache>
                <c:formatCode>General</c:formatCode>
                <c:ptCount val="19"/>
                <c:pt idx="0">
                  <c:v>41.4</c:v>
                </c:pt>
                <c:pt idx="1">
                  <c:v>21.7</c:v>
                </c:pt>
                <c:pt idx="2">
                  <c:v>35.5</c:v>
                </c:pt>
                <c:pt idx="3">
                  <c:v>27.5</c:v>
                </c:pt>
                <c:pt idx="4">
                  <c:v>28.6</c:v>
                </c:pt>
                <c:pt idx="5">
                  <c:v>77</c:v>
                </c:pt>
                <c:pt idx="6">
                  <c:v>102.9</c:v>
                </c:pt>
                <c:pt idx="7">
                  <c:v>44.9</c:v>
                </c:pt>
                <c:pt idx="8">
                  <c:v>61.4</c:v>
                </c:pt>
                <c:pt idx="9">
                  <c:v>93.4</c:v>
                </c:pt>
                <c:pt idx="10">
                  <c:v>38.7</c:v>
                </c:pt>
                <c:pt idx="11">
                  <c:v>43.7</c:v>
                </c:pt>
                <c:pt idx="12">
                  <c:v>116.78</c:v>
                </c:pt>
                <c:pt idx="13">
                  <c:v>143.73</c:v>
                </c:pt>
                <c:pt idx="14">
                  <c:v>85.76</c:v>
                </c:pt>
                <c:pt idx="15">
                  <c:v>91.15</c:v>
                </c:pt>
                <c:pt idx="16">
                  <c:v>72.81</c:v>
                </c:pt>
                <c:pt idx="17">
                  <c:v>62.05</c:v>
                </c:pt>
                <c:pt idx="18">
                  <c:v>32.87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1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5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220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t"/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85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f4279d99-b91a-40d8-99bc-af3f7ab8993c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538598512621766"/>
          <c:y val="0.104184170727609"/>
          <c:w val="0.923096260605426"/>
          <c:h val="0.812367669299277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实际批核 APE(M)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Sheet1!$A$2:$A$13</c:f>
              <c:strCache>
                <c:ptCount val="12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  <c:pt idx="8">
                  <c:v>9月</c:v>
                </c:pt>
                <c:pt idx="9">
                  <c:v>10月</c:v>
                </c:pt>
                <c:pt idx="10">
                  <c:v>11月</c:v>
                </c:pt>
                <c:pt idx="11">
                  <c:v>12月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116.78</c:v>
                </c:pt>
                <c:pt idx="1">
                  <c:v>143.73</c:v>
                </c:pt>
                <c:pt idx="2">
                  <c:v>85.76</c:v>
                </c:pt>
                <c:pt idx="3">
                  <c:v>91.15</c:v>
                </c:pt>
                <c:pt idx="4">
                  <c:v>72.81</c:v>
                </c:pt>
                <c:pt idx="5">
                  <c:v>62.05</c:v>
                </c:pt>
                <c:pt idx="6">
                  <c:v>32.87</c:v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预测 APE(M)</c:v>
                </c:pt>
              </c:strCache>
            </c:strRef>
          </c:tx>
          <c:spPr>
            <a:solidFill>
              <a:srgbClr val="BDC7DA"/>
            </a:solidFill>
            <a:effectLst/>
          </c:spPr>
          <c:invertIfNegative val="0"/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Sheet1!$A$2:$A$13</c:f>
              <c:strCache>
                <c:ptCount val="12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  <c:pt idx="8">
                  <c:v>9月</c:v>
                </c:pt>
                <c:pt idx="9">
                  <c:v>10月</c:v>
                </c:pt>
                <c:pt idx="10">
                  <c:v>11月</c:v>
                </c:pt>
                <c:pt idx="11">
                  <c:v>12月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7">
                  <c:v>100.0</c:v>
                </c:pt>
                <c:pt idx="8">
                  <c:v>100.0</c:v>
                </c:pt>
                <c:pt idx="9">
                  <c:v>100.0</c:v>
                </c:pt>
                <c:pt idx="10">
                  <c:v>100.0</c:v>
                </c:pt>
                <c:pt idx="11">
                  <c:v>96.0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solidFill>
                  <a:srgbClr val="374151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200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t"/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9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89491398-6801-4b1c-8b75-0873e5e58d86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Sheet1!$B$8</c:f>
              <c:strCache>
                <c:ptCount val="1"/>
                <c:pt idx="0">
                  <c:v>预约 APE(M)</c:v>
                </c:pt>
              </c:strCache>
            </c:strRef>
          </c:tx>
          <c:spPr>
            <a:solidFill>
              <a:srgbClr val="8B4513"/>
            </a:solidFill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8B4513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8B4513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8B4513"/>
              </a:solidFill>
              <a:effectLst/>
            </c:spPr>
          </c:dPt>
          <c:dLbls>
            <c:dLbl>
              <c:idx val="0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53.9M / 132件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 altLang="en-US">
                        <a:solidFill>
                          <a:schemeClr val="tx1"/>
                        </a:solidFill>
                      </a:rPr>
                      <a:t/>
                    </a:r>
                    <a:endParaRPr altLang="en-US"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56.4M / 110件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 altLang="en-US">
                        <a:solidFill>
                          <a:schemeClr val="tx1"/>
                        </a:solidFill>
                      </a:rPr>
                      <a:t/>
                    </a:r>
                    <a:endParaRPr altLang="en-US"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81.5M / 216件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67.4M / 173件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 altLang="en-US">
                        <a:solidFill>
                          <a:schemeClr val="tx1"/>
                        </a:solidFill>
                      </a:rPr>
                      <a:t/>
                    </a:r>
                    <a:endParaRPr altLang="en-US"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numFmt formatCode="&quot;APE &quot;#,##0.0&quot;M&quot;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900" b="1" i="0" u="none" strike="noStrike" kern="1200" baseline="0">
                    <a:solidFill>
                      <a:schemeClr val="tx1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  <c:dLbl>
              <c:idx val="4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81.9M / 223件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 altLang="en-US">
                        <a:solidFill>
                          <a:schemeClr val="tx1"/>
                        </a:solidFill>
                      </a:rPr>
                      <a:t/>
                    </a:r>
                    <a:endParaRPr altLang="en-US"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84.3M / 231件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 altLang="en-US">
                        <a:solidFill>
                          <a:schemeClr val="tx1"/>
                        </a:solidFill>
                      </a:rPr>
                      <a:t/>
                    </a:r>
                    <a:endParaRPr altLang="en-US"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49.5M / 124件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 altLang="en-US">
                        <a:solidFill>
                          <a:schemeClr val="tx1"/>
                        </a:solidFill>
                      </a:rPr>
                      <a:t/>
                    </a:r>
                    <a:endParaRPr altLang="en-US"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Ref>
              <c:f>Sheet1!$A$2:$A$8</c:f>
              <c:strCache>
                <c:ptCount val="7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53.90</c:v>
                </c:pt>
                <c:pt idx="1">
                  <c:v>56.37</c:v>
                </c:pt>
                <c:pt idx="2">
                  <c:v>81.48</c:v>
                </c:pt>
                <c:pt idx="3">
                  <c:v>67.38</c:v>
                </c:pt>
                <c:pt idx="4">
                  <c:v>81.87</c:v>
                </c:pt>
                <c:pt idx="5">
                  <c:v>84.35</c:v>
                </c:pt>
                <c:pt idx="6">
                  <c:v>49.51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overlap val="100"/>
        <c:axId val="2094734601"/>
        <c:axId val="2094734602"/>
      </c:barChart>
      <c:catAx>
        <c:axId val="2094734601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1100" b="1" i="0" u="none" strike="noStrike" kern="1200" baseline="0">
                <a:solidFill>
                  <a:srgbClr val="1A1A2E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02"/>
        <c:crosses val="autoZero"/>
        <c:auto val="1"/>
        <c:lblAlgn val="ctr"/>
        <c:lblOffset val="100"/>
        <c:noMultiLvlLbl val="1"/>
      </c:catAx>
      <c:valAx>
        <c:axId val="2094734602"/>
        <c:scaling>
          <c:orientation val="minMax"/>
        </c:scaling>
        <c:delete val="0"/>
        <c:axPos val="b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01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gap"/>
    <c:showDLblsOverMax val="0"/>
    <c:extLst>
      <c:ext uri="{0b15fc19-7d7d-44ad-8c2d-2c3a37ce22c3}">
        <chartProps xmlns="https://web.wps.cn/et/2018/main" chartId="{15251b26-8693-4ab6-8b63-0920fe5d4775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Sheet1!$B$8</c:f>
              <c:strCache>
                <c:ptCount val="1"/>
                <c:pt idx="0">
                  <c:v>签单 APE(M)</c:v>
                </c:pt>
              </c:strCache>
            </c:strRef>
          </c:tx>
          <c:spPr>
            <a:solidFill>
              <a:srgbClr val="C8890A"/>
            </a:solidFill>
            <a:effectLst/>
          </c:spPr>
          <c:invertIfNegative val="0"/>
          <c:dLbls>
            <c:dLbl>
              <c:idx val="0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47.9M / 114件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61.1M / 121件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82.2M / 212件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t>APE 62.1M / 162件</a:t>
                    </a:r>
                    <a:r>
                      <a:rPr lang="en-US" altLang="zh-CN"/>
                      <a:t/>
                    </a:r>
                    <a:r>
                      <a:rPr altLang="en-US"/>
                      <a:t/>
                    </a:r>
                    <a:endParaRPr altLang="en-US"/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numFmt formatCode="&quot;APE &quot;#,##0.0&quot;M&quot;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900" b="1" i="0" u="none" strike="noStrike" kern="1200" baseline="0">
                    <a:solidFill>
                      <a:schemeClr val="tx1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  <c:dLbl>
              <c:idx val="4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86.1M / 225件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85.7M / 239件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39.2M / 99件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Ref>
              <c:f>Sheet1!$A$2:$A$8</c:f>
              <c:strCache>
                <c:ptCount val="7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47.90</c:v>
                </c:pt>
                <c:pt idx="1">
                  <c:v>61.13</c:v>
                </c:pt>
                <c:pt idx="2">
                  <c:v>82.15</c:v>
                </c:pt>
                <c:pt idx="3">
                  <c:v>62.10</c:v>
                </c:pt>
                <c:pt idx="4">
                  <c:v>86.14</c:v>
                </c:pt>
                <c:pt idx="5">
                  <c:v>85.69</c:v>
                </c:pt>
                <c:pt idx="6">
                  <c:v>39.17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overlap val="100"/>
        <c:axId val="2094734611"/>
        <c:axId val="2094734612"/>
      </c:barChart>
      <c:catAx>
        <c:axId val="2094734611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1100" b="1" i="0" u="none" strike="noStrike" kern="1200" baseline="0">
                <a:solidFill>
                  <a:srgbClr val="1A1A2E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12"/>
        <c:crosses val="autoZero"/>
        <c:auto val="1"/>
        <c:lblAlgn val="ctr"/>
        <c:lblOffset val="100"/>
        <c:noMultiLvlLbl val="1"/>
      </c:catAx>
      <c:valAx>
        <c:axId val="2094734612"/>
        <c:scaling>
          <c:orientation val="minMax"/>
        </c:scaling>
        <c:delete val="0"/>
        <c:axPos val="b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11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gap"/>
    <c:showDLblsOverMax val="0"/>
    <c:extLst>
      <c:ext uri="{0b15fc19-7d7d-44ad-8c2d-2c3a37ce22c3}">
        <chartProps xmlns="https://web.wps.cn/et/2018/main" chartId="{90dec645-e600-4d9a-8260-22cba13a246f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Sheet1!$B$8</c:f>
              <c:strCache>
                <c:ptCount val="1"/>
                <c:pt idx="0">
                  <c:v>批核 APE(M)</c:v>
                </c:pt>
              </c:strCache>
            </c:strRef>
          </c:tx>
          <c:spPr>
            <a:solidFill>
              <a:srgbClr val="1A6B3A"/>
            </a:solidFill>
            <a:effectLst/>
          </c:spPr>
          <c:invertIfNegative val="0"/>
          <c:dLbls>
            <c:dLbl>
              <c:idx val="0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116.8M / 203件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143.7M / 180件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85.8M / 143件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t>APE 91.2M / 192件</a:t>
                    </a:r>
                    <a:r>
                      <a:rPr lang="en-US" altLang="zh-CN"/>
                      <a:t/>
                    </a:r>
                    <a:r>
                      <a:rPr altLang="en-US"/>
                      <a:t/>
                    </a:r>
                    <a:endParaRPr altLang="en-US"/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numFmt formatCode="&quot;APE &quot;#,##0.0&quot;M&quot;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900" b="1" i="0" u="none" strike="noStrike" kern="1200" baseline="0">
                    <a:solidFill>
                      <a:schemeClr val="tx1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  <c:dLbl>
              <c:idx val="4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72.8M / 163件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62.0M / 172件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32.9M / 104件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Ref>
              <c:f>Sheet1!$A$2:$A$8</c:f>
              <c:strCache>
                <c:ptCount val="7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116.78</c:v>
                </c:pt>
                <c:pt idx="1">
                  <c:v>143.73</c:v>
                </c:pt>
                <c:pt idx="2">
                  <c:v>85.76</c:v>
                </c:pt>
                <c:pt idx="3">
                  <c:v>91.15</c:v>
                </c:pt>
                <c:pt idx="4">
                  <c:v>72.81</c:v>
                </c:pt>
                <c:pt idx="5">
                  <c:v>62.05</c:v>
                </c:pt>
                <c:pt idx="6">
                  <c:v>32.87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overlap val="100"/>
        <c:axId val="2094734621"/>
        <c:axId val="2094734622"/>
      </c:barChart>
      <c:catAx>
        <c:axId val="2094734621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1100" b="1" i="0" u="none" strike="noStrike" kern="1200" baseline="0">
                <a:solidFill>
                  <a:srgbClr val="1A1A2E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22"/>
        <c:crosses val="autoZero"/>
        <c:auto val="1"/>
        <c:lblAlgn val="ctr"/>
        <c:lblOffset val="100"/>
        <c:noMultiLvlLbl val="1"/>
      </c:catAx>
      <c:valAx>
        <c:axId val="2094734622"/>
        <c:scaling>
          <c:orientation val="minMax"/>
        </c:scaling>
        <c:delete val="0"/>
        <c:axPos val="b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21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gap"/>
    <c:showDLblsOverMax val="0"/>
    <c:extLst>
      <c:ext uri="{0b15fc19-7d7d-44ad-8c2d-2c3a37ce22c3}">
        <chartProps xmlns="https://web.wps.cn/et/2018/main" chartId="{f5dc3024-979f-4d4f-afef-84b7f5517ea5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none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预约 APE(M)</c:v>
                </c:pt>
              </c:strCache>
            </c:strRef>
          </c:tx>
          <c:spPr>
            <a:ln w="31750" cap="flat" cmpd="sng" algn="ctr">
              <a:solidFill>
                <a:srgbClr val="2E86C1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E86C1"/>
              </a:solidFill>
              <a:ln w="9525" cap="flat" cmpd="sng" algn="ctr">
                <a:solidFill>
                  <a:srgbClr val="2E86C1"/>
                </a:solidFill>
                <a:prstDash val="solid"/>
                <a:round/>
              </a:ln>
              <a:effectLst/>
            </c:spPr>
          </c:marker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rgbClr val="1A1A2E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Sheet1!$A$2:$A$5</c:f>
              <c:strCache>
                <c:ptCount val="8"/>
                <c:pt idx="0">
                  <c:v>26-Jan</c:v>
                </c:pt>
                <c:pt idx="1">
                  <c:v>26-Feb</c:v>
                </c:pt>
                <c:pt idx="2">
                  <c:v>26-Mar</c:v>
                </c:pt>
                <c:pt idx="3">
                  <c:v>26-Apr</c:v>
                </c:pt>
                <c:pt idx="4">
                  <c:v>26-May</c:v>
                </c:pt>
                <c:pt idx="5">
                  <c:v>26-Jun</c:v>
                </c:pt>
                <c:pt idx="6">
                  <c:v>26-Jul</c:v>
                </c:pt>
                <c:pt idx="7">
                  <c:v>26-Aug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8"/>
                <c:pt idx="0">
                  <c:v>42.32</c:v>
                </c:pt>
                <c:pt idx="1">
                  <c:v>29.72</c:v>
                </c:pt>
                <c:pt idx="2">
                  <c:v>67.26</c:v>
                </c:pt>
                <c:pt idx="3">
                  <c:v>46.32</c:v>
                </c:pt>
                <c:pt idx="4">
                  <c:v>61.63</c:v>
                </c:pt>
                <c:pt idx="5">
                  <c:v>62.73</c:v>
                </c:pt>
                <c:pt idx="6">
                  <c:v>27.03</c:v>
                </c:pt>
                <c:pt idx="7">
                  <c:v>0.00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签单 APE(M)</c:v>
                </c:pt>
              </c:strCache>
            </c:strRef>
          </c:tx>
          <c:spPr>
            <a:ln w="31750" cap="flat" cmpd="sng" algn="ctr">
              <a:solidFill>
                <a:srgbClr val="00796B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0796B"/>
              </a:solidFill>
              <a:ln w="9525" cap="flat" cmpd="sng" algn="ctr">
                <a:solidFill>
                  <a:srgbClr val="00796B"/>
                </a:solidFill>
                <a:prstDash val="solid"/>
                <a:round/>
              </a:ln>
              <a:effectLst/>
            </c:spPr>
          </c:marker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rgbClr val="1A1A2E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Sheet1!$A$2:$A$5</c:f>
              <c:strCache>
                <c:ptCount val="8"/>
                <c:pt idx="0">
                  <c:v>26-Jan</c:v>
                </c:pt>
                <c:pt idx="1">
                  <c:v>26-Feb</c:v>
                </c:pt>
                <c:pt idx="2">
                  <c:v>26-Mar</c:v>
                </c:pt>
                <c:pt idx="3">
                  <c:v>26-Apr</c:v>
                </c:pt>
                <c:pt idx="4">
                  <c:v>26-May</c:v>
                </c:pt>
                <c:pt idx="5">
                  <c:v>26-Jun</c:v>
                </c:pt>
                <c:pt idx="6">
                  <c:v>26-Jul</c:v>
                </c:pt>
                <c:pt idx="7">
                  <c:v>26-Aug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8"/>
                <c:pt idx="0">
                  <c:v>36.68</c:v>
                </c:pt>
                <c:pt idx="1">
                  <c:v>34.27</c:v>
                </c:pt>
                <c:pt idx="2">
                  <c:v>67.78</c:v>
                </c:pt>
                <c:pt idx="3">
                  <c:v>47.25</c:v>
                </c:pt>
                <c:pt idx="4">
                  <c:v>61.27</c:v>
                </c:pt>
                <c:pt idx="5">
                  <c:v>64.36</c:v>
                </c:pt>
                <c:pt idx="6">
                  <c:v>24.22</c:v>
                </c:pt>
                <c:pt idx="7">
                  <c:v>0.00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批核 APE(M)</c:v>
                </c:pt>
              </c:strCache>
            </c:strRef>
          </c:tx>
          <c:spPr>
            <a:ln w="31750" cap="flat" cmpd="sng" algn="ctr">
              <a:solidFill>
                <a:srgbClr val="1F3864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1F3864"/>
              </a:solidFill>
              <a:ln w="9525" cap="flat" cmpd="sng" algn="ctr">
                <a:solidFill>
                  <a:srgbClr val="1F3864"/>
                </a:solidFill>
                <a:prstDash val="solid"/>
                <a:round/>
              </a:ln>
              <a:effectLst/>
            </c:spPr>
          </c:marker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rgbClr val="1A1A2E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Sheet1!$A$2:$A$5</c:f>
              <c:strCache>
                <c:ptCount val="8"/>
                <c:pt idx="0">
                  <c:v>26-Jan</c:v>
                </c:pt>
                <c:pt idx="1">
                  <c:v>26-Feb</c:v>
                </c:pt>
                <c:pt idx="2">
                  <c:v>26-Mar</c:v>
                </c:pt>
                <c:pt idx="3">
                  <c:v>26-Apr</c:v>
                </c:pt>
                <c:pt idx="4">
                  <c:v>26-May</c:v>
                </c:pt>
                <c:pt idx="5">
                  <c:v>26-Jun</c:v>
                </c:pt>
                <c:pt idx="6">
                  <c:v>26-Jul</c:v>
                </c:pt>
                <c:pt idx="7">
                  <c:v>26-Aug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8"/>
                <c:pt idx="0">
                  <c:v>86.18</c:v>
                </c:pt>
                <c:pt idx="1">
                  <c:v>124.06</c:v>
                </c:pt>
                <c:pt idx="2">
                  <c:v>81.03</c:v>
                </c:pt>
                <c:pt idx="3">
                  <c:v>85.90</c:v>
                </c:pt>
                <c:pt idx="4">
                  <c:v>56.85</c:v>
                </c:pt>
                <c:pt idx="5">
                  <c:v>48.49</c:v>
                </c:pt>
                <c:pt idx="6">
                  <c:v>29.10</c:v>
                </c:pt>
                <c:pt idx="7">
                  <c:v>0.00</c:v>
                </c:pt>
              </c:numCache>
            </c:numRef>
          </c:val>
          <c:smooth val="1"/>
        </c:ser>
        <c:dLbls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1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1100" b="0" i="0" u="none" strike="noStrike" kern="1200" baseline="0">
                <a:solidFill>
                  <a:srgbClr val="374151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65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t"/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95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d0b552af-4141-4fc5-9f8d-3ff1cddacd4b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8"/>
          <c:y val="0.04"/>
          <c:w val="0.88"/>
          <c:h val="0.88"/>
        </c:manualLayout>
      </c:layout>
      <c:lineChart>
        <c:grouping val="standard"/>
        <c:varyColors val="0"/>
        <c:ser>
          <c:idx val="0"/>
          <c:order val="0"/>
          <c:tx>
            <c:strRef>
              <c:f>Sheet1!$A$9</c:f>
              <c:strCache>
                <c:ptCount val="1"/>
                <c:pt idx="0">
                  <c:v>预约</c:v>
                </c:pt>
              </c:strCache>
            </c:strRef>
          </c:tx>
          <c:spPr>
            <a:ln w="22225" cap="rnd" cmpd="sng" algn="ctr">
              <a:solidFill>
                <a:srgbClr val="2980B9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2980B9"/>
              </a:solidFill>
              <a:ln w="9525" cap="flat" cmpd="sng" algn="ctr">
                <a:solidFill>
                  <a:srgbClr val="2980B9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Sheet1!$B2:$D9</c:f>
              <c:numCache>
                <c:formatCode>0.0</c:formatCode>
                <c:ptCount val="8"/>
                <c:pt idx="0">
                  <c:v>6.6740</c:v>
                </c:pt>
                <c:pt idx="1">
                  <c:v>9.7305</c:v>
                </c:pt>
                <c:pt idx="2">
                  <c:v>13.3508</c:v>
                </c:pt>
                <c:pt idx="3">
                  <c:v>8.8521</c:v>
                </c:pt>
                <c:pt idx="4">
                  <c:v>20.9667</c:v>
                </c:pt>
                <c:pt idx="5">
                  <c:v>6.4338</c:v>
                </c:pt>
                <c:pt idx="6">
                  <c:v>6.3400</c:v>
                </c:pt>
                <c:pt idx="7">
                  <c:v>0.0000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Sheet1!$A$9</c:f>
              <c:strCache>
                <c:ptCount val="1"/>
                <c:pt idx="0">
                  <c:v>签单</c:v>
                </c:pt>
              </c:strCache>
            </c:strRef>
          </c:tx>
          <c:spPr>
            <a:ln w="22225" cap="rnd" cmpd="sng" algn="ctr">
              <a:solidFill>
                <a:srgbClr val="1A7A3F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1A7A3F"/>
              </a:solidFill>
              <a:ln w="9525" cap="flat" cmpd="sng" algn="ctr">
                <a:solidFill>
                  <a:srgbClr val="1A7A3F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Sheet1!$B3:$D9</c:f>
              <c:numCache>
                <c:formatCode>0.0</c:formatCode>
                <c:ptCount val="8"/>
                <c:pt idx="0">
                  <c:v>4.9580</c:v>
                </c:pt>
                <c:pt idx="1">
                  <c:v>11.2125</c:v>
                </c:pt>
                <c:pt idx="2">
                  <c:v>12.1301</c:v>
                </c:pt>
                <c:pt idx="3">
                  <c:v>9.9324</c:v>
                </c:pt>
                <c:pt idx="4">
                  <c:v>19.8732</c:v>
                </c:pt>
                <c:pt idx="5">
                  <c:v>7.2777</c:v>
                </c:pt>
                <c:pt idx="6">
                  <c:v>6.5740</c:v>
                </c:pt>
                <c:pt idx="7">
                  <c:v>0.0000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Sheet1!$A$9</c:f>
              <c:strCache>
                <c:ptCount val="1"/>
                <c:pt idx="0">
                  <c:v>批核</c:v>
                </c:pt>
              </c:strCache>
            </c:strRef>
          </c:tx>
          <c:spPr>
            <a:ln w="22225" cap="rnd" cmpd="sng" algn="ctr">
              <a:solidFill>
                <a:srgbClr val="C0392B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0392B"/>
              </a:solidFill>
              <a:ln w="9525" cap="flat" cmpd="sng" algn="ctr">
                <a:solidFill>
                  <a:srgbClr val="C0392B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Sheet1!$B4:$D9</c:f>
              <c:numCache>
                <c:formatCode>0.0</c:formatCode>
                <c:ptCount val="8"/>
                <c:pt idx="0">
                  <c:v>6.7618</c:v>
                </c:pt>
                <c:pt idx="1">
                  <c:v>10.5184</c:v>
                </c:pt>
                <c:pt idx="2">
                  <c:v>6.2942</c:v>
                </c:pt>
                <c:pt idx="3">
                  <c:v>16.6020</c:v>
                </c:pt>
                <c:pt idx="4">
                  <c:v>6.0226</c:v>
                </c:pt>
                <c:pt idx="5">
                  <c:v>17.1128</c:v>
                </c:pt>
                <c:pt idx="6">
                  <c:v>1.1415</c:v>
                </c:pt>
                <c:pt idx="7">
                  <c:v>0.0000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1"/>
        <c:axId val="82282501"/>
        <c:axId val="82282502"/>
      </c:lineChart>
      <c:catAx>
        <c:axId val="82282501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50" b="1" i="0" u="none" strike="noStrike" kern="1200" baseline="0">
                <a:solidFill>
                  <a:srgbClr val="374151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2282502"/>
        <c:crosses val="autoZero"/>
        <c:auto val="1"/>
        <c:lblAlgn val="ctr"/>
        <c:lblOffset val="100"/>
        <c:noMultiLvlLbl val="1"/>
      </c:catAx>
      <c:valAx>
        <c:axId val="8228250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0" sourceLinked="0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00" b="0" i="0" u="none" strike="noStrike" kern="1200" baseline="0">
                <a:solidFill>
                  <a:srgbClr val="94A3B8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2282501"/>
        <c:crosses val="autoZero"/>
        <c:crossBetween val="between"/>
      </c:valAx>
      <c:spPr>
        <a:solidFill>
          <a:srgbClr val="FFFFFF"/>
        </a:solidFill>
        <a:ln>
          <a:noFill/>
        </a:ln>
      </c:spPr>
    </c:plotArea>
    <c:plotVisOnly val="1"/>
    <c:dispBlanksAs val="gap"/>
    <c:showDLblsOverMax val="0"/>
    <c:extLst>
      <c:ext uri="{0b15fc19-7d7d-44ad-8c2d-2c3a37ce22c3}">
        <chartProps xmlns="https://web.wps.cn/et/2018/main" chartId="{3c43087c-415b-4fc4-a17e-53adbba72ec9}"/>
      </c:ext>
    </c:extLst>
  </c:chart>
  <c:spPr>
    <a:solidFill>
      <a:srgbClr val="FFFFFF"/>
    </a:solidFill>
    <a:ln>
      <a:noFill/>
    </a:ln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8"/>
          <c:y val="0.04"/>
          <c:w val="0.88"/>
          <c:h val="0.88"/>
        </c:manualLayout>
      </c:layout>
      <c:lineChart>
        <c:grouping val="standard"/>
        <c:varyColors val="0"/>
        <c:ser>
          <c:idx val="0"/>
          <c:order val="0"/>
          <c:tx>
            <c:strRef>
              <c:f>Sheet1!$A$9</c:f>
              <c:strCache>
                <c:ptCount val="1"/>
                <c:pt idx="0">
                  <c:v>预约</c:v>
                </c:pt>
              </c:strCache>
            </c:strRef>
          </c:tx>
          <c:spPr>
            <a:ln w="22225" cap="rnd" cmpd="sng" algn="ctr">
              <a:solidFill>
                <a:srgbClr val="2980B9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2980B9"/>
              </a:solidFill>
              <a:ln w="9525" cap="flat" cmpd="sng" algn="ctr">
                <a:solidFill>
                  <a:srgbClr val="2980B9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Sheet1!$B2:$D9</c:f>
              <c:numCache>
                <c:formatCode>0.0</c:formatCode>
                <c:ptCount val="8"/>
                <c:pt idx="0">
                  <c:v>1.0230</c:v>
                </c:pt>
                <c:pt idx="1">
                  <c:v>0.3900</c:v>
                </c:pt>
                <c:pt idx="2">
                  <c:v>0.3120</c:v>
                </c:pt>
                <c:pt idx="3">
                  <c:v>2.6315</c:v>
                </c:pt>
                <c:pt idx="4">
                  <c:v>2.2350</c:v>
                </c:pt>
                <c:pt idx="5">
                  <c:v>0.8190</c:v>
                </c:pt>
                <c:pt idx="6">
                  <c:v>0.2340</c:v>
                </c:pt>
                <c:pt idx="7">
                  <c:v>0.0000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Sheet1!$A$9</c:f>
              <c:strCache>
                <c:ptCount val="1"/>
                <c:pt idx="0">
                  <c:v>签单</c:v>
                </c:pt>
              </c:strCache>
            </c:strRef>
          </c:tx>
          <c:spPr>
            <a:ln w="22225" cap="rnd" cmpd="sng" algn="ctr">
              <a:solidFill>
                <a:srgbClr val="1A7A3F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1A7A3F"/>
              </a:solidFill>
              <a:ln w="9525" cap="flat" cmpd="sng" algn="ctr">
                <a:solidFill>
                  <a:srgbClr val="1A7A3F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Sheet1!$B3:$D9</c:f>
              <c:numCache>
                <c:formatCode>0.0</c:formatCode>
                <c:ptCount val="8"/>
                <c:pt idx="0">
                  <c:v>1.0230</c:v>
                </c:pt>
                <c:pt idx="1">
                  <c:v>0.3900</c:v>
                </c:pt>
                <c:pt idx="2">
                  <c:v>0.3120</c:v>
                </c:pt>
                <c:pt idx="3">
                  <c:v>1.8935</c:v>
                </c:pt>
                <c:pt idx="4">
                  <c:v>2.9730</c:v>
                </c:pt>
                <c:pt idx="5">
                  <c:v>0.8190</c:v>
                </c:pt>
                <c:pt idx="6">
                  <c:v>0.2340</c:v>
                </c:pt>
                <c:pt idx="7">
                  <c:v>0.0000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Sheet1!$A$9</c:f>
              <c:strCache>
                <c:ptCount val="1"/>
                <c:pt idx="0">
                  <c:v>批核</c:v>
                </c:pt>
              </c:strCache>
            </c:strRef>
          </c:tx>
          <c:spPr>
            <a:ln w="22225" cap="rnd" cmpd="sng" algn="ctr">
              <a:solidFill>
                <a:srgbClr val="C0392B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0392B"/>
              </a:solidFill>
              <a:ln w="9525" cap="flat" cmpd="sng" algn="ctr">
                <a:solidFill>
                  <a:srgbClr val="C0392B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Sheet1!$B4:$D9</c:f>
              <c:numCache>
                <c:formatCode>0.0</c:formatCode>
                <c:ptCount val="8"/>
                <c:pt idx="0">
                  <c:v>1.3447</c:v>
                </c:pt>
                <c:pt idx="1">
                  <c:v>0.3900</c:v>
                </c:pt>
                <c:pt idx="2">
                  <c:v>0.4680</c:v>
                </c:pt>
                <c:pt idx="3">
                  <c:v>1.6926</c:v>
                </c:pt>
                <c:pt idx="4">
                  <c:v>2.6070</c:v>
                </c:pt>
                <c:pt idx="5">
                  <c:v>0.4770</c:v>
                </c:pt>
                <c:pt idx="6">
                  <c:v>0.7410</c:v>
                </c:pt>
                <c:pt idx="7">
                  <c:v>0.0000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1"/>
        <c:axId val="82510401"/>
        <c:axId val="82510402"/>
      </c:lineChart>
      <c:catAx>
        <c:axId val="82510401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50" b="1" i="0" u="none" strike="noStrike" kern="1200" baseline="0">
                <a:solidFill>
                  <a:srgbClr val="374151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2510402"/>
        <c:crosses val="autoZero"/>
        <c:auto val="1"/>
        <c:lblAlgn val="ctr"/>
        <c:lblOffset val="100"/>
        <c:noMultiLvlLbl val="1"/>
      </c:catAx>
      <c:valAx>
        <c:axId val="8251040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0" sourceLinked="0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00" b="0" i="0" u="none" strike="noStrike" kern="1200" baseline="0">
                <a:solidFill>
                  <a:srgbClr val="94A3B8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2510401"/>
        <c:crosses val="autoZero"/>
        <c:crossBetween val="between"/>
      </c:valAx>
      <c:spPr>
        <a:solidFill>
          <a:srgbClr val="FFFFFF"/>
        </a:solidFill>
        <a:ln>
          <a:noFill/>
        </a:ln>
      </c:spPr>
    </c:plotArea>
    <c:plotVisOnly val="1"/>
    <c:dispBlanksAs val="gap"/>
    <c:showDLblsOverMax val="0"/>
    <c:extLst>
      <c:ext uri="{0b15fc19-7d7d-44ad-8c2d-2c3a37ce22c3}">
        <chartProps xmlns="https://web.wps.cn/et/2018/main" chartId="{e914a25b-3f80-4275-962b-bd972c75c976}"/>
      </c:ext>
    </c:extLst>
  </c:chart>
  <c:spPr>
    <a:solidFill>
      <a:srgbClr val="FFFFFF"/>
    </a:solidFill>
    <a:ln>
      <a:noFill/>
    </a:ln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8"/>
          <c:y val="0.04"/>
          <c:w val="0.88"/>
          <c:h val="0.88"/>
        </c:manualLayout>
      </c:layout>
      <c:lineChart>
        <c:grouping val="standard"/>
        <c:varyColors val="0"/>
        <c:ser>
          <c:idx val="0"/>
          <c:order val="0"/>
          <c:tx>
            <c:strRef>
              <c:f>Sheet1!$A$9</c:f>
              <c:strCache>
                <c:ptCount val="1"/>
                <c:pt idx="0">
                  <c:v>预约</c:v>
                </c:pt>
              </c:strCache>
            </c:strRef>
          </c:tx>
          <c:spPr>
            <a:ln w="22225" cap="rnd" cmpd="sng" algn="ctr">
              <a:solidFill>
                <a:srgbClr val="2980B9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2980B9"/>
              </a:solidFill>
              <a:ln w="9525" cap="flat" cmpd="sng" algn="ctr">
                <a:solidFill>
                  <a:srgbClr val="2980B9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Sheet1!$B2:$D9</c:f>
              <c:numCache>
                <c:formatCode>0.0</c:formatCode>
                <c:ptCount val="8"/>
                <c:pt idx="0">
                  <c:v>13.8622</c:v>
                </c:pt>
                <c:pt idx="1">
                  <c:v>7.3632</c:v>
                </c:pt>
                <c:pt idx="2">
                  <c:v>14.8200</c:v>
                </c:pt>
                <c:pt idx="3">
                  <c:v>7.3320</c:v>
                </c:pt>
                <c:pt idx="4">
                  <c:v>6.8640</c:v>
                </c:pt>
                <c:pt idx="5">
                  <c:v>9.2742</c:v>
                </c:pt>
                <c:pt idx="6">
                  <c:v>8.9700</c:v>
                </c:pt>
                <c:pt idx="7">
                  <c:v>0.0000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Sheet1!$A$9</c:f>
              <c:strCache>
                <c:ptCount val="1"/>
                <c:pt idx="0">
                  <c:v>签单</c:v>
                </c:pt>
              </c:strCache>
            </c:strRef>
          </c:tx>
          <c:spPr>
            <a:ln w="22225" cap="rnd" cmpd="sng" algn="ctr">
              <a:solidFill>
                <a:srgbClr val="1A7A3F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1A7A3F"/>
              </a:solidFill>
              <a:ln w="9525" cap="flat" cmpd="sng" algn="ctr">
                <a:solidFill>
                  <a:srgbClr val="1A7A3F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Sheet1!$B3:$D9</c:f>
              <c:numCache>
                <c:formatCode>0.0</c:formatCode>
                <c:ptCount val="8"/>
                <c:pt idx="0">
                  <c:v>17.1382</c:v>
                </c:pt>
                <c:pt idx="1">
                  <c:v>8.3772</c:v>
                </c:pt>
                <c:pt idx="2">
                  <c:v>13.2600</c:v>
                </c:pt>
                <c:pt idx="3">
                  <c:v>8.5020</c:v>
                </c:pt>
                <c:pt idx="4">
                  <c:v>6.8640</c:v>
                </c:pt>
                <c:pt idx="5">
                  <c:v>10.4442</c:v>
                </c:pt>
                <c:pt idx="6">
                  <c:v>8.9700</c:v>
                </c:pt>
                <c:pt idx="7">
                  <c:v>0.0000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Sheet1!$A$9</c:f>
              <c:strCache>
                <c:ptCount val="1"/>
                <c:pt idx="0">
                  <c:v>批核</c:v>
                </c:pt>
              </c:strCache>
            </c:strRef>
          </c:tx>
          <c:spPr>
            <a:ln w="22225" cap="rnd" cmpd="sng" algn="ctr">
              <a:solidFill>
                <a:srgbClr val="C0392B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0392B"/>
              </a:solidFill>
              <a:ln w="9525" cap="flat" cmpd="sng" algn="ctr">
                <a:solidFill>
                  <a:srgbClr val="C0392B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Sheet1!$B4:$D9</c:f>
              <c:numCache>
                <c:formatCode>0.0</c:formatCode>
                <c:ptCount val="8"/>
                <c:pt idx="0">
                  <c:v>18.2598</c:v>
                </c:pt>
                <c:pt idx="1">
                  <c:v>93.9401</c:v>
                </c:pt>
                <c:pt idx="2">
                  <c:v>58.6997</c:v>
                </c:pt>
                <c:pt idx="3">
                  <c:v>27.2220</c:v>
                </c:pt>
                <c:pt idx="4">
                  <c:v>21.7036</c:v>
                </c:pt>
                <c:pt idx="5">
                  <c:v>6.2400</c:v>
                </c:pt>
                <c:pt idx="6">
                  <c:v>1.5600</c:v>
                </c:pt>
                <c:pt idx="7">
                  <c:v>0.0000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1"/>
        <c:axId val="86601"/>
        <c:axId val="86602"/>
      </c:lineChart>
      <c:catAx>
        <c:axId val="86601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50" b="1" i="0" u="none" strike="noStrike" kern="1200" baseline="0">
                <a:solidFill>
                  <a:srgbClr val="374151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6602"/>
        <c:crosses val="autoZero"/>
        <c:auto val="1"/>
        <c:lblAlgn val="ctr"/>
        <c:lblOffset val="100"/>
        <c:noMultiLvlLbl val="1"/>
      </c:catAx>
      <c:valAx>
        <c:axId val="8660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0" sourceLinked="0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00" b="0" i="0" u="none" strike="noStrike" kern="1200" baseline="0">
                <a:solidFill>
                  <a:srgbClr val="94A3B8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6601"/>
        <c:crosses val="autoZero"/>
        <c:crossBetween val="between"/>
      </c:valAx>
      <c:spPr>
        <a:solidFill>
          <a:srgbClr val="FFFFFF"/>
        </a:solidFill>
        <a:ln>
          <a:noFill/>
        </a:ln>
      </c:spPr>
    </c:plotArea>
    <c:plotVisOnly val="1"/>
    <c:dispBlanksAs val="gap"/>
    <c:showDLblsOverMax val="0"/>
    <c:extLst>
      <c:ext uri="{0b15fc19-7d7d-44ad-8c2d-2c3a37ce22c3}">
        <chartProps xmlns="https://web.wps.cn/et/2018/main" chartId="{f5b30b2d-c004-4cc1-a046-98d8cdcaee1c}"/>
      </c:ext>
    </c:extLst>
  </c:chart>
  <c:spPr>
    <a:solidFill>
      <a:srgbClr val="FFFFFF"/>
    </a:solidFill>
    <a:ln>
      <a:noFill/>
    </a:ln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8"/>
          <c:y val="0.04"/>
          <c:w val="0.88"/>
          <c:h val="0.88"/>
        </c:manualLayout>
      </c:layout>
      <c:lineChart>
        <c:grouping val="standard"/>
        <c:varyColors val="0"/>
        <c:ser>
          <c:idx val="0"/>
          <c:order val="0"/>
          <c:tx>
            <c:strRef>
              <c:f>Sheet1!$A$9</c:f>
              <c:strCache>
                <c:ptCount val="1"/>
                <c:pt idx="0">
                  <c:v>预约</c:v>
                </c:pt>
              </c:strCache>
            </c:strRef>
          </c:tx>
          <c:spPr>
            <a:ln w="22225" cap="rnd" cmpd="sng" algn="ctr">
              <a:solidFill>
                <a:srgbClr val="2980B9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2980B9"/>
              </a:solidFill>
              <a:ln w="9525" cap="flat" cmpd="sng" algn="ctr">
                <a:solidFill>
                  <a:srgbClr val="2980B9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Sheet1!$B2:$D9</c:f>
              <c:numCache>
                <c:formatCode>0.0</c:formatCode>
                <c:ptCount val="8"/>
                <c:pt idx="0">
                  <c:v>6.1763</c:v>
                </c:pt>
                <c:pt idx="1">
                  <c:v>3.9852</c:v>
                </c:pt>
                <c:pt idx="2">
                  <c:v>13.5372</c:v>
                </c:pt>
                <c:pt idx="3">
                  <c:v>16.8389</c:v>
                </c:pt>
                <c:pt idx="4">
                  <c:v>16.8841</c:v>
                </c:pt>
                <c:pt idx="5">
                  <c:v>23.3036</c:v>
                </c:pt>
                <c:pt idx="6">
                  <c:v>6.5540</c:v>
                </c:pt>
                <c:pt idx="7">
                  <c:v>0.0000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Sheet1!$A$9</c:f>
              <c:strCache>
                <c:ptCount val="1"/>
                <c:pt idx="0">
                  <c:v>签单</c:v>
                </c:pt>
              </c:strCache>
            </c:strRef>
          </c:tx>
          <c:spPr>
            <a:ln w="22225" cap="rnd" cmpd="sng" algn="ctr">
              <a:solidFill>
                <a:srgbClr val="1A7A3F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1A7A3F"/>
              </a:solidFill>
              <a:ln w="9525" cap="flat" cmpd="sng" algn="ctr">
                <a:solidFill>
                  <a:srgbClr val="1A7A3F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Sheet1!$B3:$D9</c:f>
              <c:numCache>
                <c:formatCode>0.0</c:formatCode>
                <c:ptCount val="8"/>
                <c:pt idx="0">
                  <c:v>2.5883</c:v>
                </c:pt>
                <c:pt idx="1">
                  <c:v>6.5592</c:v>
                </c:pt>
                <c:pt idx="2">
                  <c:v>13.9272</c:v>
                </c:pt>
                <c:pt idx="3">
                  <c:v>16.1215</c:v>
                </c:pt>
                <c:pt idx="4">
                  <c:v>17.2306</c:v>
                </c:pt>
                <c:pt idx="5">
                  <c:v>21.9951</c:v>
                </c:pt>
                <c:pt idx="6">
                  <c:v>5.3989</c:v>
                </c:pt>
                <c:pt idx="7">
                  <c:v>0.0000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Sheet1!$A$9</c:f>
              <c:strCache>
                <c:ptCount val="1"/>
                <c:pt idx="0">
                  <c:v>批核</c:v>
                </c:pt>
              </c:strCache>
            </c:strRef>
          </c:tx>
          <c:spPr>
            <a:ln w="22225" cap="rnd" cmpd="sng" algn="ctr">
              <a:solidFill>
                <a:srgbClr val="C0392B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0392B"/>
              </a:solidFill>
              <a:ln w="9525" cap="flat" cmpd="sng" algn="ctr">
                <a:solidFill>
                  <a:srgbClr val="C0392B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Sheet1!$B4:$D9</c:f>
              <c:numCache>
                <c:formatCode>0.0</c:formatCode>
                <c:ptCount val="8"/>
                <c:pt idx="0">
                  <c:v>41.7944</c:v>
                </c:pt>
                <c:pt idx="1">
                  <c:v>5.6723</c:v>
                </c:pt>
                <c:pt idx="2">
                  <c:v>4.4310</c:v>
                </c:pt>
                <c:pt idx="3">
                  <c:v>12.8148</c:v>
                </c:pt>
                <c:pt idx="4">
                  <c:v>21.1993</c:v>
                </c:pt>
                <c:pt idx="5">
                  <c:v>17.4175</c:v>
                </c:pt>
                <c:pt idx="6">
                  <c:v>6.5766</c:v>
                </c:pt>
                <c:pt idx="7">
                  <c:v>0.0000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1"/>
        <c:axId val="82151601"/>
        <c:axId val="82151602"/>
      </c:lineChart>
      <c:catAx>
        <c:axId val="82151601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50" b="1" i="0" u="none" strike="noStrike" kern="1200" baseline="0">
                <a:solidFill>
                  <a:srgbClr val="374151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2151602"/>
        <c:crosses val="autoZero"/>
        <c:auto val="1"/>
        <c:lblAlgn val="ctr"/>
        <c:lblOffset val="100"/>
        <c:noMultiLvlLbl val="1"/>
      </c:catAx>
      <c:valAx>
        <c:axId val="8215160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0" sourceLinked="0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00" b="0" i="0" u="none" strike="noStrike" kern="1200" baseline="0">
                <a:solidFill>
                  <a:srgbClr val="94A3B8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2151601"/>
        <c:crosses val="autoZero"/>
        <c:crossBetween val="between"/>
      </c:valAx>
      <c:spPr>
        <a:solidFill>
          <a:srgbClr val="FFFFFF"/>
        </a:solidFill>
        <a:ln>
          <a:noFill/>
        </a:ln>
      </c:spPr>
    </c:plotArea>
    <c:plotVisOnly val="1"/>
    <c:dispBlanksAs val="gap"/>
    <c:showDLblsOverMax val="0"/>
    <c:extLst>
      <c:ext uri="{0b15fc19-7d7d-44ad-8c2d-2c3a37ce22c3}">
        <chartProps xmlns="https://web.wps.cn/et/2018/main" chartId="{b3516c40-ccd4-4b1d-8f3c-fe1cd0f34671}"/>
      </c:ext>
    </c:extLst>
  </c:chart>
  <c:spPr>
    <a:solidFill>
      <a:srgbClr val="FFFFFF"/>
    </a:solidFill>
    <a:ln>
      <a:noFill/>
    </a:ln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8"/>
          <c:y val="0.04"/>
          <c:w val="0.88"/>
          <c:h val="0.88"/>
        </c:manualLayout>
      </c:layout>
      <c:lineChart>
        <c:grouping val="standard"/>
        <c:varyColors val="0"/>
        <c:ser>
          <c:idx val="0"/>
          <c:order val="0"/>
          <c:tx>
            <c:strRef>
              <c:f>Sheet1!$A$9</c:f>
              <c:strCache>
                <c:ptCount val="1"/>
                <c:pt idx="0">
                  <c:v>预约</c:v>
                </c:pt>
              </c:strCache>
            </c:strRef>
          </c:tx>
          <c:spPr>
            <a:ln w="22225" cap="rnd" cmpd="sng" algn="ctr">
              <a:solidFill>
                <a:srgbClr val="2980B9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2980B9"/>
              </a:solidFill>
              <a:ln w="9525" cap="flat" cmpd="sng" algn="ctr">
                <a:solidFill>
                  <a:srgbClr val="2980B9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Sheet1!$B2:$D9</c:f>
              <c:numCache>
                <c:formatCode>0.0</c:formatCode>
                <c:ptCount val="8"/>
                <c:pt idx="0">
                  <c:v>17.0096</c:v>
                </c:pt>
                <c:pt idx="1">
                  <c:v>16.0597</c:v>
                </c:pt>
                <c:pt idx="2">
                  <c:v>24.7618</c:v>
                </c:pt>
                <c:pt idx="3">
                  <c:v>15.6775</c:v>
                </c:pt>
                <c:pt idx="4">
                  <c:v>19.7349</c:v>
                </c:pt>
                <c:pt idx="5">
                  <c:v>22.9566</c:v>
                </c:pt>
                <c:pt idx="6">
                  <c:v>9.0844</c:v>
                </c:pt>
                <c:pt idx="7">
                  <c:v>0.0000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Sheet1!$A$9</c:f>
              <c:strCache>
                <c:ptCount val="1"/>
                <c:pt idx="0">
                  <c:v>签单</c:v>
                </c:pt>
              </c:strCache>
            </c:strRef>
          </c:tx>
          <c:spPr>
            <a:ln w="22225" cap="rnd" cmpd="sng" algn="ctr">
              <a:solidFill>
                <a:srgbClr val="1A7A3F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1A7A3F"/>
              </a:solidFill>
              <a:ln w="9525" cap="flat" cmpd="sng" algn="ctr">
                <a:solidFill>
                  <a:srgbClr val="1A7A3F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Sheet1!$B3:$D9</c:f>
              <c:numCache>
                <c:formatCode>0.0</c:formatCode>
                <c:ptCount val="8"/>
                <c:pt idx="0">
                  <c:v>13.7444</c:v>
                </c:pt>
                <c:pt idx="1">
                  <c:v>15.1831</c:v>
                </c:pt>
                <c:pt idx="2">
                  <c:v>27.6061</c:v>
                </c:pt>
                <c:pt idx="3">
                  <c:v>14.7969</c:v>
                </c:pt>
                <c:pt idx="4">
                  <c:v>20.3780</c:v>
                </c:pt>
                <c:pt idx="5">
                  <c:v>23.8791</c:v>
                </c:pt>
                <c:pt idx="6">
                  <c:v>7.0402</c:v>
                </c:pt>
                <c:pt idx="7">
                  <c:v>0.0000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Sheet1!$A$9</c:f>
              <c:strCache>
                <c:ptCount val="1"/>
                <c:pt idx="0">
                  <c:v>批核</c:v>
                </c:pt>
              </c:strCache>
            </c:strRef>
          </c:tx>
          <c:spPr>
            <a:ln w="22225" cap="rnd" cmpd="sng" algn="ctr">
              <a:solidFill>
                <a:srgbClr val="C0392B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0392B"/>
              </a:solidFill>
              <a:ln w="9525" cap="flat" cmpd="sng" algn="ctr">
                <a:solidFill>
                  <a:srgbClr val="C0392B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Sheet1!$B4:$D9</c:f>
              <c:numCache>
                <c:formatCode>0.0</c:formatCode>
                <c:ptCount val="8"/>
                <c:pt idx="0">
                  <c:v>45.9626</c:v>
                </c:pt>
                <c:pt idx="1">
                  <c:v>20.3124</c:v>
                </c:pt>
                <c:pt idx="2">
                  <c:v>13.5305</c:v>
                </c:pt>
                <c:pt idx="3">
                  <c:v>28.8356</c:v>
                </c:pt>
                <c:pt idx="4">
                  <c:v>10.8491</c:v>
                </c:pt>
                <c:pt idx="5">
                  <c:v>12.4729</c:v>
                </c:pt>
                <c:pt idx="6">
                  <c:v>19.2417</c:v>
                </c:pt>
                <c:pt idx="7">
                  <c:v>0.0000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1"/>
        <c:axId val="82770401"/>
        <c:axId val="82770402"/>
      </c:lineChart>
      <c:catAx>
        <c:axId val="82770401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50" b="1" i="0" u="none" strike="noStrike" kern="1200" baseline="0">
                <a:solidFill>
                  <a:srgbClr val="374151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2770402"/>
        <c:crosses val="autoZero"/>
        <c:auto val="1"/>
        <c:lblAlgn val="ctr"/>
        <c:lblOffset val="100"/>
        <c:noMultiLvlLbl val="1"/>
      </c:catAx>
      <c:valAx>
        <c:axId val="8277040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0" sourceLinked="0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00" b="0" i="0" u="none" strike="noStrike" kern="1200" baseline="0">
                <a:solidFill>
                  <a:srgbClr val="94A3B8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2770401"/>
        <c:crosses val="autoZero"/>
        <c:crossBetween val="between"/>
      </c:valAx>
      <c:spPr>
        <a:solidFill>
          <a:srgbClr val="FFFFFF"/>
        </a:solidFill>
        <a:ln>
          <a:noFill/>
        </a:ln>
      </c:spPr>
    </c:plotArea>
    <c:plotVisOnly val="1"/>
    <c:dispBlanksAs val="gap"/>
    <c:showDLblsOverMax val="0"/>
    <c:extLst>
      <c:ext uri="{0b15fc19-7d7d-44ad-8c2d-2c3a37ce22c3}">
        <chartProps xmlns="https://web.wps.cn/et/2018/main" chartId="{0810f2af-9c7c-41f8-a26d-4e4109e73045}"/>
      </c:ext>
    </c:extLst>
  </c:chart>
  <c:spPr>
    <a:solidFill>
      <a:srgbClr val="FFFFFF"/>
    </a:solidFill>
    <a:ln>
      <a:noFill/>
    </a:ln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8"/>
          <c:y val="0.04"/>
          <c:w val="0.88"/>
          <c:h val="0.88"/>
        </c:manualLayout>
      </c:layout>
      <c:lineChart>
        <c:grouping val="standard"/>
        <c:varyColors val="0"/>
        <c:ser>
          <c:idx val="0"/>
          <c:order val="0"/>
          <c:tx>
            <c:strRef>
              <c:f>Sheet1!$A$9</c:f>
              <c:strCache>
                <c:ptCount val="1"/>
                <c:pt idx="0">
                  <c:v>预约</c:v>
                </c:pt>
              </c:strCache>
            </c:strRef>
          </c:tx>
          <c:spPr>
            <a:ln w="22225" cap="rnd" cmpd="sng" algn="ctr">
              <a:solidFill>
                <a:srgbClr val="2980B9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2980B9"/>
              </a:solidFill>
              <a:ln w="9525" cap="flat" cmpd="sng" algn="ctr">
                <a:solidFill>
                  <a:srgbClr val="2980B9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Sheet1!$B2:$D9</c:f>
              <c:numCache>
                <c:formatCode>0.0</c:formatCode>
                <c:ptCount val="8"/>
                <c:pt idx="0">
                  <c:v>0.4368</c:v>
                </c:pt>
                <c:pt idx="1">
                  <c:v>0.0798</c:v>
                </c:pt>
                <c:pt idx="2">
                  <c:v>1.9639</c:v>
                </c:pt>
                <c:pt idx="3">
                  <c:v>0.4201</c:v>
                </c:pt>
                <c:pt idx="4">
                  <c:v>0.0447</c:v>
                </c:pt>
                <c:pt idx="5">
                  <c:v>4.0757</c:v>
                </c:pt>
                <c:pt idx="6">
                  <c:v>0.2540</c:v>
                </c:pt>
                <c:pt idx="7">
                  <c:v>0.0000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Sheet1!$A$9</c:f>
              <c:strCache>
                <c:ptCount val="1"/>
                <c:pt idx="0">
                  <c:v>签单</c:v>
                </c:pt>
              </c:strCache>
            </c:strRef>
          </c:tx>
          <c:spPr>
            <a:ln w="22225" cap="rnd" cmpd="sng" algn="ctr">
              <a:solidFill>
                <a:srgbClr val="1A7A3F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1A7A3F"/>
              </a:solidFill>
              <a:ln w="9525" cap="flat" cmpd="sng" algn="ctr">
                <a:solidFill>
                  <a:srgbClr val="1A7A3F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Sheet1!$B3:$D9</c:f>
              <c:numCache>
                <c:formatCode>0.0</c:formatCode>
                <c:ptCount val="8"/>
                <c:pt idx="0">
                  <c:v>0.0898</c:v>
                </c:pt>
                <c:pt idx="1">
                  <c:v>0.4368</c:v>
                </c:pt>
                <c:pt idx="2">
                  <c:v>2.0437</c:v>
                </c:pt>
                <c:pt idx="3">
                  <c:v>0.4201</c:v>
                </c:pt>
                <c:pt idx="4">
                  <c:v>0.0447</c:v>
                </c:pt>
                <c:pt idx="5">
                  <c:v>4.0757</c:v>
                </c:pt>
                <c:pt idx="6">
                  <c:v>0.2540</c:v>
                </c:pt>
                <c:pt idx="7">
                  <c:v>0.0000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Sheet1!$A$9</c:f>
              <c:strCache>
                <c:ptCount val="1"/>
                <c:pt idx="0">
                  <c:v>批核</c:v>
                </c:pt>
              </c:strCache>
            </c:strRef>
          </c:tx>
          <c:spPr>
            <a:ln w="22225" cap="rnd" cmpd="sng" algn="ctr">
              <a:solidFill>
                <a:srgbClr val="C0392B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0392B"/>
              </a:solidFill>
              <a:ln w="9525" cap="flat" cmpd="sng" algn="ctr">
                <a:solidFill>
                  <a:srgbClr val="C0392B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Sheet1!$B4:$D9</c:f>
              <c:numCache>
                <c:formatCode>0.0</c:formatCode>
                <c:ptCount val="8"/>
                <c:pt idx="0">
                  <c:v>0.5802</c:v>
                </c:pt>
                <c:pt idx="1">
                  <c:v>0.8970</c:v>
                </c:pt>
                <c:pt idx="2">
                  <c:v>0.3355</c:v>
                </c:pt>
                <c:pt idx="3">
                  <c:v>1.7550</c:v>
                </c:pt>
                <c:pt idx="4">
                  <c:v>0.5743</c:v>
                </c:pt>
                <c:pt idx="5">
                  <c:v>0.0000</c:v>
                </c:pt>
                <c:pt idx="6">
                  <c:v>0.3239</c:v>
                </c:pt>
                <c:pt idx="7">
                  <c:v>0.0000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1"/>
        <c:axId val="82151201"/>
        <c:axId val="82151202"/>
      </c:lineChart>
      <c:catAx>
        <c:axId val="82151201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50" b="1" i="0" u="none" strike="noStrike" kern="1200" baseline="0">
                <a:solidFill>
                  <a:srgbClr val="374151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2151202"/>
        <c:crosses val="autoZero"/>
        <c:auto val="1"/>
        <c:lblAlgn val="ctr"/>
        <c:lblOffset val="100"/>
        <c:noMultiLvlLbl val="1"/>
      </c:catAx>
      <c:valAx>
        <c:axId val="8215120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0" sourceLinked="0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00" b="0" i="0" u="none" strike="noStrike" kern="1200" baseline="0">
                <a:solidFill>
                  <a:srgbClr val="94A3B8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2151201"/>
        <c:crosses val="autoZero"/>
        <c:crossBetween val="between"/>
      </c:valAx>
      <c:spPr>
        <a:solidFill>
          <a:srgbClr val="FFFFFF"/>
        </a:solidFill>
        <a:ln>
          <a:noFill/>
        </a:ln>
      </c:spPr>
    </c:plotArea>
    <c:plotVisOnly val="1"/>
    <c:dispBlanksAs val="gap"/>
    <c:showDLblsOverMax val="0"/>
    <c:extLst>
      <c:ext uri="{0b15fc19-7d7d-44ad-8c2d-2c3a37ce22c3}">
        <chartProps xmlns="https://web.wps.cn/et/2018/main" chartId="{8da179a0-edd7-4fc5-8553-973b2140e5e7}"/>
      </c:ext>
    </c:extLst>
  </c:chart>
  <c:spPr>
    <a:solidFill>
      <a:srgbClr val="FFFFFF"/>
    </a:solidFill>
    <a:ln>
      <a:noFill/>
    </a:ln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8"/>
          <c:y val="0.04"/>
          <c:w val="0.88"/>
          <c:h val="0.88"/>
        </c:manualLayout>
      </c:layout>
      <c:lineChart>
        <c:grouping val="standard"/>
        <c:varyColors val="0"/>
        <c:ser>
          <c:idx val="0"/>
          <c:order val="0"/>
          <c:tx>
            <c:strRef>
              <c:f>Sheet1!$A$9</c:f>
              <c:strCache>
                <c:ptCount val="1"/>
                <c:pt idx="0">
                  <c:v>预约</c:v>
                </c:pt>
              </c:strCache>
            </c:strRef>
          </c:tx>
          <c:spPr>
            <a:ln w="22225" cap="rnd" cmpd="sng" algn="ctr">
              <a:solidFill>
                <a:srgbClr val="2980B9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2980B9"/>
              </a:solidFill>
              <a:ln w="9525" cap="flat" cmpd="sng" algn="ctr">
                <a:solidFill>
                  <a:srgbClr val="2980B9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Sheet1!$B2:$D9</c:f>
              <c:numCache>
                <c:formatCode>0.0</c:formatCode>
                <c:ptCount val="8"/>
                <c:pt idx="0">
                  <c:v>0.0000</c:v>
                </c:pt>
                <c:pt idx="1">
                  <c:v>1.0140</c:v>
                </c:pt>
                <c:pt idx="2">
                  <c:v>1.9005</c:v>
                </c:pt>
                <c:pt idx="3">
                  <c:v>6.7885</c:v>
                </c:pt>
                <c:pt idx="4">
                  <c:v>11.2611</c:v>
                </c:pt>
                <c:pt idx="5">
                  <c:v>13.8249</c:v>
                </c:pt>
                <c:pt idx="6">
                  <c:v>17.7919</c:v>
                </c:pt>
                <c:pt idx="7">
                  <c:v>0.0000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Sheet1!$A$9</c:f>
              <c:strCache>
                <c:ptCount val="1"/>
                <c:pt idx="0">
                  <c:v>签单</c:v>
                </c:pt>
              </c:strCache>
            </c:strRef>
          </c:tx>
          <c:spPr>
            <a:ln w="22225" cap="rnd" cmpd="sng" algn="ctr">
              <a:solidFill>
                <a:srgbClr val="1A7A3F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1A7A3F"/>
              </a:solidFill>
              <a:ln w="9525" cap="flat" cmpd="sng" algn="ctr">
                <a:solidFill>
                  <a:srgbClr val="1A7A3F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Sheet1!$B3:$D9</c:f>
              <c:numCache>
                <c:formatCode>0.0</c:formatCode>
                <c:ptCount val="8"/>
                <c:pt idx="0">
                  <c:v>0.0000</c:v>
                </c:pt>
                <c:pt idx="1">
                  <c:v>1.0140</c:v>
                </c:pt>
                <c:pt idx="2">
                  <c:v>1.9005</c:v>
                </c:pt>
                <c:pt idx="3">
                  <c:v>6.7885</c:v>
                </c:pt>
                <c:pt idx="4">
                  <c:v>10.2861</c:v>
                </c:pt>
                <c:pt idx="5">
                  <c:v>12.9396</c:v>
                </c:pt>
                <c:pt idx="6">
                  <c:v>10.4164</c:v>
                </c:pt>
                <c:pt idx="7">
                  <c:v>0.0000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Sheet1!$A$9</c:f>
              <c:strCache>
                <c:ptCount val="1"/>
                <c:pt idx="0">
                  <c:v>批核</c:v>
                </c:pt>
              </c:strCache>
            </c:strRef>
          </c:tx>
          <c:spPr>
            <a:ln w="22225" cap="rnd" cmpd="sng" algn="ctr">
              <a:solidFill>
                <a:srgbClr val="C0392B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0392B"/>
              </a:solidFill>
              <a:ln w="9525" cap="flat" cmpd="sng" algn="ctr">
                <a:solidFill>
                  <a:srgbClr val="C0392B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Sheet1!$B4:$D9</c:f>
              <c:numCache>
                <c:formatCode>0.0</c:formatCode>
                <c:ptCount val="8"/>
                <c:pt idx="0">
                  <c:v>0.0000</c:v>
                </c:pt>
                <c:pt idx="1">
                  <c:v>0.0000</c:v>
                </c:pt>
                <c:pt idx="2">
                  <c:v>1.4980</c:v>
                </c:pt>
                <c:pt idx="3">
                  <c:v>2.2294</c:v>
                </c:pt>
                <c:pt idx="4">
                  <c:v>4.0297</c:v>
                </c:pt>
                <c:pt idx="5">
                  <c:v>8.3324</c:v>
                </c:pt>
                <c:pt idx="6">
                  <c:v>3.2884</c:v>
                </c:pt>
                <c:pt idx="7">
                  <c:v>0.0000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1"/>
        <c:axId val="87301"/>
        <c:axId val="87302"/>
      </c:lineChart>
      <c:catAx>
        <c:axId val="87301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50" b="1" i="0" u="none" strike="noStrike" kern="1200" baseline="0">
                <a:solidFill>
                  <a:srgbClr val="374151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7302"/>
        <c:crosses val="autoZero"/>
        <c:auto val="1"/>
        <c:lblAlgn val="ctr"/>
        <c:lblOffset val="100"/>
        <c:noMultiLvlLbl val="1"/>
      </c:catAx>
      <c:valAx>
        <c:axId val="8730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0" sourceLinked="0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00" b="0" i="0" u="none" strike="noStrike" kern="1200" baseline="0">
                <a:solidFill>
                  <a:srgbClr val="94A3B8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7301"/>
        <c:crosses val="autoZero"/>
        <c:crossBetween val="between"/>
      </c:valAx>
      <c:spPr>
        <a:solidFill>
          <a:srgbClr val="FFFFFF"/>
        </a:solidFill>
        <a:ln>
          <a:noFill/>
        </a:ln>
      </c:spPr>
    </c:plotArea>
    <c:plotVisOnly val="1"/>
    <c:dispBlanksAs val="gap"/>
    <c:showDLblsOverMax val="0"/>
    <c:extLst>
      <c:ext uri="{0b15fc19-7d7d-44ad-8c2d-2c3a37ce22c3}">
        <chartProps xmlns="https://web.wps.cn/et/2018/main" chartId="{375a80eb-c526-4ac3-8945-2c4dde78ddea}"/>
      </c:ext>
    </c:extLst>
  </c:chart>
  <c:spPr>
    <a:solidFill>
      <a:srgbClr val="FFFFFF"/>
    </a:solidFill>
    <a:ln>
      <a:noFill/>
    </a:ln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APE构成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explosion val="0"/>
          <c:dPt>
            <c:idx val="0"/>
            <c:bubble3D val="0"/>
            <c:spPr>
              <a:solidFill>
                <a:srgbClr val="00796B"/>
              </a:solidFill>
              <a:effectLst/>
            </c:spPr>
          </c:dPt>
          <c:dPt>
            <c:idx val="1"/>
            <c:bubble3D val="0"/>
            <c:spPr>
              <a:solidFill>
                <a:srgbClr val="C8890A"/>
              </a:solidFill>
              <a:effectLst/>
            </c:spPr>
          </c:dPt>
          <c:dPt>
            <c:idx val="2"/>
            <c:bubble3D val="0"/>
            <c:spPr>
              <a:solidFill>
                <a:srgbClr val="2E86C1"/>
              </a:solidFill>
              <a:effectLst/>
            </c:spPr>
          </c:dPt>
          <c:dLbls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8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  <c:dLblPos val="outEnd"/>
          </c:dLbls>
          <c:cat>
            <c:strRef>
              <c:f>Sheet1!$A$2:$A$4</c:f>
              <c:strCache>
                <c:ptCount val="3"/>
                <c:pt idx="0">
                  <c:v>已批核</c:v>
                </c:pt>
                <c:pt idx="1">
                  <c:v>未批核</c:v>
                </c:pt>
                <c:pt idx="2">
                  <c:v>待签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605.16</c:v>
                </c:pt>
                <c:pt idx="1">
                  <c:v>107.35</c:v>
                </c:pt>
                <c:pt idx="2">
                  <c:v>16.05</c:v>
                </c:pt>
              </c:numCache>
            </c:numRef>
          </c:val>
        </c:ser>
        <c:dLbls>
          <c:showLegendKey val="0"/>
          <c:showVal val="0"/>
          <c:showCatName val="1"/>
          <c:showSerName val="0"/>
          <c:showPercent val="1"/>
          <c:showBubbleSize val="0"/>
          <c:showLeaderLines val="1"/>
        </c:dLbls>
        <c:firstSliceAng val="0"/>
        <c:holeSize val="52"/>
      </c:doughnutChart>
      <c:spPr>
        <a:noFill/>
        <a:ln>
          <a:noFill/>
        </a:ln>
        <a:effectLst/>
      </c:spPr>
    </c:plotArea>
    <c:legend>
      <c:legendPos val="b"/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8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20a6ab99-be55-4806-a3dd-2f3f6e3251c2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155926430517711"/>
          <c:y val="0.0733187040144572"/>
          <c:w val="0.838709128065395"/>
          <c:h val="0.866244998063767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已批核 APE(M)</c:v>
                </c:pt>
              </c:strCache>
            </c:strRef>
          </c:tx>
          <c:spPr>
            <a:solidFill>
              <a:srgbClr val="1A7A3F"/>
            </a:solidFill>
            <a:effectLst/>
          </c:spPr>
          <c:invertIfNegative val="0"/>
          <c:dLbls>
            <c:dLbl>
              <c:idx val="3"/>
              <c:layout>
                <c:manualLayout>
                  <c:x val="-0.00728079874685725"/>
                  <c:y val="0.00371333813054721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0536444141689373"/>
                      <c:h val="0.0300761585129728"/>
                    </c:manualLayout>
                  </c15:layout>
                </c:ext>
              </c:extLst>
            </c:dLbl>
            <c:dLbl>
              <c:idx val="4"/>
              <c:layout>
                <c:manualLayout>
                  <c:x val="-0.00683525516987192"/>
                  <c:y val="-0.0017014347354109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5"/>
              <c:layout>
                <c:manualLayout>
                  <c:x val="-0.0148160762942779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6"/>
              <c:layout>
                <c:manualLayout>
                  <c:x val="-0.00358636417486077"/>
                  <c:y val="0.0017459503425469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0379710144927536"/>
                      <c:h val="0.0585710679121434"/>
                    </c:manualLayout>
                  </c15:layout>
                </c:ext>
              </c:extLst>
            </c:dLbl>
            <c:dLbl>
              <c:idx val="7"/>
              <c:layout>
                <c:manualLayout>
                  <c:x val="-0.00809047411918225"/>
                  <c:y val="-0.00403704583234386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numFmt formatCode="#,##0.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00" b="1" i="0" u="none" strike="noStrike" kern="1200" baseline="0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Sheet1!$A$2:$A$9</c:f>
              <c:strCache>
                <c:ptCount val="9"/>
                <c:pt idx="0">
                  <c:v>BK业务</c:v>
                </c:pt>
                <c:pt idx="1">
                  <c:v>永明经代</c:v>
                </c:pt>
                <c:pt idx="2">
                  <c:v>同行经代</c:v>
                </c:pt>
                <c:pt idx="3">
                  <c:v>天领业务</c:v>
                </c:pt>
                <c:pt idx="4">
                  <c:v>ICLUB业务</c:v>
                </c:pt>
                <c:pt idx="5">
                  <c:v>成事家办</c:v>
                </c:pt>
                <c:pt idx="6">
                  <c:v>合伙转介业务</c:v>
                </c:pt>
                <c:pt idx="7">
                  <c:v>IFA业务</c:v>
                </c:pt>
                <c:pt idx="8">
                  <c:v>MGA业务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9"/>
                <c:pt idx="0">
                  <c:v>227.6300</c:v>
                </c:pt>
                <c:pt idx="1">
                  <c:v>151.2100</c:v>
                </c:pt>
                <c:pt idx="2">
                  <c:v>109.9100</c:v>
                </c:pt>
                <c:pt idx="3">
                  <c:v>64.4500</c:v>
                </c:pt>
                <c:pt idx="4">
                  <c:v>20.4000</c:v>
                </c:pt>
                <c:pt idx="5">
                  <c:v>7.7200</c:v>
                </c:pt>
                <c:pt idx="6">
                  <c:v>4.4700</c:v>
                </c:pt>
                <c:pt idx="7">
                  <c:v>0.0000</c:v>
                </c:pt>
                <c:pt idx="8">
                  <c:v>19.3800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未批核 APE(M)</c:v>
                </c:pt>
              </c:strCache>
            </c:strRef>
          </c:tx>
          <c:spPr>
            <a:solidFill>
              <a:srgbClr val="EB954B"/>
            </a:solidFill>
            <a:effectLst/>
          </c:spPr>
          <c:invertIfNegative val="0"/>
          <c:dLbls>
            <c:delete val="1"/>
          </c:dLbls>
          <c:cat>
            <c:strRef>
              <c:f>Sheet1!$A$2:$A$9</c:f>
              <c:strCache>
                <c:ptCount val="9"/>
                <c:pt idx="0">
                  <c:v>BK业务</c:v>
                </c:pt>
                <c:pt idx="1">
                  <c:v>永明经代</c:v>
                </c:pt>
                <c:pt idx="2">
                  <c:v>同行经代</c:v>
                </c:pt>
                <c:pt idx="3">
                  <c:v>天领业务</c:v>
                </c:pt>
                <c:pt idx="4">
                  <c:v>ICLUB业务</c:v>
                </c:pt>
                <c:pt idx="5">
                  <c:v>成事家办</c:v>
                </c:pt>
                <c:pt idx="6">
                  <c:v>合伙转介业务</c:v>
                </c:pt>
                <c:pt idx="7">
                  <c:v>IFA业务</c:v>
                </c:pt>
                <c:pt idx="8">
                  <c:v>MGA业务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9"/>
                <c:pt idx="0">
                  <c:v>28.6200</c:v>
                </c:pt>
                <c:pt idx="1">
                  <c:v>19.2100</c:v>
                </c:pt>
                <c:pt idx="2">
                  <c:v>15.7100</c:v>
                </c:pt>
                <c:pt idx="3">
                  <c:v>14.5100</c:v>
                </c:pt>
                <c:pt idx="4">
                  <c:v>0.0000</c:v>
                </c:pt>
                <c:pt idx="5">
                  <c:v>0.9400</c:v>
                </c:pt>
                <c:pt idx="6">
                  <c:v>4.3900</c:v>
                </c:pt>
                <c:pt idx="7">
                  <c:v>0.0000</c:v>
                </c:pt>
                <c:pt idx="8">
                  <c:v>23.9700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待签 APE(M)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delete val="1"/>
          </c:dLbls>
          <c:cat>
            <c:strRef>
              <c:f>Sheet1!$A$2:$A$9</c:f>
              <c:strCache>
                <c:ptCount val="9"/>
                <c:pt idx="0">
                  <c:v>BK业务</c:v>
                </c:pt>
                <c:pt idx="1">
                  <c:v>永明经代</c:v>
                </c:pt>
                <c:pt idx="2">
                  <c:v>同行经代</c:v>
                </c:pt>
                <c:pt idx="3">
                  <c:v>天领业务</c:v>
                </c:pt>
                <c:pt idx="4">
                  <c:v>ICLUB业务</c:v>
                </c:pt>
                <c:pt idx="5">
                  <c:v>成事家办</c:v>
                </c:pt>
                <c:pt idx="6">
                  <c:v>合伙转介业务</c:v>
                </c:pt>
                <c:pt idx="7">
                  <c:v>IFA业务</c:v>
                </c:pt>
                <c:pt idx="8">
                  <c:v>MGA业务</c:v>
                </c:pt>
              </c:strCache>
            </c:strRef>
          </c:cat>
          <c:val>
            <c:numRef>
              <c:f>Sheet1!$D$2:$D$9</c:f>
              <c:numCache>
                <c:formatCode>General</c:formatCode>
                <c:ptCount val="9"/>
                <c:pt idx="0">
                  <c:v>0.0000</c:v>
                </c:pt>
                <c:pt idx="1">
                  <c:v>2.8100</c:v>
                </c:pt>
                <c:pt idx="2">
                  <c:v>3.6100</c:v>
                </c:pt>
                <c:pt idx="3">
                  <c:v>0.3900</c:v>
                </c:pt>
                <c:pt idx="4">
                  <c:v>0.0000</c:v>
                </c:pt>
                <c:pt idx="5">
                  <c:v>0.0000</c:v>
                </c:pt>
                <c:pt idx="6">
                  <c:v>0.0000</c:v>
                </c:pt>
                <c:pt idx="7">
                  <c:v>0.0000</c:v>
                </c:pt>
                <c:pt idx="8">
                  <c:v>9.2400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目标缺口 APE(M)</c:v>
                </c:pt>
              </c:strCache>
            </c:strRef>
          </c:tx>
          <c:spPr>
            <a:solidFill>
              <a:srgbClr val="C8C8C8"/>
            </a:solidFill>
            <a:ln w="9525">
              <a:solidFill>
                <a:srgbClr val="999999"/>
              </a:solidFill>
              <a:prstDash val="dash"/>
            </a:ln>
            <a:effectLst/>
          </c:spPr>
          <c:invertIfNegative val="0"/>
          <c:dLbls>
            <c:dLbl>
              <c:idx val="3"/>
              <c:layout>
                <c:manualLayout>
                  <c:x val="-0.000119306107500867"/>
                  <c:y val="0.0064896081145176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6"/>
              <c:layout>
                <c:manualLayout>
                  <c:x val="0.00122805437265101"/>
                  <c:y val="0.00186523968938481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7"/>
              <c:layout>
                <c:manualLayout>
                  <c:x val="0.00699732616834952"/>
                  <c:y val="-0.00519878586074195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0341887777294476"/>
                      <c:h val="0.0508192828306816"/>
                    </c:manualLayout>
                  </c15:layout>
                </c:ext>
              </c:extLst>
            </c:dLbl>
            <c:numFmt formatCode="#,##0.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00" b="1" i="0" u="none" strike="noStrike" kern="1200" baseline="0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Sheet1!$A$2:$A$9</c:f>
              <c:strCache>
                <c:ptCount val="9"/>
                <c:pt idx="0">
                  <c:v>BK业务</c:v>
                </c:pt>
                <c:pt idx="1">
                  <c:v>永明经代</c:v>
                </c:pt>
                <c:pt idx="2">
                  <c:v>同行经代</c:v>
                </c:pt>
                <c:pt idx="3">
                  <c:v>天领业务</c:v>
                </c:pt>
                <c:pt idx="4">
                  <c:v>ICLUB业务</c:v>
                </c:pt>
                <c:pt idx="5">
                  <c:v>成事家办</c:v>
                </c:pt>
                <c:pt idx="6">
                  <c:v>合伙转介业务</c:v>
                </c:pt>
                <c:pt idx="7">
                  <c:v>IFA业务</c:v>
                </c:pt>
                <c:pt idx="8">
                  <c:v>MGA业务</c:v>
                </c:pt>
              </c:strCache>
            </c:strRef>
          </c:cat>
          <c:val>
            <c:numRef>
              <c:f>Sheet1!$E$2:$E$9</c:f>
              <c:numCache>
                <c:formatCode>General</c:formatCode>
                <c:ptCount val="9"/>
                <c:pt idx="0">
                  <c:v>0.0000</c:v>
                </c:pt>
                <c:pt idx="1">
                  <c:v>166.7700</c:v>
                </c:pt>
                <c:pt idx="2">
                  <c:v>30.7700</c:v>
                </c:pt>
                <c:pt idx="3">
                  <c:v>113.6500</c:v>
                </c:pt>
                <c:pt idx="4">
                  <c:v>31.6000</c:v>
                </c:pt>
                <c:pt idx="5">
                  <c:v>61.3400</c:v>
                </c:pt>
                <c:pt idx="6">
                  <c:v>64.1400</c:v>
                </c:pt>
                <c:pt idx="7">
                  <c:v>25.0000</c:v>
                </c:pt>
                <c:pt idx="8">
                  <c:v>0.0000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low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cap="none" spc="0" normalizeH="0" baseline="0">
                <a:solidFill>
                  <a:schemeClr val="tx1">
                    <a:lumMod val="95000"/>
                    <a:lumOff val="5000"/>
                  </a:schemeClr>
                </a:solidFill>
                <a:uFill>
                  <a:solidFill>
                    <a:schemeClr val="tx1">
                      <a:lumMod val="95000"/>
                      <a:lumOff val="5000"/>
                    </a:schemeClr>
                  </a:solidFill>
                </a:uFill>
                <a:latin typeface="+mn-lt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>
                    <a:lumMod val="95000"/>
                    <a:lumOff val="5000"/>
                  </a:schemeClr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t"/>
      <c:legendEntry>
        <c:idx val="0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>
                    <a:lumMod val="95000"/>
                    <a:lumOff val="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1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>
                    <a:lumMod val="95000"/>
                    <a:lumOff val="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2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>
                    <a:lumMod val="95000"/>
                    <a:lumOff val="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3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>
                    <a:lumMod val="95000"/>
                    <a:lumOff val="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ayout>
        <c:manualLayout>
          <c:xMode val="edge"/>
          <c:yMode val="edge"/>
          <c:x val="0.50161406025825"/>
          <c:y val="0.0127129417747267"/>
        </c:manualLayout>
      </c:layout>
      <c:overlay val="0"/>
      <c:txPr>
        <a:bodyPr rot="0" spcFirstLastPara="0" vertOverflow="ellipsis" vert="horz" wrap="square" anchor="ctr" anchorCtr="1"/>
        <a:lstStyle/>
        <a:p>
          <a:pPr>
            <a:defRPr lang="zh-CN" sz="800" b="0" i="0" u="none" strike="noStrike" kern="1200" baseline="0">
              <a:solidFill>
                <a:schemeClr val="tx1">
                  <a:lumMod val="95000"/>
                  <a:lumOff val="5000"/>
                </a:schemeClr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gap"/>
    <c:showDLblsOverMax val="0"/>
    <c:extLst>
      <c:ext uri="{0b15fc19-7d7d-44ad-8c2d-2c3a37ce22c3}">
        <chartProps xmlns="https://web.wps.cn/et/2018/main" chartId="{aef7c81c-81d3-4615-8274-f7afca748f52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>
          <a:solidFill>
            <a:schemeClr val="tx1">
              <a:lumMod val="95000"/>
              <a:lumOff val="5000"/>
            </a:schemeClr>
          </a:solidFill>
        </a:defRPr>
      </a:pPr>
    </a:p>
  </c:txPr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none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预约</c:v>
                </c:pt>
              </c:strCache>
            </c:strRef>
          </c:tx>
          <c:spPr>
            <a:ln w="22860" cap="flat" cmpd="sng" algn="ctr">
              <a:solidFill>
                <a:srgbClr val="2980B9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980B9"/>
              </a:solidFill>
              <a:ln w="9525" cap="flat" cmpd="sng" algn="ctr">
                <a:solidFill>
                  <a:srgbClr val="2980B9"/>
                </a:solidFill>
                <a:prstDash val="solid"/>
                <a:round/>
              </a:ln>
              <a:effectLst/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dLbl>
              <c:idx val="12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Sheet1!$A$2:$A$13</c:f>
              <c:strCache>
                <c:ptCount val="28"/>
                <c:pt idx="0">
                  <c:v>W01</c:v>
                </c:pt>
                <c:pt idx="1">
                  <c:v>W02</c:v>
                </c:pt>
                <c:pt idx="2">
                  <c:v>W03</c:v>
                </c:pt>
                <c:pt idx="3">
                  <c:v>W04</c:v>
                </c:pt>
                <c:pt idx="4">
                  <c:v>W05</c:v>
                </c:pt>
                <c:pt idx="5">
                  <c:v>W06</c:v>
                </c:pt>
                <c:pt idx="6">
                  <c:v>W07</c:v>
                </c:pt>
                <c:pt idx="7">
                  <c:v>W08</c:v>
                </c:pt>
                <c:pt idx="8">
                  <c:v>W09</c:v>
                </c:pt>
                <c:pt idx="9">
                  <c:v>W10</c:v>
                </c:pt>
                <c:pt idx="10">
                  <c:v>W11</c:v>
                </c:pt>
                <c:pt idx="11">
                  <c:v>W12</c:v>
                </c:pt>
                <c:pt idx="12">
                  <c:v>W13</c:v>
                </c:pt>
                <c:pt idx="13">
                  <c:v>W14</c:v>
                </c:pt>
                <c:pt idx="14">
                  <c:v>W15</c:v>
                </c:pt>
                <c:pt idx="15">
                  <c:v>W16</c:v>
                </c:pt>
                <c:pt idx="16">
                  <c:v>W17</c:v>
                </c:pt>
                <c:pt idx="17">
                  <c:v>W18</c:v>
                </c:pt>
                <c:pt idx="18">
                  <c:v>W19</c:v>
                </c:pt>
                <c:pt idx="19">
                  <c:v>W20</c:v>
                </c:pt>
                <c:pt idx="20">
                  <c:v>W21</c:v>
                </c:pt>
                <c:pt idx="21">
                  <c:v>W22</c:v>
                </c:pt>
                <c:pt idx="22">
                  <c:v>W23</c:v>
                </c:pt>
                <c:pt idx="23">
                  <c:v>W24</c:v>
                </c:pt>
                <c:pt idx="24">
                  <c:v>W25</c:v>
                </c:pt>
                <c:pt idx="25">
                  <c:v>W26</c:v>
                </c:pt>
                <c:pt idx="26">
                  <c:v>W27</c:v>
                </c:pt>
                <c:pt idx="27">
                  <c:v>W28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28"/>
                <c:pt idx="0">
                  <c:v>6.52</c:v>
                </c:pt>
                <c:pt idx="1">
                  <c:v>13.64</c:v>
                </c:pt>
                <c:pt idx="2">
                  <c:v>17.19</c:v>
                </c:pt>
                <c:pt idx="3">
                  <c:v>9.87</c:v>
                </c:pt>
                <c:pt idx="4">
                  <c:v>28.2</c:v>
                </c:pt>
                <c:pt idx="5">
                  <c:v>12.72</c:v>
                </c:pt>
                <c:pt idx="6">
                  <c:v>2.73</c:v>
                </c:pt>
                <c:pt idx="7">
                  <c:v>7.08</c:v>
                </c:pt>
                <c:pt idx="8">
                  <c:v>5.88</c:v>
                </c:pt>
                <c:pt idx="9">
                  <c:v>17.21</c:v>
                </c:pt>
                <c:pt idx="10">
                  <c:v>19.81</c:v>
                </c:pt>
                <c:pt idx="11">
                  <c:v>25.2</c:v>
                </c:pt>
                <c:pt idx="12">
                  <c:v>5.37</c:v>
                </c:pt>
                <c:pt idx="13">
                  <c:v>12.71</c:v>
                </c:pt>
                <c:pt idx="14">
                  <c:v>13.44</c:v>
                </c:pt>
                <c:pt idx="15">
                  <c:v>26.75</c:v>
                </c:pt>
                <c:pt idx="16">
                  <c:v>9.88</c:v>
                </c:pt>
                <c:pt idx="17">
                  <c:v>11.77</c:v>
                </c:pt>
                <c:pt idx="18">
                  <c:v>22.15</c:v>
                </c:pt>
                <c:pt idx="19">
                  <c:v>21.04</c:v>
                </c:pt>
                <c:pt idx="20">
                  <c:v>20.93</c:v>
                </c:pt>
                <c:pt idx="21">
                  <c:v>10.9</c:v>
                </c:pt>
                <c:pt idx="22">
                  <c:v>19.58</c:v>
                </c:pt>
                <c:pt idx="23">
                  <c:v>16.79</c:v>
                </c:pt>
                <c:pt idx="24">
                  <c:v>26.21</c:v>
                </c:pt>
                <c:pt idx="25">
                  <c:v>14.14</c:v>
                </c:pt>
                <c:pt idx="26">
                  <c:v>22.83</c:v>
                </c:pt>
                <c:pt idx="27">
                  <c:v>20.32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签单</c:v>
                </c:pt>
              </c:strCache>
            </c:strRef>
          </c:tx>
          <c:spPr>
            <a:ln w="22860" cap="flat" cmpd="sng" algn="ctr">
              <a:solidFill>
                <a:srgbClr val="00796B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0796B"/>
              </a:solidFill>
              <a:ln w="9525" cap="flat" cmpd="sng" algn="ctr">
                <a:solidFill>
                  <a:srgbClr val="00796B"/>
                </a:solidFill>
                <a:prstDash val="solid"/>
                <a:round/>
              </a:ln>
              <a:effectLst/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dLbl>
              <c:idx val="12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Sheet1!$A$2:$A$13</c:f>
              <c:strCache>
                <c:ptCount val="28"/>
                <c:pt idx="0">
                  <c:v>W01</c:v>
                </c:pt>
                <c:pt idx="1">
                  <c:v>W02</c:v>
                </c:pt>
                <c:pt idx="2">
                  <c:v>W03</c:v>
                </c:pt>
                <c:pt idx="3">
                  <c:v>W04</c:v>
                </c:pt>
                <c:pt idx="4">
                  <c:v>W05</c:v>
                </c:pt>
                <c:pt idx="5">
                  <c:v>W06</c:v>
                </c:pt>
                <c:pt idx="6">
                  <c:v>W07</c:v>
                </c:pt>
                <c:pt idx="7">
                  <c:v>W08</c:v>
                </c:pt>
                <c:pt idx="8">
                  <c:v>W09</c:v>
                </c:pt>
                <c:pt idx="9">
                  <c:v>W10</c:v>
                </c:pt>
                <c:pt idx="10">
                  <c:v>W11</c:v>
                </c:pt>
                <c:pt idx="11">
                  <c:v>W12</c:v>
                </c:pt>
                <c:pt idx="12">
                  <c:v>W13</c:v>
                </c:pt>
                <c:pt idx="13">
                  <c:v>W14</c:v>
                </c:pt>
                <c:pt idx="14">
                  <c:v>W15</c:v>
                </c:pt>
                <c:pt idx="15">
                  <c:v>W16</c:v>
                </c:pt>
                <c:pt idx="16">
                  <c:v>W17</c:v>
                </c:pt>
                <c:pt idx="17">
                  <c:v>W18</c:v>
                </c:pt>
                <c:pt idx="18">
                  <c:v>W19</c:v>
                </c:pt>
                <c:pt idx="19">
                  <c:v>W20</c:v>
                </c:pt>
                <c:pt idx="20">
                  <c:v>W21</c:v>
                </c:pt>
                <c:pt idx="21">
                  <c:v>W22</c:v>
                </c:pt>
                <c:pt idx="22">
                  <c:v>W23</c:v>
                </c:pt>
                <c:pt idx="23">
                  <c:v>W24</c:v>
                </c:pt>
                <c:pt idx="24">
                  <c:v>W25</c:v>
                </c:pt>
                <c:pt idx="25">
                  <c:v>W26</c:v>
                </c:pt>
                <c:pt idx="26">
                  <c:v>W27</c:v>
                </c:pt>
                <c:pt idx="27">
                  <c:v>W28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28"/>
                <c:pt idx="0">
                  <c:v>2.63</c:v>
                </c:pt>
                <c:pt idx="1">
                  <c:v>10.23</c:v>
                </c:pt>
                <c:pt idx="2">
                  <c:v>12.7</c:v>
                </c:pt>
                <c:pt idx="3">
                  <c:v>11.54</c:v>
                </c:pt>
                <c:pt idx="4">
                  <c:v>31.28</c:v>
                </c:pt>
                <c:pt idx="5">
                  <c:v>12.85</c:v>
                </c:pt>
                <c:pt idx="6">
                  <c:v>3.77</c:v>
                </c:pt>
                <c:pt idx="7">
                  <c:v>7.38</c:v>
                </c:pt>
                <c:pt idx="8">
                  <c:v>4.23</c:v>
                </c:pt>
                <c:pt idx="9">
                  <c:v>11.08</c:v>
                </c:pt>
                <c:pt idx="10">
                  <c:v>18.48</c:v>
                </c:pt>
                <c:pt idx="11">
                  <c:v>26.24</c:v>
                </c:pt>
                <c:pt idx="12">
                  <c:v>15.83</c:v>
                </c:pt>
                <c:pt idx="13">
                  <c:v>6.6</c:v>
                </c:pt>
                <c:pt idx="14">
                  <c:v>14.41</c:v>
                </c:pt>
                <c:pt idx="15">
                  <c:v>18.13</c:v>
                </c:pt>
                <c:pt idx="16">
                  <c:v>16.86</c:v>
                </c:pt>
                <c:pt idx="17">
                  <c:v>13.24</c:v>
                </c:pt>
                <c:pt idx="18">
                  <c:v>20.33</c:v>
                </c:pt>
                <c:pt idx="19">
                  <c:v>14.82</c:v>
                </c:pt>
                <c:pt idx="20">
                  <c:v>32.85</c:v>
                </c:pt>
                <c:pt idx="21">
                  <c:v>11.54</c:v>
                </c:pt>
                <c:pt idx="22">
                  <c:v>12.29</c:v>
                </c:pt>
                <c:pt idx="23">
                  <c:v>18.96</c:v>
                </c:pt>
                <c:pt idx="24">
                  <c:v>26.14</c:v>
                </c:pt>
                <c:pt idx="25">
                  <c:v>19.48</c:v>
                </c:pt>
                <c:pt idx="26">
                  <c:v>10.88</c:v>
                </c:pt>
                <c:pt idx="27">
                  <c:v>21.03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递交</c:v>
                </c:pt>
              </c:strCache>
            </c:strRef>
          </c:tx>
          <c:spPr>
            <a:ln w="22860" cap="flat" cmpd="sng" algn="ctr">
              <a:solidFill>
                <a:srgbClr val="C8890A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C8890A"/>
              </a:solidFill>
              <a:ln w="9525" cap="flat" cmpd="sng" algn="ctr">
                <a:solidFill>
                  <a:srgbClr val="C8890A"/>
                </a:solidFill>
                <a:prstDash val="solid"/>
                <a:round/>
              </a:ln>
              <a:effectLst/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dLbl>
              <c:idx val="12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Sheet1!$A$2:$A$13</c:f>
              <c:strCache>
                <c:ptCount val="28"/>
                <c:pt idx="0">
                  <c:v>W01</c:v>
                </c:pt>
                <c:pt idx="1">
                  <c:v>W02</c:v>
                </c:pt>
                <c:pt idx="2">
                  <c:v>W03</c:v>
                </c:pt>
                <c:pt idx="3">
                  <c:v>W04</c:v>
                </c:pt>
                <c:pt idx="4">
                  <c:v>W05</c:v>
                </c:pt>
                <c:pt idx="5">
                  <c:v>W06</c:v>
                </c:pt>
                <c:pt idx="6">
                  <c:v>W07</c:v>
                </c:pt>
                <c:pt idx="7">
                  <c:v>W08</c:v>
                </c:pt>
                <c:pt idx="8">
                  <c:v>W09</c:v>
                </c:pt>
                <c:pt idx="9">
                  <c:v>W10</c:v>
                </c:pt>
                <c:pt idx="10">
                  <c:v>W11</c:v>
                </c:pt>
                <c:pt idx="11">
                  <c:v>W12</c:v>
                </c:pt>
                <c:pt idx="12">
                  <c:v>W13</c:v>
                </c:pt>
                <c:pt idx="13">
                  <c:v>W14</c:v>
                </c:pt>
                <c:pt idx="14">
                  <c:v>W15</c:v>
                </c:pt>
                <c:pt idx="15">
                  <c:v>W16</c:v>
                </c:pt>
                <c:pt idx="16">
                  <c:v>W17</c:v>
                </c:pt>
                <c:pt idx="17">
                  <c:v>W18</c:v>
                </c:pt>
                <c:pt idx="18">
                  <c:v>W19</c:v>
                </c:pt>
                <c:pt idx="19">
                  <c:v>W20</c:v>
                </c:pt>
                <c:pt idx="20">
                  <c:v>W21</c:v>
                </c:pt>
                <c:pt idx="21">
                  <c:v>W22</c:v>
                </c:pt>
                <c:pt idx="22">
                  <c:v>W23</c:v>
                </c:pt>
                <c:pt idx="23">
                  <c:v>W24</c:v>
                </c:pt>
                <c:pt idx="24">
                  <c:v>W25</c:v>
                </c:pt>
                <c:pt idx="25">
                  <c:v>W26</c:v>
                </c:pt>
                <c:pt idx="26">
                  <c:v>W27</c:v>
                </c:pt>
                <c:pt idx="27">
                  <c:v>W28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28"/>
                <c:pt idx="0">
                  <c:v>9.96</c:v>
                </c:pt>
                <c:pt idx="1">
                  <c:v>7.8</c:v>
                </c:pt>
                <c:pt idx="2">
                  <c:v>10.95</c:v>
                </c:pt>
                <c:pt idx="3">
                  <c:v>16.19</c:v>
                </c:pt>
                <c:pt idx="4">
                  <c:v>31.58</c:v>
                </c:pt>
                <c:pt idx="5">
                  <c:v>14.36</c:v>
                </c:pt>
                <c:pt idx="6">
                  <c:v>0.0</c:v>
                </c:pt>
                <c:pt idx="7">
                  <c:v>4.01</c:v>
                </c:pt>
                <c:pt idx="8">
                  <c:v>10.9</c:v>
                </c:pt>
                <c:pt idx="9">
                  <c:v>9.83</c:v>
                </c:pt>
                <c:pt idx="10">
                  <c:v>11.17</c:v>
                </c:pt>
                <c:pt idx="11">
                  <c:v>14.23</c:v>
                </c:pt>
                <c:pt idx="12">
                  <c:v>35.99</c:v>
                </c:pt>
                <c:pt idx="13">
                  <c:v>4.16</c:v>
                </c:pt>
                <c:pt idx="14">
                  <c:v>12.33</c:v>
                </c:pt>
                <c:pt idx="15">
                  <c:v>15.45</c:v>
                </c:pt>
                <c:pt idx="16">
                  <c:v>22.93</c:v>
                </c:pt>
                <c:pt idx="17">
                  <c:v>6.79</c:v>
                </c:pt>
                <c:pt idx="18">
                  <c:v>6.94</c:v>
                </c:pt>
                <c:pt idx="19">
                  <c:v>17.48</c:v>
                </c:pt>
                <c:pt idx="20">
                  <c:v>25.31</c:v>
                </c:pt>
                <c:pt idx="21">
                  <c:v>34.41</c:v>
                </c:pt>
                <c:pt idx="22">
                  <c:v>11.12</c:v>
                </c:pt>
                <c:pt idx="23">
                  <c:v>10.26</c:v>
                </c:pt>
                <c:pt idx="24">
                  <c:v>22.82</c:v>
                </c:pt>
                <c:pt idx="25">
                  <c:v>24.51</c:v>
                </c:pt>
                <c:pt idx="26">
                  <c:v>15.42</c:v>
                </c:pt>
                <c:pt idx="27">
                  <c:v>17.65</c:v>
                </c:pt>
              </c:numCache>
            </c:numRef>
          </c:val>
          <c:smooth val="1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批核</c:v>
                </c:pt>
              </c:strCache>
            </c:strRef>
          </c:tx>
          <c:spPr>
            <a:ln w="22860" cap="flat" cmpd="sng" algn="ctr">
              <a:solidFill>
                <a:srgbClr val="1F3864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1F3864"/>
              </a:solidFill>
              <a:ln w="9525" cap="flat" cmpd="sng" algn="ctr">
                <a:solidFill>
                  <a:srgbClr val="1F3864"/>
                </a:solidFill>
                <a:prstDash val="solid"/>
                <a:round/>
              </a:ln>
              <a:effectLst/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dLbl>
              <c:idx val="12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Sheet1!$A$2:$A$13</c:f>
              <c:strCache>
                <c:ptCount val="28"/>
                <c:pt idx="0">
                  <c:v>W01</c:v>
                </c:pt>
                <c:pt idx="1">
                  <c:v>W02</c:v>
                </c:pt>
                <c:pt idx="2">
                  <c:v>W03</c:v>
                </c:pt>
                <c:pt idx="3">
                  <c:v>W04</c:v>
                </c:pt>
                <c:pt idx="4">
                  <c:v>W05</c:v>
                </c:pt>
                <c:pt idx="5">
                  <c:v>W06</c:v>
                </c:pt>
                <c:pt idx="6">
                  <c:v>W07</c:v>
                </c:pt>
                <c:pt idx="7">
                  <c:v>W08</c:v>
                </c:pt>
                <c:pt idx="8">
                  <c:v>W09</c:v>
                </c:pt>
                <c:pt idx="9">
                  <c:v>W10</c:v>
                </c:pt>
                <c:pt idx="10">
                  <c:v>W11</c:v>
                </c:pt>
                <c:pt idx="11">
                  <c:v>W12</c:v>
                </c:pt>
                <c:pt idx="12">
                  <c:v>W13</c:v>
                </c:pt>
                <c:pt idx="13">
                  <c:v>W14</c:v>
                </c:pt>
                <c:pt idx="14">
                  <c:v>W15</c:v>
                </c:pt>
                <c:pt idx="15">
                  <c:v>W16</c:v>
                </c:pt>
                <c:pt idx="16">
                  <c:v>W17</c:v>
                </c:pt>
                <c:pt idx="17">
                  <c:v>W18</c:v>
                </c:pt>
                <c:pt idx="18">
                  <c:v>W19</c:v>
                </c:pt>
                <c:pt idx="19">
                  <c:v>W20</c:v>
                </c:pt>
                <c:pt idx="20">
                  <c:v>W21</c:v>
                </c:pt>
                <c:pt idx="21">
                  <c:v>W22</c:v>
                </c:pt>
                <c:pt idx="22">
                  <c:v>W23</c:v>
                </c:pt>
                <c:pt idx="23">
                  <c:v>W24</c:v>
                </c:pt>
                <c:pt idx="24">
                  <c:v>W25</c:v>
                </c:pt>
                <c:pt idx="25">
                  <c:v>W26</c:v>
                </c:pt>
                <c:pt idx="26">
                  <c:v>W27</c:v>
                </c:pt>
                <c:pt idx="27">
                  <c:v>W28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28"/>
                <c:pt idx="0">
                  <c:v>18.04</c:v>
                </c:pt>
                <c:pt idx="1">
                  <c:v>46.35</c:v>
                </c:pt>
                <c:pt idx="2">
                  <c:v>29.21</c:v>
                </c:pt>
                <c:pt idx="3">
                  <c:v>20.07</c:v>
                </c:pt>
                <c:pt idx="4">
                  <c:v>29.97</c:v>
                </c:pt>
                <c:pt idx="5">
                  <c:v>39.45</c:v>
                </c:pt>
                <c:pt idx="6">
                  <c:v>7.26</c:v>
                </c:pt>
                <c:pt idx="7">
                  <c:v>67.05</c:v>
                </c:pt>
                <c:pt idx="8">
                  <c:v>15.84</c:v>
                </c:pt>
                <c:pt idx="9">
                  <c:v>11.12</c:v>
                </c:pt>
                <c:pt idx="10">
                  <c:v>41.56</c:v>
                </c:pt>
                <c:pt idx="11">
                  <c:v>7.94</c:v>
                </c:pt>
                <c:pt idx="12">
                  <c:v>15.72</c:v>
                </c:pt>
                <c:pt idx="13">
                  <c:v>12.38</c:v>
                </c:pt>
                <c:pt idx="14">
                  <c:v>24.32</c:v>
                </c:pt>
                <c:pt idx="15">
                  <c:v>24.57</c:v>
                </c:pt>
                <c:pt idx="16">
                  <c:v>23.49</c:v>
                </c:pt>
                <c:pt idx="17">
                  <c:v>8.41</c:v>
                </c:pt>
                <c:pt idx="18">
                  <c:v>15.89</c:v>
                </c:pt>
                <c:pt idx="19">
                  <c:v>20.39</c:v>
                </c:pt>
                <c:pt idx="20">
                  <c:v>28.09</c:v>
                </c:pt>
                <c:pt idx="21">
                  <c:v>12.47</c:v>
                </c:pt>
                <c:pt idx="22">
                  <c:v>12.0</c:v>
                </c:pt>
                <c:pt idx="23">
                  <c:v>15.44</c:v>
                </c:pt>
                <c:pt idx="24">
                  <c:v>19.28</c:v>
                </c:pt>
                <c:pt idx="25">
                  <c:v>11.19</c:v>
                </c:pt>
                <c:pt idx="26">
                  <c:v>17.62</c:v>
                </c:pt>
                <c:pt idx="27">
                  <c:v>6.92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1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5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75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5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t"/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75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e2502c51-a1de-4bca-bfdc-f4099c23b2f1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651515151515152"/>
          <c:y val="0.0566666666666667"/>
          <c:w val="0.913383838383838"/>
          <c:h val="0.689277777777778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批核 APE(M)</c:v>
                </c:pt>
              </c:strCache>
            </c:strRef>
          </c:tx>
          <c:spPr>
            <a:solidFill>
              <a:srgbClr val="00796B"/>
            </a:solidFill>
            <a:effectLst/>
          </c:spPr>
          <c:invertIfNegative val="0"/>
          <c:dLbls>
            <c:dLbl>
              <c:idx val="5"/>
              <c:layout>
                <c:manualLayout>
                  <c:x val="-0.00852272727272727"/>
                  <c:y val="-0.0269444444444444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numFmt formatCode="#,##0.#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50" b="0" i="0" u="none" strike="noStrike" kern="1200" baseline="0">
                    <a:solidFill>
                      <a:schemeClr val="tx1"/>
                    </a:solidFill>
                    <a:latin typeface="Calibri" panose="020F050202020403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Sheet1!$A$2:$A$7</c:f>
              <c:strCache>
                <c:ptCount val="6"/>
                <c:pt idx="0">
                  <c:v>姜通</c:v>
                </c:pt>
                <c:pt idx="1">
                  <c:v>战略合作</c:v>
                </c:pt>
                <c:pt idx="2">
                  <c:v>高瑶</c:v>
                </c:pt>
                <c:pt idx="3">
                  <c:v>Mark</c:v>
                </c:pt>
                <c:pt idx="4">
                  <c:v>白博文</c:v>
                </c:pt>
                <c:pt idx="5">
                  <c:v>魏子璐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118.66</c:v>
                </c:pt>
                <c:pt idx="1">
                  <c:v>39.39</c:v>
                </c:pt>
                <c:pt idx="2">
                  <c:v>26.1</c:v>
                </c:pt>
                <c:pt idx="3">
                  <c:v>13.28</c:v>
                </c:pt>
                <c:pt idx="4">
                  <c:v>12.88</c:v>
                </c:pt>
                <c:pt idx="5">
                  <c:v>1.88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未批核 APE(M)</c:v>
                </c:pt>
              </c:strCache>
            </c:strRef>
          </c:tx>
          <c:spPr>
            <a:solidFill>
              <a:srgbClr val="94A3B8"/>
            </a:solidFill>
            <a:effectLst/>
          </c:spPr>
          <c:invertIfNegative val="0"/>
          <c:dLbls>
            <c:dLbl>
              <c:idx val="0"/>
              <c:layout/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5"/>
              <c:layout>
                <c:manualLayout>
                  <c:x val="0.864583333333333"/>
                  <c:y val="0.654008820049478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numFmt formatCode="#,##0.#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50" b="0" i="0" u="none" strike="noStrike" kern="1200" baseline="0">
                    <a:solidFill>
                      <a:schemeClr val="tx1"/>
                    </a:solidFill>
                    <a:latin typeface="Calibri" panose="020F050202020403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Sheet1!$A$2:$A$7</c:f>
              <c:strCache>
                <c:ptCount val="6"/>
                <c:pt idx="0">
                  <c:v>姜通</c:v>
                </c:pt>
                <c:pt idx="1">
                  <c:v>战略合作</c:v>
                </c:pt>
                <c:pt idx="2">
                  <c:v>高瑶</c:v>
                </c:pt>
                <c:pt idx="3">
                  <c:v>Mark</c:v>
                </c:pt>
                <c:pt idx="4">
                  <c:v>白博文</c:v>
                </c:pt>
                <c:pt idx="5">
                  <c:v>魏子璐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37.33</c:v>
                </c:pt>
                <c:pt idx="1">
                  <c:v>5.77</c:v>
                </c:pt>
                <c:pt idx="2">
                  <c:v>3.02</c:v>
                </c:pt>
                <c:pt idx="3">
                  <c:v>0.0</c:v>
                </c:pt>
                <c:pt idx="4">
                  <c:v>6.86</c:v>
                </c:pt>
                <c:pt idx="5">
                  <c:v>0.0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待签 APE(M)</c:v>
                </c:pt>
              </c:strCache>
            </c:strRef>
          </c:tx>
          <c:spPr>
            <a:solidFill>
              <a:srgbClr val="F5A623"/>
            </a:solidFill>
            <a:effectLst/>
          </c:spPr>
          <c:invertIfNegative val="0"/>
          <c:dLbls>
            <c:dLbl>
              <c:idx val="3"/>
              <c:layout>
                <c:manualLayout>
                  <c:x val="0.890467171717172"/>
                  <c:y val="0.653678606001936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4"/>
              <c:layout>
                <c:manualLayout>
                  <c:x val="-0.0266203703703704"/>
                  <c:y val="0.00388888888888889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5"/>
              <c:layout>
                <c:manualLayout>
                  <c:x val="0.534722222222222"/>
                  <c:y val="0.532641981284285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numFmt formatCode="#,##0.#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50" b="0" i="0" u="none" strike="noStrike" kern="1200" baseline="0">
                    <a:solidFill>
                      <a:schemeClr val="tx1"/>
                    </a:solidFill>
                    <a:latin typeface="Calibri" panose="020F050202020403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Sheet1!$A$2:$A$7</c:f>
              <c:strCache>
                <c:ptCount val="6"/>
                <c:pt idx="0">
                  <c:v>姜通</c:v>
                </c:pt>
                <c:pt idx="1">
                  <c:v>战略合作</c:v>
                </c:pt>
                <c:pt idx="2">
                  <c:v>高瑶</c:v>
                </c:pt>
                <c:pt idx="3">
                  <c:v>Mark</c:v>
                </c:pt>
                <c:pt idx="4">
                  <c:v>白博文</c:v>
                </c:pt>
                <c:pt idx="5">
                  <c:v>魏子璐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12.04</c:v>
                </c:pt>
                <c:pt idx="1">
                  <c:v>1.87</c:v>
                </c:pt>
                <c:pt idx="2">
                  <c:v>0.0</c:v>
                </c:pt>
                <c:pt idx="3">
                  <c:v>0.0</c:v>
                </c:pt>
                <c:pt idx="4">
                  <c:v>0.78</c:v>
                </c:pt>
                <c:pt idx="5">
                  <c:v>0.0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0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solidFill>
                  <a:srgbClr val="374151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D0D8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800" b="0" i="0" u="none" strike="noStrike" kern="1200" baseline="0">
              <a:solidFill>
                <a:srgbClr val="37415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9109a323-4fec-471e-ba7d-9a6a58acaf36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948572650486475"/>
          <c:y val="0.0500227376080036"/>
          <c:w val="0.8376777504544"/>
          <c:h val="0.755297862664848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批核 APE(M)</c:v>
                </c:pt>
              </c:strCache>
            </c:strRef>
          </c:tx>
          <c:spPr>
            <a:solidFill>
              <a:srgbClr val="00796B"/>
            </a:solidFill>
            <a:effectLst/>
          </c:spPr>
          <c:invertIfNegative val="0"/>
          <c:dLbls>
            <c:numFmt formatCode="#,##0.#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50" b="0" i="0" u="none" strike="noStrike" kern="1200" baseline="0">
                    <a:solidFill>
                      <a:schemeClr val="tx1"/>
                    </a:solidFill>
                    <a:latin typeface="Calibri" panose="020F050202020403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Sheet1!$A$2:$A$11</c:f>
              <c:strCache>
                <c:ptCount val="10"/>
                <c:pt idx="0">
                  <c:v>万城保险</c:v>
                </c:pt>
                <c:pt idx="1">
                  <c:v>宏鑫资产</c:v>
                </c:pt>
                <c:pt idx="2">
                  <c:v>企鹅保险</c:v>
                </c:pt>
                <c:pt idx="3">
                  <c:v>天誉国际(MGA)</c:v>
                </c:pt>
                <c:pt idx="4">
                  <c:v>万森保险</c:v>
                </c:pt>
                <c:pt idx="5">
                  <c:v>堡盛国际</c:v>
                </c:pt>
                <c:pt idx="6">
                  <c:v>利泰丰</c:v>
                </c:pt>
                <c:pt idx="7">
                  <c:v>紫荆保险</c:v>
                </c:pt>
                <c:pt idx="8">
                  <c:v>唯思</c:v>
                </c:pt>
                <c:pt idx="9">
                  <c:v>天誉国际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8.35</c:v>
                </c:pt>
                <c:pt idx="1">
                  <c:v>12.48</c:v>
                </c:pt>
                <c:pt idx="2">
                  <c:v>18.86</c:v>
                </c:pt>
                <c:pt idx="3">
                  <c:v>19.38</c:v>
                </c:pt>
                <c:pt idx="4">
                  <c:v>25.92</c:v>
                </c:pt>
                <c:pt idx="5">
                  <c:v>27.18</c:v>
                </c:pt>
                <c:pt idx="6">
                  <c:v>27.82</c:v>
                </c:pt>
                <c:pt idx="7">
                  <c:v>34.91</c:v>
                </c:pt>
                <c:pt idx="8">
                  <c:v>39.39</c:v>
                </c:pt>
                <c:pt idx="9">
                  <c:v>42.7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未批核 APE(M)</c:v>
                </c:pt>
              </c:strCache>
            </c:strRef>
          </c:tx>
          <c:spPr>
            <a:solidFill>
              <a:srgbClr val="94A3B8"/>
            </a:solidFill>
            <a:effectLst/>
          </c:spPr>
          <c:invertIfNegative val="0"/>
          <c:dLbls>
            <c:dLbl>
              <c:idx val="8"/>
              <c:layout>
                <c:manualLayout>
                  <c:x val="-0.00758636788048553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numFmt formatCode="#,##0.#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50" b="0" i="0" u="none" strike="noStrike" kern="1200" baseline="0">
                    <a:solidFill>
                      <a:schemeClr val="tx1"/>
                    </a:solidFill>
                    <a:latin typeface="Calibri" panose="020F050202020403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Sheet1!$A$2:$A$11</c:f>
              <c:strCache>
                <c:ptCount val="10"/>
                <c:pt idx="0">
                  <c:v>万城保险</c:v>
                </c:pt>
                <c:pt idx="1">
                  <c:v>宏鑫资产</c:v>
                </c:pt>
                <c:pt idx="2">
                  <c:v>企鹅保险</c:v>
                </c:pt>
                <c:pt idx="3">
                  <c:v>天誉国际(MGA)</c:v>
                </c:pt>
                <c:pt idx="4">
                  <c:v>万森保险</c:v>
                </c:pt>
                <c:pt idx="5">
                  <c:v>堡盛国际</c:v>
                </c:pt>
                <c:pt idx="6">
                  <c:v>利泰丰</c:v>
                </c:pt>
                <c:pt idx="7">
                  <c:v>紫荆保险</c:v>
                </c:pt>
                <c:pt idx="8">
                  <c:v>唯思</c:v>
                </c:pt>
                <c:pt idx="9">
                  <c:v>天誉国际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1.27</c:v>
                </c:pt>
                <c:pt idx="1">
                  <c:v>0.0</c:v>
                </c:pt>
                <c:pt idx="2">
                  <c:v>0.78</c:v>
                </c:pt>
                <c:pt idx="3">
                  <c:v>23.97</c:v>
                </c:pt>
                <c:pt idx="4">
                  <c:v>3.02</c:v>
                </c:pt>
                <c:pt idx="5">
                  <c:v>2.38</c:v>
                </c:pt>
                <c:pt idx="6">
                  <c:v>1.01</c:v>
                </c:pt>
                <c:pt idx="7">
                  <c:v>4.54</c:v>
                </c:pt>
                <c:pt idx="8">
                  <c:v>5.77</c:v>
                </c:pt>
                <c:pt idx="9">
                  <c:v>8.93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待签 APE(M)</c:v>
                </c:pt>
              </c:strCache>
            </c:strRef>
          </c:tx>
          <c:spPr>
            <a:solidFill>
              <a:srgbClr val="F5A623"/>
            </a:solidFill>
            <a:effectLst/>
          </c:spPr>
          <c:invertIfNegative val="0"/>
          <c:dLbls>
            <c:dLbl>
              <c:idx val="8"/>
              <c:layout>
                <c:manualLayout>
                  <c:x val="0.00373482726423903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046218487394958"/>
                      <c:h val="0.0406144781144781"/>
                    </c:manualLayout>
                  </c15:layout>
                </c:ext>
              </c:extLst>
            </c:dLbl>
            <c:numFmt formatCode="#,##0.#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50" b="0" i="0" u="none" strike="noStrike" kern="1200" baseline="0">
                    <a:solidFill>
                      <a:schemeClr val="tx1"/>
                    </a:solidFill>
                    <a:latin typeface="Calibri" panose="020F050202020403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Sheet1!$A$2:$A$11</c:f>
              <c:strCache>
                <c:ptCount val="10"/>
                <c:pt idx="0">
                  <c:v>万城保险</c:v>
                </c:pt>
                <c:pt idx="1">
                  <c:v>宏鑫资产</c:v>
                </c:pt>
                <c:pt idx="2">
                  <c:v>企鹅保险</c:v>
                </c:pt>
                <c:pt idx="3">
                  <c:v>天誉国际(MGA)</c:v>
                </c:pt>
                <c:pt idx="4">
                  <c:v>万森保险</c:v>
                </c:pt>
                <c:pt idx="5">
                  <c:v>堡盛国际</c:v>
                </c:pt>
                <c:pt idx="6">
                  <c:v>利泰丰</c:v>
                </c:pt>
                <c:pt idx="7">
                  <c:v>紫荆保险</c:v>
                </c:pt>
                <c:pt idx="8">
                  <c:v>唯思</c:v>
                </c:pt>
                <c:pt idx="9">
                  <c:v>天誉国际</c:v>
                </c:pt>
              </c:strCache>
            </c: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0.0</c:v>
                </c:pt>
                <c:pt idx="1">
                  <c:v>0.0</c:v>
                </c:pt>
                <c:pt idx="2">
                  <c:v>0.78</c:v>
                </c:pt>
                <c:pt idx="3">
                  <c:v>9.24</c:v>
                </c:pt>
                <c:pt idx="4">
                  <c:v>0.0</c:v>
                </c:pt>
                <c:pt idx="5">
                  <c:v>0.28</c:v>
                </c:pt>
                <c:pt idx="6">
                  <c:v>0.0</c:v>
                </c:pt>
                <c:pt idx="7">
                  <c:v>0.96</c:v>
                </c:pt>
                <c:pt idx="8">
                  <c:v>1.87</c:v>
                </c:pt>
                <c:pt idx="9">
                  <c:v>1.74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0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 cmpd="sng" algn="ctr">
              <a:solidFill>
                <a:srgbClr val="D0D8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0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1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2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</c:legendEntry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8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05197ed0-b174-4c93-ab25-51cdc9fa0e6e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>
          <a:solidFill>
            <a:schemeClr val="tx1"/>
          </a:solidFill>
        </a:defRPr>
      </a:pPr>
    </a:p>
  </c:tx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332088285229202"/>
          <c:y val="0.0662225705329154"/>
          <c:w val="0.954340690435767"/>
          <c:h val="0.531818181818182"/>
        </c:manualLayout>
      </c:layout>
      <c:lineChart>
        <c:grouping val="none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同行预约(M)</c:v>
                </c:pt>
              </c:strCache>
            </c:strRef>
          </c:tx>
          <c:spPr>
            <a:ln w="19050" cap="rnd" cmpd="sng" algn="ctr">
              <a:solidFill>
                <a:schemeClr val="accent2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chemeClr val="accent2"/>
              </a:solidFill>
              <a:ln w="6350" cap="flat" cmpd="sng" algn="ctr">
                <a:solidFill>
                  <a:schemeClr val="accent2"/>
                </a:solidFill>
                <a:prstDash val="solid"/>
                <a:round/>
              </a:ln>
              <a:effectLst/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dLbl>
              <c:idx val="12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>
                  <c:spPr>
                    <a:ln w="6350" cap="flat" cmpd="sng" algn="ctr">
                      <a:solidFill>
                        <a:schemeClr val="tx1"/>
                      </a:solidFill>
                      <a:prstDash val="solid"/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Sheet1!$A$2:$A$13</c:f>
              <c:strCache>
                <c:ptCount val="28"/>
                <c:pt idx="0">
                  <c:v>W01</c:v>
                </c:pt>
                <c:pt idx="1">
                  <c:v>W02</c:v>
                </c:pt>
                <c:pt idx="2">
                  <c:v>W03</c:v>
                </c:pt>
                <c:pt idx="3">
                  <c:v>W04</c:v>
                </c:pt>
                <c:pt idx="4">
                  <c:v>W05</c:v>
                </c:pt>
                <c:pt idx="5">
                  <c:v>W06</c:v>
                </c:pt>
                <c:pt idx="6">
                  <c:v>W07</c:v>
                </c:pt>
                <c:pt idx="7">
                  <c:v>W08</c:v>
                </c:pt>
                <c:pt idx="8">
                  <c:v>W09</c:v>
                </c:pt>
                <c:pt idx="9">
                  <c:v>W10</c:v>
                </c:pt>
                <c:pt idx="10">
                  <c:v>W11</c:v>
                </c:pt>
                <c:pt idx="11">
                  <c:v>W12</c:v>
                </c:pt>
                <c:pt idx="12">
                  <c:v>W13</c:v>
                </c:pt>
                <c:pt idx="13">
                  <c:v>W14</c:v>
                </c:pt>
                <c:pt idx="14">
                  <c:v>W15</c:v>
                </c:pt>
                <c:pt idx="15">
                  <c:v>W16</c:v>
                </c:pt>
                <c:pt idx="16">
                  <c:v>W17</c:v>
                </c:pt>
                <c:pt idx="17">
                  <c:v>W18</c:v>
                </c:pt>
                <c:pt idx="18">
                  <c:v>W19</c:v>
                </c:pt>
                <c:pt idx="19">
                  <c:v>W20</c:v>
                </c:pt>
                <c:pt idx="20">
                  <c:v>W21</c:v>
                </c:pt>
                <c:pt idx="21">
                  <c:v>W22</c:v>
                </c:pt>
                <c:pt idx="22">
                  <c:v>W23</c:v>
                </c:pt>
                <c:pt idx="23">
                  <c:v>W24</c:v>
                </c:pt>
                <c:pt idx="24">
                  <c:v>W25</c:v>
                </c:pt>
                <c:pt idx="25">
                  <c:v>W26</c:v>
                </c:pt>
                <c:pt idx="26">
                  <c:v>W27</c:v>
                </c:pt>
                <c:pt idx="27">
                  <c:v>W28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28"/>
                <c:pt idx="0">
                  <c:v>3.15</c:v>
                </c:pt>
                <c:pt idx="1">
                  <c:v>6.39</c:v>
                </c:pt>
                <c:pt idx="2">
                  <c:v>8.3</c:v>
                </c:pt>
                <c:pt idx="3">
                  <c:v>5.34</c:v>
                </c:pt>
                <c:pt idx="4">
                  <c:v>6.19</c:v>
                </c:pt>
                <c:pt idx="5">
                  <c:v>5.76</c:v>
                </c:pt>
                <c:pt idx="6">
                  <c:v>2.11</c:v>
                </c:pt>
                <c:pt idx="7">
                  <c:v>5.99</c:v>
                </c:pt>
                <c:pt idx="8">
                  <c:v>2.93</c:v>
                </c:pt>
                <c:pt idx="9">
                  <c:v>9.72</c:v>
                </c:pt>
                <c:pt idx="10">
                  <c:v>11.0</c:v>
                </c:pt>
                <c:pt idx="11">
                  <c:v>11.96</c:v>
                </c:pt>
                <c:pt idx="12">
                  <c:v>3.0</c:v>
                </c:pt>
                <c:pt idx="13">
                  <c:v>6.31</c:v>
                </c:pt>
                <c:pt idx="14">
                  <c:v>5.65</c:v>
                </c:pt>
                <c:pt idx="15">
                  <c:v>16.81</c:v>
                </c:pt>
                <c:pt idx="16">
                  <c:v>3.52</c:v>
                </c:pt>
                <c:pt idx="17">
                  <c:v>9.24</c:v>
                </c:pt>
                <c:pt idx="18">
                  <c:v>8.99</c:v>
                </c:pt>
                <c:pt idx="19">
                  <c:v>10.09</c:v>
                </c:pt>
                <c:pt idx="20">
                  <c:v>8.22</c:v>
                </c:pt>
                <c:pt idx="21">
                  <c:v>6.73</c:v>
                </c:pt>
                <c:pt idx="22">
                  <c:v>11.55</c:v>
                </c:pt>
                <c:pt idx="23">
                  <c:v>12.74</c:v>
                </c:pt>
                <c:pt idx="24">
                  <c:v>11.17</c:v>
                </c:pt>
                <c:pt idx="25">
                  <c:v>6.14</c:v>
                </c:pt>
                <c:pt idx="26">
                  <c:v>5.39</c:v>
                </c:pt>
                <c:pt idx="27">
                  <c:v>8.19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同行签单(M)</c:v>
                </c:pt>
              </c:strCache>
            </c:strRef>
          </c:tx>
          <c:spPr>
            <a:ln w="19050" cap="rnd" cmpd="sng" algn="ctr">
              <a:solidFill>
                <a:schemeClr val="accent4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chemeClr val="accent4"/>
              </a:solidFill>
              <a:ln w="6350" cap="flat" cmpd="sng" algn="ctr">
                <a:solidFill>
                  <a:schemeClr val="accent4"/>
                </a:solidFill>
                <a:prstDash val="solid"/>
                <a:round/>
              </a:ln>
              <a:effectLst/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dLbl>
              <c:idx val="12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>
                  <c:spPr>
                    <a:ln w="6350" cap="flat" cmpd="sng" algn="ctr">
                      <a:solidFill>
                        <a:schemeClr val="tx1"/>
                      </a:solidFill>
                      <a:prstDash val="solid"/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Sheet1!$A$2:$A$13</c:f>
              <c:strCache>
                <c:ptCount val="28"/>
                <c:pt idx="0">
                  <c:v>W01</c:v>
                </c:pt>
                <c:pt idx="1">
                  <c:v>W02</c:v>
                </c:pt>
                <c:pt idx="2">
                  <c:v>W03</c:v>
                </c:pt>
                <c:pt idx="3">
                  <c:v>W04</c:v>
                </c:pt>
                <c:pt idx="4">
                  <c:v>W05</c:v>
                </c:pt>
                <c:pt idx="5">
                  <c:v>W06</c:v>
                </c:pt>
                <c:pt idx="6">
                  <c:v>W07</c:v>
                </c:pt>
                <c:pt idx="7">
                  <c:v>W08</c:v>
                </c:pt>
                <c:pt idx="8">
                  <c:v>W09</c:v>
                </c:pt>
                <c:pt idx="9">
                  <c:v>W10</c:v>
                </c:pt>
                <c:pt idx="10">
                  <c:v>W11</c:v>
                </c:pt>
                <c:pt idx="11">
                  <c:v>W12</c:v>
                </c:pt>
                <c:pt idx="12">
                  <c:v>W13</c:v>
                </c:pt>
                <c:pt idx="13">
                  <c:v>W14</c:v>
                </c:pt>
                <c:pt idx="14">
                  <c:v>W15</c:v>
                </c:pt>
                <c:pt idx="15">
                  <c:v>W16</c:v>
                </c:pt>
                <c:pt idx="16">
                  <c:v>W17</c:v>
                </c:pt>
                <c:pt idx="17">
                  <c:v>W18</c:v>
                </c:pt>
                <c:pt idx="18">
                  <c:v>W19</c:v>
                </c:pt>
                <c:pt idx="19">
                  <c:v>W20</c:v>
                </c:pt>
                <c:pt idx="20">
                  <c:v>W21</c:v>
                </c:pt>
                <c:pt idx="21">
                  <c:v>W22</c:v>
                </c:pt>
                <c:pt idx="22">
                  <c:v>W23</c:v>
                </c:pt>
                <c:pt idx="23">
                  <c:v>W24</c:v>
                </c:pt>
                <c:pt idx="24">
                  <c:v>W25</c:v>
                </c:pt>
                <c:pt idx="25">
                  <c:v>W26</c:v>
                </c:pt>
                <c:pt idx="26">
                  <c:v>W27</c:v>
                </c:pt>
                <c:pt idx="27">
                  <c:v>W28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28"/>
                <c:pt idx="0">
                  <c:v>1.17</c:v>
                </c:pt>
                <c:pt idx="1">
                  <c:v>3.68</c:v>
                </c:pt>
                <c:pt idx="2">
                  <c:v>5.34</c:v>
                </c:pt>
                <c:pt idx="3">
                  <c:v>5.99</c:v>
                </c:pt>
                <c:pt idx="4">
                  <c:v>11.38</c:v>
                </c:pt>
                <c:pt idx="5">
                  <c:v>4.21</c:v>
                </c:pt>
                <c:pt idx="6">
                  <c:v>2.65</c:v>
                </c:pt>
                <c:pt idx="7">
                  <c:v>3.51</c:v>
                </c:pt>
                <c:pt idx="8">
                  <c:v>2.03</c:v>
                </c:pt>
                <c:pt idx="9">
                  <c:v>7.76</c:v>
                </c:pt>
                <c:pt idx="10">
                  <c:v>8.79</c:v>
                </c:pt>
                <c:pt idx="11">
                  <c:v>17.9</c:v>
                </c:pt>
                <c:pt idx="12">
                  <c:v>5.91</c:v>
                </c:pt>
                <c:pt idx="13">
                  <c:v>4.34</c:v>
                </c:pt>
                <c:pt idx="14">
                  <c:v>5.12</c:v>
                </c:pt>
                <c:pt idx="15">
                  <c:v>7.78</c:v>
                </c:pt>
                <c:pt idx="16">
                  <c:v>13.07</c:v>
                </c:pt>
                <c:pt idx="17">
                  <c:v>6.0</c:v>
                </c:pt>
                <c:pt idx="18">
                  <c:v>10.54</c:v>
                </c:pt>
                <c:pt idx="19">
                  <c:v>7.29</c:v>
                </c:pt>
                <c:pt idx="20">
                  <c:v>13.52</c:v>
                </c:pt>
                <c:pt idx="21">
                  <c:v>7.22</c:v>
                </c:pt>
                <c:pt idx="22">
                  <c:v>6.98</c:v>
                </c:pt>
                <c:pt idx="23">
                  <c:v>12.53</c:v>
                </c:pt>
                <c:pt idx="24">
                  <c:v>16.25</c:v>
                </c:pt>
                <c:pt idx="25">
                  <c:v>6.45</c:v>
                </c:pt>
                <c:pt idx="26">
                  <c:v>3.35</c:v>
                </c:pt>
                <c:pt idx="27">
                  <c:v>5.54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同行批核(M)</c:v>
                </c:pt>
              </c:strCache>
            </c:strRef>
          </c:tx>
          <c:spPr>
            <a:ln w="19050" cap="rnd" cmpd="sng" algn="ctr">
              <a:solidFill>
                <a:schemeClr val="accent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chemeClr val="accent6"/>
              </a:solidFill>
              <a:ln w="6350" cap="flat" cmpd="sng" algn="ctr">
                <a:solidFill>
                  <a:schemeClr val="accent6"/>
                </a:solidFill>
                <a:prstDash val="solid"/>
                <a:round/>
              </a:ln>
              <a:effectLst/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dLbl>
              <c:idx val="12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>
                  <c:spPr>
                    <a:ln w="6350" cap="flat" cmpd="sng" algn="ctr">
                      <a:solidFill>
                        <a:schemeClr val="tx1"/>
                      </a:solidFill>
                      <a:prstDash val="solid"/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Sheet1!$A$2:$A$13</c:f>
              <c:strCache>
                <c:ptCount val="28"/>
                <c:pt idx="0">
                  <c:v>W01</c:v>
                </c:pt>
                <c:pt idx="1">
                  <c:v>W02</c:v>
                </c:pt>
                <c:pt idx="2">
                  <c:v>W03</c:v>
                </c:pt>
                <c:pt idx="3">
                  <c:v>W04</c:v>
                </c:pt>
                <c:pt idx="4">
                  <c:v>W05</c:v>
                </c:pt>
                <c:pt idx="5">
                  <c:v>W06</c:v>
                </c:pt>
                <c:pt idx="6">
                  <c:v>W07</c:v>
                </c:pt>
                <c:pt idx="7">
                  <c:v>W08</c:v>
                </c:pt>
                <c:pt idx="8">
                  <c:v>W09</c:v>
                </c:pt>
                <c:pt idx="9">
                  <c:v>W10</c:v>
                </c:pt>
                <c:pt idx="10">
                  <c:v>W11</c:v>
                </c:pt>
                <c:pt idx="11">
                  <c:v>W12</c:v>
                </c:pt>
                <c:pt idx="12">
                  <c:v>W13</c:v>
                </c:pt>
                <c:pt idx="13">
                  <c:v>W14</c:v>
                </c:pt>
                <c:pt idx="14">
                  <c:v>W15</c:v>
                </c:pt>
                <c:pt idx="15">
                  <c:v>W16</c:v>
                </c:pt>
                <c:pt idx="16">
                  <c:v>W17</c:v>
                </c:pt>
                <c:pt idx="17">
                  <c:v>W18</c:v>
                </c:pt>
                <c:pt idx="18">
                  <c:v>W19</c:v>
                </c:pt>
                <c:pt idx="19">
                  <c:v>W20</c:v>
                </c:pt>
                <c:pt idx="20">
                  <c:v>W21</c:v>
                </c:pt>
                <c:pt idx="21">
                  <c:v>W22</c:v>
                </c:pt>
                <c:pt idx="22">
                  <c:v>W23</c:v>
                </c:pt>
                <c:pt idx="23">
                  <c:v>W24</c:v>
                </c:pt>
                <c:pt idx="24">
                  <c:v>W25</c:v>
                </c:pt>
                <c:pt idx="25">
                  <c:v>W26</c:v>
                </c:pt>
                <c:pt idx="26">
                  <c:v>W27</c:v>
                </c:pt>
                <c:pt idx="27">
                  <c:v>W28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28"/>
                <c:pt idx="0">
                  <c:v>13.66</c:v>
                </c:pt>
                <c:pt idx="1">
                  <c:v>40.4</c:v>
                </c:pt>
                <c:pt idx="2">
                  <c:v>17.31</c:v>
                </c:pt>
                <c:pt idx="3">
                  <c:v>16.39</c:v>
                </c:pt>
                <c:pt idx="4">
                  <c:v>8.47</c:v>
                </c:pt>
                <c:pt idx="5">
                  <c:v>5.19</c:v>
                </c:pt>
                <c:pt idx="6">
                  <c:v>5.3</c:v>
                </c:pt>
                <c:pt idx="7">
                  <c:v>7.02</c:v>
                </c:pt>
                <c:pt idx="8">
                  <c:v>3.17</c:v>
                </c:pt>
                <c:pt idx="9">
                  <c:v>4.41</c:v>
                </c:pt>
                <c:pt idx="10">
                  <c:v>2.61</c:v>
                </c:pt>
                <c:pt idx="11">
                  <c:v>2.01</c:v>
                </c:pt>
                <c:pt idx="12">
                  <c:v>11.05</c:v>
                </c:pt>
                <c:pt idx="13">
                  <c:v>4.44</c:v>
                </c:pt>
                <c:pt idx="14">
                  <c:v>15.15</c:v>
                </c:pt>
                <c:pt idx="15">
                  <c:v>7.93</c:v>
                </c:pt>
                <c:pt idx="16">
                  <c:v>8.84</c:v>
                </c:pt>
                <c:pt idx="17">
                  <c:v>4.27</c:v>
                </c:pt>
                <c:pt idx="18">
                  <c:v>10.55</c:v>
                </c:pt>
                <c:pt idx="19">
                  <c:v>9.19</c:v>
                </c:pt>
                <c:pt idx="20">
                  <c:v>8.04</c:v>
                </c:pt>
                <c:pt idx="21">
                  <c:v>3.37</c:v>
                </c:pt>
                <c:pt idx="22">
                  <c:v>7.21</c:v>
                </c:pt>
                <c:pt idx="23">
                  <c:v>5.9</c:v>
                </c:pt>
                <c:pt idx="24">
                  <c:v>11.92</c:v>
                </c:pt>
                <c:pt idx="25">
                  <c:v>8.73</c:v>
                </c:pt>
                <c:pt idx="26">
                  <c:v>12.86</c:v>
                </c:pt>
                <c:pt idx="27">
                  <c:v>5.72</c:v>
                </c:pt>
              </c:numCache>
            </c:numRef>
          </c:val>
          <c:smooth val="0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noFill/>
          <a:ln w="12700" cap="flat" cmpd="sng" algn="ctr">
            <a:solidFill>
              <a:srgbClr val="888888"/>
            </a:solidFill>
            <a:prstDash val="solid"/>
            <a:round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  <a:effectLst/>
          </c:spPr>
        </c:majorGridlines>
        <c:numFmt formatCode="General" sourceLinked="0"/>
        <c:majorTickMark val="out"/>
        <c:minorTickMark val="none"/>
        <c:tickLblPos val="nextTo"/>
        <c:spPr>
          <a:noFill/>
          <a:ln w="12700" cap="flat" cmpd="sng" algn="ctr">
            <a:solidFill>
              <a:srgbClr val="888888"/>
            </a:solidFill>
            <a:prstDash val="solid"/>
            <a:round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381465761177136"/>
          <c:y val="0.871865203761755"/>
        </c:manualLayout>
      </c:layout>
      <c:overlay val="0"/>
      <c:spPr>
        <a:noFill/>
        <a:ln>
          <a:noFill/>
        </a:ln>
        <a:effectLst/>
      </c:spPr>
      <c:txPr>
        <a:bodyPr rot="0" spcFirstLastPara="0" vertOverflow="ellipsis" vert="horz" wrap="square" anchor="ctr" anchorCtr="1"/>
        <a:lstStyle/>
        <a:p>
          <a:pPr>
            <a:defRPr lang="zh-CN" sz="8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927977ba-dfe8-49e2-a067-6da98031ba51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512861522057844"/>
          <c:y val="0.101338432122371"/>
          <c:w val="0.919392243102759"/>
          <c:h val="0.523996175908222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民生银行</c:v>
                </c:pt>
              </c:strCache>
            </c:strRef>
          </c:tx>
          <c:spPr>
            <a:solidFill>
              <a:srgbClr val="922B21"/>
            </a:solidFill>
            <a:effectLst/>
          </c:spPr>
          <c:invertIfNegative val="0"/>
          <c:dLbls>
            <c:dLbl>
              <c:idx val="0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6.86M/11件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1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3.90M/6件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2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10.53M/19件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3"/>
              <c:layout>
                <c:manualLayout>
                  <c:x val="-0.0365187258429961"/>
                  <c:y val="-0.0458891013384321"/>
                </c:manualLayout>
              </c:layout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4.21M/9件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4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4.13M/7件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5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3.42M/10件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6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4.29M/7件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7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0M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600" b="0" i="0" u="none" strike="noStrike" kern="1200" cap="none" spc="0" normalizeH="0" baseline="0">
                    <a:solidFill>
                      <a:schemeClr val="tx1"/>
                    </a:solidFill>
                    <a:uFill>
                      <a:solidFill>
                        <a:schemeClr val="tx1"/>
                      </a:solidFill>
                    </a:u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Sheet1!$A$2:$A$5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8"/>
                <c:pt idx="0">
                  <c:v>6.86</c:v>
                </c:pt>
                <c:pt idx="1">
                  <c:v>3.9</c:v>
                </c:pt>
                <c:pt idx="2">
                  <c:v>10.53</c:v>
                </c:pt>
                <c:pt idx="3">
                  <c:v>4.21</c:v>
                </c:pt>
                <c:pt idx="4">
                  <c:v>4.13</c:v>
                </c:pt>
                <c:pt idx="5">
                  <c:v>3.42</c:v>
                </c:pt>
                <c:pt idx="6">
                  <c:v>4.29</c:v>
                </c:pt>
                <c:pt idx="7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Sheet1!$B$1</c:f>
              <c:strCache>
                <c:ptCount val="1"/>
                <c:pt idx="0">
                  <c:v>平安银行</c:v>
                </c:pt>
              </c:strCache>
            </c:strRef>
          </c:tx>
          <c:spPr>
            <a:solidFill>
              <a:srgbClr val="E8A5A0"/>
            </a:solidFill>
            <a:effectLst/>
          </c:spPr>
          <c:invertIfNegative val="0"/>
          <c:dLbls>
            <c:dLbl>
              <c:idx val="0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7.00M/6件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1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3.46M/2件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2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4.29M/3件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3"/>
              <c:layout>
                <c:manualLayout>
                  <c:x val="0.0453518592562976"/>
                  <c:y val="-0.0564053537284895"/>
                </c:manualLayout>
              </c:layout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3.12M/3件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4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2.73M/3件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5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5.85M/7件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6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4.68M/7件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7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0M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600" b="0" i="0" u="none" strike="noStrike" kern="1200" cap="none" spc="0" normalizeH="0" baseline="0">
                    <a:solidFill>
                      <a:schemeClr val="tx1"/>
                    </a:solidFill>
                    <a:uFill>
                      <a:solidFill>
                        <a:schemeClr val="tx1"/>
                      </a:solidFill>
                    </a:u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Sheet1!$A$2:$A$5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8"/>
                <c:pt idx="0">
                  <c:v>7.0</c:v>
                </c:pt>
                <c:pt idx="1">
                  <c:v>3.46</c:v>
                </c:pt>
                <c:pt idx="2">
                  <c:v>4.29</c:v>
                </c:pt>
                <c:pt idx="3">
                  <c:v>3.12</c:v>
                </c:pt>
                <c:pt idx="4">
                  <c:v>2.73</c:v>
                </c:pt>
                <c:pt idx="5">
                  <c:v>5.85</c:v>
                </c:pt>
                <c:pt idx="6">
                  <c:v>4.68</c:v>
                </c:pt>
                <c:pt idx="7">
                  <c:v>0.0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overlap val="100"/>
        <c:axId val="2094734601"/>
        <c:axId val="2094734602"/>
      </c:barChart>
      <c:catAx>
        <c:axId val="209473460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700" b="1" i="0" u="none" strike="noStrike" kern="1200" baseline="0">
                <a:solidFill>
                  <a:srgbClr val="1A1A2E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02"/>
        <c:crosses val="autoZero"/>
        <c:auto val="1"/>
        <c:lblAlgn val="ctr"/>
        <c:lblOffset val="100"/>
        <c:noMultiLvlLbl val="1"/>
      </c:catAx>
      <c:valAx>
        <c:axId val="209473460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6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01"/>
        <c:crosses val="autoZero"/>
        <c:crossBetween val="between"/>
      </c:valAx>
    </c:plotArea>
    <c:plotVisOnly val="1"/>
    <c:dispBlanksAs val="gap"/>
    <c:showDLblsOverMax val="0"/>
    <c:extLst>
      <c:ext uri="{0b15fc19-7d7d-44ad-8c2d-2c3a37ce22c3}">
        <chartProps xmlns="https://web.wps.cn/et/2018/main" chartId="{97005763-4f22-4efc-bf15-1e3cf181811e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 sz="700"/>
      </a:pPr>
    </a:p>
  </c:txPr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514644911060586"/>
          <c:y val="0.0476398601398601"/>
          <c:w val="0.919111943292764"/>
          <c:h val="0.73041958041958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民生银行</c:v>
                </c:pt>
              </c:strCache>
            </c:strRef>
          </c:tx>
          <c:spPr>
            <a:solidFill>
              <a:srgbClr val="C8890A"/>
            </a:solidFill>
            <a:effectLst/>
          </c:spPr>
          <c:invertIfNegative val="0"/>
          <c:dLbls>
            <c:dLbl>
              <c:idx val="0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6.24M/10件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1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4.91M/8件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2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8.19M/14件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3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5.77M/12件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4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3.74M/6件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5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4.59M/13件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6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4.29M/7件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7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0M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600" b="0" i="0" u="none" strike="noStrike" kern="1200" cap="none" spc="0" normalizeH="0" baseline="0">
                    <a:solidFill>
                      <a:schemeClr val="tx1"/>
                    </a:solidFill>
                    <a:uFill>
                      <a:solidFill>
                        <a:schemeClr val="tx1"/>
                      </a:solidFill>
                    </a:u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Sheet1!$A$2:$A$5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8"/>
                <c:pt idx="0">
                  <c:v>6.24</c:v>
                </c:pt>
                <c:pt idx="1">
                  <c:v>4.91</c:v>
                </c:pt>
                <c:pt idx="2">
                  <c:v>8.19</c:v>
                </c:pt>
                <c:pt idx="3">
                  <c:v>5.77</c:v>
                </c:pt>
                <c:pt idx="4">
                  <c:v>3.74</c:v>
                </c:pt>
                <c:pt idx="5">
                  <c:v>4.59</c:v>
                </c:pt>
                <c:pt idx="6">
                  <c:v>4.29</c:v>
                </c:pt>
                <c:pt idx="7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Sheet1!$B$1</c:f>
              <c:strCache>
                <c:ptCount val="1"/>
                <c:pt idx="0">
                  <c:v>平安银行</c:v>
                </c:pt>
              </c:strCache>
            </c:strRef>
          </c:tx>
          <c:spPr>
            <a:solidFill>
              <a:srgbClr val="F5D5A0"/>
            </a:solidFill>
            <a:effectLst/>
          </c:spPr>
          <c:invertIfNegative val="0"/>
          <c:dLbls>
            <c:dLbl>
              <c:idx val="0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10.90M/6件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1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3.46M/2件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2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5.07M/4件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3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2.73M/2件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4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3.12M/4件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5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5.85M/7件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6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4.68M/7件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7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0M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600" b="0" i="0" u="none" strike="noStrike" kern="1200" cap="none" spc="0" normalizeH="0" baseline="0">
                    <a:solidFill>
                      <a:schemeClr val="tx1"/>
                    </a:solidFill>
                    <a:uFill>
                      <a:solidFill>
                        <a:schemeClr val="tx1"/>
                      </a:solidFill>
                    </a:u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Sheet1!$A$2:$A$5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8"/>
                <c:pt idx="0">
                  <c:v>10.9</c:v>
                </c:pt>
                <c:pt idx="1">
                  <c:v>3.46</c:v>
                </c:pt>
                <c:pt idx="2">
                  <c:v>5.07</c:v>
                </c:pt>
                <c:pt idx="3">
                  <c:v>2.73</c:v>
                </c:pt>
                <c:pt idx="4">
                  <c:v>3.12</c:v>
                </c:pt>
                <c:pt idx="5">
                  <c:v>5.85</c:v>
                </c:pt>
                <c:pt idx="6">
                  <c:v>4.68</c:v>
                </c:pt>
                <c:pt idx="7">
                  <c:v>0.0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overlap val="100"/>
        <c:axId val="2094734611"/>
        <c:axId val="2094734612"/>
      </c:barChart>
      <c:catAx>
        <c:axId val="209473461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600" b="1" i="0" u="none" strike="noStrike" kern="1200" baseline="0">
                <a:solidFill>
                  <a:srgbClr val="1A1A2E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12"/>
        <c:crosses val="autoZero"/>
        <c:auto val="1"/>
        <c:lblAlgn val="ctr"/>
        <c:lblOffset val="100"/>
        <c:noMultiLvlLbl val="1"/>
      </c:catAx>
      <c:valAx>
        <c:axId val="209473461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6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11"/>
        <c:crosses val="autoZero"/>
        <c:crossBetween val="between"/>
      </c:valAx>
    </c:plotArea>
    <c:plotVisOnly val="1"/>
    <c:dispBlanksAs val="gap"/>
    <c:showDLblsOverMax val="0"/>
    <c:extLst>
      <c:ext uri="{0b15fc19-7d7d-44ad-8c2d-2c3a37ce22c3}">
        <chartProps xmlns="https://web.wps.cn/et/2018/main" chartId="{e991f72a-4d5a-403a-a640-30fd215da8a0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 sz="600"/>
      </a:pPr>
    </a:p>
  </c:txPr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民生银行</c:v>
                </c:pt>
              </c:strCache>
            </c:strRef>
          </c:tx>
          <c:spPr>
            <a:solidFill>
              <a:srgbClr val="1A6B3A"/>
            </a:solidFill>
            <a:effectLst/>
          </c:spPr>
          <c:invertIfNegative val="0"/>
          <c:dLbls>
            <c:dLbl>
              <c:idx val="0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12.80M/23件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1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84.79M/61件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2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44.52M/37件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3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25.66M/28件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4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14.68M/11件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5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3.51M/9件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6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1.56M/3件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7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0M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600" b="0" i="0" u="none" strike="noStrike" kern="1200" cap="none" spc="0" normalizeH="0" baseline="0">
                    <a:solidFill>
                      <a:schemeClr val="tx1"/>
                    </a:solidFill>
                    <a:uFill>
                      <a:solidFill>
                        <a:schemeClr val="tx1"/>
                      </a:solidFill>
                    </a:u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Sheet1!$A$2:$A$5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8"/>
                <c:pt idx="0">
                  <c:v>12.8</c:v>
                </c:pt>
                <c:pt idx="1">
                  <c:v>84.79</c:v>
                </c:pt>
                <c:pt idx="2">
                  <c:v>44.52</c:v>
                </c:pt>
                <c:pt idx="3">
                  <c:v>25.66</c:v>
                </c:pt>
                <c:pt idx="4">
                  <c:v>14.68</c:v>
                </c:pt>
                <c:pt idx="5">
                  <c:v>3.51</c:v>
                </c:pt>
                <c:pt idx="6">
                  <c:v>1.56</c:v>
                </c:pt>
                <c:pt idx="7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Sheet1!$B$1</c:f>
              <c:strCache>
                <c:ptCount val="1"/>
                <c:pt idx="0">
                  <c:v>平安银行</c:v>
                </c:pt>
              </c:strCache>
            </c:strRef>
          </c:tx>
          <c:spPr>
            <a:solidFill>
              <a:srgbClr val="82C89A"/>
            </a:solidFill>
            <a:effectLst/>
          </c:spPr>
          <c:invertIfNegative val="0"/>
          <c:dLbls>
            <c:dLbl>
              <c:idx val="0"/>
              <c:layout>
                <c:manualLayout>
                  <c:x val="0"/>
                  <c:y val="-0.0401459854014599"/>
                </c:manualLayout>
              </c:layout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5.46M/2件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1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9.15M/6件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2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14.18M/5件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3"/>
              <c:layout>
                <c:manualLayout>
                  <c:x val="0.00199893390191898"/>
                  <c:y val="-0.091004277695757"/>
                </c:manualLayout>
              </c:layout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1.56M/2件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4"/>
              <c:layout>
                <c:manualLayout>
                  <c:x val="0"/>
                  <c:y val="-0.0401459854014599"/>
                </c:manualLayout>
              </c:layout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7.02M/5件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5"/>
              <c:layout>
                <c:manualLayout>
                  <c:x val="0"/>
                  <c:y val="-0.0401459854014599"/>
                </c:manualLayout>
              </c:layout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2.73M/4件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6"/>
              <c:layout>
                <c:manualLayout>
                  <c:x val="0"/>
                  <c:y val="-0.0401459854014599"/>
                </c:manualLayout>
              </c:layout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0M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7"/>
              <c:layout>
                <c:manualLayout>
                  <c:x val="0"/>
                  <c:y val="-0.0401459854014599"/>
                </c:manualLayout>
              </c:layout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0M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600" b="0" i="0" u="none" strike="noStrike" kern="1200" cap="none" spc="0" normalizeH="0" baseline="0">
                    <a:solidFill>
                      <a:schemeClr val="tx1"/>
                    </a:solidFill>
                    <a:uFill>
                      <a:solidFill>
                        <a:schemeClr val="tx1"/>
                      </a:solidFill>
                    </a:u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Sheet1!$A$2:$A$5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8"/>
                <c:pt idx="0">
                  <c:v>5.46</c:v>
                </c:pt>
                <c:pt idx="1">
                  <c:v>9.15</c:v>
                </c:pt>
                <c:pt idx="2">
                  <c:v>14.18</c:v>
                </c:pt>
                <c:pt idx="3">
                  <c:v>1.56</c:v>
                </c:pt>
                <c:pt idx="4">
                  <c:v>7.02</c:v>
                </c:pt>
                <c:pt idx="5">
                  <c:v>2.73</c:v>
                </c:pt>
                <c:pt idx="6">
                  <c:v>0.0</c:v>
                </c:pt>
                <c:pt idx="7">
                  <c:v>0.0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overlap val="100"/>
        <c:axId val="2094734621"/>
        <c:axId val="2094734622"/>
      </c:barChart>
      <c:catAx>
        <c:axId val="209473462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700" b="1" i="0" u="none" strike="noStrike" kern="1200" baseline="0">
                <a:solidFill>
                  <a:srgbClr val="1A1A2E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22"/>
        <c:crosses val="autoZero"/>
        <c:auto val="1"/>
        <c:lblAlgn val="ctr"/>
        <c:lblOffset val="100"/>
        <c:noMultiLvlLbl val="1"/>
      </c:catAx>
      <c:valAx>
        <c:axId val="209473462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6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21"/>
        <c:crosses val="autoZero"/>
        <c:crossBetween val="between"/>
      </c:valAx>
    </c:plotArea>
    <c:plotVisOnly val="1"/>
    <c:dispBlanksAs val="gap"/>
    <c:showDLblsOverMax val="0"/>
    <c:extLst>
      <c:ext uri="{0b15fc19-7d7d-44ad-8c2d-2c3a37ce22c3}">
        <chartProps xmlns="https://web.wps.cn/et/2018/main" chartId="{ef6b1759-8741-4a5a-8d20-0511a974491d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 sz="700"/>
      </a:pPr>
    </a:p>
  </c:txPr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94880619488062"/>
          <c:y val="0.05"/>
          <c:w val="0.837631748763175"/>
          <c:h val="0.659350649350649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批核APE(M)</c:v>
                </c:pt>
              </c:strCache>
            </c:strRef>
          </c:tx>
          <c:spPr>
            <a:solidFill>
              <a:srgbClr val="00796B"/>
            </a:solidFill>
            <a:effectLst/>
          </c:spPr>
          <c:invertIfNegative val="0"/>
          <c:dLbls>
            <c:numFmt formatCode="#,##0.#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50" b="0" i="0" u="none" strike="noStrike" kern="1200" baseline="0">
                    <a:solidFill>
                      <a:schemeClr val="tx1"/>
                    </a:solidFill>
                    <a:latin typeface="Calibri" panose="020F050202020403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Sheet1!$A$2:$A$3</c:f>
              <c:strCache>
                <c:ptCount val="2"/>
                <c:pt idx="0">
                  <c:v>民生银行</c:v>
                </c:pt>
                <c:pt idx="1">
                  <c:v>平安银行</c:v>
                </c:pt>
              </c:strCache>
            </c:strRef>
          </c:cat>
          <c:val>
            <c:numRef>
              <c:f>Sheet1!$B$2:$B$3</c:f>
              <c:numCache>
                <c:formatCode>0.00_ </c:formatCode>
                <c:ptCount val="2"/>
                <c:pt idx="0">
                  <c:v>187.52</c:v>
                </c:pt>
                <c:pt idx="1">
                  <c:v>40.1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未批核APE(M)</c:v>
                </c:pt>
              </c:strCache>
            </c:strRef>
          </c:tx>
          <c:spPr>
            <a:solidFill>
              <a:srgbClr val="94A3B8"/>
            </a:solidFill>
            <a:effectLst/>
          </c:spPr>
          <c:invertIfNegative val="0"/>
          <c:dLbls>
            <c:numFmt formatCode="#,##0.#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50" b="0" i="0" u="none" strike="noStrike" kern="1200" baseline="0">
                    <a:solidFill>
                      <a:schemeClr val="tx1"/>
                    </a:solidFill>
                    <a:latin typeface="Calibri" panose="020F050202020403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Sheet1!$A$2:$A$3</c:f>
              <c:strCache>
                <c:ptCount val="2"/>
                <c:pt idx="0">
                  <c:v>民生银行</c:v>
                </c:pt>
                <c:pt idx="1">
                  <c:v>平安银行</c:v>
                </c:pt>
              </c:strCache>
            </c:strRef>
          </c:cat>
          <c:val>
            <c:numRef>
              <c:f>Sheet1!$C$2:$C$3</c:f>
              <c:numCache>
                <c:formatCode>0.00_ </c:formatCode>
                <c:ptCount val="2"/>
                <c:pt idx="0">
                  <c:v>16.92</c:v>
                </c:pt>
                <c:pt idx="1">
                  <c:v>11.7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待签APE(M)</c:v>
                </c:pt>
              </c:strCache>
            </c:strRef>
          </c:tx>
          <c:spPr>
            <a:solidFill>
              <a:srgbClr val="F5A623"/>
            </a:solidFill>
            <a:effectLst/>
          </c:spPr>
          <c:invertIfNegative val="0"/>
          <c:dLbls>
            <c:numFmt formatCode="#,##0.#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50" b="0" i="0" u="none" strike="noStrike" kern="1200" baseline="0">
                    <a:solidFill>
                      <a:schemeClr val="tx1"/>
                    </a:solidFill>
                    <a:latin typeface="Calibri" panose="020F050202020403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Sheet1!$A$2:$A$3</c:f>
              <c:strCache>
                <c:ptCount val="2"/>
                <c:pt idx="0">
                  <c:v>民生银行</c:v>
                </c:pt>
                <c:pt idx="1">
                  <c:v>平安银行</c:v>
                </c:pt>
              </c:strCache>
            </c:strRef>
          </c:cat>
          <c:val>
            <c:numRef>
              <c:f>Sheet1!$D$2:$D$3</c:f>
              <c:numCache>
                <c:formatCode>0.00_ </c:formatCode>
                <c:ptCount val="2"/>
                <c:pt idx="0">
                  <c:v>0.0</c:v>
                </c:pt>
                <c:pt idx="1">
                  <c:v>0.0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0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 cmpd="sng" algn="ctr">
              <a:solidFill>
                <a:srgbClr val="D0D8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0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1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2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</c:legendEntry>
      <c:layout>
        <c:manualLayout>
          <c:xMode val="edge"/>
          <c:yMode val="edge"/>
          <c:x val="0.322614801604993"/>
          <c:y val="0.876466275659824"/>
        </c:manualLayout>
      </c:layout>
      <c:overlay val="0"/>
      <c:txPr>
        <a:bodyPr rot="0" spcFirstLastPara="0" vertOverflow="ellipsis" vert="horz" wrap="square" anchor="ctr" anchorCtr="1"/>
        <a:lstStyle/>
        <a:p>
          <a:pPr>
            <a:defRPr lang="zh-CN" sz="8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05197ed0-b174-4c93-ab25-51cdc9fa0e6e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>
          <a:solidFill>
            <a:schemeClr val="tx1"/>
          </a:solidFill>
        </a:defRPr>
      </a:pPr>
    </a:p>
  </c:tx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APE构成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explosion val="0"/>
          <c:dPt>
            <c:idx val="0"/>
            <c:bubble3D val="0"/>
            <c:spPr>
              <a:solidFill>
                <a:srgbClr val="00796B"/>
              </a:solidFill>
              <a:effectLst/>
            </c:spPr>
          </c:dPt>
          <c:dPt>
            <c:idx val="1"/>
            <c:bubble3D val="0"/>
            <c:spPr>
              <a:solidFill>
                <a:srgbClr val="C8890A"/>
              </a:solidFill>
              <a:effectLst/>
            </c:spPr>
          </c:dPt>
          <c:dLbls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8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  <c:dLblPos val="outEnd"/>
          </c:dLbls>
          <c:cat>
            <c:strRef>
              <c:f>Sheet1!$A$2:$A$3</c:f>
              <c:strCache>
                <c:ptCount val="2"/>
                <c:pt idx="0">
                  <c:v>已批核</c:v>
                </c:pt>
                <c:pt idx="1">
                  <c:v>目标剩余</c:v>
                </c:pt>
              </c:strCache>
            </c:strRef>
          </c:cat>
          <c:val>
            <c:numRef>
              <c:f>Sheet1!$B$2:$B$3</c:f>
              <c:numCache>
                <c:formatCode>_ * #,##0_ ;_ * \-#,##0_ ;_ * "-"??_ ;_ @_ </c:formatCode>
                <c:ptCount val="2"/>
                <c:pt idx="0">
                  <c:v>227.63</c:v>
                </c:pt>
                <c:pt idx="1">
                  <c:v>-27.629999999999995</c:v>
                </c:pt>
              </c:numCache>
            </c:numRef>
          </c:val>
        </c:ser>
        <c:dLbls>
          <c:showLegendKey val="0"/>
          <c:showVal val="0"/>
          <c:showCatName val="1"/>
          <c:showSerName val="0"/>
          <c:showPercent val="1"/>
          <c:showBubbleSize val="0"/>
          <c:showLeaderLines val="1"/>
        </c:dLbls>
        <c:firstSliceAng val="0"/>
        <c:holeSize val="52"/>
      </c:doughnutChart>
      <c:spPr>
        <a:noFill/>
        <a:ln>
          <a:noFill/>
        </a:ln>
        <a:effectLst/>
      </c:spPr>
    </c:plotArea>
    <c:legend>
      <c:legendPos val="b"/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8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20a6ab99-be55-4806-a3dd-2f3f6e3251c2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904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8"/>
          <c:y val="0.04"/>
          <c:w val="0.88"/>
          <c:h val="0.88"/>
        </c:manualLayout>
      </c:layout>
      <c:lineChart>
        <c:grouping val="standard"/>
        <c:varyColors val="0"/>
        <c:ser>
          <c:idx val="0"/>
          <c:order val="0"/>
          <c:tx>
            <c:strRef>
              <c:f>Sheet1!$A$9</c:f>
              <c:strCache>
                <c:ptCount val="1"/>
                <c:pt idx="0">
                  <c:v>预约</c:v>
                </c:pt>
              </c:strCache>
            </c:strRef>
          </c:tx>
          <c:spPr>
            <a:ln w="22225" cap="rnd" cmpd="sng" algn="ctr">
              <a:solidFill>
                <a:srgbClr val="2980B9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2980B9"/>
              </a:solidFill>
              <a:ln w="9525" cap="flat" cmpd="sng" algn="ctr">
                <a:solidFill>
                  <a:srgbClr val="2980B9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Sheet1!$B2:$D9</c:f>
              <c:numCache>
                <c:formatCode>0.0</c:formatCode>
                <c:ptCount val="8"/>
                <c:pt idx="0">
                  <c:v>2.3900</c:v>
                </c:pt>
                <c:pt idx="1">
                  <c:v>12.1092</c:v>
                </c:pt>
                <c:pt idx="2">
                  <c:v>1.8188</c:v>
                </c:pt>
                <c:pt idx="3">
                  <c:v>4.0000</c:v>
                </c:pt>
                <c:pt idx="4">
                  <c:v>0.0088</c:v>
                </c:pt>
                <c:pt idx="5">
                  <c:v>0.0000</c:v>
                </c:pt>
                <c:pt idx="6">
                  <c:v>0.0000</c:v>
                </c:pt>
                <c:pt idx="7">
                  <c:v>0.0000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Sheet1!$A$9</c:f>
              <c:strCache>
                <c:ptCount val="1"/>
                <c:pt idx="0">
                  <c:v>签单</c:v>
                </c:pt>
              </c:strCache>
            </c:strRef>
          </c:tx>
          <c:spPr>
            <a:ln w="22225" cap="rnd" cmpd="sng" algn="ctr">
              <a:solidFill>
                <a:srgbClr val="1A7A3F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1A7A3F"/>
              </a:solidFill>
              <a:ln w="9525" cap="flat" cmpd="sng" algn="ctr">
                <a:solidFill>
                  <a:srgbClr val="1A7A3F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Sheet1!$B3:$D9</c:f>
              <c:numCache>
                <c:formatCode>0.0</c:formatCode>
                <c:ptCount val="8"/>
                <c:pt idx="0">
                  <c:v>2.3900</c:v>
                </c:pt>
                <c:pt idx="1">
                  <c:v>12.1092</c:v>
                </c:pt>
                <c:pt idx="2">
                  <c:v>1.8000</c:v>
                </c:pt>
                <c:pt idx="3">
                  <c:v>0.0188</c:v>
                </c:pt>
                <c:pt idx="4">
                  <c:v>4.0088</c:v>
                </c:pt>
                <c:pt idx="5">
                  <c:v>0.0000</c:v>
                </c:pt>
                <c:pt idx="6">
                  <c:v>0.0000</c:v>
                </c:pt>
                <c:pt idx="7">
                  <c:v>0.0000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Sheet1!$A$9</c:f>
              <c:strCache>
                <c:ptCount val="1"/>
                <c:pt idx="0">
                  <c:v>批核</c:v>
                </c:pt>
              </c:strCache>
            </c:strRef>
          </c:tx>
          <c:spPr>
            <a:ln w="22225" cap="rnd" cmpd="sng" algn="ctr">
              <a:solidFill>
                <a:srgbClr val="C0392B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0392B"/>
              </a:solidFill>
              <a:ln w="9525" cap="flat" cmpd="sng" algn="ctr">
                <a:solidFill>
                  <a:srgbClr val="C0392B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Sheet1!$B4:$D9</c:f>
              <c:numCache>
                <c:formatCode>0.0</c:formatCode>
                <c:ptCount val="8"/>
                <c:pt idx="0">
                  <c:v>2.0780</c:v>
                </c:pt>
                <c:pt idx="1">
                  <c:v>12.0000</c:v>
                </c:pt>
                <c:pt idx="2">
                  <c:v>0.4992</c:v>
                </c:pt>
                <c:pt idx="3">
                  <c:v>0.0000</c:v>
                </c:pt>
                <c:pt idx="4">
                  <c:v>5.8276</c:v>
                </c:pt>
                <c:pt idx="5">
                  <c:v>0.0000</c:v>
                </c:pt>
                <c:pt idx="6">
                  <c:v>0.0000</c:v>
                </c:pt>
                <c:pt idx="7">
                  <c:v>0.0000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1"/>
        <c:axId val="87301"/>
        <c:axId val="87302"/>
      </c:lineChart>
      <c:catAx>
        <c:axId val="87301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50" b="1" i="0" u="none" strike="noStrike" kern="1200" baseline="0">
                <a:solidFill>
                  <a:srgbClr val="374151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7302"/>
        <c:crosses val="autoZero"/>
        <c:auto val="1"/>
        <c:lblAlgn val="ctr"/>
        <c:lblOffset val="100"/>
        <c:noMultiLvlLbl val="1"/>
      </c:catAx>
      <c:valAx>
        <c:axId val="8730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0" sourceLinked="0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00" b="0" i="0" u="none" strike="noStrike" kern="1200" baseline="0">
                <a:solidFill>
                  <a:srgbClr val="94A3B8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7301"/>
        <c:crosses val="autoZero"/>
        <c:crossBetween val="between"/>
      </c:valAx>
      <c:spPr>
        <a:solidFill>
          <a:srgbClr val="FFFFFF"/>
        </a:solidFill>
        <a:ln>
          <a:noFill/>
        </a:ln>
      </c:spPr>
    </c:plotArea>
    <c:plotVisOnly val="1"/>
    <c:dispBlanksAs val="gap"/>
    <c:showDLblsOverMax val="0"/>
    <c:extLst>
      <c:ext uri="{0b15fc19-7d7d-44ad-8c2d-2c3a37ce22c3}">
        <chartProps xmlns="https://web.wps.cn/et/2018/main" chartId="{375a80eb-c526-4ac3-8945-2c4dde78ddea}"/>
      </c:ext>
    </c:extLst>
  </c:chart>
  <c:spPr>
    <a:solidFill>
      <a:srgbClr val="FFFFFF"/>
    </a:solidFill>
    <a:ln>
      <a:noFill/>
    </a:ln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2">
  <a:schemeClr val="accent2"/>
  <a:schemeClr val="accent4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102">
  <cs:axisTitle>
    <cs:lnRef idx="0"/>
    <cs:fillRef idx="0"/>
    <cs:effectRef idx="0"/>
    <cs:fontRef idx="minor">
      <a:schemeClr val="tx1"/>
    </cs:fontRef>
    <cs:defRPr sz="1000" b="1" kern="1200"/>
  </cs:axisTitle>
  <cs:categoryAxis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categoryAxis>
  <cs:chartArea mods="allowNoFillOverride allowNoLineOverride">
    <cs:lnRef idx="1">
      <a:schemeClr val="tx1">
        <a:tint val="75000"/>
      </a:schemeClr>
    </cs:lnRef>
    <cs:fillRef idx="1">
      <a:schemeClr val="bg1"/>
    </cs:fillRef>
    <cs:effectRef idx="0"/>
    <cs:fontRef idx="minor">
      <a:schemeClr val="tx1"/>
    </cs:fontRef>
    <cs:spPr>
      <a:ln>
        <a:round/>
      </a:ln>
    </cs:spPr>
    <cs:defRPr sz="1000" kern="1200"/>
  </cs:chartArea>
  <cs:dataLabel>
    <cs:lnRef idx="0"/>
    <cs:fillRef idx="0"/>
    <cs:effectRef idx="0"/>
    <cs:fontRef idx="minor">
      <a:schemeClr val="tx1"/>
    </cs:fontRef>
    <cs:defRPr sz="1000" kern="1200"/>
  </cs:dataLabel>
  <cs:dataLabelCallout>
    <cs:lnRef idx="0"/>
    <cs:fillRef idx="0"/>
    <cs:effectRef idx="0"/>
    <cs:fontRef idx="minor">
      <a:schemeClr val="dk1"/>
    </cs:fontRef>
    <cs:spPr>
      <a:solidFill>
        <a:schemeClr val="lt1"/>
      </a:solidFill>
      <a:ln>
        <a:solidFill>
          <a:schemeClr val="dk1">
            <a:lumMod val="65000"/>
            <a:lumOff val="35000"/>
          </a:schemeClr>
        </a:solidFill>
      </a:ln>
    </cs:spPr>
    <cs:defRPr sz="1000" kern="1200"/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1">
      <cs:styleClr val="auto"/>
    </cs:lnRef>
    <cs:lineWidthScale>3</cs:lineWidthScale>
    <cs:fillRef idx="0"/>
    <cs:effectRef idx="0"/>
    <cs:fontRef idx="minor">
      <a:schemeClr val="tx1"/>
    </cs:fontRef>
    <cs:spPr>
      <a:ln cap="rnd">
        <a:round/>
      </a:ln>
    </cs:spPr>
  </cs:dataPointLine>
  <cs:dataPointMarker>
    <cs:lnRef idx="1">
      <cs:styleClr val="auto"/>
    </cs:lnRef>
    <cs:fillRef idx="1">
      <cs:styleClr val="auto"/>
    </cs:fillRef>
    <cs:effectRef idx="0"/>
    <cs:fontRef idx="minor">
      <a:schemeClr val="tx1"/>
    </cs:fontRef>
    <cs:spPr>
      <a:ln>
        <a:round/>
      </a:ln>
    </cs:spPr>
  </cs:dataPointMarker>
  <cs:dataPointMarkerLayout/>
  <cs:dataPointWireframe>
    <cs:lnRef idx="1">
      <cs:styleClr val="auto"/>
    </cs:lnRef>
    <cs:fillRef idx="0"/>
    <cs:effectRef idx="0"/>
    <cs:fontRef idx="minor">
      <a:schemeClr val="tx1"/>
    </cs:fontRef>
    <cs:spPr>
      <a:ln>
        <a:round/>
      </a:ln>
    </cs:spPr>
  </cs:dataPointWireframe>
  <cs:dataTable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dataTable>
  <cs:downBar>
    <cs:lnRef idx="1">
      <a:schemeClr val="tx1"/>
    </cs:lnRef>
    <cs:fillRef idx="1">
      <a:schemeClr val="dk1">
        <a:tint val="95000"/>
      </a:schemeClr>
    </cs:fillRef>
    <cs:effectRef idx="0"/>
    <cs:fontRef idx="minor">
      <a:schemeClr val="tx1"/>
    </cs:fontRef>
    <cs:spPr>
      <a:ln>
        <a:round/>
      </a:ln>
    </cs:spPr>
  </cs:downBar>
  <cs:drop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dropLine>
  <cs:errorBar>
    <cs:lnRef idx="1">
      <a:schemeClr val="tx1"/>
    </cs:lnRef>
    <cs:fillRef idx="1">
      <a:schemeClr val="tx1"/>
    </cs:fillRef>
    <cs:effectRef idx="0"/>
    <cs:fontRef idx="minor">
      <a:schemeClr val="tx1"/>
    </cs:fontRef>
    <cs:spPr>
      <a:ln>
        <a:round/>
      </a:ln>
    </cs:spPr>
  </cs:errorBar>
  <cs:floor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</cs:floor>
  <cs:gridlineMajor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</cs:gridlineMajor>
  <cs:gridlineMinor>
    <cs:lnRef idx="1">
      <a:schemeClr val="tx1">
        <a:tint val="50000"/>
      </a:schemeClr>
    </cs:lnRef>
    <cs:fillRef idx="0"/>
    <cs:effectRef idx="0"/>
    <cs:fontRef idx="minor">
      <a:schemeClr val="tx1"/>
    </cs:fontRef>
    <cs:spPr>
      <a:ln>
        <a:round/>
      </a:ln>
    </cs:spPr>
  </cs:gridlineMinor>
  <cs:hiLo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hiLoLine>
  <cs:leader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leaderLine>
  <cs:legend>
    <cs:lnRef idx="0"/>
    <cs:fillRef idx="0"/>
    <cs:effectRef idx="0"/>
    <cs:fontRef idx="minor">
      <a:schemeClr val="tx1"/>
    </cs:fontRef>
    <cs:defRPr sz="1000" kern="1200"/>
  </cs:legend>
  <cs:plotArea mods="allowNoFillOverride allowNoLineOverride">
    <cs:lnRef idx="0"/>
    <cs:fillRef idx="1">
      <a:schemeClr val="bg1"/>
    </cs:fillRef>
    <cs:effectRef idx="0"/>
    <cs:fontRef idx="minor">
      <a:schemeClr val="tx1"/>
    </cs:fontRef>
  </cs:plotArea>
  <cs:plotArea3D>
    <cs:lnRef idx="0"/>
    <cs:fillRef idx="0"/>
    <cs:effectRef idx="0"/>
    <cs:fontRef idx="minor">
      <a:schemeClr val="tx1"/>
    </cs:fontRef>
  </cs:plotArea3D>
  <cs:seriesAxis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seriesAxis>
  <cs:series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seriesLine>
  <cs:title>
    <cs:lnRef idx="0"/>
    <cs:fillRef idx="0"/>
    <cs:effectRef idx="0"/>
    <cs:fontRef idx="minor">
      <a:schemeClr val="tx1"/>
    </cs:fontRef>
    <cs:defRPr sz="1800" b="1" kern="1200"/>
  </cs:title>
  <cs:trendline>
    <cs:lnRef idx="1">
      <a:schemeClr val="tx1"/>
    </cs:lnRef>
    <cs:fillRef idx="0"/>
    <cs:effectRef idx="0"/>
    <cs:fontRef idx="minor">
      <a:schemeClr val="tx1"/>
    </cs:fontRef>
    <cs:spPr>
      <a:ln cap="rnd">
        <a:round/>
      </a:ln>
    </cs:spPr>
  </cs:trendline>
  <cs:trendlineLabel>
    <cs:lnRef idx="0"/>
    <cs:fillRef idx="0"/>
    <cs:effectRef idx="0"/>
    <cs:fontRef idx="minor">
      <a:schemeClr val="tx1"/>
    </cs:fontRef>
    <cs:defRPr sz="1000" kern="1200"/>
  </cs:trendlineLabel>
  <cs:upBar>
    <cs:lnRef idx="1">
      <a:schemeClr val="tx1"/>
    </cs:lnRef>
    <cs:fillRef idx="1">
      <a:schemeClr val="dk1">
        <a:tint val="5000"/>
      </a:schemeClr>
    </cs:fillRef>
    <cs:effectRef idx="0"/>
    <cs:fontRef idx="minor">
      <a:schemeClr val="tx1"/>
    </cs:fontRef>
    <cs:spPr>
      <a:ln>
        <a:round/>
      </a:ln>
    </cs:spPr>
  </cs:upBar>
  <cs:valueAxis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valueAxis>
  <cs:wall>
    <cs:lnRef idx="0"/>
    <cs:fillRef idx="0"/>
    <cs:effectRef idx="0"/>
    <cs:fontRef idx="minor">
      <a:schemeClr val="tx1"/>
    </cs:fontRef>
  </cs:wall>
</cs:chartStyl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chart" Target="..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chart" Target="../charts/chart3.xml"/><Relationship Id="rId2" Type="http://schemas.openxmlformats.org/officeDocument/2006/relationships/chart" Target="../charts/chart4.xml"/><Relationship Id="rId3" Type="http://schemas.openxmlformats.org/officeDocument/2006/relationships/chart" Target="../charts/chart5.xml"/><Relationship Id="rId4" Type="http://schemas.openxmlformats.org/officeDocument/2006/relationships/chart" Target="../charts/chart6.xml"/><Relationship Id="rId5" Type="http://schemas.openxmlformats.org/officeDocument/2006/relationships/tags" Target="../tags/tag1.xml"/><Relationship Id="rId6" Type="http://schemas.openxmlformats.org/officeDocument/2006/relationships/image" Target="../media/image1.png"/><Relationship Id="rId7" Type="http://schemas.openxmlformats.org/officeDocument/2006/relationships/image" Target="../media/image2.svg"/><Relationship Id="rId8" Type="http://schemas.openxmlformats.org/officeDocument/2006/relationships/tags" Target="../tags/tag2.xml"/><Relationship Id="rId9" Type="http://schemas.openxmlformats.org/officeDocument/2006/relationships/image" Target="../media/image3.png"/><Relationship Id="rId10" Type="http://schemas.openxmlformats.org/officeDocument/2006/relationships/image" Target="../media/image4.svg"/><Relationship Id="rId11" Type="http://schemas.openxmlformats.org/officeDocument/2006/relationships/tags" Target="../tags/tag3.xml"/><Relationship Id="rId12" Type="http://schemas.openxmlformats.org/officeDocument/2006/relationships/image" Target="../media/image5.svg"/><Relationship Id="rId13" Type="http://schemas.openxmlformats.org/officeDocument/2006/relationships/tags" Target="../tags/tag4.xml"/><Relationship Id="rId14" Type="http://schemas.openxmlformats.org/officeDocument/2006/relationships/image" Target="../media/image6.png"/><Relationship Id="rId15" Type="http://schemas.openxmlformats.org/officeDocument/2006/relationships/image" Target="../media/image7.svg"/><Relationship Id="rId16" Type="http://schemas.openxmlformats.org/officeDocument/2006/relationships/tags" Target="../tags/tag5.xml"/><Relationship Id="rId17" Type="http://schemas.openxmlformats.org/officeDocument/2006/relationships/image" Target="../media/image8.svg"/><Relationship Id="rId18" Type="http://schemas.openxmlformats.org/officeDocument/2006/relationships/tags" Target="../tags/tag6.xml"/><Relationship Id="rId19" Type="http://schemas.openxmlformats.org/officeDocument/2006/relationships/image" Target="../media/image9.svg"/><Relationship Id="rId20" Type="http://schemas.openxmlformats.org/officeDocument/2006/relationships/tags" Target="../tags/tag7.xml"/><Relationship Id="rId21" Type="http://schemas.openxmlformats.org/officeDocument/2006/relationships/image" Target="../media/image10.png"/><Relationship Id="rId22" Type="http://schemas.openxmlformats.org/officeDocument/2006/relationships/tags" Target="../tags/tag8.xml"/><Relationship Id="rId23" Type="http://schemas.openxmlformats.org/officeDocument/2006/relationships/image" Target="../media/image11.png"/><Relationship Id="rId24" Type="http://schemas.openxmlformats.org/officeDocument/2006/relationships/tags" Target="../tags/tag9.xml"/><Relationship Id="rId25" Type="http://schemas.openxmlformats.org/officeDocument/2006/relationships/image" Target="../media/image12.png"/><Relationship Id="rId26" Type="http://schemas.openxmlformats.org/officeDocument/2006/relationships/slideLayout" Target="../slideLayouts/slideLayout1.xml"/><Relationship Id="rId27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chart" Target="..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chart" Target="../charts/chart8.xml"/><Relationship Id="rId2" Type="http://schemas.openxmlformats.org/officeDocument/2006/relationships/chart" Target="../charts/chart9.xml"/><Relationship Id="rId3" Type="http://schemas.openxmlformats.org/officeDocument/2006/relationships/chart" Target="../charts/chart10.xml"/><Relationship Id="rId4" Type="http://schemas.openxmlformats.org/officeDocument/2006/relationships/chart" Target="../charts/chart11.xml"/><Relationship Id="rId5" Type="http://schemas.openxmlformats.org/officeDocument/2006/relationships/chart" Target="../charts/chart12.xml"/><Relationship Id="rId6" Type="http://schemas.openxmlformats.org/officeDocument/2006/relationships/chart" Target="../charts/chart13.xml"/><Relationship Id="rId7" Type="http://schemas.openxmlformats.org/officeDocument/2006/relationships/chart" Target="../charts/chart14.xml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4.xml"/><Relationship Id="rId10" Type="http://schemas.openxmlformats.org/officeDocument/2006/relationships/chart" Target="../charts/chart904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chart" Target="../charts/chart15.xml"/><Relationship Id="rId2" Type="http://schemas.openxmlformats.org/officeDocument/2006/relationships/chart" Target="../charts/chart16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chart" Target="../charts/chart1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chart" Target="../charts/chart18.xml"/><Relationship Id="rId2" Type="http://schemas.openxmlformats.org/officeDocument/2006/relationships/chart" Target="../charts/chart19.xml"/><Relationship Id="rId3" Type="http://schemas.openxmlformats.org/officeDocument/2006/relationships/tags" Target="../tags/tag10.xml"/><Relationship Id="rId4" Type="http://schemas.openxmlformats.org/officeDocument/2006/relationships/tags" Target="../tags/tag11.xml"/><Relationship Id="rId5" Type="http://schemas.openxmlformats.org/officeDocument/2006/relationships/tags" Target="../tags/tag12.xml"/><Relationship Id="rId6" Type="http://schemas.openxmlformats.org/officeDocument/2006/relationships/tags" Target="../tags/tag13.xml"/><Relationship Id="rId7" Type="http://schemas.openxmlformats.org/officeDocument/2006/relationships/tags" Target="../tags/tag14.xml"/><Relationship Id="rId8" Type="http://schemas.openxmlformats.org/officeDocument/2006/relationships/tags" Target="../tags/tag15.xml"/><Relationship Id="rId9" Type="http://schemas.openxmlformats.org/officeDocument/2006/relationships/tags" Target="../tags/tag16.xml"/><Relationship Id="rId10" Type="http://schemas.openxmlformats.org/officeDocument/2006/relationships/tags" Target="../tags/tag17.xml"/><Relationship Id="rId11" Type="http://schemas.openxmlformats.org/officeDocument/2006/relationships/tags" Target="../tags/tag18.xml"/><Relationship Id="rId12" Type="http://schemas.openxmlformats.org/officeDocument/2006/relationships/tags" Target="../tags/tag19.xml"/><Relationship Id="rId13" Type="http://schemas.openxmlformats.org/officeDocument/2006/relationships/tags" Target="../tags/tag20.xml"/><Relationship Id="rId14" Type="http://schemas.openxmlformats.org/officeDocument/2006/relationships/tags" Target="../tags/tag21.xml"/><Relationship Id="rId15" Type="http://schemas.openxmlformats.org/officeDocument/2006/relationships/tags" Target="../tags/tag22.xml"/><Relationship Id="rId16" Type="http://schemas.openxmlformats.org/officeDocument/2006/relationships/tags" Target="../tags/tag23.xml"/><Relationship Id="rId17" Type="http://schemas.openxmlformats.org/officeDocument/2006/relationships/tags" Target="../tags/tag24.xml"/><Relationship Id="rId18" Type="http://schemas.openxmlformats.org/officeDocument/2006/relationships/tags" Target="../tags/tag25.xml"/><Relationship Id="rId19" Type="http://schemas.openxmlformats.org/officeDocument/2006/relationships/tags" Target="../tags/tag26.xml"/><Relationship Id="rId20" Type="http://schemas.openxmlformats.org/officeDocument/2006/relationships/tags" Target="../tags/tag27.xml"/><Relationship Id="rId21" Type="http://schemas.openxmlformats.org/officeDocument/2006/relationships/tags" Target="../tags/tag28.xml"/><Relationship Id="rId22" Type="http://schemas.openxmlformats.org/officeDocument/2006/relationships/tags" Target="../tags/tag29.xml"/><Relationship Id="rId23" Type="http://schemas.openxmlformats.org/officeDocument/2006/relationships/tags" Target="../tags/tag30.xml"/><Relationship Id="rId24" Type="http://schemas.openxmlformats.org/officeDocument/2006/relationships/tags" Target="../tags/tag31.xml"/><Relationship Id="rId25" Type="http://schemas.openxmlformats.org/officeDocument/2006/relationships/tags" Target="../tags/tag32.xml"/><Relationship Id="rId26" Type="http://schemas.openxmlformats.org/officeDocument/2006/relationships/tags" Target="../tags/tag33.xml"/><Relationship Id="rId27" Type="http://schemas.openxmlformats.org/officeDocument/2006/relationships/tags" Target="../tags/tag34.xml"/><Relationship Id="rId28" Type="http://schemas.openxmlformats.org/officeDocument/2006/relationships/tags" Target="../tags/tag35.xml"/><Relationship Id="rId29" Type="http://schemas.openxmlformats.org/officeDocument/2006/relationships/tags" Target="../tags/tag36.xml"/><Relationship Id="rId30" Type="http://schemas.openxmlformats.org/officeDocument/2006/relationships/tags" Target="../tags/tag37.xml"/><Relationship Id="rId31" Type="http://schemas.openxmlformats.org/officeDocument/2006/relationships/slideLayout" Target="../slideLayouts/slideLayout1.xml"/><Relationship Id="rId3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chart" Target="../charts/chart20.xml"/><Relationship Id="rId2" Type="http://schemas.openxmlformats.org/officeDocument/2006/relationships/tags" Target="../tags/tag38.xml"/><Relationship Id="rId3" Type="http://schemas.openxmlformats.org/officeDocument/2006/relationships/tags" Target="../tags/tag39.xml"/><Relationship Id="rId4" Type="http://schemas.openxmlformats.org/officeDocument/2006/relationships/tags" Target="../tags/tag40.xml"/><Relationship Id="rId5" Type="http://schemas.openxmlformats.org/officeDocument/2006/relationships/tags" Target="../tags/tag41.xml"/><Relationship Id="rId6" Type="http://schemas.openxmlformats.org/officeDocument/2006/relationships/tags" Target="../tags/tag42.xml"/><Relationship Id="rId7" Type="http://schemas.openxmlformats.org/officeDocument/2006/relationships/tags" Target="../tags/tag43.xml"/><Relationship Id="rId8" Type="http://schemas.openxmlformats.org/officeDocument/2006/relationships/tags" Target="../tags/tag44.xml"/><Relationship Id="rId9" Type="http://schemas.openxmlformats.org/officeDocument/2006/relationships/tags" Target="../tags/tag45.xml"/><Relationship Id="rId10" Type="http://schemas.openxmlformats.org/officeDocument/2006/relationships/tags" Target="../tags/tag46.xml"/><Relationship Id="rId11" Type="http://schemas.openxmlformats.org/officeDocument/2006/relationships/tags" Target="../tags/tag47.xml"/><Relationship Id="rId12" Type="http://schemas.openxmlformats.org/officeDocument/2006/relationships/tags" Target="../tags/tag48.xml"/><Relationship Id="rId13" Type="http://schemas.openxmlformats.org/officeDocument/2006/relationships/tags" Target="../tags/tag49.xml"/><Relationship Id="rId14" Type="http://schemas.openxmlformats.org/officeDocument/2006/relationships/tags" Target="../tags/tag50.xml"/><Relationship Id="rId15" Type="http://schemas.openxmlformats.org/officeDocument/2006/relationships/tags" Target="../tags/tag51.xml"/><Relationship Id="rId16" Type="http://schemas.openxmlformats.org/officeDocument/2006/relationships/tags" Target="../tags/tag52.xml"/><Relationship Id="rId17" Type="http://schemas.openxmlformats.org/officeDocument/2006/relationships/tags" Target="../tags/tag53.xml"/><Relationship Id="rId18" Type="http://schemas.openxmlformats.org/officeDocument/2006/relationships/slideLayout" Target="../slideLayouts/slideLayout1.xml"/><Relationship Id="rId19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ags" Target="../tags/tag54.xml"/><Relationship Id="rId3" Type="http://schemas.openxmlformats.org/officeDocument/2006/relationships/tags" Target="../tags/tag55.xml"/><Relationship Id="rId4" Type="http://schemas.openxmlformats.org/officeDocument/2006/relationships/tags" Target="../tags/tag56.xml"/><Relationship Id="rId5" Type="http://schemas.openxmlformats.org/officeDocument/2006/relationships/tags" Target="../tags/tag57.xml"/><Relationship Id="rId6" Type="http://schemas.openxmlformats.org/officeDocument/2006/relationships/tags" Target="../tags/tag58.xml"/><Relationship Id="rId7" Type="http://schemas.openxmlformats.org/officeDocument/2006/relationships/tags" Target="../tags/tag59.xml"/><Relationship Id="rId8" Type="http://schemas.openxmlformats.org/officeDocument/2006/relationships/tags" Target="../tags/tag60.xml"/><Relationship Id="rId9" Type="http://schemas.openxmlformats.org/officeDocument/2006/relationships/tags" Target="../tags/tag61.xml"/><Relationship Id="rId10" Type="http://schemas.openxmlformats.org/officeDocument/2006/relationships/tags" Target="../tags/tag62.xml"/><Relationship Id="rId11" Type="http://schemas.openxmlformats.org/officeDocument/2006/relationships/tags" Target="../tags/tag63.xml"/><Relationship Id="rId12" Type="http://schemas.openxmlformats.org/officeDocument/2006/relationships/tags" Target="../tags/tag64.xml"/><Relationship Id="rId13" Type="http://schemas.openxmlformats.org/officeDocument/2006/relationships/tags" Target="../tags/tag65.xml"/><Relationship Id="rId14" Type="http://schemas.openxmlformats.org/officeDocument/2006/relationships/tags" Target="../tags/tag66.xml"/><Relationship Id="rId15" Type="http://schemas.openxmlformats.org/officeDocument/2006/relationships/tags" Target="../tags/tag67.xml"/><Relationship Id="rId16" Type="http://schemas.openxmlformats.org/officeDocument/2006/relationships/tags" Target="../tags/tag68.xml"/><Relationship Id="rId17" Type="http://schemas.openxmlformats.org/officeDocument/2006/relationships/tags" Target="../tags/tag69.xml"/><Relationship Id="rId18" Type="http://schemas.openxmlformats.org/officeDocument/2006/relationships/tags" Target="../tags/tag70.xml"/><Relationship Id="rId19" Type="http://schemas.openxmlformats.org/officeDocument/2006/relationships/tags" Target="../tags/tag71.xml"/><Relationship Id="rId20" Type="http://schemas.openxmlformats.org/officeDocument/2006/relationships/tags" Target="../tags/tag72.xml"/><Relationship Id="rId21" Type="http://schemas.openxmlformats.org/officeDocument/2006/relationships/tags" Target="../tags/tag73.xml"/><Relationship Id="rId22" Type="http://schemas.openxmlformats.org/officeDocument/2006/relationships/tags" Target="../tags/tag74.xml"/><Relationship Id="rId23" Type="http://schemas.openxmlformats.org/officeDocument/2006/relationships/tags" Target="../tags/tag75.xml"/><Relationship Id="rId24" Type="http://schemas.openxmlformats.org/officeDocument/2006/relationships/tags" Target="../tags/tag76.xml"/><Relationship Id="rId25" Type="http://schemas.openxmlformats.org/officeDocument/2006/relationships/tags" Target="../tags/tag77.xml"/><Relationship Id="rId26" Type="http://schemas.openxmlformats.org/officeDocument/2006/relationships/tags" Target="../tags/tag78.xml"/><Relationship Id="rId27" Type="http://schemas.openxmlformats.org/officeDocument/2006/relationships/tags" Target="../tags/tag79.xml"/><Relationship Id="rId28" Type="http://schemas.openxmlformats.org/officeDocument/2006/relationships/tags" Target="../tags/tag80.xml"/><Relationship Id="rId29" Type="http://schemas.openxmlformats.org/officeDocument/2006/relationships/tags" Target="../tags/tag81.xml"/><Relationship Id="rId30" Type="http://schemas.openxmlformats.org/officeDocument/2006/relationships/tags" Target="../tags/tag82.xml"/><Relationship Id="rId31" Type="http://schemas.openxmlformats.org/officeDocument/2006/relationships/tags" Target="../tags/tag83.xml"/><Relationship Id="rId32" Type="http://schemas.openxmlformats.org/officeDocument/2006/relationships/chart" Target="../charts/chart21.xml"/><Relationship Id="rId33" Type="http://schemas.openxmlformats.org/officeDocument/2006/relationships/chart" Target="../charts/chart22.xml"/><Relationship Id="rId34" Type="http://schemas.openxmlformats.org/officeDocument/2006/relationships/chart" Target="../charts/chart23.xml"/><Relationship Id="rId35" Type="http://schemas.openxmlformats.org/officeDocument/2006/relationships/tags" Target="../tags/tag84.xml"/><Relationship Id="rId36" Type="http://schemas.openxmlformats.org/officeDocument/2006/relationships/chart" Target="../charts/chart24.xml"/><Relationship Id="rId37" Type="http://schemas.openxmlformats.org/officeDocument/2006/relationships/chart" Target="../charts/chart25.xml"/><Relationship Id="rId38" Type="http://schemas.openxmlformats.org/officeDocument/2006/relationships/tags" Target="../tags/tag85.xml"/><Relationship Id="rId39" Type="http://schemas.openxmlformats.org/officeDocument/2006/relationships/tags" Target="../tags/tag86.xml"/><Relationship Id="rId40" Type="http://schemas.openxmlformats.org/officeDocument/2006/relationships/tags" Target="../tags/tag87.xml"/><Relationship Id="rId41" Type="http://schemas.openxmlformats.org/officeDocument/2006/relationships/tags" Target="../tags/tag88.xml"/><Relationship Id="rId42" Type="http://schemas.openxmlformats.org/officeDocument/2006/relationships/tags" Target="../tags/tag89.xml"/><Relationship Id="rId43" Type="http://schemas.openxmlformats.org/officeDocument/2006/relationships/tags" Target="../tags/tag90.xml"/><Relationship Id="rId44" Type="http://schemas.openxmlformats.org/officeDocument/2006/relationships/tags" Target="../tags/tag91.xml"/><Relationship Id="rId45" Type="http://schemas.openxmlformats.org/officeDocument/2006/relationships/tags" Target="../tags/tag92.xml"/><Relationship Id="rId46" Type="http://schemas.openxmlformats.org/officeDocument/2006/relationships/tags" Target="../tags/tag93.xml"/><Relationship Id="rId47" Type="http://schemas.openxmlformats.org/officeDocument/2006/relationships/tags" Target="../tags/tag94.xml"/><Relationship Id="rId48" Type="http://schemas.openxmlformats.org/officeDocument/2006/relationships/tags" Target="../tags/tag95.xml"/><Relationship Id="rId49" Type="http://schemas.openxmlformats.org/officeDocument/2006/relationships/tags" Target="../tags/tag96.xml"/><Relationship Id="rId50" Type="http://schemas.openxmlformats.org/officeDocument/2006/relationships/tags" Target="../tags/tag97.xml"/><Relationship Id="rId51" Type="http://schemas.openxmlformats.org/officeDocument/2006/relationships/tags" Target="../tags/tag98.xml"/><Relationship Id="rId52" Type="http://schemas.openxmlformats.org/officeDocument/2006/relationships/tags" Target="../tags/tag99.xml"/><Relationship Id="rId53" Type="http://schemas.openxmlformats.org/officeDocument/2006/relationships/tags" Target="../tags/tag100.xml"/><Relationship Id="rId54" Type="http://schemas.openxmlformats.org/officeDocument/2006/relationships/tags" Target="../tags/tag101.xml"/><Relationship Id="rId55" Type="http://schemas.openxmlformats.org/officeDocument/2006/relationships/tags" Target="../tags/tag102.xml"/><Relationship Id="rId56" Type="http://schemas.openxmlformats.org/officeDocument/2006/relationships/tags" Target="../tags/tag103.xml"/><Relationship Id="rId57" Type="http://schemas.openxmlformats.org/officeDocument/2006/relationships/image" Target="../media/image13.png"/><Relationship Id="rId58" Type="http://schemas.openxmlformats.org/officeDocument/2006/relationships/image" Target="../media/image1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47548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64592" y="73152"/>
            <a:ext cx="914400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全维度业绩分析仪表盘  |   生成日期：2026-07-31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0515600" y="109728"/>
            <a:ext cx="15087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内部文件 · 仅供使用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91440" y="548640"/>
            <a:ext cx="3840480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91440" y="548640"/>
            <a:ext cx="3840480" cy="27432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82880" y="585216"/>
            <a:ext cx="3675888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  年度目标达成率 — 2026 全业务 &amp; 永明业务 APE 达成状况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4069080" y="548640"/>
            <a:ext cx="4206240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4069080" y="548640"/>
            <a:ext cx="4206240" cy="274320"/>
          </a:xfrm>
          <a:prstGeom prst="rect">
            <a:avLst/>
          </a:prstGeom>
          <a:solidFill>
            <a:srgbClr val="922B21"/>
          </a:solidFill>
          <a:ln w="12700">
            <a:solidFill>
              <a:srgbClr val="922B21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4160520" y="585216"/>
            <a:ext cx="4041648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  保单阶段分布 — 2026 批核 / 未批核 / 待签 APE 构成分析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8412480" y="548640"/>
            <a:ext cx="3639312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8412480" y="548640"/>
            <a:ext cx="3639312" cy="274320"/>
          </a:xfrm>
          <a:prstGeom prst="rect">
            <a:avLst/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503920" y="585216"/>
            <a:ext cx="3474720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  业务类型业绩 — 渠道批核 / 未批核 / 待签（APE in M）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91440" y="3429000"/>
            <a:ext cx="11960352" cy="324612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>
            <a:endParaRPr lang="zh-CN" altLang="en-US"/>
          </a:p>
        </p:txBody>
      </p:sp>
      <p:sp>
        <p:nvSpPr>
          <p:cNvPr id="15" name="Shape 13"/>
          <p:cNvSpPr/>
          <p:nvPr/>
        </p:nvSpPr>
        <p:spPr>
          <a:xfrm>
            <a:off x="91440" y="3429000"/>
            <a:ext cx="11960352" cy="274320"/>
          </a:xfrm>
          <a:prstGeom prst="rect">
            <a:avLst/>
          </a:prstGeom>
          <a:solidFill>
            <a:srgbClr val="1A6B3A"/>
          </a:solidFill>
          <a:ln w="12700">
            <a:solidFill>
              <a:srgbClr val="1A6B3A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182880" y="3465576"/>
            <a:ext cx="11795760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  预约 / 签单 / 批核月度趋势三线图 </a:t>
            </a: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（APE in M）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219456" y="877824"/>
            <a:ext cx="150876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54.4%</a:t>
            </a:r>
            <a:endParaRPr lang="en-US" sz="4400" dirty="0"/>
          </a:p>
        </p:txBody>
      </p:sp>
      <p:sp>
        <p:nvSpPr>
          <p:cNvPr id="18" name="Text 16"/>
          <p:cNvSpPr/>
          <p:nvPr/>
        </p:nvSpPr>
        <p:spPr>
          <a:xfrm>
            <a:off x="219456" y="1435608"/>
            <a:ext cx="150876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2026 全业务目标达成率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1956816" y="877824"/>
            <a:ext cx="1828800" cy="329184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1956816" y="877824"/>
            <a:ext cx="45720" cy="329184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2048256" y="896112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605M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2048256" y="1069848"/>
            <a:ext cx="169164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已批核 APE（2026）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1956816" y="1243584"/>
            <a:ext cx="1828800" cy="329184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1956816" y="1243584"/>
            <a:ext cx="45720" cy="329184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2048256" y="1261872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1157 件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2048256" y="1435608"/>
            <a:ext cx="169164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批核件数（2026）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1956816" y="1609344"/>
            <a:ext cx="1828800" cy="329184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1956816" y="1609344"/>
            <a:ext cx="45720" cy="329184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2048256" y="1627632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-508M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2048256" y="1801368"/>
            <a:ext cx="169164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70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剩余</a:t>
            </a:r>
            <a:r>
              <a:rPr lang="en-US" sz="7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缺口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19456" y="1984248"/>
            <a:ext cx="2331720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全业务目标（1,113M）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219456" y="2148840"/>
            <a:ext cx="2331720" cy="146304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33" name="Shape 31"/>
          <p:cNvSpPr/>
          <p:nvPr/>
        </p:nvSpPr>
        <p:spPr>
          <a:xfrm>
            <a:off x="219456" y="2148840"/>
            <a:ext cx="697184" cy="146304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34" name="Text 32"/>
          <p:cNvSpPr/>
          <p:nvPr/>
        </p:nvSpPr>
        <p:spPr>
          <a:xfrm>
            <a:off x="2606040" y="2112264"/>
            <a:ext cx="123444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54.4%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219456" y="2304288"/>
            <a:ext cx="361188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已批 605M / 剩余缺口 508M</a:t>
            </a:r>
            <a:r>
              <a:rPr lang="zh-CN" altLang="en-US" sz="70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/>
            </a:r>
            <a:r>
              <a:rPr lang="en-US" sz="7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/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219456" y="2441448"/>
            <a:ext cx="2331720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永明业务目标（976M）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219456" y="2606040"/>
            <a:ext cx="2331720" cy="146304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38" name="Shape 36"/>
          <p:cNvSpPr/>
          <p:nvPr/>
        </p:nvSpPr>
        <p:spPr>
          <a:xfrm>
            <a:off x="219456" y="2606040"/>
            <a:ext cx="666872" cy="146304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39" name="Text 37"/>
          <p:cNvSpPr/>
          <p:nvPr/>
        </p:nvSpPr>
        <p:spPr>
          <a:xfrm>
            <a:off x="2606040" y="2569464"/>
            <a:ext cx="123444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52.4%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219456" y="2761488"/>
            <a:ext cx="361188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已批 512M / 剩余缺口 464M</a:t>
            </a:r>
            <a:r>
              <a:rPr lang="zh-CN" altLang="en-US" sz="70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/>
            </a:r>
            <a:r>
              <a:rPr lang="en-US" sz="7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/>
            </a:r>
            <a:r>
              <a:rPr lang="en-US" sz="7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/>
            </a:r>
            <a:endParaRPr lang="en-US" sz="700" dirty="0"/>
          </a:p>
        </p:txBody>
      </p:sp>
      <p:sp>
        <p:nvSpPr>
          <p:cNvPr id="41" name="Shape 39"/>
          <p:cNvSpPr/>
          <p:nvPr/>
        </p:nvSpPr>
        <p:spPr>
          <a:xfrm>
            <a:off x="91440" y="2971800"/>
            <a:ext cx="3840480" cy="365760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42" name="Shape 40"/>
          <p:cNvSpPr/>
          <p:nvPr/>
        </p:nvSpPr>
        <p:spPr>
          <a:xfrm>
            <a:off x="91440" y="2944495"/>
            <a:ext cx="3840480" cy="2743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43" name="Text 41"/>
          <p:cNvSpPr/>
          <p:nvPr/>
        </p:nvSpPr>
        <p:spPr>
          <a:xfrm>
            <a:off x="125095" y="2952115"/>
            <a:ext cx="477520" cy="18923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123190" y="3056255"/>
            <a:ext cx="3778250" cy="31178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2026 全业务批核 APE 达 605.2M，达成率 54.4%，全年目标 1113M 缺口约 508M。3 月预约件数 216 件，环比 +96.4%，前端动能延续，Q2 转化批核可期。</a:t>
            </a:r>
            <a:endParaRPr lang="en-US" sz="650" dirty="0">
              <a:solidFill>
                <a:srgbClr val="1A1A2E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45" name="Shape 43"/>
          <p:cNvSpPr/>
          <p:nvPr/>
        </p:nvSpPr>
        <p:spPr>
          <a:xfrm>
            <a:off x="4197096" y="877824"/>
            <a:ext cx="2573763" cy="219456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46" name="Shape 44"/>
          <p:cNvSpPr/>
          <p:nvPr/>
        </p:nvSpPr>
        <p:spPr>
          <a:xfrm>
            <a:off x="6770859" y="877824"/>
            <a:ext cx="1172844" cy="219456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47" name="Shape 45"/>
          <p:cNvSpPr/>
          <p:nvPr/>
        </p:nvSpPr>
        <p:spPr>
          <a:xfrm>
            <a:off x="7943703" y="877824"/>
            <a:ext cx="178594" cy="219456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48" name="Shape 46"/>
          <p:cNvSpPr/>
          <p:nvPr/>
        </p:nvSpPr>
        <p:spPr>
          <a:xfrm>
            <a:off x="8122297" y="877824"/>
            <a:ext cx="43295" cy="219456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49" name="Shape 47"/>
          <p:cNvSpPr/>
          <p:nvPr/>
        </p:nvSpPr>
        <p:spPr>
          <a:xfrm>
            <a:off x="4197096" y="1207008"/>
            <a:ext cx="1901952" cy="786384"/>
          </a:xfrm>
          <a:prstGeom prst="rect">
            <a:avLst/>
          </a:prstGeom>
          <a:solidFill>
            <a:srgbClr val="F5F7FA"/>
          </a:solidFill>
          <a:ln w="9525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50" name="Shape 48"/>
          <p:cNvSpPr/>
          <p:nvPr/>
        </p:nvSpPr>
        <p:spPr>
          <a:xfrm>
            <a:off x="4197096" y="1207008"/>
            <a:ext cx="1901952" cy="36576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51" name="Text 49"/>
          <p:cNvSpPr/>
          <p:nvPr/>
        </p:nvSpPr>
        <p:spPr>
          <a:xfrm>
            <a:off x="4288536" y="1271016"/>
            <a:ext cx="17190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批核（生效）</a:t>
            </a:r>
            <a:endParaRPr lang="en-US" sz="750" dirty="0"/>
          </a:p>
        </p:txBody>
      </p:sp>
      <p:sp>
        <p:nvSpPr>
          <p:cNvPr id="52" name="Text 50"/>
          <p:cNvSpPr/>
          <p:nvPr/>
        </p:nvSpPr>
        <p:spPr>
          <a:xfrm>
            <a:off x="4288536" y="1444752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605.2M</a:t>
            </a:r>
            <a:endParaRPr lang="en-US" sz="2200" dirty="0"/>
          </a:p>
        </p:txBody>
      </p:sp>
      <p:sp>
        <p:nvSpPr>
          <p:cNvPr id="53" name="Text 51"/>
          <p:cNvSpPr/>
          <p:nvPr/>
        </p:nvSpPr>
        <p:spPr>
          <a:xfrm>
            <a:off x="4288536" y="1755648"/>
            <a:ext cx="17190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1157 件  |  占比 79.4%</a:t>
            </a:r>
            <a:endParaRPr lang="en-US" sz="750" dirty="0"/>
          </a:p>
        </p:txBody>
      </p:sp>
      <p:sp>
        <p:nvSpPr>
          <p:cNvPr id="54" name="Shape 52"/>
          <p:cNvSpPr/>
          <p:nvPr/>
        </p:nvSpPr>
        <p:spPr>
          <a:xfrm>
            <a:off x="5340096" y="1463040"/>
            <a:ext cx="658368" cy="237744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55" name="Shape 53"/>
          <p:cNvSpPr/>
          <p:nvPr/>
        </p:nvSpPr>
        <p:spPr>
          <a:xfrm>
            <a:off x="5340096" y="1463040"/>
            <a:ext cx="426984" cy="237744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56" name="Shape 54"/>
          <p:cNvSpPr/>
          <p:nvPr/>
        </p:nvSpPr>
        <p:spPr>
          <a:xfrm>
            <a:off x="6208776" y="1207008"/>
            <a:ext cx="1901952" cy="786384"/>
          </a:xfrm>
          <a:prstGeom prst="rect">
            <a:avLst/>
          </a:prstGeom>
          <a:solidFill>
            <a:srgbClr val="F5F7FA"/>
          </a:solidFill>
          <a:ln w="9525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57" name="Shape 55"/>
          <p:cNvSpPr/>
          <p:nvPr/>
        </p:nvSpPr>
        <p:spPr>
          <a:xfrm>
            <a:off x="6208776" y="1207008"/>
            <a:ext cx="1901952" cy="36576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58" name="Text 56"/>
          <p:cNvSpPr/>
          <p:nvPr/>
        </p:nvSpPr>
        <p:spPr>
          <a:xfrm>
            <a:off x="6300216" y="1271016"/>
            <a:ext cx="17190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未批核</a:t>
            </a:r>
            <a:endParaRPr lang="en-US" sz="750" dirty="0"/>
          </a:p>
        </p:txBody>
      </p:sp>
      <p:sp>
        <p:nvSpPr>
          <p:cNvPr id="59" name="Text 57"/>
          <p:cNvSpPr/>
          <p:nvPr/>
        </p:nvSpPr>
        <p:spPr>
          <a:xfrm>
            <a:off x="6300216" y="1444752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107.3M</a:t>
            </a:r>
            <a:endParaRPr lang="en-US" sz="2200" dirty="0"/>
          </a:p>
        </p:txBody>
      </p:sp>
      <p:sp>
        <p:nvSpPr>
          <p:cNvPr id="60" name="Text 58"/>
          <p:cNvSpPr/>
          <p:nvPr/>
        </p:nvSpPr>
        <p:spPr>
          <a:xfrm>
            <a:off x="6300216" y="1755648"/>
            <a:ext cx="17190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235 件  |  占比 14.1%</a:t>
            </a:r>
            <a:endParaRPr lang="en-US" sz="750" dirty="0"/>
          </a:p>
        </p:txBody>
      </p:sp>
      <p:sp>
        <p:nvSpPr>
          <p:cNvPr id="61" name="Shape 59"/>
          <p:cNvSpPr/>
          <p:nvPr/>
        </p:nvSpPr>
        <p:spPr>
          <a:xfrm>
            <a:off x="7351776" y="1463040"/>
            <a:ext cx="658368" cy="237744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62" name="Shape 60"/>
          <p:cNvSpPr/>
          <p:nvPr/>
        </p:nvSpPr>
        <p:spPr>
          <a:xfrm>
            <a:off x="7351776" y="1463040"/>
            <a:ext cx="194573" cy="237744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63" name="Shape 61"/>
          <p:cNvSpPr/>
          <p:nvPr/>
        </p:nvSpPr>
        <p:spPr>
          <a:xfrm>
            <a:off x="4197096" y="2084832"/>
            <a:ext cx="1901952" cy="786384"/>
          </a:xfrm>
          <a:prstGeom prst="rect">
            <a:avLst/>
          </a:prstGeom>
          <a:solidFill>
            <a:srgbClr val="F5F7FA"/>
          </a:solidFill>
          <a:ln w="9525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64" name="Shape 62"/>
          <p:cNvSpPr/>
          <p:nvPr/>
        </p:nvSpPr>
        <p:spPr>
          <a:xfrm>
            <a:off x="4197096" y="2084832"/>
            <a:ext cx="1901952" cy="36576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65" name="Text 63"/>
          <p:cNvSpPr/>
          <p:nvPr/>
        </p:nvSpPr>
        <p:spPr>
          <a:xfrm>
            <a:off x="4288536" y="2148840"/>
            <a:ext cx="17190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待签</a:t>
            </a:r>
            <a:endParaRPr lang="en-US" sz="750" dirty="0"/>
          </a:p>
        </p:txBody>
      </p:sp>
      <p:sp>
        <p:nvSpPr>
          <p:cNvPr id="66" name="Text 64"/>
          <p:cNvSpPr/>
          <p:nvPr/>
        </p:nvSpPr>
        <p:spPr>
          <a:xfrm>
            <a:off x="4288536" y="2322576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16.1M</a:t>
            </a:r>
            <a:endParaRPr lang="en-US" sz="2200" dirty="0"/>
          </a:p>
        </p:txBody>
      </p:sp>
      <p:sp>
        <p:nvSpPr>
          <p:cNvPr id="67" name="Text 65"/>
          <p:cNvSpPr/>
          <p:nvPr/>
        </p:nvSpPr>
        <p:spPr>
          <a:xfrm>
            <a:off x="4288536" y="2633472"/>
            <a:ext cx="17190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42 件  |  占比 2.1%</a:t>
            </a:r>
            <a:endParaRPr lang="en-US" sz="750" dirty="0"/>
          </a:p>
        </p:txBody>
      </p:sp>
      <p:sp>
        <p:nvSpPr>
          <p:cNvPr id="68" name="Shape 66"/>
          <p:cNvSpPr/>
          <p:nvPr/>
        </p:nvSpPr>
        <p:spPr>
          <a:xfrm>
            <a:off x="5340096" y="2340864"/>
            <a:ext cx="658368" cy="237744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69" name="Shape 67"/>
          <p:cNvSpPr/>
          <p:nvPr/>
        </p:nvSpPr>
        <p:spPr>
          <a:xfrm>
            <a:off x="5340096" y="2340864"/>
            <a:ext cx="29628" cy="237744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70" name="Shape 68"/>
          <p:cNvSpPr/>
          <p:nvPr/>
        </p:nvSpPr>
        <p:spPr>
          <a:xfrm>
            <a:off x="6208776" y="2084832"/>
            <a:ext cx="1901952" cy="786384"/>
          </a:xfrm>
          <a:prstGeom prst="rect">
            <a:avLst/>
          </a:prstGeom>
          <a:solidFill>
            <a:srgbClr val="F5F7FA"/>
          </a:solidFill>
          <a:ln w="9525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71" name="Shape 69"/>
          <p:cNvSpPr/>
          <p:nvPr/>
        </p:nvSpPr>
        <p:spPr>
          <a:xfrm>
            <a:off x="6208776" y="2084832"/>
            <a:ext cx="1901952" cy="36576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72" name="Text 70"/>
          <p:cNvSpPr/>
          <p:nvPr/>
        </p:nvSpPr>
        <p:spPr>
          <a:xfrm>
            <a:off x="6300216" y="2148840"/>
            <a:ext cx="17190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流失（2026）</a:t>
            </a:r>
            <a:endParaRPr lang="en-US" sz="750" dirty="0"/>
          </a:p>
        </p:txBody>
      </p:sp>
      <p:sp>
        <p:nvSpPr>
          <p:cNvPr id="73" name="Text 71"/>
          <p:cNvSpPr/>
          <p:nvPr/>
        </p:nvSpPr>
        <p:spPr>
          <a:xfrm>
            <a:off x="6300216" y="2322576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33.6M</a:t>
            </a:r>
            <a:endParaRPr lang="en-US" sz="2200" dirty="0"/>
          </a:p>
        </p:txBody>
      </p:sp>
      <p:sp>
        <p:nvSpPr>
          <p:cNvPr id="74" name="Text 72"/>
          <p:cNvSpPr/>
          <p:nvPr/>
        </p:nvSpPr>
        <p:spPr>
          <a:xfrm>
            <a:off x="6300216" y="2633472"/>
            <a:ext cx="17190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93 件  |  占比 4.4%</a:t>
            </a:r>
            <a:endParaRPr lang="en-US" sz="750" dirty="0"/>
          </a:p>
        </p:txBody>
      </p:sp>
      <p:sp>
        <p:nvSpPr>
          <p:cNvPr id="75" name="Shape 73"/>
          <p:cNvSpPr/>
          <p:nvPr/>
        </p:nvSpPr>
        <p:spPr>
          <a:xfrm>
            <a:off x="7351776" y="2340864"/>
            <a:ext cx="658368" cy="237744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76" name="Shape 74"/>
          <p:cNvSpPr/>
          <p:nvPr/>
        </p:nvSpPr>
        <p:spPr>
          <a:xfrm>
            <a:off x="7351776" y="2340864"/>
            <a:ext cx="7183" cy="237744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77" name="Shape 75"/>
          <p:cNvSpPr/>
          <p:nvPr/>
        </p:nvSpPr>
        <p:spPr>
          <a:xfrm>
            <a:off x="4069080" y="2971800"/>
            <a:ext cx="4206240" cy="365760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78" name="Shape 76"/>
          <p:cNvSpPr/>
          <p:nvPr/>
        </p:nvSpPr>
        <p:spPr>
          <a:xfrm>
            <a:off x="4069080" y="2944495"/>
            <a:ext cx="4206240" cy="27432"/>
          </a:xfrm>
          <a:prstGeom prst="rect">
            <a:avLst/>
          </a:prstGeom>
          <a:solidFill>
            <a:srgbClr val="922B21"/>
          </a:solidFill>
          <a:ln w="12700">
            <a:solidFill>
              <a:srgbClr val="922B21"/>
            </a:solidFill>
            <a:prstDash val="solid"/>
          </a:ln>
        </p:spPr>
        <p:txBody>
          <a:bodyPr/>
          <a:p/>
        </p:txBody>
      </p:sp>
      <p:sp>
        <p:nvSpPr>
          <p:cNvPr id="79" name="Text 77"/>
          <p:cNvSpPr/>
          <p:nvPr/>
        </p:nvSpPr>
        <p:spPr>
          <a:xfrm>
            <a:off x="4110355" y="2967355"/>
            <a:ext cx="781685" cy="1644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922B2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800" dirty="0"/>
          </a:p>
        </p:txBody>
      </p:sp>
      <p:sp>
        <p:nvSpPr>
          <p:cNvPr id="80" name="Text 78"/>
          <p:cNvSpPr/>
          <p:nvPr/>
        </p:nvSpPr>
        <p:spPr>
          <a:xfrm>
            <a:off x="4097020" y="3041015"/>
            <a:ext cx="4105275" cy="3486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未批核（107.3M，235 件）与待签（16.0M，42 件）合计 123.4M 在管道中，占批核 APE 的 20%。若能快速推进至生效，可直接拉升达成率逾 11 个百分点。</a:t>
            </a:r>
            <a:endParaRPr lang="en-US" sz="650" dirty="0">
              <a:solidFill>
                <a:srgbClr val="1A1A2E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graphicFrame>
        <p:nvGraphicFramePr>
          <p:cNvPr id="81" name="Chart 0"/>
          <p:cNvGraphicFramePr/>
          <p:nvPr/>
        </p:nvGraphicFramePr>
        <p:xfrm>
          <a:off x="8503920" y="859536"/>
          <a:ext cx="3474720" cy="19659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82" name="Shape 79"/>
          <p:cNvSpPr/>
          <p:nvPr/>
        </p:nvSpPr>
        <p:spPr>
          <a:xfrm>
            <a:off x="8412480" y="2971800"/>
            <a:ext cx="3639185" cy="365760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83" name="Shape 80"/>
          <p:cNvSpPr/>
          <p:nvPr/>
        </p:nvSpPr>
        <p:spPr>
          <a:xfrm>
            <a:off x="8412480" y="2944495"/>
            <a:ext cx="3639312" cy="27432"/>
          </a:xfrm>
          <a:prstGeom prst="rect">
            <a:avLst/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p/>
        </p:txBody>
      </p:sp>
      <p:sp>
        <p:nvSpPr>
          <p:cNvPr id="84" name="Text 81"/>
          <p:cNvSpPr/>
          <p:nvPr/>
        </p:nvSpPr>
        <p:spPr>
          <a:xfrm>
            <a:off x="8446135" y="2952115"/>
            <a:ext cx="705485" cy="1619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A527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800" dirty="0"/>
          </a:p>
        </p:txBody>
      </p:sp>
      <p:sp>
        <p:nvSpPr>
          <p:cNvPr id="85" name="Text 82"/>
          <p:cNvSpPr/>
          <p:nvPr/>
        </p:nvSpPr>
        <p:spPr>
          <a:xfrm>
            <a:off x="8453120" y="3141345"/>
            <a:ext cx="3507105" cy="1485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经代业务批核 488.7M 占全渠道 80.8%，是唯一业绩主力；未批核 63.5M 是最大转化机会。其余渠道：代理人业务（批核 72.2M）、KA业务（批核 24.9M）、MGA业务（批核 19.4M），体量较小，需明确各渠道扩量优先级。</a:t>
            </a:r>
            <a:endParaRPr lang="en-US" sz="750" dirty="0"/>
          </a:p>
        </p:txBody>
      </p:sp>
      <p:graphicFrame>
        <p:nvGraphicFramePr>
          <p:cNvPr id="86" name="Chart 1"/>
          <p:cNvGraphicFramePr/>
          <p:nvPr/>
        </p:nvGraphicFramePr>
        <p:xfrm>
          <a:off x="219583" y="3804158"/>
          <a:ext cx="7680960" cy="240487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7" name="Shape 83"/>
          <p:cNvSpPr/>
          <p:nvPr/>
        </p:nvSpPr>
        <p:spPr>
          <a:xfrm>
            <a:off x="5187952" y="3977640"/>
            <a:ext cx="2674186" cy="2148840"/>
          </a:xfrm>
          <a:prstGeom prst="rect">
            <a:avLst/>
          </a:prstGeom>
          <a:solidFill>
            <a:srgbClr val="1F3864">
              <a:alpha val="10000"/>
            </a:srgbClr>
          </a:solidFill>
          <a:ln w="635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88" name="Text 84"/>
          <p:cNvSpPr/>
          <p:nvPr/>
        </p:nvSpPr>
        <p:spPr>
          <a:xfrm>
            <a:off x="5187952" y="3995928"/>
            <a:ext cx="267418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i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2026 </a:t>
            </a:r>
            <a:endParaRPr lang="en-US" sz="750" dirty="0"/>
          </a:p>
        </p:txBody>
      </p:sp>
      <p:sp>
        <p:nvSpPr>
          <p:cNvPr id="89" name="Text 85"/>
          <p:cNvSpPr/>
          <p:nvPr/>
        </p:nvSpPr>
        <p:spPr>
          <a:xfrm>
            <a:off x="8028432" y="3721608"/>
            <a:ext cx="393192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2026 年月度明细</a:t>
            </a:r>
            <a:r>
              <a:rPr lang="zh-CN" altLang="en-US" sz="900" b="1" dirty="0">
                <a:solidFill>
                  <a:srgbClr val="1A1A2E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（包含流失单）</a:t>
            </a:r>
            <a:endParaRPr lang="zh-CN" altLang="en-US" sz="900" b="1" dirty="0">
              <a:solidFill>
                <a:srgbClr val="1A1A2E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90" name="Shape 86"/>
          <p:cNvSpPr/>
          <p:nvPr/>
        </p:nvSpPr>
        <p:spPr>
          <a:xfrm>
            <a:off x="8028432" y="3959352"/>
            <a:ext cx="3931920" cy="219456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91" name="Text 87"/>
          <p:cNvSpPr/>
          <p:nvPr/>
        </p:nvSpPr>
        <p:spPr>
          <a:xfrm>
            <a:off x="8065008" y="3995928"/>
            <a:ext cx="502920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月份</a:t>
            </a:r>
            <a:endParaRPr lang="en-US" sz="750" dirty="0"/>
          </a:p>
        </p:txBody>
      </p:sp>
      <p:sp>
        <p:nvSpPr>
          <p:cNvPr id="92" name="Text 88"/>
          <p:cNvSpPr/>
          <p:nvPr/>
        </p:nvSpPr>
        <p:spPr>
          <a:xfrm>
            <a:off x="8487918" y="3995928"/>
            <a:ext cx="566928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26-Jan</a:t>
            </a:r>
            <a:endParaRPr lang="en-US" sz="750" dirty="0"/>
          </a:p>
        </p:txBody>
      </p:sp>
      <p:sp>
        <p:nvSpPr>
          <p:cNvPr id="93" name="Text 89"/>
          <p:cNvSpPr/>
          <p:nvPr/>
        </p:nvSpPr>
        <p:spPr>
          <a:xfrm>
            <a:off x="9054846" y="3995928"/>
            <a:ext cx="566928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26-Feb</a:t>
            </a:r>
            <a:endParaRPr lang="en-US" sz="750" dirty="0"/>
          </a:p>
        </p:txBody>
      </p:sp>
      <p:sp>
        <p:nvSpPr>
          <p:cNvPr id="94" name="Text 90"/>
          <p:cNvSpPr/>
          <p:nvPr/>
        </p:nvSpPr>
        <p:spPr>
          <a:xfrm>
            <a:off x="9621774" y="3995928"/>
            <a:ext cx="566928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26-Mar</a:t>
            </a:r>
            <a:endParaRPr lang="en-US" sz="750" dirty="0"/>
          </a:p>
        </p:txBody>
      </p:sp>
      <p:sp>
        <p:nvSpPr>
          <p:cNvPr id="95" name="Shape 91"/>
          <p:cNvSpPr/>
          <p:nvPr/>
        </p:nvSpPr>
        <p:spPr>
          <a:xfrm>
            <a:off x="8028432" y="4197096"/>
            <a:ext cx="3931920" cy="256032"/>
          </a:xfrm>
          <a:prstGeom prst="rect">
            <a:avLst/>
          </a:prstGeom>
          <a:solidFill>
            <a:srgbClr val="1F3864">
              <a:alpha val="12000"/>
            </a:srgbClr>
          </a:solidFill>
          <a:ln w="635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96" name="Shape 92"/>
          <p:cNvSpPr/>
          <p:nvPr/>
        </p:nvSpPr>
        <p:spPr>
          <a:xfrm>
            <a:off x="8028432" y="4197096"/>
            <a:ext cx="36576" cy="25603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97" name="Text 93"/>
          <p:cNvSpPr/>
          <p:nvPr/>
        </p:nvSpPr>
        <p:spPr>
          <a:xfrm>
            <a:off x="8072628" y="4251960"/>
            <a:ext cx="50292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预约 APE</a:t>
            </a:r>
            <a:endParaRPr lang="en-US" sz="750" dirty="0"/>
          </a:p>
        </p:txBody>
      </p:sp>
      <p:sp>
        <p:nvSpPr>
          <p:cNvPr id="98" name="Text 94"/>
          <p:cNvSpPr/>
          <p:nvPr/>
        </p:nvSpPr>
        <p:spPr>
          <a:xfrm>
            <a:off x="8487918" y="425196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53.9</a:t>
            </a:r>
            <a:endParaRPr lang="en-US" sz="900" dirty="0"/>
          </a:p>
        </p:txBody>
      </p:sp>
      <p:sp>
        <p:nvSpPr>
          <p:cNvPr id="99" name="Text 95"/>
          <p:cNvSpPr/>
          <p:nvPr/>
        </p:nvSpPr>
        <p:spPr>
          <a:xfrm>
            <a:off x="9054846" y="425196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56.4</a:t>
            </a:r>
            <a:endParaRPr lang="en-US" sz="900" dirty="0"/>
          </a:p>
        </p:txBody>
      </p:sp>
      <p:sp>
        <p:nvSpPr>
          <p:cNvPr id="100" name="Text 96"/>
          <p:cNvSpPr/>
          <p:nvPr/>
        </p:nvSpPr>
        <p:spPr>
          <a:xfrm>
            <a:off x="9621774" y="425196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81.5</a:t>
            </a:r>
            <a:endParaRPr lang="en-US" sz="900" dirty="0"/>
          </a:p>
        </p:txBody>
      </p:sp>
      <p:sp>
        <p:nvSpPr>
          <p:cNvPr id="101" name="Shape 97"/>
          <p:cNvSpPr/>
          <p:nvPr/>
        </p:nvSpPr>
        <p:spPr>
          <a:xfrm>
            <a:off x="8028432" y="4453128"/>
            <a:ext cx="3931920" cy="256032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02" name="Shape 98"/>
          <p:cNvSpPr/>
          <p:nvPr/>
        </p:nvSpPr>
        <p:spPr>
          <a:xfrm>
            <a:off x="8028432" y="4453128"/>
            <a:ext cx="36576" cy="25603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103" name="Text 99"/>
          <p:cNvSpPr/>
          <p:nvPr/>
        </p:nvSpPr>
        <p:spPr>
          <a:xfrm>
            <a:off x="8073898" y="4507992"/>
            <a:ext cx="50292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预约 件数</a:t>
            </a:r>
            <a:endParaRPr lang="en-US" sz="750" dirty="0"/>
          </a:p>
        </p:txBody>
      </p:sp>
      <p:sp>
        <p:nvSpPr>
          <p:cNvPr id="104" name="Text 100"/>
          <p:cNvSpPr/>
          <p:nvPr/>
        </p:nvSpPr>
        <p:spPr>
          <a:xfrm>
            <a:off x="8487918" y="4507992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132件</a:t>
            </a:r>
            <a:endParaRPr lang="en-US" sz="900" dirty="0"/>
          </a:p>
        </p:txBody>
      </p:sp>
      <p:sp>
        <p:nvSpPr>
          <p:cNvPr id="105" name="Text 101"/>
          <p:cNvSpPr/>
          <p:nvPr/>
        </p:nvSpPr>
        <p:spPr>
          <a:xfrm>
            <a:off x="9054846" y="4507992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110件</a:t>
            </a:r>
            <a:endParaRPr lang="en-US" sz="900" dirty="0"/>
          </a:p>
        </p:txBody>
      </p:sp>
      <p:sp>
        <p:nvSpPr>
          <p:cNvPr id="106" name="Text 102"/>
          <p:cNvSpPr/>
          <p:nvPr/>
        </p:nvSpPr>
        <p:spPr>
          <a:xfrm>
            <a:off x="9621774" y="4507992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216件</a:t>
            </a:r>
            <a:endParaRPr lang="en-US" sz="900" dirty="0"/>
          </a:p>
        </p:txBody>
      </p:sp>
      <p:sp>
        <p:nvSpPr>
          <p:cNvPr id="107" name="Shape 103"/>
          <p:cNvSpPr/>
          <p:nvPr/>
        </p:nvSpPr>
        <p:spPr>
          <a:xfrm>
            <a:off x="8028432" y="4709160"/>
            <a:ext cx="3931920" cy="0"/>
          </a:xfrm>
          <a:prstGeom prst="line">
            <a:avLst/>
          </a:prstGeom>
          <a:noFill/>
          <a:ln w="1016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08" name="Shape 104"/>
          <p:cNvSpPr/>
          <p:nvPr/>
        </p:nvSpPr>
        <p:spPr>
          <a:xfrm>
            <a:off x="8028432" y="4764024"/>
            <a:ext cx="3931920" cy="256032"/>
          </a:xfrm>
          <a:prstGeom prst="rect">
            <a:avLst/>
          </a:prstGeom>
          <a:solidFill>
            <a:srgbClr val="00796B">
              <a:alpha val="12000"/>
            </a:srgbClr>
          </a:solidFill>
          <a:ln w="635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109" name="Shape 105"/>
          <p:cNvSpPr/>
          <p:nvPr/>
        </p:nvSpPr>
        <p:spPr>
          <a:xfrm>
            <a:off x="8028432" y="4764024"/>
            <a:ext cx="36576" cy="256032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110" name="Text 106"/>
          <p:cNvSpPr/>
          <p:nvPr/>
        </p:nvSpPr>
        <p:spPr>
          <a:xfrm>
            <a:off x="8072628" y="4818888"/>
            <a:ext cx="50292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签单 APE</a:t>
            </a:r>
            <a:endParaRPr lang="en-US" sz="750" dirty="0"/>
          </a:p>
        </p:txBody>
      </p:sp>
      <p:sp>
        <p:nvSpPr>
          <p:cNvPr id="111" name="Text 107"/>
          <p:cNvSpPr/>
          <p:nvPr/>
        </p:nvSpPr>
        <p:spPr>
          <a:xfrm>
            <a:off x="8487918" y="481888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47.9</a:t>
            </a:r>
            <a:endParaRPr lang="en-US" sz="900" dirty="0"/>
          </a:p>
        </p:txBody>
      </p:sp>
      <p:sp>
        <p:nvSpPr>
          <p:cNvPr id="112" name="Text 108"/>
          <p:cNvSpPr/>
          <p:nvPr/>
        </p:nvSpPr>
        <p:spPr>
          <a:xfrm>
            <a:off x="9054846" y="481888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61.1</a:t>
            </a:r>
            <a:endParaRPr lang="en-US" sz="900" dirty="0"/>
          </a:p>
        </p:txBody>
      </p:sp>
      <p:sp>
        <p:nvSpPr>
          <p:cNvPr id="113" name="Text 109"/>
          <p:cNvSpPr/>
          <p:nvPr/>
        </p:nvSpPr>
        <p:spPr>
          <a:xfrm>
            <a:off x="9621774" y="481888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82.2</a:t>
            </a:r>
            <a:endParaRPr lang="en-US" sz="900" dirty="0"/>
          </a:p>
        </p:txBody>
      </p:sp>
      <p:sp>
        <p:nvSpPr>
          <p:cNvPr id="114" name="Shape 110"/>
          <p:cNvSpPr/>
          <p:nvPr/>
        </p:nvSpPr>
        <p:spPr>
          <a:xfrm>
            <a:off x="8028432" y="5020056"/>
            <a:ext cx="3931920" cy="256032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15" name="Shape 111"/>
          <p:cNvSpPr/>
          <p:nvPr/>
        </p:nvSpPr>
        <p:spPr>
          <a:xfrm>
            <a:off x="8028432" y="5020056"/>
            <a:ext cx="36576" cy="256032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116" name="Text 112"/>
          <p:cNvSpPr/>
          <p:nvPr/>
        </p:nvSpPr>
        <p:spPr>
          <a:xfrm>
            <a:off x="8073898" y="5074920"/>
            <a:ext cx="50292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签单 件数</a:t>
            </a:r>
            <a:endParaRPr lang="en-US" sz="750" dirty="0"/>
          </a:p>
        </p:txBody>
      </p:sp>
      <p:sp>
        <p:nvSpPr>
          <p:cNvPr id="117" name="Text 113"/>
          <p:cNvSpPr/>
          <p:nvPr/>
        </p:nvSpPr>
        <p:spPr>
          <a:xfrm>
            <a:off x="8487918" y="507492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114件</a:t>
            </a:r>
            <a:endParaRPr lang="en-US" sz="900" dirty="0"/>
          </a:p>
        </p:txBody>
      </p:sp>
      <p:sp>
        <p:nvSpPr>
          <p:cNvPr id="118" name="Text 114"/>
          <p:cNvSpPr/>
          <p:nvPr/>
        </p:nvSpPr>
        <p:spPr>
          <a:xfrm>
            <a:off x="9054846" y="507492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121件</a:t>
            </a:r>
            <a:endParaRPr lang="en-US" sz="900" dirty="0"/>
          </a:p>
        </p:txBody>
      </p:sp>
      <p:sp>
        <p:nvSpPr>
          <p:cNvPr id="119" name="Text 115"/>
          <p:cNvSpPr/>
          <p:nvPr/>
        </p:nvSpPr>
        <p:spPr>
          <a:xfrm>
            <a:off x="9621774" y="507492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212件</a:t>
            </a:r>
            <a:endParaRPr lang="en-US" sz="900" dirty="0"/>
          </a:p>
        </p:txBody>
      </p:sp>
      <p:sp>
        <p:nvSpPr>
          <p:cNvPr id="120" name="Shape 116"/>
          <p:cNvSpPr/>
          <p:nvPr/>
        </p:nvSpPr>
        <p:spPr>
          <a:xfrm>
            <a:off x="8028432" y="5276088"/>
            <a:ext cx="3931920" cy="0"/>
          </a:xfrm>
          <a:prstGeom prst="line">
            <a:avLst/>
          </a:prstGeom>
          <a:noFill/>
          <a:ln w="1016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21" name="Shape 117"/>
          <p:cNvSpPr/>
          <p:nvPr/>
        </p:nvSpPr>
        <p:spPr>
          <a:xfrm>
            <a:off x="8028432" y="5330952"/>
            <a:ext cx="3931920" cy="256032"/>
          </a:xfrm>
          <a:prstGeom prst="rect">
            <a:avLst/>
          </a:prstGeom>
          <a:solidFill>
            <a:srgbClr val="1A7A3F">
              <a:alpha val="12000"/>
            </a:srgbClr>
          </a:solidFill>
          <a:ln w="635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122" name="Shape 118"/>
          <p:cNvSpPr/>
          <p:nvPr/>
        </p:nvSpPr>
        <p:spPr>
          <a:xfrm>
            <a:off x="8028432" y="5330952"/>
            <a:ext cx="36576" cy="256032"/>
          </a:xfrm>
          <a:prstGeom prst="rect">
            <a:avLst/>
          </a:prstGeom>
          <a:solidFill>
            <a:srgbClr val="1A7A3F"/>
          </a:solidFill>
          <a:ln w="1270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123" name="Text 119"/>
          <p:cNvSpPr/>
          <p:nvPr/>
        </p:nvSpPr>
        <p:spPr>
          <a:xfrm>
            <a:off x="8072628" y="5385816"/>
            <a:ext cx="50292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 APE</a:t>
            </a:r>
            <a:endParaRPr lang="en-US" sz="750" dirty="0"/>
          </a:p>
        </p:txBody>
      </p:sp>
      <p:sp>
        <p:nvSpPr>
          <p:cNvPr id="124" name="Text 120"/>
          <p:cNvSpPr/>
          <p:nvPr/>
        </p:nvSpPr>
        <p:spPr>
          <a:xfrm>
            <a:off x="8487918" y="5385816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116.8</a:t>
            </a:r>
            <a:endParaRPr lang="en-US" sz="900" dirty="0"/>
          </a:p>
        </p:txBody>
      </p:sp>
      <p:sp>
        <p:nvSpPr>
          <p:cNvPr id="125" name="Text 121"/>
          <p:cNvSpPr/>
          <p:nvPr/>
        </p:nvSpPr>
        <p:spPr>
          <a:xfrm>
            <a:off x="9054846" y="5385816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143.7</a:t>
            </a:r>
            <a:endParaRPr lang="en-US" sz="900" dirty="0"/>
          </a:p>
        </p:txBody>
      </p:sp>
      <p:sp>
        <p:nvSpPr>
          <p:cNvPr id="126" name="Text 122"/>
          <p:cNvSpPr/>
          <p:nvPr/>
        </p:nvSpPr>
        <p:spPr>
          <a:xfrm>
            <a:off x="9621774" y="5385816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85.8</a:t>
            </a:r>
            <a:endParaRPr lang="en-US" sz="900" dirty="0"/>
          </a:p>
        </p:txBody>
      </p:sp>
      <p:sp>
        <p:nvSpPr>
          <p:cNvPr id="127" name="Shape 123"/>
          <p:cNvSpPr/>
          <p:nvPr/>
        </p:nvSpPr>
        <p:spPr>
          <a:xfrm>
            <a:off x="8028432" y="5586984"/>
            <a:ext cx="3931920" cy="256032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28" name="Shape 124"/>
          <p:cNvSpPr/>
          <p:nvPr/>
        </p:nvSpPr>
        <p:spPr>
          <a:xfrm>
            <a:off x="8028432" y="5586984"/>
            <a:ext cx="36576" cy="256032"/>
          </a:xfrm>
          <a:prstGeom prst="rect">
            <a:avLst/>
          </a:prstGeom>
          <a:solidFill>
            <a:srgbClr val="1A7A3F"/>
          </a:solidFill>
          <a:ln w="1270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129" name="Text 125"/>
          <p:cNvSpPr/>
          <p:nvPr/>
        </p:nvSpPr>
        <p:spPr>
          <a:xfrm>
            <a:off x="8073898" y="5641848"/>
            <a:ext cx="50292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 件数</a:t>
            </a:r>
            <a:endParaRPr lang="en-US" sz="750" dirty="0"/>
          </a:p>
        </p:txBody>
      </p:sp>
      <p:sp>
        <p:nvSpPr>
          <p:cNvPr id="130" name="Text 126"/>
          <p:cNvSpPr/>
          <p:nvPr/>
        </p:nvSpPr>
        <p:spPr>
          <a:xfrm>
            <a:off x="8487918" y="564184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203件</a:t>
            </a:r>
            <a:endParaRPr lang="en-US" sz="900" dirty="0"/>
          </a:p>
        </p:txBody>
      </p:sp>
      <p:sp>
        <p:nvSpPr>
          <p:cNvPr id="131" name="Text 127"/>
          <p:cNvSpPr/>
          <p:nvPr/>
        </p:nvSpPr>
        <p:spPr>
          <a:xfrm>
            <a:off x="9054846" y="564184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180件</a:t>
            </a:r>
            <a:endParaRPr lang="en-US" sz="900" dirty="0"/>
          </a:p>
        </p:txBody>
      </p:sp>
      <p:sp>
        <p:nvSpPr>
          <p:cNvPr id="132" name="Text 128"/>
          <p:cNvSpPr/>
          <p:nvPr/>
        </p:nvSpPr>
        <p:spPr>
          <a:xfrm>
            <a:off x="9621774" y="564184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143件</a:t>
            </a:r>
            <a:endParaRPr lang="en-US" sz="900" dirty="0"/>
          </a:p>
        </p:txBody>
      </p:sp>
      <p:sp>
        <p:nvSpPr>
          <p:cNvPr id="133" name="Shape 129"/>
          <p:cNvSpPr/>
          <p:nvPr/>
        </p:nvSpPr>
        <p:spPr>
          <a:xfrm>
            <a:off x="91440" y="6181344"/>
            <a:ext cx="11960352" cy="493776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134" name="Shape 130"/>
          <p:cNvSpPr/>
          <p:nvPr/>
        </p:nvSpPr>
        <p:spPr>
          <a:xfrm>
            <a:off x="91440" y="6181344"/>
            <a:ext cx="11960352" cy="27432"/>
          </a:xfrm>
          <a:prstGeom prst="rect">
            <a:avLst/>
          </a:prstGeom>
          <a:solidFill>
            <a:srgbClr val="1A6B3A"/>
          </a:solidFill>
          <a:ln w="12700">
            <a:solidFill>
              <a:srgbClr val="1A6B3A"/>
            </a:solidFill>
            <a:prstDash val="solid"/>
          </a:ln>
        </p:spPr>
        <p:txBody>
          <a:bodyPr/>
          <a:p/>
        </p:txBody>
      </p:sp>
      <p:sp>
        <p:nvSpPr>
          <p:cNvPr id="135" name="Text 131"/>
          <p:cNvSpPr/>
          <p:nvPr/>
        </p:nvSpPr>
        <p:spPr>
          <a:xfrm>
            <a:off x="165735" y="6245225"/>
            <a:ext cx="649605" cy="18923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A6B3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800" dirty="0"/>
          </a:p>
        </p:txBody>
      </p:sp>
      <p:sp>
        <p:nvSpPr>
          <p:cNvPr id="136" name="Text 132"/>
          <p:cNvSpPr/>
          <p:nvPr/>
        </p:nvSpPr>
        <p:spPr>
          <a:xfrm>
            <a:off x="124968" y="6419088"/>
            <a:ext cx="1175918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2026 年 Q1 呈现存量驱动特征，2月批核峰值 143.7M 为全年迄今最高。3 月预约/签单同步走强，前端动能复苏。7月初已批核 32.9M，节后启动正常，后续 9 个月需月均 83.8M 以达成年度目标。</a:t>
            </a:r>
            <a:endParaRPr lang="en-US" sz="750" dirty="0"/>
          </a:p>
        </p:txBody>
      </p:sp>
      <p:sp>
        <p:nvSpPr>
          <p:cNvPr id="137" name="Shape 133"/>
          <p:cNvSpPr/>
          <p:nvPr/>
        </p:nvSpPr>
        <p:spPr>
          <a:xfrm>
            <a:off x="91440" y="6729984"/>
            <a:ext cx="11978640" cy="0"/>
          </a:xfrm>
          <a:prstGeom prst="line">
            <a:avLst/>
          </a:prstGeom>
          <a:noFill/>
          <a:ln w="635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38" name="Text 90"/>
          <p:cNvSpPr/>
          <p:nvPr/>
        </p:nvSpPr>
        <p:spPr>
          <a:xfrm>
            <a:off x="10129139" y="3995928"/>
            <a:ext cx="566928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26-Apr</a:t>
            </a:r>
            <a:endParaRPr lang="zh-CN" altLang="en-US" sz="750" b="1" dirty="0">
              <a:solidFill>
                <a:srgbClr val="FFFFFF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139" name="Text 96"/>
          <p:cNvSpPr/>
          <p:nvPr/>
        </p:nvSpPr>
        <p:spPr>
          <a:xfrm>
            <a:off x="10129139" y="425196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67.4</a:t>
            </a:r>
            <a:endParaRPr lang="en-US" sz="900" dirty="0"/>
          </a:p>
        </p:txBody>
      </p:sp>
      <p:sp>
        <p:nvSpPr>
          <p:cNvPr id="140" name="Text 102"/>
          <p:cNvSpPr/>
          <p:nvPr/>
        </p:nvSpPr>
        <p:spPr>
          <a:xfrm>
            <a:off x="10129139" y="4507992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173件</a:t>
            </a:r>
            <a:endParaRPr lang="en-US" sz="900" dirty="0"/>
          </a:p>
        </p:txBody>
      </p:sp>
      <p:sp>
        <p:nvSpPr>
          <p:cNvPr id="141" name="Text 109"/>
          <p:cNvSpPr/>
          <p:nvPr/>
        </p:nvSpPr>
        <p:spPr>
          <a:xfrm>
            <a:off x="10129139" y="481888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62.1</a:t>
            </a:r>
            <a:endParaRPr lang="en-US" sz="900" dirty="0"/>
          </a:p>
        </p:txBody>
      </p:sp>
      <p:sp>
        <p:nvSpPr>
          <p:cNvPr id="142" name="Text 115"/>
          <p:cNvSpPr/>
          <p:nvPr/>
        </p:nvSpPr>
        <p:spPr>
          <a:xfrm>
            <a:off x="10129139" y="507492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162件</a:t>
            </a:r>
            <a:endParaRPr lang="en-US" sz="900" dirty="0"/>
          </a:p>
        </p:txBody>
      </p:sp>
      <p:sp>
        <p:nvSpPr>
          <p:cNvPr id="143" name="Text 122"/>
          <p:cNvSpPr/>
          <p:nvPr/>
        </p:nvSpPr>
        <p:spPr>
          <a:xfrm>
            <a:off x="10129139" y="5385816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91.2</a:t>
            </a:r>
            <a:endParaRPr lang="en-US" sz="900" dirty="0"/>
          </a:p>
        </p:txBody>
      </p:sp>
      <p:sp>
        <p:nvSpPr>
          <p:cNvPr id="144" name="Text 128"/>
          <p:cNvSpPr/>
          <p:nvPr/>
        </p:nvSpPr>
        <p:spPr>
          <a:xfrm>
            <a:off x="10129139" y="564184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192件</a:t>
            </a:r>
            <a:endParaRPr lang="en-US" sz="900" dirty="0"/>
          </a:p>
        </p:txBody>
      </p:sp>
      <p:sp>
        <p:nvSpPr>
          <p:cNvPr id="138" name="Text 90"/>
          <p:cNvSpPr/>
          <p:nvPr/>
        </p:nvSpPr>
        <p:spPr>
          <a:xfrm>
            <a:off x="10696139" y="3995928"/>
            <a:ext cx="566928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26-May</a:t>
            </a:r>
            <a:endParaRPr lang="zh-CN" altLang="en-US" sz="750" b="1" dirty="0">
              <a:solidFill>
                <a:srgbClr val="FFFFFF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139" name="Text 96"/>
          <p:cNvSpPr/>
          <p:nvPr/>
        </p:nvSpPr>
        <p:spPr>
          <a:xfrm>
            <a:off x="10696139" y="425196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81.9</a:t>
            </a:r>
            <a:endParaRPr lang="en-US" sz="900" dirty="0"/>
          </a:p>
        </p:txBody>
      </p:sp>
      <p:sp>
        <p:nvSpPr>
          <p:cNvPr id="140" name="Text 102"/>
          <p:cNvSpPr/>
          <p:nvPr/>
        </p:nvSpPr>
        <p:spPr>
          <a:xfrm>
            <a:off x="10696139" y="4507992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223件</a:t>
            </a:r>
            <a:endParaRPr lang="en-US" sz="900" dirty="0"/>
          </a:p>
        </p:txBody>
      </p:sp>
      <p:sp>
        <p:nvSpPr>
          <p:cNvPr id="141" name="Text 109"/>
          <p:cNvSpPr/>
          <p:nvPr/>
        </p:nvSpPr>
        <p:spPr>
          <a:xfrm>
            <a:off x="10696139" y="481888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86.1</a:t>
            </a:r>
            <a:endParaRPr lang="en-US" sz="900" dirty="0"/>
          </a:p>
        </p:txBody>
      </p:sp>
      <p:sp>
        <p:nvSpPr>
          <p:cNvPr id="142" name="Text 115"/>
          <p:cNvSpPr/>
          <p:nvPr/>
        </p:nvSpPr>
        <p:spPr>
          <a:xfrm>
            <a:off x="10696139" y="507492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225件</a:t>
            </a:r>
            <a:endParaRPr lang="en-US" sz="900" dirty="0"/>
          </a:p>
        </p:txBody>
      </p:sp>
      <p:sp>
        <p:nvSpPr>
          <p:cNvPr id="143" name="Text 122"/>
          <p:cNvSpPr/>
          <p:nvPr/>
        </p:nvSpPr>
        <p:spPr>
          <a:xfrm>
            <a:off x="10696139" y="5385816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72.8</a:t>
            </a:r>
            <a:endParaRPr lang="en-US" sz="900" dirty="0"/>
          </a:p>
        </p:txBody>
      </p:sp>
      <p:sp>
        <p:nvSpPr>
          <p:cNvPr id="144" name="Text 128"/>
          <p:cNvSpPr/>
          <p:nvPr/>
        </p:nvSpPr>
        <p:spPr>
          <a:xfrm>
            <a:off x="10696139" y="564184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163件</a:t>
            </a:r>
            <a:endParaRPr lang="en-US" sz="900" dirty="0"/>
          </a:p>
        </p:txBody>
      </p:sp>
      <p:sp>
        <p:nvSpPr>
          <p:cNvPr id="138" name="Text 90"/>
          <p:cNvSpPr/>
          <p:nvPr/>
        </p:nvSpPr>
        <p:spPr>
          <a:xfrm>
            <a:off x="11263139" y="3995928"/>
            <a:ext cx="566928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26-Jun</a:t>
            </a:r>
            <a:endParaRPr lang="zh-CN" altLang="en-US" sz="750" b="1" dirty="0">
              <a:solidFill>
                <a:srgbClr val="FFFFFF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139" name="Text 96"/>
          <p:cNvSpPr/>
          <p:nvPr/>
        </p:nvSpPr>
        <p:spPr>
          <a:xfrm>
            <a:off x="11263139" y="425196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84.3</a:t>
            </a:r>
            <a:endParaRPr lang="en-US" sz="900" dirty="0"/>
          </a:p>
        </p:txBody>
      </p:sp>
      <p:sp>
        <p:nvSpPr>
          <p:cNvPr id="140" name="Text 102"/>
          <p:cNvSpPr/>
          <p:nvPr/>
        </p:nvSpPr>
        <p:spPr>
          <a:xfrm>
            <a:off x="11263139" y="4507992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231件</a:t>
            </a:r>
            <a:endParaRPr lang="en-US" sz="900" dirty="0"/>
          </a:p>
        </p:txBody>
      </p:sp>
      <p:sp>
        <p:nvSpPr>
          <p:cNvPr id="141" name="Text 109"/>
          <p:cNvSpPr/>
          <p:nvPr/>
        </p:nvSpPr>
        <p:spPr>
          <a:xfrm>
            <a:off x="11263139" y="481888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85.7</a:t>
            </a:r>
            <a:endParaRPr lang="en-US" sz="900" dirty="0"/>
          </a:p>
        </p:txBody>
      </p:sp>
      <p:sp>
        <p:nvSpPr>
          <p:cNvPr id="142" name="Text 115"/>
          <p:cNvSpPr/>
          <p:nvPr/>
        </p:nvSpPr>
        <p:spPr>
          <a:xfrm>
            <a:off x="11263139" y="507492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239件</a:t>
            </a:r>
            <a:endParaRPr lang="en-US" sz="900" dirty="0"/>
          </a:p>
        </p:txBody>
      </p:sp>
      <p:sp>
        <p:nvSpPr>
          <p:cNvPr id="143" name="Text 122"/>
          <p:cNvSpPr/>
          <p:nvPr/>
        </p:nvSpPr>
        <p:spPr>
          <a:xfrm>
            <a:off x="11263139" y="5385816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62.0</a:t>
            </a:r>
            <a:endParaRPr lang="en-US" sz="900" dirty="0"/>
          </a:p>
        </p:txBody>
      </p:sp>
      <p:sp>
        <p:nvSpPr>
          <p:cNvPr id="144" name="Text 128"/>
          <p:cNvSpPr/>
          <p:nvPr/>
        </p:nvSpPr>
        <p:spPr>
          <a:xfrm>
            <a:off x="11263139" y="564184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172件</a:t>
            </a:r>
            <a:endParaRPr lang="en-US" sz="900" dirty="0"/>
          </a:p>
        </p:txBody>
      </p:sp>
      <p:sp>
        <p:nvSpPr>
          <p:cNvPr id="138" name="Text 90"/>
          <p:cNvSpPr/>
          <p:nvPr/>
        </p:nvSpPr>
        <p:spPr>
          <a:xfrm>
            <a:off x="11830139" y="3995928"/>
            <a:ext cx="566928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26-Jul</a:t>
            </a:r>
            <a:endParaRPr lang="zh-CN" altLang="en-US" sz="750" b="1" dirty="0">
              <a:solidFill>
                <a:srgbClr val="FFFFFF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139" name="Text 96"/>
          <p:cNvSpPr/>
          <p:nvPr/>
        </p:nvSpPr>
        <p:spPr>
          <a:xfrm>
            <a:off x="11830139" y="425196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49.5</a:t>
            </a:r>
            <a:endParaRPr lang="en-US" sz="900" dirty="0"/>
          </a:p>
        </p:txBody>
      </p:sp>
      <p:sp>
        <p:nvSpPr>
          <p:cNvPr id="140" name="Text 102"/>
          <p:cNvSpPr/>
          <p:nvPr/>
        </p:nvSpPr>
        <p:spPr>
          <a:xfrm>
            <a:off x="11830139" y="4507992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124件</a:t>
            </a:r>
            <a:endParaRPr lang="en-US" sz="900" dirty="0"/>
          </a:p>
        </p:txBody>
      </p:sp>
      <p:sp>
        <p:nvSpPr>
          <p:cNvPr id="141" name="Text 109"/>
          <p:cNvSpPr/>
          <p:nvPr/>
        </p:nvSpPr>
        <p:spPr>
          <a:xfrm>
            <a:off x="11830139" y="481888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39.2</a:t>
            </a:r>
            <a:endParaRPr lang="en-US" sz="900" dirty="0"/>
          </a:p>
        </p:txBody>
      </p:sp>
      <p:sp>
        <p:nvSpPr>
          <p:cNvPr id="142" name="Text 115"/>
          <p:cNvSpPr/>
          <p:nvPr/>
        </p:nvSpPr>
        <p:spPr>
          <a:xfrm>
            <a:off x="11830139" y="507492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99件</a:t>
            </a:r>
            <a:endParaRPr lang="en-US" sz="900" dirty="0"/>
          </a:p>
        </p:txBody>
      </p:sp>
      <p:sp>
        <p:nvSpPr>
          <p:cNvPr id="143" name="Text 122"/>
          <p:cNvSpPr/>
          <p:nvPr/>
        </p:nvSpPr>
        <p:spPr>
          <a:xfrm>
            <a:off x="11830139" y="5385816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32.9</a:t>
            </a:r>
            <a:endParaRPr lang="en-US" sz="900" dirty="0"/>
          </a:p>
        </p:txBody>
      </p:sp>
      <p:sp>
        <p:nvSpPr>
          <p:cNvPr id="144" name="Text 128"/>
          <p:cNvSpPr/>
          <p:nvPr/>
        </p:nvSpPr>
        <p:spPr>
          <a:xfrm>
            <a:off x="11830139" y="564184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104件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60"/>
          <p:cNvSpPr/>
          <p:nvPr/>
        </p:nvSpPr>
        <p:spPr>
          <a:xfrm>
            <a:off x="190500" y="538480"/>
            <a:ext cx="5432425" cy="609981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" name="Shape 0"/>
          <p:cNvSpPr/>
          <p:nvPr/>
        </p:nvSpPr>
        <p:spPr>
          <a:xfrm>
            <a:off x="0" y="0"/>
            <a:ext cx="12161520" cy="47548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64592" y="73152"/>
            <a:ext cx="1005840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月度效能深析  |  预约 / 签单 / 批核 三维 YoY 对比 &amp; 2026 达标路径管控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172200" y="548640"/>
            <a:ext cx="5532120" cy="6144768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59" name="Shape 56"/>
          <p:cNvSpPr/>
          <p:nvPr/>
        </p:nvSpPr>
        <p:spPr>
          <a:xfrm>
            <a:off x="91440" y="6071616"/>
            <a:ext cx="5532120" cy="621792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60" name="Shape 57"/>
          <p:cNvSpPr/>
          <p:nvPr/>
        </p:nvSpPr>
        <p:spPr>
          <a:xfrm>
            <a:off x="91440" y="6071616"/>
            <a:ext cx="5532120" cy="27432"/>
          </a:xfrm>
          <a:prstGeom prst="rect">
            <a:avLst/>
          </a:prstGeom>
          <a:solidFill>
            <a:srgbClr val="1A6B3A"/>
          </a:solidFill>
          <a:ln w="12700">
            <a:solidFill>
              <a:srgbClr val="1A6B3A"/>
            </a:solidFill>
            <a:prstDash val="solid"/>
          </a:ln>
        </p:spPr>
        <p:txBody>
          <a:bodyPr/>
          <a:p/>
        </p:txBody>
      </p:sp>
      <p:sp>
        <p:nvSpPr>
          <p:cNvPr id="61" name="Text 58"/>
          <p:cNvSpPr/>
          <p:nvPr/>
        </p:nvSpPr>
        <p:spPr>
          <a:xfrm>
            <a:off x="153670" y="6154420"/>
            <a:ext cx="638810" cy="1428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A6B3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800" dirty="0"/>
          </a:p>
        </p:txBody>
      </p:sp>
      <p:sp>
        <p:nvSpPr>
          <p:cNvPr id="62" name="Text 59"/>
          <p:cNvSpPr/>
          <p:nvPr/>
        </p:nvSpPr>
        <p:spPr>
          <a:xfrm>
            <a:off x="155575" y="6333490"/>
            <a:ext cx="5367020" cy="3524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zh-CN" sz="750" dirty="0"/>
              <a:t>2026 年 3 月预约件数从 2 月 110 件增至 216 件（环比 +96.4%），前端明显回暖。但 3 月件均 APE 3.8 万低于 2 月 5.1 万，显示新增单偏中小额，需关注单均下滑趋势。</a:t>
            </a:r>
            <a:endParaRPr lang="zh-CN" altLang="en-US" sz="750" dirty="0"/>
          </a:p>
        </p:txBody>
      </p:sp>
      <p:sp>
        <p:nvSpPr>
          <p:cNvPr id="63" name="Shape 60"/>
          <p:cNvSpPr/>
          <p:nvPr/>
        </p:nvSpPr>
        <p:spPr>
          <a:xfrm>
            <a:off x="5760720" y="538480"/>
            <a:ext cx="6305550" cy="6144895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>
            <a:endParaRPr lang="zh-CN" altLang="en-US"/>
          </a:p>
        </p:txBody>
      </p:sp>
      <p:sp>
        <p:nvSpPr>
          <p:cNvPr id="64" name="Shape 61"/>
          <p:cNvSpPr/>
          <p:nvPr/>
        </p:nvSpPr>
        <p:spPr>
          <a:xfrm>
            <a:off x="5760720" y="548640"/>
            <a:ext cx="6291072" cy="274320"/>
          </a:xfrm>
          <a:prstGeom prst="rect">
            <a:avLst/>
          </a:prstGeom>
          <a:solidFill>
            <a:srgbClr val="154360"/>
          </a:solidFill>
          <a:ln w="12700">
            <a:solidFill>
              <a:srgbClr val="154360"/>
            </a:solidFill>
            <a:prstDash val="solid"/>
          </a:ln>
        </p:spPr>
        <p:txBody>
          <a:bodyPr/>
          <a:p/>
        </p:txBody>
      </p:sp>
      <p:sp>
        <p:nvSpPr>
          <p:cNvPr id="65" name="Text 62"/>
          <p:cNvSpPr/>
          <p:nvPr/>
        </p:nvSpPr>
        <p:spPr>
          <a:xfrm>
            <a:off x="5852160" y="585216"/>
            <a:ext cx="6126480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F  2026 年批核 APE 月度走势与目标达标路径管控</a:t>
            </a:r>
            <a:endParaRPr lang="en-US" sz="850" dirty="0"/>
          </a:p>
        </p:txBody>
      </p:sp>
      <p:graphicFrame>
        <p:nvGraphicFramePr>
          <p:cNvPr id="66" name="Chart 1"/>
          <p:cNvGraphicFramePr/>
          <p:nvPr/>
        </p:nvGraphicFramePr>
        <p:xfrm>
          <a:off x="5897880" y="868680"/>
          <a:ext cx="6062345" cy="377888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67" name="Shape 63"/>
          <p:cNvSpPr/>
          <p:nvPr/>
        </p:nvSpPr>
        <p:spPr>
          <a:xfrm>
            <a:off x="9592430" y="1137285"/>
            <a:ext cx="2473840" cy="3203575"/>
          </a:xfrm>
          <a:prstGeom prst="rect">
            <a:avLst/>
          </a:prstGeom>
          <a:solidFill>
            <a:srgbClr val="D6E8FF">
              <a:alpha val="60000"/>
            </a:srgbClr>
          </a:solidFill>
          <a:ln w="10160">
            <a:solidFill>
              <a:srgbClr val="9BBDE8"/>
            </a:solidFill>
            <a:prstDash val="dash"/>
          </a:ln>
        </p:spPr>
        <p:txBody>
          <a:bodyPr/>
          <a:p>
            <a:endParaRPr lang="zh-CN" altLang="en-US"/>
          </a:p>
        </p:txBody>
      </p:sp>
      <p:sp>
        <p:nvSpPr>
          <p:cNvPr id="68" name="Text 64"/>
          <p:cNvSpPr/>
          <p:nvPr/>
        </p:nvSpPr>
        <p:spPr>
          <a:xfrm>
            <a:off x="9592430" y="1197610"/>
            <a:ext cx="2184460" cy="2432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i="1" dirty="0">
                <a:solidFill>
                  <a:srgbClr val="4A7FC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← 预测区间（5–12 月）→</a:t>
            </a:r>
            <a:endParaRPr lang="en-US" sz="800" dirty="0"/>
          </a:p>
        </p:txBody>
      </p:sp>
      <p:sp>
        <p:nvSpPr>
          <p:cNvPr id="69" name="Shape 65"/>
          <p:cNvSpPr/>
          <p:nvPr/>
        </p:nvSpPr>
        <p:spPr>
          <a:xfrm>
            <a:off x="5925185" y="3042285"/>
            <a:ext cx="6035040" cy="635"/>
          </a:xfrm>
          <a:prstGeom prst="line">
            <a:avLst/>
          </a:prstGeom>
          <a:noFill/>
          <a:ln w="12700">
            <a:solidFill>
              <a:srgbClr val="C8890A"/>
            </a:solidFill>
            <a:prstDash val="sysDot"/>
          </a:ln>
        </p:spPr>
        <p:txBody>
          <a:bodyPr/>
          <a:p/>
        </p:txBody>
      </p:sp>
      <p:sp>
        <p:nvSpPr>
          <p:cNvPr id="70" name="Text 66"/>
          <p:cNvSpPr/>
          <p:nvPr/>
        </p:nvSpPr>
        <p:spPr>
          <a:xfrm>
            <a:off x="8313420" y="1756664"/>
            <a:ext cx="3017520" cy="2190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达标节奏线  84.6M/月（剩余 508M ÷ 6mo）</a:t>
            </a:r>
            <a:endParaRPr lang="en-US" sz="850" b="1" dirty="0">
              <a:solidFill>
                <a:srgbClr val="C8890A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71" name="Shape 67"/>
          <p:cNvSpPr/>
          <p:nvPr/>
        </p:nvSpPr>
        <p:spPr>
          <a:xfrm>
            <a:off x="5925185" y="3263900"/>
            <a:ext cx="6035040" cy="635"/>
          </a:xfrm>
          <a:prstGeom prst="line">
            <a:avLst/>
          </a:prstGeom>
          <a:noFill/>
          <a:ln w="12700">
            <a:solidFill>
              <a:srgbClr val="C0392B"/>
            </a:solidFill>
            <a:prstDash val="sysDot"/>
          </a:ln>
        </p:spPr>
        <p:txBody>
          <a:bodyPr/>
          <a:p/>
        </p:txBody>
      </p:sp>
      <p:sp>
        <p:nvSpPr>
          <p:cNvPr id="72" name="Text 68"/>
          <p:cNvSpPr/>
          <p:nvPr/>
        </p:nvSpPr>
        <p:spPr>
          <a:xfrm>
            <a:off x="8787130" y="3264535"/>
            <a:ext cx="1599565" cy="2616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最低月底线  69.5M</a:t>
            </a:r>
            <a:endParaRPr lang="en-US" sz="850" b="1" dirty="0">
              <a:solidFill>
                <a:srgbClr val="C0392B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73" name="Shape 69"/>
          <p:cNvSpPr/>
          <p:nvPr/>
        </p:nvSpPr>
        <p:spPr>
          <a:xfrm>
            <a:off x="5897880" y="5127879"/>
            <a:ext cx="1444752" cy="731520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74" name="Shape 70"/>
          <p:cNvSpPr/>
          <p:nvPr/>
        </p:nvSpPr>
        <p:spPr>
          <a:xfrm>
            <a:off x="5897880" y="5127879"/>
            <a:ext cx="1444752" cy="4572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75" name="Text 71"/>
          <p:cNvSpPr/>
          <p:nvPr/>
        </p:nvSpPr>
        <p:spPr>
          <a:xfrm>
            <a:off x="5989320" y="5201031"/>
            <a:ext cx="1261872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605.2M</a:t>
            </a:r>
            <a:endParaRPr lang="en-US" sz="2000" dirty="0"/>
          </a:p>
        </p:txBody>
      </p:sp>
      <p:sp>
        <p:nvSpPr>
          <p:cNvPr id="76" name="Text 72"/>
          <p:cNvSpPr/>
          <p:nvPr/>
        </p:nvSpPr>
        <p:spPr>
          <a:xfrm>
            <a:off x="5989320" y="5530215"/>
            <a:ext cx="12618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1–4 月已批核</a:t>
            </a:r>
            <a:endParaRPr lang="en-US" sz="800" dirty="0"/>
          </a:p>
        </p:txBody>
      </p:sp>
      <p:sp>
        <p:nvSpPr>
          <p:cNvPr id="77" name="Text 73"/>
          <p:cNvSpPr/>
          <p:nvPr/>
        </p:nvSpPr>
        <p:spPr>
          <a:xfrm>
            <a:off x="5989320" y="5676519"/>
            <a:ext cx="1261872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54.4% 达成率</a:t>
            </a:r>
            <a:r>
              <a:rPr lang="zh-CN" altLang="en-US" sz="70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/>
            </a:r>
            <a:endParaRPr lang="zh-CN" altLang="en-US" sz="700" dirty="0">
              <a:solidFill>
                <a:srgbClr val="6B7280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78" name="Shape 74"/>
          <p:cNvSpPr/>
          <p:nvPr/>
        </p:nvSpPr>
        <p:spPr>
          <a:xfrm>
            <a:off x="7434072" y="5127879"/>
            <a:ext cx="1444752" cy="731520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79" name="Shape 75"/>
          <p:cNvSpPr/>
          <p:nvPr/>
        </p:nvSpPr>
        <p:spPr>
          <a:xfrm>
            <a:off x="7434072" y="5127879"/>
            <a:ext cx="1444752" cy="4572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80" name="Text 76"/>
          <p:cNvSpPr/>
          <p:nvPr/>
        </p:nvSpPr>
        <p:spPr>
          <a:xfrm>
            <a:off x="7525512" y="5201031"/>
            <a:ext cx="1261872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508M</a:t>
            </a:r>
            <a:endParaRPr lang="en-US" sz="2000" dirty="0"/>
          </a:p>
        </p:txBody>
      </p:sp>
      <p:sp>
        <p:nvSpPr>
          <p:cNvPr id="81" name="Text 77"/>
          <p:cNvSpPr/>
          <p:nvPr/>
        </p:nvSpPr>
        <p:spPr>
          <a:xfrm>
            <a:off x="7525512" y="5530215"/>
            <a:ext cx="12618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剩余目标缺口</a:t>
            </a:r>
            <a:endParaRPr lang="en-US" sz="800" dirty="0"/>
          </a:p>
        </p:txBody>
      </p:sp>
      <p:sp>
        <p:nvSpPr>
          <p:cNvPr id="82" name="Text 78"/>
          <p:cNvSpPr/>
          <p:nvPr/>
        </p:nvSpPr>
        <p:spPr>
          <a:xfrm>
            <a:off x="7525512" y="5676519"/>
            <a:ext cx="1261872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45.6% 目标剩余</a:t>
            </a:r>
            <a:r>
              <a:rPr lang="zh-CN" altLang="en-US" sz="70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/>
            </a:r>
            <a:endParaRPr lang="zh-CN" altLang="en-US" sz="700" dirty="0">
              <a:solidFill>
                <a:srgbClr val="6B7280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83" name="Shape 79"/>
          <p:cNvSpPr/>
          <p:nvPr/>
        </p:nvSpPr>
        <p:spPr>
          <a:xfrm>
            <a:off x="8970264" y="5127879"/>
            <a:ext cx="1444752" cy="731520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84" name="Shape 80"/>
          <p:cNvSpPr/>
          <p:nvPr/>
        </p:nvSpPr>
        <p:spPr>
          <a:xfrm>
            <a:off x="8970264" y="5127879"/>
            <a:ext cx="1444752" cy="4572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85" name="Text 81"/>
          <p:cNvSpPr/>
          <p:nvPr/>
        </p:nvSpPr>
        <p:spPr>
          <a:xfrm>
            <a:off x="9061704" y="5201031"/>
            <a:ext cx="1261872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84.6M</a:t>
            </a:r>
            <a:endParaRPr lang="en-US" sz="2000" dirty="0"/>
          </a:p>
        </p:txBody>
      </p:sp>
      <p:sp>
        <p:nvSpPr>
          <p:cNvPr id="86" name="Text 82"/>
          <p:cNvSpPr/>
          <p:nvPr/>
        </p:nvSpPr>
        <p:spPr>
          <a:xfrm>
            <a:off x="9061704" y="5530215"/>
            <a:ext cx="12618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月均需达成</a:t>
            </a:r>
            <a:endParaRPr lang="en-US" sz="800" dirty="0"/>
          </a:p>
        </p:txBody>
      </p:sp>
      <p:sp>
        <p:nvSpPr>
          <p:cNvPr id="87" name="Text 83"/>
          <p:cNvSpPr/>
          <p:nvPr/>
        </p:nvSpPr>
        <p:spPr>
          <a:xfrm>
            <a:off x="9061704" y="5676519"/>
            <a:ext cx="1261872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剩余缺口÷剩余月份</a:t>
            </a:r>
            <a:endParaRPr lang="en-US" sz="700" dirty="0"/>
          </a:p>
        </p:txBody>
      </p:sp>
      <p:sp>
        <p:nvSpPr>
          <p:cNvPr id="88" name="Shape 84"/>
          <p:cNvSpPr/>
          <p:nvPr/>
        </p:nvSpPr>
        <p:spPr>
          <a:xfrm>
            <a:off x="10506456" y="5127879"/>
            <a:ext cx="1444752" cy="731520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89" name="Shape 85"/>
          <p:cNvSpPr/>
          <p:nvPr/>
        </p:nvSpPr>
        <p:spPr>
          <a:xfrm>
            <a:off x="10506456" y="5127879"/>
            <a:ext cx="1444752" cy="45720"/>
          </a:xfrm>
          <a:prstGeom prst="rect">
            <a:avLst/>
          </a:prstGeom>
          <a:solidFill>
            <a:srgbClr val="8B4513"/>
          </a:solidFill>
          <a:ln w="12700">
            <a:solidFill>
              <a:srgbClr val="8B4513"/>
            </a:solidFill>
            <a:prstDash val="solid"/>
          </a:ln>
        </p:spPr>
        <p:txBody>
          <a:bodyPr/>
          <a:p/>
        </p:txBody>
      </p:sp>
      <p:sp>
        <p:nvSpPr>
          <p:cNvPr id="90" name="Text 86"/>
          <p:cNvSpPr/>
          <p:nvPr/>
        </p:nvSpPr>
        <p:spPr>
          <a:xfrm>
            <a:off x="10597896" y="5201031"/>
            <a:ext cx="1261872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8B451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69.5M</a:t>
            </a:r>
            <a:endParaRPr lang="en-US" sz="2000" dirty="0"/>
          </a:p>
        </p:txBody>
      </p:sp>
      <p:sp>
        <p:nvSpPr>
          <p:cNvPr id="91" name="Text 87"/>
          <p:cNvSpPr/>
          <p:nvPr/>
        </p:nvSpPr>
        <p:spPr>
          <a:xfrm>
            <a:off x="10597896" y="5530215"/>
            <a:ext cx="12618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最低月底线</a:t>
            </a:r>
            <a:endParaRPr lang="en-US" sz="800" dirty="0"/>
          </a:p>
        </p:txBody>
      </p:sp>
      <p:sp>
        <p:nvSpPr>
          <p:cNvPr id="92" name="Text 88"/>
          <p:cNvSpPr/>
          <p:nvPr/>
        </p:nvSpPr>
        <p:spPr>
          <a:xfrm>
            <a:off x="10597896" y="5676519"/>
            <a:ext cx="1261872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70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最低月度目标</a:t>
            </a:r>
            <a:endParaRPr lang="zh-CN" altLang="en-US" sz="700" dirty="0">
              <a:solidFill>
                <a:srgbClr val="6B7280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93" name="Shape 89"/>
          <p:cNvSpPr/>
          <p:nvPr/>
        </p:nvSpPr>
        <p:spPr>
          <a:xfrm>
            <a:off x="5760720" y="6066155"/>
            <a:ext cx="6290945" cy="626745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94" name="Shape 90"/>
          <p:cNvSpPr/>
          <p:nvPr/>
        </p:nvSpPr>
        <p:spPr>
          <a:xfrm>
            <a:off x="5760720" y="6065139"/>
            <a:ext cx="6291072" cy="27432"/>
          </a:xfrm>
          <a:prstGeom prst="rect">
            <a:avLst/>
          </a:prstGeom>
          <a:solidFill>
            <a:srgbClr val="154360"/>
          </a:solidFill>
          <a:ln w="12700">
            <a:solidFill>
              <a:srgbClr val="154360"/>
            </a:solidFill>
            <a:prstDash val="solid"/>
          </a:ln>
        </p:spPr>
        <p:txBody>
          <a:bodyPr/>
          <a:p/>
        </p:txBody>
      </p:sp>
      <p:sp>
        <p:nvSpPr>
          <p:cNvPr id="95" name="Text 91"/>
          <p:cNvSpPr/>
          <p:nvPr/>
        </p:nvSpPr>
        <p:spPr>
          <a:xfrm>
            <a:off x="5870575" y="6109970"/>
            <a:ext cx="514985" cy="16891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5436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800" dirty="0"/>
          </a:p>
        </p:txBody>
      </p:sp>
      <p:sp>
        <p:nvSpPr>
          <p:cNvPr id="96" name="Text 92"/>
          <p:cNvSpPr/>
          <p:nvPr/>
        </p:nvSpPr>
        <p:spPr>
          <a:xfrm>
            <a:off x="5852160" y="6255385"/>
            <a:ext cx="6160135" cy="43053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截至 W28，已批核 605.2M（达成率 54.4%），完成全年目标 1113M 还需约 508M，剩余 9 个月月均需 56.4M。若 4–12 月维持 80–100M 节奏，全年可达标。</a:t>
            </a:r>
            <a:endParaRPr lang="en-US" sz="750" dirty="0"/>
          </a:p>
        </p:txBody>
      </p:sp>
      <p:sp>
        <p:nvSpPr>
          <p:cNvPr id="98" name="Text 2"/>
          <p:cNvSpPr/>
          <p:nvPr/>
        </p:nvSpPr>
        <p:spPr>
          <a:xfrm>
            <a:off x="10515600" y="109728"/>
            <a:ext cx="15087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内部文件 · 仅供使用</a:t>
            </a:r>
            <a:endParaRPr lang="en-US" sz="900" dirty="0"/>
          </a:p>
        </p:txBody>
      </p:sp>
      <p:sp>
        <p:nvSpPr>
          <p:cNvPr id="97" name="Label_YY"/>
          <p:cNvSpPr/>
          <p:nvPr/>
        </p:nvSpPr>
        <p:spPr>
          <a:xfrm>
            <a:off x="190500" y="556895"/>
            <a:ext cx="5421630" cy="26543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altLang="zh-CN" sz="900" b="1" dirty="0">
                <a:solidFill>
                  <a:srgbClr val="FFFFFF"/>
                </a:solidFill>
                <a:ea typeface="Calibri" panose="020F0502020204030204" pitchFamily="34" charset="-122"/>
                <a:cs typeface="+mn-lt"/>
              </a:rPr>
              <a:t>E </a:t>
            </a:r>
            <a:r>
              <a:rPr lang="zh-CN" sz="900" b="1" dirty="0">
                <a:solidFill>
                  <a:srgbClr val="FFFFFF"/>
                </a:solidFill>
                <a:ea typeface="Calibri" panose="020F0502020204030204" pitchFamily="34" charset="-122"/>
                <a:cs typeface="+mn-lt"/>
              </a:rPr>
              <a:t>预约 Appointment  |  APE(M)  件数</a:t>
            </a:r>
            <a:endParaRPr lang="zh-CN" sz="900" b="1" dirty="0">
              <a:solidFill>
                <a:srgbClr val="FFFFFF"/>
              </a:solidFill>
              <a:ea typeface="Calibri" panose="020F0502020204030204" pitchFamily="34" charset="-122"/>
              <a:cs typeface="+mn-lt"/>
            </a:endParaRPr>
          </a:p>
        </p:txBody>
      </p:sp>
      <p:graphicFrame>
        <p:nvGraphicFramePr>
          <p:cNvPr id="99" name="Chart_YY"/>
          <p:cNvGraphicFramePr/>
          <p:nvPr/>
        </p:nvGraphicFramePr>
        <p:xfrm>
          <a:off x="198755" y="828675"/>
          <a:ext cx="4764405" cy="13284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00" name="Ann_YY"/>
          <p:cNvSpPr/>
          <p:nvPr/>
        </p:nvSpPr>
        <p:spPr>
          <a:xfrm>
            <a:off x="3629126" y="1013517"/>
            <a:ext cx="1334033" cy="264160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C0392B"/>
                </a:solidFill>
              </a:rPr>
              <a:t>▼ 环比 -41.3%</a:t>
            </a:r>
          </a:p>
        </p:txBody>
      </p:sp>
      <p:pic>
        <p:nvPicPr>
          <p:cNvPr id="101" name="图片 100" descr="中括号右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204845" y="1517650"/>
            <a:ext cx="235585" cy="293370"/>
          </a:xfrm>
          <a:prstGeom prst="rect">
            <a:avLst/>
          </a:prstGeom>
        </p:spPr>
      </p:pic>
      <p:sp>
        <p:nvSpPr>
          <p:cNvPr id="102" name="Ann_YY"/>
          <p:cNvSpPr/>
          <p:nvPr/>
        </p:nvSpPr>
        <p:spPr>
          <a:xfrm>
            <a:off x="3629126" y="1818544"/>
            <a:ext cx="1334033" cy="22923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1A7A3F"/>
                </a:solidFill>
              </a:rPr>
              <a:t>▲ 环比 +4.6%</a:t>
            </a:r>
          </a:p>
        </p:txBody>
      </p:sp>
      <p:sp>
        <p:nvSpPr>
          <p:cNvPr id="104" name="Label_QD"/>
          <p:cNvSpPr/>
          <p:nvPr/>
        </p:nvSpPr>
        <p:spPr>
          <a:xfrm>
            <a:off x="190500" y="2213763"/>
            <a:ext cx="5432425" cy="29464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altLang="zh-CN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 </a:t>
            </a:r>
            <a:r>
              <a:rPr lang="zh-CN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签单 Signed  |  APE(M)  件数</a:t>
            </a:r>
            <a:endParaRPr lang="zh-CN" sz="90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graphicFrame>
        <p:nvGraphicFramePr>
          <p:cNvPr id="105" name="Chart_QD"/>
          <p:cNvGraphicFramePr/>
          <p:nvPr/>
        </p:nvGraphicFramePr>
        <p:xfrm>
          <a:off x="190500" y="2666365"/>
          <a:ext cx="4747895" cy="14528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06" name="Ann_QD"/>
          <p:cNvSpPr/>
          <p:nvPr/>
        </p:nvSpPr>
        <p:spPr>
          <a:xfrm>
            <a:off x="3608984" y="2879313"/>
            <a:ext cx="1329410" cy="26733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C0392B"/>
                </a:solidFill>
              </a:rPr>
              <a:t>▼ 环比 -54.3%</a:t>
            </a:r>
          </a:p>
        </p:txBody>
      </p:sp>
      <p:sp>
        <p:nvSpPr>
          <p:cNvPr id="108" name="Ann_QD"/>
          <p:cNvSpPr/>
          <p:nvPr/>
        </p:nvSpPr>
        <p:spPr>
          <a:xfrm>
            <a:off x="3608984" y="3038883"/>
            <a:ext cx="1329410" cy="29273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C0392B"/>
                </a:solidFill>
              </a:rPr>
              <a:t>▼ 环比 -0.5%</a:t>
            </a:r>
          </a:p>
        </p:txBody>
      </p:sp>
      <p:pic>
        <p:nvPicPr>
          <p:cNvPr id="111" name="图片 110" descr="中括号右"/>
          <p:cNvPicPr>
            <a:picLocks noChangeAspect="1"/>
          </p:cNvPicPr>
          <p:nvPr>
            <p:custDataLst>
              <p:tags r:id="rId8"/>
            </p:custDataLst>
          </p:nvPr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3421380" y="3525520"/>
            <a:ext cx="224155" cy="200025"/>
          </a:xfrm>
          <a:prstGeom prst="rect">
            <a:avLst/>
          </a:prstGeom>
        </p:spPr>
      </p:pic>
      <p:pic>
        <p:nvPicPr>
          <p:cNvPr id="112" name="图片 111" descr="中括号右"/>
          <p:cNvPicPr>
            <a:picLocks noChangeAspect="1"/>
          </p:cNvPicPr>
          <p:nvPr>
            <p:custDataLst>
              <p:tags r:id="rId11"/>
            </p:custDataLst>
          </p:nvPr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4308475" y="2931795"/>
            <a:ext cx="226060" cy="284480"/>
          </a:xfrm>
          <a:prstGeom prst="rect">
            <a:avLst/>
          </a:prstGeom>
        </p:spPr>
      </p:pic>
      <p:sp>
        <p:nvSpPr>
          <p:cNvPr id="113" name="Label_PH"/>
          <p:cNvSpPr/>
          <p:nvPr/>
        </p:nvSpPr>
        <p:spPr>
          <a:xfrm>
            <a:off x="190500" y="4175913"/>
            <a:ext cx="5432425" cy="2667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altLang="zh-CN" sz="900" b="1" dirty="0">
                <a:solidFill>
                  <a:srgbClr val="FFFFFF"/>
                </a:solidFill>
                <a:ea typeface="Calibri" panose="020F0502020204030204" pitchFamily="34" charset="-122"/>
                <a:cs typeface="+mn-lt"/>
              </a:rPr>
              <a:t>E </a:t>
            </a:r>
            <a:r>
              <a:rPr lang="zh-CN" sz="900" b="1" dirty="0">
                <a:solidFill>
                  <a:srgbClr val="FFFFFF"/>
                </a:solidFill>
                <a:ea typeface="Calibri" panose="020F0502020204030204" pitchFamily="34" charset="-122"/>
                <a:cs typeface="+mn-lt"/>
              </a:rPr>
              <a:t>批核 Approved  |  APE(M)  件数</a:t>
            </a:r>
            <a:endParaRPr lang="zh-CN" sz="900" b="1" dirty="0">
              <a:solidFill>
                <a:srgbClr val="FFFFFF"/>
              </a:solidFill>
              <a:ea typeface="Calibri" panose="020F0502020204030204" pitchFamily="34" charset="-122"/>
              <a:cs typeface="+mn-lt"/>
            </a:endParaRPr>
          </a:p>
        </p:txBody>
      </p:sp>
      <p:graphicFrame>
        <p:nvGraphicFramePr>
          <p:cNvPr id="114" name="Chart_PH"/>
          <p:cNvGraphicFramePr/>
          <p:nvPr/>
        </p:nvGraphicFramePr>
        <p:xfrm>
          <a:off x="229235" y="4499281"/>
          <a:ext cx="4522470" cy="134683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16" name="Ann_PH"/>
          <p:cNvSpPr/>
          <p:nvPr/>
        </p:nvSpPr>
        <p:spPr>
          <a:xfrm>
            <a:off x="3485413" y="4691704"/>
            <a:ext cx="1266291" cy="25971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C0392B"/>
                </a:solidFill>
              </a:rPr>
              <a:t>▼ 环比 -47.0%</a:t>
            </a:r>
          </a:p>
        </p:txBody>
      </p:sp>
      <p:sp>
        <p:nvSpPr>
          <p:cNvPr id="117" name="Ann_PH"/>
          <p:cNvSpPr/>
          <p:nvPr/>
        </p:nvSpPr>
        <p:spPr>
          <a:xfrm>
            <a:off x="3485413" y="5550191"/>
            <a:ext cx="1266291" cy="139700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1A7A3F"/>
                </a:solidFill>
              </a:rPr>
              <a:t>▲ 环比 +23.1%</a:t>
            </a:r>
          </a:p>
        </p:txBody>
      </p:sp>
      <p:pic>
        <p:nvPicPr>
          <p:cNvPr id="119" name="图片 118" descr="中括号右"/>
          <p:cNvPicPr>
            <a:picLocks noChangeAspect="1"/>
          </p:cNvPicPr>
          <p:nvPr>
            <p:custDataLst>
              <p:tags r:id="rId13"/>
            </p:custDataLst>
          </p:nvPr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2786380" y="4711700"/>
            <a:ext cx="229235" cy="265430"/>
          </a:xfrm>
          <a:prstGeom prst="rect">
            <a:avLst/>
          </a:prstGeom>
        </p:spPr>
      </p:pic>
      <p:pic>
        <p:nvPicPr>
          <p:cNvPr id="120" name="图片 119" descr="中括号右"/>
          <p:cNvPicPr>
            <a:picLocks noChangeAspect="1"/>
          </p:cNvPicPr>
          <p:nvPr>
            <p:custDataLst>
              <p:tags r:id="rId16"/>
            </p:custDataLst>
          </p:nvPr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4136390" y="5232400"/>
            <a:ext cx="229235" cy="210820"/>
          </a:xfrm>
          <a:prstGeom prst="rect">
            <a:avLst/>
          </a:prstGeom>
        </p:spPr>
      </p:pic>
      <p:pic>
        <p:nvPicPr>
          <p:cNvPr id="121" name="图片 120" descr="中括号右"/>
          <p:cNvPicPr>
            <a:picLocks noChangeAspect="1"/>
          </p:cNvPicPr>
          <p:nvPr>
            <p:custDataLst>
              <p:tags r:id="rId18"/>
            </p:custDataLst>
          </p:nvPr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4284345" y="1062990"/>
            <a:ext cx="235585" cy="281305"/>
          </a:xfrm>
          <a:prstGeom prst="rect">
            <a:avLst/>
          </a:prstGeom>
        </p:spPr>
      </p:pic>
      <p:sp>
        <p:nvSpPr>
          <p:cNvPr id="6" name="Ann_YY"/>
          <p:cNvSpPr/>
          <p:nvPr/>
        </p:nvSpPr>
        <p:spPr>
          <a:xfrm>
            <a:off x="3629126" y="1177380"/>
            <a:ext cx="1334033" cy="251460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1A7A3F"/>
                </a:solidFill>
              </a:rPr>
              <a:t>▲ 环比 +3.0%</a:t>
            </a:r>
          </a:p>
        </p:txBody>
      </p:sp>
      <p:pic>
        <p:nvPicPr>
          <p:cNvPr id="7" name="图片 6" descr="中括号右"/>
          <p:cNvPicPr>
            <a:picLocks noChangeAspect="1"/>
          </p:cNvPicPr>
          <p:nvPr>
            <p:custDataLst>
              <p:tags r:id="rId20"/>
            </p:custDataLst>
          </p:nvPr>
        </p:nvPicPr>
        <p:blipFill>
          <a:blip r:embed="rId21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4297045" y="1350010"/>
            <a:ext cx="235585" cy="276225"/>
          </a:xfrm>
          <a:prstGeom prst="rect">
            <a:avLst/>
          </a:prstGeom>
        </p:spPr>
      </p:pic>
      <p:pic>
        <p:nvPicPr>
          <p:cNvPr id="8" name="图片 7" descr="中括号右"/>
          <p:cNvPicPr>
            <a:picLocks noChangeAspect="1"/>
          </p:cNvPicPr>
          <p:nvPr>
            <p:custDataLst>
              <p:tags r:id="rId22"/>
            </p:custDataLst>
          </p:nvPr>
        </p:nvPicPr>
        <p:blipFill>
          <a:blip r:embed="rId23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4311650" y="3249295"/>
            <a:ext cx="226060" cy="264160"/>
          </a:xfrm>
          <a:prstGeom prst="rect">
            <a:avLst/>
          </a:prstGeom>
        </p:spPr>
      </p:pic>
      <p:sp>
        <p:nvSpPr>
          <p:cNvPr id="10" name="Ann_QD"/>
          <p:cNvSpPr/>
          <p:nvPr/>
        </p:nvSpPr>
        <p:spPr>
          <a:xfrm>
            <a:off x="3608984" y="3211153"/>
            <a:ext cx="1329410" cy="29273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1A7A3F"/>
                </a:solidFill>
              </a:rPr>
              <a:t>▲ 环比 +38.7%</a:t>
            </a:r>
          </a:p>
        </p:txBody>
      </p:sp>
      <p:sp>
        <p:nvSpPr>
          <p:cNvPr id="11" name="Ann_PH"/>
          <p:cNvSpPr/>
          <p:nvPr/>
        </p:nvSpPr>
        <p:spPr>
          <a:xfrm>
            <a:off x="3485413" y="4851400"/>
            <a:ext cx="1266291" cy="25971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C0392B"/>
                </a:solidFill>
              </a:rPr>
              <a:t>▼ 环比 -14.8%</a:t>
            </a:r>
          </a:p>
        </p:txBody>
      </p:sp>
      <p:pic>
        <p:nvPicPr>
          <p:cNvPr id="12" name="图片 11" descr="中括号右"/>
          <p:cNvPicPr>
            <a:picLocks noChangeAspect="1"/>
          </p:cNvPicPr>
          <p:nvPr>
            <p:custDataLst>
              <p:tags r:id="rId24"/>
            </p:custDataLst>
          </p:nvPr>
        </p:nvPicPr>
        <p:blipFill>
          <a:blip r:embed="rId25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4136390" y="4935855"/>
            <a:ext cx="229235" cy="265430"/>
          </a:xfrm>
          <a:prstGeom prst="rect">
            <a:avLst/>
          </a:prstGeom>
        </p:spPr>
      </p:pic>
      <p:sp>
        <p:nvSpPr>
          <p:cNvPr id="122" name="Ann_YY"/>
          <p:cNvSpPr/>
          <p:nvPr/>
        </p:nvSpPr>
        <p:spPr>
          <a:xfrm>
            <a:off x="3629126" y="1334893"/>
            <a:ext cx="1334033" cy="251460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1A7A3F"/>
                </a:solidFill>
              </a:rPr>
              <a:t>▲ 环比 +21.5%</a:t>
            </a:r>
          </a:p>
        </p:txBody>
      </p:sp>
      <p:sp>
        <p:nvSpPr>
          <p:cNvPr id="123" name="Ann_YY"/>
          <p:cNvSpPr/>
          <p:nvPr/>
        </p:nvSpPr>
        <p:spPr>
          <a:xfrm>
            <a:off x="3629126" y="1492405"/>
            <a:ext cx="1334033" cy="251460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C0392B"/>
                </a:solidFill>
              </a:rPr>
              <a:t>▼ 环比 -17.3%</a:t>
            </a:r>
          </a:p>
        </p:txBody>
      </p:sp>
      <p:sp>
        <p:nvSpPr>
          <p:cNvPr id="124" name="Ann_YY"/>
          <p:cNvSpPr/>
          <p:nvPr/>
        </p:nvSpPr>
        <p:spPr>
          <a:xfrm>
            <a:off x="3629126" y="1649918"/>
            <a:ext cx="1334033" cy="251460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1A7A3F"/>
                </a:solidFill>
              </a:rPr>
              <a:t>▲ 环比 +44.5%</a:t>
            </a:r>
          </a:p>
        </p:txBody>
      </p:sp>
      <p:sp>
        <p:nvSpPr>
          <p:cNvPr id="125" name="Ann_QD"/>
          <p:cNvSpPr/>
          <p:nvPr/>
        </p:nvSpPr>
        <p:spPr>
          <a:xfrm>
            <a:off x="3608984" y="3383423"/>
            <a:ext cx="1329410" cy="29273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C0392B"/>
                </a:solidFill>
              </a:rPr>
              <a:t>▼ 环比 -24.4%</a:t>
            </a:r>
          </a:p>
        </p:txBody>
      </p:sp>
      <p:sp>
        <p:nvSpPr>
          <p:cNvPr id="126" name="Ann_QD"/>
          <p:cNvSpPr/>
          <p:nvPr/>
        </p:nvSpPr>
        <p:spPr>
          <a:xfrm>
            <a:off x="3608984" y="3555693"/>
            <a:ext cx="1329410" cy="29273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1A7A3F"/>
                </a:solidFill>
              </a:rPr>
              <a:t>▲ 环比 +34.4%</a:t>
            </a:r>
          </a:p>
        </p:txBody>
      </p:sp>
      <p:sp>
        <p:nvSpPr>
          <p:cNvPr id="127" name="Ann_QD"/>
          <p:cNvSpPr/>
          <p:nvPr/>
        </p:nvSpPr>
        <p:spPr>
          <a:xfrm>
            <a:off x="3608984" y="3727963"/>
            <a:ext cx="1329410" cy="29273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1A7A3F"/>
                </a:solidFill>
              </a:rPr>
              <a:t>▲ 环比 +27.6%</a:t>
            </a:r>
          </a:p>
        </p:txBody>
      </p:sp>
      <p:sp>
        <p:nvSpPr>
          <p:cNvPr id="128" name="Ann_PH"/>
          <p:cNvSpPr/>
          <p:nvPr/>
        </p:nvSpPr>
        <p:spPr>
          <a:xfrm>
            <a:off x="3485413" y="5011096"/>
            <a:ext cx="1266291" cy="25971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C0392B"/>
                </a:solidFill>
              </a:rPr>
              <a:t>▼ 环比 -20.1%</a:t>
            </a:r>
          </a:p>
        </p:txBody>
      </p:sp>
      <p:sp>
        <p:nvSpPr>
          <p:cNvPr id="129" name="Ann_PH"/>
          <p:cNvSpPr/>
          <p:nvPr/>
        </p:nvSpPr>
        <p:spPr>
          <a:xfrm>
            <a:off x="3485413" y="5170792"/>
            <a:ext cx="1266291" cy="25971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1A7A3F"/>
                </a:solidFill>
              </a:rPr>
              <a:t>▲ 环比 +6.3%</a:t>
            </a:r>
          </a:p>
        </p:txBody>
      </p:sp>
      <p:sp>
        <p:nvSpPr>
          <p:cNvPr id="130" name="Ann_PH"/>
          <p:cNvSpPr/>
          <p:nvPr/>
        </p:nvSpPr>
        <p:spPr>
          <a:xfrm>
            <a:off x="3485413" y="5330488"/>
            <a:ext cx="1266291" cy="25971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C0392B"/>
                </a:solidFill>
              </a:rPr>
              <a:t>▼ 环比 -40.3%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4572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64592" y="64008"/>
            <a:ext cx="987552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永明业绩汇报 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| Sun Life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 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0241280" y="109728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内部文件 · 仅供使用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521585" y="501015"/>
            <a:ext cx="2071370" cy="675005"/>
          </a:xfrm>
          <a:prstGeom prst="rect">
            <a:avLst/>
          </a:prstGeom>
          <a:solidFill>
            <a:srgbClr val="FFFFFF"/>
          </a:solidFill>
          <a:ln w="1524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2521585" y="501015"/>
            <a:ext cx="2071370" cy="762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2631440" y="574040"/>
            <a:ext cx="1954530" cy="1625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永明批核APE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2631440" y="700405"/>
            <a:ext cx="1954530" cy="3422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511.6M</a:t>
            </a:r>
            <a:endParaRPr lang="en-US" sz="2400" b="1" dirty="0">
              <a:solidFill>
                <a:srgbClr val="1F3864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2631440" y="1027430"/>
            <a:ext cx="1173480" cy="1530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1012件  |  达成率52.4%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144780" y="508635"/>
            <a:ext cx="2187575" cy="678815"/>
          </a:xfrm>
          <a:prstGeom prst="rect">
            <a:avLst/>
          </a:prstGeom>
          <a:solidFill>
            <a:srgbClr val="FFFFFF"/>
          </a:solidFill>
          <a:ln w="1524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144780" y="508635"/>
            <a:ext cx="2187575" cy="7620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254635" y="581660"/>
            <a:ext cx="2063750" cy="1657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永明年度达成率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254635" y="698500"/>
            <a:ext cx="2063750" cy="350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52.4%</a:t>
            </a:r>
            <a:endParaRPr lang="en-US" sz="2400" b="1" dirty="0">
              <a:solidFill>
                <a:srgbClr val="C0392B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254635" y="1030605"/>
            <a:ext cx="1320800" cy="16065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目标976M  |  缺口464M</a:t>
            </a:r>
            <a:r>
              <a:rPr lang="en-US" sz="7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/>
            </a: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/>
            </a:r>
            <a:endParaRPr lang="en-US" sz="750" dirty="0"/>
          </a:p>
        </p:txBody>
      </p:sp>
      <p:sp>
        <p:nvSpPr>
          <p:cNvPr id="16" name="Shape 14"/>
          <p:cNvSpPr/>
          <p:nvPr/>
        </p:nvSpPr>
        <p:spPr>
          <a:xfrm>
            <a:off x="4818380" y="510540"/>
            <a:ext cx="2206625" cy="662940"/>
          </a:xfrm>
          <a:prstGeom prst="rect">
            <a:avLst/>
          </a:prstGeom>
          <a:solidFill>
            <a:srgbClr val="FFFFFF"/>
          </a:solidFill>
          <a:ln w="1524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4818380" y="510540"/>
            <a:ext cx="2206625" cy="7620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4928235" y="583565"/>
            <a:ext cx="2082165" cy="157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永明未批核APE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4928235" y="709930"/>
            <a:ext cx="2082165" cy="3321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78.0M</a:t>
            </a:r>
            <a:endParaRPr lang="en-US" sz="2400" b="1" dirty="0">
              <a:solidFill>
                <a:srgbClr val="C8890A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4928235" y="1085850"/>
            <a:ext cx="1855470" cy="1301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未批核160件|  件均48.8万</a:t>
            </a: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/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7252970" y="510540"/>
            <a:ext cx="2232660" cy="662940"/>
          </a:xfrm>
          <a:prstGeom prst="rect">
            <a:avLst/>
          </a:prstGeom>
          <a:solidFill>
            <a:srgbClr val="FFFFFF"/>
          </a:solidFill>
          <a:ln w="15240">
            <a:solidFill>
              <a:srgbClr val="B7950B"/>
            </a:solidFill>
            <a:prstDash val="solid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7252970" y="510540"/>
            <a:ext cx="2232660" cy="76200"/>
          </a:xfrm>
          <a:prstGeom prst="rect">
            <a:avLst/>
          </a:prstGeom>
          <a:solidFill>
            <a:srgbClr val="B7950B"/>
          </a:solidFill>
          <a:ln w="12700">
            <a:solidFill>
              <a:srgbClr val="B7950B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7362825" y="583565"/>
            <a:ext cx="2106295" cy="1568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永明待签APE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7362825" y="709930"/>
            <a:ext cx="2106295" cy="33147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B7950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6.7M</a:t>
            </a:r>
            <a:endParaRPr lang="en-US" sz="2400" b="1" dirty="0">
              <a:solidFill>
                <a:srgbClr val="B7950B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7362825" y="1031875"/>
            <a:ext cx="2105025" cy="1530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待签19件  |  件均35.0万</a:t>
            </a:r>
            <a:endParaRPr lang="en-US" sz="750" dirty="0"/>
          </a:p>
        </p:txBody>
      </p:sp>
      <p:sp>
        <p:nvSpPr>
          <p:cNvPr id="26" name="Shape 24"/>
          <p:cNvSpPr/>
          <p:nvPr/>
        </p:nvSpPr>
        <p:spPr>
          <a:xfrm>
            <a:off x="167640" y="3905250"/>
            <a:ext cx="5803265" cy="2816860"/>
          </a:xfrm>
          <a:prstGeom prst="rect">
            <a:avLst/>
          </a:prstGeom>
          <a:solidFill>
            <a:srgbClr val="FFFFFF"/>
          </a:solidFill>
          <a:ln w="7620">
            <a:solidFill>
              <a:srgbClr val="D0D8E8"/>
            </a:solidFill>
            <a:prstDash val="solid"/>
          </a:ln>
          <a:effectLst>
            <a:outerShdw blurRad="381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>
            <a:off x="167640" y="3898265"/>
            <a:ext cx="5803265" cy="226695"/>
          </a:xfrm>
          <a:prstGeom prst="rect">
            <a:avLst/>
          </a:prstGeom>
          <a:solidFill>
            <a:srgbClr val="1A7A3F"/>
          </a:solidFill>
          <a:ln w="1270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259080" y="3932555"/>
            <a:ext cx="2362200" cy="1739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H 永明月度预约/签单/批核 APE 趋势</a:t>
            </a:r>
            <a:endParaRPr lang="en-US" sz="750" dirty="0"/>
          </a:p>
        </p:txBody>
      </p:sp>
      <p:graphicFrame>
        <p:nvGraphicFramePr>
          <p:cNvPr id="29" name="Chart 0"/>
          <p:cNvGraphicFramePr/>
          <p:nvPr/>
        </p:nvGraphicFramePr>
        <p:xfrm>
          <a:off x="240030" y="4187825"/>
          <a:ext cx="5572125" cy="20878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30" name="Shape 27"/>
          <p:cNvSpPr/>
          <p:nvPr/>
        </p:nvSpPr>
        <p:spPr>
          <a:xfrm>
            <a:off x="167640" y="6337935"/>
            <a:ext cx="5803265" cy="367665"/>
          </a:xfrm>
          <a:prstGeom prst="rect">
            <a:avLst/>
          </a:prstGeom>
          <a:solidFill>
            <a:srgbClr val="EEF2FF"/>
          </a:solidFill>
          <a:ln w="508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31" name="Shape 28"/>
          <p:cNvSpPr/>
          <p:nvPr/>
        </p:nvSpPr>
        <p:spPr>
          <a:xfrm>
            <a:off x="167640" y="6308090"/>
            <a:ext cx="5803265" cy="28800"/>
          </a:xfrm>
          <a:prstGeom prst="rect">
            <a:avLst/>
          </a:prstGeom>
          <a:solidFill>
            <a:srgbClr val="1A7A3F"/>
          </a:solidFill>
          <a:ln w="3175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32" name="Text 29"/>
          <p:cNvSpPr/>
          <p:nvPr/>
        </p:nvSpPr>
        <p:spPr>
          <a:xfrm>
            <a:off x="250190" y="6374765"/>
            <a:ext cx="635635" cy="1193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650" b="1" dirty="0">
              <a:solidFill>
                <a:srgbClr val="1A7A3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3" name="Text 30"/>
          <p:cNvSpPr/>
          <p:nvPr/>
        </p:nvSpPr>
        <p:spPr>
          <a:xfrm>
            <a:off x="219456" y="6502273"/>
            <a:ext cx="5157216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 TOP10 产品累计签单 130.8M（163 件），集中度高。头部产品「万年青·卓金保险计划II」贡献 27.2M/45 件，件均 60.4 万。中小额产品虽件数占比大，但单均偏低，需关注大单产品的持续性供给。</a:t>
            </a:r>
            <a:endParaRPr lang="en-US" sz="550" dirty="0"/>
          </a:p>
        </p:txBody>
      </p:sp>
      <p:sp>
        <p:nvSpPr>
          <p:cNvPr id="34" name="Shape 31"/>
          <p:cNvSpPr/>
          <p:nvPr/>
        </p:nvSpPr>
        <p:spPr>
          <a:xfrm>
            <a:off x="144780" y="1240790"/>
            <a:ext cx="11828145" cy="2524760"/>
          </a:xfrm>
          <a:prstGeom prst="rect">
            <a:avLst/>
          </a:prstGeom>
          <a:solidFill>
            <a:srgbClr val="FFFFFF"/>
          </a:solidFill>
          <a:ln w="7620">
            <a:solidFill>
              <a:srgbClr val="D0D8E8"/>
            </a:solidFill>
            <a:prstDash val="solid"/>
          </a:ln>
          <a:effectLst>
            <a:outerShdw blurRad="381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p>
            <a:endParaRPr lang="zh-CN" altLang="en-US"/>
          </a:p>
        </p:txBody>
      </p:sp>
      <p:sp>
        <p:nvSpPr>
          <p:cNvPr id="35" name="Shape 32"/>
          <p:cNvSpPr/>
          <p:nvPr/>
        </p:nvSpPr>
        <p:spPr>
          <a:xfrm>
            <a:off x="144780" y="1278890"/>
            <a:ext cx="11828145" cy="241300"/>
          </a:xfrm>
          <a:prstGeom prst="rect">
            <a:avLst/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p/>
        </p:txBody>
      </p:sp>
      <p:sp>
        <p:nvSpPr>
          <p:cNvPr id="36" name="Text 33"/>
          <p:cNvSpPr/>
          <p:nvPr/>
        </p:nvSpPr>
        <p:spPr>
          <a:xfrm>
            <a:off x="236220" y="1306830"/>
            <a:ext cx="11683365" cy="1949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G.  永明业绩汇报数据-2026  |</a:t>
            </a:r>
            <a:endParaRPr lang="en-US" sz="750" dirty="0"/>
          </a:p>
        </p:txBody>
      </p:sp>
      <p:sp>
        <p:nvSpPr>
          <p:cNvPr id="98" name="Shape 95"/>
          <p:cNvSpPr/>
          <p:nvPr/>
        </p:nvSpPr>
        <p:spPr>
          <a:xfrm>
            <a:off x="6243320" y="3890645"/>
            <a:ext cx="5667375" cy="2838450"/>
          </a:xfrm>
          <a:prstGeom prst="rect">
            <a:avLst/>
          </a:prstGeom>
          <a:solidFill>
            <a:srgbClr val="FFFFFF"/>
          </a:solidFill>
          <a:ln w="7620">
            <a:solidFill>
              <a:srgbClr val="D0D8E8"/>
            </a:solidFill>
            <a:prstDash val="solid"/>
          </a:ln>
          <a:effectLst>
            <a:outerShdw blurRad="381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99" name="Shape 96"/>
          <p:cNvSpPr/>
          <p:nvPr/>
        </p:nvSpPr>
        <p:spPr>
          <a:xfrm>
            <a:off x="6244590" y="3896995"/>
            <a:ext cx="5674360" cy="208280"/>
          </a:xfrm>
          <a:prstGeom prst="rect">
            <a:avLst/>
          </a:prstGeom>
          <a:solidFill>
            <a:srgbClr val="6D4C41"/>
          </a:solidFill>
          <a:ln w="12700">
            <a:solidFill>
              <a:srgbClr val="6D4C41"/>
            </a:solidFill>
            <a:prstDash val="solid"/>
          </a:ln>
        </p:spPr>
        <p:txBody>
          <a:bodyPr/>
          <a:p/>
        </p:txBody>
      </p:sp>
      <p:sp>
        <p:nvSpPr>
          <p:cNvPr id="100" name="Text 97"/>
          <p:cNvSpPr/>
          <p:nvPr/>
        </p:nvSpPr>
        <p:spPr>
          <a:xfrm>
            <a:off x="6386195" y="3903980"/>
            <a:ext cx="1629410" cy="19177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  永明 2026年签单产品排名  </a:t>
            </a:r>
            <a:endParaRPr lang="en-US" sz="750" dirty="0"/>
          </a:p>
        </p:txBody>
      </p:sp>
      <p:sp>
        <p:nvSpPr>
          <p:cNvPr id="101" name="Shape 98"/>
          <p:cNvSpPr/>
          <p:nvPr/>
        </p:nvSpPr>
        <p:spPr>
          <a:xfrm>
            <a:off x="6271895" y="4171315"/>
            <a:ext cx="5600065" cy="219710"/>
          </a:xfrm>
          <a:prstGeom prst="rect">
            <a:avLst/>
          </a:prstGeom>
          <a:solidFill>
            <a:srgbClr val="6D4C41"/>
          </a:solidFill>
          <a:ln w="12700">
            <a:solidFill>
              <a:srgbClr val="6D4C41"/>
            </a:solidFill>
            <a:prstDash val="solid"/>
          </a:ln>
        </p:spPr>
        <p:txBody>
          <a:bodyPr/>
          <a:p/>
        </p:txBody>
      </p:sp>
      <p:sp>
        <p:nvSpPr>
          <p:cNvPr id="102" name="Text 99"/>
          <p:cNvSpPr/>
          <p:nvPr/>
        </p:nvSpPr>
        <p:spPr>
          <a:xfrm>
            <a:off x="6496812" y="4208018"/>
            <a:ext cx="219456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#</a:t>
            </a:r>
            <a:endParaRPr lang="en-US" sz="650" dirty="0"/>
          </a:p>
        </p:txBody>
      </p:sp>
      <p:sp>
        <p:nvSpPr>
          <p:cNvPr id="103" name="Text 100"/>
          <p:cNvSpPr/>
          <p:nvPr/>
        </p:nvSpPr>
        <p:spPr>
          <a:xfrm>
            <a:off x="6752844" y="4208018"/>
            <a:ext cx="420624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保司</a:t>
            </a:r>
            <a:endParaRPr lang="en-US" sz="650" dirty="0"/>
          </a:p>
        </p:txBody>
      </p:sp>
      <p:sp>
        <p:nvSpPr>
          <p:cNvPr id="104" name="Text 101"/>
          <p:cNvSpPr/>
          <p:nvPr/>
        </p:nvSpPr>
        <p:spPr>
          <a:xfrm>
            <a:off x="7137400" y="4226560"/>
            <a:ext cx="1285875" cy="1276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产品名称（签单期）</a:t>
            </a:r>
            <a:endParaRPr lang="en-US" sz="650" dirty="0"/>
          </a:p>
        </p:txBody>
      </p:sp>
      <p:sp>
        <p:nvSpPr>
          <p:cNvPr id="105" name="Text 102"/>
          <p:cNvSpPr/>
          <p:nvPr/>
        </p:nvSpPr>
        <p:spPr>
          <a:xfrm>
            <a:off x="9606534" y="4217543"/>
            <a:ext cx="621792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6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总</a:t>
            </a:r>
            <a:r>
              <a:rPr lang="en-US" sz="6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签单件数</a:t>
            </a:r>
            <a:endParaRPr lang="en-US" sz="650" dirty="0"/>
          </a:p>
        </p:txBody>
      </p:sp>
      <p:sp>
        <p:nvSpPr>
          <p:cNvPr id="106" name="Text 103"/>
          <p:cNvSpPr/>
          <p:nvPr/>
        </p:nvSpPr>
        <p:spPr>
          <a:xfrm>
            <a:off x="10264902" y="4217543"/>
            <a:ext cx="859536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6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总</a:t>
            </a:r>
            <a:r>
              <a:rPr lang="en-US" sz="6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签单APE(M)</a:t>
            </a:r>
            <a:endParaRPr lang="en-US" sz="650" dirty="0"/>
          </a:p>
        </p:txBody>
      </p:sp>
      <p:sp>
        <p:nvSpPr>
          <p:cNvPr id="107" name="Text 104"/>
          <p:cNvSpPr/>
          <p:nvPr/>
        </p:nvSpPr>
        <p:spPr>
          <a:xfrm>
            <a:off x="11161014" y="4217543"/>
            <a:ext cx="768096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件均(万)</a:t>
            </a:r>
            <a:endParaRPr lang="en-US" sz="650" dirty="0"/>
          </a:p>
        </p:txBody>
      </p:sp>
      <p:sp>
        <p:nvSpPr>
          <p:cNvPr id="108" name="Shape 105"/>
          <p:cNvSpPr/>
          <p:nvPr/>
        </p:nvSpPr>
        <p:spPr>
          <a:xfrm>
            <a:off x="6270625" y="4407535"/>
            <a:ext cx="5601335" cy="201295"/>
          </a:xfrm>
          <a:prstGeom prst="rect">
            <a:avLst/>
          </a:prstGeom>
          <a:solidFill>
            <a:srgbClr val="FFF8F5"/>
          </a:solidFill>
          <a:ln w="7620">
            <a:solidFill>
              <a:srgbClr val="D4875A"/>
            </a:solidFill>
            <a:prstDash val="solid"/>
          </a:ln>
        </p:spPr>
        <p:txBody>
          <a:bodyPr/>
          <a:p/>
        </p:txBody>
      </p:sp>
      <p:sp>
        <p:nvSpPr>
          <p:cNvPr id="109" name="Shape 106"/>
          <p:cNvSpPr/>
          <p:nvPr/>
        </p:nvSpPr>
        <p:spPr>
          <a:xfrm>
            <a:off x="6460236" y="4409186"/>
            <a:ext cx="36576" cy="199339"/>
          </a:xfrm>
          <a:prstGeom prst="rect">
            <a:avLst/>
          </a:prstGeom>
          <a:solidFill>
            <a:srgbClr val="6D4C41"/>
          </a:solidFill>
          <a:ln w="12700">
            <a:solidFill>
              <a:srgbClr val="6D4C41"/>
            </a:solidFill>
            <a:prstDash val="solid"/>
          </a:ln>
        </p:spPr>
        <p:txBody>
          <a:bodyPr/>
          <a:p/>
        </p:txBody>
      </p:sp>
      <p:sp>
        <p:nvSpPr>
          <p:cNvPr id="110" name="Text 107"/>
          <p:cNvSpPr/>
          <p:nvPr/>
        </p:nvSpPr>
        <p:spPr>
          <a:xfrm>
            <a:off x="6515100" y="4436618"/>
            <a:ext cx="20116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</a:t>
            </a:r>
            <a:endParaRPr lang="en-US" sz="800" dirty="0"/>
          </a:p>
        </p:txBody>
      </p:sp>
      <p:sp>
        <p:nvSpPr>
          <p:cNvPr id="111" name="Text 108"/>
          <p:cNvSpPr/>
          <p:nvPr/>
        </p:nvSpPr>
        <p:spPr>
          <a:xfrm>
            <a:off x="6771132" y="4436618"/>
            <a:ext cx="40233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800" dirty="0"/>
          </a:p>
        </p:txBody>
      </p:sp>
      <p:sp>
        <p:nvSpPr>
          <p:cNvPr id="112" name="Text 109"/>
          <p:cNvSpPr/>
          <p:nvPr/>
        </p:nvSpPr>
        <p:spPr>
          <a:xfrm>
            <a:off x="7228205" y="4435475"/>
            <a:ext cx="1398270" cy="1447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万年青·卓金保险计划II（5年）</a:t>
            </a:r>
            <a:endParaRPr lang="en-US" sz="750" dirty="0"/>
          </a:p>
        </p:txBody>
      </p:sp>
      <p:sp>
        <p:nvSpPr>
          <p:cNvPr id="113" name="Text 110"/>
          <p:cNvSpPr/>
          <p:nvPr/>
        </p:nvSpPr>
        <p:spPr>
          <a:xfrm>
            <a:off x="9624822" y="4446143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45</a:t>
            </a:r>
            <a:endParaRPr lang="en-US" sz="800" dirty="0"/>
          </a:p>
        </p:txBody>
      </p:sp>
      <p:sp>
        <p:nvSpPr>
          <p:cNvPr id="114" name="Text 111"/>
          <p:cNvSpPr/>
          <p:nvPr/>
        </p:nvSpPr>
        <p:spPr>
          <a:xfrm>
            <a:off x="10283190" y="4446143"/>
            <a:ext cx="84124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27.18M</a:t>
            </a:r>
            <a:endParaRPr lang="en-US" sz="800" dirty="0"/>
          </a:p>
        </p:txBody>
      </p:sp>
      <p:sp>
        <p:nvSpPr>
          <p:cNvPr id="115" name="Text 112"/>
          <p:cNvSpPr/>
          <p:nvPr/>
        </p:nvSpPr>
        <p:spPr>
          <a:xfrm>
            <a:off x="11179302" y="4446143"/>
            <a:ext cx="74980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60.4万</a:t>
            </a:r>
            <a:endParaRPr lang="en-US" sz="800" dirty="0"/>
          </a:p>
        </p:txBody>
      </p:sp>
      <p:sp>
        <p:nvSpPr>
          <p:cNvPr id="117" name="Shape 114"/>
          <p:cNvSpPr/>
          <p:nvPr/>
        </p:nvSpPr>
        <p:spPr>
          <a:xfrm>
            <a:off x="6270625" y="4608830"/>
            <a:ext cx="5601335" cy="208280"/>
          </a:xfrm>
          <a:prstGeom prst="rect">
            <a:avLst/>
          </a:prstGeom>
          <a:solidFill>
            <a:srgbClr val="FFF8F5"/>
          </a:solidFill>
          <a:ln w="7620">
            <a:solidFill>
              <a:srgbClr val="D4875A"/>
            </a:solidFill>
            <a:prstDash val="solid"/>
          </a:ln>
        </p:spPr>
        <p:txBody>
          <a:bodyPr/>
          <a:p/>
        </p:txBody>
      </p:sp>
      <p:sp>
        <p:nvSpPr>
          <p:cNvPr id="118" name="Shape 115"/>
          <p:cNvSpPr/>
          <p:nvPr/>
        </p:nvSpPr>
        <p:spPr>
          <a:xfrm>
            <a:off x="6460236" y="4617669"/>
            <a:ext cx="36576" cy="199339"/>
          </a:xfrm>
          <a:prstGeom prst="rect">
            <a:avLst/>
          </a:prstGeom>
          <a:solidFill>
            <a:srgbClr val="6D4C41"/>
          </a:solidFill>
          <a:ln w="12700">
            <a:solidFill>
              <a:srgbClr val="6D4C41"/>
            </a:solidFill>
            <a:prstDash val="solid"/>
          </a:ln>
        </p:spPr>
        <p:txBody>
          <a:bodyPr/>
          <a:p/>
        </p:txBody>
      </p:sp>
      <p:sp>
        <p:nvSpPr>
          <p:cNvPr id="119" name="Text 116"/>
          <p:cNvSpPr/>
          <p:nvPr/>
        </p:nvSpPr>
        <p:spPr>
          <a:xfrm>
            <a:off x="6515100" y="4645101"/>
            <a:ext cx="20116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</a:t>
            </a:r>
            <a:endParaRPr lang="en-US" sz="800" dirty="0"/>
          </a:p>
        </p:txBody>
      </p:sp>
      <p:sp>
        <p:nvSpPr>
          <p:cNvPr id="120" name="Text 117"/>
          <p:cNvSpPr/>
          <p:nvPr/>
        </p:nvSpPr>
        <p:spPr>
          <a:xfrm>
            <a:off x="6771132" y="4645101"/>
            <a:ext cx="40233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800" dirty="0"/>
          </a:p>
        </p:txBody>
      </p:sp>
      <p:sp>
        <p:nvSpPr>
          <p:cNvPr id="121" name="Text 118"/>
          <p:cNvSpPr/>
          <p:nvPr/>
        </p:nvSpPr>
        <p:spPr>
          <a:xfrm>
            <a:off x="7228332" y="4645101"/>
            <a:ext cx="277977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万年青·星河尊享保险计划II（2年）</a:t>
            </a:r>
            <a:endParaRPr lang="en-US" sz="750" dirty="0"/>
          </a:p>
        </p:txBody>
      </p:sp>
      <p:sp>
        <p:nvSpPr>
          <p:cNvPr id="122" name="Text 119"/>
          <p:cNvSpPr/>
          <p:nvPr/>
        </p:nvSpPr>
        <p:spPr>
          <a:xfrm>
            <a:off x="9624822" y="4654626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18</a:t>
            </a:r>
            <a:endParaRPr lang="en-US" sz="800" dirty="0"/>
          </a:p>
        </p:txBody>
      </p:sp>
      <p:sp>
        <p:nvSpPr>
          <p:cNvPr id="123" name="Text 120"/>
          <p:cNvSpPr/>
          <p:nvPr/>
        </p:nvSpPr>
        <p:spPr>
          <a:xfrm>
            <a:off x="10283190" y="4654626"/>
            <a:ext cx="84124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18.19M</a:t>
            </a:r>
            <a:endParaRPr lang="en-US" sz="800" dirty="0"/>
          </a:p>
        </p:txBody>
      </p:sp>
      <p:sp>
        <p:nvSpPr>
          <p:cNvPr id="124" name="Text 121"/>
          <p:cNvSpPr/>
          <p:nvPr/>
        </p:nvSpPr>
        <p:spPr>
          <a:xfrm>
            <a:off x="11179302" y="4654626"/>
            <a:ext cx="74980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101.0万</a:t>
            </a:r>
            <a:endParaRPr lang="en-US" sz="800" dirty="0"/>
          </a:p>
        </p:txBody>
      </p:sp>
      <p:sp>
        <p:nvSpPr>
          <p:cNvPr id="126" name="Shape 123"/>
          <p:cNvSpPr/>
          <p:nvPr/>
        </p:nvSpPr>
        <p:spPr>
          <a:xfrm>
            <a:off x="6272530" y="4826000"/>
            <a:ext cx="5599430" cy="199390"/>
          </a:xfrm>
          <a:prstGeom prst="rect">
            <a:avLst/>
          </a:prstGeom>
          <a:solidFill>
            <a:srgbClr val="FFF8F5"/>
          </a:solidFill>
          <a:ln w="7620">
            <a:solidFill>
              <a:srgbClr val="D4875A"/>
            </a:solidFill>
            <a:prstDash val="solid"/>
          </a:ln>
        </p:spPr>
        <p:txBody>
          <a:bodyPr/>
          <a:p/>
        </p:txBody>
      </p:sp>
      <p:sp>
        <p:nvSpPr>
          <p:cNvPr id="127" name="Shape 124"/>
          <p:cNvSpPr/>
          <p:nvPr/>
        </p:nvSpPr>
        <p:spPr>
          <a:xfrm>
            <a:off x="6460236" y="4826152"/>
            <a:ext cx="36576" cy="199339"/>
          </a:xfrm>
          <a:prstGeom prst="rect">
            <a:avLst/>
          </a:prstGeom>
          <a:solidFill>
            <a:srgbClr val="6D4C41"/>
          </a:solidFill>
          <a:ln w="12700">
            <a:solidFill>
              <a:srgbClr val="6D4C41"/>
            </a:solidFill>
            <a:prstDash val="solid"/>
          </a:ln>
        </p:spPr>
        <p:txBody>
          <a:bodyPr/>
          <a:p/>
        </p:txBody>
      </p:sp>
      <p:sp>
        <p:nvSpPr>
          <p:cNvPr id="128" name="Text 125"/>
          <p:cNvSpPr/>
          <p:nvPr/>
        </p:nvSpPr>
        <p:spPr>
          <a:xfrm>
            <a:off x="6515100" y="4853584"/>
            <a:ext cx="20116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</a:t>
            </a:r>
            <a:endParaRPr lang="en-US" sz="800" dirty="0"/>
          </a:p>
        </p:txBody>
      </p:sp>
      <p:sp>
        <p:nvSpPr>
          <p:cNvPr id="129" name="Text 126"/>
          <p:cNvSpPr/>
          <p:nvPr/>
        </p:nvSpPr>
        <p:spPr>
          <a:xfrm>
            <a:off x="6771132" y="4853584"/>
            <a:ext cx="40233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800" dirty="0"/>
          </a:p>
        </p:txBody>
      </p:sp>
      <p:sp>
        <p:nvSpPr>
          <p:cNvPr id="130" name="Text 127"/>
          <p:cNvSpPr/>
          <p:nvPr/>
        </p:nvSpPr>
        <p:spPr>
          <a:xfrm>
            <a:off x="7228332" y="4853584"/>
            <a:ext cx="277977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永誉传承储蓄计划（1年）</a:t>
            </a:r>
            <a:endParaRPr lang="en-US" sz="750" dirty="0"/>
          </a:p>
        </p:txBody>
      </p:sp>
      <p:sp>
        <p:nvSpPr>
          <p:cNvPr id="131" name="Text 128"/>
          <p:cNvSpPr/>
          <p:nvPr/>
        </p:nvSpPr>
        <p:spPr>
          <a:xfrm>
            <a:off x="9624822" y="4863109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13</a:t>
            </a:r>
            <a:endParaRPr lang="en-US" sz="800" dirty="0"/>
          </a:p>
        </p:txBody>
      </p:sp>
      <p:sp>
        <p:nvSpPr>
          <p:cNvPr id="132" name="Text 129"/>
          <p:cNvSpPr/>
          <p:nvPr/>
        </p:nvSpPr>
        <p:spPr>
          <a:xfrm>
            <a:off x="10283190" y="4863109"/>
            <a:ext cx="84124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16.77M</a:t>
            </a:r>
            <a:endParaRPr lang="en-US" sz="800" dirty="0"/>
          </a:p>
        </p:txBody>
      </p:sp>
      <p:sp>
        <p:nvSpPr>
          <p:cNvPr id="133" name="Text 130"/>
          <p:cNvSpPr/>
          <p:nvPr/>
        </p:nvSpPr>
        <p:spPr>
          <a:xfrm>
            <a:off x="11179302" y="4863109"/>
            <a:ext cx="74980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129.0万</a:t>
            </a:r>
            <a:endParaRPr lang="en-US" sz="800" dirty="0"/>
          </a:p>
        </p:txBody>
      </p:sp>
      <p:sp>
        <p:nvSpPr>
          <p:cNvPr id="135" name="Shape 132"/>
          <p:cNvSpPr/>
          <p:nvPr/>
        </p:nvSpPr>
        <p:spPr>
          <a:xfrm>
            <a:off x="6270625" y="5034280"/>
            <a:ext cx="5601335" cy="200025"/>
          </a:xfrm>
          <a:prstGeom prst="rect">
            <a:avLst/>
          </a:prstGeom>
          <a:solidFill>
            <a:srgbClr val="FFFFFF"/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36" name="Shape 133"/>
          <p:cNvSpPr/>
          <p:nvPr/>
        </p:nvSpPr>
        <p:spPr>
          <a:xfrm>
            <a:off x="6460236" y="5034636"/>
            <a:ext cx="36576" cy="199339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137" name="Text 134"/>
          <p:cNvSpPr/>
          <p:nvPr/>
        </p:nvSpPr>
        <p:spPr>
          <a:xfrm>
            <a:off x="6515100" y="5062068"/>
            <a:ext cx="20116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</a:t>
            </a:r>
            <a:endParaRPr lang="en-US" sz="800" dirty="0"/>
          </a:p>
        </p:txBody>
      </p:sp>
      <p:sp>
        <p:nvSpPr>
          <p:cNvPr id="138" name="Text 135"/>
          <p:cNvSpPr/>
          <p:nvPr/>
        </p:nvSpPr>
        <p:spPr>
          <a:xfrm>
            <a:off x="6771132" y="5062068"/>
            <a:ext cx="40233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800" dirty="0"/>
          </a:p>
        </p:txBody>
      </p:sp>
      <p:sp>
        <p:nvSpPr>
          <p:cNvPr id="139" name="Text 136"/>
          <p:cNvSpPr/>
          <p:nvPr/>
        </p:nvSpPr>
        <p:spPr>
          <a:xfrm>
            <a:off x="7228332" y="5062068"/>
            <a:ext cx="277977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万年青·星河尊享保险计划II（2年）</a:t>
            </a:r>
            <a:endParaRPr lang="en-US" sz="750" dirty="0"/>
          </a:p>
        </p:txBody>
      </p:sp>
      <p:sp>
        <p:nvSpPr>
          <p:cNvPr id="140" name="Text 137"/>
          <p:cNvSpPr/>
          <p:nvPr/>
        </p:nvSpPr>
        <p:spPr>
          <a:xfrm>
            <a:off x="9624822" y="5071593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33</a:t>
            </a:r>
            <a:endParaRPr lang="en-US" sz="800" dirty="0"/>
          </a:p>
        </p:txBody>
      </p:sp>
      <p:sp>
        <p:nvSpPr>
          <p:cNvPr id="141" name="Text 138"/>
          <p:cNvSpPr/>
          <p:nvPr/>
        </p:nvSpPr>
        <p:spPr>
          <a:xfrm>
            <a:off x="10283190" y="5071593"/>
            <a:ext cx="84124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15.24M</a:t>
            </a:r>
            <a:endParaRPr lang="en-US" sz="800" dirty="0"/>
          </a:p>
        </p:txBody>
      </p:sp>
      <p:sp>
        <p:nvSpPr>
          <p:cNvPr id="142" name="Text 139"/>
          <p:cNvSpPr/>
          <p:nvPr/>
        </p:nvSpPr>
        <p:spPr>
          <a:xfrm>
            <a:off x="11179302" y="5071593"/>
            <a:ext cx="74980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46.2万</a:t>
            </a:r>
            <a:endParaRPr lang="en-US" sz="800" dirty="0"/>
          </a:p>
        </p:txBody>
      </p:sp>
      <p:sp>
        <p:nvSpPr>
          <p:cNvPr id="144" name="Shape 141"/>
          <p:cNvSpPr/>
          <p:nvPr/>
        </p:nvSpPr>
        <p:spPr>
          <a:xfrm>
            <a:off x="6270625" y="5239385"/>
            <a:ext cx="5601335" cy="203200"/>
          </a:xfrm>
          <a:prstGeom prst="rect">
            <a:avLst/>
          </a:prstGeom>
          <a:solidFill>
            <a:srgbClr val="F5F7FA"/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45" name="Shape 142"/>
          <p:cNvSpPr/>
          <p:nvPr/>
        </p:nvSpPr>
        <p:spPr>
          <a:xfrm>
            <a:off x="6460236" y="5243119"/>
            <a:ext cx="36576" cy="199339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146" name="Text 143"/>
          <p:cNvSpPr/>
          <p:nvPr/>
        </p:nvSpPr>
        <p:spPr>
          <a:xfrm>
            <a:off x="6515100" y="5270551"/>
            <a:ext cx="20116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</a:t>
            </a:r>
            <a:endParaRPr lang="en-US" sz="800" dirty="0"/>
          </a:p>
        </p:txBody>
      </p:sp>
      <p:sp>
        <p:nvSpPr>
          <p:cNvPr id="147" name="Text 144"/>
          <p:cNvSpPr/>
          <p:nvPr/>
        </p:nvSpPr>
        <p:spPr>
          <a:xfrm>
            <a:off x="6771132" y="5270551"/>
            <a:ext cx="40233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800" dirty="0"/>
          </a:p>
        </p:txBody>
      </p:sp>
      <p:sp>
        <p:nvSpPr>
          <p:cNvPr id="148" name="Text 145"/>
          <p:cNvSpPr/>
          <p:nvPr/>
        </p:nvSpPr>
        <p:spPr>
          <a:xfrm>
            <a:off x="7228332" y="5270551"/>
            <a:ext cx="277977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万年青·星河尊享保险计划II（5年）</a:t>
            </a:r>
            <a:endParaRPr lang="en-US" sz="750" dirty="0"/>
          </a:p>
        </p:txBody>
      </p:sp>
      <p:sp>
        <p:nvSpPr>
          <p:cNvPr id="149" name="Text 146"/>
          <p:cNvSpPr/>
          <p:nvPr/>
        </p:nvSpPr>
        <p:spPr>
          <a:xfrm>
            <a:off x="9624822" y="5280076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</a:t>
            </a:r>
            <a:endParaRPr lang="en-US" sz="800" dirty="0"/>
          </a:p>
        </p:txBody>
      </p:sp>
      <p:sp>
        <p:nvSpPr>
          <p:cNvPr id="150" name="Text 147"/>
          <p:cNvSpPr/>
          <p:nvPr/>
        </p:nvSpPr>
        <p:spPr>
          <a:xfrm>
            <a:off x="10283190" y="5280076"/>
            <a:ext cx="84124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11.70M</a:t>
            </a:r>
            <a:endParaRPr lang="en-US" sz="800" dirty="0"/>
          </a:p>
        </p:txBody>
      </p:sp>
      <p:sp>
        <p:nvSpPr>
          <p:cNvPr id="151" name="Text 148"/>
          <p:cNvSpPr/>
          <p:nvPr/>
        </p:nvSpPr>
        <p:spPr>
          <a:xfrm>
            <a:off x="11179302" y="5280076"/>
            <a:ext cx="74980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146.2万</a:t>
            </a:r>
            <a:endParaRPr lang="en-US" sz="800" dirty="0"/>
          </a:p>
        </p:txBody>
      </p:sp>
      <p:sp>
        <p:nvSpPr>
          <p:cNvPr id="153" name="Shape 150"/>
          <p:cNvSpPr/>
          <p:nvPr/>
        </p:nvSpPr>
        <p:spPr>
          <a:xfrm>
            <a:off x="6270625" y="5456555"/>
            <a:ext cx="5601335" cy="194310"/>
          </a:xfrm>
          <a:prstGeom prst="rect">
            <a:avLst/>
          </a:prstGeom>
          <a:solidFill>
            <a:srgbClr val="FFFFFF"/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54" name="Shape 151"/>
          <p:cNvSpPr/>
          <p:nvPr/>
        </p:nvSpPr>
        <p:spPr>
          <a:xfrm>
            <a:off x="6460236" y="5451602"/>
            <a:ext cx="36576" cy="199339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155" name="Text 152"/>
          <p:cNvSpPr/>
          <p:nvPr/>
        </p:nvSpPr>
        <p:spPr>
          <a:xfrm>
            <a:off x="6515100" y="5479034"/>
            <a:ext cx="20116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</a:t>
            </a:r>
            <a:endParaRPr lang="en-US" sz="800" dirty="0"/>
          </a:p>
        </p:txBody>
      </p:sp>
      <p:sp>
        <p:nvSpPr>
          <p:cNvPr id="156" name="Text 153"/>
          <p:cNvSpPr/>
          <p:nvPr/>
        </p:nvSpPr>
        <p:spPr>
          <a:xfrm>
            <a:off x="6771132" y="5479034"/>
            <a:ext cx="40233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800" dirty="0"/>
          </a:p>
        </p:txBody>
      </p:sp>
      <p:sp>
        <p:nvSpPr>
          <p:cNvPr id="158" name="Text 155"/>
          <p:cNvSpPr/>
          <p:nvPr/>
        </p:nvSpPr>
        <p:spPr>
          <a:xfrm>
            <a:off x="9615297" y="5479034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</a:t>
            </a:r>
            <a:endParaRPr lang="en-US" sz="800" dirty="0"/>
          </a:p>
        </p:txBody>
      </p:sp>
      <p:sp>
        <p:nvSpPr>
          <p:cNvPr id="159" name="Text 156"/>
          <p:cNvSpPr/>
          <p:nvPr/>
        </p:nvSpPr>
        <p:spPr>
          <a:xfrm>
            <a:off x="10283190" y="5488559"/>
            <a:ext cx="84124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11.68M</a:t>
            </a:r>
            <a:endParaRPr lang="en-US" sz="800" dirty="0"/>
          </a:p>
        </p:txBody>
      </p:sp>
      <p:sp>
        <p:nvSpPr>
          <p:cNvPr id="160" name="Text 157"/>
          <p:cNvSpPr/>
          <p:nvPr/>
        </p:nvSpPr>
        <p:spPr>
          <a:xfrm>
            <a:off x="11179302" y="5488559"/>
            <a:ext cx="74980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146.0万</a:t>
            </a:r>
            <a:endParaRPr lang="en-US" sz="800" dirty="0"/>
          </a:p>
        </p:txBody>
      </p:sp>
      <p:sp>
        <p:nvSpPr>
          <p:cNvPr id="162" name="Shape 159"/>
          <p:cNvSpPr/>
          <p:nvPr/>
        </p:nvSpPr>
        <p:spPr>
          <a:xfrm>
            <a:off x="6270625" y="5660390"/>
            <a:ext cx="5601335" cy="199390"/>
          </a:xfrm>
          <a:prstGeom prst="rect">
            <a:avLst/>
          </a:prstGeom>
          <a:solidFill>
            <a:srgbClr val="F5F7FA"/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63" name="Shape 160"/>
          <p:cNvSpPr/>
          <p:nvPr/>
        </p:nvSpPr>
        <p:spPr>
          <a:xfrm>
            <a:off x="6460236" y="5660085"/>
            <a:ext cx="36576" cy="199339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164" name="Text 161"/>
          <p:cNvSpPr/>
          <p:nvPr/>
        </p:nvSpPr>
        <p:spPr>
          <a:xfrm>
            <a:off x="6515100" y="5687517"/>
            <a:ext cx="20116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</a:t>
            </a:r>
            <a:endParaRPr lang="en-US" sz="800" dirty="0"/>
          </a:p>
        </p:txBody>
      </p:sp>
      <p:sp>
        <p:nvSpPr>
          <p:cNvPr id="165" name="Text 162"/>
          <p:cNvSpPr/>
          <p:nvPr/>
        </p:nvSpPr>
        <p:spPr>
          <a:xfrm>
            <a:off x="6771132" y="5687517"/>
            <a:ext cx="40233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800" dirty="0"/>
          </a:p>
        </p:txBody>
      </p:sp>
      <p:sp>
        <p:nvSpPr>
          <p:cNvPr id="167" name="Text 164"/>
          <p:cNvSpPr/>
          <p:nvPr/>
        </p:nvSpPr>
        <p:spPr>
          <a:xfrm>
            <a:off x="9624822" y="5697042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</a:t>
            </a:r>
            <a:endParaRPr lang="en-US" sz="800" dirty="0"/>
          </a:p>
        </p:txBody>
      </p:sp>
      <p:sp>
        <p:nvSpPr>
          <p:cNvPr id="168" name="Text 165"/>
          <p:cNvSpPr/>
          <p:nvPr/>
        </p:nvSpPr>
        <p:spPr>
          <a:xfrm>
            <a:off x="10283190" y="5697042"/>
            <a:ext cx="84124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9.75M</a:t>
            </a:r>
            <a:endParaRPr lang="en-US" sz="800" dirty="0"/>
          </a:p>
        </p:txBody>
      </p:sp>
      <p:sp>
        <p:nvSpPr>
          <p:cNvPr id="171" name="Shape 168"/>
          <p:cNvSpPr/>
          <p:nvPr/>
        </p:nvSpPr>
        <p:spPr>
          <a:xfrm>
            <a:off x="6270625" y="5868035"/>
            <a:ext cx="5601335" cy="200025"/>
          </a:xfrm>
          <a:prstGeom prst="rect">
            <a:avLst/>
          </a:prstGeom>
          <a:solidFill>
            <a:srgbClr val="FFFFFF"/>
          </a:solidFill>
          <a:ln w="2540">
            <a:solidFill>
              <a:srgbClr val="E8ECF0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172" name="Shape 169"/>
          <p:cNvSpPr/>
          <p:nvPr/>
        </p:nvSpPr>
        <p:spPr>
          <a:xfrm>
            <a:off x="6460236" y="5868568"/>
            <a:ext cx="36576" cy="199339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173" name="Text 170"/>
          <p:cNvSpPr/>
          <p:nvPr/>
        </p:nvSpPr>
        <p:spPr>
          <a:xfrm>
            <a:off x="6515100" y="5896000"/>
            <a:ext cx="20116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</a:t>
            </a:r>
            <a:endParaRPr lang="en-US" sz="800" dirty="0"/>
          </a:p>
        </p:txBody>
      </p:sp>
      <p:sp>
        <p:nvSpPr>
          <p:cNvPr id="174" name="Text 171"/>
          <p:cNvSpPr/>
          <p:nvPr/>
        </p:nvSpPr>
        <p:spPr>
          <a:xfrm>
            <a:off x="6771132" y="5896000"/>
            <a:ext cx="40233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800" dirty="0"/>
          </a:p>
        </p:txBody>
      </p:sp>
      <p:sp>
        <p:nvSpPr>
          <p:cNvPr id="176" name="Text 173"/>
          <p:cNvSpPr/>
          <p:nvPr/>
        </p:nvSpPr>
        <p:spPr>
          <a:xfrm>
            <a:off x="9624822" y="5905525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17</a:t>
            </a:r>
            <a:endParaRPr lang="en-US" sz="800" dirty="0"/>
          </a:p>
        </p:txBody>
      </p:sp>
      <p:sp>
        <p:nvSpPr>
          <p:cNvPr id="177" name="Text 174"/>
          <p:cNvSpPr/>
          <p:nvPr/>
        </p:nvSpPr>
        <p:spPr>
          <a:xfrm>
            <a:off x="10283190" y="5905525"/>
            <a:ext cx="84124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7.04M</a:t>
            </a:r>
            <a:endParaRPr lang="en-US" sz="800" dirty="0"/>
          </a:p>
        </p:txBody>
      </p:sp>
      <p:sp>
        <p:nvSpPr>
          <p:cNvPr id="180" name="Shape 177"/>
          <p:cNvSpPr/>
          <p:nvPr/>
        </p:nvSpPr>
        <p:spPr>
          <a:xfrm>
            <a:off x="6270625" y="6085840"/>
            <a:ext cx="5601335" cy="190500"/>
          </a:xfrm>
          <a:prstGeom prst="rect">
            <a:avLst/>
          </a:prstGeom>
          <a:solidFill>
            <a:srgbClr val="F5F7FA"/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81" name="Shape 178"/>
          <p:cNvSpPr/>
          <p:nvPr/>
        </p:nvSpPr>
        <p:spPr>
          <a:xfrm>
            <a:off x="6460236" y="6077052"/>
            <a:ext cx="36576" cy="199339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182" name="Text 179"/>
          <p:cNvSpPr/>
          <p:nvPr/>
        </p:nvSpPr>
        <p:spPr>
          <a:xfrm>
            <a:off x="6515100" y="6104484"/>
            <a:ext cx="20116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</a:t>
            </a:r>
            <a:endParaRPr lang="en-US" sz="800" dirty="0"/>
          </a:p>
        </p:txBody>
      </p:sp>
      <p:sp>
        <p:nvSpPr>
          <p:cNvPr id="183" name="Text 180"/>
          <p:cNvSpPr/>
          <p:nvPr/>
        </p:nvSpPr>
        <p:spPr>
          <a:xfrm>
            <a:off x="6771132" y="6104484"/>
            <a:ext cx="40233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800" dirty="0"/>
          </a:p>
        </p:txBody>
      </p:sp>
      <p:sp>
        <p:nvSpPr>
          <p:cNvPr id="185" name="Text 182"/>
          <p:cNvSpPr/>
          <p:nvPr/>
        </p:nvSpPr>
        <p:spPr>
          <a:xfrm>
            <a:off x="9624822" y="6114009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</a:t>
            </a:r>
            <a:endParaRPr lang="en-US" sz="800" dirty="0"/>
          </a:p>
        </p:txBody>
      </p:sp>
      <p:sp>
        <p:nvSpPr>
          <p:cNvPr id="186" name="Text 183"/>
          <p:cNvSpPr/>
          <p:nvPr/>
        </p:nvSpPr>
        <p:spPr>
          <a:xfrm>
            <a:off x="10283190" y="6114009"/>
            <a:ext cx="84124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7.02M</a:t>
            </a:r>
            <a:endParaRPr lang="en-US" sz="800" dirty="0"/>
          </a:p>
        </p:txBody>
      </p:sp>
      <p:sp>
        <p:nvSpPr>
          <p:cNvPr id="187" name="Text 184"/>
          <p:cNvSpPr/>
          <p:nvPr/>
        </p:nvSpPr>
        <p:spPr>
          <a:xfrm>
            <a:off x="11179302" y="6114009"/>
            <a:ext cx="74980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43.9万</a:t>
            </a:r>
            <a:endParaRPr lang="en-US" sz="800" dirty="0"/>
          </a:p>
        </p:txBody>
      </p:sp>
      <p:sp>
        <p:nvSpPr>
          <p:cNvPr id="190" name="Shape 187"/>
          <p:cNvSpPr/>
          <p:nvPr/>
        </p:nvSpPr>
        <p:spPr>
          <a:xfrm>
            <a:off x="6460236" y="6285535"/>
            <a:ext cx="36576" cy="199339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191" name="Text 188"/>
          <p:cNvSpPr/>
          <p:nvPr/>
        </p:nvSpPr>
        <p:spPr>
          <a:xfrm>
            <a:off x="6515100" y="6312967"/>
            <a:ext cx="20116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</a:t>
            </a:r>
            <a:endParaRPr lang="en-US" sz="800" dirty="0"/>
          </a:p>
        </p:txBody>
      </p:sp>
      <p:sp>
        <p:nvSpPr>
          <p:cNvPr id="192" name="Text 189"/>
          <p:cNvSpPr/>
          <p:nvPr/>
        </p:nvSpPr>
        <p:spPr>
          <a:xfrm>
            <a:off x="6771132" y="6312967"/>
            <a:ext cx="40233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800" dirty="0"/>
          </a:p>
        </p:txBody>
      </p:sp>
      <p:sp>
        <p:nvSpPr>
          <p:cNvPr id="193" name="Text 190"/>
          <p:cNvSpPr/>
          <p:nvPr/>
        </p:nvSpPr>
        <p:spPr>
          <a:xfrm>
            <a:off x="7228332" y="6312967"/>
            <a:ext cx="277977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750" dirty="0">
                <a:solidFill>
                  <a:srgbClr val="1A1A2E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万年青·星河传承保险计划II（2年）</a:t>
            </a:r>
            <a:endParaRPr lang="en-US" sz="750" dirty="0"/>
          </a:p>
        </p:txBody>
      </p:sp>
      <p:sp>
        <p:nvSpPr>
          <p:cNvPr id="194" name="Text 191"/>
          <p:cNvSpPr/>
          <p:nvPr/>
        </p:nvSpPr>
        <p:spPr>
          <a:xfrm>
            <a:off x="9624822" y="6322492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</a:t>
            </a:r>
            <a:endParaRPr lang="en-US" sz="800" dirty="0"/>
          </a:p>
        </p:txBody>
      </p:sp>
      <p:sp>
        <p:nvSpPr>
          <p:cNvPr id="195" name="Text 192"/>
          <p:cNvSpPr/>
          <p:nvPr/>
        </p:nvSpPr>
        <p:spPr>
          <a:xfrm>
            <a:off x="10283190" y="6322492"/>
            <a:ext cx="84124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6.24M</a:t>
            </a:r>
            <a:endParaRPr lang="en-US" sz="800" dirty="0"/>
          </a:p>
        </p:txBody>
      </p:sp>
      <p:sp>
        <p:nvSpPr>
          <p:cNvPr id="196" name="Text 193"/>
          <p:cNvSpPr/>
          <p:nvPr/>
        </p:nvSpPr>
        <p:spPr>
          <a:xfrm>
            <a:off x="11179302" y="6322492"/>
            <a:ext cx="74980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312.0万</a:t>
            </a:r>
            <a:endParaRPr lang="en-US" sz="800" dirty="0"/>
          </a:p>
        </p:txBody>
      </p:sp>
      <p:sp>
        <p:nvSpPr>
          <p:cNvPr id="199" name="Shape 196"/>
          <p:cNvSpPr/>
          <p:nvPr/>
        </p:nvSpPr>
        <p:spPr>
          <a:xfrm>
            <a:off x="6242685" y="6502400"/>
            <a:ext cx="5658485" cy="216535"/>
          </a:xfrm>
          <a:prstGeom prst="rect">
            <a:avLst/>
          </a:prstGeom>
          <a:solidFill>
            <a:srgbClr val="EDE7F6"/>
          </a:solidFill>
          <a:ln w="6350">
            <a:solidFill>
              <a:srgbClr val="9575CD"/>
            </a:solidFill>
            <a:prstDash val="solid"/>
          </a:ln>
        </p:spPr>
        <p:txBody>
          <a:bodyPr/>
          <a:p/>
        </p:txBody>
      </p:sp>
      <p:sp>
        <p:nvSpPr>
          <p:cNvPr id="200" name="Text 197"/>
          <p:cNvSpPr/>
          <p:nvPr/>
        </p:nvSpPr>
        <p:spPr>
          <a:xfrm>
            <a:off x="6501130" y="6539865"/>
            <a:ext cx="2577465" cy="1651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4A235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 (TOP10产品)</a:t>
            </a:r>
            <a:endParaRPr lang="en-US" sz="800" dirty="0"/>
          </a:p>
        </p:txBody>
      </p:sp>
      <p:sp>
        <p:nvSpPr>
          <p:cNvPr id="201" name="Text 198"/>
          <p:cNvSpPr/>
          <p:nvPr/>
        </p:nvSpPr>
        <p:spPr>
          <a:xfrm>
            <a:off x="9606534" y="6540119"/>
            <a:ext cx="62179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4A235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163件</a:t>
            </a:r>
            <a:endParaRPr lang="en-US" sz="800" dirty="0"/>
          </a:p>
        </p:txBody>
      </p:sp>
      <p:sp>
        <p:nvSpPr>
          <p:cNvPr id="202" name="Text 199"/>
          <p:cNvSpPr/>
          <p:nvPr/>
        </p:nvSpPr>
        <p:spPr>
          <a:xfrm>
            <a:off x="10246614" y="6540119"/>
            <a:ext cx="859536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130.8M</a:t>
            </a:r>
            <a:endParaRPr lang="en-US" sz="900" dirty="0"/>
          </a:p>
        </p:txBody>
      </p:sp>
      <p:sp>
        <p:nvSpPr>
          <p:cNvPr id="3" name="Shape 19"/>
          <p:cNvSpPr/>
          <p:nvPr/>
        </p:nvSpPr>
        <p:spPr>
          <a:xfrm>
            <a:off x="9718040" y="504190"/>
            <a:ext cx="2232660" cy="662940"/>
          </a:xfrm>
          <a:prstGeom prst="rect">
            <a:avLst/>
          </a:prstGeom>
          <a:solidFill>
            <a:srgbClr val="FFFFFF"/>
          </a:solidFill>
          <a:ln w="15240">
            <a:solidFill>
              <a:srgbClr val="6D4C41"/>
            </a:solidFill>
            <a:prstDash val="solid"/>
          </a:ln>
        </p:spPr>
        <p:txBody>
          <a:bodyPr/>
          <a:p/>
        </p:txBody>
      </p:sp>
      <p:sp>
        <p:nvSpPr>
          <p:cNvPr id="88" name="Shape 20"/>
          <p:cNvSpPr/>
          <p:nvPr/>
        </p:nvSpPr>
        <p:spPr>
          <a:xfrm>
            <a:off x="9718040" y="504190"/>
            <a:ext cx="2232660" cy="76200"/>
          </a:xfrm>
          <a:prstGeom prst="rect">
            <a:avLst/>
          </a:prstGeom>
          <a:solidFill>
            <a:srgbClr val="6D4C41"/>
          </a:solidFill>
          <a:ln w="12700">
            <a:solidFill>
              <a:srgbClr val="B7950B"/>
            </a:solidFill>
            <a:prstDash val="solid"/>
          </a:ln>
        </p:spPr>
        <p:txBody>
          <a:bodyPr/>
          <a:p/>
        </p:txBody>
      </p:sp>
      <p:sp>
        <p:nvSpPr>
          <p:cNvPr id="90" name="Text 21"/>
          <p:cNvSpPr/>
          <p:nvPr/>
        </p:nvSpPr>
        <p:spPr>
          <a:xfrm>
            <a:off x="9827895" y="577215"/>
            <a:ext cx="2106295" cy="1568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r>
              <a:rPr lang="zh-CN" altLang="en-US" sz="85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合计</a:t>
            </a:r>
            <a:r>
              <a:rPr lang="en-US" sz="8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APE</a:t>
            </a:r>
            <a:endParaRPr lang="en-US" sz="850" dirty="0"/>
          </a:p>
        </p:txBody>
      </p:sp>
      <p:sp>
        <p:nvSpPr>
          <p:cNvPr id="91" name="Text 22"/>
          <p:cNvSpPr/>
          <p:nvPr/>
        </p:nvSpPr>
        <p:spPr>
          <a:xfrm>
            <a:off x="9827895" y="703580"/>
            <a:ext cx="2106295" cy="33147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6D4C4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667.2M</a:t>
            </a:r>
            <a:endParaRPr lang="en-US" sz="2400" b="1" dirty="0">
              <a:solidFill>
                <a:srgbClr val="6D4C41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92" name="Text 23"/>
          <p:cNvSpPr/>
          <p:nvPr/>
        </p:nvSpPr>
        <p:spPr>
          <a:xfrm>
            <a:off x="9827895" y="1016635"/>
            <a:ext cx="2105025" cy="1530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7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中台</a:t>
            </a:r>
            <a:r>
              <a:rPr lang="en-US" altLang="zh-CN" sz="7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+TA</a:t>
            </a:r>
            <a:r>
              <a:rPr lang="zh-CN" altLang="en-US" sz="7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（批核</a:t>
            </a:r>
            <a:r>
              <a:rPr lang="en-US" altLang="zh-CN" sz="7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+</a:t>
            </a:r>
            <a:r>
              <a:rPr lang="zh-CN" altLang="en-US" sz="7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未批</a:t>
            </a:r>
            <a:r>
              <a:rPr lang="en-US" altLang="zh-CN" sz="7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+</a:t>
            </a:r>
            <a:r>
              <a:rPr lang="zh-CN" altLang="en-US" sz="7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待签）</a:t>
            </a:r>
            <a:endParaRPr lang="zh-CN" altLang="en-US" sz="7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179" name="Text 102"/>
          <p:cNvSpPr/>
          <p:nvPr/>
        </p:nvSpPr>
        <p:spPr>
          <a:xfrm>
            <a:off x="8812530" y="4226560"/>
            <a:ext cx="621665" cy="1460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6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折扣</a:t>
            </a:r>
            <a:endParaRPr lang="zh-CN" sz="650" dirty="0"/>
          </a:p>
        </p:txBody>
      </p:sp>
      <p:sp>
        <p:nvSpPr>
          <p:cNvPr id="188" name="Text 110"/>
          <p:cNvSpPr/>
          <p:nvPr/>
        </p:nvSpPr>
        <p:spPr>
          <a:xfrm>
            <a:off x="8834882" y="4435348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21%</a:t>
            </a:r>
            <a:endParaRPr lang="en-US" sz="800" dirty="0"/>
          </a:p>
        </p:txBody>
      </p:sp>
      <p:sp>
        <p:nvSpPr>
          <p:cNvPr id="197" name="Text 110"/>
          <p:cNvSpPr/>
          <p:nvPr/>
        </p:nvSpPr>
        <p:spPr>
          <a:xfrm>
            <a:off x="8847582" y="4638548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8%</a:t>
            </a:r>
            <a:endParaRPr lang="en-US" sz="800" dirty="0"/>
          </a:p>
        </p:txBody>
      </p:sp>
      <p:sp>
        <p:nvSpPr>
          <p:cNvPr id="198" name="Text 110"/>
          <p:cNvSpPr/>
          <p:nvPr/>
        </p:nvSpPr>
        <p:spPr>
          <a:xfrm>
            <a:off x="8869807" y="4841748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2%</a:t>
            </a:r>
            <a:endParaRPr lang="en-US" sz="800" dirty="0"/>
          </a:p>
        </p:txBody>
      </p:sp>
      <p:sp>
        <p:nvSpPr>
          <p:cNvPr id="203" name="Text 110"/>
          <p:cNvSpPr/>
          <p:nvPr/>
        </p:nvSpPr>
        <p:spPr>
          <a:xfrm>
            <a:off x="8871712" y="5062093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6%</a:t>
            </a:r>
            <a:endParaRPr lang="en-US" sz="800" dirty="0"/>
          </a:p>
        </p:txBody>
      </p:sp>
      <p:sp>
        <p:nvSpPr>
          <p:cNvPr id="204" name="Text 110"/>
          <p:cNvSpPr/>
          <p:nvPr/>
        </p:nvSpPr>
        <p:spPr>
          <a:xfrm>
            <a:off x="8864727" y="5279898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20%</a:t>
            </a:r>
            <a:endParaRPr lang="en-US" sz="800" dirty="0"/>
          </a:p>
        </p:txBody>
      </p:sp>
      <p:sp>
        <p:nvSpPr>
          <p:cNvPr id="205" name="Text 110"/>
          <p:cNvSpPr/>
          <p:nvPr/>
        </p:nvSpPr>
        <p:spPr>
          <a:xfrm>
            <a:off x="8867902" y="5454523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4%</a:t>
            </a:r>
            <a:endParaRPr lang="en-US" sz="800" dirty="0"/>
          </a:p>
        </p:txBody>
      </p:sp>
      <p:sp>
        <p:nvSpPr>
          <p:cNvPr id="206" name="Text 109"/>
          <p:cNvSpPr/>
          <p:nvPr/>
        </p:nvSpPr>
        <p:spPr>
          <a:xfrm>
            <a:off x="7243445" y="5464175"/>
            <a:ext cx="1398270" cy="1447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永誉传承储蓄计划（1年）</a:t>
            </a:r>
            <a:endParaRPr lang="en-US" sz="750" dirty="0"/>
          </a:p>
        </p:txBody>
      </p:sp>
      <p:sp>
        <p:nvSpPr>
          <p:cNvPr id="207" name="Text 109"/>
          <p:cNvSpPr/>
          <p:nvPr/>
        </p:nvSpPr>
        <p:spPr>
          <a:xfrm>
            <a:off x="7237095" y="5686425"/>
            <a:ext cx="1398270" cy="1447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万年青·星河传承保险计划II（5年）</a:t>
            </a:r>
            <a:endParaRPr lang="en-US" sz="750" dirty="0"/>
          </a:p>
        </p:txBody>
      </p:sp>
      <p:sp>
        <p:nvSpPr>
          <p:cNvPr id="245" name="Text 110"/>
          <p:cNvSpPr/>
          <p:nvPr/>
        </p:nvSpPr>
        <p:spPr>
          <a:xfrm>
            <a:off x="8861552" y="5676773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20%</a:t>
            </a:r>
            <a:endParaRPr lang="en-US" sz="800" dirty="0"/>
          </a:p>
        </p:txBody>
      </p:sp>
      <p:sp>
        <p:nvSpPr>
          <p:cNvPr id="247" name="Text 110"/>
          <p:cNvSpPr/>
          <p:nvPr/>
        </p:nvSpPr>
        <p:spPr>
          <a:xfrm>
            <a:off x="8883777" y="6127623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59%</a:t>
            </a:r>
            <a:endParaRPr lang="en-US" sz="800" dirty="0"/>
          </a:p>
        </p:txBody>
      </p:sp>
      <p:sp>
        <p:nvSpPr>
          <p:cNvPr id="248" name="Text 136"/>
          <p:cNvSpPr/>
          <p:nvPr/>
        </p:nvSpPr>
        <p:spPr>
          <a:xfrm>
            <a:off x="7228205" y="5901690"/>
            <a:ext cx="1417320" cy="15621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万年青·星河尊享保险计划II（5年）</a:t>
            </a:r>
            <a:endParaRPr lang="en-US" sz="750" dirty="0"/>
          </a:p>
        </p:txBody>
      </p:sp>
      <p:sp>
        <p:nvSpPr>
          <p:cNvPr id="249" name="Text 110"/>
          <p:cNvSpPr/>
          <p:nvPr/>
        </p:nvSpPr>
        <p:spPr>
          <a:xfrm>
            <a:off x="8884412" y="5905373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15%</a:t>
            </a:r>
            <a:endParaRPr lang="en-US" sz="800" dirty="0"/>
          </a:p>
        </p:txBody>
      </p:sp>
      <p:sp>
        <p:nvSpPr>
          <p:cNvPr id="255" name="Text 166"/>
          <p:cNvSpPr/>
          <p:nvPr/>
        </p:nvSpPr>
        <p:spPr>
          <a:xfrm>
            <a:off x="11182477" y="5881192"/>
            <a:ext cx="74980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41.4万</a:t>
            </a:r>
            <a:endParaRPr lang="en-US" sz="800" dirty="0"/>
          </a:p>
        </p:txBody>
      </p:sp>
      <p:sp>
        <p:nvSpPr>
          <p:cNvPr id="256" name="Text 157"/>
          <p:cNvSpPr/>
          <p:nvPr/>
        </p:nvSpPr>
        <p:spPr>
          <a:xfrm>
            <a:off x="11182477" y="5682234"/>
            <a:ext cx="74980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325.0万</a:t>
            </a:r>
            <a:endParaRPr lang="en-US" sz="800" dirty="0"/>
          </a:p>
        </p:txBody>
      </p:sp>
      <p:sp>
        <p:nvSpPr>
          <p:cNvPr id="257" name="Text 118"/>
          <p:cNvSpPr/>
          <p:nvPr/>
        </p:nvSpPr>
        <p:spPr>
          <a:xfrm>
            <a:off x="7228205" y="6130290"/>
            <a:ext cx="1569720" cy="132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万年青·卓金保险计划II（5年）</a:t>
            </a:r>
            <a:endParaRPr lang="en-US" sz="750" dirty="0"/>
          </a:p>
        </p:txBody>
      </p:sp>
      <p:sp>
        <p:nvSpPr>
          <p:cNvPr id="258" name="Text 110"/>
          <p:cNvSpPr/>
          <p:nvPr/>
        </p:nvSpPr>
        <p:spPr>
          <a:xfrm>
            <a:off x="8886952" y="6311773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8%</a:t>
            </a:r>
            <a:endParaRPr lang="en-US" sz="800" dirty="0"/>
          </a:p>
        </p:txBody>
      </p:sp>
      <p:sp>
        <p:nvSpPr>
          <p:cNvPr id="89" name="Shape 34"/>
          <p:cNvSpPr/>
          <p:nvPr/>
        </p:nvSpPr>
        <p:spPr>
          <a:xfrm>
            <a:off x="236220" y="1553845"/>
            <a:ext cx="11664950" cy="20447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228" name="Text 35"/>
          <p:cNvSpPr/>
          <p:nvPr/>
        </p:nvSpPr>
        <p:spPr>
          <a:xfrm>
            <a:off x="273050" y="1591945"/>
            <a:ext cx="1139190" cy="1301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牌照</a:t>
            </a:r>
            <a:endParaRPr lang="en-US" sz="700" dirty="0"/>
          </a:p>
        </p:txBody>
      </p:sp>
      <p:sp>
        <p:nvSpPr>
          <p:cNvPr id="229" name="Text 36"/>
          <p:cNvSpPr/>
          <p:nvPr/>
        </p:nvSpPr>
        <p:spPr>
          <a:xfrm>
            <a:off x="784860" y="1591945"/>
            <a:ext cx="1736725" cy="1301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</a:rPr>
              <a:t>Apr-26 批核APE（M）</a:t>
            </a:r>
          </a:p>
        </p:txBody>
      </p:sp>
      <p:sp>
        <p:nvSpPr>
          <p:cNvPr id="230" name="Text 37"/>
          <p:cNvSpPr/>
          <p:nvPr/>
        </p:nvSpPr>
        <p:spPr>
          <a:xfrm>
            <a:off x="2430780" y="1591945"/>
            <a:ext cx="1736725" cy="1301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</a:rPr>
              <a:t>May-26 批核APE（M）</a:t>
            </a:r>
          </a:p>
        </p:txBody>
      </p:sp>
      <p:sp>
        <p:nvSpPr>
          <p:cNvPr id="231" name="Text 38"/>
          <p:cNvSpPr/>
          <p:nvPr/>
        </p:nvSpPr>
        <p:spPr>
          <a:xfrm>
            <a:off x="4222750" y="1591945"/>
            <a:ext cx="1736725" cy="1301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</a:rPr>
              <a:t>Jun-26 批核APE（M）</a:t>
            </a:r>
          </a:p>
        </p:txBody>
      </p:sp>
      <p:sp>
        <p:nvSpPr>
          <p:cNvPr id="232" name="Text 39"/>
          <p:cNvSpPr/>
          <p:nvPr/>
        </p:nvSpPr>
        <p:spPr>
          <a:xfrm>
            <a:off x="7697470" y="1572895"/>
            <a:ext cx="1736725" cy="1301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未批核 APE（M）</a:t>
            </a:r>
            <a:endParaRPr lang="en-US" sz="700" dirty="0"/>
          </a:p>
        </p:txBody>
      </p:sp>
      <p:sp>
        <p:nvSpPr>
          <p:cNvPr id="233" name="Text 40"/>
          <p:cNvSpPr/>
          <p:nvPr/>
        </p:nvSpPr>
        <p:spPr>
          <a:xfrm>
            <a:off x="9560560" y="1572895"/>
            <a:ext cx="1718310" cy="1301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本月已递交 APE（M）</a:t>
            </a:r>
            <a:endParaRPr lang="en-US" sz="700" dirty="0"/>
          </a:p>
        </p:txBody>
      </p:sp>
      <p:sp>
        <p:nvSpPr>
          <p:cNvPr id="234" name="Shape 41"/>
          <p:cNvSpPr/>
          <p:nvPr/>
        </p:nvSpPr>
        <p:spPr>
          <a:xfrm>
            <a:off x="236220" y="1772920"/>
            <a:ext cx="11664950" cy="241300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35" name="Shape 42"/>
          <p:cNvSpPr/>
          <p:nvPr/>
        </p:nvSpPr>
        <p:spPr>
          <a:xfrm>
            <a:off x="236220" y="1772920"/>
            <a:ext cx="76200" cy="24130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p>
            <a:r>
              <a:rPr lang="en-US" sz="850" dirty="0"/>
              <a:t>39.50M</a:t>
            </a:r>
          </a:p>
        </p:txBody>
      </p:sp>
      <p:sp>
        <p:nvSpPr>
          <p:cNvPr id="236" name="Text 43"/>
          <p:cNvSpPr/>
          <p:nvPr/>
        </p:nvSpPr>
        <p:spPr>
          <a:xfrm>
            <a:off x="326390" y="1809750"/>
            <a:ext cx="112204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JF</a:t>
            </a:r>
            <a:endParaRPr lang="en-US" sz="800" dirty="0"/>
          </a:p>
        </p:txBody>
      </p:sp>
      <p:sp>
        <p:nvSpPr>
          <p:cNvPr id="237" name="Text 44"/>
          <p:cNvSpPr/>
          <p:nvPr/>
        </p:nvSpPr>
        <p:spPr>
          <a:xfrm>
            <a:off x="740410" y="180975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39.50M</a:t>
            </a:r>
          </a:p>
        </p:txBody>
      </p:sp>
      <p:sp>
        <p:nvSpPr>
          <p:cNvPr id="238" name="Text 45"/>
          <p:cNvSpPr/>
          <p:nvPr/>
        </p:nvSpPr>
        <p:spPr>
          <a:xfrm>
            <a:off x="2449195" y="180975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22.24M</a:t>
            </a:r>
          </a:p>
        </p:txBody>
      </p:sp>
      <p:sp>
        <p:nvSpPr>
          <p:cNvPr id="239" name="Text 46"/>
          <p:cNvSpPr/>
          <p:nvPr/>
        </p:nvSpPr>
        <p:spPr>
          <a:xfrm>
            <a:off x="4241165" y="180975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27.30M</a:t>
            </a:r>
          </a:p>
        </p:txBody>
      </p:sp>
      <p:sp>
        <p:nvSpPr>
          <p:cNvPr id="240" name="Text 47"/>
          <p:cNvSpPr/>
          <p:nvPr/>
        </p:nvSpPr>
        <p:spPr>
          <a:xfrm>
            <a:off x="7715885" y="179070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26.16M</a:t>
            </a:r>
          </a:p>
        </p:txBody>
      </p:sp>
      <p:sp>
        <p:nvSpPr>
          <p:cNvPr id="241" name="Text 48"/>
          <p:cNvSpPr/>
          <p:nvPr/>
        </p:nvSpPr>
        <p:spPr>
          <a:xfrm>
            <a:off x="9578975" y="1790700"/>
            <a:ext cx="169989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11.33M</a:t>
            </a:r>
            <a:endParaRPr lang="en-US" sz="850" dirty="0"/>
          </a:p>
        </p:txBody>
      </p:sp>
      <p:sp>
        <p:nvSpPr>
          <p:cNvPr id="253" name="Shape 49"/>
          <p:cNvSpPr/>
          <p:nvPr/>
        </p:nvSpPr>
        <p:spPr>
          <a:xfrm>
            <a:off x="236220" y="2019935"/>
            <a:ext cx="11664950" cy="241300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54" name="Shape 50"/>
          <p:cNvSpPr/>
          <p:nvPr/>
        </p:nvSpPr>
        <p:spPr>
          <a:xfrm>
            <a:off x="236220" y="2019935"/>
            <a:ext cx="76200" cy="24130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p>
            <a:r>
              <a:rPr lang="en-US" sz="850" dirty="0"/>
              <a:t>15.18M</a:t>
            </a:r>
          </a:p>
        </p:txBody>
      </p:sp>
      <p:sp>
        <p:nvSpPr>
          <p:cNvPr id="273" name="Text 51"/>
          <p:cNvSpPr/>
          <p:nvPr/>
        </p:nvSpPr>
        <p:spPr>
          <a:xfrm>
            <a:off x="326390" y="2056765"/>
            <a:ext cx="112204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UNINWIN</a:t>
            </a:r>
            <a:endParaRPr lang="en-US" sz="800" dirty="0"/>
          </a:p>
        </p:txBody>
      </p:sp>
      <p:sp>
        <p:nvSpPr>
          <p:cNvPr id="274" name="Text 52"/>
          <p:cNvSpPr/>
          <p:nvPr/>
        </p:nvSpPr>
        <p:spPr>
          <a:xfrm>
            <a:off x="740410" y="2056765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15.18M</a:t>
            </a:r>
          </a:p>
        </p:txBody>
      </p:sp>
      <p:sp>
        <p:nvSpPr>
          <p:cNvPr id="275" name="Text 53"/>
          <p:cNvSpPr/>
          <p:nvPr/>
        </p:nvSpPr>
        <p:spPr>
          <a:xfrm>
            <a:off x="2449195" y="2056765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12.81M</a:t>
            </a:r>
          </a:p>
        </p:txBody>
      </p:sp>
      <p:sp>
        <p:nvSpPr>
          <p:cNvPr id="276" name="Text 54"/>
          <p:cNvSpPr/>
          <p:nvPr/>
        </p:nvSpPr>
        <p:spPr>
          <a:xfrm>
            <a:off x="4241165" y="2056765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14.96M</a:t>
            </a:r>
          </a:p>
        </p:txBody>
      </p:sp>
      <p:sp>
        <p:nvSpPr>
          <p:cNvPr id="277" name="Text 55"/>
          <p:cNvSpPr/>
          <p:nvPr/>
        </p:nvSpPr>
        <p:spPr>
          <a:xfrm>
            <a:off x="7715885" y="2037715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23.49M</a:t>
            </a:r>
          </a:p>
        </p:txBody>
      </p:sp>
      <p:sp>
        <p:nvSpPr>
          <p:cNvPr id="278" name="Text 56"/>
          <p:cNvSpPr/>
          <p:nvPr/>
        </p:nvSpPr>
        <p:spPr>
          <a:xfrm>
            <a:off x="9578975" y="2037715"/>
            <a:ext cx="169989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14.89M</a:t>
            </a:r>
            <a:endParaRPr lang="en-US" sz="850" dirty="0"/>
          </a:p>
        </p:txBody>
      </p:sp>
      <p:sp>
        <p:nvSpPr>
          <p:cNvPr id="279" name="Shape 57"/>
          <p:cNvSpPr/>
          <p:nvPr/>
        </p:nvSpPr>
        <p:spPr>
          <a:xfrm>
            <a:off x="236220" y="2266315"/>
            <a:ext cx="11664950" cy="241300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80" name="Shape 58"/>
          <p:cNvSpPr/>
          <p:nvPr/>
        </p:nvSpPr>
        <p:spPr>
          <a:xfrm>
            <a:off x="236220" y="2266315"/>
            <a:ext cx="76200" cy="24130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p>
            <a:r>
              <a:rPr lang="en-US" sz="850" dirty="0"/>
              <a:t>0.48M</a:t>
            </a:r>
          </a:p>
        </p:txBody>
      </p:sp>
      <p:sp>
        <p:nvSpPr>
          <p:cNvPr id="281" name="Text 59"/>
          <p:cNvSpPr/>
          <p:nvPr/>
        </p:nvSpPr>
        <p:spPr>
          <a:xfrm>
            <a:off x="335280" y="2303780"/>
            <a:ext cx="112204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DW-Non-Bank</a:t>
            </a:r>
            <a:endParaRPr lang="en-US" sz="800" dirty="0"/>
          </a:p>
        </p:txBody>
      </p:sp>
      <p:sp>
        <p:nvSpPr>
          <p:cNvPr id="282" name="Text 60"/>
          <p:cNvSpPr/>
          <p:nvPr/>
        </p:nvSpPr>
        <p:spPr>
          <a:xfrm>
            <a:off x="749300" y="230378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0.48M</a:t>
            </a:r>
          </a:p>
        </p:txBody>
      </p:sp>
      <p:sp>
        <p:nvSpPr>
          <p:cNvPr id="283" name="Text 61"/>
          <p:cNvSpPr/>
          <p:nvPr/>
        </p:nvSpPr>
        <p:spPr>
          <a:xfrm>
            <a:off x="2449195" y="230378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0.09M</a:t>
            </a:r>
          </a:p>
        </p:txBody>
      </p:sp>
      <p:sp>
        <p:nvSpPr>
          <p:cNvPr id="284" name="Text 62"/>
          <p:cNvSpPr/>
          <p:nvPr/>
        </p:nvSpPr>
        <p:spPr>
          <a:xfrm>
            <a:off x="4241165" y="230378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0M</a:t>
            </a:r>
          </a:p>
        </p:txBody>
      </p:sp>
      <p:sp>
        <p:nvSpPr>
          <p:cNvPr id="285" name="Text 63"/>
          <p:cNvSpPr/>
          <p:nvPr/>
        </p:nvSpPr>
        <p:spPr>
          <a:xfrm>
            <a:off x="7715885" y="228473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1.01M</a:t>
            </a:r>
          </a:p>
        </p:txBody>
      </p:sp>
      <p:sp>
        <p:nvSpPr>
          <p:cNvPr id="286" name="Text 64"/>
          <p:cNvSpPr/>
          <p:nvPr/>
        </p:nvSpPr>
        <p:spPr>
          <a:xfrm>
            <a:off x="9578975" y="2284730"/>
            <a:ext cx="169989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0M</a:t>
            </a:r>
            <a:endParaRPr lang="en-US" sz="850" dirty="0"/>
          </a:p>
        </p:txBody>
      </p:sp>
      <p:sp>
        <p:nvSpPr>
          <p:cNvPr id="287" name="Shape 65"/>
          <p:cNvSpPr/>
          <p:nvPr/>
        </p:nvSpPr>
        <p:spPr>
          <a:xfrm>
            <a:off x="236220" y="2770505"/>
            <a:ext cx="11664950" cy="241300"/>
          </a:xfrm>
          <a:prstGeom prst="rect">
            <a:avLst/>
          </a:prstGeom>
          <a:solidFill>
            <a:srgbClr val="EBF5FB"/>
          </a:solidFill>
          <a:ln w="889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288" name="Shape 66"/>
          <p:cNvSpPr/>
          <p:nvPr/>
        </p:nvSpPr>
        <p:spPr>
          <a:xfrm>
            <a:off x="236220" y="2770505"/>
            <a:ext cx="76200" cy="241300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>
            <a:r>
              <a:rPr lang="en-US" sz="850" dirty="0"/>
              <a:t>55.16M</a:t>
            </a:r>
          </a:p>
        </p:txBody>
      </p:sp>
      <p:sp>
        <p:nvSpPr>
          <p:cNvPr id="289" name="Text 67"/>
          <p:cNvSpPr/>
          <p:nvPr/>
        </p:nvSpPr>
        <p:spPr>
          <a:xfrm>
            <a:off x="344170" y="2807970"/>
            <a:ext cx="112204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Sub Total</a:t>
            </a:r>
            <a:endParaRPr lang="en-US" sz="800" dirty="0"/>
          </a:p>
        </p:txBody>
      </p:sp>
      <p:sp>
        <p:nvSpPr>
          <p:cNvPr id="290" name="Text 68"/>
          <p:cNvSpPr/>
          <p:nvPr/>
        </p:nvSpPr>
        <p:spPr>
          <a:xfrm>
            <a:off x="740410" y="280797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55.16M</a:t>
            </a:r>
          </a:p>
        </p:txBody>
      </p:sp>
      <p:sp>
        <p:nvSpPr>
          <p:cNvPr id="291" name="Text 69"/>
          <p:cNvSpPr/>
          <p:nvPr/>
        </p:nvSpPr>
        <p:spPr>
          <a:xfrm>
            <a:off x="2449195" y="280797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35.15M</a:t>
            </a:r>
          </a:p>
        </p:txBody>
      </p:sp>
      <p:sp>
        <p:nvSpPr>
          <p:cNvPr id="292" name="Text 70"/>
          <p:cNvSpPr/>
          <p:nvPr/>
        </p:nvSpPr>
        <p:spPr>
          <a:xfrm>
            <a:off x="4551045" y="2785110"/>
            <a:ext cx="1096645" cy="2000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42.25M</a:t>
            </a:r>
          </a:p>
        </p:txBody>
      </p:sp>
      <p:sp>
        <p:nvSpPr>
          <p:cNvPr id="293" name="Text 71"/>
          <p:cNvSpPr/>
          <p:nvPr/>
        </p:nvSpPr>
        <p:spPr>
          <a:xfrm>
            <a:off x="7715885" y="278892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50.66M</a:t>
            </a:r>
          </a:p>
        </p:txBody>
      </p:sp>
      <p:sp>
        <p:nvSpPr>
          <p:cNvPr id="294" name="Text 72"/>
          <p:cNvSpPr/>
          <p:nvPr/>
        </p:nvSpPr>
        <p:spPr>
          <a:xfrm>
            <a:off x="9578975" y="2788920"/>
            <a:ext cx="169989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26.23M</a:t>
            </a:r>
          </a:p>
        </p:txBody>
      </p:sp>
      <p:sp>
        <p:nvSpPr>
          <p:cNvPr id="295" name="Shape 73"/>
          <p:cNvSpPr/>
          <p:nvPr/>
        </p:nvSpPr>
        <p:spPr>
          <a:xfrm>
            <a:off x="236220" y="3017520"/>
            <a:ext cx="11664950" cy="241300"/>
          </a:xfrm>
          <a:prstGeom prst="rect">
            <a:avLst/>
          </a:prstGeom>
          <a:solidFill>
            <a:srgbClr val="FFF8E1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96" name="Shape 74"/>
          <p:cNvSpPr/>
          <p:nvPr/>
        </p:nvSpPr>
        <p:spPr>
          <a:xfrm>
            <a:off x="236220" y="3017520"/>
            <a:ext cx="76200" cy="24130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>
            <a:r>
              <a:rPr lang="en-US" sz="850" dirty="0"/>
              <a:t>27.22M</a:t>
            </a:r>
          </a:p>
        </p:txBody>
      </p:sp>
      <p:sp>
        <p:nvSpPr>
          <p:cNvPr id="297" name="Text 75"/>
          <p:cNvSpPr/>
          <p:nvPr/>
        </p:nvSpPr>
        <p:spPr>
          <a:xfrm>
            <a:off x="335280" y="3054985"/>
            <a:ext cx="112204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DW Bank</a:t>
            </a:r>
            <a:endParaRPr lang="en-US" sz="800" dirty="0"/>
          </a:p>
        </p:txBody>
      </p:sp>
      <p:sp>
        <p:nvSpPr>
          <p:cNvPr id="298" name="Text 76"/>
          <p:cNvSpPr/>
          <p:nvPr/>
        </p:nvSpPr>
        <p:spPr>
          <a:xfrm>
            <a:off x="722630" y="3054985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27.22M</a:t>
            </a:r>
          </a:p>
        </p:txBody>
      </p:sp>
      <p:sp>
        <p:nvSpPr>
          <p:cNvPr id="299" name="Text 77"/>
          <p:cNvSpPr/>
          <p:nvPr/>
        </p:nvSpPr>
        <p:spPr>
          <a:xfrm>
            <a:off x="2449195" y="3054985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21.70M</a:t>
            </a:r>
          </a:p>
        </p:txBody>
      </p:sp>
      <p:sp>
        <p:nvSpPr>
          <p:cNvPr id="300" name="Text 78"/>
          <p:cNvSpPr/>
          <p:nvPr/>
        </p:nvSpPr>
        <p:spPr>
          <a:xfrm>
            <a:off x="4241165" y="3054985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6.24M</a:t>
            </a:r>
          </a:p>
        </p:txBody>
      </p:sp>
      <p:sp>
        <p:nvSpPr>
          <p:cNvPr id="301" name="Text 79"/>
          <p:cNvSpPr/>
          <p:nvPr/>
        </p:nvSpPr>
        <p:spPr>
          <a:xfrm>
            <a:off x="7715885" y="3035935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27.38M</a:t>
            </a:r>
          </a:p>
        </p:txBody>
      </p:sp>
      <p:sp>
        <p:nvSpPr>
          <p:cNvPr id="302" name="Text 80"/>
          <p:cNvSpPr/>
          <p:nvPr/>
        </p:nvSpPr>
        <p:spPr>
          <a:xfrm>
            <a:off x="9578975" y="3035935"/>
            <a:ext cx="169989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7.02M</a:t>
            </a:r>
            <a:endParaRPr lang="en-US" sz="850" dirty="0"/>
          </a:p>
        </p:txBody>
      </p:sp>
      <p:sp>
        <p:nvSpPr>
          <p:cNvPr id="303" name="Shape 81"/>
          <p:cNvSpPr/>
          <p:nvPr/>
        </p:nvSpPr>
        <p:spPr>
          <a:xfrm>
            <a:off x="236220" y="3264535"/>
            <a:ext cx="11664950" cy="241300"/>
          </a:xfrm>
          <a:prstGeom prst="rect">
            <a:avLst/>
          </a:prstGeom>
          <a:solidFill>
            <a:srgbClr val="EDE7F6"/>
          </a:solidFill>
          <a:ln w="8890">
            <a:solidFill>
              <a:srgbClr val="9575CD"/>
            </a:solidFill>
            <a:prstDash val="solid"/>
          </a:ln>
        </p:spPr>
        <p:txBody>
          <a:bodyPr/>
          <a:p/>
        </p:txBody>
      </p:sp>
      <p:sp>
        <p:nvSpPr>
          <p:cNvPr id="304" name="Shape 82"/>
          <p:cNvSpPr/>
          <p:nvPr/>
        </p:nvSpPr>
        <p:spPr>
          <a:xfrm>
            <a:off x="236220" y="3264535"/>
            <a:ext cx="76200" cy="241300"/>
          </a:xfrm>
          <a:prstGeom prst="rect">
            <a:avLst/>
          </a:prstGeom>
          <a:solidFill>
            <a:srgbClr val="4A235A"/>
          </a:solidFill>
          <a:ln w="12700">
            <a:solidFill>
              <a:srgbClr val="4A235A"/>
            </a:solidFill>
            <a:prstDash val="solid"/>
          </a:ln>
        </p:spPr>
        <p:txBody>
          <a:bodyPr/>
          <a:p/>
        </p:txBody>
      </p:sp>
      <p:sp>
        <p:nvSpPr>
          <p:cNvPr id="305" name="Text 83"/>
          <p:cNvSpPr/>
          <p:nvPr/>
        </p:nvSpPr>
        <p:spPr>
          <a:xfrm>
            <a:off x="353060" y="3301365"/>
            <a:ext cx="112204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4A235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TA</a:t>
            </a:r>
            <a:endParaRPr lang="en-US" sz="800" dirty="0"/>
          </a:p>
        </p:txBody>
      </p:sp>
      <p:sp>
        <p:nvSpPr>
          <p:cNvPr id="306" name="Text 84"/>
          <p:cNvSpPr/>
          <p:nvPr/>
        </p:nvSpPr>
        <p:spPr>
          <a:xfrm>
            <a:off x="2191385" y="3299460"/>
            <a:ext cx="5207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48.43</a:t>
            </a: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07" name="Text 44"/>
          <p:cNvSpPr/>
          <p:nvPr/>
        </p:nvSpPr>
        <p:spPr>
          <a:xfrm>
            <a:off x="2115820" y="1809115"/>
            <a:ext cx="631190" cy="177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14.67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08" name="Text 36"/>
          <p:cNvSpPr/>
          <p:nvPr/>
        </p:nvSpPr>
        <p:spPr>
          <a:xfrm>
            <a:off x="2058670" y="1602105"/>
            <a:ext cx="793750" cy="1200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ALICE</a:t>
            </a:r>
            <a:r>
              <a:rPr lang="zh-CN" alt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数据</a:t>
            </a:r>
            <a:endParaRPr lang="zh-CN" altLang="en-US" sz="700" b="1" dirty="0">
              <a:solidFill>
                <a:srgbClr val="FFFFFF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309" name="Text 76"/>
          <p:cNvSpPr/>
          <p:nvPr/>
        </p:nvSpPr>
        <p:spPr>
          <a:xfrm>
            <a:off x="2138680" y="3058795"/>
            <a:ext cx="608330" cy="17335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94.72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10" name="Text 60"/>
          <p:cNvSpPr/>
          <p:nvPr/>
        </p:nvSpPr>
        <p:spPr>
          <a:xfrm>
            <a:off x="2118995" y="2313305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0.08M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/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11" name="Text 52"/>
          <p:cNvSpPr/>
          <p:nvPr/>
        </p:nvSpPr>
        <p:spPr>
          <a:xfrm>
            <a:off x="2115820" y="2056765"/>
            <a:ext cx="63119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15.02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12" name="Text 68"/>
          <p:cNvSpPr/>
          <p:nvPr/>
        </p:nvSpPr>
        <p:spPr>
          <a:xfrm>
            <a:off x="2141855" y="2796540"/>
            <a:ext cx="587375" cy="2165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29.77</a:t>
            </a: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13" name="Text 84"/>
          <p:cNvSpPr/>
          <p:nvPr/>
        </p:nvSpPr>
        <p:spPr>
          <a:xfrm>
            <a:off x="3871595" y="3302000"/>
            <a:ext cx="5207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31.37</a:t>
            </a: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14" name="Text 44"/>
          <p:cNvSpPr/>
          <p:nvPr/>
        </p:nvSpPr>
        <p:spPr>
          <a:xfrm>
            <a:off x="3804920" y="1811655"/>
            <a:ext cx="631190" cy="1714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13.81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15" name="Text 36"/>
          <p:cNvSpPr/>
          <p:nvPr/>
        </p:nvSpPr>
        <p:spPr>
          <a:xfrm>
            <a:off x="3747770" y="1604645"/>
            <a:ext cx="793750" cy="1200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ALICE</a:t>
            </a:r>
            <a:r>
              <a:rPr lang="zh-CN" alt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数据</a:t>
            </a:r>
            <a:endParaRPr lang="zh-CN" altLang="en-US" sz="700" b="1" dirty="0">
              <a:solidFill>
                <a:srgbClr val="FFFFFF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316" name="Text 76"/>
          <p:cNvSpPr/>
          <p:nvPr/>
        </p:nvSpPr>
        <p:spPr>
          <a:xfrm>
            <a:off x="3827780" y="3061335"/>
            <a:ext cx="608330" cy="17335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6.24M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/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17" name="Text 60"/>
          <p:cNvSpPr/>
          <p:nvPr/>
        </p:nvSpPr>
        <p:spPr>
          <a:xfrm>
            <a:off x="3808095" y="2315845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0.00M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18" name="Text 52"/>
          <p:cNvSpPr/>
          <p:nvPr/>
        </p:nvSpPr>
        <p:spPr>
          <a:xfrm>
            <a:off x="3804920" y="2059305"/>
            <a:ext cx="631190" cy="1752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8.68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19" name="Text 68"/>
          <p:cNvSpPr/>
          <p:nvPr/>
        </p:nvSpPr>
        <p:spPr>
          <a:xfrm>
            <a:off x="3830955" y="2799080"/>
            <a:ext cx="587375" cy="2165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22.48</a:t>
            </a: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20" name="Text 84"/>
          <p:cNvSpPr/>
          <p:nvPr/>
        </p:nvSpPr>
        <p:spPr>
          <a:xfrm>
            <a:off x="5722620" y="3276600"/>
            <a:ext cx="5207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53.92</a:t>
            </a: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21" name="Text 44"/>
          <p:cNvSpPr/>
          <p:nvPr/>
        </p:nvSpPr>
        <p:spPr>
          <a:xfrm>
            <a:off x="5655945" y="1786255"/>
            <a:ext cx="631190" cy="177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39.50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22" name="Text 36"/>
          <p:cNvSpPr/>
          <p:nvPr/>
        </p:nvSpPr>
        <p:spPr>
          <a:xfrm>
            <a:off x="5598795" y="1579245"/>
            <a:ext cx="793750" cy="1200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ALICE</a:t>
            </a:r>
            <a:r>
              <a:rPr lang="zh-CN" alt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数据</a:t>
            </a: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( 17 Apr)</a:t>
            </a:r>
            <a:endParaRPr lang="en-US" altLang="zh-CN" sz="700" b="1" dirty="0">
              <a:solidFill>
                <a:srgbClr val="FFFFFF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323" name="Text 76"/>
          <p:cNvSpPr/>
          <p:nvPr/>
        </p:nvSpPr>
        <p:spPr>
          <a:xfrm>
            <a:off x="5678805" y="3035300"/>
            <a:ext cx="608330" cy="17653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27.22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24" name="Text 60"/>
          <p:cNvSpPr/>
          <p:nvPr/>
        </p:nvSpPr>
        <p:spPr>
          <a:xfrm>
            <a:off x="5659120" y="2290445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0.48M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25" name="Text 52"/>
          <p:cNvSpPr/>
          <p:nvPr/>
        </p:nvSpPr>
        <p:spPr>
          <a:xfrm>
            <a:off x="5655945" y="2033905"/>
            <a:ext cx="631190" cy="1752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15.68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26" name="Text 68"/>
          <p:cNvSpPr/>
          <p:nvPr/>
        </p:nvSpPr>
        <p:spPr>
          <a:xfrm>
            <a:off x="5681980" y="2783205"/>
            <a:ext cx="587375" cy="2165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59.18</a:t>
            </a: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27" name="Shape 57"/>
          <p:cNvSpPr/>
          <p:nvPr/>
        </p:nvSpPr>
        <p:spPr>
          <a:xfrm>
            <a:off x="240030" y="3514090"/>
            <a:ext cx="11664950" cy="241300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328" name="Shape 58"/>
          <p:cNvSpPr/>
          <p:nvPr/>
        </p:nvSpPr>
        <p:spPr>
          <a:xfrm>
            <a:off x="240030" y="3514090"/>
            <a:ext cx="76200" cy="24130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p/>
        </p:txBody>
      </p:sp>
      <p:sp>
        <p:nvSpPr>
          <p:cNvPr id="329" name="Text 59"/>
          <p:cNvSpPr/>
          <p:nvPr/>
        </p:nvSpPr>
        <p:spPr>
          <a:xfrm>
            <a:off x="347980" y="3551555"/>
            <a:ext cx="1122045" cy="1797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altLang="zh-CN" sz="800" b="1" dirty="0"/>
              <a:t>3 Items Total</a:t>
            </a:r>
            <a:endParaRPr lang="en-US" altLang="zh-CN" sz="800" b="1" dirty="0"/>
          </a:p>
        </p:txBody>
      </p:sp>
      <p:sp>
        <p:nvSpPr>
          <p:cNvPr id="330" name="Text 60"/>
          <p:cNvSpPr/>
          <p:nvPr/>
        </p:nvSpPr>
        <p:spPr>
          <a:xfrm>
            <a:off x="2122805" y="3561080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172.92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31" name="Text 60"/>
          <p:cNvSpPr/>
          <p:nvPr/>
        </p:nvSpPr>
        <p:spPr>
          <a:xfrm>
            <a:off x="3811905" y="3563620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112.55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32" name="Text 60"/>
          <p:cNvSpPr/>
          <p:nvPr/>
        </p:nvSpPr>
        <p:spPr>
          <a:xfrm>
            <a:off x="5662930" y="3538220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140.32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33" name="Text 38"/>
          <p:cNvSpPr/>
          <p:nvPr/>
        </p:nvSpPr>
        <p:spPr>
          <a:xfrm>
            <a:off x="6478905" y="1582420"/>
            <a:ext cx="984250" cy="1187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</a:rPr>
              <a:t>Jul-26 批核APE（M）</a:t>
            </a:r>
          </a:p>
        </p:txBody>
      </p:sp>
      <p:sp>
        <p:nvSpPr>
          <p:cNvPr id="334" name="Text 46"/>
          <p:cNvSpPr/>
          <p:nvPr/>
        </p:nvSpPr>
        <p:spPr>
          <a:xfrm>
            <a:off x="6057265" y="179324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12.29M</a:t>
            </a:r>
          </a:p>
        </p:txBody>
      </p:sp>
      <p:sp>
        <p:nvSpPr>
          <p:cNvPr id="335" name="Text 54"/>
          <p:cNvSpPr/>
          <p:nvPr/>
        </p:nvSpPr>
        <p:spPr>
          <a:xfrm>
            <a:off x="6057265" y="2040255"/>
            <a:ext cx="1718310" cy="17589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15.18M</a:t>
            </a:r>
          </a:p>
        </p:txBody>
      </p:sp>
      <p:sp>
        <p:nvSpPr>
          <p:cNvPr id="336" name="Text 62"/>
          <p:cNvSpPr/>
          <p:nvPr/>
        </p:nvSpPr>
        <p:spPr>
          <a:xfrm>
            <a:off x="6057265" y="228727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0.08M</a:t>
            </a:r>
          </a:p>
        </p:txBody>
      </p:sp>
      <p:sp>
        <p:nvSpPr>
          <p:cNvPr id="337" name="Text 70"/>
          <p:cNvSpPr/>
          <p:nvPr/>
        </p:nvSpPr>
        <p:spPr>
          <a:xfrm>
            <a:off x="6367145" y="2768600"/>
            <a:ext cx="1096645" cy="2000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27.54M</a:t>
            </a:r>
          </a:p>
        </p:txBody>
      </p:sp>
      <p:sp>
        <p:nvSpPr>
          <p:cNvPr id="338" name="Text 78"/>
          <p:cNvSpPr/>
          <p:nvPr/>
        </p:nvSpPr>
        <p:spPr>
          <a:xfrm>
            <a:off x="6057265" y="3038475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1.56M</a:t>
            </a:r>
          </a:p>
        </p:txBody>
      </p:sp>
      <p:sp>
        <p:nvSpPr>
          <p:cNvPr id="339" name="Text 36"/>
          <p:cNvSpPr/>
          <p:nvPr/>
        </p:nvSpPr>
        <p:spPr>
          <a:xfrm>
            <a:off x="7355205" y="1572895"/>
            <a:ext cx="793750" cy="1200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ALICE</a:t>
            </a:r>
            <a:r>
              <a:rPr lang="zh-CN" alt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数据</a:t>
            </a: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( 28 Apr)</a:t>
            </a:r>
            <a:endParaRPr lang="en-US" altLang="zh-CN" sz="700" b="1" dirty="0">
              <a:solidFill>
                <a:srgbClr val="FFFFFF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340" name="Text 84"/>
          <p:cNvSpPr/>
          <p:nvPr/>
        </p:nvSpPr>
        <p:spPr>
          <a:xfrm>
            <a:off x="7479030" y="3289300"/>
            <a:ext cx="5207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5.62M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41" name="Text 44"/>
          <p:cNvSpPr/>
          <p:nvPr/>
        </p:nvSpPr>
        <p:spPr>
          <a:xfrm>
            <a:off x="7412355" y="1798955"/>
            <a:ext cx="631190" cy="177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3.57M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42" name="Text 76"/>
          <p:cNvSpPr/>
          <p:nvPr/>
        </p:nvSpPr>
        <p:spPr>
          <a:xfrm>
            <a:off x="7435215" y="3048000"/>
            <a:ext cx="608330" cy="17653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1.117M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43" name="Text 60"/>
          <p:cNvSpPr/>
          <p:nvPr/>
        </p:nvSpPr>
        <p:spPr>
          <a:xfrm>
            <a:off x="7415530" y="2303145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44" name="Text 52"/>
          <p:cNvSpPr/>
          <p:nvPr/>
        </p:nvSpPr>
        <p:spPr>
          <a:xfrm>
            <a:off x="7412355" y="2046605"/>
            <a:ext cx="631190" cy="1701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1.68M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45" name="Text 68"/>
          <p:cNvSpPr/>
          <p:nvPr/>
        </p:nvSpPr>
        <p:spPr>
          <a:xfrm>
            <a:off x="7438390" y="2780665"/>
            <a:ext cx="587375" cy="2165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5.25M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46" name="Text 60"/>
          <p:cNvSpPr/>
          <p:nvPr/>
        </p:nvSpPr>
        <p:spPr>
          <a:xfrm>
            <a:off x="7419340" y="3550920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12.04M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47" name="Text 84"/>
          <p:cNvSpPr/>
          <p:nvPr/>
        </p:nvSpPr>
        <p:spPr>
          <a:xfrm>
            <a:off x="9183370" y="3281680"/>
            <a:ext cx="5207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41.09M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48" name="Text 44"/>
          <p:cNvSpPr/>
          <p:nvPr/>
        </p:nvSpPr>
        <p:spPr>
          <a:xfrm>
            <a:off x="9116695" y="1791335"/>
            <a:ext cx="631190" cy="17653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28.04M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49" name="Text 36"/>
          <p:cNvSpPr/>
          <p:nvPr/>
        </p:nvSpPr>
        <p:spPr>
          <a:xfrm>
            <a:off x="9059545" y="1584325"/>
            <a:ext cx="793750" cy="1200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ALICE</a:t>
            </a:r>
            <a:r>
              <a:rPr lang="zh-CN" alt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数据</a:t>
            </a: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(</a:t>
            </a: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>17</a:t>
            </a: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> Apr</a:t>
            </a: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)</a:t>
            </a:r>
            <a:endParaRPr lang="en-US" altLang="zh-CN" sz="700" b="1" dirty="0">
              <a:solidFill>
                <a:srgbClr val="FFFFFF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350" name="Text 76"/>
          <p:cNvSpPr/>
          <p:nvPr/>
        </p:nvSpPr>
        <p:spPr>
          <a:xfrm>
            <a:off x="9139555" y="3040380"/>
            <a:ext cx="608330" cy="17653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68.28M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51" name="Text 60"/>
          <p:cNvSpPr/>
          <p:nvPr/>
        </p:nvSpPr>
        <p:spPr>
          <a:xfrm>
            <a:off x="9119870" y="2295525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14.04M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52" name="Text 52"/>
          <p:cNvSpPr/>
          <p:nvPr/>
        </p:nvSpPr>
        <p:spPr>
          <a:xfrm>
            <a:off x="9116695" y="2038985"/>
            <a:ext cx="631190" cy="1752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14.04M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53" name="Text 68"/>
          <p:cNvSpPr/>
          <p:nvPr/>
        </p:nvSpPr>
        <p:spPr>
          <a:xfrm>
            <a:off x="9142730" y="2769235"/>
            <a:ext cx="587375" cy="2165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56.12M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54" name="Text 60"/>
          <p:cNvSpPr/>
          <p:nvPr/>
        </p:nvSpPr>
        <p:spPr>
          <a:xfrm>
            <a:off x="9123680" y="3543300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163.49M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55" name="Text 84"/>
          <p:cNvSpPr/>
          <p:nvPr/>
        </p:nvSpPr>
        <p:spPr>
          <a:xfrm>
            <a:off x="11068050" y="3276600"/>
            <a:ext cx="5207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56" name="Text 44"/>
          <p:cNvSpPr/>
          <p:nvPr/>
        </p:nvSpPr>
        <p:spPr>
          <a:xfrm>
            <a:off x="11001375" y="1786255"/>
            <a:ext cx="631190" cy="177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57" name="Text 36"/>
          <p:cNvSpPr/>
          <p:nvPr/>
        </p:nvSpPr>
        <p:spPr>
          <a:xfrm>
            <a:off x="10944225" y="1579245"/>
            <a:ext cx="793750" cy="1200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ALICE</a:t>
            </a:r>
            <a:r>
              <a:rPr lang="zh-CN" alt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数据</a:t>
            </a: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(</a:t>
            </a: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>16</a:t>
            </a: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> Apr</a:t>
            </a: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)</a:t>
            </a:r>
            <a:endParaRPr lang="en-US" altLang="zh-CN" sz="700" b="1" dirty="0">
              <a:solidFill>
                <a:srgbClr val="FFFFFF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358" name="Text 76"/>
          <p:cNvSpPr/>
          <p:nvPr/>
        </p:nvSpPr>
        <p:spPr>
          <a:xfrm>
            <a:off x="11024235" y="3035300"/>
            <a:ext cx="608330" cy="17653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59" name="Text 60"/>
          <p:cNvSpPr/>
          <p:nvPr/>
        </p:nvSpPr>
        <p:spPr>
          <a:xfrm>
            <a:off x="11004550" y="2290445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60" name="Text 52"/>
          <p:cNvSpPr/>
          <p:nvPr/>
        </p:nvSpPr>
        <p:spPr>
          <a:xfrm>
            <a:off x="11001375" y="2033905"/>
            <a:ext cx="631190" cy="1752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61" name="Text 68"/>
          <p:cNvSpPr/>
          <p:nvPr/>
        </p:nvSpPr>
        <p:spPr>
          <a:xfrm>
            <a:off x="11027410" y="2783840"/>
            <a:ext cx="587375" cy="2165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62" name="Text 60"/>
          <p:cNvSpPr/>
          <p:nvPr/>
        </p:nvSpPr>
        <p:spPr>
          <a:xfrm>
            <a:off x="11008360" y="3538220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63" name="Shape 49"/>
          <p:cNvSpPr/>
          <p:nvPr/>
        </p:nvSpPr>
        <p:spPr>
          <a:xfrm>
            <a:off x="229870" y="2518410"/>
            <a:ext cx="11664950" cy="241300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364" name="Shape 50"/>
          <p:cNvSpPr/>
          <p:nvPr/>
        </p:nvSpPr>
        <p:spPr>
          <a:xfrm>
            <a:off x="239395" y="2518410"/>
            <a:ext cx="76200" cy="24130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p>
            <a:r>
              <a:rPr lang="en-US" sz="850" dirty="0"/>
              <a:t>0M</a:t>
            </a:r>
          </a:p>
        </p:txBody>
      </p:sp>
      <p:sp>
        <p:nvSpPr>
          <p:cNvPr id="365" name="Text 51"/>
          <p:cNvSpPr/>
          <p:nvPr/>
        </p:nvSpPr>
        <p:spPr>
          <a:xfrm>
            <a:off x="320040" y="2555240"/>
            <a:ext cx="112204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EG</a:t>
            </a:r>
            <a:endParaRPr lang="en-US" sz="800" dirty="0"/>
          </a:p>
        </p:txBody>
      </p:sp>
      <p:sp>
        <p:nvSpPr>
          <p:cNvPr id="366" name="Text 52"/>
          <p:cNvSpPr/>
          <p:nvPr/>
        </p:nvSpPr>
        <p:spPr>
          <a:xfrm>
            <a:off x="734060" y="255524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0M</a:t>
            </a:r>
          </a:p>
        </p:txBody>
      </p:sp>
      <p:sp>
        <p:nvSpPr>
          <p:cNvPr id="367" name="Text 53"/>
          <p:cNvSpPr/>
          <p:nvPr/>
        </p:nvSpPr>
        <p:spPr>
          <a:xfrm>
            <a:off x="2442845" y="255524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0M</a:t>
            </a:r>
          </a:p>
        </p:txBody>
      </p:sp>
      <p:sp>
        <p:nvSpPr>
          <p:cNvPr id="368" name="Text 54"/>
          <p:cNvSpPr/>
          <p:nvPr/>
        </p:nvSpPr>
        <p:spPr>
          <a:xfrm>
            <a:off x="4234815" y="255524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0M</a:t>
            </a:r>
          </a:p>
        </p:txBody>
      </p:sp>
      <p:sp>
        <p:nvSpPr>
          <p:cNvPr id="369" name="Text 55"/>
          <p:cNvSpPr/>
          <p:nvPr/>
        </p:nvSpPr>
        <p:spPr>
          <a:xfrm>
            <a:off x="7709535" y="253619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0M</a:t>
            </a:r>
          </a:p>
        </p:txBody>
      </p:sp>
      <p:sp>
        <p:nvSpPr>
          <p:cNvPr id="370" name="Text 56"/>
          <p:cNvSpPr/>
          <p:nvPr/>
        </p:nvSpPr>
        <p:spPr>
          <a:xfrm>
            <a:off x="9572625" y="2536190"/>
            <a:ext cx="169989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0M</a:t>
            </a:r>
          </a:p>
        </p:txBody>
      </p:sp>
      <p:sp>
        <p:nvSpPr>
          <p:cNvPr id="371" name="Text 52"/>
          <p:cNvSpPr/>
          <p:nvPr/>
        </p:nvSpPr>
        <p:spPr>
          <a:xfrm>
            <a:off x="2109470" y="2555240"/>
            <a:ext cx="63119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0.00M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72" name="Text 52"/>
          <p:cNvSpPr/>
          <p:nvPr/>
        </p:nvSpPr>
        <p:spPr>
          <a:xfrm>
            <a:off x="3798570" y="2557780"/>
            <a:ext cx="631190" cy="1752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0.00M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73" name="Text 52"/>
          <p:cNvSpPr/>
          <p:nvPr/>
        </p:nvSpPr>
        <p:spPr>
          <a:xfrm>
            <a:off x="5649595" y="2532380"/>
            <a:ext cx="631190" cy="1752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3.51M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74" name="Text 54"/>
          <p:cNvSpPr/>
          <p:nvPr/>
        </p:nvSpPr>
        <p:spPr>
          <a:xfrm>
            <a:off x="6050915" y="2538730"/>
            <a:ext cx="1718310" cy="17589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0M</a:t>
            </a:r>
          </a:p>
        </p:txBody>
      </p:sp>
      <p:sp>
        <p:nvSpPr>
          <p:cNvPr id="375" name="Text 52"/>
          <p:cNvSpPr/>
          <p:nvPr/>
        </p:nvSpPr>
        <p:spPr>
          <a:xfrm>
            <a:off x="7406005" y="2545080"/>
            <a:ext cx="631190" cy="1701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76" name="Text 52"/>
          <p:cNvSpPr/>
          <p:nvPr/>
        </p:nvSpPr>
        <p:spPr>
          <a:xfrm>
            <a:off x="9110345" y="2537460"/>
            <a:ext cx="631190" cy="1752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0.00M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77" name="Text 52"/>
          <p:cNvSpPr/>
          <p:nvPr/>
        </p:nvSpPr>
        <p:spPr>
          <a:xfrm>
            <a:off x="10995025" y="2532380"/>
            <a:ext cx="631190" cy="1752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Shape 85"/>
          <p:cNvSpPr/>
          <p:nvPr/>
        </p:nvSpPr>
        <p:spPr>
          <a:xfrm>
            <a:off x="2111781" y="4872019"/>
            <a:ext cx="4323715" cy="5687695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>
            <a:r>
              <a:t>MGA</a:t>
            </a:r>
          </a:p>
        </p:txBody>
      </p:sp>
      <p:sp>
        <p:nvSpPr>
          <p:cNvPr id="2" name="Shape 0"/>
          <p:cNvSpPr/>
          <p:nvPr/>
        </p:nvSpPr>
        <p:spPr>
          <a:xfrm>
            <a:off x="0" y="0"/>
            <a:ext cx="12161520" cy="47548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64592" y="73152"/>
            <a:ext cx="1005840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业务端视角仪表盘  |  Sales &amp; Channel View  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0058400" y="109728"/>
            <a:ext cx="19659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内部文件 · 仅供使用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109728" y="530352"/>
            <a:ext cx="2231136" cy="365760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9728" y="530352"/>
            <a:ext cx="2231136" cy="36576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01168" y="566928"/>
            <a:ext cx="13716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54.4%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201168" y="758952"/>
            <a:ext cx="2011680" cy="1188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全业务达成率</a:t>
            </a:r>
            <a:endParaRPr lang="en-US" sz="650" dirty="0"/>
          </a:p>
        </p:txBody>
      </p:sp>
      <p:sp>
        <p:nvSpPr>
          <p:cNvPr id="9" name="Shape 7"/>
          <p:cNvSpPr/>
          <p:nvPr/>
        </p:nvSpPr>
        <p:spPr>
          <a:xfrm>
            <a:off x="2487168" y="530352"/>
            <a:ext cx="2231136" cy="365760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2487168" y="530352"/>
            <a:ext cx="2231136" cy="36576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2578608" y="566928"/>
            <a:ext cx="13716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605M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2578608" y="758952"/>
            <a:ext cx="2011680" cy="1188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已批核APE</a:t>
            </a:r>
            <a:endParaRPr lang="en-US" sz="650" dirty="0"/>
          </a:p>
        </p:txBody>
      </p:sp>
      <p:sp>
        <p:nvSpPr>
          <p:cNvPr id="13" name="Shape 11"/>
          <p:cNvSpPr/>
          <p:nvPr/>
        </p:nvSpPr>
        <p:spPr>
          <a:xfrm>
            <a:off x="4864608" y="530352"/>
            <a:ext cx="2231136" cy="365760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4864608" y="530352"/>
            <a:ext cx="2231136" cy="36576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4956048" y="566928"/>
            <a:ext cx="13716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1,113M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956048" y="758952"/>
            <a:ext cx="2011680" cy="1188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年度目标</a:t>
            </a:r>
            <a:endParaRPr lang="en-US" sz="650" dirty="0"/>
          </a:p>
        </p:txBody>
      </p:sp>
      <p:sp>
        <p:nvSpPr>
          <p:cNvPr id="17" name="Shape 15"/>
          <p:cNvSpPr/>
          <p:nvPr/>
        </p:nvSpPr>
        <p:spPr>
          <a:xfrm>
            <a:off x="7242048" y="530352"/>
            <a:ext cx="2231136" cy="365760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7242048" y="530352"/>
            <a:ext cx="2231136" cy="36576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7333488" y="566928"/>
            <a:ext cx="13716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508M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7333488" y="758952"/>
            <a:ext cx="2011680" cy="1188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剩余缺口</a:t>
            </a:r>
            <a:endParaRPr lang="en-US" sz="650" dirty="0"/>
          </a:p>
        </p:txBody>
      </p:sp>
      <p:sp>
        <p:nvSpPr>
          <p:cNvPr id="21" name="Shape 19"/>
          <p:cNvSpPr/>
          <p:nvPr/>
        </p:nvSpPr>
        <p:spPr>
          <a:xfrm>
            <a:off x="9619488" y="530352"/>
            <a:ext cx="2231136" cy="365760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9619488" y="530352"/>
            <a:ext cx="2231136" cy="36576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9710928" y="566928"/>
            <a:ext cx="13716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1157件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9710928" y="758952"/>
            <a:ext cx="2011680" cy="1188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已批核件数</a:t>
            </a:r>
            <a:endParaRPr lang="en-US" sz="650" dirty="0"/>
          </a:p>
        </p:txBody>
      </p:sp>
      <p:sp>
        <p:nvSpPr>
          <p:cNvPr id="33" name="Shape 30"/>
          <p:cNvSpPr/>
          <p:nvPr/>
        </p:nvSpPr>
        <p:spPr>
          <a:xfrm>
            <a:off x="109855" y="996950"/>
            <a:ext cx="3782695" cy="5687695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34" name="Shape 31"/>
          <p:cNvSpPr/>
          <p:nvPr/>
        </p:nvSpPr>
        <p:spPr>
          <a:xfrm>
            <a:off x="109855" y="996950"/>
            <a:ext cx="3793490" cy="255905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35" name="Text 32"/>
          <p:cNvSpPr/>
          <p:nvPr/>
        </p:nvSpPr>
        <p:spPr>
          <a:xfrm>
            <a:off x="201041" y="1033526"/>
            <a:ext cx="3767328" cy="1920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G  达成率 × 目标规模 × 件数 — 业务线战略象限气泡图</a:t>
            </a:r>
            <a:endParaRPr lang="en-US" sz="850" dirty="0"/>
          </a:p>
        </p:txBody>
      </p:sp>
      <p:sp>
        <p:nvSpPr>
          <p:cNvPr id="36" name="Shape 33"/>
          <p:cNvSpPr/>
          <p:nvPr/>
        </p:nvSpPr>
        <p:spPr>
          <a:xfrm>
            <a:off x="488569" y="1290574"/>
            <a:ext cx="0" cy="484632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37" name="Text 34"/>
          <p:cNvSpPr/>
          <p:nvPr/>
        </p:nvSpPr>
        <p:spPr>
          <a:xfrm>
            <a:off x="318897" y="6169406"/>
            <a:ext cx="347472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0M</a:t>
            </a:r>
            <a:endParaRPr lang="en-US" sz="600" dirty="0"/>
          </a:p>
        </p:txBody>
      </p:sp>
      <p:sp>
        <p:nvSpPr>
          <p:cNvPr id="38" name="Shape 35"/>
          <p:cNvSpPr/>
          <p:nvPr/>
        </p:nvSpPr>
        <p:spPr>
          <a:xfrm>
            <a:off x="1357249" y="1290574"/>
            <a:ext cx="0" cy="484632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39" name="Text 36"/>
          <p:cNvSpPr/>
          <p:nvPr/>
        </p:nvSpPr>
        <p:spPr>
          <a:xfrm>
            <a:off x="1187577" y="6169406"/>
            <a:ext cx="347472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100M</a:t>
            </a:r>
            <a:endParaRPr lang="en-US" sz="600" dirty="0"/>
          </a:p>
        </p:txBody>
      </p:sp>
      <p:sp>
        <p:nvSpPr>
          <p:cNvPr id="40" name="Shape 37"/>
          <p:cNvSpPr/>
          <p:nvPr/>
        </p:nvSpPr>
        <p:spPr>
          <a:xfrm>
            <a:off x="2225929" y="1290574"/>
            <a:ext cx="0" cy="484632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41" name="Text 38"/>
          <p:cNvSpPr/>
          <p:nvPr/>
        </p:nvSpPr>
        <p:spPr>
          <a:xfrm>
            <a:off x="2056257" y="6169406"/>
            <a:ext cx="347472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200M</a:t>
            </a:r>
            <a:endParaRPr lang="en-US" sz="600" dirty="0"/>
          </a:p>
        </p:txBody>
      </p:sp>
      <p:sp>
        <p:nvSpPr>
          <p:cNvPr id="42" name="Shape 39"/>
          <p:cNvSpPr/>
          <p:nvPr/>
        </p:nvSpPr>
        <p:spPr>
          <a:xfrm>
            <a:off x="3094609" y="1290574"/>
            <a:ext cx="0" cy="484632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43" name="Text 40"/>
          <p:cNvSpPr/>
          <p:nvPr/>
        </p:nvSpPr>
        <p:spPr>
          <a:xfrm>
            <a:off x="2924937" y="6169406"/>
            <a:ext cx="347472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300M</a:t>
            </a:r>
            <a:endParaRPr lang="en-US" sz="600" dirty="0"/>
          </a:p>
        </p:txBody>
      </p:sp>
      <p:sp>
        <p:nvSpPr>
          <p:cNvPr id="44" name="Shape 41"/>
          <p:cNvSpPr/>
          <p:nvPr/>
        </p:nvSpPr>
        <p:spPr>
          <a:xfrm>
            <a:off x="3615817" y="1290574"/>
            <a:ext cx="0" cy="484632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45" name="Text 42"/>
          <p:cNvSpPr/>
          <p:nvPr/>
        </p:nvSpPr>
        <p:spPr>
          <a:xfrm>
            <a:off x="3446145" y="6169406"/>
            <a:ext cx="347472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360M</a:t>
            </a:r>
            <a:endParaRPr lang="en-US" sz="600" dirty="0"/>
          </a:p>
        </p:txBody>
      </p:sp>
      <p:sp>
        <p:nvSpPr>
          <p:cNvPr id="46" name="Shape 43"/>
          <p:cNvSpPr/>
          <p:nvPr/>
        </p:nvSpPr>
        <p:spPr>
          <a:xfrm>
            <a:off x="488569" y="6136894"/>
            <a:ext cx="3127248" cy="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47" name="Text 44"/>
          <p:cNvSpPr/>
          <p:nvPr/>
        </p:nvSpPr>
        <p:spPr>
          <a:xfrm>
            <a:off x="-78359" y="6063742"/>
            <a:ext cx="502920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0%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88569" y="5059934"/>
            <a:ext cx="3127248" cy="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49" name="Text 46"/>
          <p:cNvSpPr/>
          <p:nvPr/>
        </p:nvSpPr>
        <p:spPr>
          <a:xfrm>
            <a:off x="-78359" y="4986782"/>
            <a:ext cx="502920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20%</a:t>
            </a:r>
            <a:endParaRPr lang="en-US" sz="650" dirty="0"/>
          </a:p>
        </p:txBody>
      </p:sp>
      <p:sp>
        <p:nvSpPr>
          <p:cNvPr id="50" name="Shape 47"/>
          <p:cNvSpPr/>
          <p:nvPr/>
        </p:nvSpPr>
        <p:spPr>
          <a:xfrm>
            <a:off x="488569" y="3982974"/>
            <a:ext cx="3127248" cy="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51" name="Text 48"/>
          <p:cNvSpPr/>
          <p:nvPr/>
        </p:nvSpPr>
        <p:spPr>
          <a:xfrm>
            <a:off x="-78359" y="3909822"/>
            <a:ext cx="502920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40%</a:t>
            </a:r>
            <a:endParaRPr lang="en-US" sz="650" dirty="0"/>
          </a:p>
        </p:txBody>
      </p:sp>
      <p:sp>
        <p:nvSpPr>
          <p:cNvPr id="52" name="Shape 49"/>
          <p:cNvSpPr/>
          <p:nvPr/>
        </p:nvSpPr>
        <p:spPr>
          <a:xfrm>
            <a:off x="488569" y="2906014"/>
            <a:ext cx="3127248" cy="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53" name="Text 50"/>
          <p:cNvSpPr/>
          <p:nvPr/>
        </p:nvSpPr>
        <p:spPr>
          <a:xfrm>
            <a:off x="-78359" y="2832862"/>
            <a:ext cx="502920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60%</a:t>
            </a:r>
            <a:endParaRPr lang="en-US" sz="650" dirty="0"/>
          </a:p>
        </p:txBody>
      </p:sp>
      <p:sp>
        <p:nvSpPr>
          <p:cNvPr id="54" name="Shape 51"/>
          <p:cNvSpPr/>
          <p:nvPr/>
        </p:nvSpPr>
        <p:spPr>
          <a:xfrm>
            <a:off x="488569" y="1829054"/>
            <a:ext cx="3127248" cy="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55" name="Text 52"/>
          <p:cNvSpPr/>
          <p:nvPr/>
        </p:nvSpPr>
        <p:spPr>
          <a:xfrm>
            <a:off x="-78359" y="1755902"/>
            <a:ext cx="502920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80%</a:t>
            </a:r>
            <a:endParaRPr lang="en-US" sz="650" dirty="0"/>
          </a:p>
        </p:txBody>
      </p:sp>
      <p:sp>
        <p:nvSpPr>
          <p:cNvPr id="56" name="Shape 53"/>
          <p:cNvSpPr/>
          <p:nvPr/>
        </p:nvSpPr>
        <p:spPr>
          <a:xfrm>
            <a:off x="488569" y="4359910"/>
            <a:ext cx="3127248" cy="0"/>
          </a:xfrm>
          <a:prstGeom prst="line">
            <a:avLst/>
          </a:prstGeom>
          <a:noFill/>
          <a:ln w="10160">
            <a:solidFill>
              <a:srgbClr val="C0392B"/>
            </a:solidFill>
            <a:prstDash val="dash"/>
          </a:ln>
        </p:spPr>
        <p:txBody>
          <a:bodyPr/>
          <a:p/>
        </p:txBody>
      </p:sp>
      <p:sp>
        <p:nvSpPr>
          <p:cNvPr id="57" name="Text 54"/>
          <p:cNvSpPr/>
          <p:nvPr/>
        </p:nvSpPr>
        <p:spPr>
          <a:xfrm>
            <a:off x="525145" y="4222750"/>
            <a:ext cx="91440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时间基准33%</a:t>
            </a:r>
            <a:endParaRPr lang="en-US" sz="650" dirty="0"/>
          </a:p>
        </p:txBody>
      </p:sp>
      <p:sp>
        <p:nvSpPr>
          <p:cNvPr id="58" name="Text 55"/>
          <p:cNvSpPr/>
          <p:nvPr/>
        </p:nvSpPr>
        <p:spPr>
          <a:xfrm>
            <a:off x="2057273" y="6337046"/>
            <a:ext cx="777240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目标APE →</a:t>
            </a:r>
            <a:endParaRPr lang="en-US" sz="700" dirty="0"/>
          </a:p>
        </p:txBody>
      </p:sp>
      <p:sp>
        <p:nvSpPr>
          <p:cNvPr id="59" name="Text 56"/>
          <p:cNvSpPr/>
          <p:nvPr/>
        </p:nvSpPr>
        <p:spPr>
          <a:xfrm>
            <a:off x="135001" y="3269742"/>
            <a:ext cx="201168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达</a:t>
            </a:r>
            <a:endParaRPr lang="en-US" sz="650" dirty="0"/>
          </a:p>
          <a:p>
            <a:pPr marL="0" indent="0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成</a:t>
            </a:r>
            <a:endParaRPr lang="en-US" sz="650" dirty="0"/>
          </a:p>
          <a:p>
            <a:pPr marL="0" indent="0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率</a:t>
            </a:r>
            <a:endParaRPr lang="en-US" sz="650" dirty="0"/>
          </a:p>
          <a:p>
            <a:pPr marL="0" indent="0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↑</a:t>
            </a:r>
            <a:endParaRPr lang="en-US" sz="650" dirty="0"/>
          </a:p>
        </p:txBody>
      </p:sp>
      <p:sp>
        <p:nvSpPr>
          <p:cNvPr id="60" name="Shape 57"/>
          <p:cNvSpPr/>
          <p:nvPr/>
        </p:nvSpPr>
        <p:spPr>
          <a:xfrm>
            <a:off x="488569" y="1290574"/>
            <a:ext cx="1563624" cy="3069336"/>
          </a:xfrm>
          <a:prstGeom prst="rect">
            <a:avLst/>
          </a:prstGeom>
          <a:solidFill>
            <a:srgbClr val="FEF9C3">
              <a:alpha val="50000"/>
            </a:srgbClr>
          </a:solidFill>
          <a:ln w="3810">
            <a:solidFill>
              <a:srgbClr val="F5A623"/>
            </a:solidFill>
            <a:prstDash val="solid"/>
          </a:ln>
        </p:spPr>
        <p:txBody>
          <a:bodyPr/>
          <a:p/>
        </p:txBody>
      </p:sp>
      <p:sp>
        <p:nvSpPr>
          <p:cNvPr id="61" name="Shape 58"/>
          <p:cNvSpPr/>
          <p:nvPr/>
        </p:nvSpPr>
        <p:spPr>
          <a:xfrm>
            <a:off x="2052193" y="1290574"/>
            <a:ext cx="1563624" cy="3069336"/>
          </a:xfrm>
          <a:prstGeom prst="rect">
            <a:avLst/>
          </a:prstGeom>
          <a:solidFill>
            <a:srgbClr val="DCFCE7">
              <a:alpha val="50000"/>
            </a:srgbClr>
          </a:solidFill>
          <a:ln w="381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62" name="Shape 59"/>
          <p:cNvSpPr/>
          <p:nvPr/>
        </p:nvSpPr>
        <p:spPr>
          <a:xfrm>
            <a:off x="488569" y="4359910"/>
            <a:ext cx="1563624" cy="1776984"/>
          </a:xfrm>
          <a:prstGeom prst="rect">
            <a:avLst/>
          </a:prstGeom>
          <a:solidFill>
            <a:srgbClr val="FEE2E2">
              <a:alpha val="50000"/>
            </a:srgbClr>
          </a:solidFill>
          <a:ln w="381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63" name="Shape 60"/>
          <p:cNvSpPr/>
          <p:nvPr/>
        </p:nvSpPr>
        <p:spPr>
          <a:xfrm>
            <a:off x="2052193" y="4359910"/>
            <a:ext cx="1563624" cy="1776984"/>
          </a:xfrm>
          <a:prstGeom prst="rect">
            <a:avLst/>
          </a:prstGeom>
          <a:solidFill>
            <a:srgbClr val="FEE2E2">
              <a:alpha val="50000"/>
            </a:srgbClr>
          </a:solidFill>
          <a:ln w="381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64" name="Text 61"/>
          <p:cNvSpPr/>
          <p:nvPr/>
        </p:nvSpPr>
        <p:spPr>
          <a:xfrm>
            <a:off x="543433" y="1345438"/>
            <a:ext cx="7315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" dirty="0">
                <a:solidFill>
                  <a:srgbClr val="B4530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小目标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B4530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达标</a:t>
            </a:r>
            <a:endParaRPr lang="en-US" sz="600" dirty="0"/>
          </a:p>
        </p:txBody>
      </p:sp>
      <p:sp>
        <p:nvSpPr>
          <p:cNvPr id="65" name="Text 62"/>
          <p:cNvSpPr/>
          <p:nvPr/>
        </p:nvSpPr>
        <p:spPr>
          <a:xfrm>
            <a:off x="2107057" y="1345438"/>
            <a:ext cx="7315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大目标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达标</a:t>
            </a:r>
            <a:endParaRPr lang="en-US" sz="600" dirty="0"/>
          </a:p>
        </p:txBody>
      </p:sp>
      <p:sp>
        <p:nvSpPr>
          <p:cNvPr id="66" name="Text 63"/>
          <p:cNvSpPr/>
          <p:nvPr/>
        </p:nvSpPr>
        <p:spPr>
          <a:xfrm>
            <a:off x="543433" y="4414774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待激活</a:t>
            </a:r>
            <a:endParaRPr lang="en-US" sz="600" dirty="0"/>
          </a:p>
        </p:txBody>
      </p:sp>
      <p:sp>
        <p:nvSpPr>
          <p:cNvPr id="67" name="Text 64"/>
          <p:cNvSpPr/>
          <p:nvPr/>
        </p:nvSpPr>
        <p:spPr>
          <a:xfrm>
            <a:off x="2107057" y="4414774"/>
            <a:ext cx="7315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大目标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落后</a:t>
            </a:r>
            <a:endParaRPr lang="en-US" sz="600" dirty="0"/>
          </a:p>
        </p:txBody>
      </p:sp>
      <p:sp>
        <p:nvSpPr>
          <p:cNvPr id="68" name="Shape 65"/>
          <p:cNvSpPr/>
          <p:nvPr/>
        </p:nvSpPr>
        <p:spPr>
          <a:xfrm>
            <a:off x="2004452" y="1295574"/>
            <a:ext cx="442955" cy="442955"/>
          </a:xfrm>
          <a:prstGeom prst="ellipse">
            <a:avLst/>
          </a:prstGeom>
          <a:solidFill>
            <a:srgbClr val="1F3864">
              <a:alpha val="80000"/>
            </a:srgbClr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69" name="Text 66"/>
          <p:cNvSpPr/>
          <p:nvPr/>
        </p:nvSpPr>
        <p:spPr>
          <a:xfrm>
            <a:off x="1883029" y="1753528"/>
            <a:ext cx="68580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r>
              <a:rPr b="1" sz="650">
                <a:latin typeface="Calibri"/>
              </a:rPr>
              <a:t>BK</a:t>
            </a:r>
          </a:p>
        </p:txBody>
      </p:sp>
      <p:sp>
        <p:nvSpPr>
          <p:cNvPr id="70" name="Shape 67"/>
          <p:cNvSpPr/>
          <p:nvPr/>
        </p:nvSpPr>
        <p:spPr>
          <a:xfrm>
            <a:off x="3151762" y="3797499"/>
            <a:ext cx="580637" cy="580637"/>
          </a:xfrm>
          <a:prstGeom prst="ellipse">
            <a:avLst/>
          </a:prstGeom>
          <a:solidFill>
            <a:srgbClr val="1A7A3F">
              <a:alpha val="80000"/>
            </a:srgbClr>
          </a:solidFill>
          <a:ln w="1270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71" name="Text 68"/>
          <p:cNvSpPr/>
          <p:nvPr/>
        </p:nvSpPr>
        <p:spPr>
          <a:xfrm>
            <a:off x="3099180" y="4393135"/>
            <a:ext cx="68580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r>
              <a:rPr b="1" sz="650">
                <a:latin typeface="Calibri"/>
              </a:rPr>
              <a:t>永明经代</a:t>
            </a:r>
          </a:p>
        </p:txBody>
      </p:sp>
      <p:sp>
        <p:nvSpPr>
          <p:cNvPr id="72" name="Shape 69"/>
          <p:cNvSpPr/>
          <p:nvPr/>
        </p:nvSpPr>
        <p:spPr>
          <a:xfrm>
            <a:off x="1647817" y="2658541"/>
            <a:ext cx="461281" cy="461281"/>
          </a:xfrm>
          <a:prstGeom prst="ellipse">
            <a:avLst/>
          </a:prstGeom>
          <a:solidFill>
            <a:srgbClr val="E67E22">
              <a:alpha val="80000"/>
            </a:srgbClr>
          </a:solidFill>
          <a:ln w="12700">
            <a:solidFill>
              <a:srgbClr val="E67E22"/>
            </a:solidFill>
            <a:prstDash val="solid"/>
          </a:ln>
        </p:spPr>
        <p:txBody>
          <a:bodyPr/>
          <a:p/>
        </p:txBody>
      </p:sp>
      <p:sp>
        <p:nvSpPr>
          <p:cNvPr id="73" name="Text 70"/>
          <p:cNvSpPr/>
          <p:nvPr/>
        </p:nvSpPr>
        <p:spPr>
          <a:xfrm>
            <a:off x="1535557" y="3134821"/>
            <a:ext cx="685800" cy="24257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r>
              <a:rPr b="1" sz="650">
                <a:latin typeface="Calibri"/>
              </a:rPr>
              <a:t>同行经代</a:t>
            </a:r>
          </a:p>
        </p:txBody>
      </p:sp>
      <p:sp>
        <p:nvSpPr>
          <p:cNvPr id="74" name="Shape 71"/>
          <p:cNvSpPr/>
          <p:nvPr/>
        </p:nvSpPr>
        <p:spPr>
          <a:xfrm>
            <a:off x="1945706" y="4418189"/>
            <a:ext cx="438830" cy="438830"/>
          </a:xfrm>
          <a:prstGeom prst="ellipse">
            <a:avLst/>
          </a:prstGeom>
          <a:solidFill>
            <a:srgbClr val="2980B9">
              <a:alpha val="80000"/>
            </a:srgbClr>
          </a:solidFill>
          <a:ln w="12700">
            <a:solidFill>
              <a:srgbClr val="2980B9"/>
            </a:solidFill>
            <a:prstDash val="solid"/>
          </a:ln>
        </p:spPr>
        <p:txBody>
          <a:bodyPr/>
          <a:p/>
        </p:txBody>
      </p:sp>
      <p:sp>
        <p:nvSpPr>
          <p:cNvPr id="75" name="Text 72"/>
          <p:cNvSpPr/>
          <p:nvPr/>
        </p:nvSpPr>
        <p:spPr>
          <a:xfrm>
            <a:off x="1822221" y="4872019"/>
            <a:ext cx="68580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r>
              <a:rPr b="1" sz="650">
                <a:latin typeface="Calibri"/>
              </a:rPr>
              <a:t>天领</a:t>
            </a:r>
          </a:p>
        </p:txBody>
      </p:sp>
      <p:sp>
        <p:nvSpPr>
          <p:cNvPr id="76" name="Shape 73"/>
          <p:cNvSpPr/>
          <p:nvPr/>
        </p:nvSpPr>
        <p:spPr>
          <a:xfrm>
            <a:off x="841381" y="4251427"/>
            <a:ext cx="197803" cy="197803"/>
          </a:xfrm>
          <a:prstGeom prst="ellipse">
            <a:avLst/>
          </a:prstGeom>
          <a:solidFill>
            <a:srgbClr val="8E44AD">
              <a:alpha val="80000"/>
            </a:srgbClr>
          </a:solidFill>
          <a:ln w="12700">
            <a:solidFill>
              <a:srgbClr val="8E44AD"/>
            </a:solidFill>
            <a:prstDash val="solid"/>
          </a:ln>
        </p:spPr>
        <p:txBody>
          <a:bodyPr/>
          <a:p/>
        </p:txBody>
      </p:sp>
      <p:sp>
        <p:nvSpPr>
          <p:cNvPr id="77" name="Text 74"/>
          <p:cNvSpPr/>
          <p:nvPr/>
        </p:nvSpPr>
        <p:spPr>
          <a:xfrm>
            <a:off x="597382" y="4464229"/>
            <a:ext cx="68580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r>
              <a:rPr b="1" sz="650">
                <a:latin typeface="Calibri"/>
              </a:rPr>
              <a:t>ICLUB</a:t>
            </a:r>
          </a:p>
        </p:txBody>
      </p:sp>
      <p:sp>
        <p:nvSpPr>
          <p:cNvPr id="78" name="Shape 75"/>
          <p:cNvSpPr/>
          <p:nvPr/>
        </p:nvSpPr>
        <p:spPr>
          <a:xfrm>
            <a:off x="968896" y="5619336"/>
            <a:ext cx="255499" cy="255499"/>
          </a:xfrm>
          <a:prstGeom prst="ellipse">
            <a:avLst/>
          </a:prstGeom>
          <a:solidFill>
            <a:srgbClr val="16A085">
              <a:alpha val="80000"/>
            </a:srgbClr>
          </a:solidFill>
          <a:ln w="12700">
            <a:solidFill>
              <a:srgbClr val="16A085"/>
            </a:solidFill>
            <a:prstDash val="solid"/>
          </a:ln>
        </p:spPr>
        <p:txBody>
          <a:bodyPr/>
          <a:p/>
        </p:txBody>
      </p:sp>
      <p:sp>
        <p:nvSpPr>
          <p:cNvPr id="79" name="Text 76"/>
          <p:cNvSpPr/>
          <p:nvPr/>
        </p:nvSpPr>
        <p:spPr>
          <a:xfrm>
            <a:off x="753745" y="5889834"/>
            <a:ext cx="68580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r>
              <a:rPr b="1" sz="650">
                <a:latin typeface="Calibri"/>
              </a:rPr>
              <a:t>成事家办</a:t>
            </a:r>
          </a:p>
        </p:txBody>
      </p:sp>
      <p:sp>
        <p:nvSpPr>
          <p:cNvPr id="80" name="Shape 77"/>
          <p:cNvSpPr/>
          <p:nvPr/>
        </p:nvSpPr>
        <p:spPr>
          <a:xfrm>
            <a:off x="1003353" y="5870432"/>
            <a:ext cx="238704" cy="238704"/>
          </a:xfrm>
          <a:prstGeom prst="ellipse">
            <a:avLst/>
          </a:prstGeom>
          <a:solidFill>
            <a:srgbClr val="C0392B">
              <a:alpha val="80000"/>
            </a:srgbClr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81" name="Text 78"/>
          <p:cNvSpPr/>
          <p:nvPr/>
        </p:nvSpPr>
        <p:spPr>
          <a:xfrm>
            <a:off x="779805" y="5690840"/>
            <a:ext cx="68580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r>
              <a:rPr b="1" sz="650">
                <a:latin typeface="Calibri"/>
              </a:rPr>
              <a:t>合伙转介</a:t>
            </a:r>
          </a:p>
        </p:txBody>
      </p:sp>
      <p:sp>
        <p:nvSpPr>
          <p:cNvPr id="82" name="Shape 79"/>
          <p:cNvSpPr/>
          <p:nvPr/>
        </p:nvSpPr>
        <p:spPr>
          <a:xfrm>
            <a:off x="644891" y="6010198"/>
            <a:ext cx="121697" cy="121697"/>
          </a:xfrm>
          <a:prstGeom prst="ellipse">
            <a:avLst/>
          </a:prstGeom>
          <a:solidFill>
            <a:srgbClr val="B0B0B0">
              <a:alpha val="80000"/>
            </a:srgbClr>
          </a:solidFill>
          <a:ln w="12700">
            <a:solidFill>
              <a:srgbClr val="B0B0B0"/>
            </a:solidFill>
            <a:prstDash val="solid"/>
          </a:ln>
        </p:spPr>
        <p:txBody>
          <a:bodyPr/>
          <a:p/>
        </p:txBody>
      </p:sp>
      <p:sp>
        <p:nvSpPr>
          <p:cNvPr id="83" name="Text 80"/>
          <p:cNvSpPr/>
          <p:nvPr/>
        </p:nvSpPr>
        <p:spPr>
          <a:xfrm>
            <a:off x="362839" y="5830606"/>
            <a:ext cx="68580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r>
              <a:rPr b="1" sz="650">
                <a:latin typeface="Calibri"/>
              </a:rPr>
              <a:t>IFA</a:t>
            </a:r>
          </a:p>
        </p:txBody>
      </p:sp>
      <p:sp>
        <p:nvSpPr>
          <p:cNvPr id="84" name="Shape 81"/>
          <p:cNvSpPr/>
          <p:nvPr/>
        </p:nvSpPr>
        <p:spPr>
          <a:xfrm>
            <a:off x="493449" y="1295574"/>
            <a:ext cx="326941" cy="326941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85" name="Shape 82"/>
          <p:cNvSpPr/>
          <p:nvPr/>
        </p:nvSpPr>
        <p:spPr>
          <a:xfrm flipV="1">
            <a:off x="114935" y="6297295"/>
            <a:ext cx="3783330" cy="288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86" name="Text 83"/>
          <p:cNvSpPr/>
          <p:nvPr/>
        </p:nvSpPr>
        <p:spPr>
          <a:xfrm>
            <a:off x="201041" y="6337046"/>
            <a:ext cx="3767328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87" name="Text 84"/>
          <p:cNvSpPr/>
          <p:nvPr/>
        </p:nvSpPr>
        <p:spPr>
          <a:xfrm>
            <a:off x="186055" y="6456045"/>
            <a:ext cx="3606800" cy="21018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BK业务达成率 113.8% 领跑全渠道，是唯一接近达标的渠道。天领业务规模较大（批核 64.5M）但达成率仅 33.4%，是最大战略风险点。IFA业务达成率仅 0.0%，需重点关注。</a:t>
            </a:r>
            <a:endParaRPr lang="en-US" sz="550" dirty="0"/>
          </a:p>
        </p:txBody>
      </p:sp>
      <p:sp>
        <p:nvSpPr>
          <p:cNvPr id="88" name="Shape 85"/>
          <p:cNvSpPr/>
          <p:nvPr/>
        </p:nvSpPr>
        <p:spPr>
          <a:xfrm>
            <a:off x="3952875" y="996950"/>
            <a:ext cx="3702685" cy="5687695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>
            <a:endParaRPr lang="zh-CN" altLang="en-US"/>
          </a:p>
        </p:txBody>
      </p:sp>
      <p:sp>
        <p:nvSpPr>
          <p:cNvPr id="89" name="Shape 86"/>
          <p:cNvSpPr/>
          <p:nvPr/>
        </p:nvSpPr>
        <p:spPr>
          <a:xfrm>
            <a:off x="3964305" y="993140"/>
            <a:ext cx="3691255" cy="259715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90" name="Text 87"/>
          <p:cNvSpPr/>
          <p:nvPr/>
        </p:nvSpPr>
        <p:spPr>
          <a:xfrm>
            <a:off x="4055745" y="1038225"/>
            <a:ext cx="3380105" cy="1873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H  全业务目标缺口分解 — Gap Waterfall</a:t>
            </a: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（APE in M）</a:t>
            </a:r>
            <a:endParaRPr lang="en-US" sz="850" dirty="0"/>
          </a:p>
        </p:txBody>
      </p:sp>
      <p:sp>
        <p:nvSpPr>
          <p:cNvPr id="127" name="Shape 124"/>
          <p:cNvSpPr/>
          <p:nvPr/>
        </p:nvSpPr>
        <p:spPr>
          <a:xfrm>
            <a:off x="4074160" y="5974715"/>
            <a:ext cx="3467100" cy="285115"/>
          </a:xfrm>
          <a:prstGeom prst="rect">
            <a:avLst/>
          </a:prstGeom>
          <a:solidFill>
            <a:srgbClr val="FDECEA"/>
          </a:solidFill>
          <a:ln w="1016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128" name="Text 125"/>
          <p:cNvSpPr/>
          <p:nvPr/>
        </p:nvSpPr>
        <p:spPr>
          <a:xfrm>
            <a:off x="4110736" y="6044438"/>
            <a:ext cx="356616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已达成仅 54.4%  |  剩余缺口 508M  |  需 6 个月完成 45.6%</a:t>
            </a:r>
            <a:endParaRPr lang="en-US" sz="800" dirty="0"/>
          </a:p>
        </p:txBody>
      </p:sp>
      <p:sp>
        <p:nvSpPr>
          <p:cNvPr id="129" name="Shape 126"/>
          <p:cNvSpPr/>
          <p:nvPr/>
        </p:nvSpPr>
        <p:spPr>
          <a:xfrm>
            <a:off x="3964305" y="6300470"/>
            <a:ext cx="3690620" cy="410210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130" name="Shape 127"/>
          <p:cNvSpPr/>
          <p:nvPr/>
        </p:nvSpPr>
        <p:spPr>
          <a:xfrm>
            <a:off x="3964305" y="6308725"/>
            <a:ext cx="3686400" cy="288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131" name="Text 128"/>
          <p:cNvSpPr/>
          <p:nvPr/>
        </p:nvSpPr>
        <p:spPr>
          <a:xfrm>
            <a:off x="4055745" y="6327775"/>
            <a:ext cx="3672840" cy="13779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132" name="Text 129"/>
          <p:cNvSpPr/>
          <p:nvPr/>
        </p:nvSpPr>
        <p:spPr>
          <a:xfrm>
            <a:off x="4055745" y="6438900"/>
            <a:ext cx="3401060" cy="22733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BK业务贡献最大批核（227.6M）。已批核 + 在途合计 728.5M，距目标 1113M 仍差 384M。若未批核 107.3M 与待签 16.0M 快速推进，可直接拉升年度达成。</a:t>
            </a:r>
            <a:endParaRPr lang="en-US" sz="550" dirty="0"/>
          </a:p>
        </p:txBody>
      </p:sp>
      <p:sp>
        <p:nvSpPr>
          <p:cNvPr id="28" name="Shape 88"/>
          <p:cNvSpPr/>
          <p:nvPr/>
        </p:nvSpPr>
        <p:spPr>
          <a:xfrm>
            <a:off x="4402455" y="5625084"/>
            <a:ext cx="3108960" cy="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33" name="Text 89"/>
          <p:cNvSpPr/>
          <p:nvPr/>
        </p:nvSpPr>
        <p:spPr>
          <a:xfrm>
            <a:off x="3868039" y="5551932"/>
            <a:ext cx="347472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0M</a:t>
            </a:r>
            <a:endParaRPr lang="en-US" sz="650" dirty="0"/>
          </a:p>
        </p:txBody>
      </p:sp>
      <p:sp>
        <p:nvSpPr>
          <p:cNvPr id="134" name="Shape 90"/>
          <p:cNvSpPr/>
          <p:nvPr/>
        </p:nvSpPr>
        <p:spPr>
          <a:xfrm>
            <a:off x="4407535" y="4527804"/>
            <a:ext cx="3108960" cy="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35" name="Text 91"/>
          <p:cNvSpPr/>
          <p:nvPr/>
        </p:nvSpPr>
        <p:spPr>
          <a:xfrm>
            <a:off x="3868039" y="4454652"/>
            <a:ext cx="347472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300M</a:t>
            </a:r>
            <a:endParaRPr lang="en-US" sz="650" dirty="0"/>
          </a:p>
        </p:txBody>
      </p:sp>
      <p:sp>
        <p:nvSpPr>
          <p:cNvPr id="136" name="Shape 92"/>
          <p:cNvSpPr/>
          <p:nvPr/>
        </p:nvSpPr>
        <p:spPr>
          <a:xfrm>
            <a:off x="4407535" y="3430524"/>
            <a:ext cx="3108960" cy="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37" name="Text 93"/>
          <p:cNvSpPr/>
          <p:nvPr/>
        </p:nvSpPr>
        <p:spPr>
          <a:xfrm>
            <a:off x="3868039" y="3357372"/>
            <a:ext cx="347472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600M</a:t>
            </a:r>
            <a:endParaRPr lang="en-US" sz="650" dirty="0"/>
          </a:p>
        </p:txBody>
      </p:sp>
      <p:sp>
        <p:nvSpPr>
          <p:cNvPr id="138" name="Shape 94"/>
          <p:cNvSpPr/>
          <p:nvPr/>
        </p:nvSpPr>
        <p:spPr>
          <a:xfrm>
            <a:off x="4407535" y="2333244"/>
            <a:ext cx="3108960" cy="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39" name="Text 95"/>
          <p:cNvSpPr/>
          <p:nvPr/>
        </p:nvSpPr>
        <p:spPr>
          <a:xfrm>
            <a:off x="3868039" y="2260092"/>
            <a:ext cx="347472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900M</a:t>
            </a:r>
            <a:endParaRPr lang="en-US" sz="650" dirty="0"/>
          </a:p>
        </p:txBody>
      </p:sp>
      <p:sp>
        <p:nvSpPr>
          <p:cNvPr id="140" name="Shape 96"/>
          <p:cNvSpPr/>
          <p:nvPr/>
        </p:nvSpPr>
        <p:spPr>
          <a:xfrm>
            <a:off x="4407535" y="1554175"/>
            <a:ext cx="3108960" cy="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41" name="Text 97"/>
          <p:cNvSpPr/>
          <p:nvPr/>
        </p:nvSpPr>
        <p:spPr>
          <a:xfrm>
            <a:off x="3868039" y="1481023"/>
            <a:ext cx="347472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1113M</a:t>
            </a:r>
            <a:endParaRPr lang="en-US" sz="650" dirty="0"/>
          </a:p>
        </p:txBody>
      </p:sp>
      <p:sp>
        <p:nvSpPr>
          <p:cNvPr id="142" name="Shape 98"/>
          <p:cNvSpPr/>
          <p:nvPr/>
        </p:nvSpPr>
        <p:spPr>
          <a:xfrm>
            <a:off x="4270375" y="1554480"/>
            <a:ext cx="241300" cy="4070985"/>
          </a:xfrm>
          <a:prstGeom prst="rect">
            <a:avLst/>
          </a:prstGeom>
          <a:solidFill>
            <a:srgbClr val="CBD5E0"/>
          </a:solidFill>
          <a:ln w="12700">
            <a:solidFill>
              <a:srgbClr val="CBD5E0"/>
            </a:solidFill>
            <a:prstDash val="solid"/>
          </a:ln>
        </p:spPr>
        <p:txBody>
          <a:bodyPr/>
          <a:p/>
        </p:txBody>
      </p:sp>
      <p:sp>
        <p:nvSpPr>
          <p:cNvPr id="143" name="Text 99"/>
          <p:cNvSpPr/>
          <p:nvPr/>
        </p:nvSpPr>
        <p:spPr>
          <a:xfrm>
            <a:off x="4194175" y="3498190"/>
            <a:ext cx="3840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1,113</a:t>
            </a:r>
            <a:endParaRPr lang="en-US" sz="750" dirty="0"/>
          </a:p>
        </p:txBody>
      </p:sp>
      <p:sp>
        <p:nvSpPr>
          <p:cNvPr id="144" name="Text 100"/>
          <p:cNvSpPr/>
          <p:nvPr/>
        </p:nvSpPr>
        <p:spPr>
          <a:xfrm>
            <a:off x="4177919" y="5670804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年度</a:t>
            </a:r>
            <a:endParaRPr lang="en-US" sz="650" dirty="0"/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目标</a:t>
            </a:r>
            <a:endParaRPr lang="en-US" sz="650" dirty="0"/>
          </a:p>
        </p:txBody>
      </p:sp>
      <p:sp>
        <p:nvSpPr>
          <p:cNvPr id="145" name="Shape 101"/>
          <p:cNvSpPr/>
          <p:nvPr/>
        </p:nvSpPr>
        <p:spPr>
          <a:xfrm>
            <a:off x="4654423" y="5625084"/>
            <a:ext cx="91440" cy="0"/>
          </a:xfrm>
          <a:prstGeom prst="line">
            <a:avLst/>
          </a:prstGeom>
          <a:noFill/>
          <a:ln w="5080">
            <a:solidFill>
              <a:srgbClr val="94A3B8"/>
            </a:solidFill>
            <a:prstDash val="sysDot"/>
          </a:ln>
        </p:spPr>
        <p:txBody>
          <a:bodyPr/>
          <a:p/>
        </p:txBody>
      </p:sp>
      <p:sp>
        <p:nvSpPr>
          <p:cNvPr id="146" name="Shape 102"/>
          <p:cNvSpPr/>
          <p:nvPr/>
        </p:nvSpPr>
        <p:spPr>
          <a:xfrm>
            <a:off x="4563110" y="1554480"/>
            <a:ext cx="241200" cy="832517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147" name="Text 103"/>
          <p:cNvSpPr/>
          <p:nvPr/>
        </p:nvSpPr>
        <p:spPr>
          <a:xfrm>
            <a:off x="4480433" y="1331600"/>
            <a:ext cx="3840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−228</a:t>
            </a:r>
            <a:endParaRPr lang="en-US" sz="750" b="1" dirty="0">
              <a:solidFill>
                <a:srgbClr val="1F3864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48" name="Text 104"/>
          <p:cNvSpPr/>
          <p:nvPr/>
        </p:nvSpPr>
        <p:spPr>
          <a:xfrm>
            <a:off x="4495165" y="5658485"/>
            <a:ext cx="338455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</a:t>
            </a:r>
            <a:endParaRPr lang="en-US" sz="650" dirty="0">
              <a:solidFill>
                <a:srgbClr val="374151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zh-CN" altLang="en-US" sz="6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业务</a:t>
            </a:r>
            <a:endParaRPr lang="en-US" sz="650" dirty="0"/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650" dirty="0"/>
          </a:p>
        </p:txBody>
      </p:sp>
      <p:sp>
        <p:nvSpPr>
          <p:cNvPr id="150" name="Shape 106"/>
          <p:cNvSpPr/>
          <p:nvPr/>
        </p:nvSpPr>
        <p:spPr>
          <a:xfrm>
            <a:off x="4860925" y="2386997"/>
            <a:ext cx="241200" cy="553024"/>
          </a:xfrm>
          <a:prstGeom prst="rect">
            <a:avLst/>
          </a:prstGeom>
          <a:solidFill>
            <a:srgbClr val="1A7A3F"/>
          </a:solidFill>
          <a:ln w="1270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151" name="Text 107"/>
          <p:cNvSpPr/>
          <p:nvPr/>
        </p:nvSpPr>
        <p:spPr>
          <a:xfrm>
            <a:off x="4785106" y="2164117"/>
            <a:ext cx="3840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−151</a:t>
            </a:r>
            <a:endParaRPr lang="en-US" sz="750" b="1" dirty="0">
              <a:solidFill>
                <a:srgbClr val="1A7A3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52" name="Text 108"/>
          <p:cNvSpPr/>
          <p:nvPr/>
        </p:nvSpPr>
        <p:spPr>
          <a:xfrm>
            <a:off x="4789805" y="5657850"/>
            <a:ext cx="334645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650" dirty="0">
              <a:solidFill>
                <a:srgbClr val="374151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经代</a:t>
            </a:r>
            <a:endParaRPr lang="en-US" sz="650" dirty="0"/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650" dirty="0"/>
          </a:p>
        </p:txBody>
      </p:sp>
      <p:sp>
        <p:nvSpPr>
          <p:cNvPr id="313" name="Shape_313"/>
          <p:cNvSpPr/>
          <p:nvPr/>
        </p:nvSpPr>
        <p:spPr>
          <a:xfrm>
            <a:off x="5178425" y="2940021"/>
            <a:ext cx="241200" cy="401976"/>
          </a:xfrm>
          <a:prstGeom prst="rect">
            <a:avLst/>
          </a:prstGeom>
          <a:solidFill>
            <a:srgbClr val="EB954B"/>
          </a:solidFill>
          <a:ln w="9525">
            <a:solidFill>
              <a:srgbClr val="EB954B"/>
            </a:solidFill>
          </a:ln>
        </p:spPr>
        <p:txBody>
          <a:bodyPr/>
          <a:p/>
        </p:txBody>
      </p:sp>
      <p:sp>
        <p:nvSpPr>
          <p:cNvPr id="155" name="Shape 114"/>
          <p:cNvSpPr/>
          <p:nvPr/>
        </p:nvSpPr>
        <p:spPr>
          <a:xfrm>
            <a:off x="6605905" y="3767784"/>
            <a:ext cx="244475" cy="392613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156" name="Text 115"/>
          <p:cNvSpPr/>
          <p:nvPr/>
        </p:nvSpPr>
        <p:spPr>
          <a:xfrm>
            <a:off x="6517767" y="2627579"/>
            <a:ext cx="3840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chemeClr val="accent4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−107</a:t>
            </a:r>
            <a:endParaRPr lang="en-US" sz="750" b="1" dirty="0">
              <a:solidFill>
                <a:schemeClr val="accent4">
                  <a:lumMod val="75000"/>
                </a:schemeClr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57" name="Text 116"/>
          <p:cNvSpPr/>
          <p:nvPr/>
        </p:nvSpPr>
        <p:spPr>
          <a:xfrm>
            <a:off x="6577711" y="5660644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未</a:t>
            </a:r>
            <a:endParaRPr lang="en-US" sz="650" dirty="0"/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650" dirty="0"/>
          </a:p>
        </p:txBody>
      </p:sp>
      <p:sp>
        <p:nvSpPr>
          <p:cNvPr id="159" name="Shape 118"/>
          <p:cNvSpPr/>
          <p:nvPr/>
        </p:nvSpPr>
        <p:spPr>
          <a:xfrm>
            <a:off x="6917055" y="4160398"/>
            <a:ext cx="241300" cy="58700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160" name="Text 119"/>
          <p:cNvSpPr/>
          <p:nvPr/>
        </p:nvSpPr>
        <p:spPr>
          <a:xfrm>
            <a:off x="6850380" y="3273425"/>
            <a:ext cx="349885" cy="1371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−4</a:t>
            </a:r>
            <a:endParaRPr lang="en-US" sz="700" dirty="0"/>
          </a:p>
        </p:txBody>
      </p:sp>
      <p:sp>
        <p:nvSpPr>
          <p:cNvPr id="161" name="Text 120"/>
          <p:cNvSpPr/>
          <p:nvPr/>
        </p:nvSpPr>
        <p:spPr>
          <a:xfrm>
            <a:off x="6943090" y="5668010"/>
            <a:ext cx="278130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待</a:t>
            </a:r>
            <a:endParaRPr lang="en-US" sz="650" dirty="0"/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签</a:t>
            </a:r>
            <a:endParaRPr lang="en-US" sz="650" dirty="0"/>
          </a:p>
        </p:txBody>
      </p:sp>
      <p:sp>
        <p:nvSpPr>
          <p:cNvPr id="162" name="Shape 121"/>
          <p:cNvSpPr/>
          <p:nvPr/>
        </p:nvSpPr>
        <p:spPr>
          <a:xfrm>
            <a:off x="7194550" y="4219098"/>
            <a:ext cx="238760" cy="1405985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163" name="Text 122"/>
          <p:cNvSpPr/>
          <p:nvPr/>
        </p:nvSpPr>
        <p:spPr>
          <a:xfrm>
            <a:off x="7118223" y="4426671"/>
            <a:ext cx="3840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384</a:t>
            </a:r>
            <a:endParaRPr lang="en-US" sz="750" dirty="0"/>
          </a:p>
        </p:txBody>
      </p:sp>
      <p:sp>
        <p:nvSpPr>
          <p:cNvPr id="164" name="Text 123"/>
          <p:cNvSpPr/>
          <p:nvPr/>
        </p:nvSpPr>
        <p:spPr>
          <a:xfrm>
            <a:off x="7081647" y="5670804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预估</a:t>
            </a: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缺口</a:t>
            </a:r>
            <a:endParaRPr lang="en-US" sz="650" dirty="0"/>
          </a:p>
        </p:txBody>
      </p:sp>
      <p:sp>
        <p:nvSpPr>
          <p:cNvPr id="165" name="Text 108"/>
          <p:cNvSpPr/>
          <p:nvPr/>
        </p:nvSpPr>
        <p:spPr>
          <a:xfrm>
            <a:off x="5117465" y="5671185"/>
            <a:ext cx="334645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6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同行</a:t>
            </a: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经代</a:t>
            </a:r>
            <a:endParaRPr lang="en-US" sz="650" dirty="0"/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650" dirty="0"/>
          </a:p>
        </p:txBody>
      </p:sp>
      <p:sp>
        <p:nvSpPr>
          <p:cNvPr id="168" name="Text 104"/>
          <p:cNvSpPr/>
          <p:nvPr/>
        </p:nvSpPr>
        <p:spPr>
          <a:xfrm>
            <a:off x="5420995" y="5673090"/>
            <a:ext cx="360045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天领</a:t>
            </a: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zh-CN" alt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业务</a:t>
            </a: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650" dirty="0"/>
          </a:p>
        </p:txBody>
      </p:sp>
      <p:sp>
        <p:nvSpPr>
          <p:cNvPr id="169" name="Text 107"/>
          <p:cNvSpPr/>
          <p:nvPr/>
        </p:nvSpPr>
        <p:spPr>
          <a:xfrm>
            <a:off x="5104765" y="2717141"/>
            <a:ext cx="384175" cy="9715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EB954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−110</a:t>
            </a:r>
            <a:endParaRPr lang="en-US" sz="750" b="1" dirty="0">
              <a:solidFill>
                <a:srgbClr val="EB954B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70" name="Shape_315"/>
          <p:cNvSpPr/>
          <p:nvPr/>
        </p:nvSpPr>
        <p:spPr>
          <a:xfrm>
            <a:off x="5488940" y="3341998"/>
            <a:ext cx="241200" cy="235714"/>
          </a:xfrm>
          <a:prstGeom prst="rect">
            <a:avLst/>
          </a:prstGeom>
          <a:solidFill>
            <a:srgbClr val="5295C3"/>
          </a:solidFill>
          <a:ln w="9525">
            <a:solidFill>
              <a:srgbClr val="2980B9"/>
            </a:solidFill>
          </a:ln>
        </p:spPr>
        <p:txBody>
          <a:bodyPr/>
          <a:p/>
        </p:txBody>
      </p:sp>
      <p:sp>
        <p:nvSpPr>
          <p:cNvPr id="171" name="Text_314"/>
          <p:cNvSpPr/>
          <p:nvPr/>
        </p:nvSpPr>
        <p:spPr>
          <a:xfrm>
            <a:off x="5525135" y="3119118"/>
            <a:ext cx="249555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750" b="1" dirty="0">
                <a:solidFill>
                  <a:srgbClr val="5295C3"/>
                </a:solidFill>
                <a:cs typeface="+mn-lt"/>
              </a:rPr>
              <a:t>−64</a:t>
            </a:r>
            <a:r>
              <a:rPr lang="en-US" altLang="zh-CN" sz="750" b="1" dirty="0">
                <a:solidFill>
                  <a:srgbClr val="5295C3"/>
                </a:solidFill>
                <a:cs typeface="+mn-lt"/>
              </a:rPr>
              <a:t/>
            </a:r>
            <a:endParaRPr lang="en-US" altLang="zh-CN" sz="750" b="1" dirty="0">
              <a:solidFill>
                <a:srgbClr val="5295C3"/>
              </a:solidFill>
              <a:cs typeface="+mn-lt"/>
            </a:endParaRPr>
          </a:p>
        </p:txBody>
      </p:sp>
      <p:sp>
        <p:nvSpPr>
          <p:cNvPr id="172" name="Shape_315"/>
          <p:cNvSpPr/>
          <p:nvPr/>
        </p:nvSpPr>
        <p:spPr>
          <a:xfrm>
            <a:off x="5778500" y="3577712"/>
            <a:ext cx="241300" cy="74609"/>
          </a:xfrm>
          <a:prstGeom prst="rect">
            <a:avLst/>
          </a:prstGeom>
          <a:solidFill>
            <a:srgbClr val="7030A0"/>
          </a:solidFill>
          <a:ln w="9525">
            <a:solidFill>
              <a:srgbClr val="7030A0"/>
            </a:solidFill>
          </a:ln>
        </p:spPr>
        <p:txBody>
          <a:bodyPr/>
          <a:p/>
        </p:txBody>
      </p:sp>
      <p:sp>
        <p:nvSpPr>
          <p:cNvPr id="173" name="Text_314"/>
          <p:cNvSpPr/>
          <p:nvPr/>
        </p:nvSpPr>
        <p:spPr>
          <a:xfrm>
            <a:off x="5805805" y="3354832"/>
            <a:ext cx="249555" cy="1600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750" b="1" dirty="0">
                <a:solidFill>
                  <a:srgbClr val="7030A0"/>
                </a:solidFill>
                <a:cs typeface="+mn-lt"/>
              </a:rPr>
              <a:t>−20</a:t>
            </a:r>
            <a:r>
              <a:rPr lang="en-US" altLang="zh-CN" sz="750" b="1" dirty="0">
                <a:solidFill>
                  <a:srgbClr val="7030A0"/>
                </a:solidFill>
                <a:cs typeface="+mn-lt"/>
              </a:rPr>
              <a:t/>
            </a:r>
            <a:endParaRPr lang="en-US" altLang="zh-CN" sz="750" b="1" dirty="0">
              <a:solidFill>
                <a:srgbClr val="7030A0"/>
              </a:solidFill>
              <a:cs typeface="+mn-lt"/>
            </a:endParaRPr>
          </a:p>
        </p:txBody>
      </p:sp>
      <p:sp>
        <p:nvSpPr>
          <p:cNvPr id="175" name="Text 104"/>
          <p:cNvSpPr/>
          <p:nvPr/>
        </p:nvSpPr>
        <p:spPr>
          <a:xfrm>
            <a:off x="5738495" y="5668010"/>
            <a:ext cx="360045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zh-CN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ICLUB</a:t>
            </a:r>
            <a:endParaRPr lang="en-US" altLang="zh-CN" sz="650" dirty="0">
              <a:solidFill>
                <a:srgbClr val="374151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650" dirty="0"/>
          </a:p>
        </p:txBody>
      </p:sp>
      <p:sp>
        <p:nvSpPr>
          <p:cNvPr id="176" name="Text 104"/>
          <p:cNvSpPr/>
          <p:nvPr/>
        </p:nvSpPr>
        <p:spPr>
          <a:xfrm>
            <a:off x="5946775" y="5683250"/>
            <a:ext cx="360045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177" name="Shape_315"/>
          <p:cNvSpPr/>
          <p:nvPr/>
        </p:nvSpPr>
        <p:spPr>
          <a:xfrm>
            <a:off x="6337300" y="3680556"/>
            <a:ext cx="241300" cy="16348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9525"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/>
          <a:p/>
        </p:txBody>
      </p:sp>
      <p:sp>
        <p:nvSpPr>
          <p:cNvPr id="178" name="Text_314"/>
          <p:cNvSpPr/>
          <p:nvPr/>
        </p:nvSpPr>
        <p:spPr>
          <a:xfrm>
            <a:off x="6356985" y="3457676"/>
            <a:ext cx="249555" cy="1333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750" b="1" dirty="0">
                <a:solidFill>
                  <a:schemeClr val="accent6">
                    <a:lumMod val="60000"/>
                    <a:lumOff val="40000"/>
                  </a:schemeClr>
                </a:solidFill>
                <a:cs typeface="+mn-lt"/>
              </a:rPr>
              <a:t>−4</a:t>
            </a:r>
            <a:r>
              <a:rPr lang="en-US" sz="750" b="1" dirty="0">
                <a:solidFill>
                  <a:schemeClr val="accent6">
                    <a:lumMod val="60000"/>
                    <a:lumOff val="40000"/>
                  </a:schemeClr>
                </a:solidFill>
                <a:cs typeface="+mn-lt"/>
              </a:rPr>
              <a:t/>
            </a:r>
            <a:endParaRPr lang="en-US" sz="750" b="1" dirty="0">
              <a:solidFill>
                <a:schemeClr val="accent6">
                  <a:lumMod val="60000"/>
                  <a:lumOff val="40000"/>
                </a:schemeClr>
              </a:solidFill>
              <a:cs typeface="+mn-lt"/>
            </a:endParaRPr>
          </a:p>
        </p:txBody>
      </p:sp>
      <p:sp>
        <p:nvSpPr>
          <p:cNvPr id="180" name="Text 104"/>
          <p:cNvSpPr/>
          <p:nvPr/>
        </p:nvSpPr>
        <p:spPr>
          <a:xfrm>
            <a:off x="6311900" y="5673090"/>
            <a:ext cx="360045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6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成事</a:t>
            </a: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zh-CN" altLang="en-US" sz="6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家办</a:t>
            </a: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650" dirty="0"/>
          </a:p>
        </p:txBody>
      </p:sp>
      <p:sp>
        <p:nvSpPr>
          <p:cNvPr id="182" name="Shape_315"/>
          <p:cNvSpPr/>
          <p:nvPr/>
        </p:nvSpPr>
        <p:spPr>
          <a:xfrm flipV="1">
            <a:off x="6057900" y="3652322"/>
            <a:ext cx="241300" cy="28234"/>
          </a:xfrm>
          <a:prstGeom prst="rect">
            <a:avLst/>
          </a:prstGeom>
          <a:solidFill>
            <a:srgbClr val="C0392B"/>
          </a:solidFill>
          <a:ln w="9525">
            <a:solidFill>
              <a:srgbClr val="C0392B"/>
            </a:solidFill>
          </a:ln>
        </p:spPr>
        <p:txBody>
          <a:bodyPr/>
          <a:p/>
        </p:txBody>
      </p:sp>
      <p:sp>
        <p:nvSpPr>
          <p:cNvPr id="183" name="Text_314"/>
          <p:cNvSpPr/>
          <p:nvPr/>
        </p:nvSpPr>
        <p:spPr>
          <a:xfrm>
            <a:off x="6128385" y="3429442"/>
            <a:ext cx="249555" cy="1397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750" b="1" dirty="0">
                <a:solidFill>
                  <a:srgbClr val="C00000"/>
                </a:solidFill>
                <a:cs typeface="+mn-lt"/>
              </a:rPr>
              <a:t>−8</a:t>
            </a:r>
            <a:r>
              <a:rPr lang="en-US" sz="750" b="1" dirty="0">
                <a:solidFill>
                  <a:srgbClr val="C00000"/>
                </a:solidFill>
                <a:cs typeface="+mn-lt"/>
              </a:rPr>
              <a:t/>
            </a:r>
            <a:endParaRPr lang="en-US" sz="750" b="1" dirty="0">
              <a:solidFill>
                <a:srgbClr val="C00000"/>
              </a:solidFill>
              <a:cs typeface="+mn-lt"/>
            </a:endParaRPr>
          </a:p>
        </p:txBody>
      </p:sp>
      <p:sp>
        <p:nvSpPr>
          <p:cNvPr id="185" name="Text 104"/>
          <p:cNvSpPr/>
          <p:nvPr/>
        </p:nvSpPr>
        <p:spPr>
          <a:xfrm>
            <a:off x="6007100" y="5662930"/>
            <a:ext cx="360045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6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合伙</a:t>
            </a: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zh-CN" altLang="en-US" sz="6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转介</a:t>
            </a: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650" dirty="0"/>
          </a:p>
        </p:txBody>
      </p:sp>
      <p:sp>
        <p:nvSpPr>
          <p:cNvPr id="9002" name="s9002"/>
          <p:cNvSpPr/>
          <p:nvPr/>
        </p:nvSpPr>
        <p:spPr>
          <a:xfrm>
            <a:off x="7700450" y="992604"/>
            <a:ext cx="4323220" cy="255006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/>
          <a:p/>
        </p:txBody>
      </p:sp>
      <p:sp>
        <p:nvSpPr>
          <p:cNvPr id="9003" name="s9003"/>
          <p:cNvSpPr/>
          <p:nvPr/>
        </p:nvSpPr>
        <p:spPr>
          <a:xfrm>
            <a:off x="7700450" y="992604"/>
            <a:ext cx="5484" cy="255006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txBody>
          <a:bodyPr/>
          <a:p/>
        </p:txBody>
      </p:sp>
      <p:sp>
        <p:nvSpPr>
          <p:cNvPr id="9004" name="s9004"/>
          <p:cNvSpPr/>
          <p:nvPr/>
        </p:nvSpPr>
        <p:spPr>
          <a:xfrm>
            <a:off x="7774052" y="992604"/>
            <a:ext cx="4295800" cy="25500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zh-CN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I  业务线月度三线趋势 — 预约 / 签单 / 批核（APE in M，Jan–Jul 2026）</a:t>
            </a:r>
            <a:r>
              <a:rPr lang="zh-CN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/>
            </a:r>
            <a:endParaRPr lang="zh-CN" sz="90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sp>
        <p:nvSpPr>
          <p:cNvPr id="9090" name="ld0"/>
          <p:cNvSpPr/>
          <p:nvPr/>
        </p:nvSpPr>
        <p:spPr>
          <a:xfrm>
            <a:off x="10232480" y="6143402"/>
            <a:ext cx="36560" cy="36560"/>
          </a:xfrm>
          <a:prstGeom prst="ellipse">
            <a:avLst/>
          </a:prstGeom>
          <a:solidFill>
            <a:srgbClr val="2980B9"/>
          </a:solidFill>
          <a:ln>
            <a:noFill/>
          </a:ln>
        </p:spPr>
        <p:txBody>
          <a:bodyPr/>
          <a:p/>
        </p:txBody>
      </p:sp>
      <p:sp>
        <p:nvSpPr>
          <p:cNvPr id="9093" name="lt0"/>
          <p:cNvSpPr/>
          <p:nvPr/>
        </p:nvSpPr>
        <p:spPr>
          <a:xfrm>
            <a:off x="10287705" y="6096162"/>
            <a:ext cx="475280" cy="5027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800" b="1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预约</a:t>
            </a:r>
            <a:endParaRPr lang="zh-CN" sz="800" b="1" dirty="0">
              <a:solidFill>
                <a:srgbClr val="2980B9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sp>
        <p:nvSpPr>
          <p:cNvPr id="9091" name="ld1"/>
          <p:cNvSpPr/>
          <p:nvPr/>
        </p:nvSpPr>
        <p:spPr>
          <a:xfrm>
            <a:off x="10780880" y="6143402"/>
            <a:ext cx="36560" cy="36560"/>
          </a:xfrm>
          <a:prstGeom prst="ellipse">
            <a:avLst/>
          </a:prstGeom>
          <a:solidFill>
            <a:srgbClr val="1A7A3F"/>
          </a:solidFill>
          <a:ln>
            <a:noFill/>
          </a:ln>
        </p:spPr>
        <p:txBody>
          <a:bodyPr/>
          <a:p/>
        </p:txBody>
      </p:sp>
      <p:sp>
        <p:nvSpPr>
          <p:cNvPr id="9094" name="lt1"/>
          <p:cNvSpPr/>
          <p:nvPr/>
        </p:nvSpPr>
        <p:spPr>
          <a:xfrm>
            <a:off x="10836105" y="6096162"/>
            <a:ext cx="475280" cy="5027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80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签单</a:t>
            </a:r>
            <a:endParaRPr lang="zh-CN" sz="800" b="1" dirty="0">
              <a:solidFill>
                <a:srgbClr val="1A7A3F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sp>
        <p:nvSpPr>
          <p:cNvPr id="9092" name="ld2"/>
          <p:cNvSpPr/>
          <p:nvPr/>
        </p:nvSpPr>
        <p:spPr>
          <a:xfrm>
            <a:off x="11329280" y="6143402"/>
            <a:ext cx="36560" cy="36560"/>
          </a:xfrm>
          <a:prstGeom prst="ellipse">
            <a:avLst/>
          </a:prstGeom>
          <a:solidFill>
            <a:srgbClr val="C0392B"/>
          </a:solidFill>
          <a:ln>
            <a:noFill/>
          </a:ln>
        </p:spPr>
        <p:txBody>
          <a:bodyPr/>
          <a:p/>
        </p:txBody>
      </p:sp>
      <p:sp>
        <p:nvSpPr>
          <p:cNvPr id="9095" name="lt2"/>
          <p:cNvSpPr/>
          <p:nvPr/>
        </p:nvSpPr>
        <p:spPr>
          <a:xfrm>
            <a:off x="11384505" y="6096162"/>
            <a:ext cx="475280" cy="5027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80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批核</a:t>
            </a:r>
            <a:endParaRPr lang="zh-CN" sz="800" b="1" dirty="0">
              <a:solidFill>
                <a:srgbClr val="C0392B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sp>
        <p:nvSpPr>
          <p:cNvPr id="9010" name="s9010"/>
          <p:cNvSpPr/>
          <p:nvPr/>
        </p:nvSpPr>
        <p:spPr>
          <a:xfrm>
            <a:off x="7750335" y="1287826"/>
            <a:ext cx="2072038" cy="12064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/>
          <a:p/>
        </p:txBody>
      </p:sp>
      <p:sp>
        <p:nvSpPr>
          <p:cNvPr id="9012" name="s9012"/>
          <p:cNvSpPr/>
          <p:nvPr/>
        </p:nvSpPr>
        <p:spPr>
          <a:xfrm>
            <a:off x="7759475" y="1296966"/>
            <a:ext cx="2053758" cy="146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850" b="1" dirty="0">
                <a:solidFill>
                  <a:srgbClr val="5295C3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天领业务</a:t>
            </a:r>
            <a:endParaRPr lang="zh-CN" sz="850" b="1" dirty="0">
              <a:solidFill>
                <a:srgbClr val="5295C3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graphicFrame>
        <p:nvGraphicFramePr>
          <p:cNvPr id="9013" name="C9013"/>
          <p:cNvGraphicFramePr>
            <a:graphicFrameLocks noGrp="1"/>
          </p:cNvGraphicFramePr>
          <p:nvPr/>
        </p:nvGraphicFramePr>
        <p:xfrm>
          <a:off x="7750175" y="1447800"/>
          <a:ext cx="2072005" cy="96202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9014" name="s9014"/>
          <p:cNvSpPr/>
          <p:nvPr/>
        </p:nvSpPr>
        <p:spPr>
          <a:xfrm>
            <a:off x="9881783" y="1287826"/>
            <a:ext cx="2072038" cy="12064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/>
          <a:p/>
        </p:txBody>
      </p:sp>
      <p:sp>
        <p:nvSpPr>
          <p:cNvPr id="9016" name="s9016"/>
          <p:cNvSpPr/>
          <p:nvPr/>
        </p:nvSpPr>
        <p:spPr>
          <a:xfrm>
            <a:off x="9890923" y="1296966"/>
            <a:ext cx="2053758" cy="146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850" b="1" dirty="0">
                <a:solidFill>
                  <a:srgbClr val="16A085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成事家办</a:t>
            </a:r>
            <a:endParaRPr lang="zh-CN" sz="850" b="1" dirty="0">
              <a:solidFill>
                <a:srgbClr val="16A085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graphicFrame>
        <p:nvGraphicFramePr>
          <p:cNvPr id="9017" name="C9017"/>
          <p:cNvGraphicFramePr>
            <a:graphicFrameLocks noGrp="1"/>
          </p:cNvGraphicFramePr>
          <p:nvPr/>
        </p:nvGraphicFramePr>
        <p:xfrm>
          <a:off x="9881870" y="1447800"/>
          <a:ext cx="2072005" cy="102235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9018" name="s9018"/>
          <p:cNvSpPr/>
          <p:nvPr/>
        </p:nvSpPr>
        <p:spPr>
          <a:xfrm>
            <a:off x="7759860" y="2524997"/>
            <a:ext cx="2072038" cy="12064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/>
          <a:p/>
        </p:txBody>
      </p:sp>
      <p:sp>
        <p:nvSpPr>
          <p:cNvPr id="9020" name="s9020"/>
          <p:cNvSpPr/>
          <p:nvPr/>
        </p:nvSpPr>
        <p:spPr>
          <a:xfrm>
            <a:off x="7769000" y="2534137"/>
            <a:ext cx="2053758" cy="146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85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BK业务</a:t>
            </a:r>
            <a:endParaRPr lang="zh-CN" sz="850" b="1" dirty="0">
              <a:solidFill>
                <a:srgbClr val="1A7A3F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graphicFrame>
        <p:nvGraphicFramePr>
          <p:cNvPr id="9021" name="C9021"/>
          <p:cNvGraphicFramePr>
            <a:graphicFrameLocks noGrp="1"/>
          </p:cNvGraphicFramePr>
          <p:nvPr/>
        </p:nvGraphicFramePr>
        <p:xfrm>
          <a:off x="7759700" y="2684780"/>
          <a:ext cx="2072005" cy="100393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022" name="s9022"/>
          <p:cNvSpPr/>
          <p:nvPr/>
        </p:nvSpPr>
        <p:spPr>
          <a:xfrm>
            <a:off x="9891308" y="2524997"/>
            <a:ext cx="2072038" cy="12064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/>
          <a:p/>
        </p:txBody>
      </p:sp>
      <p:sp>
        <p:nvSpPr>
          <p:cNvPr id="9024" name="s9024"/>
          <p:cNvSpPr/>
          <p:nvPr/>
        </p:nvSpPr>
        <p:spPr>
          <a:xfrm>
            <a:off x="9900448" y="2534137"/>
            <a:ext cx="2053758" cy="146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850" b="1" dirty="0">
                <a:solidFill>
                  <a:srgbClr val="E67E22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同行经代</a:t>
            </a:r>
            <a:endParaRPr lang="zh-CN" sz="850" b="1" dirty="0">
              <a:solidFill>
                <a:srgbClr val="E67E22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graphicFrame>
        <p:nvGraphicFramePr>
          <p:cNvPr id="9025" name="C9025"/>
          <p:cNvGraphicFramePr>
            <a:graphicFrameLocks noGrp="1"/>
          </p:cNvGraphicFramePr>
          <p:nvPr/>
        </p:nvGraphicFramePr>
        <p:xfrm>
          <a:off x="9891395" y="2684780"/>
          <a:ext cx="2072005" cy="100393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9026" name="s9026"/>
          <p:cNvSpPr/>
          <p:nvPr/>
        </p:nvSpPr>
        <p:spPr>
          <a:xfrm>
            <a:off x="7759860" y="3781218"/>
            <a:ext cx="2072038" cy="12064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/>
          <a:p/>
        </p:txBody>
      </p:sp>
      <p:sp>
        <p:nvSpPr>
          <p:cNvPr id="9028" name="s9028"/>
          <p:cNvSpPr/>
          <p:nvPr/>
        </p:nvSpPr>
        <p:spPr>
          <a:xfrm>
            <a:off x="7769000" y="3790358"/>
            <a:ext cx="2053758" cy="146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850" b="1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永明经代</a:t>
            </a:r>
            <a:endParaRPr lang="zh-CN" sz="850" b="1" dirty="0">
              <a:solidFill>
                <a:srgbClr val="2980B9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graphicFrame>
        <p:nvGraphicFramePr>
          <p:cNvPr id="9029" name="C9029"/>
          <p:cNvGraphicFramePr>
            <a:graphicFrameLocks noGrp="1"/>
          </p:cNvGraphicFramePr>
          <p:nvPr/>
        </p:nvGraphicFramePr>
        <p:xfrm>
          <a:off x="7759860" y="3941168"/>
          <a:ext cx="2072038" cy="104653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9030" name="s9030"/>
          <p:cNvSpPr/>
          <p:nvPr/>
        </p:nvSpPr>
        <p:spPr>
          <a:xfrm>
            <a:off x="9891308" y="3781218"/>
            <a:ext cx="2072038" cy="12064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/>
          <a:p/>
        </p:txBody>
      </p:sp>
      <p:sp>
        <p:nvSpPr>
          <p:cNvPr id="9032" name="s9032"/>
          <p:cNvSpPr/>
          <p:nvPr/>
        </p:nvSpPr>
        <p:spPr>
          <a:xfrm>
            <a:off x="9900448" y="3790358"/>
            <a:ext cx="2053758" cy="146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850" b="1" dirty="0">
                <a:solidFill>
                  <a:srgbClr val="EB954B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合伙转介</a:t>
            </a:r>
            <a:endParaRPr lang="zh-CN" sz="850" b="1" dirty="0">
              <a:solidFill>
                <a:srgbClr val="EB954B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graphicFrame>
        <p:nvGraphicFramePr>
          <p:cNvPr id="9033" name="C9033"/>
          <p:cNvGraphicFramePr>
            <a:graphicFrameLocks noGrp="1"/>
          </p:cNvGraphicFramePr>
          <p:nvPr/>
        </p:nvGraphicFramePr>
        <p:xfrm>
          <a:off x="9891308" y="3941168"/>
          <a:ext cx="2072038" cy="104653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sp>
        <p:nvSpPr>
          <p:cNvPr id="9034" name="s9034"/>
          <p:cNvSpPr/>
          <p:nvPr/>
        </p:nvSpPr>
        <p:spPr>
          <a:xfrm>
            <a:off x="7759860" y="5027914"/>
            <a:ext cx="2072038" cy="12064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/>
          <a:p/>
        </p:txBody>
      </p:sp>
      <p:sp>
        <p:nvSpPr>
          <p:cNvPr id="9036" name="s9040"/>
          <p:cNvSpPr/>
          <p:nvPr/>
        </p:nvSpPr>
        <p:spPr>
          <a:xfrm>
            <a:off x="9900448" y="5037054"/>
            <a:ext cx="2053758" cy="146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950" b="1" dirty="0">
                <a:solidFill>
                  <a:srgbClr val="7030A0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MGA业务</a:t>
            </a:r>
            <a:endParaRPr lang="zh-CN" sz="950" b="1" dirty="0">
              <a:solidFill>
                <a:srgbClr val="7030A0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graphicFrame>
        <p:nvGraphicFramePr>
          <p:cNvPr id="9037" name="C9041"/>
          <p:cNvGraphicFramePr>
            <a:graphicFrameLocks noGrp="1"/>
          </p:cNvGraphicFramePr>
          <p:nvPr/>
        </p:nvGraphicFramePr>
        <p:xfrm>
          <a:off x="9891308" y="5187864"/>
          <a:ext cx="2072038" cy="104653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sp>
        <p:nvSpPr>
          <p:cNvPr id="26" name="Shape 126"/>
          <p:cNvSpPr/>
          <p:nvPr/>
        </p:nvSpPr>
        <p:spPr>
          <a:xfrm>
            <a:off x="7700010" y="6308725"/>
            <a:ext cx="4323715" cy="375920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27" name="Shape 127"/>
          <p:cNvSpPr/>
          <p:nvPr/>
        </p:nvSpPr>
        <p:spPr>
          <a:xfrm flipV="1">
            <a:off x="7709535" y="6313805"/>
            <a:ext cx="4298315" cy="324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29" name="Text 128"/>
          <p:cNvSpPr/>
          <p:nvPr/>
        </p:nvSpPr>
        <p:spPr>
          <a:xfrm>
            <a:off x="7820025" y="6336030"/>
            <a:ext cx="3672840" cy="13779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30" name="Text 129"/>
          <p:cNvSpPr/>
          <p:nvPr/>
        </p:nvSpPr>
        <p:spPr>
          <a:xfrm>
            <a:off x="7802880" y="6452235"/>
            <a:ext cx="4047490" cy="2025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5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sym typeface="+mn-ea"/>
              </a:rPr>
              <a:t>永明经代：3 月签单 27.6M 居首，前端动能最强。BK业务：2 月批核峰 93.9M 为存量集中放款。各业务线节奏分化明显，需按渠道特征差异化管理。</a:t>
            </a:r>
            <a:endParaRPr lang="en-US" sz="550" dirty="0"/>
          </a:p>
        </p:txBody>
      </p:sp>
      <p:graphicFrame>
        <p:nvGraphicFramePr>
          <p:cNvPr id="9037" name="C9037"/>
          <p:cNvGraphicFramePr>
            <a:graphicFrameLocks noGrp="1"/>
          </p:cNvGraphicFramePr>
          <p:nvPr/>
        </p:nvGraphicFramePr>
        <p:xfrm>
          <a:off x="7759860" y="5187864"/>
          <a:ext cx="2072038" cy="1046530"/>
        </p:xfrm>
        <a:graphic>
          <a:graphicData uri="http://schemas.openxmlformats.org/drawingml/2006/chart">
            <c:chart xmlns:c="http://schemas.openxmlformats.org/drawingml/2006/chart" r:id="rId10"/>
          </a:graphicData>
        </a:graphic>
      </p:graphicFrame>
      <p:sp>
        <p:nvSpPr>
          <p:cNvPr id="9036" name="s9036"/>
          <p:cNvSpPr/>
          <p:nvPr/>
        </p:nvSpPr>
        <p:spPr>
          <a:xfrm>
            <a:off x="7769000" y="5037054"/>
            <a:ext cx="2053758" cy="146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950" b="1" dirty="0">
                <a:solidFill>
                  <a:srgbClr val="7030A0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ICLUB业务</a:t>
            </a:r>
            <a:endParaRPr lang="zh-CN" sz="950" b="1" dirty="0">
              <a:solidFill>
                <a:srgbClr val="7030A0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sp>
        <p:nvSpPr>
          <p:cNvPr id="83" name="Text 82"/>
          <p:cNvSpPr/>
          <p:nvPr/>
        </p:nvSpPr>
        <p:spPr>
          <a:xfrm>
            <a:off x="314019" y="1637514"/>
            <a:ext cx="68580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r>
              <a:rPr b="1" sz="650">
                <a:latin typeface="Calibri"/>
              </a:rPr>
              <a:t>MGA</a:t>
            </a:r>
          </a:p>
        </p:txBody>
      </p:sp>
      <p:sp>
        <p:nvSpPr>
          <p:cNvPr id="177" name="Shape_315"/>
          <p:cNvSpPr/>
          <p:nvPr/>
        </p:nvSpPr>
        <p:spPr>
          <a:xfrm>
            <a:off x="6626860" y="3696905"/>
            <a:ext cx="241300" cy="70878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9525"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/>
          <a:p/>
        </p:txBody>
      </p:sp>
      <p:sp>
        <p:nvSpPr>
          <p:cNvPr id="178" name="Text_314"/>
          <p:cNvSpPr/>
          <p:nvPr/>
        </p:nvSpPr>
        <p:spPr>
          <a:xfrm>
            <a:off x="6646545" y="3474025"/>
            <a:ext cx="249555" cy="1333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750" b="1" dirty="0">
                <a:solidFill>
                  <a:schemeClr val="accent6">
                    <a:lumMod val="60000"/>
                    <a:lumOff val="40000"/>
                  </a:schemeClr>
                </a:solidFill>
                <a:cs typeface="+mn-lt"/>
              </a:rPr>
              <a:t>−19</a:t>
            </a:r>
            <a:r>
              <a:rPr lang="en-US" sz="750" b="1" dirty="0">
                <a:solidFill>
                  <a:schemeClr val="accent6">
                    <a:lumMod val="60000"/>
                    <a:lumOff val="40000"/>
                  </a:schemeClr>
                </a:solidFill>
                <a:cs typeface="+mn-lt"/>
              </a:rPr>
              <a:t/>
            </a:r>
            <a:endParaRPr lang="en-US" sz="750" b="1" dirty="0">
              <a:solidFill>
                <a:schemeClr val="accent6">
                  <a:lumMod val="60000"/>
                  <a:lumOff val="40000"/>
                </a:schemeClr>
              </a:solidFill>
              <a:cs typeface="+mn-lt"/>
            </a:endParaRPr>
          </a:p>
        </p:txBody>
      </p:sp>
      <p:sp>
        <p:nvSpPr>
          <p:cNvPr id="75" name="Text 72"/>
          <p:cNvSpPr/>
          <p:nvPr/>
        </p:nvSpPr>
        <p:spPr>
          <a:xfrm>
            <a:off x="1822221" y="4872019"/>
            <a:ext cx="68580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r>
              <a:rPr b="1" sz="650">
                <a:latin typeface="Calibri"/>
              </a:rPr>
              <a:t>天领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Shape 130"/>
          <p:cNvSpPr/>
          <p:nvPr/>
        </p:nvSpPr>
        <p:spPr>
          <a:xfrm>
            <a:off x="4608830" y="3375660"/>
            <a:ext cx="746125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" name="Shape 0"/>
          <p:cNvSpPr/>
          <p:nvPr/>
        </p:nvSpPr>
        <p:spPr>
          <a:xfrm>
            <a:off x="0" y="0"/>
            <a:ext cx="12161520" cy="47548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64592" y="73152"/>
            <a:ext cx="1005840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业务端视角仪表盘  |  Sales &amp; Channel View  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1440" y="558800"/>
            <a:ext cx="4389120" cy="6144768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>
            <a:endParaRPr lang="zh-CN" altLang="en-US"/>
          </a:p>
        </p:txBody>
      </p:sp>
      <p:sp>
        <p:nvSpPr>
          <p:cNvPr id="6" name="Shape 4"/>
          <p:cNvSpPr/>
          <p:nvPr/>
        </p:nvSpPr>
        <p:spPr>
          <a:xfrm>
            <a:off x="91440" y="548640"/>
            <a:ext cx="4389120" cy="256032"/>
          </a:xfrm>
          <a:prstGeom prst="rect">
            <a:avLst/>
          </a:prstGeom>
          <a:solidFill>
            <a:srgbClr val="7B241C"/>
          </a:solidFill>
          <a:ln w="12700">
            <a:solidFill>
              <a:srgbClr val="7B241C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82880" y="585216"/>
            <a:ext cx="4224528" cy="1920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  保单阶段构成（100%堆叠）— 各业务线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237744" y="877824"/>
            <a:ext cx="109728" cy="109728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74904" y="877824"/>
            <a:ext cx="91440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已批核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1627632" y="877824"/>
            <a:ext cx="109728" cy="109728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1764792" y="877824"/>
            <a:ext cx="91440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未批核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3373120" y="886714"/>
            <a:ext cx="109728" cy="109728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3493135" y="896239"/>
            <a:ext cx="91440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待签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226568" y="4436618"/>
            <a:ext cx="36576" cy="34747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299720" y="3822220"/>
            <a:ext cx="1243584" cy="15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BK业务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299720" y="4466664"/>
            <a:ext cx="1243584" cy="15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 256.2M</a:t>
            </a:r>
            <a:endParaRPr lang="en-US" sz="650" dirty="0"/>
          </a:p>
        </p:txBody>
      </p:sp>
      <p:sp>
        <p:nvSpPr>
          <p:cNvPr id="17" name="Shape 15"/>
          <p:cNvSpPr/>
          <p:nvPr/>
        </p:nvSpPr>
        <p:spPr>
          <a:xfrm>
            <a:off x="1579880" y="4454906"/>
            <a:ext cx="1572768" cy="27432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1579880" y="4454906"/>
            <a:ext cx="1037460" cy="27432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1616456" y="4355808"/>
            <a:ext cx="982596" cy="14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67%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2617340" y="4454906"/>
            <a:ext cx="503520" cy="27432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2653916" y="4355808"/>
            <a:ext cx="448656" cy="14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32%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3120859" y="4454906"/>
            <a:ext cx="31789" cy="274320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3198368" y="4346664"/>
            <a:ext cx="749808" cy="15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227.6▌28.6▌0.0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226568" y="5662422"/>
            <a:ext cx="36576" cy="347472"/>
          </a:xfrm>
          <a:prstGeom prst="rect">
            <a:avLst/>
          </a:prstGeom>
          <a:solidFill>
            <a:srgbClr val="1A7A3F"/>
          </a:solidFill>
          <a:ln w="1270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299720" y="5305552"/>
            <a:ext cx="1243584" cy="15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永明经代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299720" y="5845302"/>
            <a:ext cx="1243584" cy="1371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 173.2M</a:t>
            </a:r>
            <a:endParaRPr lang="en-US" sz="650" dirty="0"/>
          </a:p>
        </p:txBody>
      </p:sp>
      <p:sp>
        <p:nvSpPr>
          <p:cNvPr id="27" name="Shape 25"/>
          <p:cNvSpPr/>
          <p:nvPr/>
        </p:nvSpPr>
        <p:spPr>
          <a:xfrm>
            <a:off x="1579880" y="5680710"/>
            <a:ext cx="1572768" cy="27432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1579880" y="5680710"/>
            <a:ext cx="976236" cy="27432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1616456" y="5344696"/>
            <a:ext cx="921372" cy="14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57%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2556116" y="5680710"/>
            <a:ext cx="494608" cy="27432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2592692" y="5344696"/>
            <a:ext cx="439744" cy="14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31%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3050723" y="5680710"/>
            <a:ext cx="101925" cy="274320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3198368" y="5335552"/>
            <a:ext cx="749808" cy="15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151.2▌19.2▌2.8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226568" y="2581021"/>
            <a:ext cx="36576" cy="347472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299720" y="2338888"/>
            <a:ext cx="1243584" cy="15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E67E2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同行经代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299720" y="2488888"/>
            <a:ext cx="1243584" cy="15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 129.2M</a:t>
            </a:r>
            <a:endParaRPr lang="en-US" sz="650" dirty="0"/>
          </a:p>
        </p:txBody>
      </p:sp>
      <p:sp>
        <p:nvSpPr>
          <p:cNvPr id="37" name="Shape 35"/>
          <p:cNvSpPr/>
          <p:nvPr/>
        </p:nvSpPr>
        <p:spPr>
          <a:xfrm>
            <a:off x="1579880" y="2599309"/>
            <a:ext cx="1572768" cy="27432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38" name="Shape 36"/>
          <p:cNvSpPr/>
          <p:nvPr/>
        </p:nvSpPr>
        <p:spPr>
          <a:xfrm>
            <a:off x="1579880" y="2599309"/>
            <a:ext cx="1071950" cy="27432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39" name="Text 37"/>
          <p:cNvSpPr/>
          <p:nvPr/>
        </p:nvSpPr>
        <p:spPr>
          <a:xfrm>
            <a:off x="1616456" y="2378032"/>
            <a:ext cx="1017086" cy="14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68%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2651830" y="2599309"/>
            <a:ext cx="404856" cy="27432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41" name="Text 39"/>
          <p:cNvSpPr/>
          <p:nvPr/>
        </p:nvSpPr>
        <p:spPr>
          <a:xfrm>
            <a:off x="2688406" y="2378032"/>
            <a:ext cx="349992" cy="14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28%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3056685" y="2599309"/>
            <a:ext cx="95963" cy="274320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43" name="Text 41"/>
          <p:cNvSpPr/>
          <p:nvPr/>
        </p:nvSpPr>
        <p:spPr>
          <a:xfrm>
            <a:off x="3198368" y="2368888"/>
            <a:ext cx="749808" cy="15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109.9▌15.7▌3.6</a:t>
            </a:r>
            <a:endParaRPr lang="en-US" sz="700" dirty="0"/>
          </a:p>
        </p:txBody>
      </p:sp>
      <p:sp>
        <p:nvSpPr>
          <p:cNvPr id="44" name="Shape 42"/>
          <p:cNvSpPr/>
          <p:nvPr/>
        </p:nvSpPr>
        <p:spPr>
          <a:xfrm>
            <a:off x="226568" y="5058410"/>
            <a:ext cx="36576" cy="347472"/>
          </a:xfrm>
          <a:prstGeom prst="rect">
            <a:avLst/>
          </a:prstGeom>
          <a:solidFill>
            <a:srgbClr val="2980B9"/>
          </a:solidFill>
          <a:ln w="12700">
            <a:solidFill>
              <a:srgbClr val="2980B9"/>
            </a:solidFill>
            <a:prstDash val="solid"/>
          </a:ln>
        </p:spPr>
        <p:txBody>
          <a:bodyPr/>
          <a:p/>
        </p:txBody>
      </p:sp>
      <p:sp>
        <p:nvSpPr>
          <p:cNvPr id="45" name="Text 43"/>
          <p:cNvSpPr/>
          <p:nvPr/>
        </p:nvSpPr>
        <p:spPr>
          <a:xfrm>
            <a:off x="299720" y="4316664"/>
            <a:ext cx="1243584" cy="15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天领业务</a:t>
            </a:r>
            <a:endParaRPr lang="en-US" sz="850" dirty="0"/>
          </a:p>
        </p:txBody>
      </p:sp>
      <p:sp>
        <p:nvSpPr>
          <p:cNvPr id="46" name="Text 44"/>
          <p:cNvSpPr/>
          <p:nvPr/>
        </p:nvSpPr>
        <p:spPr>
          <a:xfrm>
            <a:off x="299720" y="5241290"/>
            <a:ext cx="1243584" cy="1371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 79.4M</a:t>
            </a:r>
            <a:endParaRPr lang="en-US" sz="650" dirty="0"/>
          </a:p>
        </p:txBody>
      </p:sp>
      <p:sp>
        <p:nvSpPr>
          <p:cNvPr id="47" name="Shape 45"/>
          <p:cNvSpPr/>
          <p:nvPr/>
        </p:nvSpPr>
        <p:spPr>
          <a:xfrm>
            <a:off x="1579880" y="5076698"/>
            <a:ext cx="1572768" cy="27432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48" name="Shape 46"/>
          <p:cNvSpPr/>
          <p:nvPr/>
        </p:nvSpPr>
        <p:spPr>
          <a:xfrm>
            <a:off x="1579880" y="5076698"/>
            <a:ext cx="979456" cy="27432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49" name="Text 47"/>
          <p:cNvSpPr/>
          <p:nvPr/>
        </p:nvSpPr>
        <p:spPr>
          <a:xfrm>
            <a:off x="1616456" y="5131562"/>
            <a:ext cx="92459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81%</a:t>
            </a:r>
            <a:endParaRPr lang="en-US" sz="750" dirty="0"/>
          </a:p>
        </p:txBody>
      </p:sp>
      <p:sp>
        <p:nvSpPr>
          <p:cNvPr id="50" name="Shape 48"/>
          <p:cNvSpPr/>
          <p:nvPr/>
        </p:nvSpPr>
        <p:spPr>
          <a:xfrm>
            <a:off x="2559336" y="5076698"/>
            <a:ext cx="365641" cy="27432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51" name="Text 49"/>
          <p:cNvSpPr/>
          <p:nvPr/>
        </p:nvSpPr>
        <p:spPr>
          <a:xfrm>
            <a:off x="2595912" y="5131562"/>
            <a:ext cx="310777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18%</a:t>
            </a:r>
            <a:endParaRPr lang="en-US" sz="750" dirty="0"/>
          </a:p>
        </p:txBody>
      </p:sp>
      <p:sp>
        <p:nvSpPr>
          <p:cNvPr id="52" name="Shape 50"/>
          <p:cNvSpPr/>
          <p:nvPr/>
        </p:nvSpPr>
        <p:spPr>
          <a:xfrm>
            <a:off x="2924977" y="5076698"/>
            <a:ext cx="227671" cy="274320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53" name="Text 51"/>
          <p:cNvSpPr/>
          <p:nvPr/>
        </p:nvSpPr>
        <p:spPr>
          <a:xfrm>
            <a:off x="3198368" y="5122418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64.5▌14.5▌0.4</a:t>
            </a:r>
            <a:endParaRPr lang="en-US" sz="700" dirty="0"/>
          </a:p>
        </p:txBody>
      </p:sp>
      <p:sp>
        <p:nvSpPr>
          <p:cNvPr id="54" name="Shape 52"/>
          <p:cNvSpPr/>
          <p:nvPr/>
        </p:nvSpPr>
        <p:spPr>
          <a:xfrm>
            <a:off x="226568" y="1982724"/>
            <a:ext cx="36576" cy="347472"/>
          </a:xfrm>
          <a:prstGeom prst="rect">
            <a:avLst/>
          </a:prstGeom>
          <a:solidFill>
            <a:srgbClr val="8E44AD"/>
          </a:solidFill>
          <a:ln w="12700">
            <a:solidFill>
              <a:srgbClr val="8E44AD"/>
            </a:solidFill>
            <a:prstDash val="solid"/>
          </a:ln>
        </p:spPr>
        <p:txBody>
          <a:bodyPr/>
          <a:p/>
        </p:txBody>
      </p:sp>
      <p:sp>
        <p:nvSpPr>
          <p:cNvPr id="55" name="Text 53"/>
          <p:cNvSpPr/>
          <p:nvPr/>
        </p:nvSpPr>
        <p:spPr>
          <a:xfrm>
            <a:off x="299720" y="1844444"/>
            <a:ext cx="1243584" cy="15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8E44A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ICLUB</a:t>
            </a:r>
            <a:endParaRPr lang="en-US" sz="850" dirty="0"/>
          </a:p>
        </p:txBody>
      </p:sp>
      <p:sp>
        <p:nvSpPr>
          <p:cNvPr id="56" name="Text 54"/>
          <p:cNvSpPr/>
          <p:nvPr/>
        </p:nvSpPr>
        <p:spPr>
          <a:xfrm>
            <a:off x="299720" y="1994444"/>
            <a:ext cx="1243584" cy="15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 20.4M</a:t>
            </a:r>
            <a:endParaRPr lang="en-US" sz="650" dirty="0"/>
          </a:p>
        </p:txBody>
      </p:sp>
      <p:sp>
        <p:nvSpPr>
          <p:cNvPr id="57" name="Shape 55"/>
          <p:cNvSpPr/>
          <p:nvPr/>
        </p:nvSpPr>
        <p:spPr>
          <a:xfrm>
            <a:off x="1579880" y="2001012"/>
            <a:ext cx="1572768" cy="27432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58" name="Shape 56"/>
          <p:cNvSpPr/>
          <p:nvPr/>
        </p:nvSpPr>
        <p:spPr>
          <a:xfrm>
            <a:off x="1579880" y="2001012"/>
            <a:ext cx="1530698" cy="27432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59" name="Text 57"/>
          <p:cNvSpPr/>
          <p:nvPr/>
        </p:nvSpPr>
        <p:spPr>
          <a:xfrm>
            <a:off x="1616456" y="1883588"/>
            <a:ext cx="1475834" cy="14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79%</a:t>
            </a:r>
            <a:endParaRPr lang="en-US" sz="750" dirty="0"/>
          </a:p>
        </p:txBody>
      </p:sp>
      <p:sp>
        <p:nvSpPr>
          <p:cNvPr id="60" name="Shape 58"/>
          <p:cNvSpPr/>
          <p:nvPr/>
        </p:nvSpPr>
        <p:spPr>
          <a:xfrm>
            <a:off x="3110578" y="2001012"/>
            <a:ext cx="42070" cy="27432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61" name="Text 59"/>
          <p:cNvSpPr/>
          <p:nvPr/>
        </p:nvSpPr>
        <p:spPr>
          <a:xfrm>
            <a:off x="3198368" y="1874444"/>
            <a:ext cx="749808" cy="15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20.4▌0.0▌0.0</a:t>
            </a:r>
            <a:endParaRPr lang="en-US" sz="700" dirty="0"/>
          </a:p>
        </p:txBody>
      </p:sp>
      <p:sp>
        <p:nvSpPr>
          <p:cNvPr id="62" name="Shape 60"/>
          <p:cNvSpPr/>
          <p:nvPr/>
        </p:nvSpPr>
        <p:spPr>
          <a:xfrm>
            <a:off x="226568" y="3164078"/>
            <a:ext cx="36576" cy="347472"/>
          </a:xfrm>
          <a:prstGeom prst="rect">
            <a:avLst/>
          </a:prstGeom>
          <a:solidFill>
            <a:srgbClr val="16A085"/>
          </a:solidFill>
          <a:ln w="12700">
            <a:solidFill>
              <a:srgbClr val="16A085"/>
            </a:solidFill>
            <a:prstDash val="solid"/>
          </a:ln>
        </p:spPr>
        <p:txBody>
          <a:bodyPr/>
          <a:p/>
        </p:txBody>
      </p:sp>
      <p:sp>
        <p:nvSpPr>
          <p:cNvPr id="63" name="Text 61"/>
          <p:cNvSpPr/>
          <p:nvPr/>
        </p:nvSpPr>
        <p:spPr>
          <a:xfrm>
            <a:off x="299720" y="2833332"/>
            <a:ext cx="1243584" cy="15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6A08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成事家办</a:t>
            </a:r>
            <a:endParaRPr lang="en-US" sz="850" dirty="0"/>
          </a:p>
        </p:txBody>
      </p:sp>
      <p:sp>
        <p:nvSpPr>
          <p:cNvPr id="64" name="Text 62"/>
          <p:cNvSpPr/>
          <p:nvPr/>
        </p:nvSpPr>
        <p:spPr>
          <a:xfrm>
            <a:off x="299720" y="3477776"/>
            <a:ext cx="1243584" cy="15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 8.7M</a:t>
            </a:r>
            <a:endParaRPr lang="en-US" sz="650" dirty="0"/>
          </a:p>
        </p:txBody>
      </p:sp>
      <p:sp>
        <p:nvSpPr>
          <p:cNvPr id="65" name="Shape 63"/>
          <p:cNvSpPr/>
          <p:nvPr/>
        </p:nvSpPr>
        <p:spPr>
          <a:xfrm>
            <a:off x="1579880" y="3182366"/>
            <a:ext cx="1572768" cy="27432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66" name="Shape 64"/>
          <p:cNvSpPr/>
          <p:nvPr/>
        </p:nvSpPr>
        <p:spPr>
          <a:xfrm>
            <a:off x="1579880" y="3182366"/>
            <a:ext cx="1051699" cy="27432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67" name="Text 65"/>
          <p:cNvSpPr/>
          <p:nvPr/>
        </p:nvSpPr>
        <p:spPr>
          <a:xfrm>
            <a:off x="1616456" y="2872476"/>
            <a:ext cx="996835" cy="14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57%</a:t>
            </a:r>
            <a:endParaRPr lang="en-US" sz="750" dirty="0"/>
          </a:p>
        </p:txBody>
      </p:sp>
      <p:sp>
        <p:nvSpPr>
          <p:cNvPr id="68" name="Shape 66"/>
          <p:cNvSpPr/>
          <p:nvPr/>
        </p:nvSpPr>
        <p:spPr>
          <a:xfrm>
            <a:off x="2631579" y="3182366"/>
            <a:ext cx="411119" cy="27432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69" name="Text 67"/>
          <p:cNvSpPr/>
          <p:nvPr/>
        </p:nvSpPr>
        <p:spPr>
          <a:xfrm>
            <a:off x="2668155" y="2872476"/>
            <a:ext cx="356255" cy="14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28%</a:t>
            </a:r>
            <a:endParaRPr lang="en-US" sz="750" dirty="0"/>
          </a:p>
        </p:txBody>
      </p:sp>
      <p:sp>
        <p:nvSpPr>
          <p:cNvPr id="70" name="Shape 68"/>
          <p:cNvSpPr/>
          <p:nvPr/>
        </p:nvSpPr>
        <p:spPr>
          <a:xfrm>
            <a:off x="3042698" y="3182366"/>
            <a:ext cx="109950" cy="274320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71" name="Text 69"/>
          <p:cNvSpPr/>
          <p:nvPr/>
        </p:nvSpPr>
        <p:spPr>
          <a:xfrm>
            <a:off x="3198368" y="2863332"/>
            <a:ext cx="749808" cy="15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7.7▌0.9▌0.0</a:t>
            </a:r>
            <a:endParaRPr lang="en-US" sz="700" dirty="0"/>
          </a:p>
        </p:txBody>
      </p:sp>
      <p:sp>
        <p:nvSpPr>
          <p:cNvPr id="87" name="Text 85"/>
          <p:cNvSpPr/>
          <p:nvPr/>
        </p:nvSpPr>
        <p:spPr>
          <a:xfrm>
            <a:off x="1697990" y="1056640"/>
            <a:ext cx="1421765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绿=批核 M  |  橙=未批核 M  |  蓝=待签 M</a:t>
            </a:r>
            <a:endParaRPr lang="en-US" sz="600" dirty="0"/>
          </a:p>
        </p:txBody>
      </p:sp>
      <p:sp>
        <p:nvSpPr>
          <p:cNvPr id="88" name="Shape 86"/>
          <p:cNvSpPr/>
          <p:nvPr/>
        </p:nvSpPr>
        <p:spPr>
          <a:xfrm>
            <a:off x="91440" y="6309360"/>
            <a:ext cx="4389120" cy="384048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89" name="Shape 87"/>
          <p:cNvSpPr/>
          <p:nvPr/>
        </p:nvSpPr>
        <p:spPr>
          <a:xfrm>
            <a:off x="91440" y="6309360"/>
            <a:ext cx="4389120" cy="27432"/>
          </a:xfrm>
          <a:prstGeom prst="rect">
            <a:avLst/>
          </a:prstGeom>
          <a:solidFill>
            <a:srgbClr val="7B241C"/>
          </a:solidFill>
          <a:ln w="12700">
            <a:solidFill>
              <a:srgbClr val="7B241C"/>
            </a:solidFill>
            <a:prstDash val="solid"/>
          </a:ln>
        </p:spPr>
        <p:txBody>
          <a:bodyPr/>
          <a:p/>
        </p:txBody>
      </p:sp>
      <p:sp>
        <p:nvSpPr>
          <p:cNvPr id="90" name="Text 88"/>
          <p:cNvSpPr/>
          <p:nvPr/>
        </p:nvSpPr>
        <p:spPr>
          <a:xfrm>
            <a:off x="182880" y="6345936"/>
            <a:ext cx="4224528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7B241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91" name="Text 89"/>
          <p:cNvSpPr/>
          <p:nvPr/>
        </p:nvSpPr>
        <p:spPr>
          <a:xfrm>
            <a:off x="182880" y="6474333"/>
            <a:ext cx="4224528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合伙转介业务未批核占比最高（50%），金额达 4.4M，催核优先级最高。其余业务线管道分布相对均衡，需按未批核规模排序推进。</a:t>
            </a:r>
            <a:endParaRPr lang="en-US" sz="550" dirty="0"/>
          </a:p>
        </p:txBody>
      </p:sp>
      <p:sp>
        <p:nvSpPr>
          <p:cNvPr id="92" name="Shape 90"/>
          <p:cNvSpPr/>
          <p:nvPr/>
        </p:nvSpPr>
        <p:spPr>
          <a:xfrm>
            <a:off x="4608830" y="548640"/>
            <a:ext cx="7461250" cy="273685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93" name="Shape 91"/>
          <p:cNvSpPr/>
          <p:nvPr/>
        </p:nvSpPr>
        <p:spPr>
          <a:xfrm>
            <a:off x="4608576" y="548640"/>
            <a:ext cx="7461504" cy="256032"/>
          </a:xfrm>
          <a:prstGeom prst="rect">
            <a:avLst/>
          </a:prstGeom>
          <a:solidFill>
            <a:srgbClr val="7B241C"/>
          </a:solidFill>
          <a:ln w="12700">
            <a:solidFill>
              <a:srgbClr val="7B241C"/>
            </a:solidFill>
            <a:prstDash val="solid"/>
          </a:ln>
        </p:spPr>
        <p:txBody>
          <a:bodyPr/>
          <a:p/>
        </p:txBody>
      </p:sp>
      <p:sp>
        <p:nvSpPr>
          <p:cNvPr id="94" name="Text 92"/>
          <p:cNvSpPr/>
          <p:nvPr/>
        </p:nvSpPr>
        <p:spPr>
          <a:xfrm>
            <a:off x="4700016" y="585216"/>
            <a:ext cx="7296912" cy="1920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K  保单总量构成 — 甜甜圈 &amp; 阶段 KPI</a:t>
            </a:r>
            <a:endParaRPr lang="en-US" sz="850" dirty="0"/>
          </a:p>
        </p:txBody>
      </p:sp>
      <p:graphicFrame>
        <p:nvGraphicFramePr>
          <p:cNvPr id="95" name="Chart 0"/>
          <p:cNvGraphicFramePr/>
          <p:nvPr/>
        </p:nvGraphicFramePr>
        <p:xfrm>
          <a:off x="4700270" y="841375"/>
          <a:ext cx="2377440" cy="204533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96" name="Shape 93"/>
          <p:cNvSpPr/>
          <p:nvPr/>
        </p:nvSpPr>
        <p:spPr>
          <a:xfrm>
            <a:off x="7242175" y="852805"/>
            <a:ext cx="1444625" cy="1991360"/>
          </a:xfrm>
          <a:prstGeom prst="rect">
            <a:avLst/>
          </a:prstGeom>
          <a:solidFill>
            <a:srgbClr val="F5F7FA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97" name="Shape 94"/>
          <p:cNvSpPr/>
          <p:nvPr/>
        </p:nvSpPr>
        <p:spPr>
          <a:xfrm>
            <a:off x="7242048" y="852678"/>
            <a:ext cx="1444752" cy="4572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98" name="Text 95"/>
          <p:cNvSpPr/>
          <p:nvPr/>
        </p:nvSpPr>
        <p:spPr>
          <a:xfrm>
            <a:off x="7333488" y="944118"/>
            <a:ext cx="131673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已批核</a:t>
            </a:r>
            <a:endParaRPr lang="en-US" sz="900" dirty="0"/>
          </a:p>
        </p:txBody>
      </p:sp>
      <p:sp>
        <p:nvSpPr>
          <p:cNvPr id="99" name="Text 96"/>
          <p:cNvSpPr/>
          <p:nvPr/>
        </p:nvSpPr>
        <p:spPr>
          <a:xfrm>
            <a:off x="7333488" y="1163574"/>
            <a:ext cx="1316736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605.2M</a:t>
            </a:r>
            <a:endParaRPr lang="en-US" sz="2200" dirty="0"/>
          </a:p>
        </p:txBody>
      </p:sp>
      <p:sp>
        <p:nvSpPr>
          <p:cNvPr id="100" name="Text 97"/>
          <p:cNvSpPr/>
          <p:nvPr/>
        </p:nvSpPr>
        <p:spPr>
          <a:xfrm>
            <a:off x="7333488" y="1584198"/>
            <a:ext cx="131673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1157件  83.1%</a:t>
            </a:r>
            <a:endParaRPr lang="en-US" sz="800" dirty="0"/>
          </a:p>
        </p:txBody>
      </p:sp>
      <p:sp>
        <p:nvSpPr>
          <p:cNvPr id="101" name="Shape 98"/>
          <p:cNvSpPr/>
          <p:nvPr/>
        </p:nvSpPr>
        <p:spPr>
          <a:xfrm>
            <a:off x="7333488" y="1821942"/>
            <a:ext cx="1280160" cy="146304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02" name="Shape 99"/>
          <p:cNvSpPr/>
          <p:nvPr/>
        </p:nvSpPr>
        <p:spPr>
          <a:xfrm>
            <a:off x="7333488" y="1821942"/>
            <a:ext cx="839785" cy="146304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103" name="Text 100"/>
          <p:cNvSpPr/>
          <p:nvPr/>
        </p:nvSpPr>
        <p:spPr>
          <a:xfrm>
            <a:off x="7333488" y="2004822"/>
            <a:ext cx="1316736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83.1%  占管道总量</a:t>
            </a:r>
            <a:endParaRPr lang="en-US" sz="700" dirty="0"/>
          </a:p>
        </p:txBody>
      </p:sp>
      <p:sp>
        <p:nvSpPr>
          <p:cNvPr id="104" name="Text 101"/>
          <p:cNvSpPr/>
          <p:nvPr/>
        </p:nvSpPr>
        <p:spPr>
          <a:xfrm>
            <a:off x="7333488" y="2205990"/>
            <a:ext cx="1316736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1157件</a:t>
            </a:r>
            <a:endParaRPr lang="en-US" sz="900" dirty="0"/>
          </a:p>
        </p:txBody>
      </p:sp>
      <p:sp>
        <p:nvSpPr>
          <p:cNvPr id="105" name="Text 102"/>
          <p:cNvSpPr/>
          <p:nvPr/>
        </p:nvSpPr>
        <p:spPr>
          <a:xfrm>
            <a:off x="7333488" y="2407158"/>
            <a:ext cx="1316736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管道 728.6M 中占</a:t>
            </a:r>
            <a:endParaRPr lang="en-US" sz="650" dirty="0"/>
          </a:p>
        </p:txBody>
      </p:sp>
      <p:sp>
        <p:nvSpPr>
          <p:cNvPr id="106" name="Text 103"/>
          <p:cNvSpPr/>
          <p:nvPr/>
        </p:nvSpPr>
        <p:spPr>
          <a:xfrm>
            <a:off x="7333488" y="2378032"/>
            <a:ext cx="1316736" cy="14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83.1%</a:t>
            </a:r>
            <a:endParaRPr lang="en-US" sz="1600" dirty="0"/>
          </a:p>
        </p:txBody>
      </p:sp>
      <p:sp>
        <p:nvSpPr>
          <p:cNvPr id="107" name="Shape 104"/>
          <p:cNvSpPr/>
          <p:nvPr/>
        </p:nvSpPr>
        <p:spPr>
          <a:xfrm>
            <a:off x="8815070" y="852805"/>
            <a:ext cx="1444625" cy="1991360"/>
          </a:xfrm>
          <a:prstGeom prst="rect">
            <a:avLst/>
          </a:prstGeom>
          <a:solidFill>
            <a:srgbClr val="F5F7F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108" name="Shape 105"/>
          <p:cNvSpPr/>
          <p:nvPr/>
        </p:nvSpPr>
        <p:spPr>
          <a:xfrm>
            <a:off x="8814816" y="852678"/>
            <a:ext cx="1444752" cy="4572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109" name="Text 106"/>
          <p:cNvSpPr/>
          <p:nvPr/>
        </p:nvSpPr>
        <p:spPr>
          <a:xfrm>
            <a:off x="8906256" y="944118"/>
            <a:ext cx="131673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未批核</a:t>
            </a:r>
            <a:endParaRPr lang="en-US" sz="900" dirty="0"/>
          </a:p>
        </p:txBody>
      </p:sp>
      <p:sp>
        <p:nvSpPr>
          <p:cNvPr id="110" name="Text 107"/>
          <p:cNvSpPr/>
          <p:nvPr/>
        </p:nvSpPr>
        <p:spPr>
          <a:xfrm>
            <a:off x="8906256" y="1163574"/>
            <a:ext cx="1316736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107.3M</a:t>
            </a:r>
            <a:endParaRPr lang="en-US" sz="2200" dirty="0"/>
          </a:p>
        </p:txBody>
      </p:sp>
      <p:sp>
        <p:nvSpPr>
          <p:cNvPr id="111" name="Text 108"/>
          <p:cNvSpPr/>
          <p:nvPr/>
        </p:nvSpPr>
        <p:spPr>
          <a:xfrm>
            <a:off x="8906256" y="1584198"/>
            <a:ext cx="131673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235件  14.7%</a:t>
            </a:r>
            <a:endParaRPr lang="en-US" sz="800" dirty="0"/>
          </a:p>
        </p:txBody>
      </p:sp>
      <p:sp>
        <p:nvSpPr>
          <p:cNvPr id="112" name="Shape 109"/>
          <p:cNvSpPr/>
          <p:nvPr/>
        </p:nvSpPr>
        <p:spPr>
          <a:xfrm>
            <a:off x="8906256" y="1821942"/>
            <a:ext cx="1280160" cy="146304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13" name="Shape 110"/>
          <p:cNvSpPr/>
          <p:nvPr/>
        </p:nvSpPr>
        <p:spPr>
          <a:xfrm>
            <a:off x="8906256" y="1821942"/>
            <a:ext cx="382768" cy="146304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114" name="Text 111"/>
          <p:cNvSpPr/>
          <p:nvPr/>
        </p:nvSpPr>
        <p:spPr>
          <a:xfrm>
            <a:off x="8906256" y="2004822"/>
            <a:ext cx="1316736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14.7%  占管道总量</a:t>
            </a:r>
            <a:endParaRPr lang="en-US" sz="700" dirty="0"/>
          </a:p>
        </p:txBody>
      </p:sp>
      <p:sp>
        <p:nvSpPr>
          <p:cNvPr id="115" name="Text 112"/>
          <p:cNvSpPr/>
          <p:nvPr/>
        </p:nvSpPr>
        <p:spPr>
          <a:xfrm>
            <a:off x="8906256" y="2205990"/>
            <a:ext cx="1316736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235件</a:t>
            </a:r>
            <a:endParaRPr lang="en-US" sz="900" dirty="0"/>
          </a:p>
        </p:txBody>
      </p:sp>
      <p:sp>
        <p:nvSpPr>
          <p:cNvPr id="116" name="Text 113"/>
          <p:cNvSpPr/>
          <p:nvPr/>
        </p:nvSpPr>
        <p:spPr>
          <a:xfrm>
            <a:off x="8906256" y="2407158"/>
            <a:ext cx="1316736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管道 728.6M 中占</a:t>
            </a:r>
            <a:endParaRPr lang="en-US" sz="650" dirty="0"/>
          </a:p>
        </p:txBody>
      </p:sp>
      <p:sp>
        <p:nvSpPr>
          <p:cNvPr id="117" name="Text 114"/>
          <p:cNvSpPr/>
          <p:nvPr/>
        </p:nvSpPr>
        <p:spPr>
          <a:xfrm>
            <a:off x="8906256" y="2378032"/>
            <a:ext cx="1316736" cy="14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14.7%</a:t>
            </a:r>
            <a:endParaRPr lang="en-US" sz="1600" dirty="0"/>
          </a:p>
        </p:txBody>
      </p:sp>
      <p:sp>
        <p:nvSpPr>
          <p:cNvPr id="118" name="Shape 115"/>
          <p:cNvSpPr/>
          <p:nvPr/>
        </p:nvSpPr>
        <p:spPr>
          <a:xfrm>
            <a:off x="10387330" y="852805"/>
            <a:ext cx="1444625" cy="1990725"/>
          </a:xfrm>
          <a:prstGeom prst="rect">
            <a:avLst/>
          </a:prstGeom>
          <a:solidFill>
            <a:srgbClr val="F5F7FA"/>
          </a:solidFill>
          <a:ln w="1270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119" name="Shape 116"/>
          <p:cNvSpPr/>
          <p:nvPr/>
        </p:nvSpPr>
        <p:spPr>
          <a:xfrm>
            <a:off x="10387584" y="852678"/>
            <a:ext cx="1444752" cy="45720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120" name="Text 117"/>
          <p:cNvSpPr/>
          <p:nvPr/>
        </p:nvSpPr>
        <p:spPr>
          <a:xfrm>
            <a:off x="10479024" y="944118"/>
            <a:ext cx="131673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待签</a:t>
            </a:r>
            <a:endParaRPr lang="en-US" sz="900" dirty="0"/>
          </a:p>
        </p:txBody>
      </p:sp>
      <p:sp>
        <p:nvSpPr>
          <p:cNvPr id="121" name="Text 118"/>
          <p:cNvSpPr/>
          <p:nvPr/>
        </p:nvSpPr>
        <p:spPr>
          <a:xfrm>
            <a:off x="10479024" y="1163574"/>
            <a:ext cx="1316736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16.1M</a:t>
            </a:r>
            <a:endParaRPr lang="en-US" sz="2200" dirty="0"/>
          </a:p>
        </p:txBody>
      </p:sp>
      <p:sp>
        <p:nvSpPr>
          <p:cNvPr id="122" name="Text 119"/>
          <p:cNvSpPr/>
          <p:nvPr/>
        </p:nvSpPr>
        <p:spPr>
          <a:xfrm>
            <a:off x="10479024" y="1584198"/>
            <a:ext cx="131673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42件   2.2%</a:t>
            </a:r>
            <a:endParaRPr lang="en-US" sz="800" dirty="0"/>
          </a:p>
        </p:txBody>
      </p:sp>
      <p:sp>
        <p:nvSpPr>
          <p:cNvPr id="123" name="Shape 120"/>
          <p:cNvSpPr/>
          <p:nvPr/>
        </p:nvSpPr>
        <p:spPr>
          <a:xfrm>
            <a:off x="10479024" y="1821942"/>
            <a:ext cx="1280160" cy="146304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24" name="Shape 121"/>
          <p:cNvSpPr/>
          <p:nvPr/>
        </p:nvSpPr>
        <p:spPr>
          <a:xfrm>
            <a:off x="10479024" y="1821942"/>
            <a:ext cx="57607" cy="146304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125" name="Text 122"/>
          <p:cNvSpPr/>
          <p:nvPr/>
        </p:nvSpPr>
        <p:spPr>
          <a:xfrm>
            <a:off x="10479024" y="2004822"/>
            <a:ext cx="1316736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2.2%  占管道总量</a:t>
            </a:r>
            <a:endParaRPr lang="en-US" sz="700" dirty="0"/>
          </a:p>
        </p:txBody>
      </p:sp>
      <p:sp>
        <p:nvSpPr>
          <p:cNvPr id="126" name="Text 123"/>
          <p:cNvSpPr/>
          <p:nvPr/>
        </p:nvSpPr>
        <p:spPr>
          <a:xfrm>
            <a:off x="10479024" y="2205990"/>
            <a:ext cx="1316736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42件</a:t>
            </a:r>
            <a:endParaRPr lang="en-US" sz="900" dirty="0"/>
          </a:p>
        </p:txBody>
      </p:sp>
      <p:sp>
        <p:nvSpPr>
          <p:cNvPr id="127" name="Text 124"/>
          <p:cNvSpPr/>
          <p:nvPr/>
        </p:nvSpPr>
        <p:spPr>
          <a:xfrm>
            <a:off x="10479024" y="2407158"/>
            <a:ext cx="1316736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管道 728.6M 中占</a:t>
            </a:r>
            <a:endParaRPr lang="en-US" sz="650" dirty="0"/>
          </a:p>
        </p:txBody>
      </p:sp>
      <p:sp>
        <p:nvSpPr>
          <p:cNvPr id="128" name="Text 125"/>
          <p:cNvSpPr/>
          <p:nvPr/>
        </p:nvSpPr>
        <p:spPr>
          <a:xfrm>
            <a:off x="10479024" y="2378032"/>
            <a:ext cx="1316736" cy="14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2.2%</a:t>
            </a:r>
            <a:endParaRPr lang="en-US" sz="1600" dirty="0"/>
          </a:p>
        </p:txBody>
      </p:sp>
      <p:sp>
        <p:nvSpPr>
          <p:cNvPr id="129" name="Shape 126"/>
          <p:cNvSpPr/>
          <p:nvPr/>
        </p:nvSpPr>
        <p:spPr>
          <a:xfrm>
            <a:off x="4608576" y="2902077"/>
            <a:ext cx="7461504" cy="384048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130" name="Shape 127"/>
          <p:cNvSpPr/>
          <p:nvPr/>
        </p:nvSpPr>
        <p:spPr>
          <a:xfrm>
            <a:off x="4608576" y="2902077"/>
            <a:ext cx="7461504" cy="27432"/>
          </a:xfrm>
          <a:prstGeom prst="rect">
            <a:avLst/>
          </a:prstGeom>
          <a:solidFill>
            <a:srgbClr val="7B241C"/>
          </a:solidFill>
          <a:ln w="12700">
            <a:solidFill>
              <a:srgbClr val="7B241C"/>
            </a:solidFill>
            <a:prstDash val="solid"/>
          </a:ln>
        </p:spPr>
        <p:txBody>
          <a:bodyPr/>
          <a:p/>
        </p:txBody>
      </p:sp>
      <p:sp>
        <p:nvSpPr>
          <p:cNvPr id="131" name="Text 128"/>
          <p:cNvSpPr/>
          <p:nvPr/>
        </p:nvSpPr>
        <p:spPr>
          <a:xfrm>
            <a:off x="4700016" y="2938653"/>
            <a:ext cx="7296912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7B241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132" name="Text 129"/>
          <p:cNvSpPr/>
          <p:nvPr/>
        </p:nvSpPr>
        <p:spPr>
          <a:xfrm>
            <a:off x="4700016" y="3057525"/>
            <a:ext cx="7296912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管道总值 728.5M 中，批核占 83.1%（605.2M）。剩余 123.4M（未批 107.3M + 待签 16.0M）若转化可直接推高达成率 11+。</a:t>
            </a:r>
            <a:endParaRPr lang="en-US" sz="550" dirty="0"/>
          </a:p>
        </p:txBody>
      </p:sp>
      <p:sp>
        <p:nvSpPr>
          <p:cNvPr id="134" name="Shape 131"/>
          <p:cNvSpPr/>
          <p:nvPr/>
        </p:nvSpPr>
        <p:spPr>
          <a:xfrm>
            <a:off x="4608576" y="3362706"/>
            <a:ext cx="7461504" cy="256032"/>
          </a:xfrm>
          <a:prstGeom prst="rect">
            <a:avLst/>
          </a:prstGeom>
          <a:solidFill>
            <a:srgbClr val="1A6B3A"/>
          </a:solidFill>
          <a:ln w="12700">
            <a:solidFill>
              <a:srgbClr val="1A6B3A"/>
            </a:solidFill>
            <a:prstDash val="solid"/>
          </a:ln>
        </p:spPr>
        <p:txBody>
          <a:bodyPr/>
          <a:p/>
        </p:txBody>
      </p:sp>
      <p:sp>
        <p:nvSpPr>
          <p:cNvPr id="135" name="Text 132"/>
          <p:cNvSpPr/>
          <p:nvPr/>
        </p:nvSpPr>
        <p:spPr>
          <a:xfrm>
            <a:off x="4700016" y="3399282"/>
            <a:ext cx="7296912" cy="1920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L  </a:t>
            </a: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目标 vs 已批核/</a:t>
            </a:r>
            <a:r>
              <a:rPr lang="zh-CN" alt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>未批核</a:t>
            </a:r>
            <a:r>
              <a:rPr lang="en-US" altLang="zh-CN" sz="8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>/</a:t>
            </a:r>
            <a:r>
              <a:rPr lang="zh-CN" alt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>待签</a:t>
            </a: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 APE — 各业务线对比</a:t>
            </a: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（APE in M）</a:t>
            </a:r>
            <a:endParaRPr lang="en-US" sz="850" dirty="0"/>
          </a:p>
        </p:txBody>
      </p:sp>
      <p:sp>
        <p:nvSpPr>
          <p:cNvPr id="137" name="Shape 133"/>
          <p:cNvSpPr/>
          <p:nvPr/>
        </p:nvSpPr>
        <p:spPr>
          <a:xfrm>
            <a:off x="4608576" y="6309360"/>
            <a:ext cx="7461504" cy="384048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138" name="Shape 134"/>
          <p:cNvSpPr/>
          <p:nvPr/>
        </p:nvSpPr>
        <p:spPr>
          <a:xfrm>
            <a:off x="4608576" y="6309360"/>
            <a:ext cx="7461504" cy="27432"/>
          </a:xfrm>
          <a:prstGeom prst="rect">
            <a:avLst/>
          </a:prstGeom>
          <a:solidFill>
            <a:srgbClr val="1A6B3A"/>
          </a:solidFill>
          <a:ln w="12700">
            <a:solidFill>
              <a:srgbClr val="1A6B3A"/>
            </a:solidFill>
            <a:prstDash val="solid"/>
          </a:ln>
        </p:spPr>
        <p:txBody>
          <a:bodyPr/>
          <a:p/>
        </p:txBody>
      </p:sp>
      <p:sp>
        <p:nvSpPr>
          <p:cNvPr id="139" name="Text 135"/>
          <p:cNvSpPr/>
          <p:nvPr/>
        </p:nvSpPr>
        <p:spPr>
          <a:xfrm>
            <a:off x="4700016" y="6345936"/>
            <a:ext cx="7296912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1A6B3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142" name="Text 2"/>
          <p:cNvSpPr/>
          <p:nvPr/>
        </p:nvSpPr>
        <p:spPr>
          <a:xfrm>
            <a:off x="10515600" y="109728"/>
            <a:ext cx="15087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内部文件 · 仅供使用</a:t>
            </a:r>
            <a:endParaRPr lang="en-US" sz="900" dirty="0"/>
          </a:p>
        </p:txBody>
      </p:sp>
      <p:graphicFrame>
        <p:nvGraphicFramePr>
          <p:cNvPr id="400" name="Chart_JM"/>
          <p:cNvGraphicFramePr/>
          <p:nvPr/>
        </p:nvGraphicFramePr>
        <p:xfrm>
          <a:off x="4698365" y="3629660"/>
          <a:ext cx="7299325" cy="267398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41" name="Text 29"/>
          <p:cNvSpPr/>
          <p:nvPr/>
        </p:nvSpPr>
        <p:spPr>
          <a:xfrm>
            <a:off x="4700270" y="6467475"/>
            <a:ext cx="6459220" cy="2000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BK业务批核 227.6M 已达目标 200M 的 113.8%，是唯一接近达标的业务线。永明经代目标最大（340M）但实际仅 151.2M，缺口 189M 为最大绝对值，是最大战略风险点。</a:t>
            </a:r>
            <a:endParaRPr lang="en-US" sz="550" dirty="0"/>
          </a:p>
        </p:txBody>
      </p:sp>
      <p:sp>
        <p:nvSpPr>
          <p:cNvPr id="143" name="Shape 70"/>
          <p:cNvSpPr/>
          <p:nvPr/>
        </p:nvSpPr>
        <p:spPr>
          <a:xfrm>
            <a:off x="226568" y="3808222"/>
            <a:ext cx="36576" cy="34747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144" name="Text 71"/>
          <p:cNvSpPr/>
          <p:nvPr/>
        </p:nvSpPr>
        <p:spPr>
          <a:xfrm>
            <a:off x="299720" y="3327776"/>
            <a:ext cx="1243584" cy="15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合伙转介</a:t>
            </a:r>
            <a:endParaRPr lang="en-US" sz="850" dirty="0"/>
          </a:p>
        </p:txBody>
      </p:sp>
      <p:sp>
        <p:nvSpPr>
          <p:cNvPr id="145" name="Text 72"/>
          <p:cNvSpPr/>
          <p:nvPr/>
        </p:nvSpPr>
        <p:spPr>
          <a:xfrm>
            <a:off x="299720" y="3972220"/>
            <a:ext cx="1243584" cy="15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 8.9M</a:t>
            </a:r>
            <a:endParaRPr lang="en-US" sz="650" dirty="0"/>
          </a:p>
        </p:txBody>
      </p:sp>
      <p:sp>
        <p:nvSpPr>
          <p:cNvPr id="146" name="Shape 73"/>
          <p:cNvSpPr/>
          <p:nvPr/>
        </p:nvSpPr>
        <p:spPr>
          <a:xfrm>
            <a:off x="1579880" y="3826510"/>
            <a:ext cx="1572768" cy="27432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47" name="Shape 74"/>
          <p:cNvSpPr/>
          <p:nvPr/>
        </p:nvSpPr>
        <p:spPr>
          <a:xfrm>
            <a:off x="1579880" y="3826510"/>
            <a:ext cx="459202" cy="27432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148" name="Text 75"/>
          <p:cNvSpPr/>
          <p:nvPr/>
        </p:nvSpPr>
        <p:spPr>
          <a:xfrm>
            <a:off x="1616456" y="3861364"/>
            <a:ext cx="404338" cy="14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29%</a:t>
            </a:r>
            <a:endParaRPr lang="en-US" sz="750" dirty="0"/>
          </a:p>
        </p:txBody>
      </p:sp>
      <p:sp>
        <p:nvSpPr>
          <p:cNvPr id="149" name="Shape 76"/>
          <p:cNvSpPr/>
          <p:nvPr/>
        </p:nvSpPr>
        <p:spPr>
          <a:xfrm>
            <a:off x="2039082" y="3826510"/>
            <a:ext cx="1093476" cy="27432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150" name="Text 77"/>
          <p:cNvSpPr/>
          <p:nvPr/>
        </p:nvSpPr>
        <p:spPr>
          <a:xfrm>
            <a:off x="2075658" y="3861364"/>
            <a:ext cx="1038612" cy="14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70%</a:t>
            </a:r>
            <a:endParaRPr lang="en-US" sz="750" dirty="0"/>
          </a:p>
        </p:txBody>
      </p:sp>
      <p:sp>
        <p:nvSpPr>
          <p:cNvPr id="151" name="Shape 78"/>
          <p:cNvSpPr/>
          <p:nvPr/>
        </p:nvSpPr>
        <p:spPr>
          <a:xfrm>
            <a:off x="3132558" y="3826510"/>
            <a:ext cx="20090" cy="274320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152" name="Text 79"/>
          <p:cNvSpPr/>
          <p:nvPr/>
        </p:nvSpPr>
        <p:spPr>
          <a:xfrm>
            <a:off x="3198368" y="3852220"/>
            <a:ext cx="749808" cy="15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4.5▌4.4▌0.0</a:t>
            </a:r>
            <a:endParaRPr lang="en-US" sz="700" dirty="0"/>
          </a:p>
        </p:txBody>
      </p:sp>
      <p:sp>
        <p:nvSpPr>
          <p:cNvPr id="154" name="Shape 80"/>
          <p:cNvSpPr/>
          <p:nvPr/>
        </p:nvSpPr>
        <p:spPr>
          <a:xfrm>
            <a:off x="226568" y="1447546"/>
            <a:ext cx="36576" cy="347472"/>
          </a:xfrm>
          <a:prstGeom prst="rect">
            <a:avLst/>
          </a:prstGeom>
          <a:solidFill>
            <a:srgbClr val="B0B0B0"/>
          </a:solidFill>
          <a:ln w="12700">
            <a:solidFill>
              <a:srgbClr val="B0B0B0"/>
            </a:solidFill>
            <a:prstDash val="solid"/>
          </a:ln>
        </p:spPr>
        <p:txBody>
          <a:bodyPr/>
          <a:p/>
        </p:txBody>
      </p:sp>
      <p:sp>
        <p:nvSpPr>
          <p:cNvPr id="155" name="Text 81"/>
          <p:cNvSpPr/>
          <p:nvPr/>
        </p:nvSpPr>
        <p:spPr>
          <a:xfrm>
            <a:off x="299720" y="1350000"/>
            <a:ext cx="1243584" cy="15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B0B0B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IFA业务</a:t>
            </a:r>
            <a:endParaRPr lang="en-US" sz="850" dirty="0"/>
          </a:p>
        </p:txBody>
      </p:sp>
      <p:sp>
        <p:nvSpPr>
          <p:cNvPr id="156" name="Text 82"/>
          <p:cNvSpPr/>
          <p:nvPr/>
        </p:nvSpPr>
        <p:spPr>
          <a:xfrm>
            <a:off x="299720" y="1500000"/>
            <a:ext cx="1243584" cy="15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 0.0M</a:t>
            </a:r>
            <a:endParaRPr lang="en-US" sz="650" dirty="0"/>
          </a:p>
        </p:txBody>
      </p:sp>
      <p:sp>
        <p:nvSpPr>
          <p:cNvPr id="157" name="Shape 83"/>
          <p:cNvSpPr/>
          <p:nvPr/>
        </p:nvSpPr>
        <p:spPr>
          <a:xfrm>
            <a:off x="1579880" y="1465834"/>
            <a:ext cx="1572768" cy="27432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58" name="Text 84"/>
          <p:cNvSpPr/>
          <p:nvPr/>
        </p:nvSpPr>
        <p:spPr>
          <a:xfrm>
            <a:off x="3198368" y="1380000"/>
            <a:ext cx="749808" cy="15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0.0▌0.0▌0.0</a:t>
            </a:r>
            <a:endParaRPr lang="en-US" sz="700" dirty="0"/>
          </a:p>
        </p:txBody>
      </p:sp>
      <p:sp>
        <p:nvSpPr>
          <p:cNvPr id="401" name="Text_MGA"/>
          <p:cNvSpPr txBox="1"/>
          <p:nvPr/>
        </p:nvSpPr>
        <p:spPr>
          <a:xfrm>
            <a:off x="299720" y="4811108"/>
            <a:ext cx="1243584" cy="150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 b="1">
                <a:solidFill>
                  <a:srgbClr val="202020"/>
                </a:solidFill>
                <a:latin typeface="Calibri"/>
              </a:rPr>
              <a:t>MGA业务</a:t>
            </a:r>
          </a:p>
        </p:txBody>
      </p:sp>
      <p:sp>
        <p:nvSpPr>
          <p:cNvPr id="402" name="Text_MGA_total"/>
          <p:cNvSpPr txBox="1"/>
          <p:nvPr/>
        </p:nvSpPr>
        <p:spPr>
          <a:xfrm>
            <a:off x="299720" y="4961108"/>
            <a:ext cx="1243584" cy="150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合计 52.6M</a:t>
            </a:r>
          </a:p>
        </p:txBody>
      </p:sp>
      <p:sp>
        <p:nvSpPr>
          <p:cNvPr id="403" name="Text_MGA_pct1"/>
          <p:cNvSpPr txBox="1"/>
          <p:nvPr/>
        </p:nvSpPr>
        <p:spPr>
          <a:xfrm>
            <a:off x="1616456" y="4850252"/>
            <a:ext cx="500000" cy="140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1A6B3A"/>
                </a:solidFill>
                <a:latin typeface="Calibri"/>
              </a:rPr>
              <a:t>37%</a:t>
            </a:r>
          </a:p>
        </p:txBody>
      </p:sp>
      <p:sp>
        <p:nvSpPr>
          <p:cNvPr id="404" name="Text_MGA_pct2"/>
          <p:cNvSpPr txBox="1"/>
          <p:nvPr/>
        </p:nvSpPr>
        <p:spPr>
          <a:xfrm>
            <a:off x="2653916" y="4850252"/>
            <a:ext cx="500000" cy="140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C8890A"/>
                </a:solidFill>
                <a:latin typeface="Calibri"/>
              </a:rPr>
              <a:t>46%</a:t>
            </a:r>
          </a:p>
        </p:txBody>
      </p:sp>
      <p:sp>
        <p:nvSpPr>
          <p:cNvPr id="405" name="Text_MGA_stack"/>
          <p:cNvSpPr txBox="1"/>
          <p:nvPr/>
        </p:nvSpPr>
        <p:spPr>
          <a:xfrm>
            <a:off x="3198368" y="4841108"/>
            <a:ext cx="1500000" cy="150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 b="0">
                <a:solidFill>
                  <a:srgbClr val="202020"/>
                </a:solidFill>
                <a:latin typeface="Calibri"/>
              </a:rPr>
              <a:t>19.4▌24.0▌9.2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47548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64592" y="73152"/>
            <a:ext cx="1005840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执行管理端分析仪表盘  |  Execution Management View  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0058400" y="109728"/>
            <a:ext cx="19659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内部文件 · 仅供使用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91440" y="585470"/>
            <a:ext cx="5943600" cy="28346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91440" y="548640"/>
            <a:ext cx="5943600" cy="25603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82880" y="585216"/>
            <a:ext cx="5779008" cy="1920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  全流程转化漏斗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603250" y="1050290"/>
            <a:ext cx="4699000" cy="27051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603250" y="1050290"/>
            <a:ext cx="2277110" cy="270510"/>
          </a:xfrm>
          <a:prstGeom prst="rect">
            <a:avLst/>
          </a:prstGeom>
          <a:solidFill>
            <a:srgbClr val="2980B9"/>
          </a:solidFill>
          <a:ln w="12700">
            <a:solidFill>
              <a:srgbClr val="2980B9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201295" y="1121410"/>
            <a:ext cx="348615" cy="1149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预约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658495" y="1094105"/>
            <a:ext cx="1044575" cy="1231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440.9M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051175" y="1094105"/>
            <a:ext cx="696595" cy="1231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1114件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603250" y="1482090"/>
            <a:ext cx="4699000" cy="27051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603250" y="1482090"/>
            <a:ext cx="1980565" cy="27051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201295" y="1526540"/>
            <a:ext cx="348615" cy="1231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签单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658495" y="1535430"/>
            <a:ext cx="1044575" cy="1231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425.8M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2739390" y="1526540"/>
            <a:ext cx="696595" cy="1231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1077件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603250" y="1941195"/>
            <a:ext cx="4699000" cy="27051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603250" y="1941195"/>
            <a:ext cx="1568450" cy="27051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201295" y="1967230"/>
            <a:ext cx="348615" cy="1231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递交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658495" y="1976120"/>
            <a:ext cx="1044575" cy="1231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424.6M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2306320" y="1985010"/>
            <a:ext cx="696595" cy="1231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1064件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03250" y="2355215"/>
            <a:ext cx="4699000" cy="27051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603250" y="2355215"/>
            <a:ext cx="4426585" cy="27051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201295" y="2435225"/>
            <a:ext cx="348615" cy="1231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658495" y="2425700"/>
            <a:ext cx="1044575" cy="1231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602.0M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5088899" y="2419604"/>
            <a:ext cx="7315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1156件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91440" y="2980944"/>
            <a:ext cx="5943600" cy="402336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31" name="Shape 29"/>
          <p:cNvSpPr/>
          <p:nvPr/>
        </p:nvSpPr>
        <p:spPr>
          <a:xfrm>
            <a:off x="91440" y="2980944"/>
            <a:ext cx="5943600" cy="2743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182880" y="3017520"/>
            <a:ext cx="5779008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33" name="Text 31"/>
          <p:cNvSpPr/>
          <p:nvPr/>
        </p:nvSpPr>
        <p:spPr>
          <a:xfrm>
            <a:off x="182880" y="3136392"/>
            <a:ext cx="5779008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 APE 累计 602.0M 显著高于预约 440.9M，反映跨周积压存量消化效应。签单累计 425.8M，递交→批核转化效率较高。W07 预约低点 2.7M 需关注执行节奏。</a:t>
            </a:r>
            <a:endParaRPr lang="en-US" sz="550" dirty="0"/>
          </a:p>
        </p:txBody>
      </p:sp>
      <p:sp>
        <p:nvSpPr>
          <p:cNvPr id="34" name="Shape 32"/>
          <p:cNvSpPr/>
          <p:nvPr/>
        </p:nvSpPr>
        <p:spPr>
          <a:xfrm>
            <a:off x="6163056" y="548640"/>
            <a:ext cx="5888736" cy="28346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35" name="Shape 33"/>
          <p:cNvSpPr/>
          <p:nvPr/>
        </p:nvSpPr>
        <p:spPr>
          <a:xfrm>
            <a:off x="6163056" y="548640"/>
            <a:ext cx="5888736" cy="25603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36" name="Text 34"/>
          <p:cNvSpPr/>
          <p:nvPr/>
        </p:nvSpPr>
        <p:spPr>
          <a:xfrm>
            <a:off x="6254496" y="585216"/>
            <a:ext cx="5724144" cy="1920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N  周度APE波动趋势（预约/签单/递交/批核）</a:t>
            </a:r>
            <a:endParaRPr lang="en-US" sz="850" dirty="0"/>
          </a:p>
        </p:txBody>
      </p:sp>
      <p:graphicFrame>
        <p:nvGraphicFramePr>
          <p:cNvPr id="37" name="Chart 0"/>
          <p:cNvGraphicFramePr/>
          <p:nvPr/>
        </p:nvGraphicFramePr>
        <p:xfrm>
          <a:off x="6272784" y="841248"/>
          <a:ext cx="5687568" cy="20482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38" name="Shape 35"/>
          <p:cNvSpPr/>
          <p:nvPr/>
        </p:nvSpPr>
        <p:spPr>
          <a:xfrm>
            <a:off x="6163056" y="2980944"/>
            <a:ext cx="5888736" cy="402336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39" name="Shape 36"/>
          <p:cNvSpPr/>
          <p:nvPr/>
        </p:nvSpPr>
        <p:spPr>
          <a:xfrm>
            <a:off x="6163056" y="2980944"/>
            <a:ext cx="5888736" cy="2743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40" name="Text 37"/>
          <p:cNvSpPr/>
          <p:nvPr/>
        </p:nvSpPr>
        <p:spPr>
          <a:xfrm>
            <a:off x="6254496" y="3017520"/>
            <a:ext cx="5724144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41" name="Text 38"/>
          <p:cNvSpPr/>
          <p:nvPr/>
        </p:nvSpPr>
        <p:spPr>
          <a:xfrm>
            <a:off x="6254496" y="3136392"/>
            <a:ext cx="5724144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W21 签单峰 32.8M 为阶段高点；W08 批核峰 67.0M 为存量集中消化；W05 预约峰 28.2M 显示前端动能。周度节奏呈脉冲式特征，需关注执行连续性。</a:t>
            </a:r>
            <a:endParaRPr lang="en-US" sz="550" dirty="0"/>
          </a:p>
        </p:txBody>
      </p:sp>
      <p:sp>
        <p:nvSpPr>
          <p:cNvPr id="42" name="Shape 39"/>
          <p:cNvSpPr/>
          <p:nvPr/>
        </p:nvSpPr>
        <p:spPr>
          <a:xfrm>
            <a:off x="91440" y="3493008"/>
            <a:ext cx="3840480" cy="3163824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43" name="Shape 40"/>
          <p:cNvSpPr/>
          <p:nvPr/>
        </p:nvSpPr>
        <p:spPr>
          <a:xfrm>
            <a:off x="91440" y="3493008"/>
            <a:ext cx="3840480" cy="25603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44" name="Text 41"/>
          <p:cNvSpPr/>
          <p:nvPr/>
        </p:nvSpPr>
        <p:spPr>
          <a:xfrm>
            <a:off x="182880" y="3529584"/>
            <a:ext cx="3675888" cy="1920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O 本周业绩快报 — W28（2026）</a:t>
            </a:r>
            <a:endParaRPr lang="en-US" sz="850" dirty="0"/>
          </a:p>
        </p:txBody>
      </p:sp>
      <p:sp>
        <p:nvSpPr>
          <p:cNvPr id="45" name="Shape 42"/>
          <p:cNvSpPr/>
          <p:nvPr/>
        </p:nvSpPr>
        <p:spPr>
          <a:xfrm>
            <a:off x="201168" y="3803904"/>
            <a:ext cx="3639312" cy="20116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46" name="Text 43"/>
          <p:cNvSpPr/>
          <p:nvPr/>
        </p:nvSpPr>
        <p:spPr>
          <a:xfrm>
            <a:off x="256032" y="3840480"/>
            <a:ext cx="68580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指标</a:t>
            </a:r>
            <a:endParaRPr lang="en-US" sz="750" dirty="0"/>
          </a:p>
        </p:txBody>
      </p:sp>
      <p:sp>
        <p:nvSpPr>
          <p:cNvPr id="47" name="Text 44"/>
          <p:cNvSpPr/>
          <p:nvPr/>
        </p:nvSpPr>
        <p:spPr>
          <a:xfrm>
            <a:off x="941832" y="3840480"/>
            <a:ext cx="96012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APE（M）</a:t>
            </a:r>
            <a:endParaRPr lang="en-US" sz="750" dirty="0"/>
          </a:p>
        </p:txBody>
      </p:sp>
      <p:sp>
        <p:nvSpPr>
          <p:cNvPr id="48" name="Text 45"/>
          <p:cNvSpPr/>
          <p:nvPr/>
        </p:nvSpPr>
        <p:spPr>
          <a:xfrm>
            <a:off x="1901952" y="3840480"/>
            <a:ext cx="59436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件数</a:t>
            </a:r>
            <a:endParaRPr lang="en-US" sz="750" dirty="0"/>
          </a:p>
        </p:txBody>
      </p:sp>
      <p:sp>
        <p:nvSpPr>
          <p:cNvPr id="49" name="Text 46"/>
          <p:cNvSpPr/>
          <p:nvPr/>
        </p:nvSpPr>
        <p:spPr>
          <a:xfrm>
            <a:off x="2496312" y="3840480"/>
            <a:ext cx="1389888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状态</a:t>
            </a:r>
            <a:endParaRPr lang="en-US" sz="750" dirty="0"/>
          </a:p>
        </p:txBody>
      </p:sp>
      <p:sp>
        <p:nvSpPr>
          <p:cNvPr id="50" name="Shape 47"/>
          <p:cNvSpPr/>
          <p:nvPr/>
        </p:nvSpPr>
        <p:spPr>
          <a:xfrm>
            <a:off x="201168" y="4023360"/>
            <a:ext cx="3639312" cy="402336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51" name="Shape 48"/>
          <p:cNvSpPr/>
          <p:nvPr/>
        </p:nvSpPr>
        <p:spPr>
          <a:xfrm>
            <a:off x="201168" y="4023360"/>
            <a:ext cx="36576" cy="402336"/>
          </a:xfrm>
          <a:prstGeom prst="rect">
            <a:avLst/>
          </a:prstGeom>
          <a:solidFill>
            <a:srgbClr val="2980B9"/>
          </a:solidFill>
          <a:ln w="12700">
            <a:solidFill>
              <a:srgbClr val="2980B9"/>
            </a:solidFill>
            <a:prstDash val="solid"/>
          </a:ln>
        </p:spPr>
        <p:txBody>
          <a:bodyPr/>
          <a:p/>
        </p:txBody>
      </p:sp>
      <p:sp>
        <p:nvSpPr>
          <p:cNvPr id="52" name="Text 49"/>
          <p:cNvSpPr/>
          <p:nvPr/>
        </p:nvSpPr>
        <p:spPr>
          <a:xfrm>
            <a:off x="274320" y="4114800"/>
            <a:ext cx="630936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预约</a:t>
            </a:r>
            <a:endParaRPr lang="en-US" sz="1000" dirty="0"/>
          </a:p>
        </p:txBody>
      </p:sp>
      <p:sp>
        <p:nvSpPr>
          <p:cNvPr id="53" name="Text 50"/>
          <p:cNvSpPr/>
          <p:nvPr/>
        </p:nvSpPr>
        <p:spPr>
          <a:xfrm>
            <a:off x="941832" y="4096512"/>
            <a:ext cx="923544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20.3M</a:t>
            </a:r>
            <a:endParaRPr lang="en-US" sz="1400" dirty="0"/>
          </a:p>
        </p:txBody>
      </p:sp>
      <p:sp>
        <p:nvSpPr>
          <p:cNvPr id="54" name="Text 51"/>
          <p:cNvSpPr/>
          <p:nvPr/>
        </p:nvSpPr>
        <p:spPr>
          <a:xfrm>
            <a:off x="1901952" y="4114800"/>
            <a:ext cx="55778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51件</a:t>
            </a:r>
            <a:endParaRPr lang="en-US" sz="1000" dirty="0"/>
          </a:p>
        </p:txBody>
      </p:sp>
      <p:sp>
        <p:nvSpPr>
          <p:cNvPr id="55" name="Text 52"/>
          <p:cNvSpPr/>
          <p:nvPr/>
        </p:nvSpPr>
        <p:spPr>
          <a:xfrm>
            <a:off x="2496312" y="4114800"/>
            <a:ext cx="133502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▼ 环比-11.0%</a:t>
            </a:r>
            <a:endParaRPr lang="en-US" sz="850" dirty="0"/>
          </a:p>
        </p:txBody>
      </p:sp>
      <p:sp>
        <p:nvSpPr>
          <p:cNvPr id="56" name="Shape 53"/>
          <p:cNvSpPr/>
          <p:nvPr/>
        </p:nvSpPr>
        <p:spPr>
          <a:xfrm>
            <a:off x="201168" y="4443984"/>
            <a:ext cx="3639312" cy="402336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57" name="Shape 54"/>
          <p:cNvSpPr/>
          <p:nvPr/>
        </p:nvSpPr>
        <p:spPr>
          <a:xfrm>
            <a:off x="201168" y="4443984"/>
            <a:ext cx="36576" cy="402336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58" name="Text 55"/>
          <p:cNvSpPr/>
          <p:nvPr/>
        </p:nvSpPr>
        <p:spPr>
          <a:xfrm>
            <a:off x="274320" y="4535424"/>
            <a:ext cx="630936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签单</a:t>
            </a:r>
            <a:endParaRPr lang="en-US" sz="1000" dirty="0"/>
          </a:p>
        </p:txBody>
      </p:sp>
      <p:sp>
        <p:nvSpPr>
          <p:cNvPr id="59" name="Text 56"/>
          <p:cNvSpPr/>
          <p:nvPr/>
        </p:nvSpPr>
        <p:spPr>
          <a:xfrm>
            <a:off x="941832" y="4517136"/>
            <a:ext cx="923544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21.0M</a:t>
            </a:r>
            <a:endParaRPr lang="en-US" sz="1400" dirty="0"/>
          </a:p>
        </p:txBody>
      </p:sp>
      <p:sp>
        <p:nvSpPr>
          <p:cNvPr id="60" name="Text 57"/>
          <p:cNvSpPr/>
          <p:nvPr/>
        </p:nvSpPr>
        <p:spPr>
          <a:xfrm>
            <a:off x="1901952" y="4535424"/>
            <a:ext cx="55778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43件</a:t>
            </a:r>
            <a:endParaRPr lang="en-US" sz="1000" dirty="0"/>
          </a:p>
        </p:txBody>
      </p:sp>
      <p:sp>
        <p:nvSpPr>
          <p:cNvPr id="61" name="Text 58"/>
          <p:cNvSpPr/>
          <p:nvPr/>
        </p:nvSpPr>
        <p:spPr>
          <a:xfrm>
            <a:off x="2496312" y="4535424"/>
            <a:ext cx="133502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▲ 环比+93.3%</a:t>
            </a:r>
            <a:endParaRPr lang="en-US" sz="850" dirty="0"/>
          </a:p>
        </p:txBody>
      </p:sp>
      <p:sp>
        <p:nvSpPr>
          <p:cNvPr id="62" name="Shape 59"/>
          <p:cNvSpPr/>
          <p:nvPr/>
        </p:nvSpPr>
        <p:spPr>
          <a:xfrm>
            <a:off x="201168" y="4864608"/>
            <a:ext cx="3639312" cy="402336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63" name="Shape 60"/>
          <p:cNvSpPr/>
          <p:nvPr/>
        </p:nvSpPr>
        <p:spPr>
          <a:xfrm>
            <a:off x="201168" y="4864608"/>
            <a:ext cx="36576" cy="402336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64" name="Text 61"/>
          <p:cNvSpPr/>
          <p:nvPr/>
        </p:nvSpPr>
        <p:spPr>
          <a:xfrm>
            <a:off x="274320" y="4956048"/>
            <a:ext cx="630936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1000" dirty="0"/>
          </a:p>
        </p:txBody>
      </p:sp>
      <p:sp>
        <p:nvSpPr>
          <p:cNvPr id="65" name="Text 62"/>
          <p:cNvSpPr/>
          <p:nvPr/>
        </p:nvSpPr>
        <p:spPr>
          <a:xfrm>
            <a:off x="941832" y="4937760"/>
            <a:ext cx="923544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6.9M</a:t>
            </a:r>
            <a:endParaRPr lang="en-US" sz="1400" dirty="0"/>
          </a:p>
        </p:txBody>
      </p:sp>
      <p:sp>
        <p:nvSpPr>
          <p:cNvPr id="66" name="Text 63"/>
          <p:cNvSpPr/>
          <p:nvPr/>
        </p:nvSpPr>
        <p:spPr>
          <a:xfrm>
            <a:off x="1901952" y="4956048"/>
            <a:ext cx="55778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29件</a:t>
            </a:r>
            <a:endParaRPr lang="en-US" sz="1000" dirty="0"/>
          </a:p>
        </p:txBody>
      </p:sp>
      <p:sp>
        <p:nvSpPr>
          <p:cNvPr id="67" name="Text 64"/>
          <p:cNvSpPr/>
          <p:nvPr/>
        </p:nvSpPr>
        <p:spPr>
          <a:xfrm>
            <a:off x="2496312" y="4956048"/>
            <a:ext cx="133502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▼ 环比-60.7%</a:t>
            </a:r>
            <a:endParaRPr lang="en-US" sz="850" dirty="0"/>
          </a:p>
        </p:txBody>
      </p:sp>
      <p:sp>
        <p:nvSpPr>
          <p:cNvPr id="68" name="Shape 65"/>
          <p:cNvSpPr/>
          <p:nvPr/>
        </p:nvSpPr>
        <p:spPr>
          <a:xfrm>
            <a:off x="201168" y="5285232"/>
            <a:ext cx="3639312" cy="402336"/>
          </a:xfrm>
          <a:prstGeom prst="rect">
            <a:avLst/>
          </a:prstGeom>
          <a:solidFill>
            <a:srgbClr val="FFF8E1"/>
          </a:solidFill>
          <a:ln w="1016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69" name="Shape 66"/>
          <p:cNvSpPr/>
          <p:nvPr/>
        </p:nvSpPr>
        <p:spPr>
          <a:xfrm>
            <a:off x="201168" y="5285232"/>
            <a:ext cx="36576" cy="402336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70" name="Text 67"/>
          <p:cNvSpPr/>
          <p:nvPr/>
        </p:nvSpPr>
        <p:spPr>
          <a:xfrm>
            <a:off x="274320" y="5376672"/>
            <a:ext cx="630936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未批核</a:t>
            </a:r>
            <a:endParaRPr lang="en-US" sz="1000" dirty="0"/>
          </a:p>
        </p:txBody>
      </p:sp>
      <p:sp>
        <p:nvSpPr>
          <p:cNvPr id="71" name="Text 68"/>
          <p:cNvSpPr/>
          <p:nvPr/>
        </p:nvSpPr>
        <p:spPr>
          <a:xfrm>
            <a:off x="911352" y="5358384"/>
            <a:ext cx="923544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107.3M</a:t>
            </a:r>
            <a:endParaRPr lang="en-US" sz="1400" dirty="0"/>
          </a:p>
        </p:txBody>
      </p:sp>
      <p:sp>
        <p:nvSpPr>
          <p:cNvPr id="72" name="Text 69"/>
          <p:cNvSpPr/>
          <p:nvPr/>
        </p:nvSpPr>
        <p:spPr>
          <a:xfrm>
            <a:off x="1901952" y="5376672"/>
            <a:ext cx="55778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235件</a:t>
            </a:r>
            <a:endParaRPr lang="en-US" sz="1000" dirty="0"/>
          </a:p>
        </p:txBody>
      </p:sp>
      <p:sp>
        <p:nvSpPr>
          <p:cNvPr id="73" name="Text 70"/>
          <p:cNvSpPr/>
          <p:nvPr/>
        </p:nvSpPr>
        <p:spPr>
          <a:xfrm>
            <a:off x="2496312" y="5376672"/>
            <a:ext cx="133502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⚠ 待转化优先</a:t>
            </a:r>
            <a:endParaRPr lang="en-US" sz="850" dirty="0"/>
          </a:p>
        </p:txBody>
      </p:sp>
      <p:sp>
        <p:nvSpPr>
          <p:cNvPr id="74" name="Shape 71"/>
          <p:cNvSpPr/>
          <p:nvPr/>
        </p:nvSpPr>
        <p:spPr>
          <a:xfrm>
            <a:off x="201168" y="5705856"/>
            <a:ext cx="3639312" cy="402336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75" name="Shape 72"/>
          <p:cNvSpPr/>
          <p:nvPr/>
        </p:nvSpPr>
        <p:spPr>
          <a:xfrm>
            <a:off x="201168" y="5705856"/>
            <a:ext cx="36576" cy="402336"/>
          </a:xfrm>
          <a:prstGeom prst="rect">
            <a:avLst/>
          </a:prstGeom>
          <a:solidFill>
            <a:srgbClr val="8E44AD"/>
          </a:solidFill>
          <a:ln w="12700">
            <a:solidFill>
              <a:srgbClr val="8E44AD"/>
            </a:solidFill>
            <a:prstDash val="solid"/>
          </a:ln>
        </p:spPr>
        <p:txBody>
          <a:bodyPr/>
          <a:p/>
        </p:txBody>
      </p:sp>
      <p:sp>
        <p:nvSpPr>
          <p:cNvPr id="76" name="Text 73"/>
          <p:cNvSpPr/>
          <p:nvPr/>
        </p:nvSpPr>
        <p:spPr>
          <a:xfrm>
            <a:off x="274320" y="5797296"/>
            <a:ext cx="630936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8E44A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待签</a:t>
            </a:r>
            <a:endParaRPr lang="en-US" sz="1000" dirty="0"/>
          </a:p>
        </p:txBody>
      </p:sp>
      <p:sp>
        <p:nvSpPr>
          <p:cNvPr id="77" name="Text 74"/>
          <p:cNvSpPr/>
          <p:nvPr/>
        </p:nvSpPr>
        <p:spPr>
          <a:xfrm>
            <a:off x="941832" y="5779008"/>
            <a:ext cx="923544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8E44A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16.1M</a:t>
            </a:r>
            <a:endParaRPr lang="en-US" sz="1400" dirty="0"/>
          </a:p>
        </p:txBody>
      </p:sp>
      <p:sp>
        <p:nvSpPr>
          <p:cNvPr id="78" name="Text 75"/>
          <p:cNvSpPr/>
          <p:nvPr/>
        </p:nvSpPr>
        <p:spPr>
          <a:xfrm>
            <a:off x="1901952" y="5797296"/>
            <a:ext cx="55778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8E44A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42件</a:t>
            </a:r>
            <a:endParaRPr lang="en-US" sz="1000" dirty="0"/>
          </a:p>
        </p:txBody>
      </p:sp>
      <p:sp>
        <p:nvSpPr>
          <p:cNvPr id="79" name="Text 76"/>
          <p:cNvSpPr/>
          <p:nvPr/>
        </p:nvSpPr>
        <p:spPr>
          <a:xfrm>
            <a:off x="2496312" y="5797296"/>
            <a:ext cx="133502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→ 尽快推进</a:t>
            </a:r>
            <a:endParaRPr lang="en-US" sz="850" dirty="0"/>
          </a:p>
        </p:txBody>
      </p:sp>
      <p:sp>
        <p:nvSpPr>
          <p:cNvPr id="80" name="Shape 77"/>
          <p:cNvSpPr/>
          <p:nvPr/>
        </p:nvSpPr>
        <p:spPr>
          <a:xfrm>
            <a:off x="91440" y="6254496"/>
            <a:ext cx="3840480" cy="402336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81" name="Shape 78"/>
          <p:cNvSpPr/>
          <p:nvPr/>
        </p:nvSpPr>
        <p:spPr>
          <a:xfrm>
            <a:off x="91440" y="6254496"/>
            <a:ext cx="3840480" cy="2743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82" name="Text 79"/>
          <p:cNvSpPr/>
          <p:nvPr/>
        </p:nvSpPr>
        <p:spPr>
          <a:xfrm>
            <a:off x="182880" y="6291072"/>
            <a:ext cx="3675888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83" name="Text 80"/>
          <p:cNvSpPr/>
          <p:nvPr/>
        </p:nvSpPr>
        <p:spPr>
          <a:xfrm>
            <a:off x="182880" y="6409944"/>
            <a:ext cx="3675888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W28 预约 20.3M/51件；签单 21.0M/43件；批核 6.9M/29件。未批核 107.3M（235件）是 Q2 批核的核心转化储量。</a:t>
            </a:r>
            <a:endParaRPr lang="en-US" sz="550" dirty="0"/>
          </a:p>
        </p:txBody>
      </p:sp>
      <p:sp>
        <p:nvSpPr>
          <p:cNvPr id="84" name="Shape 81"/>
          <p:cNvSpPr/>
          <p:nvPr/>
        </p:nvSpPr>
        <p:spPr>
          <a:xfrm>
            <a:off x="4059936" y="3493008"/>
            <a:ext cx="7991856" cy="3163824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85" name="Shape 82"/>
          <p:cNvSpPr/>
          <p:nvPr/>
        </p:nvSpPr>
        <p:spPr>
          <a:xfrm>
            <a:off x="4059936" y="3493008"/>
            <a:ext cx="7991856" cy="256032"/>
          </a:xfrm>
          <a:prstGeom prst="rect">
            <a:avLst/>
          </a:prstGeom>
          <a:solidFill>
            <a:srgbClr val="4A235A"/>
          </a:solidFill>
          <a:ln w="12700">
            <a:solidFill>
              <a:srgbClr val="4A235A"/>
            </a:solidFill>
            <a:prstDash val="solid"/>
          </a:ln>
        </p:spPr>
        <p:txBody>
          <a:bodyPr/>
          <a:p/>
        </p:txBody>
      </p:sp>
      <p:sp>
        <p:nvSpPr>
          <p:cNvPr id="86" name="Text 83"/>
          <p:cNvSpPr/>
          <p:nvPr/>
        </p:nvSpPr>
        <p:spPr>
          <a:xfrm>
            <a:off x="4151376" y="3529584"/>
            <a:ext cx="7827264" cy="1920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  KEY ACCOUNT TOP10 排名 </a:t>
            </a:r>
            <a:endParaRPr lang="en-US" sz="850" dirty="0"/>
          </a:p>
        </p:txBody>
      </p:sp>
      <p:sp>
        <p:nvSpPr>
          <p:cNvPr id="87" name="Shape 84"/>
          <p:cNvSpPr/>
          <p:nvPr/>
        </p:nvSpPr>
        <p:spPr>
          <a:xfrm>
            <a:off x="4169664" y="3803904"/>
            <a:ext cx="7790688" cy="256032"/>
          </a:xfrm>
          <a:prstGeom prst="rect">
            <a:avLst/>
          </a:prstGeom>
          <a:solidFill>
            <a:srgbClr val="4A235A"/>
          </a:solidFill>
          <a:ln w="12700">
            <a:solidFill>
              <a:srgbClr val="4A235A"/>
            </a:solidFill>
            <a:prstDash val="solid"/>
          </a:ln>
        </p:spPr>
        <p:txBody>
          <a:bodyPr/>
          <a:p/>
        </p:txBody>
      </p:sp>
      <p:sp>
        <p:nvSpPr>
          <p:cNvPr id="88" name="Text 85"/>
          <p:cNvSpPr/>
          <p:nvPr/>
        </p:nvSpPr>
        <p:spPr>
          <a:xfrm>
            <a:off x="4206240" y="3840480"/>
            <a:ext cx="2926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#</a:t>
            </a:r>
            <a:endParaRPr lang="en-US" sz="700" dirty="0"/>
          </a:p>
        </p:txBody>
      </p:sp>
      <p:sp>
        <p:nvSpPr>
          <p:cNvPr id="89" name="Text 86"/>
          <p:cNvSpPr/>
          <p:nvPr/>
        </p:nvSpPr>
        <p:spPr>
          <a:xfrm>
            <a:off x="4517136" y="3840480"/>
            <a:ext cx="89611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KEY ACCOUNT</a:t>
            </a:r>
            <a:endParaRPr lang="en-US" sz="700" dirty="0"/>
          </a:p>
        </p:txBody>
      </p:sp>
      <p:sp>
        <p:nvSpPr>
          <p:cNvPr id="90" name="Text 87"/>
          <p:cNvSpPr/>
          <p:nvPr/>
        </p:nvSpPr>
        <p:spPr>
          <a:xfrm>
            <a:off x="5431536" y="3840480"/>
            <a:ext cx="76809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业务细分</a:t>
            </a:r>
            <a:endParaRPr lang="en-US" sz="700" dirty="0"/>
          </a:p>
        </p:txBody>
      </p:sp>
      <p:sp>
        <p:nvSpPr>
          <p:cNvPr id="91" name="Text 88"/>
          <p:cNvSpPr/>
          <p:nvPr/>
        </p:nvSpPr>
        <p:spPr>
          <a:xfrm>
            <a:off x="6217920" y="3840480"/>
            <a:ext cx="82296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批核APE</a:t>
            </a:r>
            <a:endParaRPr lang="en-US" sz="700" dirty="0"/>
          </a:p>
        </p:txBody>
      </p:sp>
      <p:sp>
        <p:nvSpPr>
          <p:cNvPr id="92" name="Text 89"/>
          <p:cNvSpPr/>
          <p:nvPr/>
        </p:nvSpPr>
        <p:spPr>
          <a:xfrm>
            <a:off x="7059168" y="3840480"/>
            <a:ext cx="54864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批核件数</a:t>
            </a:r>
            <a:endParaRPr lang="en-US" sz="700" dirty="0"/>
          </a:p>
        </p:txBody>
      </p:sp>
      <p:sp>
        <p:nvSpPr>
          <p:cNvPr id="93" name="Text 90"/>
          <p:cNvSpPr/>
          <p:nvPr/>
        </p:nvSpPr>
        <p:spPr>
          <a:xfrm>
            <a:off x="7626096" y="3840480"/>
            <a:ext cx="82296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未批核APE</a:t>
            </a:r>
            <a:endParaRPr lang="en-US" sz="700" dirty="0"/>
          </a:p>
        </p:txBody>
      </p:sp>
      <p:sp>
        <p:nvSpPr>
          <p:cNvPr id="94" name="Text 91"/>
          <p:cNvSpPr/>
          <p:nvPr/>
        </p:nvSpPr>
        <p:spPr>
          <a:xfrm>
            <a:off x="8467344" y="3840480"/>
            <a:ext cx="54864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未批核件数</a:t>
            </a:r>
            <a:endParaRPr lang="en-US" sz="700" dirty="0"/>
          </a:p>
        </p:txBody>
      </p:sp>
      <p:sp>
        <p:nvSpPr>
          <p:cNvPr id="95" name="Text 92"/>
          <p:cNvSpPr/>
          <p:nvPr/>
        </p:nvSpPr>
        <p:spPr>
          <a:xfrm>
            <a:off x="9034272" y="3840480"/>
            <a:ext cx="67665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待签APE</a:t>
            </a:r>
            <a:endParaRPr lang="en-US" sz="700" dirty="0"/>
          </a:p>
        </p:txBody>
      </p:sp>
      <p:sp>
        <p:nvSpPr>
          <p:cNvPr id="96" name="Text 93"/>
          <p:cNvSpPr/>
          <p:nvPr/>
        </p:nvSpPr>
        <p:spPr>
          <a:xfrm>
            <a:off x="9729216" y="3840480"/>
            <a:ext cx="54864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待签件数</a:t>
            </a:r>
            <a:endParaRPr lang="en-US" sz="700" dirty="0"/>
          </a:p>
        </p:txBody>
      </p:sp>
      <p:sp>
        <p:nvSpPr>
          <p:cNvPr id="97" name="Text 94"/>
          <p:cNvSpPr/>
          <p:nvPr/>
        </p:nvSpPr>
        <p:spPr>
          <a:xfrm>
            <a:off x="10296144" y="3840480"/>
            <a:ext cx="85953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合计APE</a:t>
            </a:r>
            <a:endParaRPr lang="en-US" sz="700" dirty="0"/>
          </a:p>
        </p:txBody>
      </p:sp>
      <p:sp>
        <p:nvSpPr>
          <p:cNvPr id="98" name="Text 95"/>
          <p:cNvSpPr/>
          <p:nvPr/>
        </p:nvSpPr>
        <p:spPr>
          <a:xfrm>
            <a:off x="11173968" y="3840480"/>
            <a:ext cx="58521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合计件数</a:t>
            </a:r>
            <a:endParaRPr lang="en-US" sz="700" dirty="0"/>
          </a:p>
        </p:txBody>
      </p:sp>
      <p:sp>
        <p:nvSpPr>
          <p:cNvPr id="99" name="Shape 96"/>
          <p:cNvSpPr/>
          <p:nvPr/>
        </p:nvSpPr>
        <p:spPr>
          <a:xfrm>
            <a:off x="4169664" y="4078224"/>
            <a:ext cx="7790688" cy="182880"/>
          </a:xfrm>
          <a:prstGeom prst="rect">
            <a:avLst/>
          </a:prstGeom>
          <a:solidFill>
            <a:srgbClr val="F5F0FA"/>
          </a:solidFill>
          <a:ln w="8890">
            <a:solidFill>
              <a:srgbClr val="C5A8E0"/>
            </a:solidFill>
            <a:prstDash val="solid"/>
          </a:ln>
        </p:spPr>
        <p:txBody>
          <a:bodyPr/>
          <a:p/>
        </p:txBody>
      </p:sp>
      <p:sp>
        <p:nvSpPr>
          <p:cNvPr id="100" name="Shape 97"/>
          <p:cNvSpPr/>
          <p:nvPr/>
        </p:nvSpPr>
        <p:spPr>
          <a:xfrm>
            <a:off x="4169664" y="4078224"/>
            <a:ext cx="36576" cy="18288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101" name="Shape 98"/>
          <p:cNvSpPr/>
          <p:nvPr/>
        </p:nvSpPr>
        <p:spPr>
          <a:xfrm>
            <a:off x="4279392" y="4133088"/>
            <a:ext cx="128016" cy="128016"/>
          </a:xfrm>
          <a:prstGeom prst="ellipse">
            <a:avLst/>
          </a:prstGeom>
          <a:solidFill>
            <a:srgbClr val="FFD700"/>
          </a:solidFill>
          <a:ln w="12700">
            <a:solidFill>
              <a:srgbClr val="FFD700"/>
            </a:solidFill>
            <a:prstDash val="solid"/>
          </a:ln>
        </p:spPr>
        <p:txBody>
          <a:bodyPr/>
          <a:p/>
        </p:txBody>
      </p:sp>
      <p:sp>
        <p:nvSpPr>
          <p:cNvPr id="102" name="Text 99"/>
          <p:cNvSpPr/>
          <p:nvPr/>
        </p:nvSpPr>
        <p:spPr>
          <a:xfrm>
            <a:off x="4242816" y="4114800"/>
            <a:ext cx="274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</a:t>
            </a:r>
            <a:endParaRPr lang="en-US" sz="800" dirty="0"/>
          </a:p>
        </p:txBody>
      </p:sp>
      <p:sp>
        <p:nvSpPr>
          <p:cNvPr id="103" name="Text 100"/>
          <p:cNvSpPr/>
          <p:nvPr/>
        </p:nvSpPr>
        <p:spPr>
          <a:xfrm>
            <a:off x="4553712" y="4114800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民生银行</a:t>
            </a:r>
            <a:endParaRPr lang="en-US" sz="850" dirty="0"/>
          </a:p>
        </p:txBody>
      </p:sp>
      <p:sp>
        <p:nvSpPr>
          <p:cNvPr id="104" name="Text 101"/>
          <p:cNvSpPr/>
          <p:nvPr/>
        </p:nvSpPr>
        <p:spPr>
          <a:xfrm>
            <a:off x="5468112" y="4114800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BK业务</a:t>
            </a:r>
            <a:endParaRPr lang="en-US" sz="800" dirty="0"/>
          </a:p>
        </p:txBody>
      </p:sp>
      <p:sp>
        <p:nvSpPr>
          <p:cNvPr id="105" name="Text 102"/>
          <p:cNvSpPr/>
          <p:nvPr/>
        </p:nvSpPr>
        <p:spPr>
          <a:xfrm>
            <a:off x="6254496" y="4114800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187.5M</a:t>
            </a:r>
            <a:endParaRPr lang="en-US" sz="800" dirty="0"/>
          </a:p>
        </p:txBody>
      </p:sp>
      <p:sp>
        <p:nvSpPr>
          <p:cNvPr id="106" name="Text 103"/>
          <p:cNvSpPr/>
          <p:nvPr/>
        </p:nvSpPr>
        <p:spPr>
          <a:xfrm>
            <a:off x="7095744" y="4114800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172</a:t>
            </a:r>
            <a:endParaRPr lang="en-US" sz="800" dirty="0"/>
          </a:p>
        </p:txBody>
      </p:sp>
      <p:sp>
        <p:nvSpPr>
          <p:cNvPr id="107" name="Text 104"/>
          <p:cNvSpPr/>
          <p:nvPr/>
        </p:nvSpPr>
        <p:spPr>
          <a:xfrm>
            <a:off x="7662672" y="4114800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16.9M</a:t>
            </a:r>
            <a:endParaRPr lang="en-US" sz="800" dirty="0"/>
          </a:p>
        </p:txBody>
      </p:sp>
      <p:sp>
        <p:nvSpPr>
          <p:cNvPr id="108" name="Text 105"/>
          <p:cNvSpPr/>
          <p:nvPr/>
        </p:nvSpPr>
        <p:spPr>
          <a:xfrm>
            <a:off x="8503920" y="4114800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22</a:t>
            </a:r>
            <a:endParaRPr lang="en-US" sz="800" dirty="0"/>
          </a:p>
        </p:txBody>
      </p:sp>
      <p:sp>
        <p:nvSpPr>
          <p:cNvPr id="109" name="Text 106"/>
          <p:cNvSpPr/>
          <p:nvPr/>
        </p:nvSpPr>
        <p:spPr>
          <a:xfrm>
            <a:off x="9070848" y="4114800"/>
            <a:ext cx="65836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0.0M</a:t>
            </a:r>
            <a:endParaRPr lang="en-US" sz="800" dirty="0"/>
          </a:p>
        </p:txBody>
      </p:sp>
      <p:sp>
        <p:nvSpPr>
          <p:cNvPr id="110" name="Text 107"/>
          <p:cNvSpPr/>
          <p:nvPr/>
        </p:nvSpPr>
        <p:spPr>
          <a:xfrm>
            <a:off x="9765792" y="4114800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</a:t>
            </a:r>
            <a:endParaRPr lang="en-US" sz="800" dirty="0"/>
          </a:p>
        </p:txBody>
      </p:sp>
      <p:sp>
        <p:nvSpPr>
          <p:cNvPr id="111" name="Text 108"/>
          <p:cNvSpPr/>
          <p:nvPr/>
        </p:nvSpPr>
        <p:spPr>
          <a:xfrm>
            <a:off x="10332720" y="4114800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204.4M</a:t>
            </a:r>
            <a:endParaRPr lang="en-US" sz="800" dirty="0"/>
          </a:p>
        </p:txBody>
      </p:sp>
      <p:sp>
        <p:nvSpPr>
          <p:cNvPr id="112" name="Text 109"/>
          <p:cNvSpPr/>
          <p:nvPr/>
        </p:nvSpPr>
        <p:spPr>
          <a:xfrm>
            <a:off x="11210544" y="4114800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194</a:t>
            </a:r>
            <a:endParaRPr lang="en-US" sz="800" dirty="0"/>
          </a:p>
        </p:txBody>
      </p:sp>
      <p:sp>
        <p:nvSpPr>
          <p:cNvPr id="113" name="Shape 110"/>
          <p:cNvSpPr/>
          <p:nvPr/>
        </p:nvSpPr>
        <p:spPr>
          <a:xfrm>
            <a:off x="4169664" y="4279392"/>
            <a:ext cx="7790688" cy="182880"/>
          </a:xfrm>
          <a:prstGeom prst="rect">
            <a:avLst/>
          </a:prstGeom>
          <a:solidFill>
            <a:srgbClr val="F5F0FA"/>
          </a:solidFill>
          <a:ln w="8890">
            <a:solidFill>
              <a:srgbClr val="C5A8E0"/>
            </a:solidFill>
            <a:prstDash val="solid"/>
          </a:ln>
        </p:spPr>
        <p:txBody>
          <a:bodyPr/>
          <a:p/>
        </p:txBody>
      </p:sp>
      <p:sp>
        <p:nvSpPr>
          <p:cNvPr id="114" name="Shape 111"/>
          <p:cNvSpPr/>
          <p:nvPr/>
        </p:nvSpPr>
        <p:spPr>
          <a:xfrm>
            <a:off x="4169664" y="4279392"/>
            <a:ext cx="36576" cy="18288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115" name="Shape 112"/>
          <p:cNvSpPr/>
          <p:nvPr/>
        </p:nvSpPr>
        <p:spPr>
          <a:xfrm>
            <a:off x="4279392" y="4334256"/>
            <a:ext cx="128016" cy="128016"/>
          </a:xfrm>
          <a:prstGeom prst="ellipse">
            <a:avLst/>
          </a:prstGeom>
          <a:solidFill>
            <a:srgbClr val="C0C0C0"/>
          </a:solidFill>
          <a:ln w="12700">
            <a:solidFill>
              <a:srgbClr val="C0C0C0"/>
            </a:solidFill>
            <a:prstDash val="solid"/>
          </a:ln>
        </p:spPr>
        <p:txBody>
          <a:bodyPr/>
          <a:p/>
        </p:txBody>
      </p:sp>
      <p:sp>
        <p:nvSpPr>
          <p:cNvPr id="116" name="Text 113"/>
          <p:cNvSpPr/>
          <p:nvPr/>
        </p:nvSpPr>
        <p:spPr>
          <a:xfrm>
            <a:off x="4242816" y="4315968"/>
            <a:ext cx="274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</a:t>
            </a:r>
            <a:endParaRPr lang="en-US" sz="800" dirty="0"/>
          </a:p>
        </p:txBody>
      </p:sp>
      <p:sp>
        <p:nvSpPr>
          <p:cNvPr id="117" name="Text 114"/>
          <p:cNvSpPr/>
          <p:nvPr/>
        </p:nvSpPr>
        <p:spPr>
          <a:xfrm>
            <a:off x="4553712" y="4315968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天誉国际</a:t>
            </a:r>
            <a:endParaRPr lang="en-US" sz="850" dirty="0"/>
          </a:p>
        </p:txBody>
      </p:sp>
      <p:sp>
        <p:nvSpPr>
          <p:cNvPr id="118" name="Text 115"/>
          <p:cNvSpPr/>
          <p:nvPr/>
        </p:nvSpPr>
        <p:spPr>
          <a:xfrm>
            <a:off x="5468112" y="4315968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同行经代</a:t>
            </a:r>
            <a:endParaRPr lang="en-US" sz="800" dirty="0"/>
          </a:p>
        </p:txBody>
      </p:sp>
      <p:sp>
        <p:nvSpPr>
          <p:cNvPr id="119" name="Text 116"/>
          <p:cNvSpPr/>
          <p:nvPr/>
        </p:nvSpPr>
        <p:spPr>
          <a:xfrm>
            <a:off x="6254496" y="4315968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42.7M</a:t>
            </a:r>
            <a:endParaRPr lang="en-US" sz="800" dirty="0"/>
          </a:p>
        </p:txBody>
      </p:sp>
      <p:sp>
        <p:nvSpPr>
          <p:cNvPr id="120" name="Text 117"/>
          <p:cNvSpPr/>
          <p:nvPr/>
        </p:nvSpPr>
        <p:spPr>
          <a:xfrm>
            <a:off x="7095744" y="4315968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91</a:t>
            </a:r>
            <a:endParaRPr lang="en-US" sz="800" dirty="0"/>
          </a:p>
        </p:txBody>
      </p:sp>
      <p:sp>
        <p:nvSpPr>
          <p:cNvPr id="121" name="Text 118"/>
          <p:cNvSpPr/>
          <p:nvPr/>
        </p:nvSpPr>
        <p:spPr>
          <a:xfrm>
            <a:off x="7662672" y="4315968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8.9M</a:t>
            </a:r>
            <a:endParaRPr lang="en-US" sz="800" dirty="0"/>
          </a:p>
        </p:txBody>
      </p:sp>
      <p:sp>
        <p:nvSpPr>
          <p:cNvPr id="122" name="Text 119"/>
          <p:cNvSpPr/>
          <p:nvPr/>
        </p:nvSpPr>
        <p:spPr>
          <a:xfrm>
            <a:off x="8503920" y="4315968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21</a:t>
            </a:r>
            <a:endParaRPr lang="en-US" sz="800" dirty="0"/>
          </a:p>
        </p:txBody>
      </p:sp>
      <p:sp>
        <p:nvSpPr>
          <p:cNvPr id="123" name="Text 120"/>
          <p:cNvSpPr/>
          <p:nvPr/>
        </p:nvSpPr>
        <p:spPr>
          <a:xfrm>
            <a:off x="9070848" y="4315968"/>
            <a:ext cx="65836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1.7M</a:t>
            </a:r>
            <a:endParaRPr lang="en-US" sz="800" dirty="0"/>
          </a:p>
        </p:txBody>
      </p:sp>
      <p:sp>
        <p:nvSpPr>
          <p:cNvPr id="124" name="Text 121"/>
          <p:cNvSpPr/>
          <p:nvPr/>
        </p:nvSpPr>
        <p:spPr>
          <a:xfrm>
            <a:off x="9765792" y="4315968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</a:t>
            </a:r>
            <a:endParaRPr lang="en-US" sz="800" dirty="0"/>
          </a:p>
        </p:txBody>
      </p:sp>
      <p:sp>
        <p:nvSpPr>
          <p:cNvPr id="125" name="Text 122"/>
          <p:cNvSpPr/>
          <p:nvPr/>
        </p:nvSpPr>
        <p:spPr>
          <a:xfrm>
            <a:off x="10332720" y="4315968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53.4M</a:t>
            </a:r>
            <a:endParaRPr lang="en-US" sz="800" dirty="0"/>
          </a:p>
        </p:txBody>
      </p:sp>
      <p:sp>
        <p:nvSpPr>
          <p:cNvPr id="126" name="Text 123"/>
          <p:cNvSpPr/>
          <p:nvPr/>
        </p:nvSpPr>
        <p:spPr>
          <a:xfrm>
            <a:off x="11210544" y="4315968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119</a:t>
            </a:r>
            <a:endParaRPr lang="en-US" sz="800" dirty="0"/>
          </a:p>
        </p:txBody>
      </p:sp>
      <p:sp>
        <p:nvSpPr>
          <p:cNvPr id="127" name="Shape 124"/>
          <p:cNvSpPr/>
          <p:nvPr/>
        </p:nvSpPr>
        <p:spPr>
          <a:xfrm>
            <a:off x="4169664" y="4480560"/>
            <a:ext cx="7790688" cy="182880"/>
          </a:xfrm>
          <a:prstGeom prst="rect">
            <a:avLst/>
          </a:prstGeom>
          <a:solidFill>
            <a:srgbClr val="F5F0FA"/>
          </a:solidFill>
          <a:ln w="8890">
            <a:solidFill>
              <a:srgbClr val="C5A8E0"/>
            </a:solidFill>
            <a:prstDash val="solid"/>
          </a:ln>
        </p:spPr>
        <p:txBody>
          <a:bodyPr/>
          <a:p/>
        </p:txBody>
      </p:sp>
      <p:sp>
        <p:nvSpPr>
          <p:cNvPr id="128" name="Shape 125"/>
          <p:cNvSpPr/>
          <p:nvPr/>
        </p:nvSpPr>
        <p:spPr>
          <a:xfrm>
            <a:off x="4169664" y="4480560"/>
            <a:ext cx="36576" cy="182880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  <p:txBody>
          <a:bodyPr/>
          <a:p/>
        </p:txBody>
      </p:sp>
      <p:sp>
        <p:nvSpPr>
          <p:cNvPr id="129" name="Shape 126"/>
          <p:cNvSpPr/>
          <p:nvPr/>
        </p:nvSpPr>
        <p:spPr>
          <a:xfrm>
            <a:off x="4279392" y="4535424"/>
            <a:ext cx="128016" cy="128016"/>
          </a:xfrm>
          <a:prstGeom prst="ellipse">
            <a:avLst/>
          </a:prstGeom>
          <a:solidFill>
            <a:srgbClr val="CD7F32"/>
          </a:solidFill>
          <a:ln w="12700">
            <a:solidFill>
              <a:srgbClr val="CD7F32"/>
            </a:solidFill>
            <a:prstDash val="solid"/>
          </a:ln>
        </p:spPr>
        <p:txBody>
          <a:bodyPr/>
          <a:p/>
        </p:txBody>
      </p:sp>
      <p:sp>
        <p:nvSpPr>
          <p:cNvPr id="130" name="Text 127"/>
          <p:cNvSpPr/>
          <p:nvPr/>
        </p:nvSpPr>
        <p:spPr>
          <a:xfrm>
            <a:off x="4242816" y="4517136"/>
            <a:ext cx="274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</a:t>
            </a:r>
            <a:endParaRPr lang="en-US" sz="800" dirty="0"/>
          </a:p>
        </p:txBody>
      </p:sp>
      <p:sp>
        <p:nvSpPr>
          <p:cNvPr id="131" name="Text 128"/>
          <p:cNvSpPr/>
          <p:nvPr/>
        </p:nvSpPr>
        <p:spPr>
          <a:xfrm>
            <a:off x="4553712" y="4517136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平安银行</a:t>
            </a:r>
            <a:endParaRPr lang="en-US" sz="850" dirty="0"/>
          </a:p>
        </p:txBody>
      </p:sp>
      <p:sp>
        <p:nvSpPr>
          <p:cNvPr id="132" name="Text 129"/>
          <p:cNvSpPr/>
          <p:nvPr/>
        </p:nvSpPr>
        <p:spPr>
          <a:xfrm>
            <a:off x="5468112" y="4517136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E67E2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BK业务</a:t>
            </a:r>
            <a:endParaRPr lang="en-US" sz="800" dirty="0"/>
          </a:p>
        </p:txBody>
      </p:sp>
      <p:sp>
        <p:nvSpPr>
          <p:cNvPr id="133" name="Text 130"/>
          <p:cNvSpPr/>
          <p:nvPr/>
        </p:nvSpPr>
        <p:spPr>
          <a:xfrm>
            <a:off x="6254496" y="4517136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40.1M</a:t>
            </a:r>
            <a:endParaRPr lang="en-US" sz="800" dirty="0"/>
          </a:p>
        </p:txBody>
      </p:sp>
      <p:sp>
        <p:nvSpPr>
          <p:cNvPr id="134" name="Text 131"/>
          <p:cNvSpPr/>
          <p:nvPr/>
        </p:nvSpPr>
        <p:spPr>
          <a:xfrm>
            <a:off x="7095744" y="4517136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24</a:t>
            </a:r>
            <a:endParaRPr lang="en-US" sz="800" dirty="0"/>
          </a:p>
        </p:txBody>
      </p:sp>
      <p:sp>
        <p:nvSpPr>
          <p:cNvPr id="135" name="Text 132"/>
          <p:cNvSpPr/>
          <p:nvPr/>
        </p:nvSpPr>
        <p:spPr>
          <a:xfrm>
            <a:off x="7662672" y="4517136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11.7M</a:t>
            </a:r>
            <a:endParaRPr lang="en-US" sz="800" dirty="0"/>
          </a:p>
        </p:txBody>
      </p:sp>
      <p:sp>
        <p:nvSpPr>
          <p:cNvPr id="136" name="Text 133"/>
          <p:cNvSpPr/>
          <p:nvPr/>
        </p:nvSpPr>
        <p:spPr>
          <a:xfrm>
            <a:off x="8503920" y="4517136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15</a:t>
            </a:r>
            <a:endParaRPr lang="en-US" sz="800" dirty="0"/>
          </a:p>
        </p:txBody>
      </p:sp>
      <p:sp>
        <p:nvSpPr>
          <p:cNvPr id="137" name="Text 134"/>
          <p:cNvSpPr/>
          <p:nvPr/>
        </p:nvSpPr>
        <p:spPr>
          <a:xfrm>
            <a:off x="9070848" y="4517136"/>
            <a:ext cx="65836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0.0M</a:t>
            </a:r>
            <a:endParaRPr lang="en-US" sz="800" dirty="0"/>
          </a:p>
        </p:txBody>
      </p:sp>
      <p:sp>
        <p:nvSpPr>
          <p:cNvPr id="138" name="Text 135"/>
          <p:cNvSpPr/>
          <p:nvPr/>
        </p:nvSpPr>
        <p:spPr>
          <a:xfrm>
            <a:off x="9765792" y="4517136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</a:t>
            </a:r>
            <a:endParaRPr lang="en-US" sz="800" dirty="0"/>
          </a:p>
        </p:txBody>
      </p:sp>
      <p:sp>
        <p:nvSpPr>
          <p:cNvPr id="139" name="Text 136"/>
          <p:cNvSpPr/>
          <p:nvPr/>
        </p:nvSpPr>
        <p:spPr>
          <a:xfrm>
            <a:off x="10332720" y="4517136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51.8M</a:t>
            </a:r>
            <a:endParaRPr lang="en-US" sz="800" dirty="0"/>
          </a:p>
        </p:txBody>
      </p:sp>
      <p:sp>
        <p:nvSpPr>
          <p:cNvPr id="140" name="Text 137"/>
          <p:cNvSpPr/>
          <p:nvPr/>
        </p:nvSpPr>
        <p:spPr>
          <a:xfrm>
            <a:off x="11210544" y="4517136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39</a:t>
            </a:r>
            <a:endParaRPr lang="en-US" sz="800" dirty="0"/>
          </a:p>
        </p:txBody>
      </p:sp>
      <p:sp>
        <p:nvSpPr>
          <p:cNvPr id="141" name="Shape 138"/>
          <p:cNvSpPr/>
          <p:nvPr/>
        </p:nvSpPr>
        <p:spPr>
          <a:xfrm>
            <a:off x="4169664" y="4681728"/>
            <a:ext cx="7790688" cy="182880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42" name="Shape 139"/>
          <p:cNvSpPr/>
          <p:nvPr/>
        </p:nvSpPr>
        <p:spPr>
          <a:xfrm>
            <a:off x="4169664" y="4681728"/>
            <a:ext cx="36576" cy="182880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  <p:txBody>
          <a:bodyPr/>
          <a:p/>
        </p:txBody>
      </p:sp>
      <p:sp>
        <p:nvSpPr>
          <p:cNvPr id="143" name="Text 140"/>
          <p:cNvSpPr/>
          <p:nvPr/>
        </p:nvSpPr>
        <p:spPr>
          <a:xfrm>
            <a:off x="4242816" y="4718304"/>
            <a:ext cx="274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</a:t>
            </a:r>
            <a:endParaRPr lang="en-US" sz="800" dirty="0"/>
          </a:p>
        </p:txBody>
      </p:sp>
      <p:sp>
        <p:nvSpPr>
          <p:cNvPr id="144" name="Text 141"/>
          <p:cNvSpPr/>
          <p:nvPr/>
        </p:nvSpPr>
        <p:spPr>
          <a:xfrm>
            <a:off x="4553712" y="4718304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唯思</a:t>
            </a:r>
            <a:endParaRPr lang="en-US" sz="850" dirty="0"/>
          </a:p>
        </p:txBody>
      </p:sp>
      <p:sp>
        <p:nvSpPr>
          <p:cNvPr id="145" name="Text 142"/>
          <p:cNvSpPr/>
          <p:nvPr/>
        </p:nvSpPr>
        <p:spPr>
          <a:xfrm>
            <a:off x="5468112" y="4718304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E67E2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同行经代</a:t>
            </a:r>
            <a:endParaRPr lang="en-US" sz="800" dirty="0"/>
          </a:p>
        </p:txBody>
      </p:sp>
      <p:sp>
        <p:nvSpPr>
          <p:cNvPr id="146" name="Text 143"/>
          <p:cNvSpPr/>
          <p:nvPr/>
        </p:nvSpPr>
        <p:spPr>
          <a:xfrm>
            <a:off x="6254496" y="4718304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39.4M</a:t>
            </a:r>
            <a:endParaRPr lang="en-US" sz="800" dirty="0"/>
          </a:p>
        </p:txBody>
      </p:sp>
      <p:sp>
        <p:nvSpPr>
          <p:cNvPr id="147" name="Text 144"/>
          <p:cNvSpPr/>
          <p:nvPr/>
        </p:nvSpPr>
        <p:spPr>
          <a:xfrm>
            <a:off x="7095744" y="4718304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119</a:t>
            </a:r>
            <a:endParaRPr lang="en-US" sz="800" dirty="0"/>
          </a:p>
        </p:txBody>
      </p:sp>
      <p:sp>
        <p:nvSpPr>
          <p:cNvPr id="148" name="Text 145"/>
          <p:cNvSpPr/>
          <p:nvPr/>
        </p:nvSpPr>
        <p:spPr>
          <a:xfrm>
            <a:off x="7662672" y="4718304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5.8M</a:t>
            </a:r>
            <a:endParaRPr lang="en-US" sz="800" dirty="0"/>
          </a:p>
        </p:txBody>
      </p:sp>
      <p:sp>
        <p:nvSpPr>
          <p:cNvPr id="149" name="Text 146"/>
          <p:cNvSpPr/>
          <p:nvPr/>
        </p:nvSpPr>
        <p:spPr>
          <a:xfrm>
            <a:off x="8503920" y="4718304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</a:t>
            </a:r>
            <a:endParaRPr lang="en-US" sz="800" dirty="0"/>
          </a:p>
        </p:txBody>
      </p:sp>
      <p:sp>
        <p:nvSpPr>
          <p:cNvPr id="150" name="Text 147"/>
          <p:cNvSpPr/>
          <p:nvPr/>
        </p:nvSpPr>
        <p:spPr>
          <a:xfrm>
            <a:off x="9070848" y="4718304"/>
            <a:ext cx="65836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1.9M</a:t>
            </a:r>
            <a:endParaRPr lang="en-US" sz="800" dirty="0"/>
          </a:p>
        </p:txBody>
      </p:sp>
      <p:sp>
        <p:nvSpPr>
          <p:cNvPr id="151" name="Text 148"/>
          <p:cNvSpPr/>
          <p:nvPr/>
        </p:nvSpPr>
        <p:spPr>
          <a:xfrm>
            <a:off x="9765792" y="4718304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</a:t>
            </a:r>
            <a:endParaRPr lang="en-US" sz="800" dirty="0"/>
          </a:p>
        </p:txBody>
      </p:sp>
      <p:sp>
        <p:nvSpPr>
          <p:cNvPr id="152" name="Text 149"/>
          <p:cNvSpPr/>
          <p:nvPr/>
        </p:nvSpPr>
        <p:spPr>
          <a:xfrm>
            <a:off x="10332720" y="4718304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47.0M</a:t>
            </a:r>
            <a:endParaRPr lang="en-US" sz="800" dirty="0"/>
          </a:p>
        </p:txBody>
      </p:sp>
      <p:sp>
        <p:nvSpPr>
          <p:cNvPr id="153" name="Text 150"/>
          <p:cNvSpPr/>
          <p:nvPr/>
        </p:nvSpPr>
        <p:spPr>
          <a:xfrm>
            <a:off x="11210544" y="4718304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137</a:t>
            </a:r>
            <a:endParaRPr lang="en-US" sz="800" dirty="0"/>
          </a:p>
        </p:txBody>
      </p:sp>
      <p:sp>
        <p:nvSpPr>
          <p:cNvPr id="154" name="Shape 151"/>
          <p:cNvSpPr/>
          <p:nvPr/>
        </p:nvSpPr>
        <p:spPr>
          <a:xfrm>
            <a:off x="4169664" y="4882896"/>
            <a:ext cx="7790688" cy="182880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155" name="Shape 152"/>
          <p:cNvSpPr/>
          <p:nvPr/>
        </p:nvSpPr>
        <p:spPr>
          <a:xfrm>
            <a:off x="4169664" y="4882896"/>
            <a:ext cx="36576" cy="182880"/>
          </a:xfrm>
          <a:prstGeom prst="rect">
            <a:avLst/>
          </a:prstGeom>
          <a:solidFill>
            <a:srgbClr val="1A7A3F"/>
          </a:solidFill>
          <a:ln w="1270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156" name="Text 153"/>
          <p:cNvSpPr/>
          <p:nvPr/>
        </p:nvSpPr>
        <p:spPr>
          <a:xfrm>
            <a:off x="4242816" y="4919472"/>
            <a:ext cx="274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</a:t>
            </a:r>
            <a:endParaRPr lang="en-US" sz="800" dirty="0"/>
          </a:p>
        </p:txBody>
      </p:sp>
      <p:sp>
        <p:nvSpPr>
          <p:cNvPr id="157" name="Text 154"/>
          <p:cNvSpPr/>
          <p:nvPr/>
        </p:nvSpPr>
        <p:spPr>
          <a:xfrm>
            <a:off x="4553712" y="4919472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紫荆保险</a:t>
            </a:r>
            <a:endParaRPr lang="en-US" sz="850" dirty="0"/>
          </a:p>
        </p:txBody>
      </p:sp>
      <p:sp>
        <p:nvSpPr>
          <p:cNvPr id="158" name="Text 155"/>
          <p:cNvSpPr/>
          <p:nvPr/>
        </p:nvSpPr>
        <p:spPr>
          <a:xfrm>
            <a:off x="5468112" y="4919472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永明经代</a:t>
            </a:r>
            <a:endParaRPr lang="en-US" sz="800" dirty="0"/>
          </a:p>
        </p:txBody>
      </p:sp>
      <p:sp>
        <p:nvSpPr>
          <p:cNvPr id="159" name="Text 156"/>
          <p:cNvSpPr/>
          <p:nvPr/>
        </p:nvSpPr>
        <p:spPr>
          <a:xfrm>
            <a:off x="6254496" y="4919472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34.9M</a:t>
            </a:r>
            <a:endParaRPr lang="en-US" sz="800" dirty="0"/>
          </a:p>
        </p:txBody>
      </p:sp>
      <p:sp>
        <p:nvSpPr>
          <p:cNvPr id="160" name="Text 157"/>
          <p:cNvSpPr/>
          <p:nvPr/>
        </p:nvSpPr>
        <p:spPr>
          <a:xfrm>
            <a:off x="7095744" y="4919472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99</a:t>
            </a:r>
            <a:endParaRPr lang="en-US" sz="800" dirty="0"/>
          </a:p>
        </p:txBody>
      </p:sp>
      <p:sp>
        <p:nvSpPr>
          <p:cNvPr id="161" name="Text 158"/>
          <p:cNvSpPr/>
          <p:nvPr/>
        </p:nvSpPr>
        <p:spPr>
          <a:xfrm>
            <a:off x="7662672" y="4919472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4.5M</a:t>
            </a:r>
            <a:endParaRPr lang="en-US" sz="800" dirty="0"/>
          </a:p>
        </p:txBody>
      </p:sp>
      <p:sp>
        <p:nvSpPr>
          <p:cNvPr id="162" name="Text 159"/>
          <p:cNvSpPr/>
          <p:nvPr/>
        </p:nvSpPr>
        <p:spPr>
          <a:xfrm>
            <a:off x="8503920" y="4919472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</a:t>
            </a:r>
            <a:endParaRPr lang="en-US" sz="800" dirty="0"/>
          </a:p>
        </p:txBody>
      </p:sp>
      <p:sp>
        <p:nvSpPr>
          <p:cNvPr id="163" name="Text 160"/>
          <p:cNvSpPr/>
          <p:nvPr/>
        </p:nvSpPr>
        <p:spPr>
          <a:xfrm>
            <a:off x="9070848" y="4919472"/>
            <a:ext cx="65836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1.0M</a:t>
            </a:r>
            <a:endParaRPr lang="en-US" sz="800" dirty="0"/>
          </a:p>
        </p:txBody>
      </p:sp>
      <p:sp>
        <p:nvSpPr>
          <p:cNvPr id="164" name="Text 161"/>
          <p:cNvSpPr/>
          <p:nvPr/>
        </p:nvSpPr>
        <p:spPr>
          <a:xfrm>
            <a:off x="9765792" y="4919472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</a:t>
            </a:r>
            <a:endParaRPr lang="en-US" sz="800" dirty="0"/>
          </a:p>
        </p:txBody>
      </p:sp>
      <p:sp>
        <p:nvSpPr>
          <p:cNvPr id="165" name="Text 162"/>
          <p:cNvSpPr/>
          <p:nvPr/>
        </p:nvSpPr>
        <p:spPr>
          <a:xfrm>
            <a:off x="10332720" y="4919472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40.4M</a:t>
            </a:r>
            <a:endParaRPr lang="en-US" sz="800" dirty="0"/>
          </a:p>
        </p:txBody>
      </p:sp>
      <p:sp>
        <p:nvSpPr>
          <p:cNvPr id="166" name="Text 163"/>
          <p:cNvSpPr/>
          <p:nvPr/>
        </p:nvSpPr>
        <p:spPr>
          <a:xfrm>
            <a:off x="11210544" y="4919472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112</a:t>
            </a:r>
            <a:endParaRPr lang="en-US" sz="800" dirty="0"/>
          </a:p>
        </p:txBody>
      </p:sp>
      <p:sp>
        <p:nvSpPr>
          <p:cNvPr id="167" name="Shape 164"/>
          <p:cNvSpPr/>
          <p:nvPr/>
        </p:nvSpPr>
        <p:spPr>
          <a:xfrm>
            <a:off x="4169664" y="5084064"/>
            <a:ext cx="7790688" cy="182880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68" name="Shape 165"/>
          <p:cNvSpPr/>
          <p:nvPr/>
        </p:nvSpPr>
        <p:spPr>
          <a:xfrm>
            <a:off x="4169664" y="5084064"/>
            <a:ext cx="36576" cy="182880"/>
          </a:xfrm>
          <a:prstGeom prst="rect">
            <a:avLst/>
          </a:prstGeom>
          <a:solidFill>
            <a:srgbClr val="1A7A3F"/>
          </a:solidFill>
          <a:ln w="1270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169" name="Text 166"/>
          <p:cNvSpPr/>
          <p:nvPr/>
        </p:nvSpPr>
        <p:spPr>
          <a:xfrm>
            <a:off x="4242816" y="5120640"/>
            <a:ext cx="274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</a:t>
            </a:r>
            <a:endParaRPr lang="en-US" sz="800" dirty="0"/>
          </a:p>
        </p:txBody>
      </p:sp>
      <p:sp>
        <p:nvSpPr>
          <p:cNvPr id="170" name="Text 167"/>
          <p:cNvSpPr/>
          <p:nvPr/>
        </p:nvSpPr>
        <p:spPr>
          <a:xfrm>
            <a:off x="4553712" y="5120640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天领重庆</a:t>
            </a:r>
            <a:endParaRPr lang="en-US" sz="850" dirty="0"/>
          </a:p>
        </p:txBody>
      </p:sp>
      <p:sp>
        <p:nvSpPr>
          <p:cNvPr id="171" name="Text 168"/>
          <p:cNvSpPr/>
          <p:nvPr/>
        </p:nvSpPr>
        <p:spPr>
          <a:xfrm>
            <a:off x="5468112" y="5120640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天领业务</a:t>
            </a:r>
            <a:endParaRPr lang="en-US" sz="800" dirty="0"/>
          </a:p>
        </p:txBody>
      </p:sp>
      <p:sp>
        <p:nvSpPr>
          <p:cNvPr id="172" name="Text 169"/>
          <p:cNvSpPr/>
          <p:nvPr/>
        </p:nvSpPr>
        <p:spPr>
          <a:xfrm>
            <a:off x="6254496" y="5120640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28.3M</a:t>
            </a:r>
            <a:endParaRPr lang="en-US" sz="800" dirty="0"/>
          </a:p>
        </p:txBody>
      </p:sp>
      <p:sp>
        <p:nvSpPr>
          <p:cNvPr id="173" name="Text 170"/>
          <p:cNvSpPr/>
          <p:nvPr/>
        </p:nvSpPr>
        <p:spPr>
          <a:xfrm>
            <a:off x="7095744" y="5120640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101</a:t>
            </a:r>
            <a:endParaRPr lang="en-US" sz="800" dirty="0"/>
          </a:p>
        </p:txBody>
      </p:sp>
      <p:sp>
        <p:nvSpPr>
          <p:cNvPr id="174" name="Text 171"/>
          <p:cNvSpPr/>
          <p:nvPr/>
        </p:nvSpPr>
        <p:spPr>
          <a:xfrm>
            <a:off x="7662672" y="5120640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4.5M</a:t>
            </a:r>
            <a:endParaRPr lang="en-US" sz="800" dirty="0"/>
          </a:p>
        </p:txBody>
      </p:sp>
      <p:sp>
        <p:nvSpPr>
          <p:cNvPr id="175" name="Text 172"/>
          <p:cNvSpPr/>
          <p:nvPr/>
        </p:nvSpPr>
        <p:spPr>
          <a:xfrm>
            <a:off x="8503920" y="5120640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</a:t>
            </a:r>
            <a:endParaRPr lang="en-US" sz="800" dirty="0"/>
          </a:p>
        </p:txBody>
      </p:sp>
      <p:sp>
        <p:nvSpPr>
          <p:cNvPr id="176" name="Text 173"/>
          <p:cNvSpPr/>
          <p:nvPr/>
        </p:nvSpPr>
        <p:spPr>
          <a:xfrm>
            <a:off x="9070848" y="5120640"/>
            <a:ext cx="65836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0.4M</a:t>
            </a:r>
            <a:endParaRPr lang="en-US" sz="800" dirty="0"/>
          </a:p>
        </p:txBody>
      </p:sp>
      <p:sp>
        <p:nvSpPr>
          <p:cNvPr id="177" name="Text 174"/>
          <p:cNvSpPr/>
          <p:nvPr/>
        </p:nvSpPr>
        <p:spPr>
          <a:xfrm>
            <a:off x="9765792" y="5120640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</a:t>
            </a:r>
            <a:endParaRPr lang="en-US" sz="800" dirty="0"/>
          </a:p>
        </p:txBody>
      </p:sp>
      <p:sp>
        <p:nvSpPr>
          <p:cNvPr id="178" name="Text 175"/>
          <p:cNvSpPr/>
          <p:nvPr/>
        </p:nvSpPr>
        <p:spPr>
          <a:xfrm>
            <a:off x="10332720" y="5120640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33.1M</a:t>
            </a:r>
            <a:endParaRPr lang="en-US" sz="800" dirty="0"/>
          </a:p>
        </p:txBody>
      </p:sp>
      <p:sp>
        <p:nvSpPr>
          <p:cNvPr id="179" name="Text 176"/>
          <p:cNvSpPr/>
          <p:nvPr/>
        </p:nvSpPr>
        <p:spPr>
          <a:xfrm>
            <a:off x="11210544" y="5120640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121</a:t>
            </a:r>
            <a:endParaRPr lang="en-US" sz="800" dirty="0"/>
          </a:p>
        </p:txBody>
      </p:sp>
      <p:sp>
        <p:nvSpPr>
          <p:cNvPr id="180" name="Shape 177"/>
          <p:cNvSpPr/>
          <p:nvPr/>
        </p:nvSpPr>
        <p:spPr>
          <a:xfrm>
            <a:off x="4169664" y="5285232"/>
            <a:ext cx="7790688" cy="182880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81" name="Shape 178"/>
          <p:cNvSpPr/>
          <p:nvPr/>
        </p:nvSpPr>
        <p:spPr>
          <a:xfrm>
            <a:off x="4169664" y="5285232"/>
            <a:ext cx="36576" cy="182880"/>
          </a:xfrm>
          <a:prstGeom prst="rect">
            <a:avLst/>
          </a:prstGeom>
          <a:solidFill>
            <a:srgbClr val="8E44AD"/>
          </a:solidFill>
          <a:ln w="12700">
            <a:solidFill>
              <a:srgbClr val="8E44AD"/>
            </a:solidFill>
            <a:prstDash val="solid"/>
          </a:ln>
        </p:spPr>
        <p:txBody>
          <a:bodyPr/>
          <a:p/>
        </p:txBody>
      </p:sp>
      <p:sp>
        <p:nvSpPr>
          <p:cNvPr id="182" name="Text 179"/>
          <p:cNvSpPr/>
          <p:nvPr/>
        </p:nvSpPr>
        <p:spPr>
          <a:xfrm>
            <a:off x="4242816" y="5321808"/>
            <a:ext cx="274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</a:t>
            </a:r>
            <a:endParaRPr lang="en-US" sz="800" dirty="0"/>
          </a:p>
        </p:txBody>
      </p:sp>
      <p:sp>
        <p:nvSpPr>
          <p:cNvPr id="183" name="Text 180"/>
          <p:cNvSpPr/>
          <p:nvPr/>
        </p:nvSpPr>
        <p:spPr>
          <a:xfrm>
            <a:off x="4553712" y="5321808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利泰丰</a:t>
            </a:r>
            <a:endParaRPr lang="en-US" sz="850" dirty="0"/>
          </a:p>
        </p:txBody>
      </p:sp>
      <p:sp>
        <p:nvSpPr>
          <p:cNvPr id="184" name="Text 181"/>
          <p:cNvSpPr/>
          <p:nvPr/>
        </p:nvSpPr>
        <p:spPr>
          <a:xfrm>
            <a:off x="5468112" y="5321808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8E44A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同行经代</a:t>
            </a:r>
            <a:endParaRPr lang="en-US" sz="800" dirty="0"/>
          </a:p>
        </p:txBody>
      </p:sp>
      <p:sp>
        <p:nvSpPr>
          <p:cNvPr id="185" name="Text 182"/>
          <p:cNvSpPr/>
          <p:nvPr/>
        </p:nvSpPr>
        <p:spPr>
          <a:xfrm>
            <a:off x="6254496" y="5321808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27.8M</a:t>
            </a:r>
            <a:endParaRPr lang="en-US" sz="800" dirty="0"/>
          </a:p>
        </p:txBody>
      </p:sp>
      <p:sp>
        <p:nvSpPr>
          <p:cNvPr id="186" name="Text 183"/>
          <p:cNvSpPr/>
          <p:nvPr/>
        </p:nvSpPr>
        <p:spPr>
          <a:xfrm>
            <a:off x="7095744" y="5321808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</a:t>
            </a:r>
            <a:endParaRPr lang="en-US" sz="800" dirty="0"/>
          </a:p>
        </p:txBody>
      </p:sp>
      <p:sp>
        <p:nvSpPr>
          <p:cNvPr id="187" name="Text 184"/>
          <p:cNvSpPr/>
          <p:nvPr/>
        </p:nvSpPr>
        <p:spPr>
          <a:xfrm>
            <a:off x="7662672" y="5321808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1.0M</a:t>
            </a:r>
            <a:endParaRPr lang="en-US" sz="800" dirty="0"/>
          </a:p>
        </p:txBody>
      </p:sp>
      <p:sp>
        <p:nvSpPr>
          <p:cNvPr id="188" name="Text 185"/>
          <p:cNvSpPr/>
          <p:nvPr/>
        </p:nvSpPr>
        <p:spPr>
          <a:xfrm>
            <a:off x="8503920" y="5321808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</a:t>
            </a:r>
            <a:endParaRPr lang="en-US" sz="800" dirty="0"/>
          </a:p>
        </p:txBody>
      </p:sp>
      <p:sp>
        <p:nvSpPr>
          <p:cNvPr id="189" name="Text 186"/>
          <p:cNvSpPr/>
          <p:nvPr/>
        </p:nvSpPr>
        <p:spPr>
          <a:xfrm>
            <a:off x="9070848" y="5321808"/>
            <a:ext cx="65836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0.0M</a:t>
            </a:r>
            <a:endParaRPr lang="en-US" sz="800" dirty="0"/>
          </a:p>
        </p:txBody>
      </p:sp>
      <p:sp>
        <p:nvSpPr>
          <p:cNvPr id="190" name="Text 187"/>
          <p:cNvSpPr/>
          <p:nvPr/>
        </p:nvSpPr>
        <p:spPr>
          <a:xfrm>
            <a:off x="9765792" y="5321808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</a:t>
            </a:r>
            <a:endParaRPr lang="en-US" sz="800" dirty="0"/>
          </a:p>
        </p:txBody>
      </p:sp>
      <p:sp>
        <p:nvSpPr>
          <p:cNvPr id="191" name="Text 188"/>
          <p:cNvSpPr/>
          <p:nvPr/>
        </p:nvSpPr>
        <p:spPr>
          <a:xfrm>
            <a:off x="10332720" y="5321808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28.8M</a:t>
            </a:r>
            <a:endParaRPr lang="en-US" sz="800" dirty="0"/>
          </a:p>
        </p:txBody>
      </p:sp>
      <p:sp>
        <p:nvSpPr>
          <p:cNvPr id="192" name="Text 189"/>
          <p:cNvSpPr/>
          <p:nvPr/>
        </p:nvSpPr>
        <p:spPr>
          <a:xfrm>
            <a:off x="11210544" y="5321808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13</a:t>
            </a:r>
            <a:endParaRPr lang="en-US" sz="800" dirty="0"/>
          </a:p>
        </p:txBody>
      </p:sp>
      <p:sp>
        <p:nvSpPr>
          <p:cNvPr id="193" name="Shape 190"/>
          <p:cNvSpPr/>
          <p:nvPr/>
        </p:nvSpPr>
        <p:spPr>
          <a:xfrm>
            <a:off x="4169664" y="5486400"/>
            <a:ext cx="7790688" cy="182880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94" name="Shape 191"/>
          <p:cNvSpPr/>
          <p:nvPr/>
        </p:nvSpPr>
        <p:spPr>
          <a:xfrm>
            <a:off x="4169664" y="5486400"/>
            <a:ext cx="36576" cy="182880"/>
          </a:xfrm>
          <a:prstGeom prst="rect">
            <a:avLst/>
          </a:prstGeom>
          <a:solidFill>
            <a:srgbClr val="1A7A3F"/>
          </a:solidFill>
          <a:ln w="1270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195" name="Text 192"/>
          <p:cNvSpPr/>
          <p:nvPr/>
        </p:nvSpPr>
        <p:spPr>
          <a:xfrm>
            <a:off x="4242816" y="5522976"/>
            <a:ext cx="274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</a:t>
            </a:r>
            <a:endParaRPr lang="en-US" sz="800" dirty="0"/>
          </a:p>
        </p:txBody>
      </p:sp>
      <p:sp>
        <p:nvSpPr>
          <p:cNvPr id="196" name="Text 193"/>
          <p:cNvSpPr/>
          <p:nvPr/>
        </p:nvSpPr>
        <p:spPr>
          <a:xfrm>
            <a:off x="4553712" y="5522976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堡盛国际</a:t>
            </a:r>
            <a:endParaRPr lang="en-US" sz="850" dirty="0"/>
          </a:p>
        </p:txBody>
      </p:sp>
      <p:sp>
        <p:nvSpPr>
          <p:cNvPr id="197" name="Text 194"/>
          <p:cNvSpPr/>
          <p:nvPr/>
        </p:nvSpPr>
        <p:spPr>
          <a:xfrm>
            <a:off x="5468112" y="5522976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永明经代</a:t>
            </a:r>
            <a:endParaRPr lang="en-US" sz="800" dirty="0"/>
          </a:p>
        </p:txBody>
      </p:sp>
      <p:sp>
        <p:nvSpPr>
          <p:cNvPr id="198" name="Text 195"/>
          <p:cNvSpPr/>
          <p:nvPr/>
        </p:nvSpPr>
        <p:spPr>
          <a:xfrm>
            <a:off x="6254496" y="5522976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27.2M</a:t>
            </a:r>
            <a:endParaRPr lang="en-US" sz="800" dirty="0"/>
          </a:p>
        </p:txBody>
      </p:sp>
      <p:sp>
        <p:nvSpPr>
          <p:cNvPr id="199" name="Text 196"/>
          <p:cNvSpPr/>
          <p:nvPr/>
        </p:nvSpPr>
        <p:spPr>
          <a:xfrm>
            <a:off x="7095744" y="5522976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71</a:t>
            </a:r>
            <a:endParaRPr lang="en-US" sz="800" dirty="0"/>
          </a:p>
        </p:txBody>
      </p:sp>
      <p:sp>
        <p:nvSpPr>
          <p:cNvPr id="200" name="Text 197"/>
          <p:cNvSpPr/>
          <p:nvPr/>
        </p:nvSpPr>
        <p:spPr>
          <a:xfrm>
            <a:off x="7662672" y="5522976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2.4M</a:t>
            </a:r>
            <a:endParaRPr lang="en-US" sz="800" dirty="0"/>
          </a:p>
        </p:txBody>
      </p:sp>
      <p:sp>
        <p:nvSpPr>
          <p:cNvPr id="201" name="Text 198"/>
          <p:cNvSpPr/>
          <p:nvPr/>
        </p:nvSpPr>
        <p:spPr>
          <a:xfrm>
            <a:off x="8503920" y="5522976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</a:t>
            </a:r>
            <a:endParaRPr lang="en-US" sz="800" dirty="0"/>
          </a:p>
        </p:txBody>
      </p:sp>
      <p:sp>
        <p:nvSpPr>
          <p:cNvPr id="202" name="Text 199"/>
          <p:cNvSpPr/>
          <p:nvPr/>
        </p:nvSpPr>
        <p:spPr>
          <a:xfrm>
            <a:off x="9070848" y="5522976"/>
            <a:ext cx="65836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0.3M</a:t>
            </a:r>
            <a:endParaRPr lang="en-US" sz="800" dirty="0"/>
          </a:p>
        </p:txBody>
      </p:sp>
      <p:sp>
        <p:nvSpPr>
          <p:cNvPr id="203" name="Text 200"/>
          <p:cNvSpPr/>
          <p:nvPr/>
        </p:nvSpPr>
        <p:spPr>
          <a:xfrm>
            <a:off x="9765792" y="5522976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</a:t>
            </a:r>
            <a:endParaRPr lang="en-US" sz="800" dirty="0"/>
          </a:p>
        </p:txBody>
      </p:sp>
      <p:sp>
        <p:nvSpPr>
          <p:cNvPr id="204" name="Text 201"/>
          <p:cNvSpPr/>
          <p:nvPr/>
        </p:nvSpPr>
        <p:spPr>
          <a:xfrm>
            <a:off x="10332720" y="5522976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29.8M</a:t>
            </a:r>
            <a:endParaRPr lang="en-US" sz="800" dirty="0"/>
          </a:p>
        </p:txBody>
      </p:sp>
      <p:sp>
        <p:nvSpPr>
          <p:cNvPr id="205" name="Text 202"/>
          <p:cNvSpPr/>
          <p:nvPr/>
        </p:nvSpPr>
        <p:spPr>
          <a:xfrm>
            <a:off x="11210544" y="5522976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80</a:t>
            </a:r>
            <a:endParaRPr lang="en-US" sz="800" dirty="0"/>
          </a:p>
        </p:txBody>
      </p:sp>
      <p:sp>
        <p:nvSpPr>
          <p:cNvPr id="206" name="Shape 203"/>
          <p:cNvSpPr/>
          <p:nvPr/>
        </p:nvSpPr>
        <p:spPr>
          <a:xfrm>
            <a:off x="4169664" y="5687568"/>
            <a:ext cx="7790688" cy="182880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07" name="Shape 204"/>
          <p:cNvSpPr/>
          <p:nvPr/>
        </p:nvSpPr>
        <p:spPr>
          <a:xfrm>
            <a:off x="4169664" y="5687568"/>
            <a:ext cx="36576" cy="182880"/>
          </a:xfrm>
          <a:prstGeom prst="rect">
            <a:avLst/>
          </a:prstGeom>
          <a:solidFill>
            <a:srgbClr val="2980B9"/>
          </a:solidFill>
          <a:ln w="12700">
            <a:solidFill>
              <a:srgbClr val="2980B9"/>
            </a:solidFill>
            <a:prstDash val="solid"/>
          </a:ln>
        </p:spPr>
        <p:txBody>
          <a:bodyPr/>
          <a:p/>
        </p:txBody>
      </p:sp>
      <p:sp>
        <p:nvSpPr>
          <p:cNvPr id="208" name="Text 205"/>
          <p:cNvSpPr/>
          <p:nvPr/>
        </p:nvSpPr>
        <p:spPr>
          <a:xfrm>
            <a:off x="4242816" y="5724144"/>
            <a:ext cx="274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</a:t>
            </a:r>
            <a:endParaRPr lang="en-US" sz="800" dirty="0"/>
          </a:p>
        </p:txBody>
      </p:sp>
      <p:sp>
        <p:nvSpPr>
          <p:cNvPr id="209" name="Text 206"/>
          <p:cNvSpPr/>
          <p:nvPr/>
        </p:nvSpPr>
        <p:spPr>
          <a:xfrm>
            <a:off x="4553712" y="5724144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万森保险</a:t>
            </a:r>
            <a:endParaRPr lang="en-US" sz="850" dirty="0"/>
          </a:p>
        </p:txBody>
      </p:sp>
      <p:sp>
        <p:nvSpPr>
          <p:cNvPr id="210" name="Text 207"/>
          <p:cNvSpPr/>
          <p:nvPr/>
        </p:nvSpPr>
        <p:spPr>
          <a:xfrm>
            <a:off x="5468112" y="5724144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永明经代</a:t>
            </a:r>
            <a:endParaRPr lang="en-US" sz="800" dirty="0"/>
          </a:p>
        </p:txBody>
      </p:sp>
      <p:sp>
        <p:nvSpPr>
          <p:cNvPr id="211" name="Text 208"/>
          <p:cNvSpPr/>
          <p:nvPr/>
        </p:nvSpPr>
        <p:spPr>
          <a:xfrm>
            <a:off x="6254496" y="5724144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25.9M</a:t>
            </a:r>
            <a:endParaRPr lang="en-US" sz="800" dirty="0"/>
          </a:p>
        </p:txBody>
      </p:sp>
      <p:sp>
        <p:nvSpPr>
          <p:cNvPr id="212" name="Text 209"/>
          <p:cNvSpPr/>
          <p:nvPr/>
        </p:nvSpPr>
        <p:spPr>
          <a:xfrm>
            <a:off x="7095744" y="5724144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79</a:t>
            </a:r>
            <a:endParaRPr lang="en-US" sz="800" dirty="0"/>
          </a:p>
        </p:txBody>
      </p:sp>
      <p:sp>
        <p:nvSpPr>
          <p:cNvPr id="213" name="Text 210"/>
          <p:cNvSpPr/>
          <p:nvPr/>
        </p:nvSpPr>
        <p:spPr>
          <a:xfrm>
            <a:off x="7662672" y="5724144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3.0M</a:t>
            </a:r>
            <a:endParaRPr lang="en-US" sz="800" dirty="0"/>
          </a:p>
        </p:txBody>
      </p:sp>
      <p:sp>
        <p:nvSpPr>
          <p:cNvPr id="214" name="Text 211"/>
          <p:cNvSpPr/>
          <p:nvPr/>
        </p:nvSpPr>
        <p:spPr>
          <a:xfrm>
            <a:off x="8503920" y="5724144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</a:t>
            </a:r>
            <a:endParaRPr lang="en-US" sz="800" dirty="0"/>
          </a:p>
        </p:txBody>
      </p:sp>
      <p:sp>
        <p:nvSpPr>
          <p:cNvPr id="215" name="Text 212"/>
          <p:cNvSpPr/>
          <p:nvPr/>
        </p:nvSpPr>
        <p:spPr>
          <a:xfrm>
            <a:off x="9070848" y="5724144"/>
            <a:ext cx="65836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0.0M</a:t>
            </a:r>
            <a:endParaRPr lang="en-US" sz="800" dirty="0"/>
          </a:p>
        </p:txBody>
      </p:sp>
      <p:sp>
        <p:nvSpPr>
          <p:cNvPr id="216" name="Text 213"/>
          <p:cNvSpPr/>
          <p:nvPr/>
        </p:nvSpPr>
        <p:spPr>
          <a:xfrm>
            <a:off x="9765792" y="5724144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</a:t>
            </a:r>
            <a:endParaRPr lang="en-US" sz="800" dirty="0"/>
          </a:p>
        </p:txBody>
      </p:sp>
      <p:sp>
        <p:nvSpPr>
          <p:cNvPr id="217" name="Text 214"/>
          <p:cNvSpPr/>
          <p:nvPr/>
        </p:nvSpPr>
        <p:spPr>
          <a:xfrm>
            <a:off x="10332720" y="5724144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28.9M</a:t>
            </a:r>
            <a:endParaRPr lang="en-US" sz="800" dirty="0"/>
          </a:p>
        </p:txBody>
      </p:sp>
      <p:sp>
        <p:nvSpPr>
          <p:cNvPr id="218" name="Text 215"/>
          <p:cNvSpPr/>
          <p:nvPr/>
        </p:nvSpPr>
        <p:spPr>
          <a:xfrm>
            <a:off x="11210544" y="5724144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84</a:t>
            </a:r>
            <a:endParaRPr lang="en-US" sz="800" dirty="0"/>
          </a:p>
        </p:txBody>
      </p:sp>
      <p:sp>
        <p:nvSpPr>
          <p:cNvPr id="219" name="Shape 216"/>
          <p:cNvSpPr/>
          <p:nvPr/>
        </p:nvSpPr>
        <p:spPr>
          <a:xfrm>
            <a:off x="4169664" y="5888736"/>
            <a:ext cx="7790688" cy="182880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20" name="Shape 217"/>
          <p:cNvSpPr/>
          <p:nvPr/>
        </p:nvSpPr>
        <p:spPr>
          <a:xfrm>
            <a:off x="4169664" y="5888736"/>
            <a:ext cx="36576" cy="182880"/>
          </a:xfrm>
          <a:prstGeom prst="rect">
            <a:avLst/>
          </a:prstGeom>
          <a:solidFill>
            <a:srgbClr val="1A7A3F"/>
          </a:solidFill>
          <a:ln w="1270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221" name="Text 218"/>
          <p:cNvSpPr/>
          <p:nvPr/>
        </p:nvSpPr>
        <p:spPr>
          <a:xfrm>
            <a:off x="4242816" y="5925312"/>
            <a:ext cx="274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</a:t>
            </a:r>
            <a:endParaRPr lang="en-US" sz="800" dirty="0"/>
          </a:p>
        </p:txBody>
      </p:sp>
      <p:sp>
        <p:nvSpPr>
          <p:cNvPr id="222" name="Text 219"/>
          <p:cNvSpPr/>
          <p:nvPr/>
        </p:nvSpPr>
        <p:spPr>
          <a:xfrm>
            <a:off x="4553712" y="5925312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天誉国际(MGA)</a:t>
            </a:r>
            <a:endParaRPr lang="en-US" sz="850" dirty="0"/>
          </a:p>
        </p:txBody>
      </p:sp>
      <p:sp>
        <p:nvSpPr>
          <p:cNvPr id="223" name="Text 220"/>
          <p:cNvSpPr/>
          <p:nvPr/>
        </p:nvSpPr>
        <p:spPr>
          <a:xfrm>
            <a:off x="5468112" y="5925312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MGA业务</a:t>
            </a:r>
            <a:endParaRPr lang="en-US" sz="800" dirty="0"/>
          </a:p>
        </p:txBody>
      </p:sp>
      <p:sp>
        <p:nvSpPr>
          <p:cNvPr id="224" name="Text 221"/>
          <p:cNvSpPr/>
          <p:nvPr/>
        </p:nvSpPr>
        <p:spPr>
          <a:xfrm>
            <a:off x="6254496" y="5925312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19.4M</a:t>
            </a:r>
            <a:endParaRPr lang="en-US" sz="800" dirty="0"/>
          </a:p>
        </p:txBody>
      </p:sp>
      <p:sp>
        <p:nvSpPr>
          <p:cNvPr id="225" name="Text 222"/>
          <p:cNvSpPr/>
          <p:nvPr/>
        </p:nvSpPr>
        <p:spPr>
          <a:xfrm>
            <a:off x="7095744" y="5925312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80</a:t>
            </a:r>
            <a:endParaRPr lang="en-US" sz="800" dirty="0"/>
          </a:p>
        </p:txBody>
      </p:sp>
      <p:sp>
        <p:nvSpPr>
          <p:cNvPr id="226" name="Text 223"/>
          <p:cNvSpPr/>
          <p:nvPr/>
        </p:nvSpPr>
        <p:spPr>
          <a:xfrm>
            <a:off x="7662672" y="5925312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24.0M</a:t>
            </a:r>
            <a:endParaRPr lang="en-US" sz="800" dirty="0"/>
          </a:p>
        </p:txBody>
      </p:sp>
      <p:sp>
        <p:nvSpPr>
          <p:cNvPr id="227" name="Text 224"/>
          <p:cNvSpPr/>
          <p:nvPr/>
        </p:nvSpPr>
        <p:spPr>
          <a:xfrm>
            <a:off x="8503920" y="5925312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65</a:t>
            </a:r>
            <a:endParaRPr lang="en-US" sz="800" dirty="0"/>
          </a:p>
        </p:txBody>
      </p:sp>
      <p:sp>
        <p:nvSpPr>
          <p:cNvPr id="228" name="Text 225"/>
          <p:cNvSpPr/>
          <p:nvPr/>
        </p:nvSpPr>
        <p:spPr>
          <a:xfrm>
            <a:off x="9070975" y="5925185"/>
            <a:ext cx="658495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9.2M</a:t>
            </a:r>
            <a:endParaRPr lang="en-US" sz="800" dirty="0"/>
          </a:p>
        </p:txBody>
      </p:sp>
      <p:sp>
        <p:nvSpPr>
          <p:cNvPr id="229" name="Text 226"/>
          <p:cNvSpPr/>
          <p:nvPr/>
        </p:nvSpPr>
        <p:spPr>
          <a:xfrm>
            <a:off x="9765792" y="5925312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21</a:t>
            </a:r>
            <a:endParaRPr lang="en-US" sz="800" dirty="0"/>
          </a:p>
        </p:txBody>
      </p:sp>
      <p:sp>
        <p:nvSpPr>
          <p:cNvPr id="230" name="Text 227"/>
          <p:cNvSpPr/>
          <p:nvPr/>
        </p:nvSpPr>
        <p:spPr>
          <a:xfrm>
            <a:off x="10332720" y="5925312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52.6M</a:t>
            </a:r>
            <a:endParaRPr lang="en-US" sz="800" dirty="0"/>
          </a:p>
        </p:txBody>
      </p:sp>
      <p:sp>
        <p:nvSpPr>
          <p:cNvPr id="231" name="Text 228"/>
          <p:cNvSpPr/>
          <p:nvPr/>
        </p:nvSpPr>
        <p:spPr>
          <a:xfrm>
            <a:off x="11210544" y="5925312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166</a:t>
            </a:r>
            <a:endParaRPr lang="en-US" sz="800" dirty="0"/>
          </a:p>
        </p:txBody>
      </p:sp>
      <p:sp>
        <p:nvSpPr>
          <p:cNvPr id="232" name="Shape 229"/>
          <p:cNvSpPr/>
          <p:nvPr/>
        </p:nvSpPr>
        <p:spPr>
          <a:xfrm>
            <a:off x="4169664" y="6089904"/>
            <a:ext cx="7790688" cy="201168"/>
          </a:xfrm>
          <a:prstGeom prst="rect">
            <a:avLst/>
          </a:prstGeom>
          <a:solidFill>
            <a:srgbClr val="EDE7F6"/>
          </a:solidFill>
          <a:ln w="9525">
            <a:solidFill>
              <a:srgbClr val="9575CD"/>
            </a:solidFill>
            <a:prstDash val="solid"/>
          </a:ln>
        </p:spPr>
        <p:txBody>
          <a:bodyPr/>
          <a:p/>
        </p:txBody>
      </p:sp>
      <p:sp>
        <p:nvSpPr>
          <p:cNvPr id="233" name="Text 230"/>
          <p:cNvSpPr/>
          <p:nvPr/>
        </p:nvSpPr>
        <p:spPr>
          <a:xfrm>
            <a:off x="4553712" y="6099810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TOP10合计</a:t>
            </a:r>
            <a:endParaRPr lang="en-US" sz="800" dirty="0"/>
          </a:p>
        </p:txBody>
      </p:sp>
      <p:sp>
        <p:nvSpPr>
          <p:cNvPr id="234" name="Text 231"/>
          <p:cNvSpPr/>
          <p:nvPr/>
        </p:nvSpPr>
        <p:spPr>
          <a:xfrm>
            <a:off x="6254496" y="6099810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473.2M</a:t>
            </a:r>
            <a:endParaRPr lang="en-US" sz="800" dirty="0"/>
          </a:p>
        </p:txBody>
      </p:sp>
      <p:sp>
        <p:nvSpPr>
          <p:cNvPr id="235" name="Text 232"/>
          <p:cNvSpPr/>
          <p:nvPr/>
        </p:nvSpPr>
        <p:spPr>
          <a:xfrm>
            <a:off x="7095744" y="6099810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845件</a:t>
            </a:r>
            <a:endParaRPr lang="en-US" sz="800" dirty="0"/>
          </a:p>
        </p:txBody>
      </p:sp>
      <p:sp>
        <p:nvSpPr>
          <p:cNvPr id="236" name="Text 233"/>
          <p:cNvSpPr/>
          <p:nvPr/>
        </p:nvSpPr>
        <p:spPr>
          <a:xfrm>
            <a:off x="7662672" y="6099810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82.7M</a:t>
            </a:r>
            <a:endParaRPr lang="en-US" sz="800" dirty="0"/>
          </a:p>
        </p:txBody>
      </p:sp>
      <p:sp>
        <p:nvSpPr>
          <p:cNvPr id="237" name="Text 234"/>
          <p:cNvSpPr/>
          <p:nvPr/>
        </p:nvSpPr>
        <p:spPr>
          <a:xfrm>
            <a:off x="8503920" y="6099810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181件</a:t>
            </a:r>
            <a:endParaRPr lang="en-US" sz="800" dirty="0"/>
          </a:p>
        </p:txBody>
      </p:sp>
      <p:sp>
        <p:nvSpPr>
          <p:cNvPr id="238" name="Text 235"/>
          <p:cNvSpPr/>
          <p:nvPr/>
        </p:nvSpPr>
        <p:spPr>
          <a:xfrm>
            <a:off x="9070848" y="6099810"/>
            <a:ext cx="65836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14.5M</a:t>
            </a:r>
            <a:endParaRPr lang="en-US" sz="800" dirty="0"/>
          </a:p>
        </p:txBody>
      </p:sp>
      <p:sp>
        <p:nvSpPr>
          <p:cNvPr id="239" name="Text 236"/>
          <p:cNvSpPr/>
          <p:nvPr/>
        </p:nvSpPr>
        <p:spPr>
          <a:xfrm>
            <a:off x="9765792" y="6099810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39件</a:t>
            </a:r>
            <a:endParaRPr lang="en-US" sz="800" dirty="0"/>
          </a:p>
        </p:txBody>
      </p:sp>
      <p:sp>
        <p:nvSpPr>
          <p:cNvPr id="240" name="Text 237"/>
          <p:cNvSpPr/>
          <p:nvPr/>
        </p:nvSpPr>
        <p:spPr>
          <a:xfrm>
            <a:off x="10332720" y="6099810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570.4M</a:t>
            </a:r>
            <a:endParaRPr lang="en-US" sz="800" dirty="0"/>
          </a:p>
        </p:txBody>
      </p:sp>
      <p:sp>
        <p:nvSpPr>
          <p:cNvPr id="241" name="Text 238"/>
          <p:cNvSpPr/>
          <p:nvPr/>
        </p:nvSpPr>
        <p:spPr>
          <a:xfrm>
            <a:off x="11210544" y="6099810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1065件</a:t>
            </a:r>
            <a:endParaRPr lang="en-US" sz="800" dirty="0"/>
          </a:p>
        </p:txBody>
      </p:sp>
      <p:sp>
        <p:nvSpPr>
          <p:cNvPr id="242" name="Shape 239"/>
          <p:cNvSpPr/>
          <p:nvPr/>
        </p:nvSpPr>
        <p:spPr>
          <a:xfrm>
            <a:off x="4059936" y="6254496"/>
            <a:ext cx="7991856" cy="402336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243" name="Shape 240"/>
          <p:cNvSpPr/>
          <p:nvPr/>
        </p:nvSpPr>
        <p:spPr>
          <a:xfrm>
            <a:off x="4059936" y="6254496"/>
            <a:ext cx="7991856" cy="27432"/>
          </a:xfrm>
          <a:prstGeom prst="rect">
            <a:avLst/>
          </a:prstGeom>
          <a:solidFill>
            <a:srgbClr val="4A235A"/>
          </a:solidFill>
          <a:ln w="12700">
            <a:solidFill>
              <a:srgbClr val="4A235A"/>
            </a:solidFill>
            <a:prstDash val="solid"/>
          </a:ln>
        </p:spPr>
        <p:txBody>
          <a:bodyPr/>
          <a:p/>
        </p:txBody>
      </p:sp>
      <p:sp>
        <p:nvSpPr>
          <p:cNvPr id="244" name="Text 241"/>
          <p:cNvSpPr/>
          <p:nvPr/>
        </p:nvSpPr>
        <p:spPr>
          <a:xfrm>
            <a:off x="4151376" y="6291072"/>
            <a:ext cx="7827264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4A235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245" name="Text 242"/>
          <p:cNvSpPr/>
          <p:nvPr/>
        </p:nvSpPr>
        <p:spPr>
          <a:xfrm>
            <a:off x="4151376" y="6409944"/>
            <a:ext cx="7827264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TOP10 KA 累计批核 1030.6M（占全业务 170.3%），高度集中。 以 576.8M 独占 95.3%，是最核心的单一客户，亦是最大集中风险点。</a:t>
            </a:r>
            <a:endParaRPr lang="en-US" sz="5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hape 3"/>
          <p:cNvSpPr/>
          <p:nvPr/>
        </p:nvSpPr>
        <p:spPr>
          <a:xfrm>
            <a:off x="91440" y="3657600"/>
            <a:ext cx="5943600" cy="2999232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" name="Shape 0"/>
          <p:cNvSpPr/>
          <p:nvPr/>
        </p:nvSpPr>
        <p:spPr>
          <a:xfrm>
            <a:off x="0" y="0"/>
            <a:ext cx="12191365" cy="475615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64592" y="73152"/>
            <a:ext cx="1005840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执行管理端分析仪表盘  |  Execution Management View  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0058400" y="109728"/>
            <a:ext cx="19659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</a:t>
            </a: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内部文件 · 仅供使用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91440" y="530225"/>
            <a:ext cx="5943600" cy="2999232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91" name="Shape 189"/>
          <p:cNvSpPr/>
          <p:nvPr/>
        </p:nvSpPr>
        <p:spPr>
          <a:xfrm>
            <a:off x="6163056" y="3657600"/>
            <a:ext cx="5888736" cy="2999232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92" name="Shape 190"/>
          <p:cNvSpPr/>
          <p:nvPr/>
        </p:nvSpPr>
        <p:spPr>
          <a:xfrm>
            <a:off x="6163056" y="3657600"/>
            <a:ext cx="5888736" cy="256032"/>
          </a:xfrm>
          <a:prstGeom prst="rect">
            <a:avLst/>
          </a:prstGeom>
          <a:solidFill>
            <a:srgbClr val="4A235A"/>
          </a:solidFill>
          <a:ln w="12700">
            <a:solidFill>
              <a:srgbClr val="4A235A"/>
            </a:solidFill>
            <a:prstDash val="solid"/>
          </a:ln>
        </p:spPr>
        <p:txBody>
          <a:bodyPr/>
          <a:p/>
        </p:txBody>
      </p:sp>
      <p:sp>
        <p:nvSpPr>
          <p:cNvPr id="193" name="Text 191"/>
          <p:cNvSpPr/>
          <p:nvPr/>
        </p:nvSpPr>
        <p:spPr>
          <a:xfrm>
            <a:off x="6254496" y="3694176"/>
            <a:ext cx="5724144" cy="1920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  签批时效综合分析 — 业务线时效 &amp; 分档分布</a:t>
            </a:r>
            <a:endParaRPr lang="en-US" sz="850" dirty="0"/>
          </a:p>
        </p:txBody>
      </p:sp>
      <p:sp>
        <p:nvSpPr>
          <p:cNvPr id="194" name="Shape 192"/>
          <p:cNvSpPr/>
          <p:nvPr/>
        </p:nvSpPr>
        <p:spPr>
          <a:xfrm>
            <a:off x="6254750" y="3959225"/>
            <a:ext cx="5659755" cy="2540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195" name="Text 193"/>
          <p:cNvSpPr/>
          <p:nvPr/>
        </p:nvSpPr>
        <p:spPr>
          <a:xfrm>
            <a:off x="6351270" y="3996055"/>
            <a:ext cx="469900" cy="1390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业务线</a:t>
            </a:r>
            <a:endParaRPr lang="en-US" sz="85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96" name="Text 194"/>
          <p:cNvSpPr/>
          <p:nvPr/>
        </p:nvSpPr>
        <p:spPr>
          <a:xfrm>
            <a:off x="7059360" y="3996055"/>
            <a:ext cx="600000" cy="1619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件数</a:t>
            </a:r>
            <a:endParaRPr lang="en-US" sz="85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97" name="Text 195"/>
          <p:cNvSpPr/>
          <p:nvPr/>
        </p:nvSpPr>
        <p:spPr>
          <a:xfrm>
            <a:off x="7687770" y="3996055"/>
            <a:ext cx="950000" cy="1619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件均APE(万</a:t>
            </a:r>
            <a:r>
              <a:rPr lang="en-US" sz="6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)</a:t>
            </a:r>
            <a:endParaRPr lang="en-US" sz="650" dirty="0"/>
          </a:p>
        </p:txBody>
      </p:sp>
      <p:sp>
        <p:nvSpPr>
          <p:cNvPr id="198" name="Text 196"/>
          <p:cNvSpPr/>
          <p:nvPr/>
        </p:nvSpPr>
        <p:spPr>
          <a:xfrm>
            <a:off x="8570930" y="3996055"/>
            <a:ext cx="700000" cy="1619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平均时效(天)</a:t>
            </a:r>
            <a:endParaRPr lang="en-US" sz="85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99" name="Text 197"/>
          <p:cNvSpPr/>
          <p:nvPr/>
        </p:nvSpPr>
        <p:spPr>
          <a:xfrm>
            <a:off x="9469520" y="3996055"/>
            <a:ext cx="700000" cy="1619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P90时效(天)</a:t>
            </a:r>
            <a:endParaRPr lang="en-US" sz="800" dirty="0"/>
          </a:p>
        </p:txBody>
      </p:sp>
      <p:sp>
        <p:nvSpPr>
          <p:cNvPr id="700" name="Text 698"/>
          <p:cNvSpPr/>
          <p:nvPr/>
        </p:nvSpPr>
        <p:spPr>
          <a:xfrm>
            <a:off x="10303340" y="3996055"/>
            <a:ext cx="660000" cy="1619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中位时效(天)</a:t>
            </a:r>
            <a:endParaRPr lang="en-US" sz="800" dirty="0"/>
          </a:p>
        </p:txBody>
      </p:sp>
      <p:sp>
        <p:nvSpPr>
          <p:cNvPr id="701" name="Text 699"/>
          <p:cNvSpPr/>
          <p:nvPr/>
        </p:nvSpPr>
        <p:spPr>
          <a:xfrm>
            <a:off x="11234420" y="3987800"/>
            <a:ext cx="631825" cy="1701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最大时效(天)</a:t>
            </a:r>
            <a:endParaRPr lang="en-US" sz="800" dirty="0"/>
          </a:p>
        </p:txBody>
      </p:sp>
      <p:sp>
        <p:nvSpPr>
          <p:cNvPr id="200" name="Shape 198"/>
          <p:cNvSpPr/>
          <p:nvPr/>
        </p:nvSpPr>
        <p:spPr>
          <a:xfrm>
            <a:off x="6254750" y="4178935"/>
            <a:ext cx="5659755" cy="299720"/>
          </a:xfrm>
          <a:prstGeom prst="rect">
            <a:avLst/>
          </a:prstGeom>
          <a:solidFill>
            <a:srgbClr val="FEF2F2"/>
          </a:solidFill>
          <a:ln w="762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201" name="Shape 199"/>
          <p:cNvSpPr/>
          <p:nvPr/>
        </p:nvSpPr>
        <p:spPr>
          <a:xfrm>
            <a:off x="6254750" y="4178935"/>
            <a:ext cx="76200" cy="29972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202" name="Text 200"/>
          <p:cNvSpPr/>
          <p:nvPr/>
        </p:nvSpPr>
        <p:spPr>
          <a:xfrm>
            <a:off x="6327775" y="4224655"/>
            <a:ext cx="14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天领业务</a:t>
            </a:r>
            <a:endParaRPr lang="en-US" sz="800" dirty="0"/>
          </a:p>
        </p:txBody>
      </p:sp>
      <p:sp>
        <p:nvSpPr>
          <p:cNvPr id="203" name="Text 201"/>
          <p:cNvSpPr/>
          <p:nvPr/>
        </p:nvSpPr>
        <p:spPr>
          <a:xfrm>
            <a:off x="7110160" y="4224655"/>
            <a:ext cx="6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191</a:t>
            </a:r>
            <a:endParaRPr lang="en-US" sz="850" dirty="0"/>
          </a:p>
        </p:txBody>
      </p:sp>
      <p:sp>
        <p:nvSpPr>
          <p:cNvPr id="204" name="Text 202"/>
          <p:cNvSpPr/>
          <p:nvPr/>
        </p:nvSpPr>
        <p:spPr>
          <a:xfrm>
            <a:off x="7821120" y="4224655"/>
            <a:ext cx="9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34</a:t>
            </a:r>
            <a:endParaRPr lang="en-US" sz="850" dirty="0"/>
          </a:p>
        </p:txBody>
      </p:sp>
      <p:sp>
        <p:nvSpPr>
          <p:cNvPr id="205" name="Text 203"/>
          <p:cNvSpPr/>
          <p:nvPr/>
        </p:nvSpPr>
        <p:spPr>
          <a:xfrm>
            <a:off x="8767780" y="4224655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</a:t>
            </a:r>
            <a:endParaRPr lang="en-US" sz="850" dirty="0"/>
          </a:p>
        </p:txBody>
      </p:sp>
      <p:sp>
        <p:nvSpPr>
          <p:cNvPr id="206" name="Text 204"/>
          <p:cNvSpPr/>
          <p:nvPr/>
        </p:nvSpPr>
        <p:spPr>
          <a:xfrm>
            <a:off x="9601600" y="4224655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38</a:t>
            </a:r>
            <a:endParaRPr lang="en-US" sz="850" dirty="0"/>
          </a:p>
        </p:txBody>
      </p:sp>
      <p:sp>
        <p:nvSpPr>
          <p:cNvPr id="702" name="Text 700"/>
          <p:cNvSpPr/>
          <p:nvPr/>
        </p:nvSpPr>
        <p:spPr>
          <a:xfrm>
            <a:off x="10516700" y="4224655"/>
            <a:ext cx="66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17</a:t>
            </a:r>
            <a:endParaRPr lang="en-US" sz="850" dirty="0"/>
          </a:p>
        </p:txBody>
      </p:sp>
      <p:sp>
        <p:nvSpPr>
          <p:cNvPr id="703" name="Text 701"/>
          <p:cNvSpPr/>
          <p:nvPr/>
        </p:nvSpPr>
        <p:spPr>
          <a:xfrm>
            <a:off x="11431170" y="4224655"/>
            <a:ext cx="355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125</a:t>
            </a:r>
            <a:endParaRPr lang="en-US" sz="850" dirty="0"/>
          </a:p>
        </p:txBody>
      </p:sp>
      <p:sp>
        <p:nvSpPr>
          <p:cNvPr id="209" name="Text 207"/>
          <p:cNvSpPr/>
          <p:nvPr/>
        </p:nvSpPr>
        <p:spPr>
          <a:xfrm>
            <a:off x="6327775" y="4480560"/>
            <a:ext cx="14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成事家办</a:t>
            </a:r>
            <a:endParaRPr lang="en-US" sz="800" dirty="0"/>
          </a:p>
        </p:txBody>
      </p:sp>
      <p:sp>
        <p:nvSpPr>
          <p:cNvPr id="210" name="Text 208"/>
          <p:cNvSpPr/>
          <p:nvPr/>
        </p:nvSpPr>
        <p:spPr>
          <a:xfrm>
            <a:off x="7110160" y="4480560"/>
            <a:ext cx="6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34</a:t>
            </a:r>
            <a:endParaRPr lang="en-US" sz="850" dirty="0"/>
          </a:p>
        </p:txBody>
      </p:sp>
      <p:sp>
        <p:nvSpPr>
          <p:cNvPr id="211" name="Text 209"/>
          <p:cNvSpPr/>
          <p:nvPr/>
        </p:nvSpPr>
        <p:spPr>
          <a:xfrm>
            <a:off x="7821120" y="4480560"/>
            <a:ext cx="9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23</a:t>
            </a:r>
            <a:endParaRPr lang="en-US" sz="850" dirty="0"/>
          </a:p>
        </p:txBody>
      </p:sp>
      <p:sp>
        <p:nvSpPr>
          <p:cNvPr id="212" name="Text 210"/>
          <p:cNvSpPr/>
          <p:nvPr/>
        </p:nvSpPr>
        <p:spPr>
          <a:xfrm>
            <a:off x="8767780" y="4480560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22</a:t>
            </a:r>
            <a:endParaRPr lang="en-US" sz="850" dirty="0"/>
          </a:p>
        </p:txBody>
      </p:sp>
      <p:sp>
        <p:nvSpPr>
          <p:cNvPr id="213" name="Text 211"/>
          <p:cNvSpPr/>
          <p:nvPr/>
        </p:nvSpPr>
        <p:spPr>
          <a:xfrm>
            <a:off x="9601600" y="4480560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35</a:t>
            </a:r>
            <a:endParaRPr lang="en-US" sz="850" dirty="0"/>
          </a:p>
        </p:txBody>
      </p:sp>
      <p:sp>
        <p:nvSpPr>
          <p:cNvPr id="704" name="Text 702"/>
          <p:cNvSpPr/>
          <p:nvPr/>
        </p:nvSpPr>
        <p:spPr>
          <a:xfrm>
            <a:off x="10516700" y="4480560"/>
            <a:ext cx="66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</a:t>
            </a:r>
            <a:endParaRPr lang="en-US" sz="850" dirty="0"/>
          </a:p>
        </p:txBody>
      </p:sp>
      <p:sp>
        <p:nvSpPr>
          <p:cNvPr id="705" name="Text 703"/>
          <p:cNvSpPr/>
          <p:nvPr/>
        </p:nvSpPr>
        <p:spPr>
          <a:xfrm>
            <a:off x="11431170" y="4480560"/>
            <a:ext cx="355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166</a:t>
            </a:r>
            <a:endParaRPr lang="en-US" sz="850" dirty="0"/>
          </a:p>
        </p:txBody>
      </p:sp>
      <p:sp>
        <p:nvSpPr>
          <p:cNvPr id="216" name="Text 214"/>
          <p:cNvSpPr/>
          <p:nvPr/>
        </p:nvSpPr>
        <p:spPr>
          <a:xfrm>
            <a:off x="6327775" y="4736465"/>
            <a:ext cx="14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BK业务</a:t>
            </a:r>
            <a:endParaRPr lang="en-US" sz="800" dirty="0"/>
          </a:p>
        </p:txBody>
      </p:sp>
      <p:sp>
        <p:nvSpPr>
          <p:cNvPr id="217" name="Text 215"/>
          <p:cNvSpPr/>
          <p:nvPr/>
        </p:nvSpPr>
        <p:spPr>
          <a:xfrm>
            <a:off x="7110160" y="4736465"/>
            <a:ext cx="6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196</a:t>
            </a:r>
            <a:endParaRPr lang="en-US" sz="850" dirty="0"/>
          </a:p>
        </p:txBody>
      </p:sp>
      <p:sp>
        <p:nvSpPr>
          <p:cNvPr id="218" name="Text 216"/>
          <p:cNvSpPr/>
          <p:nvPr/>
        </p:nvSpPr>
        <p:spPr>
          <a:xfrm>
            <a:off x="7821120" y="4736465"/>
            <a:ext cx="9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116</a:t>
            </a:r>
            <a:endParaRPr lang="en-US" sz="850" dirty="0"/>
          </a:p>
        </p:txBody>
      </p:sp>
      <p:sp>
        <p:nvSpPr>
          <p:cNvPr id="219" name="Text 217"/>
          <p:cNvSpPr/>
          <p:nvPr/>
        </p:nvSpPr>
        <p:spPr>
          <a:xfrm>
            <a:off x="8767780" y="4736465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72</a:t>
            </a:r>
            <a:endParaRPr lang="en-US" sz="850" dirty="0"/>
          </a:p>
        </p:txBody>
      </p:sp>
      <p:sp>
        <p:nvSpPr>
          <p:cNvPr id="220" name="Text 218"/>
          <p:cNvSpPr/>
          <p:nvPr/>
        </p:nvSpPr>
        <p:spPr>
          <a:xfrm>
            <a:off x="9601600" y="4736465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145</a:t>
            </a:r>
            <a:endParaRPr lang="en-US" sz="850" dirty="0"/>
          </a:p>
        </p:txBody>
      </p:sp>
      <p:sp>
        <p:nvSpPr>
          <p:cNvPr id="706" name="Text 704"/>
          <p:cNvSpPr/>
          <p:nvPr/>
        </p:nvSpPr>
        <p:spPr>
          <a:xfrm>
            <a:off x="10516700" y="4736465"/>
            <a:ext cx="66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74</a:t>
            </a:r>
            <a:endParaRPr lang="en-US" sz="850" dirty="0"/>
          </a:p>
        </p:txBody>
      </p:sp>
      <p:sp>
        <p:nvSpPr>
          <p:cNvPr id="707" name="Text 705"/>
          <p:cNvSpPr/>
          <p:nvPr/>
        </p:nvSpPr>
        <p:spPr>
          <a:xfrm>
            <a:off x="11431170" y="4736465"/>
            <a:ext cx="355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220</a:t>
            </a:r>
            <a:endParaRPr lang="en-US" sz="850" dirty="0"/>
          </a:p>
        </p:txBody>
      </p:sp>
      <p:sp>
        <p:nvSpPr>
          <p:cNvPr id="223" name="Text 221"/>
          <p:cNvSpPr/>
          <p:nvPr/>
        </p:nvSpPr>
        <p:spPr>
          <a:xfrm>
            <a:off x="6327775" y="4992370"/>
            <a:ext cx="14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同行经代</a:t>
            </a:r>
            <a:endParaRPr lang="en-US" sz="800" dirty="0"/>
          </a:p>
        </p:txBody>
      </p:sp>
      <p:sp>
        <p:nvSpPr>
          <p:cNvPr id="224" name="Text 222"/>
          <p:cNvSpPr/>
          <p:nvPr/>
        </p:nvSpPr>
        <p:spPr>
          <a:xfrm>
            <a:off x="7110160" y="4992370"/>
            <a:ext cx="6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219</a:t>
            </a:r>
            <a:endParaRPr lang="en-US" sz="850" dirty="0"/>
          </a:p>
        </p:txBody>
      </p:sp>
      <p:sp>
        <p:nvSpPr>
          <p:cNvPr id="225" name="Text 223"/>
          <p:cNvSpPr/>
          <p:nvPr/>
        </p:nvSpPr>
        <p:spPr>
          <a:xfrm>
            <a:off x="7821120" y="4992370"/>
            <a:ext cx="9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50</a:t>
            </a:r>
            <a:endParaRPr lang="en-US" sz="850" dirty="0"/>
          </a:p>
        </p:txBody>
      </p:sp>
      <p:sp>
        <p:nvSpPr>
          <p:cNvPr id="226" name="Text 224"/>
          <p:cNvSpPr/>
          <p:nvPr/>
        </p:nvSpPr>
        <p:spPr>
          <a:xfrm>
            <a:off x="8767780" y="4992370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22</a:t>
            </a:r>
            <a:endParaRPr lang="en-US" sz="850" dirty="0"/>
          </a:p>
        </p:txBody>
      </p:sp>
      <p:sp>
        <p:nvSpPr>
          <p:cNvPr id="227" name="Text 225"/>
          <p:cNvSpPr/>
          <p:nvPr/>
        </p:nvSpPr>
        <p:spPr>
          <a:xfrm>
            <a:off x="9601600" y="4992370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39</a:t>
            </a:r>
            <a:endParaRPr lang="en-US" sz="850" dirty="0"/>
          </a:p>
        </p:txBody>
      </p:sp>
      <p:sp>
        <p:nvSpPr>
          <p:cNvPr id="708" name="Text 706"/>
          <p:cNvSpPr/>
          <p:nvPr/>
        </p:nvSpPr>
        <p:spPr>
          <a:xfrm>
            <a:off x="10516700" y="4992370"/>
            <a:ext cx="66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18</a:t>
            </a:r>
            <a:endParaRPr lang="en-US" sz="850" dirty="0"/>
          </a:p>
        </p:txBody>
      </p:sp>
      <p:sp>
        <p:nvSpPr>
          <p:cNvPr id="709" name="Text 707"/>
          <p:cNvSpPr/>
          <p:nvPr/>
        </p:nvSpPr>
        <p:spPr>
          <a:xfrm>
            <a:off x="11431170" y="4992370"/>
            <a:ext cx="355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104</a:t>
            </a:r>
            <a:endParaRPr lang="en-US" sz="850" dirty="0"/>
          </a:p>
        </p:txBody>
      </p:sp>
      <p:sp>
        <p:nvSpPr>
          <p:cNvPr id="230" name="Text 228"/>
          <p:cNvSpPr/>
          <p:nvPr/>
        </p:nvSpPr>
        <p:spPr>
          <a:xfrm>
            <a:off x="6327775" y="5248910"/>
            <a:ext cx="14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永明经代</a:t>
            </a:r>
            <a:endParaRPr lang="en-US" sz="800" dirty="0"/>
          </a:p>
        </p:txBody>
      </p:sp>
      <p:sp>
        <p:nvSpPr>
          <p:cNvPr id="231" name="Text 229"/>
          <p:cNvSpPr/>
          <p:nvPr/>
        </p:nvSpPr>
        <p:spPr>
          <a:xfrm>
            <a:off x="7110160" y="5248910"/>
            <a:ext cx="6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400</a:t>
            </a:r>
            <a:endParaRPr lang="en-US" sz="850" dirty="0"/>
          </a:p>
        </p:txBody>
      </p:sp>
      <p:sp>
        <p:nvSpPr>
          <p:cNvPr id="232" name="Text 230"/>
          <p:cNvSpPr/>
          <p:nvPr/>
        </p:nvSpPr>
        <p:spPr>
          <a:xfrm>
            <a:off x="7821120" y="5248910"/>
            <a:ext cx="9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38</a:t>
            </a:r>
            <a:endParaRPr lang="en-US" sz="850" dirty="0"/>
          </a:p>
        </p:txBody>
      </p:sp>
      <p:sp>
        <p:nvSpPr>
          <p:cNvPr id="233" name="Text 231"/>
          <p:cNvSpPr/>
          <p:nvPr/>
        </p:nvSpPr>
        <p:spPr>
          <a:xfrm>
            <a:off x="8767780" y="5248910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22</a:t>
            </a:r>
            <a:endParaRPr lang="en-US" sz="850" dirty="0"/>
          </a:p>
        </p:txBody>
      </p:sp>
      <p:sp>
        <p:nvSpPr>
          <p:cNvPr id="234" name="Text 232"/>
          <p:cNvSpPr/>
          <p:nvPr/>
        </p:nvSpPr>
        <p:spPr>
          <a:xfrm>
            <a:off x="9601600" y="5248910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38</a:t>
            </a:r>
            <a:endParaRPr lang="en-US" sz="850" dirty="0"/>
          </a:p>
        </p:txBody>
      </p:sp>
      <p:sp>
        <p:nvSpPr>
          <p:cNvPr id="710" name="Text 708"/>
          <p:cNvSpPr/>
          <p:nvPr/>
        </p:nvSpPr>
        <p:spPr>
          <a:xfrm>
            <a:off x="10516700" y="5248910"/>
            <a:ext cx="66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</a:t>
            </a:r>
            <a:endParaRPr lang="en-US" sz="850" dirty="0"/>
          </a:p>
        </p:txBody>
      </p:sp>
      <p:sp>
        <p:nvSpPr>
          <p:cNvPr id="711" name="Text 709"/>
          <p:cNvSpPr/>
          <p:nvPr/>
        </p:nvSpPr>
        <p:spPr>
          <a:xfrm>
            <a:off x="11431170" y="5248910"/>
            <a:ext cx="355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107</a:t>
            </a:r>
            <a:endParaRPr lang="en-US" sz="850" dirty="0"/>
          </a:p>
        </p:txBody>
      </p:sp>
      <p:sp>
        <p:nvSpPr>
          <p:cNvPr id="237" name="Text 235"/>
          <p:cNvSpPr/>
          <p:nvPr/>
        </p:nvSpPr>
        <p:spPr>
          <a:xfrm>
            <a:off x="6327775" y="5504815"/>
            <a:ext cx="14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合伙转介</a:t>
            </a:r>
            <a:endParaRPr lang="en-US" sz="800" dirty="0"/>
          </a:p>
        </p:txBody>
      </p:sp>
      <p:sp>
        <p:nvSpPr>
          <p:cNvPr id="238" name="Text 236"/>
          <p:cNvSpPr/>
          <p:nvPr/>
        </p:nvSpPr>
        <p:spPr>
          <a:xfrm>
            <a:off x="7110160" y="5504815"/>
            <a:ext cx="6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26</a:t>
            </a:r>
            <a:endParaRPr lang="en-US" sz="850" dirty="0"/>
          </a:p>
        </p:txBody>
      </p:sp>
      <p:sp>
        <p:nvSpPr>
          <p:cNvPr id="239" name="Text 237"/>
          <p:cNvSpPr/>
          <p:nvPr/>
        </p:nvSpPr>
        <p:spPr>
          <a:xfrm>
            <a:off x="7821120" y="5504815"/>
            <a:ext cx="9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17</a:t>
            </a:r>
            <a:endParaRPr lang="en-US" sz="850" dirty="0"/>
          </a:p>
        </p:txBody>
      </p:sp>
      <p:sp>
        <p:nvSpPr>
          <p:cNvPr id="240" name="Text 238"/>
          <p:cNvSpPr/>
          <p:nvPr/>
        </p:nvSpPr>
        <p:spPr>
          <a:xfrm>
            <a:off x="8767780" y="5504815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29</a:t>
            </a:r>
            <a:endParaRPr lang="en-US" sz="850" dirty="0"/>
          </a:p>
        </p:txBody>
      </p:sp>
      <p:sp>
        <p:nvSpPr>
          <p:cNvPr id="241" name="Text 239"/>
          <p:cNvSpPr/>
          <p:nvPr/>
        </p:nvSpPr>
        <p:spPr>
          <a:xfrm>
            <a:off x="9601600" y="5504815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36</a:t>
            </a:r>
            <a:endParaRPr lang="en-US" sz="850" dirty="0"/>
          </a:p>
        </p:txBody>
      </p:sp>
      <p:sp>
        <p:nvSpPr>
          <p:cNvPr id="712" name="Text 710"/>
          <p:cNvSpPr/>
          <p:nvPr/>
        </p:nvSpPr>
        <p:spPr>
          <a:xfrm>
            <a:off x="10516700" y="5504815"/>
            <a:ext cx="66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</a:t>
            </a:r>
            <a:endParaRPr lang="en-US" sz="850" dirty="0"/>
          </a:p>
        </p:txBody>
      </p:sp>
      <p:sp>
        <p:nvSpPr>
          <p:cNvPr id="713" name="Text 711"/>
          <p:cNvSpPr/>
          <p:nvPr/>
        </p:nvSpPr>
        <p:spPr>
          <a:xfrm>
            <a:off x="11431170" y="5504815"/>
            <a:ext cx="355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244</a:t>
            </a:r>
            <a:endParaRPr lang="en-US" sz="850" dirty="0"/>
          </a:p>
        </p:txBody>
      </p:sp>
      <p:sp>
        <p:nvSpPr>
          <p:cNvPr id="244" name="Text 242"/>
          <p:cNvSpPr/>
          <p:nvPr/>
        </p:nvSpPr>
        <p:spPr>
          <a:xfrm>
            <a:off x="6327775" y="5760720"/>
            <a:ext cx="14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ICLUB</a:t>
            </a:r>
            <a:endParaRPr lang="en-US" sz="800" dirty="0"/>
          </a:p>
        </p:txBody>
      </p:sp>
      <p:sp>
        <p:nvSpPr>
          <p:cNvPr id="245" name="Text 243"/>
          <p:cNvSpPr/>
          <p:nvPr/>
        </p:nvSpPr>
        <p:spPr>
          <a:xfrm>
            <a:off x="7110160" y="5760720"/>
            <a:ext cx="6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</a:t>
            </a:r>
            <a:endParaRPr lang="en-US" sz="850" dirty="0"/>
          </a:p>
        </p:txBody>
      </p:sp>
      <p:sp>
        <p:nvSpPr>
          <p:cNvPr id="246" name="Text 244"/>
          <p:cNvSpPr/>
          <p:nvPr/>
        </p:nvSpPr>
        <p:spPr>
          <a:xfrm>
            <a:off x="7821120" y="5760720"/>
            <a:ext cx="9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185</a:t>
            </a:r>
            <a:endParaRPr lang="en-US" sz="850" dirty="0"/>
          </a:p>
        </p:txBody>
      </p:sp>
      <p:sp>
        <p:nvSpPr>
          <p:cNvPr id="247" name="Text 245"/>
          <p:cNvSpPr/>
          <p:nvPr/>
        </p:nvSpPr>
        <p:spPr>
          <a:xfrm>
            <a:off x="8767780" y="5760720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24</a:t>
            </a:r>
            <a:endParaRPr lang="en-US" sz="850" dirty="0"/>
          </a:p>
        </p:txBody>
      </p:sp>
      <p:sp>
        <p:nvSpPr>
          <p:cNvPr id="248" name="Text 246"/>
          <p:cNvSpPr/>
          <p:nvPr/>
        </p:nvSpPr>
        <p:spPr>
          <a:xfrm>
            <a:off x="9601600" y="5760720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59</a:t>
            </a:r>
            <a:endParaRPr lang="en-US" sz="850" dirty="0"/>
          </a:p>
        </p:txBody>
      </p:sp>
      <p:sp>
        <p:nvSpPr>
          <p:cNvPr id="714" name="Text 712"/>
          <p:cNvSpPr/>
          <p:nvPr/>
        </p:nvSpPr>
        <p:spPr>
          <a:xfrm>
            <a:off x="10516700" y="5760720"/>
            <a:ext cx="66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</a:t>
            </a:r>
            <a:endParaRPr lang="en-US" sz="850" dirty="0"/>
          </a:p>
        </p:txBody>
      </p:sp>
      <p:sp>
        <p:nvSpPr>
          <p:cNvPr id="715" name="Text 713"/>
          <p:cNvSpPr/>
          <p:nvPr/>
        </p:nvSpPr>
        <p:spPr>
          <a:xfrm>
            <a:off x="11431170" y="5760720"/>
            <a:ext cx="355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76</a:t>
            </a:r>
            <a:endParaRPr lang="en-US" sz="850" dirty="0"/>
          </a:p>
        </p:txBody>
      </p:sp>
      <p:sp>
        <p:nvSpPr>
          <p:cNvPr id="718" name="Text 716"/>
          <p:cNvSpPr/>
          <p:nvPr/>
        </p:nvSpPr>
        <p:spPr>
          <a:xfrm>
            <a:off x="6327775" y="6060440"/>
            <a:ext cx="14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IFA业务</a:t>
            </a:r>
            <a:endParaRPr lang="en-US" sz="800" dirty="0"/>
          </a:p>
        </p:txBody>
      </p:sp>
      <p:sp>
        <p:nvSpPr>
          <p:cNvPr id="719" name="Text 717"/>
          <p:cNvSpPr/>
          <p:nvPr/>
        </p:nvSpPr>
        <p:spPr>
          <a:xfrm>
            <a:off x="7130480" y="6060440"/>
            <a:ext cx="6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</a:t>
            </a:r>
            <a:endParaRPr lang="en-US" sz="850" dirty="0"/>
          </a:p>
        </p:txBody>
      </p:sp>
      <p:sp>
        <p:nvSpPr>
          <p:cNvPr id="720" name="Text 718"/>
          <p:cNvSpPr/>
          <p:nvPr/>
        </p:nvSpPr>
        <p:spPr>
          <a:xfrm>
            <a:off x="7841440" y="6060440"/>
            <a:ext cx="9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</a:t>
            </a:r>
            <a:endParaRPr lang="en-US" sz="850" dirty="0"/>
          </a:p>
        </p:txBody>
      </p:sp>
      <p:sp>
        <p:nvSpPr>
          <p:cNvPr id="721" name="Text 719"/>
          <p:cNvSpPr/>
          <p:nvPr/>
        </p:nvSpPr>
        <p:spPr>
          <a:xfrm>
            <a:off x="8788100" y="6060440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</a:t>
            </a:r>
            <a:endParaRPr lang="en-US" sz="850" dirty="0"/>
          </a:p>
        </p:txBody>
      </p:sp>
      <p:sp>
        <p:nvSpPr>
          <p:cNvPr id="722" name="Text 720"/>
          <p:cNvSpPr/>
          <p:nvPr/>
        </p:nvSpPr>
        <p:spPr>
          <a:xfrm>
            <a:off x="9621920" y="6060440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</a:t>
            </a:r>
            <a:endParaRPr lang="en-US" sz="850" dirty="0"/>
          </a:p>
        </p:txBody>
      </p:sp>
      <p:sp>
        <p:nvSpPr>
          <p:cNvPr id="723" name="Text 721"/>
          <p:cNvSpPr/>
          <p:nvPr/>
        </p:nvSpPr>
        <p:spPr>
          <a:xfrm>
            <a:off x="10537020" y="6060440"/>
            <a:ext cx="66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</a:t>
            </a:r>
            <a:endParaRPr lang="en-US" sz="850" dirty="0"/>
          </a:p>
        </p:txBody>
      </p:sp>
      <p:sp>
        <p:nvSpPr>
          <p:cNvPr id="724" name="Text 722"/>
          <p:cNvSpPr/>
          <p:nvPr/>
        </p:nvSpPr>
        <p:spPr>
          <a:xfrm>
            <a:off x="11487050" y="6060440"/>
            <a:ext cx="355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</a:t>
            </a:r>
            <a:endParaRPr lang="en-US" sz="850" dirty="0"/>
          </a:p>
        </p:txBody>
      </p:sp>
      <p:sp>
        <p:nvSpPr>
          <p:cNvPr id="727" name="Text 725"/>
          <p:cNvSpPr/>
          <p:nvPr/>
        </p:nvSpPr>
        <p:spPr>
          <a:xfrm>
            <a:off x="6327775" y="6360160"/>
            <a:ext cx="14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</a:t>
            </a:r>
            <a:endParaRPr lang="en-US" sz="800" dirty="0"/>
          </a:p>
        </p:txBody>
      </p:sp>
      <p:sp>
        <p:nvSpPr>
          <p:cNvPr id="728" name="Text 726"/>
          <p:cNvSpPr/>
          <p:nvPr/>
        </p:nvSpPr>
        <p:spPr>
          <a:xfrm>
            <a:off x="7110160" y="6360160"/>
            <a:ext cx="6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1157</a:t>
            </a:r>
            <a:endParaRPr lang="en-US" sz="850" dirty="0"/>
          </a:p>
        </p:txBody>
      </p:sp>
      <p:sp>
        <p:nvSpPr>
          <p:cNvPr id="729" name="Text 727"/>
          <p:cNvSpPr/>
          <p:nvPr/>
        </p:nvSpPr>
        <p:spPr>
          <a:xfrm>
            <a:off x="7821120" y="6360160"/>
            <a:ext cx="9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52</a:t>
            </a:r>
            <a:endParaRPr lang="en-US" sz="850" dirty="0"/>
          </a:p>
        </p:txBody>
      </p:sp>
      <p:sp>
        <p:nvSpPr>
          <p:cNvPr id="730" name="Text 728"/>
          <p:cNvSpPr/>
          <p:nvPr/>
        </p:nvSpPr>
        <p:spPr>
          <a:xfrm>
            <a:off x="8767780" y="6360160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30</a:t>
            </a:r>
            <a:endParaRPr lang="en-US" sz="850" dirty="0"/>
          </a:p>
        </p:txBody>
      </p:sp>
      <p:sp>
        <p:nvSpPr>
          <p:cNvPr id="731" name="Text 729"/>
          <p:cNvSpPr/>
          <p:nvPr/>
        </p:nvSpPr>
        <p:spPr>
          <a:xfrm>
            <a:off x="9601600" y="6360160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72</a:t>
            </a:r>
            <a:endParaRPr lang="en-US" sz="850" dirty="0"/>
          </a:p>
        </p:txBody>
      </p:sp>
      <p:sp>
        <p:nvSpPr>
          <p:cNvPr id="732" name="Text 730"/>
          <p:cNvSpPr/>
          <p:nvPr/>
        </p:nvSpPr>
        <p:spPr>
          <a:xfrm>
            <a:off x="10516700" y="6360160"/>
            <a:ext cx="66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</a:t>
            </a:r>
            <a:endParaRPr lang="en-US" sz="850" dirty="0"/>
          </a:p>
        </p:txBody>
      </p:sp>
      <p:sp>
        <p:nvSpPr>
          <p:cNvPr id="733" name="Text 731"/>
          <p:cNvSpPr/>
          <p:nvPr/>
        </p:nvSpPr>
        <p:spPr>
          <a:xfrm>
            <a:off x="11431170" y="6360160"/>
            <a:ext cx="355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244</a:t>
            </a:r>
            <a:endParaRPr lang="en-US" sz="850" dirty="0"/>
          </a:p>
        </p:txBody>
      </p:sp>
      <p:sp>
        <p:nvSpPr>
          <p:cNvPr id="250" name="Shape 247"/>
          <p:cNvSpPr/>
          <p:nvPr/>
        </p:nvSpPr>
        <p:spPr>
          <a:xfrm>
            <a:off x="6163056" y="6254496"/>
            <a:ext cx="5888736" cy="402336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251" name="Shape 248"/>
          <p:cNvSpPr/>
          <p:nvPr/>
        </p:nvSpPr>
        <p:spPr>
          <a:xfrm>
            <a:off x="6163056" y="6254496"/>
            <a:ext cx="5888736" cy="27432"/>
          </a:xfrm>
          <a:prstGeom prst="rect">
            <a:avLst/>
          </a:prstGeom>
          <a:solidFill>
            <a:srgbClr val="4A235A"/>
          </a:solidFill>
          <a:ln w="12700">
            <a:solidFill>
              <a:srgbClr val="4A235A"/>
            </a:solidFill>
            <a:prstDash val="solid"/>
          </a:ln>
        </p:spPr>
        <p:txBody>
          <a:bodyPr/>
          <a:p/>
        </p:txBody>
      </p:sp>
      <p:sp>
        <p:nvSpPr>
          <p:cNvPr id="252" name="Text 249"/>
          <p:cNvSpPr/>
          <p:nvPr/>
        </p:nvSpPr>
        <p:spPr>
          <a:xfrm>
            <a:off x="6254496" y="6291072"/>
            <a:ext cx="5724144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4A235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253" name="Text 250"/>
          <p:cNvSpPr/>
          <p:nvPr/>
        </p:nvSpPr>
        <p:spPr>
          <a:xfrm>
            <a:off x="6254496" y="6409944"/>
            <a:ext cx="5724144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BK业务件均 APE 最高（116万）且平均时效 71.8 天（P90=145 天），是唯一超 SLA=60 天渠道，大额件审核慢是主要风险。MGA业务均值 18.3 天效率最优。整体均值 30 天，P90=72 天。BK业务 平均时效超 60 天 SLA。</a:t>
            </a:r>
            <a:endParaRPr lang="en-US" sz="550" dirty="0"/>
          </a:p>
        </p:txBody>
      </p:sp>
      <p:sp>
        <p:nvSpPr>
          <p:cNvPr id="258" name="Shape 254"/>
          <p:cNvSpPr/>
          <p:nvPr/>
        </p:nvSpPr>
        <p:spPr>
          <a:xfrm>
            <a:off x="91440" y="3196971"/>
            <a:ext cx="5943600" cy="402336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259" name="Shape 255"/>
          <p:cNvSpPr/>
          <p:nvPr/>
        </p:nvSpPr>
        <p:spPr>
          <a:xfrm>
            <a:off x="73660" y="3161411"/>
            <a:ext cx="5943600" cy="27432"/>
          </a:xfrm>
          <a:prstGeom prst="rect">
            <a:avLst/>
          </a:prstGeom>
          <a:solidFill>
            <a:srgbClr val="7B241C"/>
          </a:solidFill>
          <a:ln w="12700">
            <a:solidFill>
              <a:srgbClr val="7B241C"/>
            </a:solidFill>
            <a:prstDash val="solid"/>
          </a:ln>
        </p:spPr>
        <p:txBody>
          <a:bodyPr/>
          <a:p/>
        </p:txBody>
      </p:sp>
      <p:sp>
        <p:nvSpPr>
          <p:cNvPr id="260" name="Text 256"/>
          <p:cNvSpPr/>
          <p:nvPr/>
        </p:nvSpPr>
        <p:spPr>
          <a:xfrm>
            <a:off x="165100" y="3197987"/>
            <a:ext cx="5779008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7B241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8" name="Text 257"/>
          <p:cNvSpPr/>
          <p:nvPr/>
        </p:nvSpPr>
        <p:spPr>
          <a:xfrm>
            <a:off x="165100" y="3316859"/>
            <a:ext cx="5779008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预约总量 388.3M/948件。永明经代领跑，累计 125.3M/355件，占比 32%。W05 单周峰值 28.2M/32件，是本季度最高单周贡献。</a:t>
            </a:r>
            <a:endParaRPr lang="en-US" sz="550" dirty="0"/>
          </a:p>
        </p:txBody>
      </p:sp>
      <p:sp>
        <p:nvSpPr>
          <p:cNvPr id="470" name="Shape 448"/>
          <p:cNvSpPr/>
          <p:nvPr/>
        </p:nvSpPr>
        <p:spPr>
          <a:xfrm>
            <a:off x="6144006" y="3188716"/>
            <a:ext cx="5888736" cy="402336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472" name="Text 450"/>
          <p:cNvSpPr/>
          <p:nvPr/>
        </p:nvSpPr>
        <p:spPr>
          <a:xfrm>
            <a:off x="6236716" y="3197987"/>
            <a:ext cx="5724144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7B241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9" name="Text 451"/>
          <p:cNvSpPr/>
          <p:nvPr/>
        </p:nvSpPr>
        <p:spPr>
          <a:xfrm>
            <a:off x="6236716" y="3316859"/>
            <a:ext cx="5724144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签单总量 382.5M/932件。永明经代领跑，累计 122.5M/349件，占比 32%。W05 单周峰值 31.3M/36件，是本季度最高单周贡献。</a:t>
            </a:r>
            <a:endParaRPr lang="en-US" sz="550" dirty="0"/>
          </a:p>
        </p:txBody>
      </p:sp>
      <p:sp>
        <p:nvSpPr>
          <p:cNvPr id="187" name="Shape 185"/>
          <p:cNvSpPr/>
          <p:nvPr/>
        </p:nvSpPr>
        <p:spPr>
          <a:xfrm>
            <a:off x="91440" y="6254496"/>
            <a:ext cx="5943600" cy="402336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188" name="Shape 186"/>
          <p:cNvSpPr/>
          <p:nvPr/>
        </p:nvSpPr>
        <p:spPr>
          <a:xfrm>
            <a:off x="91440" y="6254496"/>
            <a:ext cx="5943600" cy="27432"/>
          </a:xfrm>
          <a:prstGeom prst="rect">
            <a:avLst/>
          </a:prstGeom>
          <a:solidFill>
            <a:srgbClr val="1A6B3A"/>
          </a:solidFill>
          <a:ln w="12700">
            <a:solidFill>
              <a:srgbClr val="1A6B3A"/>
            </a:solidFill>
            <a:prstDash val="solid"/>
          </a:ln>
        </p:spPr>
        <p:txBody>
          <a:bodyPr/>
          <a:p/>
        </p:txBody>
      </p:sp>
      <p:sp>
        <p:nvSpPr>
          <p:cNvPr id="189" name="Text 187"/>
          <p:cNvSpPr/>
          <p:nvPr/>
        </p:nvSpPr>
        <p:spPr>
          <a:xfrm>
            <a:off x="182880" y="6291072"/>
            <a:ext cx="5779008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1A6B3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10" name="Text 188"/>
          <p:cNvSpPr/>
          <p:nvPr/>
        </p:nvSpPr>
        <p:spPr>
          <a:xfrm>
            <a:off x="182880" y="6409944"/>
            <a:ext cx="5779008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批核总量 582.7M/1076件。BK业务领跑，累计 224.5M/195件，占比 39%。W08 单周峰值 67.0M/61件，是本季度最高单周贡献。</a:t>
            </a:r>
            <a:endParaRPr lang="en-US" sz="550" dirty="0"/>
          </a:p>
        </p:txBody>
      </p:sp>
      <p:sp>
        <p:nvSpPr>
          <p:cNvPr id="611" name="T6002"/>
          <p:cNvSpPr/>
          <p:nvPr/>
        </p:nvSpPr>
        <p:spPr>
          <a:xfrm>
            <a:off x="1439384" y="3968496"/>
            <a:ext cx="390000" cy="155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6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W03</a:t>
            </a:r>
            <a:endParaRPr lang="zh-CN" sz="600" dirty="0"/>
          </a:p>
        </p:txBody>
      </p:sp>
      <p:sp>
        <p:nvSpPr>
          <p:cNvPr id="905" name="T6262"/>
          <p:cNvSpPr/>
          <p:nvPr/>
        </p:nvSpPr>
        <p:spPr>
          <a:xfrm>
            <a:off x="5729384" y="6065376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29件</a:t>
            </a:r>
            <a:endParaRPr lang="zh-CN" sz="500" dirty="0"/>
          </a:p>
        </p:txBody>
      </p:sp>
      <p:sp>
        <p:nvSpPr>
          <p:cNvPr id="906" name="Rectangle 905"/>
          <p:cNvSpPr/>
          <p:nvPr/>
        </p:nvSpPr>
        <p:spPr>
          <a:xfrm>
            <a:off x="182880" y="560000"/>
            <a:ext cx="5888736" cy="256032"/>
          </a:xfrm>
          <a:prstGeom prst="rect">
            <a:avLst/>
          </a:prstGeom>
          <a:solidFill>
            <a:srgbClr val="7E1F1F"/>
          </a:solidFill>
          <a:ln w="3175">
            <a:solidFill>
              <a:srgbClr val="7E1F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7" name="TextBox 906"/>
          <p:cNvSpPr txBox="1"/>
          <p:nvPr/>
        </p:nvSpPr>
        <p:spPr>
          <a:xfrm>
            <a:off x="262880" y="560000"/>
            <a:ext cx="5888736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Q  周度预约业绩热力矩阵（APE in M）</a:t>
            </a:r>
          </a:p>
        </p:txBody>
      </p:sp>
      <p:sp>
        <p:nvSpPr>
          <p:cNvPr id="908" name="TextBox 907"/>
          <p:cNvSpPr txBox="1"/>
          <p:nvPr/>
        </p:nvSpPr>
        <p:spPr>
          <a:xfrm>
            <a:off x="862880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W14</a:t>
            </a:r>
          </a:p>
        </p:txBody>
      </p:sp>
      <p:sp>
        <p:nvSpPr>
          <p:cNvPr id="909" name="TextBox 908"/>
          <p:cNvSpPr txBox="1"/>
          <p:nvPr/>
        </p:nvSpPr>
        <p:spPr>
          <a:xfrm>
            <a:off x="1210129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W15</a:t>
            </a:r>
          </a:p>
        </p:txBody>
      </p:sp>
      <p:sp>
        <p:nvSpPr>
          <p:cNvPr id="910" name="TextBox 909"/>
          <p:cNvSpPr txBox="1"/>
          <p:nvPr/>
        </p:nvSpPr>
        <p:spPr>
          <a:xfrm>
            <a:off x="1557378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W16</a:t>
            </a:r>
          </a:p>
        </p:txBody>
      </p:sp>
      <p:sp>
        <p:nvSpPr>
          <p:cNvPr id="911" name="TextBox 910"/>
          <p:cNvSpPr txBox="1"/>
          <p:nvPr/>
        </p:nvSpPr>
        <p:spPr>
          <a:xfrm>
            <a:off x="1904627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W17</a:t>
            </a:r>
          </a:p>
        </p:txBody>
      </p:sp>
      <p:sp>
        <p:nvSpPr>
          <p:cNvPr id="912" name="TextBox 911"/>
          <p:cNvSpPr txBox="1"/>
          <p:nvPr/>
        </p:nvSpPr>
        <p:spPr>
          <a:xfrm>
            <a:off x="2251876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W18</a:t>
            </a:r>
          </a:p>
        </p:txBody>
      </p:sp>
      <p:sp>
        <p:nvSpPr>
          <p:cNvPr id="913" name="TextBox 912"/>
          <p:cNvSpPr txBox="1"/>
          <p:nvPr/>
        </p:nvSpPr>
        <p:spPr>
          <a:xfrm>
            <a:off x="2599125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W19</a:t>
            </a:r>
          </a:p>
        </p:txBody>
      </p:sp>
      <p:sp>
        <p:nvSpPr>
          <p:cNvPr id="914" name="TextBox 913"/>
          <p:cNvSpPr txBox="1"/>
          <p:nvPr/>
        </p:nvSpPr>
        <p:spPr>
          <a:xfrm>
            <a:off x="2946374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W20</a:t>
            </a:r>
          </a:p>
        </p:txBody>
      </p:sp>
      <p:sp>
        <p:nvSpPr>
          <p:cNvPr id="915" name="TextBox 914"/>
          <p:cNvSpPr txBox="1"/>
          <p:nvPr/>
        </p:nvSpPr>
        <p:spPr>
          <a:xfrm>
            <a:off x="3293623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W21</a:t>
            </a:r>
          </a:p>
        </p:txBody>
      </p:sp>
      <p:sp>
        <p:nvSpPr>
          <p:cNvPr id="916" name="TextBox 915"/>
          <p:cNvSpPr txBox="1"/>
          <p:nvPr/>
        </p:nvSpPr>
        <p:spPr>
          <a:xfrm>
            <a:off x="3640872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W22</a:t>
            </a:r>
          </a:p>
        </p:txBody>
      </p:sp>
      <p:sp>
        <p:nvSpPr>
          <p:cNvPr id="917" name="TextBox 916"/>
          <p:cNvSpPr txBox="1"/>
          <p:nvPr/>
        </p:nvSpPr>
        <p:spPr>
          <a:xfrm>
            <a:off x="3988121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W23</a:t>
            </a:r>
          </a:p>
        </p:txBody>
      </p:sp>
      <p:sp>
        <p:nvSpPr>
          <p:cNvPr id="918" name="TextBox 917"/>
          <p:cNvSpPr txBox="1"/>
          <p:nvPr/>
        </p:nvSpPr>
        <p:spPr>
          <a:xfrm>
            <a:off x="4335370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W24</a:t>
            </a:r>
          </a:p>
        </p:txBody>
      </p:sp>
      <p:sp>
        <p:nvSpPr>
          <p:cNvPr id="919" name="TextBox 918"/>
          <p:cNvSpPr txBox="1"/>
          <p:nvPr/>
        </p:nvSpPr>
        <p:spPr>
          <a:xfrm>
            <a:off x="4682619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W25</a:t>
            </a:r>
          </a:p>
        </p:txBody>
      </p:sp>
      <p:sp>
        <p:nvSpPr>
          <p:cNvPr id="920" name="TextBox 919"/>
          <p:cNvSpPr txBox="1"/>
          <p:nvPr/>
        </p:nvSpPr>
        <p:spPr>
          <a:xfrm>
            <a:off x="5029868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W26</a:t>
            </a:r>
          </a:p>
        </p:txBody>
      </p:sp>
      <p:sp>
        <p:nvSpPr>
          <p:cNvPr id="921" name="TextBox 920"/>
          <p:cNvSpPr txBox="1"/>
          <p:nvPr/>
        </p:nvSpPr>
        <p:spPr>
          <a:xfrm>
            <a:off x="5377117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666666"/>
                </a:solidFill>
                <a:latin typeface="Calibri"/>
              </a:rPr>
              <a:t>W27</a:t>
            </a:r>
          </a:p>
        </p:txBody>
      </p:sp>
      <p:sp>
        <p:nvSpPr>
          <p:cNvPr id="922" name="TextBox 921"/>
          <p:cNvSpPr txBox="1"/>
          <p:nvPr/>
        </p:nvSpPr>
        <p:spPr>
          <a:xfrm>
            <a:off x="5724366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666666"/>
                </a:solidFill>
                <a:latin typeface="Calibri"/>
              </a:rPr>
              <a:t>W28</a:t>
            </a:r>
          </a:p>
        </p:txBody>
      </p:sp>
      <p:sp>
        <p:nvSpPr>
          <p:cNvPr id="923" name="TextBox 922"/>
          <p:cNvSpPr txBox="1"/>
          <p:nvPr/>
        </p:nvSpPr>
        <p:spPr>
          <a:xfrm>
            <a:off x="202880" y="1016032"/>
            <a:ext cx="650000" cy="2629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天领业务</a:t>
            </a:r>
          </a:p>
        </p:txBody>
      </p:sp>
      <p:sp>
        <p:nvSpPr>
          <p:cNvPr id="924" name="Rectangle 923"/>
          <p:cNvSpPr/>
          <p:nvPr/>
        </p:nvSpPr>
        <p:spPr>
          <a:xfrm>
            <a:off x="1216129" y="1022032"/>
            <a:ext cx="335249" cy="250996"/>
          </a:xfrm>
          <a:prstGeom prst="rect">
            <a:avLst/>
          </a:prstGeom>
          <a:solidFill>
            <a:srgbClr val="2980B9">
              <a:alpha val="5123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5" name="TextBox 924"/>
          <p:cNvSpPr txBox="1"/>
          <p:nvPr/>
        </p:nvSpPr>
        <p:spPr>
          <a:xfrm>
            <a:off x="1210129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3.2M</a:t>
            </a:r>
          </a:p>
        </p:txBody>
      </p:sp>
      <p:sp>
        <p:nvSpPr>
          <p:cNvPr id="926" name="TextBox 925"/>
          <p:cNvSpPr txBox="1"/>
          <p:nvPr/>
        </p:nvSpPr>
        <p:spPr>
          <a:xfrm>
            <a:off x="1210129" y="11540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12件</a:t>
            </a:r>
          </a:p>
        </p:txBody>
      </p:sp>
      <p:sp>
        <p:nvSpPr>
          <p:cNvPr id="927" name="Rectangle 926"/>
          <p:cNvSpPr/>
          <p:nvPr/>
        </p:nvSpPr>
        <p:spPr>
          <a:xfrm>
            <a:off x="1563378" y="1022032"/>
            <a:ext cx="335249" cy="250996"/>
          </a:xfrm>
          <a:prstGeom prst="rect">
            <a:avLst/>
          </a:prstGeom>
          <a:solidFill>
            <a:srgbClr val="2980B9">
              <a:alpha val="6088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8" name="TextBox 927"/>
          <p:cNvSpPr txBox="1"/>
          <p:nvPr/>
        </p:nvSpPr>
        <p:spPr>
          <a:xfrm>
            <a:off x="1557378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4.4M</a:t>
            </a:r>
          </a:p>
        </p:txBody>
      </p:sp>
      <p:sp>
        <p:nvSpPr>
          <p:cNvPr id="929" name="TextBox 928"/>
          <p:cNvSpPr txBox="1"/>
          <p:nvPr/>
        </p:nvSpPr>
        <p:spPr>
          <a:xfrm>
            <a:off x="1557378" y="11540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10件</a:t>
            </a:r>
          </a:p>
        </p:txBody>
      </p:sp>
      <p:sp>
        <p:nvSpPr>
          <p:cNvPr id="930" name="Rectangle 929"/>
          <p:cNvSpPr/>
          <p:nvPr/>
        </p:nvSpPr>
        <p:spPr>
          <a:xfrm>
            <a:off x="1910627" y="1022032"/>
            <a:ext cx="335249" cy="250996"/>
          </a:xfrm>
          <a:prstGeom prst="rect">
            <a:avLst/>
          </a:prstGeom>
          <a:solidFill>
            <a:srgbClr val="2980B9">
              <a:alpha val="3071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1" name="TextBox 930"/>
          <p:cNvSpPr txBox="1"/>
          <p:nvPr/>
        </p:nvSpPr>
        <p:spPr>
          <a:xfrm>
            <a:off x="1904627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0.7M</a:t>
            </a:r>
          </a:p>
        </p:txBody>
      </p:sp>
      <p:sp>
        <p:nvSpPr>
          <p:cNvPr id="932" name="TextBox 931"/>
          <p:cNvSpPr txBox="1"/>
          <p:nvPr/>
        </p:nvSpPr>
        <p:spPr>
          <a:xfrm>
            <a:off x="1904627" y="11540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5件</a:t>
            </a:r>
          </a:p>
        </p:txBody>
      </p:sp>
      <p:sp>
        <p:nvSpPr>
          <p:cNvPr id="933" name="Rectangle 932"/>
          <p:cNvSpPr/>
          <p:nvPr/>
        </p:nvSpPr>
        <p:spPr>
          <a:xfrm>
            <a:off x="2257876" y="1022032"/>
            <a:ext cx="335249" cy="250996"/>
          </a:xfrm>
          <a:prstGeom prst="rect">
            <a:avLst/>
          </a:prstGeom>
          <a:solidFill>
            <a:srgbClr val="2980B9">
              <a:alpha val="3721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4" name="TextBox 933"/>
          <p:cNvSpPr txBox="1"/>
          <p:nvPr/>
        </p:nvSpPr>
        <p:spPr>
          <a:xfrm>
            <a:off x="2251876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1.5M</a:t>
            </a:r>
          </a:p>
        </p:txBody>
      </p:sp>
      <p:sp>
        <p:nvSpPr>
          <p:cNvPr id="935" name="TextBox 934"/>
          <p:cNvSpPr txBox="1"/>
          <p:nvPr/>
        </p:nvSpPr>
        <p:spPr>
          <a:xfrm>
            <a:off x="2251876" y="11540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19件</a:t>
            </a:r>
          </a:p>
        </p:txBody>
      </p:sp>
      <p:sp>
        <p:nvSpPr>
          <p:cNvPr id="936" name="Rectangle 935"/>
          <p:cNvSpPr/>
          <p:nvPr/>
        </p:nvSpPr>
        <p:spPr>
          <a:xfrm>
            <a:off x="2605125" y="1022032"/>
            <a:ext cx="335249" cy="250996"/>
          </a:xfrm>
          <a:prstGeom prst="rect">
            <a:avLst/>
          </a:prstGeom>
          <a:solidFill>
            <a:srgbClr val="2980B9">
              <a:alpha val="8306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7" name="TextBox 936"/>
          <p:cNvSpPr txBox="1"/>
          <p:nvPr/>
        </p:nvSpPr>
        <p:spPr>
          <a:xfrm>
            <a:off x="2599125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7.0M</a:t>
            </a:r>
          </a:p>
        </p:txBody>
      </p:sp>
      <p:sp>
        <p:nvSpPr>
          <p:cNvPr id="938" name="TextBox 937"/>
          <p:cNvSpPr txBox="1"/>
          <p:nvPr/>
        </p:nvSpPr>
        <p:spPr>
          <a:xfrm>
            <a:off x="2599125" y="11540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14件</a:t>
            </a:r>
          </a:p>
        </p:txBody>
      </p:sp>
      <p:sp>
        <p:nvSpPr>
          <p:cNvPr id="939" name="Rectangle 938"/>
          <p:cNvSpPr/>
          <p:nvPr/>
        </p:nvSpPr>
        <p:spPr>
          <a:xfrm>
            <a:off x="2952374" y="1022032"/>
            <a:ext cx="335249" cy="250996"/>
          </a:xfrm>
          <a:prstGeom prst="rect">
            <a:avLst/>
          </a:prstGeom>
          <a:solidFill>
            <a:srgbClr val="2980B9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0" name="TextBox 939"/>
          <p:cNvSpPr txBox="1"/>
          <p:nvPr/>
        </p:nvSpPr>
        <p:spPr>
          <a:xfrm>
            <a:off x="2946374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9.1M</a:t>
            </a:r>
          </a:p>
        </p:txBody>
      </p:sp>
      <p:sp>
        <p:nvSpPr>
          <p:cNvPr id="941" name="TextBox 940"/>
          <p:cNvSpPr txBox="1"/>
          <p:nvPr/>
        </p:nvSpPr>
        <p:spPr>
          <a:xfrm>
            <a:off x="2946374" y="11540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9件</a:t>
            </a:r>
          </a:p>
        </p:txBody>
      </p:sp>
      <p:sp>
        <p:nvSpPr>
          <p:cNvPr id="942" name="Rectangle 941"/>
          <p:cNvSpPr/>
          <p:nvPr/>
        </p:nvSpPr>
        <p:spPr>
          <a:xfrm>
            <a:off x="3299623" y="1022032"/>
            <a:ext cx="335249" cy="250996"/>
          </a:xfrm>
          <a:prstGeom prst="rect">
            <a:avLst/>
          </a:prstGeom>
          <a:solidFill>
            <a:srgbClr val="2980B9">
              <a:alpha val="4614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3" name="TextBox 942"/>
          <p:cNvSpPr txBox="1"/>
          <p:nvPr/>
        </p:nvSpPr>
        <p:spPr>
          <a:xfrm>
            <a:off x="3293623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2.6M</a:t>
            </a:r>
          </a:p>
        </p:txBody>
      </p:sp>
      <p:sp>
        <p:nvSpPr>
          <p:cNvPr id="944" name="TextBox 943"/>
          <p:cNvSpPr txBox="1"/>
          <p:nvPr/>
        </p:nvSpPr>
        <p:spPr>
          <a:xfrm>
            <a:off x="3293623" y="11540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12件</a:t>
            </a:r>
          </a:p>
        </p:txBody>
      </p:sp>
      <p:sp>
        <p:nvSpPr>
          <p:cNvPr id="945" name="Rectangle 944"/>
          <p:cNvSpPr/>
          <p:nvPr/>
        </p:nvSpPr>
        <p:spPr>
          <a:xfrm>
            <a:off x="3646872" y="1022032"/>
            <a:ext cx="335249" cy="250996"/>
          </a:xfrm>
          <a:prstGeom prst="rect">
            <a:avLst/>
          </a:prstGeom>
          <a:solidFill>
            <a:srgbClr val="2980B9">
              <a:alpha val="3553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6" name="TextBox 945"/>
          <p:cNvSpPr txBox="1"/>
          <p:nvPr/>
        </p:nvSpPr>
        <p:spPr>
          <a:xfrm>
            <a:off x="3640872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1.3M</a:t>
            </a:r>
          </a:p>
        </p:txBody>
      </p:sp>
      <p:sp>
        <p:nvSpPr>
          <p:cNvPr id="947" name="TextBox 946"/>
          <p:cNvSpPr txBox="1"/>
          <p:nvPr/>
        </p:nvSpPr>
        <p:spPr>
          <a:xfrm>
            <a:off x="3640872" y="11540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7件</a:t>
            </a:r>
          </a:p>
        </p:txBody>
      </p:sp>
      <p:sp>
        <p:nvSpPr>
          <p:cNvPr id="948" name="Rectangle 947"/>
          <p:cNvSpPr/>
          <p:nvPr/>
        </p:nvSpPr>
        <p:spPr>
          <a:xfrm>
            <a:off x="3994121" y="1022032"/>
            <a:ext cx="335249" cy="250996"/>
          </a:xfrm>
          <a:prstGeom prst="rect">
            <a:avLst/>
          </a:prstGeom>
          <a:solidFill>
            <a:srgbClr val="2980B9">
              <a:alpha val="3464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9" name="TextBox 948"/>
          <p:cNvSpPr txBox="1"/>
          <p:nvPr/>
        </p:nvSpPr>
        <p:spPr>
          <a:xfrm>
            <a:off x="3988121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1.2M</a:t>
            </a:r>
          </a:p>
        </p:txBody>
      </p:sp>
      <p:sp>
        <p:nvSpPr>
          <p:cNvPr id="950" name="TextBox 949"/>
          <p:cNvSpPr txBox="1"/>
          <p:nvPr/>
        </p:nvSpPr>
        <p:spPr>
          <a:xfrm>
            <a:off x="3988121" y="11540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4件</a:t>
            </a:r>
          </a:p>
        </p:txBody>
      </p:sp>
      <p:sp>
        <p:nvSpPr>
          <p:cNvPr id="951" name="Rectangle 950"/>
          <p:cNvSpPr/>
          <p:nvPr/>
        </p:nvSpPr>
        <p:spPr>
          <a:xfrm>
            <a:off x="4341370" y="1022032"/>
            <a:ext cx="335249" cy="250996"/>
          </a:xfrm>
          <a:prstGeom prst="rect">
            <a:avLst/>
          </a:prstGeom>
          <a:solidFill>
            <a:srgbClr val="2980B9">
              <a:alpha val="3110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2" name="TextBox 951"/>
          <p:cNvSpPr txBox="1"/>
          <p:nvPr/>
        </p:nvSpPr>
        <p:spPr>
          <a:xfrm>
            <a:off x="4335370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0.7M</a:t>
            </a:r>
          </a:p>
        </p:txBody>
      </p:sp>
      <p:sp>
        <p:nvSpPr>
          <p:cNvPr id="953" name="TextBox 952"/>
          <p:cNvSpPr txBox="1"/>
          <p:nvPr/>
        </p:nvSpPr>
        <p:spPr>
          <a:xfrm>
            <a:off x="4335370" y="11540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3件</a:t>
            </a:r>
          </a:p>
        </p:txBody>
      </p:sp>
      <p:sp>
        <p:nvSpPr>
          <p:cNvPr id="954" name="Rectangle 953"/>
          <p:cNvSpPr/>
          <p:nvPr/>
        </p:nvSpPr>
        <p:spPr>
          <a:xfrm>
            <a:off x="4688619" y="1022032"/>
            <a:ext cx="335249" cy="250996"/>
          </a:xfrm>
          <a:prstGeom prst="rect">
            <a:avLst/>
          </a:prstGeom>
          <a:solidFill>
            <a:srgbClr val="2980B9">
              <a:alpha val="5186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5" name="TextBox 954"/>
          <p:cNvSpPr txBox="1"/>
          <p:nvPr/>
        </p:nvSpPr>
        <p:spPr>
          <a:xfrm>
            <a:off x="4682619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3.3M</a:t>
            </a:r>
          </a:p>
        </p:txBody>
      </p:sp>
      <p:sp>
        <p:nvSpPr>
          <p:cNvPr id="956" name="TextBox 955"/>
          <p:cNvSpPr txBox="1"/>
          <p:nvPr/>
        </p:nvSpPr>
        <p:spPr>
          <a:xfrm>
            <a:off x="4682619" y="11540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9件</a:t>
            </a:r>
          </a:p>
        </p:txBody>
      </p:sp>
      <p:sp>
        <p:nvSpPr>
          <p:cNvPr id="957" name="Rectangle 956"/>
          <p:cNvSpPr/>
          <p:nvPr/>
        </p:nvSpPr>
        <p:spPr>
          <a:xfrm>
            <a:off x="5035868" y="1022032"/>
            <a:ext cx="335249" cy="250996"/>
          </a:xfrm>
          <a:prstGeom prst="rect">
            <a:avLst/>
          </a:prstGeom>
          <a:solidFill>
            <a:srgbClr val="2980B9">
              <a:alpha val="3132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8" name="TextBox 957"/>
          <p:cNvSpPr txBox="1"/>
          <p:nvPr/>
        </p:nvSpPr>
        <p:spPr>
          <a:xfrm>
            <a:off x="5029868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0.8M</a:t>
            </a:r>
          </a:p>
        </p:txBody>
      </p:sp>
      <p:sp>
        <p:nvSpPr>
          <p:cNvPr id="959" name="TextBox 958"/>
          <p:cNvSpPr txBox="1"/>
          <p:nvPr/>
        </p:nvSpPr>
        <p:spPr>
          <a:xfrm>
            <a:off x="5029868" y="11540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7件</a:t>
            </a:r>
          </a:p>
        </p:txBody>
      </p:sp>
      <p:sp>
        <p:nvSpPr>
          <p:cNvPr id="960" name="Rectangle 959"/>
          <p:cNvSpPr/>
          <p:nvPr/>
        </p:nvSpPr>
        <p:spPr>
          <a:xfrm>
            <a:off x="5383117" y="1022032"/>
            <a:ext cx="335249" cy="250996"/>
          </a:xfrm>
          <a:prstGeom prst="rect">
            <a:avLst/>
          </a:prstGeom>
          <a:solidFill>
            <a:srgbClr val="2980B9">
              <a:alpha val="7019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1" name="TextBox 960"/>
          <p:cNvSpPr txBox="1"/>
          <p:nvPr/>
        </p:nvSpPr>
        <p:spPr>
          <a:xfrm>
            <a:off x="5377117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5.5M</a:t>
            </a:r>
          </a:p>
        </p:txBody>
      </p:sp>
      <p:sp>
        <p:nvSpPr>
          <p:cNvPr id="962" name="TextBox 961"/>
          <p:cNvSpPr txBox="1"/>
          <p:nvPr/>
        </p:nvSpPr>
        <p:spPr>
          <a:xfrm>
            <a:off x="5377117" y="11540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6件</a:t>
            </a:r>
          </a:p>
        </p:txBody>
      </p:sp>
      <p:sp>
        <p:nvSpPr>
          <p:cNvPr id="963" name="Rectangle 962"/>
          <p:cNvSpPr/>
          <p:nvPr/>
        </p:nvSpPr>
        <p:spPr>
          <a:xfrm>
            <a:off x="5730366" y="1022032"/>
            <a:ext cx="335249" cy="250996"/>
          </a:xfrm>
          <a:prstGeom prst="rect">
            <a:avLst/>
          </a:prstGeom>
          <a:solidFill>
            <a:srgbClr val="2980B9">
              <a:alpha val="3207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4" name="TextBox 963"/>
          <p:cNvSpPr txBox="1"/>
          <p:nvPr/>
        </p:nvSpPr>
        <p:spPr>
          <a:xfrm>
            <a:off x="5724366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0.9M</a:t>
            </a:r>
          </a:p>
        </p:txBody>
      </p:sp>
      <p:sp>
        <p:nvSpPr>
          <p:cNvPr id="965" name="TextBox 964"/>
          <p:cNvSpPr txBox="1"/>
          <p:nvPr/>
        </p:nvSpPr>
        <p:spPr>
          <a:xfrm>
            <a:off x="5724366" y="11540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4件</a:t>
            </a:r>
          </a:p>
        </p:txBody>
      </p:sp>
      <p:sp>
        <p:nvSpPr>
          <p:cNvPr id="966" name="TextBox 965"/>
          <p:cNvSpPr txBox="1"/>
          <p:nvPr/>
        </p:nvSpPr>
        <p:spPr>
          <a:xfrm>
            <a:off x="202880" y="1279028"/>
            <a:ext cx="650000" cy="2629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成事家办</a:t>
            </a:r>
          </a:p>
        </p:txBody>
      </p:sp>
      <p:sp>
        <p:nvSpPr>
          <p:cNvPr id="967" name="Rectangle 966"/>
          <p:cNvSpPr/>
          <p:nvPr/>
        </p:nvSpPr>
        <p:spPr>
          <a:xfrm>
            <a:off x="868880" y="1285028"/>
            <a:ext cx="335249" cy="250996"/>
          </a:xfrm>
          <a:prstGeom prst="rect">
            <a:avLst/>
          </a:prstGeom>
          <a:solidFill>
            <a:srgbClr val="374151">
              <a:alpha val="4495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8" name="TextBox 967"/>
          <p:cNvSpPr txBox="1"/>
          <p:nvPr/>
        </p:nvSpPr>
        <p:spPr>
          <a:xfrm>
            <a:off x="862880" y="12870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0.6M</a:t>
            </a:r>
          </a:p>
        </p:txBody>
      </p:sp>
      <p:sp>
        <p:nvSpPr>
          <p:cNvPr id="969" name="TextBox 968"/>
          <p:cNvSpPr txBox="1"/>
          <p:nvPr/>
        </p:nvSpPr>
        <p:spPr>
          <a:xfrm>
            <a:off x="862880" y="14170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3件</a:t>
            </a:r>
          </a:p>
        </p:txBody>
      </p:sp>
      <p:sp>
        <p:nvSpPr>
          <p:cNvPr id="970" name="Rectangle 969"/>
          <p:cNvSpPr/>
          <p:nvPr/>
        </p:nvSpPr>
        <p:spPr>
          <a:xfrm>
            <a:off x="1216129" y="1285028"/>
            <a:ext cx="335249" cy="250996"/>
          </a:xfrm>
          <a:prstGeom prst="rect">
            <a:avLst/>
          </a:prstGeom>
          <a:solidFill>
            <a:srgbClr val="374151">
              <a:alpha val="6596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1" name="TextBox 970"/>
          <p:cNvSpPr txBox="1"/>
          <p:nvPr/>
        </p:nvSpPr>
        <p:spPr>
          <a:xfrm>
            <a:off x="1210129" y="12870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1.2M</a:t>
            </a:r>
          </a:p>
        </p:txBody>
      </p:sp>
      <p:sp>
        <p:nvSpPr>
          <p:cNvPr id="972" name="TextBox 971"/>
          <p:cNvSpPr txBox="1"/>
          <p:nvPr/>
        </p:nvSpPr>
        <p:spPr>
          <a:xfrm>
            <a:off x="1210129" y="14170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4件</a:t>
            </a:r>
          </a:p>
        </p:txBody>
      </p:sp>
      <p:sp>
        <p:nvSpPr>
          <p:cNvPr id="973" name="Rectangle 972"/>
          <p:cNvSpPr/>
          <p:nvPr/>
        </p:nvSpPr>
        <p:spPr>
          <a:xfrm>
            <a:off x="1563378" y="1285028"/>
            <a:ext cx="335249" cy="250996"/>
          </a:xfrm>
          <a:prstGeom prst="rect">
            <a:avLst/>
          </a:prstGeom>
          <a:solidFill>
            <a:srgbClr val="374151">
              <a:alpha val="5238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4" name="TextBox 973"/>
          <p:cNvSpPr txBox="1"/>
          <p:nvPr/>
        </p:nvSpPr>
        <p:spPr>
          <a:xfrm>
            <a:off x="1557378" y="12870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0.8M</a:t>
            </a:r>
          </a:p>
        </p:txBody>
      </p:sp>
      <p:sp>
        <p:nvSpPr>
          <p:cNvPr id="975" name="TextBox 974"/>
          <p:cNvSpPr txBox="1"/>
          <p:nvPr/>
        </p:nvSpPr>
        <p:spPr>
          <a:xfrm>
            <a:off x="1557378" y="14170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7件</a:t>
            </a:r>
          </a:p>
        </p:txBody>
      </p:sp>
      <p:sp>
        <p:nvSpPr>
          <p:cNvPr id="976" name="Rectangle 975"/>
          <p:cNvSpPr/>
          <p:nvPr/>
        </p:nvSpPr>
        <p:spPr>
          <a:xfrm>
            <a:off x="2605125" y="1285028"/>
            <a:ext cx="335249" cy="250996"/>
          </a:xfrm>
          <a:prstGeom prst="rect">
            <a:avLst/>
          </a:prstGeom>
          <a:solidFill>
            <a:srgbClr val="374151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7" name="TextBox 976"/>
          <p:cNvSpPr txBox="1"/>
          <p:nvPr/>
        </p:nvSpPr>
        <p:spPr>
          <a:xfrm>
            <a:off x="2599125" y="12870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2.2M</a:t>
            </a:r>
          </a:p>
        </p:txBody>
      </p:sp>
      <p:sp>
        <p:nvSpPr>
          <p:cNvPr id="978" name="TextBox 977"/>
          <p:cNvSpPr txBox="1"/>
          <p:nvPr/>
        </p:nvSpPr>
        <p:spPr>
          <a:xfrm>
            <a:off x="2599125" y="14170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7件</a:t>
            </a:r>
          </a:p>
        </p:txBody>
      </p:sp>
      <p:sp>
        <p:nvSpPr>
          <p:cNvPr id="979" name="Rectangle 978"/>
          <p:cNvSpPr/>
          <p:nvPr/>
        </p:nvSpPr>
        <p:spPr>
          <a:xfrm>
            <a:off x="3646872" y="1285028"/>
            <a:ext cx="335249" cy="250996"/>
          </a:xfrm>
          <a:prstGeom prst="rect">
            <a:avLst/>
          </a:prstGeom>
          <a:solidFill>
            <a:srgbClr val="374151">
              <a:alpha val="3939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0" name="TextBox 979"/>
          <p:cNvSpPr txBox="1"/>
          <p:nvPr/>
        </p:nvSpPr>
        <p:spPr>
          <a:xfrm>
            <a:off x="3640872" y="12870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0.4M</a:t>
            </a:r>
          </a:p>
        </p:txBody>
      </p:sp>
      <p:sp>
        <p:nvSpPr>
          <p:cNvPr id="981" name="TextBox 980"/>
          <p:cNvSpPr txBox="1"/>
          <p:nvPr/>
        </p:nvSpPr>
        <p:spPr>
          <a:xfrm>
            <a:off x="3640872" y="14170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3件</a:t>
            </a:r>
          </a:p>
        </p:txBody>
      </p:sp>
      <p:sp>
        <p:nvSpPr>
          <p:cNvPr id="982" name="Rectangle 981"/>
          <p:cNvSpPr/>
          <p:nvPr/>
        </p:nvSpPr>
        <p:spPr>
          <a:xfrm>
            <a:off x="4688619" y="1285028"/>
            <a:ext cx="335249" cy="250996"/>
          </a:xfrm>
          <a:prstGeom prst="rect">
            <a:avLst/>
          </a:prstGeom>
          <a:solidFill>
            <a:srgbClr val="374151">
              <a:alpha val="3808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3" name="TextBox 982"/>
          <p:cNvSpPr txBox="1"/>
          <p:nvPr/>
        </p:nvSpPr>
        <p:spPr>
          <a:xfrm>
            <a:off x="4682619" y="12870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0.4M</a:t>
            </a:r>
          </a:p>
        </p:txBody>
      </p:sp>
      <p:sp>
        <p:nvSpPr>
          <p:cNvPr id="984" name="TextBox 983"/>
          <p:cNvSpPr txBox="1"/>
          <p:nvPr/>
        </p:nvSpPr>
        <p:spPr>
          <a:xfrm>
            <a:off x="4682619" y="14170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1件</a:t>
            </a:r>
          </a:p>
        </p:txBody>
      </p:sp>
      <p:sp>
        <p:nvSpPr>
          <p:cNvPr id="985" name="Rectangle 984"/>
          <p:cNvSpPr/>
          <p:nvPr/>
        </p:nvSpPr>
        <p:spPr>
          <a:xfrm>
            <a:off x="5383117" y="1285028"/>
            <a:ext cx="335249" cy="250996"/>
          </a:xfrm>
          <a:prstGeom prst="rect">
            <a:avLst/>
          </a:prstGeom>
          <a:solidFill>
            <a:srgbClr val="374151">
              <a:alpha val="3285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6" name="TextBox 985"/>
          <p:cNvSpPr txBox="1"/>
          <p:nvPr/>
        </p:nvSpPr>
        <p:spPr>
          <a:xfrm>
            <a:off x="5377117" y="12870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0.2M</a:t>
            </a:r>
          </a:p>
        </p:txBody>
      </p:sp>
      <p:sp>
        <p:nvSpPr>
          <p:cNvPr id="987" name="TextBox 986"/>
          <p:cNvSpPr txBox="1"/>
          <p:nvPr/>
        </p:nvSpPr>
        <p:spPr>
          <a:xfrm>
            <a:off x="5377117" y="14170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1件</a:t>
            </a:r>
          </a:p>
        </p:txBody>
      </p:sp>
      <p:sp>
        <p:nvSpPr>
          <p:cNvPr id="988" name="TextBox 987"/>
          <p:cNvSpPr txBox="1"/>
          <p:nvPr/>
        </p:nvSpPr>
        <p:spPr>
          <a:xfrm>
            <a:off x="202880" y="1542024"/>
            <a:ext cx="650000" cy="2629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BK业务</a:t>
            </a:r>
          </a:p>
        </p:txBody>
      </p:sp>
      <p:sp>
        <p:nvSpPr>
          <p:cNvPr id="989" name="Rectangle 988"/>
          <p:cNvSpPr/>
          <p:nvPr/>
        </p:nvSpPr>
        <p:spPr>
          <a:xfrm>
            <a:off x="868880" y="1548024"/>
            <a:ext cx="335249" cy="250996"/>
          </a:xfrm>
          <a:prstGeom prst="rect">
            <a:avLst/>
          </a:prstGeom>
          <a:solidFill>
            <a:srgbClr val="1F3864">
              <a:alpha val="9678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0" name="TextBox 989"/>
          <p:cNvSpPr txBox="1"/>
          <p:nvPr/>
        </p:nvSpPr>
        <p:spPr>
          <a:xfrm>
            <a:off x="862880" y="15500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5.2M</a:t>
            </a:r>
          </a:p>
        </p:txBody>
      </p:sp>
      <p:sp>
        <p:nvSpPr>
          <p:cNvPr id="991" name="TextBox 990"/>
          <p:cNvSpPr txBox="1"/>
          <p:nvPr/>
        </p:nvSpPr>
        <p:spPr>
          <a:xfrm>
            <a:off x="862880" y="16800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7件</a:t>
            </a:r>
          </a:p>
        </p:txBody>
      </p:sp>
      <p:sp>
        <p:nvSpPr>
          <p:cNvPr id="992" name="Rectangle 991"/>
          <p:cNvSpPr/>
          <p:nvPr/>
        </p:nvSpPr>
        <p:spPr>
          <a:xfrm>
            <a:off x="1216129" y="1548024"/>
            <a:ext cx="335249" cy="250996"/>
          </a:xfrm>
          <a:prstGeom prst="rect">
            <a:avLst/>
          </a:prstGeom>
          <a:solidFill>
            <a:srgbClr val="1F3864">
              <a:alpha val="3035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3" name="TextBox 992"/>
          <p:cNvSpPr txBox="1"/>
          <p:nvPr/>
        </p:nvSpPr>
        <p:spPr>
          <a:xfrm>
            <a:off x="1210129" y="15500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0.4M</a:t>
            </a:r>
          </a:p>
        </p:txBody>
      </p:sp>
      <p:sp>
        <p:nvSpPr>
          <p:cNvPr id="994" name="TextBox 993"/>
          <p:cNvSpPr txBox="1"/>
          <p:nvPr/>
        </p:nvSpPr>
        <p:spPr>
          <a:xfrm>
            <a:off x="1210129" y="16800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1件</a:t>
            </a:r>
          </a:p>
        </p:txBody>
      </p:sp>
      <p:sp>
        <p:nvSpPr>
          <p:cNvPr id="995" name="Rectangle 994"/>
          <p:cNvSpPr/>
          <p:nvPr/>
        </p:nvSpPr>
        <p:spPr>
          <a:xfrm>
            <a:off x="1563378" y="1548024"/>
            <a:ext cx="335249" cy="250996"/>
          </a:xfrm>
          <a:prstGeom prst="rect">
            <a:avLst/>
          </a:prstGeom>
          <a:solidFill>
            <a:srgbClr val="1F3864">
              <a:alpha val="4857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6" name="TextBox 995"/>
          <p:cNvSpPr txBox="1"/>
          <p:nvPr/>
        </p:nvSpPr>
        <p:spPr>
          <a:xfrm>
            <a:off x="1557378" y="15500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1.7M</a:t>
            </a:r>
          </a:p>
        </p:txBody>
      </p:sp>
      <p:sp>
        <p:nvSpPr>
          <p:cNvPr id="997" name="TextBox 996"/>
          <p:cNvSpPr txBox="1"/>
          <p:nvPr/>
        </p:nvSpPr>
        <p:spPr>
          <a:xfrm>
            <a:off x="1557378" y="16800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4件</a:t>
            </a:r>
          </a:p>
        </p:txBody>
      </p:sp>
      <p:sp>
        <p:nvSpPr>
          <p:cNvPr id="998" name="Rectangle 997"/>
          <p:cNvSpPr/>
          <p:nvPr/>
        </p:nvSpPr>
        <p:spPr>
          <a:xfrm>
            <a:off x="1910627" y="1548024"/>
            <a:ext cx="335249" cy="250996"/>
          </a:xfrm>
          <a:prstGeom prst="rect">
            <a:avLst/>
          </a:prstGeom>
          <a:solidFill>
            <a:srgbClr val="1F3864">
              <a:alpha val="4107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9" name="TextBox 998"/>
          <p:cNvSpPr txBox="1"/>
          <p:nvPr/>
        </p:nvSpPr>
        <p:spPr>
          <a:xfrm>
            <a:off x="1904627" y="15500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1.2M</a:t>
            </a:r>
          </a:p>
        </p:txBody>
      </p:sp>
      <p:sp>
        <p:nvSpPr>
          <p:cNvPr id="1000" name="TextBox 999"/>
          <p:cNvSpPr txBox="1"/>
          <p:nvPr/>
        </p:nvSpPr>
        <p:spPr>
          <a:xfrm>
            <a:off x="1904627" y="16800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1件</a:t>
            </a:r>
          </a:p>
        </p:txBody>
      </p:sp>
      <p:sp>
        <p:nvSpPr>
          <p:cNvPr id="1001" name="Rectangle 1000"/>
          <p:cNvSpPr/>
          <p:nvPr/>
        </p:nvSpPr>
        <p:spPr>
          <a:xfrm>
            <a:off x="2257876" y="1548024"/>
            <a:ext cx="335249" cy="250996"/>
          </a:xfrm>
          <a:prstGeom prst="rect">
            <a:avLst/>
          </a:prstGeom>
          <a:solidFill>
            <a:srgbClr val="1F3864">
              <a:alpha val="3035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2" name="TextBox 1001"/>
          <p:cNvSpPr txBox="1"/>
          <p:nvPr/>
        </p:nvSpPr>
        <p:spPr>
          <a:xfrm>
            <a:off x="2251876" y="15500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0.4M</a:t>
            </a:r>
          </a:p>
        </p:txBody>
      </p:sp>
      <p:sp>
        <p:nvSpPr>
          <p:cNvPr id="1003" name="TextBox 1002"/>
          <p:cNvSpPr txBox="1"/>
          <p:nvPr/>
        </p:nvSpPr>
        <p:spPr>
          <a:xfrm>
            <a:off x="2251876" y="16800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1件</a:t>
            </a:r>
          </a:p>
        </p:txBody>
      </p:sp>
      <p:sp>
        <p:nvSpPr>
          <p:cNvPr id="1004" name="Rectangle 1003"/>
          <p:cNvSpPr/>
          <p:nvPr/>
        </p:nvSpPr>
        <p:spPr>
          <a:xfrm>
            <a:off x="2605125" y="1548024"/>
            <a:ext cx="335249" cy="250996"/>
          </a:xfrm>
          <a:prstGeom prst="rect">
            <a:avLst/>
          </a:prstGeom>
          <a:solidFill>
            <a:srgbClr val="1F3864">
              <a:alpha val="3892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5" name="TextBox 1004"/>
          <p:cNvSpPr txBox="1"/>
          <p:nvPr/>
        </p:nvSpPr>
        <p:spPr>
          <a:xfrm>
            <a:off x="2599125" y="15500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1.0M</a:t>
            </a:r>
          </a:p>
        </p:txBody>
      </p:sp>
      <p:sp>
        <p:nvSpPr>
          <p:cNvPr id="1006" name="TextBox 1005"/>
          <p:cNvSpPr txBox="1"/>
          <p:nvPr/>
        </p:nvSpPr>
        <p:spPr>
          <a:xfrm>
            <a:off x="2599125" y="16800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2件</a:t>
            </a:r>
          </a:p>
        </p:txBody>
      </p:sp>
      <p:sp>
        <p:nvSpPr>
          <p:cNvPr id="1007" name="Rectangle 1006"/>
          <p:cNvSpPr/>
          <p:nvPr/>
        </p:nvSpPr>
        <p:spPr>
          <a:xfrm>
            <a:off x="2952374" y="1548024"/>
            <a:ext cx="335249" cy="250996"/>
          </a:xfrm>
          <a:prstGeom prst="rect">
            <a:avLst/>
          </a:prstGeom>
          <a:solidFill>
            <a:srgbClr val="1F3864">
              <a:alpha val="3571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8" name="TextBox 1007"/>
          <p:cNvSpPr txBox="1"/>
          <p:nvPr/>
        </p:nvSpPr>
        <p:spPr>
          <a:xfrm>
            <a:off x="2946374" y="15500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0.8M</a:t>
            </a:r>
          </a:p>
        </p:txBody>
      </p:sp>
      <p:sp>
        <p:nvSpPr>
          <p:cNvPr id="1009" name="TextBox 1008"/>
          <p:cNvSpPr txBox="1"/>
          <p:nvPr/>
        </p:nvSpPr>
        <p:spPr>
          <a:xfrm>
            <a:off x="2946374" y="16800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1件</a:t>
            </a:r>
          </a:p>
        </p:txBody>
      </p:sp>
      <p:sp>
        <p:nvSpPr>
          <p:cNvPr id="1010" name="Rectangle 1009"/>
          <p:cNvSpPr/>
          <p:nvPr/>
        </p:nvSpPr>
        <p:spPr>
          <a:xfrm>
            <a:off x="3299623" y="1548024"/>
            <a:ext cx="335249" cy="250996"/>
          </a:xfrm>
          <a:prstGeom prst="rect">
            <a:avLst/>
          </a:prstGeom>
          <a:solidFill>
            <a:srgbClr val="1F3864">
              <a:alpha val="7321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1" name="TextBox 1010"/>
          <p:cNvSpPr txBox="1"/>
          <p:nvPr/>
        </p:nvSpPr>
        <p:spPr>
          <a:xfrm>
            <a:off x="3293623" y="15500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3.5M</a:t>
            </a:r>
          </a:p>
        </p:txBody>
      </p:sp>
      <p:sp>
        <p:nvSpPr>
          <p:cNvPr id="1012" name="TextBox 1011"/>
          <p:cNvSpPr txBox="1"/>
          <p:nvPr/>
        </p:nvSpPr>
        <p:spPr>
          <a:xfrm>
            <a:off x="3293623" y="16800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5件</a:t>
            </a:r>
          </a:p>
        </p:txBody>
      </p:sp>
      <p:sp>
        <p:nvSpPr>
          <p:cNvPr id="1013" name="Rectangle 1012"/>
          <p:cNvSpPr/>
          <p:nvPr/>
        </p:nvSpPr>
        <p:spPr>
          <a:xfrm>
            <a:off x="3646872" y="1548024"/>
            <a:ext cx="335249" cy="250996"/>
          </a:xfrm>
          <a:prstGeom prst="rect">
            <a:avLst/>
          </a:prstGeom>
          <a:solidFill>
            <a:srgbClr val="1F3864">
              <a:alpha val="4107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4" name="TextBox 1013"/>
          <p:cNvSpPr txBox="1"/>
          <p:nvPr/>
        </p:nvSpPr>
        <p:spPr>
          <a:xfrm>
            <a:off x="3640872" y="15500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1.2M</a:t>
            </a:r>
          </a:p>
        </p:txBody>
      </p:sp>
      <p:sp>
        <p:nvSpPr>
          <p:cNvPr id="1015" name="TextBox 1014"/>
          <p:cNvSpPr txBox="1"/>
          <p:nvPr/>
        </p:nvSpPr>
        <p:spPr>
          <a:xfrm>
            <a:off x="3640872" y="16800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1件</a:t>
            </a:r>
          </a:p>
        </p:txBody>
      </p:sp>
      <p:sp>
        <p:nvSpPr>
          <p:cNvPr id="1016" name="Rectangle 1015"/>
          <p:cNvSpPr/>
          <p:nvPr/>
        </p:nvSpPr>
        <p:spPr>
          <a:xfrm>
            <a:off x="3994121" y="1548024"/>
            <a:ext cx="335249" cy="250996"/>
          </a:xfrm>
          <a:prstGeom prst="rect">
            <a:avLst/>
          </a:prstGeom>
          <a:solidFill>
            <a:srgbClr val="1F3864">
              <a:alpha val="7107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7" name="TextBox 1016"/>
          <p:cNvSpPr txBox="1"/>
          <p:nvPr/>
        </p:nvSpPr>
        <p:spPr>
          <a:xfrm>
            <a:off x="3988121" y="15500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3.4M</a:t>
            </a:r>
          </a:p>
        </p:txBody>
      </p:sp>
      <p:sp>
        <p:nvSpPr>
          <p:cNvPr id="1018" name="TextBox 1017"/>
          <p:cNvSpPr txBox="1"/>
          <p:nvPr/>
        </p:nvSpPr>
        <p:spPr>
          <a:xfrm>
            <a:off x="3988121" y="16800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7件</a:t>
            </a:r>
          </a:p>
        </p:txBody>
      </p:sp>
      <p:sp>
        <p:nvSpPr>
          <p:cNvPr id="1019" name="Rectangle 1018"/>
          <p:cNvSpPr/>
          <p:nvPr/>
        </p:nvSpPr>
        <p:spPr>
          <a:xfrm>
            <a:off x="4341370" y="1548024"/>
            <a:ext cx="335249" cy="250996"/>
          </a:xfrm>
          <a:prstGeom prst="rect">
            <a:avLst/>
          </a:prstGeom>
          <a:solidFill>
            <a:srgbClr val="1F3864">
              <a:alpha val="3571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0" name="TextBox 1019"/>
          <p:cNvSpPr txBox="1"/>
          <p:nvPr/>
        </p:nvSpPr>
        <p:spPr>
          <a:xfrm>
            <a:off x="4335370" y="15500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0.8M</a:t>
            </a:r>
          </a:p>
        </p:txBody>
      </p:sp>
      <p:sp>
        <p:nvSpPr>
          <p:cNvPr id="1021" name="TextBox 1020"/>
          <p:cNvSpPr txBox="1"/>
          <p:nvPr/>
        </p:nvSpPr>
        <p:spPr>
          <a:xfrm>
            <a:off x="4335370" y="16800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2件</a:t>
            </a:r>
          </a:p>
        </p:txBody>
      </p:sp>
      <p:sp>
        <p:nvSpPr>
          <p:cNvPr id="1022" name="Rectangle 1021"/>
          <p:cNvSpPr/>
          <p:nvPr/>
        </p:nvSpPr>
        <p:spPr>
          <a:xfrm>
            <a:off x="4688619" y="1548024"/>
            <a:ext cx="335249" cy="250996"/>
          </a:xfrm>
          <a:prstGeom prst="rect">
            <a:avLst/>
          </a:prstGeom>
          <a:solidFill>
            <a:srgbClr val="1F3864">
              <a:alpha val="7953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3" name="TextBox 1022"/>
          <p:cNvSpPr txBox="1"/>
          <p:nvPr/>
        </p:nvSpPr>
        <p:spPr>
          <a:xfrm>
            <a:off x="4682619" y="15500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4.0M</a:t>
            </a:r>
          </a:p>
        </p:txBody>
      </p:sp>
      <p:sp>
        <p:nvSpPr>
          <p:cNvPr id="1024" name="TextBox 1023"/>
          <p:cNvSpPr txBox="1"/>
          <p:nvPr/>
        </p:nvSpPr>
        <p:spPr>
          <a:xfrm>
            <a:off x="4682619" y="16800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7件</a:t>
            </a:r>
          </a:p>
        </p:txBody>
      </p:sp>
      <p:sp>
        <p:nvSpPr>
          <p:cNvPr id="1025" name="Rectangle 1024"/>
          <p:cNvSpPr/>
          <p:nvPr/>
        </p:nvSpPr>
        <p:spPr>
          <a:xfrm>
            <a:off x="5035868" y="1548024"/>
            <a:ext cx="335249" cy="250996"/>
          </a:xfrm>
          <a:prstGeom prst="rect">
            <a:avLst/>
          </a:prstGeom>
          <a:solidFill>
            <a:srgbClr val="1F3864">
              <a:alpha val="3571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6" name="TextBox 1025"/>
          <p:cNvSpPr txBox="1"/>
          <p:nvPr/>
        </p:nvSpPr>
        <p:spPr>
          <a:xfrm>
            <a:off x="5029868" y="15500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0.8M</a:t>
            </a:r>
          </a:p>
        </p:txBody>
      </p:sp>
      <p:sp>
        <p:nvSpPr>
          <p:cNvPr id="1027" name="TextBox 1026"/>
          <p:cNvSpPr txBox="1"/>
          <p:nvPr/>
        </p:nvSpPr>
        <p:spPr>
          <a:xfrm>
            <a:off x="5029868" y="16800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1件</a:t>
            </a:r>
          </a:p>
        </p:txBody>
      </p:sp>
      <p:sp>
        <p:nvSpPr>
          <p:cNvPr id="1028" name="Rectangle 1027"/>
          <p:cNvSpPr/>
          <p:nvPr/>
        </p:nvSpPr>
        <p:spPr>
          <a:xfrm>
            <a:off x="5383117" y="1548024"/>
            <a:ext cx="335249" cy="250996"/>
          </a:xfrm>
          <a:prstGeom prst="rect">
            <a:avLst/>
          </a:prstGeom>
          <a:solidFill>
            <a:srgbClr val="1F3864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9" name="TextBox 1028"/>
          <p:cNvSpPr txBox="1"/>
          <p:nvPr/>
        </p:nvSpPr>
        <p:spPr>
          <a:xfrm>
            <a:off x="5377117" y="15500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5.5M</a:t>
            </a:r>
          </a:p>
        </p:txBody>
      </p:sp>
      <p:sp>
        <p:nvSpPr>
          <p:cNvPr id="1030" name="TextBox 1029"/>
          <p:cNvSpPr txBox="1"/>
          <p:nvPr/>
        </p:nvSpPr>
        <p:spPr>
          <a:xfrm>
            <a:off x="5377117" y="16800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9件</a:t>
            </a:r>
          </a:p>
        </p:txBody>
      </p:sp>
      <p:sp>
        <p:nvSpPr>
          <p:cNvPr id="1031" name="Rectangle 1030"/>
          <p:cNvSpPr/>
          <p:nvPr/>
        </p:nvSpPr>
        <p:spPr>
          <a:xfrm>
            <a:off x="5730366" y="1548024"/>
            <a:ext cx="335249" cy="250996"/>
          </a:xfrm>
          <a:prstGeom prst="rect">
            <a:avLst/>
          </a:prstGeom>
          <a:solidFill>
            <a:srgbClr val="1F3864">
              <a:alpha val="6250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2" name="TextBox 1031"/>
          <p:cNvSpPr txBox="1"/>
          <p:nvPr/>
        </p:nvSpPr>
        <p:spPr>
          <a:xfrm>
            <a:off x="5724366" y="15500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2.7M</a:t>
            </a:r>
          </a:p>
        </p:txBody>
      </p:sp>
      <p:sp>
        <p:nvSpPr>
          <p:cNvPr id="1033" name="TextBox 1032"/>
          <p:cNvSpPr txBox="1"/>
          <p:nvPr/>
        </p:nvSpPr>
        <p:spPr>
          <a:xfrm>
            <a:off x="5724366" y="16800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4件</a:t>
            </a:r>
          </a:p>
        </p:txBody>
      </p:sp>
      <p:sp>
        <p:nvSpPr>
          <p:cNvPr id="1034" name="TextBox 1033"/>
          <p:cNvSpPr txBox="1"/>
          <p:nvPr/>
        </p:nvSpPr>
        <p:spPr>
          <a:xfrm>
            <a:off x="202880" y="1805020"/>
            <a:ext cx="650000" cy="2629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同行经代</a:t>
            </a:r>
          </a:p>
        </p:txBody>
      </p:sp>
      <p:sp>
        <p:nvSpPr>
          <p:cNvPr id="1035" name="Rectangle 1034"/>
          <p:cNvSpPr/>
          <p:nvPr/>
        </p:nvSpPr>
        <p:spPr>
          <a:xfrm>
            <a:off x="868880" y="1811020"/>
            <a:ext cx="335249" cy="250996"/>
          </a:xfrm>
          <a:prstGeom prst="rect">
            <a:avLst/>
          </a:prstGeom>
          <a:solidFill>
            <a:srgbClr val="E67E22">
              <a:alpha val="3437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6" name="TextBox 1035"/>
          <p:cNvSpPr txBox="1"/>
          <p:nvPr/>
        </p:nvSpPr>
        <p:spPr>
          <a:xfrm>
            <a:off x="862880" y="18130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1.4M</a:t>
            </a:r>
          </a:p>
        </p:txBody>
      </p:sp>
      <p:sp>
        <p:nvSpPr>
          <p:cNvPr id="1037" name="TextBox 1036"/>
          <p:cNvSpPr txBox="1"/>
          <p:nvPr/>
        </p:nvSpPr>
        <p:spPr>
          <a:xfrm>
            <a:off x="862880" y="19430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7件</a:t>
            </a:r>
          </a:p>
        </p:txBody>
      </p:sp>
      <p:sp>
        <p:nvSpPr>
          <p:cNvPr id="1038" name="Rectangle 1037"/>
          <p:cNvSpPr/>
          <p:nvPr/>
        </p:nvSpPr>
        <p:spPr>
          <a:xfrm>
            <a:off x="1216129" y="1811020"/>
            <a:ext cx="335249" cy="250996"/>
          </a:xfrm>
          <a:prstGeom prst="rect">
            <a:avLst/>
          </a:prstGeom>
          <a:solidFill>
            <a:srgbClr val="E67E22">
              <a:alpha val="3934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9" name="TextBox 1038"/>
          <p:cNvSpPr txBox="1"/>
          <p:nvPr/>
        </p:nvSpPr>
        <p:spPr>
          <a:xfrm>
            <a:off x="1210129" y="18130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2.1M</a:t>
            </a:r>
          </a:p>
        </p:txBody>
      </p:sp>
      <p:sp>
        <p:nvSpPr>
          <p:cNvPr id="1040" name="TextBox 1039"/>
          <p:cNvSpPr txBox="1"/>
          <p:nvPr/>
        </p:nvSpPr>
        <p:spPr>
          <a:xfrm>
            <a:off x="1210129" y="19430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14件</a:t>
            </a:r>
          </a:p>
        </p:txBody>
      </p:sp>
      <p:sp>
        <p:nvSpPr>
          <p:cNvPr id="1041" name="Rectangle 1040"/>
          <p:cNvSpPr/>
          <p:nvPr/>
        </p:nvSpPr>
        <p:spPr>
          <a:xfrm>
            <a:off x="1563378" y="1811020"/>
            <a:ext cx="335249" cy="250996"/>
          </a:xfrm>
          <a:prstGeom prst="rect">
            <a:avLst/>
          </a:prstGeom>
          <a:solidFill>
            <a:srgbClr val="E67E22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2" name="TextBox 1041"/>
          <p:cNvSpPr txBox="1"/>
          <p:nvPr/>
        </p:nvSpPr>
        <p:spPr>
          <a:xfrm>
            <a:off x="1557378" y="18130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11.2M</a:t>
            </a:r>
          </a:p>
        </p:txBody>
      </p:sp>
      <p:sp>
        <p:nvSpPr>
          <p:cNvPr id="1043" name="TextBox 1042"/>
          <p:cNvSpPr txBox="1"/>
          <p:nvPr/>
        </p:nvSpPr>
        <p:spPr>
          <a:xfrm>
            <a:off x="1557378" y="19430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13件</a:t>
            </a:r>
          </a:p>
        </p:txBody>
      </p:sp>
      <p:sp>
        <p:nvSpPr>
          <p:cNvPr id="1044" name="Rectangle 1043"/>
          <p:cNvSpPr/>
          <p:nvPr/>
        </p:nvSpPr>
        <p:spPr>
          <a:xfrm>
            <a:off x="1910627" y="1811020"/>
            <a:ext cx="335249" cy="250996"/>
          </a:xfrm>
          <a:prstGeom prst="rect">
            <a:avLst/>
          </a:prstGeom>
          <a:solidFill>
            <a:srgbClr val="E67E22">
              <a:alpha val="3874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5" name="TextBox 1044"/>
          <p:cNvSpPr txBox="1"/>
          <p:nvPr/>
        </p:nvSpPr>
        <p:spPr>
          <a:xfrm>
            <a:off x="1904627" y="18130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2.1M</a:t>
            </a:r>
          </a:p>
        </p:txBody>
      </p:sp>
      <p:sp>
        <p:nvSpPr>
          <p:cNvPr id="1046" name="TextBox 1045"/>
          <p:cNvSpPr txBox="1"/>
          <p:nvPr/>
        </p:nvSpPr>
        <p:spPr>
          <a:xfrm>
            <a:off x="1904627" y="19430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6件</a:t>
            </a:r>
          </a:p>
        </p:txBody>
      </p:sp>
      <p:sp>
        <p:nvSpPr>
          <p:cNvPr id="1047" name="Rectangle 1046"/>
          <p:cNvSpPr/>
          <p:nvPr/>
        </p:nvSpPr>
        <p:spPr>
          <a:xfrm>
            <a:off x="2257876" y="1811020"/>
            <a:ext cx="335249" cy="250996"/>
          </a:xfrm>
          <a:prstGeom prst="rect">
            <a:avLst/>
          </a:prstGeom>
          <a:solidFill>
            <a:srgbClr val="E67E22">
              <a:alpha val="5479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8" name="TextBox 1047"/>
          <p:cNvSpPr txBox="1"/>
          <p:nvPr/>
        </p:nvSpPr>
        <p:spPr>
          <a:xfrm>
            <a:off x="2251876" y="18130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4.5M</a:t>
            </a:r>
          </a:p>
        </p:txBody>
      </p:sp>
      <p:sp>
        <p:nvSpPr>
          <p:cNvPr id="1049" name="TextBox 1048"/>
          <p:cNvSpPr txBox="1"/>
          <p:nvPr/>
        </p:nvSpPr>
        <p:spPr>
          <a:xfrm>
            <a:off x="2251876" y="19430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9件</a:t>
            </a:r>
          </a:p>
        </p:txBody>
      </p:sp>
      <p:sp>
        <p:nvSpPr>
          <p:cNvPr id="1050" name="Rectangle 1049"/>
          <p:cNvSpPr/>
          <p:nvPr/>
        </p:nvSpPr>
        <p:spPr>
          <a:xfrm>
            <a:off x="2605125" y="1811020"/>
            <a:ext cx="335249" cy="250996"/>
          </a:xfrm>
          <a:prstGeom prst="rect">
            <a:avLst/>
          </a:prstGeom>
          <a:solidFill>
            <a:srgbClr val="E67E22">
              <a:alpha val="5250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1" name="TextBox 1050"/>
          <p:cNvSpPr txBox="1"/>
          <p:nvPr/>
        </p:nvSpPr>
        <p:spPr>
          <a:xfrm>
            <a:off x="2599125" y="18130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4.1M</a:t>
            </a:r>
          </a:p>
        </p:txBody>
      </p:sp>
      <p:sp>
        <p:nvSpPr>
          <p:cNvPr id="1052" name="TextBox 1051"/>
          <p:cNvSpPr txBox="1"/>
          <p:nvPr/>
        </p:nvSpPr>
        <p:spPr>
          <a:xfrm>
            <a:off x="2599125" y="19430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15件</a:t>
            </a:r>
          </a:p>
        </p:txBody>
      </p:sp>
      <p:sp>
        <p:nvSpPr>
          <p:cNvPr id="1053" name="Rectangle 1052"/>
          <p:cNvSpPr/>
          <p:nvPr/>
        </p:nvSpPr>
        <p:spPr>
          <a:xfrm>
            <a:off x="2952374" y="1811020"/>
            <a:ext cx="335249" cy="250996"/>
          </a:xfrm>
          <a:prstGeom prst="rect">
            <a:avLst/>
          </a:prstGeom>
          <a:solidFill>
            <a:srgbClr val="E67E22">
              <a:alpha val="5322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4" name="TextBox 1053"/>
          <p:cNvSpPr txBox="1"/>
          <p:nvPr/>
        </p:nvSpPr>
        <p:spPr>
          <a:xfrm>
            <a:off x="2946374" y="18130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4.2M</a:t>
            </a:r>
          </a:p>
        </p:txBody>
      </p:sp>
      <p:sp>
        <p:nvSpPr>
          <p:cNvPr id="1055" name="TextBox 1054"/>
          <p:cNvSpPr txBox="1"/>
          <p:nvPr/>
        </p:nvSpPr>
        <p:spPr>
          <a:xfrm>
            <a:off x="2946374" y="19430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15件</a:t>
            </a:r>
          </a:p>
        </p:txBody>
      </p:sp>
      <p:sp>
        <p:nvSpPr>
          <p:cNvPr id="1056" name="Rectangle 1055"/>
          <p:cNvSpPr/>
          <p:nvPr/>
        </p:nvSpPr>
        <p:spPr>
          <a:xfrm>
            <a:off x="3299623" y="1811020"/>
            <a:ext cx="335249" cy="250996"/>
          </a:xfrm>
          <a:prstGeom prst="rect">
            <a:avLst/>
          </a:prstGeom>
          <a:solidFill>
            <a:srgbClr val="E67E22">
              <a:alpha val="5224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7" name="TextBox 1056"/>
          <p:cNvSpPr txBox="1"/>
          <p:nvPr/>
        </p:nvSpPr>
        <p:spPr>
          <a:xfrm>
            <a:off x="3293623" y="18130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4.1M</a:t>
            </a:r>
          </a:p>
        </p:txBody>
      </p:sp>
      <p:sp>
        <p:nvSpPr>
          <p:cNvPr id="1058" name="TextBox 1057"/>
          <p:cNvSpPr txBox="1"/>
          <p:nvPr/>
        </p:nvSpPr>
        <p:spPr>
          <a:xfrm>
            <a:off x="3293623" y="19430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13件</a:t>
            </a:r>
          </a:p>
        </p:txBody>
      </p:sp>
      <p:sp>
        <p:nvSpPr>
          <p:cNvPr id="1059" name="Rectangle 1058"/>
          <p:cNvSpPr/>
          <p:nvPr/>
        </p:nvSpPr>
        <p:spPr>
          <a:xfrm>
            <a:off x="3646872" y="1811020"/>
            <a:ext cx="335249" cy="250996"/>
          </a:xfrm>
          <a:prstGeom prst="rect">
            <a:avLst/>
          </a:prstGeom>
          <a:solidFill>
            <a:srgbClr val="E67E22">
              <a:alpha val="4967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0" name="TextBox 1059"/>
          <p:cNvSpPr txBox="1"/>
          <p:nvPr/>
        </p:nvSpPr>
        <p:spPr>
          <a:xfrm>
            <a:off x="3640872" y="18130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3.7M</a:t>
            </a:r>
          </a:p>
        </p:txBody>
      </p:sp>
      <p:sp>
        <p:nvSpPr>
          <p:cNvPr id="1061" name="TextBox 1060"/>
          <p:cNvSpPr txBox="1"/>
          <p:nvPr/>
        </p:nvSpPr>
        <p:spPr>
          <a:xfrm>
            <a:off x="3640872" y="19430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13件</a:t>
            </a:r>
          </a:p>
        </p:txBody>
      </p:sp>
      <p:sp>
        <p:nvSpPr>
          <p:cNvPr id="1062" name="Rectangle 1061"/>
          <p:cNvSpPr/>
          <p:nvPr/>
        </p:nvSpPr>
        <p:spPr>
          <a:xfrm>
            <a:off x="3994121" y="1811020"/>
            <a:ext cx="335249" cy="250996"/>
          </a:xfrm>
          <a:prstGeom prst="rect">
            <a:avLst/>
          </a:prstGeom>
          <a:solidFill>
            <a:srgbClr val="E67E22">
              <a:alpha val="6803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3" name="TextBox 1062"/>
          <p:cNvSpPr txBox="1"/>
          <p:nvPr/>
        </p:nvSpPr>
        <p:spPr>
          <a:xfrm>
            <a:off x="3988121" y="18130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6.4M</a:t>
            </a:r>
          </a:p>
        </p:txBody>
      </p:sp>
      <p:sp>
        <p:nvSpPr>
          <p:cNvPr id="1064" name="TextBox 1063"/>
          <p:cNvSpPr txBox="1"/>
          <p:nvPr/>
        </p:nvSpPr>
        <p:spPr>
          <a:xfrm>
            <a:off x="3988121" y="19430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11件</a:t>
            </a:r>
          </a:p>
        </p:txBody>
      </p:sp>
      <p:sp>
        <p:nvSpPr>
          <p:cNvPr id="1065" name="Rectangle 1064"/>
          <p:cNvSpPr/>
          <p:nvPr/>
        </p:nvSpPr>
        <p:spPr>
          <a:xfrm>
            <a:off x="4341370" y="1811020"/>
            <a:ext cx="335249" cy="250996"/>
          </a:xfrm>
          <a:prstGeom prst="rect">
            <a:avLst/>
          </a:prstGeom>
          <a:solidFill>
            <a:srgbClr val="E67E22">
              <a:alpha val="7054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6" name="TextBox 1065"/>
          <p:cNvSpPr txBox="1"/>
          <p:nvPr/>
        </p:nvSpPr>
        <p:spPr>
          <a:xfrm>
            <a:off x="4335370" y="18130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6.8M</a:t>
            </a:r>
          </a:p>
        </p:txBody>
      </p:sp>
      <p:sp>
        <p:nvSpPr>
          <p:cNvPr id="1067" name="TextBox 1066"/>
          <p:cNvSpPr txBox="1"/>
          <p:nvPr/>
        </p:nvSpPr>
        <p:spPr>
          <a:xfrm>
            <a:off x="4335370" y="19430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7件</a:t>
            </a:r>
          </a:p>
        </p:txBody>
      </p:sp>
      <p:sp>
        <p:nvSpPr>
          <p:cNvPr id="1068" name="Rectangle 1067"/>
          <p:cNvSpPr/>
          <p:nvPr/>
        </p:nvSpPr>
        <p:spPr>
          <a:xfrm>
            <a:off x="4688619" y="1811020"/>
            <a:ext cx="335249" cy="250996"/>
          </a:xfrm>
          <a:prstGeom prst="rect">
            <a:avLst/>
          </a:prstGeom>
          <a:solidFill>
            <a:srgbClr val="E67E22">
              <a:alpha val="4905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9" name="TextBox 1068"/>
          <p:cNvSpPr txBox="1"/>
          <p:nvPr/>
        </p:nvSpPr>
        <p:spPr>
          <a:xfrm>
            <a:off x="4682619" y="18130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3.6M</a:t>
            </a:r>
          </a:p>
        </p:txBody>
      </p:sp>
      <p:sp>
        <p:nvSpPr>
          <p:cNvPr id="1070" name="TextBox 1069"/>
          <p:cNvSpPr txBox="1"/>
          <p:nvPr/>
        </p:nvSpPr>
        <p:spPr>
          <a:xfrm>
            <a:off x="4682619" y="19430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14件</a:t>
            </a:r>
          </a:p>
        </p:txBody>
      </p:sp>
      <p:sp>
        <p:nvSpPr>
          <p:cNvPr id="1071" name="Rectangle 1070"/>
          <p:cNvSpPr/>
          <p:nvPr/>
        </p:nvSpPr>
        <p:spPr>
          <a:xfrm>
            <a:off x="5035868" y="1811020"/>
            <a:ext cx="335249" cy="250996"/>
          </a:xfrm>
          <a:prstGeom prst="rect">
            <a:avLst/>
          </a:prstGeom>
          <a:solidFill>
            <a:srgbClr val="E67E22">
              <a:alpha val="4841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2" name="TextBox 1071"/>
          <p:cNvSpPr txBox="1"/>
          <p:nvPr/>
        </p:nvSpPr>
        <p:spPr>
          <a:xfrm>
            <a:off x="5029868" y="18130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3.5M</a:t>
            </a:r>
          </a:p>
        </p:txBody>
      </p:sp>
      <p:sp>
        <p:nvSpPr>
          <p:cNvPr id="1073" name="TextBox 1072"/>
          <p:cNvSpPr txBox="1"/>
          <p:nvPr/>
        </p:nvSpPr>
        <p:spPr>
          <a:xfrm>
            <a:off x="5029868" y="19430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10件</a:t>
            </a:r>
          </a:p>
        </p:txBody>
      </p:sp>
      <p:sp>
        <p:nvSpPr>
          <p:cNvPr id="1074" name="Rectangle 1073"/>
          <p:cNvSpPr/>
          <p:nvPr/>
        </p:nvSpPr>
        <p:spPr>
          <a:xfrm>
            <a:off x="5383117" y="1811020"/>
            <a:ext cx="335249" cy="250996"/>
          </a:xfrm>
          <a:prstGeom prst="rect">
            <a:avLst/>
          </a:prstGeom>
          <a:solidFill>
            <a:srgbClr val="E67E22">
              <a:alpha val="4071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5" name="TextBox 1074"/>
          <p:cNvSpPr txBox="1"/>
          <p:nvPr/>
        </p:nvSpPr>
        <p:spPr>
          <a:xfrm>
            <a:off x="5377117" y="18130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2.4M</a:t>
            </a:r>
          </a:p>
        </p:txBody>
      </p:sp>
      <p:sp>
        <p:nvSpPr>
          <p:cNvPr id="1076" name="TextBox 1075"/>
          <p:cNvSpPr txBox="1"/>
          <p:nvPr/>
        </p:nvSpPr>
        <p:spPr>
          <a:xfrm>
            <a:off x="5377117" y="19430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8件</a:t>
            </a:r>
          </a:p>
        </p:txBody>
      </p:sp>
      <p:sp>
        <p:nvSpPr>
          <p:cNvPr id="1077" name="Rectangle 1076"/>
          <p:cNvSpPr/>
          <p:nvPr/>
        </p:nvSpPr>
        <p:spPr>
          <a:xfrm>
            <a:off x="5730366" y="1811020"/>
            <a:ext cx="335249" cy="250996"/>
          </a:xfrm>
          <a:prstGeom prst="rect">
            <a:avLst/>
          </a:prstGeom>
          <a:solidFill>
            <a:srgbClr val="E67E22">
              <a:alpha val="4796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8" name="TextBox 1077"/>
          <p:cNvSpPr txBox="1"/>
          <p:nvPr/>
        </p:nvSpPr>
        <p:spPr>
          <a:xfrm>
            <a:off x="5724366" y="18130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3.4M</a:t>
            </a:r>
          </a:p>
        </p:txBody>
      </p:sp>
      <p:sp>
        <p:nvSpPr>
          <p:cNvPr id="1079" name="TextBox 1078"/>
          <p:cNvSpPr txBox="1"/>
          <p:nvPr/>
        </p:nvSpPr>
        <p:spPr>
          <a:xfrm>
            <a:off x="5724366" y="19430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11件</a:t>
            </a:r>
          </a:p>
        </p:txBody>
      </p:sp>
      <p:sp>
        <p:nvSpPr>
          <p:cNvPr id="1080" name="TextBox 1079"/>
          <p:cNvSpPr txBox="1"/>
          <p:nvPr/>
        </p:nvSpPr>
        <p:spPr>
          <a:xfrm>
            <a:off x="202880" y="2068016"/>
            <a:ext cx="650000" cy="2629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永明经代</a:t>
            </a:r>
          </a:p>
        </p:txBody>
      </p:sp>
      <p:sp>
        <p:nvSpPr>
          <p:cNvPr id="1081" name="Rectangle 1080"/>
          <p:cNvSpPr/>
          <p:nvPr/>
        </p:nvSpPr>
        <p:spPr>
          <a:xfrm>
            <a:off x="868880" y="2074016"/>
            <a:ext cx="335249" cy="250996"/>
          </a:xfrm>
          <a:prstGeom prst="rect">
            <a:avLst/>
          </a:prstGeom>
          <a:solidFill>
            <a:srgbClr val="1A7A3F">
              <a:alpha val="7361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2" name="TextBox 1081"/>
          <p:cNvSpPr txBox="1"/>
          <p:nvPr/>
        </p:nvSpPr>
        <p:spPr>
          <a:xfrm>
            <a:off x="862880" y="20760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4.9M</a:t>
            </a:r>
          </a:p>
        </p:txBody>
      </p:sp>
      <p:sp>
        <p:nvSpPr>
          <p:cNvPr id="1083" name="TextBox 1082"/>
          <p:cNvSpPr txBox="1"/>
          <p:nvPr/>
        </p:nvSpPr>
        <p:spPr>
          <a:xfrm>
            <a:off x="862880" y="22060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10件</a:t>
            </a:r>
          </a:p>
        </p:txBody>
      </p:sp>
      <p:sp>
        <p:nvSpPr>
          <p:cNvPr id="1084" name="Rectangle 1083"/>
          <p:cNvSpPr/>
          <p:nvPr/>
        </p:nvSpPr>
        <p:spPr>
          <a:xfrm>
            <a:off x="1216129" y="2074016"/>
            <a:ext cx="335249" cy="250996"/>
          </a:xfrm>
          <a:prstGeom prst="rect">
            <a:avLst/>
          </a:prstGeom>
          <a:solidFill>
            <a:srgbClr val="1A7A3F">
              <a:alpha val="5971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5" name="TextBox 1084"/>
          <p:cNvSpPr txBox="1"/>
          <p:nvPr/>
        </p:nvSpPr>
        <p:spPr>
          <a:xfrm>
            <a:off x="1210129" y="20760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3.5M</a:t>
            </a:r>
          </a:p>
        </p:txBody>
      </p:sp>
      <p:sp>
        <p:nvSpPr>
          <p:cNvPr id="1086" name="TextBox 1085"/>
          <p:cNvSpPr txBox="1"/>
          <p:nvPr/>
        </p:nvSpPr>
        <p:spPr>
          <a:xfrm>
            <a:off x="1210129" y="22060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7件</a:t>
            </a:r>
          </a:p>
        </p:txBody>
      </p:sp>
      <p:sp>
        <p:nvSpPr>
          <p:cNvPr id="1087" name="Rectangle 1086"/>
          <p:cNvSpPr/>
          <p:nvPr/>
        </p:nvSpPr>
        <p:spPr>
          <a:xfrm>
            <a:off x="1563378" y="2074016"/>
            <a:ext cx="335249" cy="250996"/>
          </a:xfrm>
          <a:prstGeom prst="rect">
            <a:avLst/>
          </a:prstGeom>
          <a:solidFill>
            <a:srgbClr val="1A7A3F">
              <a:alpha val="8031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8" name="TextBox 1087"/>
          <p:cNvSpPr txBox="1"/>
          <p:nvPr/>
        </p:nvSpPr>
        <p:spPr>
          <a:xfrm>
            <a:off x="1557378" y="20760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5.6M</a:t>
            </a:r>
          </a:p>
        </p:txBody>
      </p:sp>
      <p:sp>
        <p:nvSpPr>
          <p:cNvPr id="1089" name="TextBox 1088"/>
          <p:cNvSpPr txBox="1"/>
          <p:nvPr/>
        </p:nvSpPr>
        <p:spPr>
          <a:xfrm>
            <a:off x="1557378" y="22060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12件</a:t>
            </a:r>
          </a:p>
        </p:txBody>
      </p:sp>
      <p:sp>
        <p:nvSpPr>
          <p:cNvPr id="1090" name="Rectangle 1089"/>
          <p:cNvSpPr/>
          <p:nvPr/>
        </p:nvSpPr>
        <p:spPr>
          <a:xfrm>
            <a:off x="1910627" y="2074016"/>
            <a:ext cx="335249" cy="250996"/>
          </a:xfrm>
          <a:prstGeom prst="rect">
            <a:avLst/>
          </a:prstGeom>
          <a:solidFill>
            <a:srgbClr val="1A7A3F">
              <a:alpha val="3945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1" name="TextBox 1090"/>
          <p:cNvSpPr txBox="1"/>
          <p:nvPr/>
        </p:nvSpPr>
        <p:spPr>
          <a:xfrm>
            <a:off x="1904627" y="20760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1.5M</a:t>
            </a:r>
          </a:p>
        </p:txBody>
      </p:sp>
      <p:sp>
        <p:nvSpPr>
          <p:cNvPr id="1092" name="TextBox 1091"/>
          <p:cNvSpPr txBox="1"/>
          <p:nvPr/>
        </p:nvSpPr>
        <p:spPr>
          <a:xfrm>
            <a:off x="1904627" y="22060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5件</a:t>
            </a:r>
          </a:p>
        </p:txBody>
      </p:sp>
      <p:sp>
        <p:nvSpPr>
          <p:cNvPr id="1093" name="Rectangle 1092"/>
          <p:cNvSpPr/>
          <p:nvPr/>
        </p:nvSpPr>
        <p:spPr>
          <a:xfrm>
            <a:off x="2257876" y="2074016"/>
            <a:ext cx="335249" cy="250996"/>
          </a:xfrm>
          <a:prstGeom prst="rect">
            <a:avLst/>
          </a:prstGeom>
          <a:solidFill>
            <a:srgbClr val="1A7A3F">
              <a:alpha val="7237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4" name="TextBox 1093"/>
          <p:cNvSpPr txBox="1"/>
          <p:nvPr/>
        </p:nvSpPr>
        <p:spPr>
          <a:xfrm>
            <a:off x="2251876" y="20760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4.8M</a:t>
            </a:r>
          </a:p>
        </p:txBody>
      </p:sp>
      <p:sp>
        <p:nvSpPr>
          <p:cNvPr id="1095" name="TextBox 1094"/>
          <p:cNvSpPr txBox="1"/>
          <p:nvPr/>
        </p:nvSpPr>
        <p:spPr>
          <a:xfrm>
            <a:off x="2251876" y="22060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10件</a:t>
            </a:r>
          </a:p>
        </p:txBody>
      </p:sp>
      <p:sp>
        <p:nvSpPr>
          <p:cNvPr id="1096" name="Rectangle 1095"/>
          <p:cNvSpPr/>
          <p:nvPr/>
        </p:nvSpPr>
        <p:spPr>
          <a:xfrm>
            <a:off x="2605125" y="2074016"/>
            <a:ext cx="335249" cy="250996"/>
          </a:xfrm>
          <a:prstGeom prst="rect">
            <a:avLst/>
          </a:prstGeom>
          <a:solidFill>
            <a:srgbClr val="1A7A3F">
              <a:alpha val="7326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7" name="TextBox 1096"/>
          <p:cNvSpPr txBox="1"/>
          <p:nvPr/>
        </p:nvSpPr>
        <p:spPr>
          <a:xfrm>
            <a:off x="2599125" y="20760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4.9M</a:t>
            </a:r>
          </a:p>
        </p:txBody>
      </p:sp>
      <p:sp>
        <p:nvSpPr>
          <p:cNvPr id="1098" name="TextBox 1097"/>
          <p:cNvSpPr txBox="1"/>
          <p:nvPr/>
        </p:nvSpPr>
        <p:spPr>
          <a:xfrm>
            <a:off x="2599125" y="22060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9件</a:t>
            </a:r>
          </a:p>
        </p:txBody>
      </p:sp>
      <p:sp>
        <p:nvSpPr>
          <p:cNvPr id="1099" name="Rectangle 1098"/>
          <p:cNvSpPr/>
          <p:nvPr/>
        </p:nvSpPr>
        <p:spPr>
          <a:xfrm>
            <a:off x="2952374" y="2074016"/>
            <a:ext cx="335249" cy="250996"/>
          </a:xfrm>
          <a:prstGeom prst="rect">
            <a:avLst/>
          </a:prstGeom>
          <a:solidFill>
            <a:srgbClr val="1A7A3F">
              <a:alpha val="8311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0" name="TextBox 1099"/>
          <p:cNvSpPr txBox="1"/>
          <p:nvPr/>
        </p:nvSpPr>
        <p:spPr>
          <a:xfrm>
            <a:off x="2946374" y="20760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5.9M</a:t>
            </a:r>
          </a:p>
        </p:txBody>
      </p:sp>
      <p:sp>
        <p:nvSpPr>
          <p:cNvPr id="1101" name="TextBox 1100"/>
          <p:cNvSpPr txBox="1"/>
          <p:nvPr/>
        </p:nvSpPr>
        <p:spPr>
          <a:xfrm>
            <a:off x="2946374" y="22060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16件</a:t>
            </a:r>
          </a:p>
        </p:txBody>
      </p:sp>
      <p:sp>
        <p:nvSpPr>
          <p:cNvPr id="1102" name="Rectangle 1101"/>
          <p:cNvSpPr/>
          <p:nvPr/>
        </p:nvSpPr>
        <p:spPr>
          <a:xfrm>
            <a:off x="3299623" y="2074016"/>
            <a:ext cx="335249" cy="250996"/>
          </a:xfrm>
          <a:prstGeom prst="rect">
            <a:avLst/>
          </a:prstGeom>
          <a:solidFill>
            <a:srgbClr val="1A7A3F">
              <a:alpha val="6606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3" name="TextBox 1102"/>
          <p:cNvSpPr txBox="1"/>
          <p:nvPr/>
        </p:nvSpPr>
        <p:spPr>
          <a:xfrm>
            <a:off x="3293623" y="20760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4.1M</a:t>
            </a:r>
          </a:p>
        </p:txBody>
      </p:sp>
      <p:sp>
        <p:nvSpPr>
          <p:cNvPr id="1104" name="TextBox 1103"/>
          <p:cNvSpPr txBox="1"/>
          <p:nvPr/>
        </p:nvSpPr>
        <p:spPr>
          <a:xfrm>
            <a:off x="3293623" y="22060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11件</a:t>
            </a:r>
          </a:p>
        </p:txBody>
      </p:sp>
      <p:sp>
        <p:nvSpPr>
          <p:cNvPr id="1105" name="Rectangle 1104"/>
          <p:cNvSpPr/>
          <p:nvPr/>
        </p:nvSpPr>
        <p:spPr>
          <a:xfrm>
            <a:off x="3646872" y="2074016"/>
            <a:ext cx="335249" cy="250996"/>
          </a:xfrm>
          <a:prstGeom prst="rect">
            <a:avLst/>
          </a:prstGeom>
          <a:solidFill>
            <a:srgbClr val="1A7A3F">
              <a:alpha val="5510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6" name="TextBox 1105"/>
          <p:cNvSpPr txBox="1"/>
          <p:nvPr/>
        </p:nvSpPr>
        <p:spPr>
          <a:xfrm>
            <a:off x="3640872" y="20760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3.0M</a:t>
            </a:r>
          </a:p>
        </p:txBody>
      </p:sp>
      <p:sp>
        <p:nvSpPr>
          <p:cNvPr id="1107" name="TextBox 1106"/>
          <p:cNvSpPr txBox="1"/>
          <p:nvPr/>
        </p:nvSpPr>
        <p:spPr>
          <a:xfrm>
            <a:off x="3640872" y="22060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9件</a:t>
            </a:r>
          </a:p>
        </p:txBody>
      </p:sp>
      <p:sp>
        <p:nvSpPr>
          <p:cNvPr id="1108" name="Rectangle 1107"/>
          <p:cNvSpPr/>
          <p:nvPr/>
        </p:nvSpPr>
        <p:spPr>
          <a:xfrm>
            <a:off x="3994121" y="2074016"/>
            <a:ext cx="335249" cy="250996"/>
          </a:xfrm>
          <a:prstGeom prst="rect">
            <a:avLst/>
          </a:prstGeom>
          <a:solidFill>
            <a:srgbClr val="1A7A3F">
              <a:alpha val="7562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9" name="TextBox 1108"/>
          <p:cNvSpPr txBox="1"/>
          <p:nvPr/>
        </p:nvSpPr>
        <p:spPr>
          <a:xfrm>
            <a:off x="3988121" y="20760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5.1M</a:t>
            </a:r>
          </a:p>
        </p:txBody>
      </p:sp>
      <p:sp>
        <p:nvSpPr>
          <p:cNvPr id="1110" name="TextBox 1109"/>
          <p:cNvSpPr txBox="1"/>
          <p:nvPr/>
        </p:nvSpPr>
        <p:spPr>
          <a:xfrm>
            <a:off x="3988121" y="22060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15件</a:t>
            </a:r>
          </a:p>
        </p:txBody>
      </p:sp>
      <p:sp>
        <p:nvSpPr>
          <p:cNvPr id="1111" name="Rectangle 1110"/>
          <p:cNvSpPr/>
          <p:nvPr/>
        </p:nvSpPr>
        <p:spPr>
          <a:xfrm>
            <a:off x="4341370" y="2074016"/>
            <a:ext cx="335249" cy="250996"/>
          </a:xfrm>
          <a:prstGeom prst="rect">
            <a:avLst/>
          </a:prstGeom>
          <a:solidFill>
            <a:srgbClr val="1A7A3F">
              <a:alpha val="8364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2" name="TextBox 1111"/>
          <p:cNvSpPr txBox="1"/>
          <p:nvPr/>
        </p:nvSpPr>
        <p:spPr>
          <a:xfrm>
            <a:off x="4335370" y="20760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5.9M</a:t>
            </a:r>
          </a:p>
        </p:txBody>
      </p:sp>
      <p:sp>
        <p:nvSpPr>
          <p:cNvPr id="1113" name="TextBox 1112"/>
          <p:cNvSpPr txBox="1"/>
          <p:nvPr/>
        </p:nvSpPr>
        <p:spPr>
          <a:xfrm>
            <a:off x="4335370" y="22060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19件</a:t>
            </a:r>
          </a:p>
        </p:txBody>
      </p:sp>
      <p:sp>
        <p:nvSpPr>
          <p:cNvPr id="1114" name="Rectangle 1113"/>
          <p:cNvSpPr/>
          <p:nvPr/>
        </p:nvSpPr>
        <p:spPr>
          <a:xfrm>
            <a:off x="4688619" y="2074016"/>
            <a:ext cx="335249" cy="250996"/>
          </a:xfrm>
          <a:prstGeom prst="rect">
            <a:avLst/>
          </a:prstGeom>
          <a:solidFill>
            <a:srgbClr val="1A7A3F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5" name="TextBox 1114"/>
          <p:cNvSpPr txBox="1"/>
          <p:nvPr/>
        </p:nvSpPr>
        <p:spPr>
          <a:xfrm>
            <a:off x="4682619" y="20760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7.6M</a:t>
            </a:r>
          </a:p>
        </p:txBody>
      </p:sp>
      <p:sp>
        <p:nvSpPr>
          <p:cNvPr id="1116" name="TextBox 1115"/>
          <p:cNvSpPr txBox="1"/>
          <p:nvPr/>
        </p:nvSpPr>
        <p:spPr>
          <a:xfrm>
            <a:off x="4682619" y="22060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23件</a:t>
            </a:r>
          </a:p>
        </p:txBody>
      </p:sp>
      <p:sp>
        <p:nvSpPr>
          <p:cNvPr id="1117" name="Rectangle 1116"/>
          <p:cNvSpPr/>
          <p:nvPr/>
        </p:nvSpPr>
        <p:spPr>
          <a:xfrm>
            <a:off x="5035868" y="2074016"/>
            <a:ext cx="335249" cy="250996"/>
          </a:xfrm>
          <a:prstGeom prst="rect">
            <a:avLst/>
          </a:prstGeom>
          <a:solidFill>
            <a:srgbClr val="1A7A3F">
              <a:alpha val="5105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8" name="TextBox 1117"/>
          <p:cNvSpPr txBox="1"/>
          <p:nvPr/>
        </p:nvSpPr>
        <p:spPr>
          <a:xfrm>
            <a:off x="5029868" y="20760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2.6M</a:t>
            </a:r>
          </a:p>
        </p:txBody>
      </p:sp>
      <p:sp>
        <p:nvSpPr>
          <p:cNvPr id="1119" name="TextBox 1118"/>
          <p:cNvSpPr txBox="1"/>
          <p:nvPr/>
        </p:nvSpPr>
        <p:spPr>
          <a:xfrm>
            <a:off x="5029868" y="22060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10件</a:t>
            </a:r>
          </a:p>
        </p:txBody>
      </p:sp>
      <p:sp>
        <p:nvSpPr>
          <p:cNvPr id="1120" name="Rectangle 1119"/>
          <p:cNvSpPr/>
          <p:nvPr/>
        </p:nvSpPr>
        <p:spPr>
          <a:xfrm>
            <a:off x="5383117" y="2074016"/>
            <a:ext cx="335249" cy="250996"/>
          </a:xfrm>
          <a:prstGeom prst="rect">
            <a:avLst/>
          </a:prstGeom>
          <a:solidFill>
            <a:srgbClr val="1A7A3F">
              <a:alpha val="5507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1" name="TextBox 1120"/>
          <p:cNvSpPr txBox="1"/>
          <p:nvPr/>
        </p:nvSpPr>
        <p:spPr>
          <a:xfrm>
            <a:off x="5377117" y="20760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3.0M</a:t>
            </a:r>
          </a:p>
        </p:txBody>
      </p:sp>
      <p:sp>
        <p:nvSpPr>
          <p:cNvPr id="1122" name="TextBox 1121"/>
          <p:cNvSpPr txBox="1"/>
          <p:nvPr/>
        </p:nvSpPr>
        <p:spPr>
          <a:xfrm>
            <a:off x="5377117" y="22060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12件</a:t>
            </a:r>
          </a:p>
        </p:txBody>
      </p:sp>
      <p:sp>
        <p:nvSpPr>
          <p:cNvPr id="1123" name="Rectangle 1122"/>
          <p:cNvSpPr/>
          <p:nvPr/>
        </p:nvSpPr>
        <p:spPr>
          <a:xfrm>
            <a:off x="5730366" y="2074016"/>
            <a:ext cx="335249" cy="250996"/>
          </a:xfrm>
          <a:prstGeom prst="rect">
            <a:avLst/>
          </a:prstGeom>
          <a:solidFill>
            <a:srgbClr val="1A7A3F">
              <a:alpha val="7205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4" name="TextBox 1123"/>
          <p:cNvSpPr txBox="1"/>
          <p:nvPr/>
        </p:nvSpPr>
        <p:spPr>
          <a:xfrm>
            <a:off x="5724366" y="20760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4.7M</a:t>
            </a:r>
          </a:p>
        </p:txBody>
      </p:sp>
      <p:sp>
        <p:nvSpPr>
          <p:cNvPr id="1125" name="TextBox 1124"/>
          <p:cNvSpPr txBox="1"/>
          <p:nvPr/>
        </p:nvSpPr>
        <p:spPr>
          <a:xfrm>
            <a:off x="5724366" y="22060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10件</a:t>
            </a:r>
          </a:p>
        </p:txBody>
      </p:sp>
      <p:sp>
        <p:nvSpPr>
          <p:cNvPr id="1126" name="TextBox 1125"/>
          <p:cNvSpPr txBox="1"/>
          <p:nvPr/>
        </p:nvSpPr>
        <p:spPr>
          <a:xfrm>
            <a:off x="202880" y="2331012"/>
            <a:ext cx="650000" cy="2629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合伙转介</a:t>
            </a:r>
          </a:p>
        </p:txBody>
      </p:sp>
      <p:sp>
        <p:nvSpPr>
          <p:cNvPr id="1127" name="Rectangle 1126"/>
          <p:cNvSpPr/>
          <p:nvPr/>
        </p:nvSpPr>
        <p:spPr>
          <a:xfrm>
            <a:off x="868880" y="2337012"/>
            <a:ext cx="335249" cy="250996"/>
          </a:xfrm>
          <a:prstGeom prst="rect">
            <a:avLst/>
          </a:prstGeom>
          <a:solidFill>
            <a:srgbClr val="94A3B8">
              <a:alpha val="2556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8" name="TextBox 1127"/>
          <p:cNvSpPr txBox="1"/>
          <p:nvPr/>
        </p:nvSpPr>
        <p:spPr>
          <a:xfrm>
            <a:off x="862880" y="23390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0.0M</a:t>
            </a:r>
          </a:p>
        </p:txBody>
      </p:sp>
      <p:sp>
        <p:nvSpPr>
          <p:cNvPr id="1129" name="TextBox 1128"/>
          <p:cNvSpPr txBox="1"/>
          <p:nvPr/>
        </p:nvSpPr>
        <p:spPr>
          <a:xfrm>
            <a:off x="862880" y="246900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2件</a:t>
            </a:r>
          </a:p>
        </p:txBody>
      </p:sp>
      <p:sp>
        <p:nvSpPr>
          <p:cNvPr id="1130" name="Rectangle 1129"/>
          <p:cNvSpPr/>
          <p:nvPr/>
        </p:nvSpPr>
        <p:spPr>
          <a:xfrm>
            <a:off x="1910627" y="2337012"/>
            <a:ext cx="335249" cy="250996"/>
          </a:xfrm>
          <a:prstGeom prst="rect">
            <a:avLst/>
          </a:prstGeom>
          <a:solidFill>
            <a:srgbClr val="94A3B8">
              <a:alpha val="3231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1" name="TextBox 1130"/>
          <p:cNvSpPr txBox="1"/>
          <p:nvPr/>
        </p:nvSpPr>
        <p:spPr>
          <a:xfrm>
            <a:off x="1904627" y="23390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0.4M</a:t>
            </a:r>
          </a:p>
        </p:txBody>
      </p:sp>
      <p:sp>
        <p:nvSpPr>
          <p:cNvPr id="1132" name="TextBox 1131"/>
          <p:cNvSpPr txBox="1"/>
          <p:nvPr/>
        </p:nvSpPr>
        <p:spPr>
          <a:xfrm>
            <a:off x="1904627" y="246900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1件</a:t>
            </a:r>
          </a:p>
        </p:txBody>
      </p:sp>
      <p:sp>
        <p:nvSpPr>
          <p:cNvPr id="1133" name="Rectangle 1132"/>
          <p:cNvSpPr/>
          <p:nvPr/>
        </p:nvSpPr>
        <p:spPr>
          <a:xfrm>
            <a:off x="2605125" y="2337012"/>
            <a:ext cx="335249" cy="250996"/>
          </a:xfrm>
          <a:prstGeom prst="rect">
            <a:avLst/>
          </a:prstGeom>
          <a:solidFill>
            <a:srgbClr val="94A3B8">
              <a:alpha val="2583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4" name="TextBox 1133"/>
          <p:cNvSpPr txBox="1"/>
          <p:nvPr/>
        </p:nvSpPr>
        <p:spPr>
          <a:xfrm>
            <a:off x="2599125" y="23390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0.0M</a:t>
            </a:r>
          </a:p>
        </p:txBody>
      </p:sp>
      <p:sp>
        <p:nvSpPr>
          <p:cNvPr id="1135" name="TextBox 1134"/>
          <p:cNvSpPr txBox="1"/>
          <p:nvPr/>
        </p:nvSpPr>
        <p:spPr>
          <a:xfrm>
            <a:off x="2599125" y="246900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2件</a:t>
            </a:r>
          </a:p>
        </p:txBody>
      </p:sp>
      <p:sp>
        <p:nvSpPr>
          <p:cNvPr id="1136" name="Rectangle 1135"/>
          <p:cNvSpPr/>
          <p:nvPr/>
        </p:nvSpPr>
        <p:spPr>
          <a:xfrm>
            <a:off x="3994121" y="2337012"/>
            <a:ext cx="335249" cy="250996"/>
          </a:xfrm>
          <a:prstGeom prst="rect">
            <a:avLst/>
          </a:prstGeom>
          <a:solidFill>
            <a:srgbClr val="94A3B8">
              <a:alpha val="2646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7" name="TextBox 1136"/>
          <p:cNvSpPr txBox="1"/>
          <p:nvPr/>
        </p:nvSpPr>
        <p:spPr>
          <a:xfrm>
            <a:off x="3988121" y="23390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0.1M</a:t>
            </a:r>
          </a:p>
        </p:txBody>
      </p:sp>
      <p:sp>
        <p:nvSpPr>
          <p:cNvPr id="1138" name="TextBox 1137"/>
          <p:cNvSpPr txBox="1"/>
          <p:nvPr/>
        </p:nvSpPr>
        <p:spPr>
          <a:xfrm>
            <a:off x="3988121" y="246900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1件</a:t>
            </a:r>
          </a:p>
        </p:txBody>
      </p:sp>
      <p:sp>
        <p:nvSpPr>
          <p:cNvPr id="1139" name="Rectangle 1138"/>
          <p:cNvSpPr/>
          <p:nvPr/>
        </p:nvSpPr>
        <p:spPr>
          <a:xfrm>
            <a:off x="4688619" y="2337012"/>
            <a:ext cx="335249" cy="250996"/>
          </a:xfrm>
          <a:prstGeom prst="rect">
            <a:avLst/>
          </a:prstGeom>
          <a:solidFill>
            <a:srgbClr val="94A3B8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0" name="TextBox 1139"/>
          <p:cNvSpPr txBox="1"/>
          <p:nvPr/>
        </p:nvSpPr>
        <p:spPr>
          <a:xfrm>
            <a:off x="4682619" y="23390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4.0M</a:t>
            </a:r>
          </a:p>
        </p:txBody>
      </p:sp>
      <p:sp>
        <p:nvSpPr>
          <p:cNvPr id="1141" name="TextBox 1140"/>
          <p:cNvSpPr txBox="1"/>
          <p:nvPr/>
        </p:nvSpPr>
        <p:spPr>
          <a:xfrm>
            <a:off x="4682619" y="246900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4件</a:t>
            </a:r>
          </a:p>
        </p:txBody>
      </p:sp>
      <p:sp>
        <p:nvSpPr>
          <p:cNvPr id="1142" name="Rectangle 1141"/>
          <p:cNvSpPr/>
          <p:nvPr/>
        </p:nvSpPr>
        <p:spPr>
          <a:xfrm>
            <a:off x="5383117" y="2337012"/>
            <a:ext cx="335249" cy="250996"/>
          </a:xfrm>
          <a:prstGeom prst="rect">
            <a:avLst/>
          </a:prstGeom>
          <a:solidFill>
            <a:srgbClr val="94A3B8">
              <a:alpha val="2976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3" name="TextBox 1142"/>
          <p:cNvSpPr txBox="1"/>
          <p:nvPr/>
        </p:nvSpPr>
        <p:spPr>
          <a:xfrm>
            <a:off x="5377117" y="23390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0.3M</a:t>
            </a:r>
          </a:p>
        </p:txBody>
      </p:sp>
      <p:sp>
        <p:nvSpPr>
          <p:cNvPr id="1144" name="TextBox 1143"/>
          <p:cNvSpPr txBox="1"/>
          <p:nvPr/>
        </p:nvSpPr>
        <p:spPr>
          <a:xfrm>
            <a:off x="5377117" y="246900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3件</a:t>
            </a:r>
          </a:p>
        </p:txBody>
      </p:sp>
      <p:sp>
        <p:nvSpPr>
          <p:cNvPr id="1145" name="TextBox 1144"/>
          <p:cNvSpPr txBox="1"/>
          <p:nvPr/>
        </p:nvSpPr>
        <p:spPr>
          <a:xfrm>
            <a:off x="202880" y="2594008"/>
            <a:ext cx="650000" cy="2629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ICLUB业务</a:t>
            </a:r>
          </a:p>
        </p:txBody>
      </p:sp>
      <p:sp>
        <p:nvSpPr>
          <p:cNvPr id="1146" name="Rectangle 1145"/>
          <p:cNvSpPr/>
          <p:nvPr/>
        </p:nvSpPr>
        <p:spPr>
          <a:xfrm>
            <a:off x="1910627" y="2600008"/>
            <a:ext cx="335249" cy="250996"/>
          </a:xfrm>
          <a:prstGeom prst="rect">
            <a:avLst/>
          </a:prstGeom>
          <a:solidFill>
            <a:srgbClr val="8E44AD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7" name="TextBox 1146"/>
          <p:cNvSpPr txBox="1"/>
          <p:nvPr/>
        </p:nvSpPr>
        <p:spPr>
          <a:xfrm>
            <a:off x="1904627" y="260200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4.0M</a:t>
            </a:r>
          </a:p>
        </p:txBody>
      </p:sp>
      <p:sp>
        <p:nvSpPr>
          <p:cNvPr id="1148" name="TextBox 1147"/>
          <p:cNvSpPr txBox="1"/>
          <p:nvPr/>
        </p:nvSpPr>
        <p:spPr>
          <a:xfrm>
            <a:off x="1904627" y="273200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1件</a:t>
            </a:r>
          </a:p>
        </p:txBody>
      </p:sp>
      <p:sp>
        <p:nvSpPr>
          <p:cNvPr id="1149" name="Rectangle 1148"/>
          <p:cNvSpPr/>
          <p:nvPr/>
        </p:nvSpPr>
        <p:spPr>
          <a:xfrm>
            <a:off x="2605125" y="2600008"/>
            <a:ext cx="335249" cy="250996"/>
          </a:xfrm>
          <a:prstGeom prst="rect">
            <a:avLst/>
          </a:prstGeom>
          <a:solidFill>
            <a:srgbClr val="8E44AD">
              <a:alpha val="2516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0" name="TextBox 1149"/>
          <p:cNvSpPr txBox="1"/>
          <p:nvPr/>
        </p:nvSpPr>
        <p:spPr>
          <a:xfrm>
            <a:off x="2599125" y="260200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8E44AD"/>
                </a:solidFill>
                <a:latin typeface="Calibri"/>
              </a:rPr>
              <a:t>0.0M</a:t>
            </a:r>
          </a:p>
        </p:txBody>
      </p:sp>
      <p:sp>
        <p:nvSpPr>
          <p:cNvPr id="1151" name="TextBox 1150"/>
          <p:cNvSpPr txBox="1"/>
          <p:nvPr/>
        </p:nvSpPr>
        <p:spPr>
          <a:xfrm>
            <a:off x="2599125" y="273200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8E44AD"/>
                </a:solidFill>
                <a:latin typeface="Calibri"/>
              </a:rPr>
              <a:t>1件</a:t>
            </a:r>
          </a:p>
        </p:txBody>
      </p:sp>
      <p:sp>
        <p:nvSpPr>
          <p:cNvPr id="1152" name="TextBox 1151"/>
          <p:cNvSpPr txBox="1"/>
          <p:nvPr/>
        </p:nvSpPr>
        <p:spPr>
          <a:xfrm>
            <a:off x="202880" y="2857004"/>
            <a:ext cx="650000" cy="2629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202020"/>
                </a:solidFill>
                <a:latin typeface="Calibri"/>
              </a:rPr>
              <a:t>合计</a:t>
            </a:r>
          </a:p>
        </p:txBody>
      </p:sp>
      <p:sp>
        <p:nvSpPr>
          <p:cNvPr id="1153" name="Rectangle 1152"/>
          <p:cNvSpPr/>
          <p:nvPr/>
        </p:nvSpPr>
        <p:spPr>
          <a:xfrm>
            <a:off x="868880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4" name="TextBox 1153"/>
          <p:cNvSpPr txBox="1"/>
          <p:nvPr/>
        </p:nvSpPr>
        <p:spPr>
          <a:xfrm>
            <a:off x="862880" y="28650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12.2M</a:t>
            </a:r>
          </a:p>
        </p:txBody>
      </p:sp>
      <p:sp>
        <p:nvSpPr>
          <p:cNvPr id="1155" name="TextBox 1154"/>
          <p:cNvSpPr txBox="1"/>
          <p:nvPr/>
        </p:nvSpPr>
        <p:spPr>
          <a:xfrm>
            <a:off x="862880" y="29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29件</a:t>
            </a:r>
          </a:p>
        </p:txBody>
      </p:sp>
      <p:sp>
        <p:nvSpPr>
          <p:cNvPr id="1156" name="Rectangle 1155"/>
          <p:cNvSpPr/>
          <p:nvPr/>
        </p:nvSpPr>
        <p:spPr>
          <a:xfrm>
            <a:off x="1216129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7" name="TextBox 1156"/>
          <p:cNvSpPr txBox="1"/>
          <p:nvPr/>
        </p:nvSpPr>
        <p:spPr>
          <a:xfrm>
            <a:off x="1210129" y="28650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10.4M</a:t>
            </a:r>
          </a:p>
        </p:txBody>
      </p:sp>
      <p:sp>
        <p:nvSpPr>
          <p:cNvPr id="1158" name="TextBox 1157"/>
          <p:cNvSpPr txBox="1"/>
          <p:nvPr/>
        </p:nvSpPr>
        <p:spPr>
          <a:xfrm>
            <a:off x="1210129" y="29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38件</a:t>
            </a:r>
          </a:p>
        </p:txBody>
      </p:sp>
      <p:sp>
        <p:nvSpPr>
          <p:cNvPr id="1159" name="Rectangle 1158"/>
          <p:cNvSpPr/>
          <p:nvPr/>
        </p:nvSpPr>
        <p:spPr>
          <a:xfrm>
            <a:off x="1563378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0" name="TextBox 1159"/>
          <p:cNvSpPr txBox="1"/>
          <p:nvPr/>
        </p:nvSpPr>
        <p:spPr>
          <a:xfrm>
            <a:off x="1557378" y="28650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23.7M</a:t>
            </a:r>
          </a:p>
        </p:txBody>
      </p:sp>
      <p:sp>
        <p:nvSpPr>
          <p:cNvPr id="1161" name="TextBox 1160"/>
          <p:cNvSpPr txBox="1"/>
          <p:nvPr/>
        </p:nvSpPr>
        <p:spPr>
          <a:xfrm>
            <a:off x="1557378" y="29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46件</a:t>
            </a:r>
          </a:p>
        </p:txBody>
      </p:sp>
      <p:sp>
        <p:nvSpPr>
          <p:cNvPr id="1162" name="Rectangle 1161"/>
          <p:cNvSpPr/>
          <p:nvPr/>
        </p:nvSpPr>
        <p:spPr>
          <a:xfrm>
            <a:off x="1910627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3" name="TextBox 1162"/>
          <p:cNvSpPr txBox="1"/>
          <p:nvPr/>
        </p:nvSpPr>
        <p:spPr>
          <a:xfrm>
            <a:off x="1904627" y="28650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9.8M</a:t>
            </a:r>
          </a:p>
        </p:txBody>
      </p:sp>
      <p:sp>
        <p:nvSpPr>
          <p:cNvPr id="1164" name="TextBox 1163"/>
          <p:cNvSpPr txBox="1"/>
          <p:nvPr/>
        </p:nvSpPr>
        <p:spPr>
          <a:xfrm>
            <a:off x="1904627" y="29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19件</a:t>
            </a:r>
          </a:p>
        </p:txBody>
      </p:sp>
      <p:sp>
        <p:nvSpPr>
          <p:cNvPr id="1165" name="Rectangle 1164"/>
          <p:cNvSpPr/>
          <p:nvPr/>
        </p:nvSpPr>
        <p:spPr>
          <a:xfrm>
            <a:off x="2257876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6" name="TextBox 1165"/>
          <p:cNvSpPr txBox="1"/>
          <p:nvPr/>
        </p:nvSpPr>
        <p:spPr>
          <a:xfrm>
            <a:off x="2251876" y="28650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11.1M</a:t>
            </a:r>
          </a:p>
        </p:txBody>
      </p:sp>
      <p:sp>
        <p:nvSpPr>
          <p:cNvPr id="1167" name="TextBox 1166"/>
          <p:cNvSpPr txBox="1"/>
          <p:nvPr/>
        </p:nvSpPr>
        <p:spPr>
          <a:xfrm>
            <a:off x="2251876" y="29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39件</a:t>
            </a:r>
          </a:p>
        </p:txBody>
      </p:sp>
      <p:sp>
        <p:nvSpPr>
          <p:cNvPr id="1168" name="Rectangle 1167"/>
          <p:cNvSpPr/>
          <p:nvPr/>
        </p:nvSpPr>
        <p:spPr>
          <a:xfrm>
            <a:off x="2605125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9" name="TextBox 1168"/>
          <p:cNvSpPr txBox="1"/>
          <p:nvPr/>
        </p:nvSpPr>
        <p:spPr>
          <a:xfrm>
            <a:off x="2599125" y="28650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19.3M</a:t>
            </a:r>
          </a:p>
        </p:txBody>
      </p:sp>
      <p:sp>
        <p:nvSpPr>
          <p:cNvPr id="1170" name="TextBox 1169"/>
          <p:cNvSpPr txBox="1"/>
          <p:nvPr/>
        </p:nvSpPr>
        <p:spPr>
          <a:xfrm>
            <a:off x="2599125" y="29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50件</a:t>
            </a:r>
          </a:p>
        </p:txBody>
      </p:sp>
      <p:sp>
        <p:nvSpPr>
          <p:cNvPr id="1171" name="Rectangle 1170"/>
          <p:cNvSpPr/>
          <p:nvPr/>
        </p:nvSpPr>
        <p:spPr>
          <a:xfrm>
            <a:off x="2952374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2" name="TextBox 1171"/>
          <p:cNvSpPr txBox="1"/>
          <p:nvPr/>
        </p:nvSpPr>
        <p:spPr>
          <a:xfrm>
            <a:off x="2946374" y="28650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20.0M</a:t>
            </a:r>
          </a:p>
        </p:txBody>
      </p:sp>
      <p:sp>
        <p:nvSpPr>
          <p:cNvPr id="1173" name="TextBox 1172"/>
          <p:cNvSpPr txBox="1"/>
          <p:nvPr/>
        </p:nvSpPr>
        <p:spPr>
          <a:xfrm>
            <a:off x="2946374" y="29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41件</a:t>
            </a:r>
          </a:p>
        </p:txBody>
      </p:sp>
      <p:sp>
        <p:nvSpPr>
          <p:cNvPr id="1174" name="Rectangle 1173"/>
          <p:cNvSpPr/>
          <p:nvPr/>
        </p:nvSpPr>
        <p:spPr>
          <a:xfrm>
            <a:off x="3299623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5" name="TextBox 1174"/>
          <p:cNvSpPr txBox="1"/>
          <p:nvPr/>
        </p:nvSpPr>
        <p:spPr>
          <a:xfrm>
            <a:off x="3293623" y="28650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14.3M</a:t>
            </a:r>
          </a:p>
        </p:txBody>
      </p:sp>
      <p:sp>
        <p:nvSpPr>
          <p:cNvPr id="1176" name="TextBox 1175"/>
          <p:cNvSpPr txBox="1"/>
          <p:nvPr/>
        </p:nvSpPr>
        <p:spPr>
          <a:xfrm>
            <a:off x="3293623" y="29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41件</a:t>
            </a:r>
          </a:p>
        </p:txBody>
      </p:sp>
      <p:sp>
        <p:nvSpPr>
          <p:cNvPr id="1177" name="Rectangle 1176"/>
          <p:cNvSpPr/>
          <p:nvPr/>
        </p:nvSpPr>
        <p:spPr>
          <a:xfrm>
            <a:off x="3646872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8" name="TextBox 1177"/>
          <p:cNvSpPr txBox="1"/>
          <p:nvPr/>
        </p:nvSpPr>
        <p:spPr>
          <a:xfrm>
            <a:off x="3640872" y="28650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9.6M</a:t>
            </a:r>
          </a:p>
        </p:txBody>
      </p:sp>
      <p:sp>
        <p:nvSpPr>
          <p:cNvPr id="1179" name="TextBox 1178"/>
          <p:cNvSpPr txBox="1"/>
          <p:nvPr/>
        </p:nvSpPr>
        <p:spPr>
          <a:xfrm>
            <a:off x="3640872" y="29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33件</a:t>
            </a:r>
          </a:p>
        </p:txBody>
      </p:sp>
      <p:sp>
        <p:nvSpPr>
          <p:cNvPr id="1180" name="Rectangle 1179"/>
          <p:cNvSpPr/>
          <p:nvPr/>
        </p:nvSpPr>
        <p:spPr>
          <a:xfrm>
            <a:off x="3994121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1" name="TextBox 1180"/>
          <p:cNvSpPr txBox="1"/>
          <p:nvPr/>
        </p:nvSpPr>
        <p:spPr>
          <a:xfrm>
            <a:off x="3988121" y="28650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16.2M</a:t>
            </a:r>
          </a:p>
        </p:txBody>
      </p:sp>
      <p:sp>
        <p:nvSpPr>
          <p:cNvPr id="1182" name="TextBox 1181"/>
          <p:cNvSpPr txBox="1"/>
          <p:nvPr/>
        </p:nvSpPr>
        <p:spPr>
          <a:xfrm>
            <a:off x="3988121" y="29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38件</a:t>
            </a:r>
          </a:p>
        </p:txBody>
      </p:sp>
      <p:sp>
        <p:nvSpPr>
          <p:cNvPr id="1183" name="Rectangle 1182"/>
          <p:cNvSpPr/>
          <p:nvPr/>
        </p:nvSpPr>
        <p:spPr>
          <a:xfrm>
            <a:off x="4341370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4" name="TextBox 1183"/>
          <p:cNvSpPr txBox="1"/>
          <p:nvPr/>
        </p:nvSpPr>
        <p:spPr>
          <a:xfrm>
            <a:off x="4335370" y="28650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14.3M</a:t>
            </a:r>
          </a:p>
        </p:txBody>
      </p:sp>
      <p:sp>
        <p:nvSpPr>
          <p:cNvPr id="1185" name="TextBox 1184"/>
          <p:cNvSpPr txBox="1"/>
          <p:nvPr/>
        </p:nvSpPr>
        <p:spPr>
          <a:xfrm>
            <a:off x="4335370" y="29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31件</a:t>
            </a:r>
          </a:p>
        </p:txBody>
      </p:sp>
      <p:sp>
        <p:nvSpPr>
          <p:cNvPr id="1186" name="Rectangle 1185"/>
          <p:cNvSpPr/>
          <p:nvPr/>
        </p:nvSpPr>
        <p:spPr>
          <a:xfrm>
            <a:off x="4688619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7" name="TextBox 1186"/>
          <p:cNvSpPr txBox="1"/>
          <p:nvPr/>
        </p:nvSpPr>
        <p:spPr>
          <a:xfrm>
            <a:off x="4682619" y="28650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22.8M</a:t>
            </a:r>
          </a:p>
        </p:txBody>
      </p:sp>
      <p:sp>
        <p:nvSpPr>
          <p:cNvPr id="1188" name="TextBox 1187"/>
          <p:cNvSpPr txBox="1"/>
          <p:nvPr/>
        </p:nvSpPr>
        <p:spPr>
          <a:xfrm>
            <a:off x="4682619" y="29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58件</a:t>
            </a:r>
          </a:p>
        </p:txBody>
      </p:sp>
      <p:sp>
        <p:nvSpPr>
          <p:cNvPr id="1189" name="Rectangle 1188"/>
          <p:cNvSpPr/>
          <p:nvPr/>
        </p:nvSpPr>
        <p:spPr>
          <a:xfrm>
            <a:off x="5035868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0" name="TextBox 1189"/>
          <p:cNvSpPr txBox="1"/>
          <p:nvPr/>
        </p:nvSpPr>
        <p:spPr>
          <a:xfrm>
            <a:off x="5029868" y="28650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7.7M</a:t>
            </a:r>
          </a:p>
        </p:txBody>
      </p:sp>
      <p:sp>
        <p:nvSpPr>
          <p:cNvPr id="1191" name="TextBox 1190"/>
          <p:cNvSpPr txBox="1"/>
          <p:nvPr/>
        </p:nvSpPr>
        <p:spPr>
          <a:xfrm>
            <a:off x="5029868" y="29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28件</a:t>
            </a:r>
          </a:p>
        </p:txBody>
      </p:sp>
      <p:sp>
        <p:nvSpPr>
          <p:cNvPr id="1192" name="Rectangle 1191"/>
          <p:cNvSpPr/>
          <p:nvPr/>
        </p:nvSpPr>
        <p:spPr>
          <a:xfrm>
            <a:off x="5383117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3" name="TextBox 1192"/>
          <p:cNvSpPr txBox="1"/>
          <p:nvPr/>
        </p:nvSpPr>
        <p:spPr>
          <a:xfrm>
            <a:off x="5377117" y="28650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16.8M</a:t>
            </a:r>
          </a:p>
        </p:txBody>
      </p:sp>
      <p:sp>
        <p:nvSpPr>
          <p:cNvPr id="1194" name="TextBox 1193"/>
          <p:cNvSpPr txBox="1"/>
          <p:nvPr/>
        </p:nvSpPr>
        <p:spPr>
          <a:xfrm>
            <a:off x="5377117" y="29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39件</a:t>
            </a:r>
          </a:p>
        </p:txBody>
      </p:sp>
      <p:sp>
        <p:nvSpPr>
          <p:cNvPr id="1195" name="Rectangle 1194"/>
          <p:cNvSpPr/>
          <p:nvPr/>
        </p:nvSpPr>
        <p:spPr>
          <a:xfrm>
            <a:off x="5730366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6" name="TextBox 1195"/>
          <p:cNvSpPr txBox="1"/>
          <p:nvPr/>
        </p:nvSpPr>
        <p:spPr>
          <a:xfrm>
            <a:off x="5724366" y="28650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11.8M</a:t>
            </a:r>
          </a:p>
        </p:txBody>
      </p:sp>
      <p:sp>
        <p:nvSpPr>
          <p:cNvPr id="1197" name="TextBox 1196"/>
          <p:cNvSpPr txBox="1"/>
          <p:nvPr/>
        </p:nvSpPr>
        <p:spPr>
          <a:xfrm>
            <a:off x="5724366" y="29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29件</a:t>
            </a:r>
          </a:p>
        </p:txBody>
      </p:sp>
      <p:sp>
        <p:nvSpPr>
          <p:cNvPr id="1198" name="Rectangle 1197"/>
          <p:cNvSpPr/>
          <p:nvPr/>
        </p:nvSpPr>
        <p:spPr>
          <a:xfrm>
            <a:off x="6163056" y="560000"/>
            <a:ext cx="5888736" cy="256032"/>
          </a:xfrm>
          <a:prstGeom prst="rect">
            <a:avLst/>
          </a:prstGeom>
          <a:solidFill>
            <a:srgbClr val="7E1F1F"/>
          </a:solidFill>
          <a:ln w="3175">
            <a:solidFill>
              <a:srgbClr val="7E1F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9" name="TextBox 1198"/>
          <p:cNvSpPr txBox="1"/>
          <p:nvPr/>
        </p:nvSpPr>
        <p:spPr>
          <a:xfrm>
            <a:off x="6243056" y="560000"/>
            <a:ext cx="5888736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R  周度签单业绩热力矩阵（APE in M）</a:t>
            </a:r>
          </a:p>
        </p:txBody>
      </p:sp>
      <p:sp>
        <p:nvSpPr>
          <p:cNvPr id="1200" name="TextBox 1199"/>
          <p:cNvSpPr txBox="1"/>
          <p:nvPr/>
        </p:nvSpPr>
        <p:spPr>
          <a:xfrm>
            <a:off x="6843056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W14</a:t>
            </a:r>
          </a:p>
        </p:txBody>
      </p:sp>
      <p:sp>
        <p:nvSpPr>
          <p:cNvPr id="1201" name="TextBox 1200"/>
          <p:cNvSpPr txBox="1"/>
          <p:nvPr/>
        </p:nvSpPr>
        <p:spPr>
          <a:xfrm>
            <a:off x="7190305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W15</a:t>
            </a:r>
          </a:p>
        </p:txBody>
      </p:sp>
      <p:sp>
        <p:nvSpPr>
          <p:cNvPr id="1202" name="TextBox 1201"/>
          <p:cNvSpPr txBox="1"/>
          <p:nvPr/>
        </p:nvSpPr>
        <p:spPr>
          <a:xfrm>
            <a:off x="7537554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W16</a:t>
            </a:r>
          </a:p>
        </p:txBody>
      </p:sp>
      <p:sp>
        <p:nvSpPr>
          <p:cNvPr id="1203" name="TextBox 1202"/>
          <p:cNvSpPr txBox="1"/>
          <p:nvPr/>
        </p:nvSpPr>
        <p:spPr>
          <a:xfrm>
            <a:off x="7884803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W17</a:t>
            </a:r>
          </a:p>
        </p:txBody>
      </p:sp>
      <p:sp>
        <p:nvSpPr>
          <p:cNvPr id="1204" name="TextBox 1203"/>
          <p:cNvSpPr txBox="1"/>
          <p:nvPr/>
        </p:nvSpPr>
        <p:spPr>
          <a:xfrm>
            <a:off x="8232052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W18</a:t>
            </a:r>
          </a:p>
        </p:txBody>
      </p:sp>
      <p:sp>
        <p:nvSpPr>
          <p:cNvPr id="1205" name="TextBox 1204"/>
          <p:cNvSpPr txBox="1"/>
          <p:nvPr/>
        </p:nvSpPr>
        <p:spPr>
          <a:xfrm>
            <a:off x="8579301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W19</a:t>
            </a:r>
          </a:p>
        </p:txBody>
      </p:sp>
      <p:sp>
        <p:nvSpPr>
          <p:cNvPr id="1206" name="TextBox 1205"/>
          <p:cNvSpPr txBox="1"/>
          <p:nvPr/>
        </p:nvSpPr>
        <p:spPr>
          <a:xfrm>
            <a:off x="8926550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W20</a:t>
            </a:r>
          </a:p>
        </p:txBody>
      </p:sp>
      <p:sp>
        <p:nvSpPr>
          <p:cNvPr id="1207" name="TextBox 1206"/>
          <p:cNvSpPr txBox="1"/>
          <p:nvPr/>
        </p:nvSpPr>
        <p:spPr>
          <a:xfrm>
            <a:off x="9273799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W21</a:t>
            </a:r>
          </a:p>
        </p:txBody>
      </p:sp>
      <p:sp>
        <p:nvSpPr>
          <p:cNvPr id="1208" name="TextBox 1207"/>
          <p:cNvSpPr txBox="1"/>
          <p:nvPr/>
        </p:nvSpPr>
        <p:spPr>
          <a:xfrm>
            <a:off x="9621048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W22</a:t>
            </a:r>
          </a:p>
        </p:txBody>
      </p:sp>
      <p:sp>
        <p:nvSpPr>
          <p:cNvPr id="1209" name="TextBox 1208"/>
          <p:cNvSpPr txBox="1"/>
          <p:nvPr/>
        </p:nvSpPr>
        <p:spPr>
          <a:xfrm>
            <a:off x="9968297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W23</a:t>
            </a:r>
          </a:p>
        </p:txBody>
      </p:sp>
      <p:sp>
        <p:nvSpPr>
          <p:cNvPr id="1210" name="TextBox 1209"/>
          <p:cNvSpPr txBox="1"/>
          <p:nvPr/>
        </p:nvSpPr>
        <p:spPr>
          <a:xfrm>
            <a:off x="10315546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W24</a:t>
            </a:r>
          </a:p>
        </p:txBody>
      </p:sp>
      <p:sp>
        <p:nvSpPr>
          <p:cNvPr id="1211" name="TextBox 1210"/>
          <p:cNvSpPr txBox="1"/>
          <p:nvPr/>
        </p:nvSpPr>
        <p:spPr>
          <a:xfrm>
            <a:off x="10662795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W25</a:t>
            </a:r>
          </a:p>
        </p:txBody>
      </p:sp>
      <p:sp>
        <p:nvSpPr>
          <p:cNvPr id="1212" name="TextBox 1211"/>
          <p:cNvSpPr txBox="1"/>
          <p:nvPr/>
        </p:nvSpPr>
        <p:spPr>
          <a:xfrm>
            <a:off x="11010044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W26</a:t>
            </a:r>
          </a:p>
        </p:txBody>
      </p:sp>
      <p:sp>
        <p:nvSpPr>
          <p:cNvPr id="1213" name="TextBox 1212"/>
          <p:cNvSpPr txBox="1"/>
          <p:nvPr/>
        </p:nvSpPr>
        <p:spPr>
          <a:xfrm>
            <a:off x="11357293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666666"/>
                </a:solidFill>
                <a:latin typeface="Calibri"/>
              </a:rPr>
              <a:t>W27</a:t>
            </a:r>
          </a:p>
        </p:txBody>
      </p:sp>
      <p:sp>
        <p:nvSpPr>
          <p:cNvPr id="1214" name="TextBox 1213"/>
          <p:cNvSpPr txBox="1"/>
          <p:nvPr/>
        </p:nvSpPr>
        <p:spPr>
          <a:xfrm>
            <a:off x="11704542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666666"/>
                </a:solidFill>
                <a:latin typeface="Calibri"/>
              </a:rPr>
              <a:t>W28</a:t>
            </a:r>
          </a:p>
        </p:txBody>
      </p:sp>
      <p:sp>
        <p:nvSpPr>
          <p:cNvPr id="1215" name="TextBox 1214"/>
          <p:cNvSpPr txBox="1"/>
          <p:nvPr/>
        </p:nvSpPr>
        <p:spPr>
          <a:xfrm>
            <a:off x="6183056" y="1016032"/>
            <a:ext cx="650000" cy="2629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天领业务</a:t>
            </a:r>
          </a:p>
        </p:txBody>
      </p:sp>
      <p:sp>
        <p:nvSpPr>
          <p:cNvPr id="1216" name="Rectangle 1215"/>
          <p:cNvSpPr/>
          <p:nvPr/>
        </p:nvSpPr>
        <p:spPr>
          <a:xfrm>
            <a:off x="6849056" y="1022032"/>
            <a:ext cx="335249" cy="250996"/>
          </a:xfrm>
          <a:prstGeom prst="rect">
            <a:avLst/>
          </a:prstGeom>
          <a:solidFill>
            <a:srgbClr val="2980B9">
              <a:alpha val="3453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7" name="TextBox 1216"/>
          <p:cNvSpPr txBox="1"/>
          <p:nvPr/>
        </p:nvSpPr>
        <p:spPr>
          <a:xfrm>
            <a:off x="6843056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1.3M</a:t>
            </a:r>
          </a:p>
        </p:txBody>
      </p:sp>
      <p:sp>
        <p:nvSpPr>
          <p:cNvPr id="1218" name="TextBox 1217"/>
          <p:cNvSpPr txBox="1"/>
          <p:nvPr/>
        </p:nvSpPr>
        <p:spPr>
          <a:xfrm>
            <a:off x="6843056" y="11540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2件</a:t>
            </a:r>
          </a:p>
        </p:txBody>
      </p:sp>
      <p:sp>
        <p:nvSpPr>
          <p:cNvPr id="1219" name="Rectangle 1218"/>
          <p:cNvSpPr/>
          <p:nvPr/>
        </p:nvSpPr>
        <p:spPr>
          <a:xfrm>
            <a:off x="7196305" y="1022032"/>
            <a:ext cx="335249" cy="250996"/>
          </a:xfrm>
          <a:prstGeom prst="rect">
            <a:avLst/>
          </a:prstGeom>
          <a:solidFill>
            <a:srgbClr val="2980B9">
              <a:alpha val="3844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0" name="TextBox 1219"/>
          <p:cNvSpPr txBox="1"/>
          <p:nvPr/>
        </p:nvSpPr>
        <p:spPr>
          <a:xfrm>
            <a:off x="7190305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1.9M</a:t>
            </a:r>
          </a:p>
        </p:txBody>
      </p:sp>
      <p:sp>
        <p:nvSpPr>
          <p:cNvPr id="1221" name="TextBox 1220"/>
          <p:cNvSpPr txBox="1"/>
          <p:nvPr/>
        </p:nvSpPr>
        <p:spPr>
          <a:xfrm>
            <a:off x="7190305" y="11540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8件</a:t>
            </a:r>
          </a:p>
        </p:txBody>
      </p:sp>
      <p:sp>
        <p:nvSpPr>
          <p:cNvPr id="1222" name="Rectangle 1221"/>
          <p:cNvSpPr/>
          <p:nvPr/>
        </p:nvSpPr>
        <p:spPr>
          <a:xfrm>
            <a:off x="7543554" y="1022032"/>
            <a:ext cx="335249" cy="250996"/>
          </a:xfrm>
          <a:prstGeom prst="rect">
            <a:avLst/>
          </a:prstGeom>
          <a:solidFill>
            <a:srgbClr val="2980B9">
              <a:alpha val="6329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3" name="TextBox 1222"/>
          <p:cNvSpPr txBox="1"/>
          <p:nvPr/>
        </p:nvSpPr>
        <p:spPr>
          <a:xfrm>
            <a:off x="7537554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5.3M</a:t>
            </a:r>
          </a:p>
        </p:txBody>
      </p:sp>
      <p:sp>
        <p:nvSpPr>
          <p:cNvPr id="1224" name="TextBox 1223"/>
          <p:cNvSpPr txBox="1"/>
          <p:nvPr/>
        </p:nvSpPr>
        <p:spPr>
          <a:xfrm>
            <a:off x="7537554" y="11540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13件</a:t>
            </a:r>
          </a:p>
        </p:txBody>
      </p:sp>
      <p:sp>
        <p:nvSpPr>
          <p:cNvPr id="1225" name="Rectangle 1224"/>
          <p:cNvSpPr/>
          <p:nvPr/>
        </p:nvSpPr>
        <p:spPr>
          <a:xfrm>
            <a:off x="7890803" y="1022032"/>
            <a:ext cx="335249" cy="250996"/>
          </a:xfrm>
          <a:prstGeom prst="rect">
            <a:avLst/>
          </a:prstGeom>
          <a:solidFill>
            <a:srgbClr val="2980B9">
              <a:alpha val="3178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6" name="TextBox 1225"/>
          <p:cNvSpPr txBox="1"/>
          <p:nvPr/>
        </p:nvSpPr>
        <p:spPr>
          <a:xfrm>
            <a:off x="7884803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0.9M</a:t>
            </a:r>
          </a:p>
        </p:txBody>
      </p:sp>
      <p:sp>
        <p:nvSpPr>
          <p:cNvPr id="1227" name="TextBox 1226"/>
          <p:cNvSpPr txBox="1"/>
          <p:nvPr/>
        </p:nvSpPr>
        <p:spPr>
          <a:xfrm>
            <a:off x="7884803" y="11540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4件</a:t>
            </a:r>
          </a:p>
        </p:txBody>
      </p:sp>
      <p:sp>
        <p:nvSpPr>
          <p:cNvPr id="1228" name="Rectangle 1227"/>
          <p:cNvSpPr/>
          <p:nvPr/>
        </p:nvSpPr>
        <p:spPr>
          <a:xfrm>
            <a:off x="8238052" y="1022032"/>
            <a:ext cx="335249" cy="250996"/>
          </a:xfrm>
          <a:prstGeom prst="rect">
            <a:avLst/>
          </a:prstGeom>
          <a:solidFill>
            <a:srgbClr val="2980B9">
              <a:alpha val="2730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9" name="TextBox 1228"/>
          <p:cNvSpPr txBox="1"/>
          <p:nvPr/>
        </p:nvSpPr>
        <p:spPr>
          <a:xfrm>
            <a:off x="8232052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0.3M</a:t>
            </a:r>
          </a:p>
        </p:txBody>
      </p:sp>
      <p:sp>
        <p:nvSpPr>
          <p:cNvPr id="1230" name="TextBox 1229"/>
          <p:cNvSpPr txBox="1"/>
          <p:nvPr/>
        </p:nvSpPr>
        <p:spPr>
          <a:xfrm>
            <a:off x="8232052" y="11540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4件</a:t>
            </a:r>
          </a:p>
        </p:txBody>
      </p:sp>
      <p:sp>
        <p:nvSpPr>
          <p:cNvPr id="1231" name="Rectangle 1230"/>
          <p:cNvSpPr/>
          <p:nvPr/>
        </p:nvSpPr>
        <p:spPr>
          <a:xfrm>
            <a:off x="8585301" y="1022032"/>
            <a:ext cx="335249" cy="250996"/>
          </a:xfrm>
          <a:prstGeom prst="rect">
            <a:avLst/>
          </a:prstGeom>
          <a:solidFill>
            <a:srgbClr val="2980B9">
              <a:alpha val="6890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2" name="TextBox 1231"/>
          <p:cNvSpPr txBox="1"/>
          <p:nvPr/>
        </p:nvSpPr>
        <p:spPr>
          <a:xfrm>
            <a:off x="8579301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6.1M</a:t>
            </a:r>
          </a:p>
        </p:txBody>
      </p:sp>
      <p:sp>
        <p:nvSpPr>
          <p:cNvPr id="1233" name="TextBox 1232"/>
          <p:cNvSpPr txBox="1"/>
          <p:nvPr/>
        </p:nvSpPr>
        <p:spPr>
          <a:xfrm>
            <a:off x="8579301" y="11540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21件</a:t>
            </a:r>
          </a:p>
        </p:txBody>
      </p:sp>
      <p:sp>
        <p:nvSpPr>
          <p:cNvPr id="1234" name="Rectangle 1233"/>
          <p:cNvSpPr/>
          <p:nvPr/>
        </p:nvSpPr>
        <p:spPr>
          <a:xfrm>
            <a:off x="8932550" y="1022032"/>
            <a:ext cx="335249" cy="250996"/>
          </a:xfrm>
          <a:prstGeom prst="rect">
            <a:avLst/>
          </a:prstGeom>
          <a:solidFill>
            <a:srgbClr val="2980B9">
              <a:alpha val="4672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5" name="TextBox 1234"/>
          <p:cNvSpPr txBox="1"/>
          <p:nvPr/>
        </p:nvSpPr>
        <p:spPr>
          <a:xfrm>
            <a:off x="8926550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3.0M</a:t>
            </a:r>
          </a:p>
        </p:txBody>
      </p:sp>
      <p:sp>
        <p:nvSpPr>
          <p:cNvPr id="1236" name="TextBox 1235"/>
          <p:cNvSpPr txBox="1"/>
          <p:nvPr/>
        </p:nvSpPr>
        <p:spPr>
          <a:xfrm>
            <a:off x="8926550" y="11540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13件</a:t>
            </a:r>
          </a:p>
        </p:txBody>
      </p:sp>
      <p:sp>
        <p:nvSpPr>
          <p:cNvPr id="1237" name="Rectangle 1236"/>
          <p:cNvSpPr/>
          <p:nvPr/>
        </p:nvSpPr>
        <p:spPr>
          <a:xfrm>
            <a:off x="9279799" y="1022032"/>
            <a:ext cx="335249" cy="250996"/>
          </a:xfrm>
          <a:prstGeom prst="rect">
            <a:avLst/>
          </a:prstGeom>
          <a:solidFill>
            <a:srgbClr val="2980B9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8" name="TextBox 1237"/>
          <p:cNvSpPr txBox="1"/>
          <p:nvPr/>
        </p:nvSpPr>
        <p:spPr>
          <a:xfrm>
            <a:off x="9273799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10.4M</a:t>
            </a:r>
          </a:p>
        </p:txBody>
      </p:sp>
      <p:sp>
        <p:nvSpPr>
          <p:cNvPr id="1239" name="TextBox 1238"/>
          <p:cNvSpPr txBox="1"/>
          <p:nvPr/>
        </p:nvSpPr>
        <p:spPr>
          <a:xfrm>
            <a:off x="9273799" y="11540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9件</a:t>
            </a:r>
          </a:p>
        </p:txBody>
      </p:sp>
      <p:sp>
        <p:nvSpPr>
          <p:cNvPr id="1240" name="Rectangle 1239"/>
          <p:cNvSpPr/>
          <p:nvPr/>
        </p:nvSpPr>
        <p:spPr>
          <a:xfrm>
            <a:off x="9627048" y="1022032"/>
            <a:ext cx="335249" cy="250996"/>
          </a:xfrm>
          <a:prstGeom prst="rect">
            <a:avLst/>
          </a:prstGeom>
          <a:solidFill>
            <a:srgbClr val="2980B9">
              <a:alpha val="3801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1" name="TextBox 1240"/>
          <p:cNvSpPr txBox="1"/>
          <p:nvPr/>
        </p:nvSpPr>
        <p:spPr>
          <a:xfrm>
            <a:off x="9621048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1.8M</a:t>
            </a:r>
          </a:p>
        </p:txBody>
      </p:sp>
      <p:sp>
        <p:nvSpPr>
          <p:cNvPr id="1242" name="TextBox 1241"/>
          <p:cNvSpPr txBox="1"/>
          <p:nvPr/>
        </p:nvSpPr>
        <p:spPr>
          <a:xfrm>
            <a:off x="9621048" y="11540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16件</a:t>
            </a:r>
          </a:p>
        </p:txBody>
      </p:sp>
      <p:sp>
        <p:nvSpPr>
          <p:cNvPr id="1243" name="Rectangle 1242"/>
          <p:cNvSpPr/>
          <p:nvPr/>
        </p:nvSpPr>
        <p:spPr>
          <a:xfrm>
            <a:off x="9974297" y="1022032"/>
            <a:ext cx="335249" cy="250996"/>
          </a:xfrm>
          <a:prstGeom prst="rect">
            <a:avLst/>
          </a:prstGeom>
          <a:solidFill>
            <a:srgbClr val="2980B9">
              <a:alpha val="2836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4" name="TextBox 1243"/>
          <p:cNvSpPr txBox="1"/>
          <p:nvPr/>
        </p:nvSpPr>
        <p:spPr>
          <a:xfrm>
            <a:off x="9968297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0.5M</a:t>
            </a:r>
          </a:p>
        </p:txBody>
      </p:sp>
      <p:sp>
        <p:nvSpPr>
          <p:cNvPr id="1245" name="TextBox 1244"/>
          <p:cNvSpPr txBox="1"/>
          <p:nvPr/>
        </p:nvSpPr>
        <p:spPr>
          <a:xfrm>
            <a:off x="9968297" y="11540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1件</a:t>
            </a:r>
          </a:p>
        </p:txBody>
      </p:sp>
      <p:sp>
        <p:nvSpPr>
          <p:cNvPr id="1246" name="Rectangle 1245"/>
          <p:cNvSpPr/>
          <p:nvPr/>
        </p:nvSpPr>
        <p:spPr>
          <a:xfrm>
            <a:off x="10321546" y="1022032"/>
            <a:ext cx="335249" cy="250996"/>
          </a:xfrm>
          <a:prstGeom prst="rect">
            <a:avLst/>
          </a:prstGeom>
          <a:solidFill>
            <a:srgbClr val="2980B9">
              <a:alpha val="3229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7" name="TextBox 1246"/>
          <p:cNvSpPr txBox="1"/>
          <p:nvPr/>
        </p:nvSpPr>
        <p:spPr>
          <a:xfrm>
            <a:off x="10315546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1.0M</a:t>
            </a:r>
          </a:p>
        </p:txBody>
      </p:sp>
      <p:sp>
        <p:nvSpPr>
          <p:cNvPr id="1248" name="TextBox 1247"/>
          <p:cNvSpPr txBox="1"/>
          <p:nvPr/>
        </p:nvSpPr>
        <p:spPr>
          <a:xfrm>
            <a:off x="10315546" y="11540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5件</a:t>
            </a:r>
          </a:p>
        </p:txBody>
      </p:sp>
      <p:sp>
        <p:nvSpPr>
          <p:cNvPr id="1249" name="Rectangle 1248"/>
          <p:cNvSpPr/>
          <p:nvPr/>
        </p:nvSpPr>
        <p:spPr>
          <a:xfrm>
            <a:off x="10668795" y="1022032"/>
            <a:ext cx="335249" cy="250996"/>
          </a:xfrm>
          <a:prstGeom prst="rect">
            <a:avLst/>
          </a:prstGeom>
          <a:solidFill>
            <a:srgbClr val="2980B9">
              <a:alpha val="4114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0" name="TextBox 1249"/>
          <p:cNvSpPr txBox="1"/>
          <p:nvPr/>
        </p:nvSpPr>
        <p:spPr>
          <a:xfrm>
            <a:off x="10662795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2.2M</a:t>
            </a:r>
          </a:p>
        </p:txBody>
      </p:sp>
      <p:sp>
        <p:nvSpPr>
          <p:cNvPr id="1251" name="TextBox 1250"/>
          <p:cNvSpPr txBox="1"/>
          <p:nvPr/>
        </p:nvSpPr>
        <p:spPr>
          <a:xfrm>
            <a:off x="10662795" y="11540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5件</a:t>
            </a:r>
          </a:p>
        </p:txBody>
      </p:sp>
      <p:sp>
        <p:nvSpPr>
          <p:cNvPr id="1252" name="Rectangle 1251"/>
          <p:cNvSpPr/>
          <p:nvPr/>
        </p:nvSpPr>
        <p:spPr>
          <a:xfrm>
            <a:off x="11016044" y="1022032"/>
            <a:ext cx="335249" cy="250996"/>
          </a:xfrm>
          <a:prstGeom prst="rect">
            <a:avLst/>
          </a:prstGeom>
          <a:solidFill>
            <a:srgbClr val="2980B9">
              <a:alpha val="3752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3" name="TextBox 1252"/>
          <p:cNvSpPr txBox="1"/>
          <p:nvPr/>
        </p:nvSpPr>
        <p:spPr>
          <a:xfrm>
            <a:off x="11010044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1.7M</a:t>
            </a:r>
          </a:p>
        </p:txBody>
      </p:sp>
      <p:sp>
        <p:nvSpPr>
          <p:cNvPr id="1254" name="TextBox 1253"/>
          <p:cNvSpPr txBox="1"/>
          <p:nvPr/>
        </p:nvSpPr>
        <p:spPr>
          <a:xfrm>
            <a:off x="11010044" y="11540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11件</a:t>
            </a:r>
          </a:p>
        </p:txBody>
      </p:sp>
      <p:sp>
        <p:nvSpPr>
          <p:cNvPr id="1255" name="Rectangle 1254"/>
          <p:cNvSpPr/>
          <p:nvPr/>
        </p:nvSpPr>
        <p:spPr>
          <a:xfrm>
            <a:off x="11363293" y="1022032"/>
            <a:ext cx="335249" cy="250996"/>
          </a:xfrm>
          <a:prstGeom prst="rect">
            <a:avLst/>
          </a:prstGeom>
          <a:solidFill>
            <a:srgbClr val="2980B9">
              <a:alpha val="2948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6" name="TextBox 1255"/>
          <p:cNvSpPr txBox="1"/>
          <p:nvPr/>
        </p:nvSpPr>
        <p:spPr>
          <a:xfrm>
            <a:off x="11357293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0.6M</a:t>
            </a:r>
          </a:p>
        </p:txBody>
      </p:sp>
      <p:sp>
        <p:nvSpPr>
          <p:cNvPr id="1257" name="TextBox 1256"/>
          <p:cNvSpPr txBox="1"/>
          <p:nvPr/>
        </p:nvSpPr>
        <p:spPr>
          <a:xfrm>
            <a:off x="11357293" y="11540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2件</a:t>
            </a:r>
          </a:p>
        </p:txBody>
      </p:sp>
      <p:sp>
        <p:nvSpPr>
          <p:cNvPr id="1258" name="Rectangle 1257"/>
          <p:cNvSpPr/>
          <p:nvPr/>
        </p:nvSpPr>
        <p:spPr>
          <a:xfrm>
            <a:off x="11710542" y="1022032"/>
            <a:ext cx="335249" cy="250996"/>
          </a:xfrm>
          <a:prstGeom prst="rect">
            <a:avLst/>
          </a:prstGeom>
          <a:solidFill>
            <a:srgbClr val="2980B9">
              <a:alpha val="6779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9" name="TextBox 1258"/>
          <p:cNvSpPr txBox="1"/>
          <p:nvPr/>
        </p:nvSpPr>
        <p:spPr>
          <a:xfrm>
            <a:off x="11704542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6.0M</a:t>
            </a:r>
          </a:p>
        </p:txBody>
      </p:sp>
      <p:sp>
        <p:nvSpPr>
          <p:cNvPr id="1260" name="TextBox 1259"/>
          <p:cNvSpPr txBox="1"/>
          <p:nvPr/>
        </p:nvSpPr>
        <p:spPr>
          <a:xfrm>
            <a:off x="11704542" y="11540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6件</a:t>
            </a:r>
          </a:p>
        </p:txBody>
      </p:sp>
      <p:sp>
        <p:nvSpPr>
          <p:cNvPr id="1261" name="TextBox 1260"/>
          <p:cNvSpPr txBox="1"/>
          <p:nvPr/>
        </p:nvSpPr>
        <p:spPr>
          <a:xfrm>
            <a:off x="6183056" y="1279028"/>
            <a:ext cx="650000" cy="2629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成事家办</a:t>
            </a:r>
          </a:p>
        </p:txBody>
      </p:sp>
      <p:sp>
        <p:nvSpPr>
          <p:cNvPr id="1262" name="Rectangle 1261"/>
          <p:cNvSpPr/>
          <p:nvPr/>
        </p:nvSpPr>
        <p:spPr>
          <a:xfrm>
            <a:off x="6849056" y="1285028"/>
            <a:ext cx="335249" cy="250996"/>
          </a:xfrm>
          <a:prstGeom prst="rect">
            <a:avLst/>
          </a:prstGeom>
          <a:solidFill>
            <a:srgbClr val="374151">
              <a:alpha val="3192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3" name="TextBox 1262"/>
          <p:cNvSpPr txBox="1"/>
          <p:nvPr/>
        </p:nvSpPr>
        <p:spPr>
          <a:xfrm>
            <a:off x="6843056" y="12870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0.1M</a:t>
            </a:r>
          </a:p>
        </p:txBody>
      </p:sp>
      <p:sp>
        <p:nvSpPr>
          <p:cNvPr id="1264" name="TextBox 1263"/>
          <p:cNvSpPr txBox="1"/>
          <p:nvPr/>
        </p:nvSpPr>
        <p:spPr>
          <a:xfrm>
            <a:off x="6843056" y="14170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1件</a:t>
            </a:r>
          </a:p>
        </p:txBody>
      </p:sp>
      <p:sp>
        <p:nvSpPr>
          <p:cNvPr id="1265" name="Rectangle 1264"/>
          <p:cNvSpPr/>
          <p:nvPr/>
        </p:nvSpPr>
        <p:spPr>
          <a:xfrm>
            <a:off x="7196305" y="1285028"/>
            <a:ext cx="335249" cy="250996"/>
          </a:xfrm>
          <a:prstGeom prst="rect">
            <a:avLst/>
          </a:prstGeom>
          <a:solidFill>
            <a:srgbClr val="374151">
              <a:alpha val="3783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6" name="TextBox 1265"/>
          <p:cNvSpPr txBox="1"/>
          <p:nvPr/>
        </p:nvSpPr>
        <p:spPr>
          <a:xfrm>
            <a:off x="7190305" y="12870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0.2M</a:t>
            </a:r>
          </a:p>
        </p:txBody>
      </p:sp>
      <p:sp>
        <p:nvSpPr>
          <p:cNvPr id="1267" name="TextBox 1266"/>
          <p:cNvSpPr txBox="1"/>
          <p:nvPr/>
        </p:nvSpPr>
        <p:spPr>
          <a:xfrm>
            <a:off x="7190305" y="14170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2件</a:t>
            </a:r>
          </a:p>
        </p:txBody>
      </p:sp>
      <p:sp>
        <p:nvSpPr>
          <p:cNvPr id="1268" name="Rectangle 1267"/>
          <p:cNvSpPr/>
          <p:nvPr/>
        </p:nvSpPr>
        <p:spPr>
          <a:xfrm>
            <a:off x="7543554" y="1285028"/>
            <a:ext cx="335249" cy="250996"/>
          </a:xfrm>
          <a:prstGeom prst="rect">
            <a:avLst/>
          </a:prstGeom>
          <a:solidFill>
            <a:srgbClr val="374151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9" name="TextBox 1268"/>
          <p:cNvSpPr txBox="1"/>
          <p:nvPr/>
        </p:nvSpPr>
        <p:spPr>
          <a:xfrm>
            <a:off x="7537554" y="12870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1.4M</a:t>
            </a:r>
          </a:p>
        </p:txBody>
      </p:sp>
      <p:sp>
        <p:nvSpPr>
          <p:cNvPr id="1270" name="TextBox 1269"/>
          <p:cNvSpPr txBox="1"/>
          <p:nvPr/>
        </p:nvSpPr>
        <p:spPr>
          <a:xfrm>
            <a:off x="7537554" y="14170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4件</a:t>
            </a:r>
          </a:p>
        </p:txBody>
      </p:sp>
      <p:sp>
        <p:nvSpPr>
          <p:cNvPr id="1271" name="Rectangle 1270"/>
          <p:cNvSpPr/>
          <p:nvPr/>
        </p:nvSpPr>
        <p:spPr>
          <a:xfrm>
            <a:off x="7890803" y="1285028"/>
            <a:ext cx="335249" cy="250996"/>
          </a:xfrm>
          <a:prstGeom prst="rect">
            <a:avLst/>
          </a:prstGeom>
          <a:solidFill>
            <a:srgbClr val="374151">
              <a:alpha val="3721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2" name="TextBox 1271"/>
          <p:cNvSpPr txBox="1"/>
          <p:nvPr/>
        </p:nvSpPr>
        <p:spPr>
          <a:xfrm>
            <a:off x="7884803" y="12870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0.2M</a:t>
            </a:r>
          </a:p>
        </p:txBody>
      </p:sp>
      <p:sp>
        <p:nvSpPr>
          <p:cNvPr id="1273" name="TextBox 1272"/>
          <p:cNvSpPr txBox="1"/>
          <p:nvPr/>
        </p:nvSpPr>
        <p:spPr>
          <a:xfrm>
            <a:off x="7884803" y="14170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3件</a:t>
            </a:r>
          </a:p>
        </p:txBody>
      </p:sp>
      <p:sp>
        <p:nvSpPr>
          <p:cNvPr id="1274" name="Rectangle 1273"/>
          <p:cNvSpPr/>
          <p:nvPr/>
        </p:nvSpPr>
        <p:spPr>
          <a:xfrm>
            <a:off x="8238052" y="1285028"/>
            <a:ext cx="335249" cy="250996"/>
          </a:xfrm>
          <a:prstGeom prst="rect">
            <a:avLst/>
          </a:prstGeom>
          <a:solidFill>
            <a:srgbClr val="374151">
              <a:alpha val="5537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5" name="TextBox 1274"/>
          <p:cNvSpPr txBox="1"/>
          <p:nvPr/>
        </p:nvSpPr>
        <p:spPr>
          <a:xfrm>
            <a:off x="8232052" y="12870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0.6M</a:t>
            </a:r>
          </a:p>
        </p:txBody>
      </p:sp>
      <p:sp>
        <p:nvSpPr>
          <p:cNvPr id="1276" name="TextBox 1275"/>
          <p:cNvSpPr txBox="1"/>
          <p:nvPr/>
        </p:nvSpPr>
        <p:spPr>
          <a:xfrm>
            <a:off x="8232052" y="14170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4件</a:t>
            </a:r>
          </a:p>
        </p:txBody>
      </p:sp>
      <p:sp>
        <p:nvSpPr>
          <p:cNvPr id="1277" name="Rectangle 1276"/>
          <p:cNvSpPr/>
          <p:nvPr/>
        </p:nvSpPr>
        <p:spPr>
          <a:xfrm>
            <a:off x="8585301" y="1285028"/>
            <a:ext cx="335249" cy="250996"/>
          </a:xfrm>
          <a:prstGeom prst="rect">
            <a:avLst/>
          </a:prstGeom>
          <a:solidFill>
            <a:srgbClr val="374151">
              <a:alpha val="9013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8" name="TextBox 1277"/>
          <p:cNvSpPr txBox="1"/>
          <p:nvPr/>
        </p:nvSpPr>
        <p:spPr>
          <a:xfrm>
            <a:off x="8579301" y="12870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1.2M</a:t>
            </a:r>
          </a:p>
        </p:txBody>
      </p:sp>
      <p:sp>
        <p:nvSpPr>
          <p:cNvPr id="1279" name="TextBox 1278"/>
          <p:cNvSpPr txBox="1"/>
          <p:nvPr/>
        </p:nvSpPr>
        <p:spPr>
          <a:xfrm>
            <a:off x="8579301" y="14170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4件</a:t>
            </a:r>
          </a:p>
        </p:txBody>
      </p:sp>
      <p:sp>
        <p:nvSpPr>
          <p:cNvPr id="1280" name="Rectangle 1279"/>
          <p:cNvSpPr/>
          <p:nvPr/>
        </p:nvSpPr>
        <p:spPr>
          <a:xfrm>
            <a:off x="8932550" y="1285028"/>
            <a:ext cx="335249" cy="250996"/>
          </a:xfrm>
          <a:prstGeom prst="rect">
            <a:avLst/>
          </a:prstGeom>
          <a:solidFill>
            <a:srgbClr val="374151">
              <a:alpha val="5568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1" name="TextBox 1280"/>
          <p:cNvSpPr txBox="1"/>
          <p:nvPr/>
        </p:nvSpPr>
        <p:spPr>
          <a:xfrm>
            <a:off x="8926550" y="12870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0.6M</a:t>
            </a:r>
          </a:p>
        </p:txBody>
      </p:sp>
      <p:sp>
        <p:nvSpPr>
          <p:cNvPr id="1282" name="TextBox 1281"/>
          <p:cNvSpPr txBox="1"/>
          <p:nvPr/>
        </p:nvSpPr>
        <p:spPr>
          <a:xfrm>
            <a:off x="8926550" y="14170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2件</a:t>
            </a:r>
          </a:p>
        </p:txBody>
      </p:sp>
      <p:sp>
        <p:nvSpPr>
          <p:cNvPr id="1283" name="Rectangle 1282"/>
          <p:cNvSpPr/>
          <p:nvPr/>
        </p:nvSpPr>
        <p:spPr>
          <a:xfrm>
            <a:off x="9279799" y="1285028"/>
            <a:ext cx="335249" cy="250996"/>
          </a:xfrm>
          <a:prstGeom prst="rect">
            <a:avLst/>
          </a:prstGeom>
          <a:solidFill>
            <a:srgbClr val="374151">
              <a:alpha val="4582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4" name="TextBox 1283"/>
          <p:cNvSpPr txBox="1"/>
          <p:nvPr/>
        </p:nvSpPr>
        <p:spPr>
          <a:xfrm>
            <a:off x="9273799" y="12870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0.4M</a:t>
            </a:r>
          </a:p>
        </p:txBody>
      </p:sp>
      <p:sp>
        <p:nvSpPr>
          <p:cNvPr id="1285" name="TextBox 1284"/>
          <p:cNvSpPr txBox="1"/>
          <p:nvPr/>
        </p:nvSpPr>
        <p:spPr>
          <a:xfrm>
            <a:off x="9273799" y="14170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1件</a:t>
            </a:r>
          </a:p>
        </p:txBody>
      </p:sp>
      <p:sp>
        <p:nvSpPr>
          <p:cNvPr id="1286" name="Rectangle 1285"/>
          <p:cNvSpPr/>
          <p:nvPr/>
        </p:nvSpPr>
        <p:spPr>
          <a:xfrm>
            <a:off x="9627048" y="1285028"/>
            <a:ext cx="335249" cy="250996"/>
          </a:xfrm>
          <a:prstGeom prst="rect">
            <a:avLst/>
          </a:prstGeom>
          <a:solidFill>
            <a:srgbClr val="374151">
              <a:alpha val="3721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7" name="TextBox 1286"/>
          <p:cNvSpPr txBox="1"/>
          <p:nvPr/>
        </p:nvSpPr>
        <p:spPr>
          <a:xfrm>
            <a:off x="9621048" y="12870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0.2M</a:t>
            </a:r>
          </a:p>
        </p:txBody>
      </p:sp>
      <p:sp>
        <p:nvSpPr>
          <p:cNvPr id="1288" name="TextBox 1287"/>
          <p:cNvSpPr txBox="1"/>
          <p:nvPr/>
        </p:nvSpPr>
        <p:spPr>
          <a:xfrm>
            <a:off x="9621048" y="14170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1件</a:t>
            </a:r>
          </a:p>
        </p:txBody>
      </p:sp>
      <p:sp>
        <p:nvSpPr>
          <p:cNvPr id="1289" name="Rectangle 1288"/>
          <p:cNvSpPr/>
          <p:nvPr/>
        </p:nvSpPr>
        <p:spPr>
          <a:xfrm>
            <a:off x="9974297" y="1285028"/>
            <a:ext cx="335249" cy="250996"/>
          </a:xfrm>
          <a:prstGeom prst="rect">
            <a:avLst/>
          </a:prstGeom>
          <a:solidFill>
            <a:srgbClr val="374151">
              <a:alpha val="2907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0" name="TextBox 1289"/>
          <p:cNvSpPr txBox="1"/>
          <p:nvPr/>
        </p:nvSpPr>
        <p:spPr>
          <a:xfrm>
            <a:off x="9968297" y="12870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0.1M</a:t>
            </a:r>
          </a:p>
        </p:txBody>
      </p:sp>
      <p:sp>
        <p:nvSpPr>
          <p:cNvPr id="1291" name="TextBox 1290"/>
          <p:cNvSpPr txBox="1"/>
          <p:nvPr/>
        </p:nvSpPr>
        <p:spPr>
          <a:xfrm>
            <a:off x="9968297" y="14170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1件</a:t>
            </a:r>
          </a:p>
        </p:txBody>
      </p:sp>
      <p:sp>
        <p:nvSpPr>
          <p:cNvPr id="1292" name="Rectangle 1291"/>
          <p:cNvSpPr/>
          <p:nvPr/>
        </p:nvSpPr>
        <p:spPr>
          <a:xfrm>
            <a:off x="10321546" y="1285028"/>
            <a:ext cx="335249" cy="250996"/>
          </a:xfrm>
          <a:prstGeom prst="rect">
            <a:avLst/>
          </a:prstGeom>
          <a:solidFill>
            <a:srgbClr val="374151">
              <a:alpha val="3110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3" name="TextBox 1292"/>
          <p:cNvSpPr txBox="1"/>
          <p:nvPr/>
        </p:nvSpPr>
        <p:spPr>
          <a:xfrm>
            <a:off x="10315546" y="12870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0.1M</a:t>
            </a:r>
          </a:p>
        </p:txBody>
      </p:sp>
      <p:sp>
        <p:nvSpPr>
          <p:cNvPr id="1294" name="TextBox 1293"/>
          <p:cNvSpPr txBox="1"/>
          <p:nvPr/>
        </p:nvSpPr>
        <p:spPr>
          <a:xfrm>
            <a:off x="10315546" y="14170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1件</a:t>
            </a:r>
          </a:p>
        </p:txBody>
      </p:sp>
      <p:sp>
        <p:nvSpPr>
          <p:cNvPr id="1295" name="Rectangle 1294"/>
          <p:cNvSpPr/>
          <p:nvPr/>
        </p:nvSpPr>
        <p:spPr>
          <a:xfrm>
            <a:off x="10668795" y="1285028"/>
            <a:ext cx="335249" cy="250996"/>
          </a:xfrm>
          <a:prstGeom prst="rect">
            <a:avLst/>
          </a:prstGeom>
          <a:solidFill>
            <a:srgbClr val="374151">
              <a:alpha val="4535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6" name="TextBox 1295"/>
          <p:cNvSpPr txBox="1"/>
          <p:nvPr/>
        </p:nvSpPr>
        <p:spPr>
          <a:xfrm>
            <a:off x="10662795" y="12870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0.4M</a:t>
            </a:r>
          </a:p>
        </p:txBody>
      </p:sp>
      <p:sp>
        <p:nvSpPr>
          <p:cNvPr id="1297" name="TextBox 1296"/>
          <p:cNvSpPr txBox="1"/>
          <p:nvPr/>
        </p:nvSpPr>
        <p:spPr>
          <a:xfrm>
            <a:off x="10662795" y="14170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1件</a:t>
            </a:r>
          </a:p>
        </p:txBody>
      </p:sp>
      <p:sp>
        <p:nvSpPr>
          <p:cNvPr id="1298" name="Rectangle 1297"/>
          <p:cNvSpPr/>
          <p:nvPr/>
        </p:nvSpPr>
        <p:spPr>
          <a:xfrm>
            <a:off x="11710542" y="1285028"/>
            <a:ext cx="335249" cy="250996"/>
          </a:xfrm>
          <a:prstGeom prst="rect">
            <a:avLst/>
          </a:prstGeom>
          <a:solidFill>
            <a:srgbClr val="374151">
              <a:alpha val="3721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9" name="TextBox 1298"/>
          <p:cNvSpPr txBox="1"/>
          <p:nvPr/>
        </p:nvSpPr>
        <p:spPr>
          <a:xfrm>
            <a:off x="11704542" y="12870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0.2M</a:t>
            </a:r>
          </a:p>
        </p:txBody>
      </p:sp>
      <p:sp>
        <p:nvSpPr>
          <p:cNvPr id="1300" name="TextBox 1299"/>
          <p:cNvSpPr txBox="1"/>
          <p:nvPr/>
        </p:nvSpPr>
        <p:spPr>
          <a:xfrm>
            <a:off x="11704542" y="14170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1件</a:t>
            </a:r>
          </a:p>
        </p:txBody>
      </p:sp>
      <p:sp>
        <p:nvSpPr>
          <p:cNvPr id="1301" name="TextBox 1300"/>
          <p:cNvSpPr txBox="1"/>
          <p:nvPr/>
        </p:nvSpPr>
        <p:spPr>
          <a:xfrm>
            <a:off x="6183056" y="1542024"/>
            <a:ext cx="650000" cy="2629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BK业务</a:t>
            </a:r>
          </a:p>
        </p:txBody>
      </p:sp>
      <p:sp>
        <p:nvSpPr>
          <p:cNvPr id="1302" name="Rectangle 1301"/>
          <p:cNvSpPr/>
          <p:nvPr/>
        </p:nvSpPr>
        <p:spPr>
          <a:xfrm>
            <a:off x="6849056" y="1548024"/>
            <a:ext cx="335249" cy="250996"/>
          </a:xfrm>
          <a:prstGeom prst="rect">
            <a:avLst/>
          </a:prstGeom>
          <a:solidFill>
            <a:srgbClr val="1F3864">
              <a:alpha val="2772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3" name="TextBox 1302"/>
          <p:cNvSpPr txBox="1"/>
          <p:nvPr/>
        </p:nvSpPr>
        <p:spPr>
          <a:xfrm>
            <a:off x="6843056" y="15500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0.2M</a:t>
            </a:r>
          </a:p>
        </p:txBody>
      </p:sp>
      <p:sp>
        <p:nvSpPr>
          <p:cNvPr id="1304" name="TextBox 1303"/>
          <p:cNvSpPr txBox="1"/>
          <p:nvPr/>
        </p:nvSpPr>
        <p:spPr>
          <a:xfrm>
            <a:off x="6843056" y="16800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1件</a:t>
            </a:r>
          </a:p>
        </p:txBody>
      </p:sp>
      <p:sp>
        <p:nvSpPr>
          <p:cNvPr id="1305" name="Rectangle 1304"/>
          <p:cNvSpPr/>
          <p:nvPr/>
        </p:nvSpPr>
        <p:spPr>
          <a:xfrm>
            <a:off x="7196305" y="1548024"/>
            <a:ext cx="335249" cy="250996"/>
          </a:xfrm>
          <a:prstGeom prst="rect">
            <a:avLst/>
          </a:prstGeom>
          <a:solidFill>
            <a:srgbClr val="1F3864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6" name="TextBox 1305"/>
          <p:cNvSpPr txBox="1"/>
          <p:nvPr/>
        </p:nvSpPr>
        <p:spPr>
          <a:xfrm>
            <a:off x="7190305" y="15500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4.3M</a:t>
            </a:r>
          </a:p>
        </p:txBody>
      </p:sp>
      <p:sp>
        <p:nvSpPr>
          <p:cNvPr id="1307" name="TextBox 1306"/>
          <p:cNvSpPr txBox="1"/>
          <p:nvPr/>
        </p:nvSpPr>
        <p:spPr>
          <a:xfrm>
            <a:off x="7190305" y="16800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4件</a:t>
            </a:r>
          </a:p>
        </p:txBody>
      </p:sp>
      <p:sp>
        <p:nvSpPr>
          <p:cNvPr id="1308" name="Rectangle 1307"/>
          <p:cNvSpPr/>
          <p:nvPr/>
        </p:nvSpPr>
        <p:spPr>
          <a:xfrm>
            <a:off x="7543554" y="1548024"/>
            <a:ext cx="335249" cy="250996"/>
          </a:xfrm>
          <a:prstGeom prst="rect">
            <a:avLst/>
          </a:prstGeom>
          <a:solidFill>
            <a:srgbClr val="1F3864">
              <a:alpha val="5909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9" name="TextBox 1308"/>
          <p:cNvSpPr txBox="1"/>
          <p:nvPr/>
        </p:nvSpPr>
        <p:spPr>
          <a:xfrm>
            <a:off x="7537554" y="15500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1.9M</a:t>
            </a:r>
          </a:p>
        </p:txBody>
      </p:sp>
      <p:sp>
        <p:nvSpPr>
          <p:cNvPr id="1310" name="TextBox 1309"/>
          <p:cNvSpPr txBox="1"/>
          <p:nvPr/>
        </p:nvSpPr>
        <p:spPr>
          <a:xfrm>
            <a:off x="7537554" y="16800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4件</a:t>
            </a:r>
          </a:p>
        </p:txBody>
      </p:sp>
      <p:sp>
        <p:nvSpPr>
          <p:cNvPr id="1311" name="Rectangle 1310"/>
          <p:cNvSpPr/>
          <p:nvPr/>
        </p:nvSpPr>
        <p:spPr>
          <a:xfrm>
            <a:off x="7890803" y="1548024"/>
            <a:ext cx="335249" cy="250996"/>
          </a:xfrm>
          <a:prstGeom prst="rect">
            <a:avLst/>
          </a:prstGeom>
          <a:solidFill>
            <a:srgbClr val="1F3864">
              <a:alpha val="3454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2" name="TextBox 1311"/>
          <p:cNvSpPr txBox="1"/>
          <p:nvPr/>
        </p:nvSpPr>
        <p:spPr>
          <a:xfrm>
            <a:off x="7884803" y="15500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0.5M</a:t>
            </a:r>
          </a:p>
        </p:txBody>
      </p:sp>
      <p:sp>
        <p:nvSpPr>
          <p:cNvPr id="1313" name="TextBox 1312"/>
          <p:cNvSpPr txBox="1"/>
          <p:nvPr/>
        </p:nvSpPr>
        <p:spPr>
          <a:xfrm>
            <a:off x="7884803" y="16800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2件</a:t>
            </a:r>
          </a:p>
        </p:txBody>
      </p:sp>
      <p:sp>
        <p:nvSpPr>
          <p:cNvPr id="1314" name="Rectangle 1313"/>
          <p:cNvSpPr/>
          <p:nvPr/>
        </p:nvSpPr>
        <p:spPr>
          <a:xfrm>
            <a:off x="8238052" y="1548024"/>
            <a:ext cx="335249" cy="250996"/>
          </a:xfrm>
          <a:prstGeom prst="rect">
            <a:avLst/>
          </a:prstGeom>
          <a:solidFill>
            <a:srgbClr val="1F3864">
              <a:alpha val="6590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5" name="TextBox 1314"/>
          <p:cNvSpPr txBox="1"/>
          <p:nvPr/>
        </p:nvSpPr>
        <p:spPr>
          <a:xfrm>
            <a:off x="8232052" y="15500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2.3M</a:t>
            </a:r>
          </a:p>
        </p:txBody>
      </p:sp>
      <p:sp>
        <p:nvSpPr>
          <p:cNvPr id="1316" name="TextBox 1315"/>
          <p:cNvSpPr txBox="1"/>
          <p:nvPr/>
        </p:nvSpPr>
        <p:spPr>
          <a:xfrm>
            <a:off x="8232052" y="16800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4件</a:t>
            </a:r>
          </a:p>
        </p:txBody>
      </p:sp>
      <p:sp>
        <p:nvSpPr>
          <p:cNvPr id="1317" name="Rectangle 1316"/>
          <p:cNvSpPr/>
          <p:nvPr/>
        </p:nvSpPr>
        <p:spPr>
          <a:xfrm>
            <a:off x="8585301" y="1548024"/>
            <a:ext cx="335249" cy="250996"/>
          </a:xfrm>
          <a:prstGeom prst="rect">
            <a:avLst/>
          </a:prstGeom>
          <a:solidFill>
            <a:srgbClr val="1F3864">
              <a:alpha val="4545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8" name="TextBox 1317"/>
          <p:cNvSpPr txBox="1"/>
          <p:nvPr/>
        </p:nvSpPr>
        <p:spPr>
          <a:xfrm>
            <a:off x="8579301" y="15500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1.2M</a:t>
            </a:r>
          </a:p>
        </p:txBody>
      </p:sp>
      <p:sp>
        <p:nvSpPr>
          <p:cNvPr id="1319" name="TextBox 1318"/>
          <p:cNvSpPr txBox="1"/>
          <p:nvPr/>
        </p:nvSpPr>
        <p:spPr>
          <a:xfrm>
            <a:off x="8579301" y="16800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2件</a:t>
            </a:r>
          </a:p>
        </p:txBody>
      </p:sp>
      <p:sp>
        <p:nvSpPr>
          <p:cNvPr id="1320" name="Rectangle 1319"/>
          <p:cNvSpPr/>
          <p:nvPr/>
        </p:nvSpPr>
        <p:spPr>
          <a:xfrm>
            <a:off x="8932550" y="1548024"/>
            <a:ext cx="335249" cy="250996"/>
          </a:xfrm>
          <a:prstGeom prst="rect">
            <a:avLst/>
          </a:prstGeom>
          <a:solidFill>
            <a:srgbClr val="1F3864">
              <a:alpha val="4272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1" name="TextBox 1320"/>
          <p:cNvSpPr txBox="1"/>
          <p:nvPr/>
        </p:nvSpPr>
        <p:spPr>
          <a:xfrm>
            <a:off x="8926550" y="15500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1.0M</a:t>
            </a:r>
          </a:p>
        </p:txBody>
      </p:sp>
      <p:sp>
        <p:nvSpPr>
          <p:cNvPr id="1322" name="TextBox 1321"/>
          <p:cNvSpPr txBox="1"/>
          <p:nvPr/>
        </p:nvSpPr>
        <p:spPr>
          <a:xfrm>
            <a:off x="8926550" y="16800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2件</a:t>
            </a:r>
          </a:p>
        </p:txBody>
      </p:sp>
      <p:sp>
        <p:nvSpPr>
          <p:cNvPr id="1323" name="Rectangle 1322"/>
          <p:cNvSpPr/>
          <p:nvPr/>
        </p:nvSpPr>
        <p:spPr>
          <a:xfrm>
            <a:off x="9279799" y="1548024"/>
            <a:ext cx="335249" cy="250996"/>
          </a:xfrm>
          <a:prstGeom prst="rect">
            <a:avLst/>
          </a:prstGeom>
          <a:solidFill>
            <a:srgbClr val="1F3864">
              <a:alpha val="6590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4" name="TextBox 1323"/>
          <p:cNvSpPr txBox="1"/>
          <p:nvPr/>
        </p:nvSpPr>
        <p:spPr>
          <a:xfrm>
            <a:off x="9273799" y="15500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2.3M</a:t>
            </a:r>
          </a:p>
        </p:txBody>
      </p:sp>
      <p:sp>
        <p:nvSpPr>
          <p:cNvPr id="1325" name="TextBox 1324"/>
          <p:cNvSpPr txBox="1"/>
          <p:nvPr/>
        </p:nvSpPr>
        <p:spPr>
          <a:xfrm>
            <a:off x="9273799" y="16800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2件</a:t>
            </a:r>
          </a:p>
        </p:txBody>
      </p:sp>
      <p:sp>
        <p:nvSpPr>
          <p:cNvPr id="1326" name="Rectangle 1325"/>
          <p:cNvSpPr/>
          <p:nvPr/>
        </p:nvSpPr>
        <p:spPr>
          <a:xfrm>
            <a:off x="9627048" y="1548024"/>
            <a:ext cx="335249" cy="250996"/>
          </a:xfrm>
          <a:prstGeom prst="rect">
            <a:avLst/>
          </a:prstGeom>
          <a:solidFill>
            <a:srgbClr val="1F3864">
              <a:alpha val="4545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7" name="TextBox 1326"/>
          <p:cNvSpPr txBox="1"/>
          <p:nvPr/>
        </p:nvSpPr>
        <p:spPr>
          <a:xfrm>
            <a:off x="9621048" y="15500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1.2M</a:t>
            </a:r>
          </a:p>
        </p:txBody>
      </p:sp>
      <p:sp>
        <p:nvSpPr>
          <p:cNvPr id="1328" name="TextBox 1327"/>
          <p:cNvSpPr txBox="1"/>
          <p:nvPr/>
        </p:nvSpPr>
        <p:spPr>
          <a:xfrm>
            <a:off x="9621048" y="16800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3件</a:t>
            </a:r>
          </a:p>
        </p:txBody>
      </p:sp>
      <p:sp>
        <p:nvSpPr>
          <p:cNvPr id="1329" name="Rectangle 1328"/>
          <p:cNvSpPr/>
          <p:nvPr/>
        </p:nvSpPr>
        <p:spPr>
          <a:xfrm>
            <a:off x="9974297" y="1548024"/>
            <a:ext cx="335249" cy="250996"/>
          </a:xfrm>
          <a:prstGeom prst="rect">
            <a:avLst/>
          </a:prstGeom>
          <a:solidFill>
            <a:srgbClr val="1F3864">
              <a:alpha val="7681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0" name="TextBox 1329"/>
          <p:cNvSpPr txBox="1"/>
          <p:nvPr/>
        </p:nvSpPr>
        <p:spPr>
          <a:xfrm>
            <a:off x="9968297" y="15500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3.0M</a:t>
            </a:r>
          </a:p>
        </p:txBody>
      </p:sp>
      <p:sp>
        <p:nvSpPr>
          <p:cNvPr id="1331" name="TextBox 1330"/>
          <p:cNvSpPr txBox="1"/>
          <p:nvPr/>
        </p:nvSpPr>
        <p:spPr>
          <a:xfrm>
            <a:off x="9968297" y="16800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6件</a:t>
            </a:r>
          </a:p>
        </p:txBody>
      </p:sp>
      <p:sp>
        <p:nvSpPr>
          <p:cNvPr id="1332" name="Rectangle 1331"/>
          <p:cNvSpPr/>
          <p:nvPr/>
        </p:nvSpPr>
        <p:spPr>
          <a:xfrm>
            <a:off x="10321546" y="1548024"/>
            <a:ext cx="335249" cy="250996"/>
          </a:xfrm>
          <a:prstGeom prst="rect">
            <a:avLst/>
          </a:prstGeom>
          <a:solidFill>
            <a:srgbClr val="1F3864">
              <a:alpha val="6590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3" name="TextBox 1332"/>
          <p:cNvSpPr txBox="1"/>
          <p:nvPr/>
        </p:nvSpPr>
        <p:spPr>
          <a:xfrm>
            <a:off x="10315546" y="15500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2.3M</a:t>
            </a:r>
          </a:p>
        </p:txBody>
      </p:sp>
      <p:sp>
        <p:nvSpPr>
          <p:cNvPr id="1334" name="TextBox 1333"/>
          <p:cNvSpPr txBox="1"/>
          <p:nvPr/>
        </p:nvSpPr>
        <p:spPr>
          <a:xfrm>
            <a:off x="10315546" y="16800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4件</a:t>
            </a:r>
          </a:p>
        </p:txBody>
      </p:sp>
      <p:sp>
        <p:nvSpPr>
          <p:cNvPr id="1335" name="Rectangle 1334"/>
          <p:cNvSpPr/>
          <p:nvPr/>
        </p:nvSpPr>
        <p:spPr>
          <a:xfrm>
            <a:off x="10668795" y="1548024"/>
            <a:ext cx="335249" cy="250996"/>
          </a:xfrm>
          <a:prstGeom prst="rect">
            <a:avLst/>
          </a:prstGeom>
          <a:solidFill>
            <a:srgbClr val="1F3864">
              <a:alpha val="8077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6" name="TextBox 1335"/>
          <p:cNvSpPr txBox="1"/>
          <p:nvPr/>
        </p:nvSpPr>
        <p:spPr>
          <a:xfrm>
            <a:off x="10662795" y="15500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3.2M</a:t>
            </a:r>
          </a:p>
        </p:txBody>
      </p:sp>
      <p:sp>
        <p:nvSpPr>
          <p:cNvPr id="1337" name="TextBox 1336"/>
          <p:cNvSpPr txBox="1"/>
          <p:nvPr/>
        </p:nvSpPr>
        <p:spPr>
          <a:xfrm>
            <a:off x="10662795" y="16800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5件</a:t>
            </a:r>
          </a:p>
        </p:txBody>
      </p:sp>
      <p:sp>
        <p:nvSpPr>
          <p:cNvPr id="1338" name="Rectangle 1337"/>
          <p:cNvSpPr/>
          <p:nvPr/>
        </p:nvSpPr>
        <p:spPr>
          <a:xfrm>
            <a:off x="11016044" y="1548024"/>
            <a:ext cx="335249" cy="250996"/>
          </a:xfrm>
          <a:prstGeom prst="rect">
            <a:avLst/>
          </a:prstGeom>
          <a:solidFill>
            <a:srgbClr val="1F3864">
              <a:alpha val="7954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9" name="TextBox 1338"/>
          <p:cNvSpPr txBox="1"/>
          <p:nvPr/>
        </p:nvSpPr>
        <p:spPr>
          <a:xfrm>
            <a:off x="11010044" y="15500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3.1M</a:t>
            </a:r>
          </a:p>
        </p:txBody>
      </p:sp>
      <p:sp>
        <p:nvSpPr>
          <p:cNvPr id="1340" name="TextBox 1339"/>
          <p:cNvSpPr txBox="1"/>
          <p:nvPr/>
        </p:nvSpPr>
        <p:spPr>
          <a:xfrm>
            <a:off x="11010044" y="16800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6件</a:t>
            </a:r>
          </a:p>
        </p:txBody>
      </p:sp>
      <p:sp>
        <p:nvSpPr>
          <p:cNvPr id="1341" name="Rectangle 1340"/>
          <p:cNvSpPr/>
          <p:nvPr/>
        </p:nvSpPr>
        <p:spPr>
          <a:xfrm>
            <a:off x="11363293" y="1548024"/>
            <a:ext cx="335249" cy="250996"/>
          </a:xfrm>
          <a:prstGeom prst="rect">
            <a:avLst/>
          </a:prstGeom>
          <a:solidFill>
            <a:srgbClr val="1F3864">
              <a:alpha val="6590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2" name="TextBox 1341"/>
          <p:cNvSpPr txBox="1"/>
          <p:nvPr/>
        </p:nvSpPr>
        <p:spPr>
          <a:xfrm>
            <a:off x="11357293" y="15500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2.3M</a:t>
            </a:r>
          </a:p>
        </p:txBody>
      </p:sp>
      <p:sp>
        <p:nvSpPr>
          <p:cNvPr id="1343" name="TextBox 1342"/>
          <p:cNvSpPr txBox="1"/>
          <p:nvPr/>
        </p:nvSpPr>
        <p:spPr>
          <a:xfrm>
            <a:off x="11357293" y="16800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3件</a:t>
            </a:r>
          </a:p>
        </p:txBody>
      </p:sp>
      <p:sp>
        <p:nvSpPr>
          <p:cNvPr id="1344" name="Rectangle 1343"/>
          <p:cNvSpPr/>
          <p:nvPr/>
        </p:nvSpPr>
        <p:spPr>
          <a:xfrm>
            <a:off x="11710542" y="1548024"/>
            <a:ext cx="335249" cy="250996"/>
          </a:xfrm>
          <a:prstGeom prst="rect">
            <a:avLst/>
          </a:prstGeom>
          <a:solidFill>
            <a:srgbClr val="1F3864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5" name="TextBox 1344"/>
          <p:cNvSpPr txBox="1"/>
          <p:nvPr/>
        </p:nvSpPr>
        <p:spPr>
          <a:xfrm>
            <a:off x="11704542" y="15500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4.3M</a:t>
            </a:r>
          </a:p>
        </p:txBody>
      </p:sp>
      <p:sp>
        <p:nvSpPr>
          <p:cNvPr id="1346" name="TextBox 1345"/>
          <p:cNvSpPr txBox="1"/>
          <p:nvPr/>
        </p:nvSpPr>
        <p:spPr>
          <a:xfrm>
            <a:off x="11704542" y="16800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7件</a:t>
            </a:r>
          </a:p>
        </p:txBody>
      </p:sp>
      <p:sp>
        <p:nvSpPr>
          <p:cNvPr id="1347" name="TextBox 1346"/>
          <p:cNvSpPr txBox="1"/>
          <p:nvPr/>
        </p:nvSpPr>
        <p:spPr>
          <a:xfrm>
            <a:off x="6183056" y="1805020"/>
            <a:ext cx="650000" cy="2629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同行经代</a:t>
            </a:r>
          </a:p>
        </p:txBody>
      </p:sp>
      <p:sp>
        <p:nvSpPr>
          <p:cNvPr id="1348" name="Rectangle 1347"/>
          <p:cNvSpPr/>
          <p:nvPr/>
        </p:nvSpPr>
        <p:spPr>
          <a:xfrm>
            <a:off x="6849056" y="1811020"/>
            <a:ext cx="335249" cy="250996"/>
          </a:xfrm>
          <a:prstGeom prst="rect">
            <a:avLst/>
          </a:prstGeom>
          <a:solidFill>
            <a:srgbClr val="E67E22">
              <a:alpha val="2769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9" name="TextBox 1348"/>
          <p:cNvSpPr txBox="1"/>
          <p:nvPr/>
        </p:nvSpPr>
        <p:spPr>
          <a:xfrm>
            <a:off x="6843056" y="18130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0.4M</a:t>
            </a:r>
          </a:p>
        </p:txBody>
      </p:sp>
      <p:sp>
        <p:nvSpPr>
          <p:cNvPr id="1350" name="TextBox 1349"/>
          <p:cNvSpPr txBox="1"/>
          <p:nvPr/>
        </p:nvSpPr>
        <p:spPr>
          <a:xfrm>
            <a:off x="6843056" y="19430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2件</a:t>
            </a:r>
          </a:p>
        </p:txBody>
      </p:sp>
      <p:sp>
        <p:nvSpPr>
          <p:cNvPr id="1351" name="Rectangle 1350"/>
          <p:cNvSpPr/>
          <p:nvPr/>
        </p:nvSpPr>
        <p:spPr>
          <a:xfrm>
            <a:off x="7196305" y="1811020"/>
            <a:ext cx="335249" cy="250996"/>
          </a:xfrm>
          <a:prstGeom prst="rect">
            <a:avLst/>
          </a:prstGeom>
          <a:solidFill>
            <a:srgbClr val="E67E22">
              <a:alpha val="4127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2" name="TextBox 1351"/>
          <p:cNvSpPr txBox="1"/>
          <p:nvPr/>
        </p:nvSpPr>
        <p:spPr>
          <a:xfrm>
            <a:off x="7190305" y="18130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2.4M</a:t>
            </a:r>
          </a:p>
        </p:txBody>
      </p:sp>
      <p:sp>
        <p:nvSpPr>
          <p:cNvPr id="1353" name="TextBox 1352"/>
          <p:cNvSpPr txBox="1"/>
          <p:nvPr/>
        </p:nvSpPr>
        <p:spPr>
          <a:xfrm>
            <a:off x="7190305" y="19430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9件</a:t>
            </a:r>
          </a:p>
        </p:txBody>
      </p:sp>
      <p:sp>
        <p:nvSpPr>
          <p:cNvPr id="1354" name="Rectangle 1353"/>
          <p:cNvSpPr/>
          <p:nvPr/>
        </p:nvSpPr>
        <p:spPr>
          <a:xfrm>
            <a:off x="7543554" y="1811020"/>
            <a:ext cx="335249" cy="250996"/>
          </a:xfrm>
          <a:prstGeom prst="rect">
            <a:avLst/>
          </a:prstGeom>
          <a:solidFill>
            <a:srgbClr val="E67E22">
              <a:alpha val="3895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5" name="TextBox 1354"/>
          <p:cNvSpPr txBox="1"/>
          <p:nvPr/>
        </p:nvSpPr>
        <p:spPr>
          <a:xfrm>
            <a:off x="7537554" y="18130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2.0M</a:t>
            </a:r>
          </a:p>
        </p:txBody>
      </p:sp>
      <p:sp>
        <p:nvSpPr>
          <p:cNvPr id="1356" name="TextBox 1355"/>
          <p:cNvSpPr txBox="1"/>
          <p:nvPr/>
        </p:nvSpPr>
        <p:spPr>
          <a:xfrm>
            <a:off x="7537554" y="19430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13件</a:t>
            </a:r>
          </a:p>
        </p:txBody>
      </p:sp>
      <p:sp>
        <p:nvSpPr>
          <p:cNvPr id="1357" name="Rectangle 1356"/>
          <p:cNvSpPr/>
          <p:nvPr/>
        </p:nvSpPr>
        <p:spPr>
          <a:xfrm>
            <a:off x="7890803" y="1811020"/>
            <a:ext cx="335249" cy="250996"/>
          </a:xfrm>
          <a:prstGeom prst="rect">
            <a:avLst/>
          </a:prstGeom>
          <a:solidFill>
            <a:srgbClr val="E67E22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8" name="TextBox 1357"/>
          <p:cNvSpPr txBox="1"/>
          <p:nvPr/>
        </p:nvSpPr>
        <p:spPr>
          <a:xfrm>
            <a:off x="7884803" y="18130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10.8M</a:t>
            </a:r>
          </a:p>
        </p:txBody>
      </p:sp>
      <p:sp>
        <p:nvSpPr>
          <p:cNvPr id="1359" name="TextBox 1358"/>
          <p:cNvSpPr txBox="1"/>
          <p:nvPr/>
        </p:nvSpPr>
        <p:spPr>
          <a:xfrm>
            <a:off x="7884803" y="19430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14件</a:t>
            </a:r>
          </a:p>
        </p:txBody>
      </p:sp>
      <p:sp>
        <p:nvSpPr>
          <p:cNvPr id="1360" name="Rectangle 1359"/>
          <p:cNvSpPr/>
          <p:nvPr/>
        </p:nvSpPr>
        <p:spPr>
          <a:xfrm>
            <a:off x="8238052" y="1811020"/>
            <a:ext cx="335249" cy="250996"/>
          </a:xfrm>
          <a:prstGeom prst="rect">
            <a:avLst/>
          </a:prstGeom>
          <a:solidFill>
            <a:srgbClr val="E67E22">
              <a:alpha val="3755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1" name="TextBox 1360"/>
          <p:cNvSpPr txBox="1"/>
          <p:nvPr/>
        </p:nvSpPr>
        <p:spPr>
          <a:xfrm>
            <a:off x="8232052" y="18130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1.8M</a:t>
            </a:r>
          </a:p>
        </p:txBody>
      </p:sp>
      <p:sp>
        <p:nvSpPr>
          <p:cNvPr id="1362" name="TextBox 1361"/>
          <p:cNvSpPr txBox="1"/>
          <p:nvPr/>
        </p:nvSpPr>
        <p:spPr>
          <a:xfrm>
            <a:off x="8232052" y="19430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4件</a:t>
            </a:r>
          </a:p>
        </p:txBody>
      </p:sp>
      <p:sp>
        <p:nvSpPr>
          <p:cNvPr id="1363" name="Rectangle 1362"/>
          <p:cNvSpPr/>
          <p:nvPr/>
        </p:nvSpPr>
        <p:spPr>
          <a:xfrm>
            <a:off x="8585301" y="1811020"/>
            <a:ext cx="335249" cy="250996"/>
          </a:xfrm>
          <a:prstGeom prst="rect">
            <a:avLst/>
          </a:prstGeom>
          <a:solidFill>
            <a:srgbClr val="E67E22">
              <a:alpha val="6316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4" name="TextBox 1363"/>
          <p:cNvSpPr txBox="1"/>
          <p:nvPr/>
        </p:nvSpPr>
        <p:spPr>
          <a:xfrm>
            <a:off x="8579301" y="18130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5.5M</a:t>
            </a:r>
          </a:p>
        </p:txBody>
      </p:sp>
      <p:sp>
        <p:nvSpPr>
          <p:cNvPr id="1365" name="TextBox 1364"/>
          <p:cNvSpPr txBox="1"/>
          <p:nvPr/>
        </p:nvSpPr>
        <p:spPr>
          <a:xfrm>
            <a:off x="8579301" y="19430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16件</a:t>
            </a:r>
          </a:p>
        </p:txBody>
      </p:sp>
      <p:sp>
        <p:nvSpPr>
          <p:cNvPr id="1366" name="Rectangle 1365"/>
          <p:cNvSpPr/>
          <p:nvPr/>
        </p:nvSpPr>
        <p:spPr>
          <a:xfrm>
            <a:off x="8932550" y="1811020"/>
            <a:ext cx="335249" cy="250996"/>
          </a:xfrm>
          <a:prstGeom prst="rect">
            <a:avLst/>
          </a:prstGeom>
          <a:solidFill>
            <a:srgbClr val="E67E22">
              <a:alpha val="4553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7" name="TextBox 1366"/>
          <p:cNvSpPr txBox="1"/>
          <p:nvPr/>
        </p:nvSpPr>
        <p:spPr>
          <a:xfrm>
            <a:off x="8926550" y="18130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3.0M</a:t>
            </a:r>
          </a:p>
        </p:txBody>
      </p:sp>
      <p:sp>
        <p:nvSpPr>
          <p:cNvPr id="1368" name="TextBox 1367"/>
          <p:cNvSpPr txBox="1"/>
          <p:nvPr/>
        </p:nvSpPr>
        <p:spPr>
          <a:xfrm>
            <a:off x="8926550" y="19430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11件</a:t>
            </a:r>
          </a:p>
        </p:txBody>
      </p:sp>
      <p:sp>
        <p:nvSpPr>
          <p:cNvPr id="1369" name="Rectangle 1368"/>
          <p:cNvSpPr/>
          <p:nvPr/>
        </p:nvSpPr>
        <p:spPr>
          <a:xfrm>
            <a:off x="9279799" y="1811020"/>
            <a:ext cx="335249" cy="250996"/>
          </a:xfrm>
          <a:prstGeom prst="rect">
            <a:avLst/>
          </a:prstGeom>
          <a:solidFill>
            <a:srgbClr val="E67E22">
              <a:alpha val="7118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0" name="TextBox 1369"/>
          <p:cNvSpPr txBox="1"/>
          <p:nvPr/>
        </p:nvSpPr>
        <p:spPr>
          <a:xfrm>
            <a:off x="9273799" y="18130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6.7M</a:t>
            </a:r>
          </a:p>
        </p:txBody>
      </p:sp>
      <p:sp>
        <p:nvSpPr>
          <p:cNvPr id="1371" name="TextBox 1370"/>
          <p:cNvSpPr txBox="1"/>
          <p:nvPr/>
        </p:nvSpPr>
        <p:spPr>
          <a:xfrm>
            <a:off x="9273799" y="19430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20件</a:t>
            </a:r>
          </a:p>
        </p:txBody>
      </p:sp>
      <p:sp>
        <p:nvSpPr>
          <p:cNvPr id="1372" name="Rectangle 1371"/>
          <p:cNvSpPr/>
          <p:nvPr/>
        </p:nvSpPr>
        <p:spPr>
          <a:xfrm>
            <a:off x="9627048" y="1811020"/>
            <a:ext cx="335249" cy="250996"/>
          </a:xfrm>
          <a:prstGeom prst="rect">
            <a:avLst/>
          </a:prstGeom>
          <a:solidFill>
            <a:srgbClr val="E67E22">
              <a:alpha val="5290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3" name="TextBox 1372"/>
          <p:cNvSpPr txBox="1"/>
          <p:nvPr/>
        </p:nvSpPr>
        <p:spPr>
          <a:xfrm>
            <a:off x="9621048" y="18130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4.0M</a:t>
            </a:r>
          </a:p>
        </p:txBody>
      </p:sp>
      <p:sp>
        <p:nvSpPr>
          <p:cNvPr id="1374" name="TextBox 1373"/>
          <p:cNvSpPr txBox="1"/>
          <p:nvPr/>
        </p:nvSpPr>
        <p:spPr>
          <a:xfrm>
            <a:off x="9621048" y="19430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12件</a:t>
            </a:r>
          </a:p>
        </p:txBody>
      </p:sp>
      <p:sp>
        <p:nvSpPr>
          <p:cNvPr id="1375" name="Rectangle 1374"/>
          <p:cNvSpPr/>
          <p:nvPr/>
        </p:nvSpPr>
        <p:spPr>
          <a:xfrm>
            <a:off x="9974297" y="1811020"/>
            <a:ext cx="335249" cy="250996"/>
          </a:xfrm>
          <a:prstGeom prst="rect">
            <a:avLst/>
          </a:prstGeom>
          <a:solidFill>
            <a:srgbClr val="E67E22">
              <a:alpha val="3795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6" name="TextBox 1375"/>
          <p:cNvSpPr txBox="1"/>
          <p:nvPr/>
        </p:nvSpPr>
        <p:spPr>
          <a:xfrm>
            <a:off x="9968297" y="18130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1.9M</a:t>
            </a:r>
          </a:p>
        </p:txBody>
      </p:sp>
      <p:sp>
        <p:nvSpPr>
          <p:cNvPr id="1377" name="TextBox 1376"/>
          <p:cNvSpPr txBox="1"/>
          <p:nvPr/>
        </p:nvSpPr>
        <p:spPr>
          <a:xfrm>
            <a:off x="9968297" y="19430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5件</a:t>
            </a:r>
          </a:p>
        </p:txBody>
      </p:sp>
      <p:sp>
        <p:nvSpPr>
          <p:cNvPr id="1378" name="Rectangle 1377"/>
          <p:cNvSpPr/>
          <p:nvPr/>
        </p:nvSpPr>
        <p:spPr>
          <a:xfrm>
            <a:off x="10321546" y="1811020"/>
            <a:ext cx="335249" cy="250996"/>
          </a:xfrm>
          <a:prstGeom prst="rect">
            <a:avLst/>
          </a:prstGeom>
          <a:solidFill>
            <a:srgbClr val="E67E22">
              <a:alpha val="8087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9" name="TextBox 1378"/>
          <p:cNvSpPr txBox="1"/>
          <p:nvPr/>
        </p:nvSpPr>
        <p:spPr>
          <a:xfrm>
            <a:off x="10315546" y="18130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8.1M</a:t>
            </a:r>
          </a:p>
        </p:txBody>
      </p:sp>
      <p:sp>
        <p:nvSpPr>
          <p:cNvPr id="1380" name="TextBox 1379"/>
          <p:cNvSpPr txBox="1"/>
          <p:nvPr/>
        </p:nvSpPr>
        <p:spPr>
          <a:xfrm>
            <a:off x="10315546" y="19430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13件</a:t>
            </a:r>
          </a:p>
        </p:txBody>
      </p:sp>
      <p:sp>
        <p:nvSpPr>
          <p:cNvPr id="1381" name="Rectangle 1380"/>
          <p:cNvSpPr/>
          <p:nvPr/>
        </p:nvSpPr>
        <p:spPr>
          <a:xfrm>
            <a:off x="10668795" y="1811020"/>
            <a:ext cx="335249" cy="250996"/>
          </a:xfrm>
          <a:prstGeom prst="rect">
            <a:avLst/>
          </a:prstGeom>
          <a:solidFill>
            <a:srgbClr val="E67E22">
              <a:alpha val="7053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2" name="TextBox 1381"/>
          <p:cNvSpPr txBox="1"/>
          <p:nvPr/>
        </p:nvSpPr>
        <p:spPr>
          <a:xfrm>
            <a:off x="10662795" y="18130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6.6M</a:t>
            </a:r>
          </a:p>
        </p:txBody>
      </p:sp>
      <p:sp>
        <p:nvSpPr>
          <p:cNvPr id="1383" name="TextBox 1382"/>
          <p:cNvSpPr txBox="1"/>
          <p:nvPr/>
        </p:nvSpPr>
        <p:spPr>
          <a:xfrm>
            <a:off x="10662795" y="19430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12件</a:t>
            </a:r>
          </a:p>
        </p:txBody>
      </p:sp>
      <p:sp>
        <p:nvSpPr>
          <p:cNvPr id="1384" name="Rectangle 1383"/>
          <p:cNvSpPr/>
          <p:nvPr/>
        </p:nvSpPr>
        <p:spPr>
          <a:xfrm>
            <a:off x="11016044" y="1811020"/>
            <a:ext cx="335249" cy="250996"/>
          </a:xfrm>
          <a:prstGeom prst="rect">
            <a:avLst/>
          </a:prstGeom>
          <a:solidFill>
            <a:srgbClr val="E67E22">
              <a:alpha val="5404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5" name="TextBox 1384"/>
          <p:cNvSpPr txBox="1"/>
          <p:nvPr/>
        </p:nvSpPr>
        <p:spPr>
          <a:xfrm>
            <a:off x="11010044" y="18130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4.2M</a:t>
            </a:r>
          </a:p>
        </p:txBody>
      </p:sp>
      <p:sp>
        <p:nvSpPr>
          <p:cNvPr id="1386" name="TextBox 1385"/>
          <p:cNvSpPr txBox="1"/>
          <p:nvPr/>
        </p:nvSpPr>
        <p:spPr>
          <a:xfrm>
            <a:off x="11010044" y="19430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13件</a:t>
            </a:r>
          </a:p>
        </p:txBody>
      </p:sp>
      <p:sp>
        <p:nvSpPr>
          <p:cNvPr id="1387" name="Rectangle 1386"/>
          <p:cNvSpPr/>
          <p:nvPr/>
        </p:nvSpPr>
        <p:spPr>
          <a:xfrm>
            <a:off x="11363293" y="1811020"/>
            <a:ext cx="335249" cy="250996"/>
          </a:xfrm>
          <a:prstGeom prst="rect">
            <a:avLst/>
          </a:prstGeom>
          <a:solidFill>
            <a:srgbClr val="E67E22">
              <a:alpha val="3270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8" name="TextBox 1387"/>
          <p:cNvSpPr txBox="1"/>
          <p:nvPr/>
        </p:nvSpPr>
        <p:spPr>
          <a:xfrm>
            <a:off x="11357293" y="18130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1.1M</a:t>
            </a:r>
          </a:p>
        </p:txBody>
      </p:sp>
      <p:sp>
        <p:nvSpPr>
          <p:cNvPr id="1389" name="TextBox 1388"/>
          <p:cNvSpPr txBox="1"/>
          <p:nvPr/>
        </p:nvSpPr>
        <p:spPr>
          <a:xfrm>
            <a:off x="11357293" y="19430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5件</a:t>
            </a:r>
          </a:p>
        </p:txBody>
      </p:sp>
      <p:sp>
        <p:nvSpPr>
          <p:cNvPr id="1390" name="Rectangle 1389"/>
          <p:cNvSpPr/>
          <p:nvPr/>
        </p:nvSpPr>
        <p:spPr>
          <a:xfrm>
            <a:off x="11710542" y="1811020"/>
            <a:ext cx="335249" cy="250996"/>
          </a:xfrm>
          <a:prstGeom prst="rect">
            <a:avLst/>
          </a:prstGeom>
          <a:solidFill>
            <a:srgbClr val="E67E22">
              <a:alpha val="3552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1" name="TextBox 1390"/>
          <p:cNvSpPr txBox="1"/>
          <p:nvPr/>
        </p:nvSpPr>
        <p:spPr>
          <a:xfrm>
            <a:off x="11704542" y="18130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1.5M</a:t>
            </a:r>
          </a:p>
        </p:txBody>
      </p:sp>
      <p:sp>
        <p:nvSpPr>
          <p:cNvPr id="1392" name="TextBox 1391"/>
          <p:cNvSpPr txBox="1"/>
          <p:nvPr/>
        </p:nvSpPr>
        <p:spPr>
          <a:xfrm>
            <a:off x="11704542" y="19430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6件</a:t>
            </a:r>
          </a:p>
        </p:txBody>
      </p:sp>
      <p:sp>
        <p:nvSpPr>
          <p:cNvPr id="1393" name="TextBox 1392"/>
          <p:cNvSpPr txBox="1"/>
          <p:nvPr/>
        </p:nvSpPr>
        <p:spPr>
          <a:xfrm>
            <a:off x="6183056" y="2068016"/>
            <a:ext cx="650000" cy="2629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永明经代</a:t>
            </a:r>
          </a:p>
        </p:txBody>
      </p:sp>
      <p:sp>
        <p:nvSpPr>
          <p:cNvPr id="1394" name="Rectangle 1393"/>
          <p:cNvSpPr/>
          <p:nvPr/>
        </p:nvSpPr>
        <p:spPr>
          <a:xfrm>
            <a:off x="6849056" y="2074016"/>
            <a:ext cx="335249" cy="250996"/>
          </a:xfrm>
          <a:prstGeom prst="rect">
            <a:avLst/>
          </a:prstGeom>
          <a:solidFill>
            <a:srgbClr val="1A7A3F">
              <a:alpha val="5568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5" name="TextBox 1394"/>
          <p:cNvSpPr txBox="1"/>
          <p:nvPr/>
        </p:nvSpPr>
        <p:spPr>
          <a:xfrm>
            <a:off x="6843056" y="20760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4.0M</a:t>
            </a:r>
          </a:p>
        </p:txBody>
      </p:sp>
      <p:sp>
        <p:nvSpPr>
          <p:cNvPr id="1396" name="TextBox 1395"/>
          <p:cNvSpPr txBox="1"/>
          <p:nvPr/>
        </p:nvSpPr>
        <p:spPr>
          <a:xfrm>
            <a:off x="6843056" y="22060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6件</a:t>
            </a:r>
          </a:p>
        </p:txBody>
      </p:sp>
      <p:sp>
        <p:nvSpPr>
          <p:cNvPr id="1397" name="Rectangle 1396"/>
          <p:cNvSpPr/>
          <p:nvPr/>
        </p:nvSpPr>
        <p:spPr>
          <a:xfrm>
            <a:off x="7196305" y="2074016"/>
            <a:ext cx="335249" cy="250996"/>
          </a:xfrm>
          <a:prstGeom prst="rect">
            <a:avLst/>
          </a:prstGeom>
          <a:solidFill>
            <a:srgbClr val="1A7A3F">
              <a:alpha val="4645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8" name="TextBox 1397"/>
          <p:cNvSpPr txBox="1"/>
          <p:nvPr/>
        </p:nvSpPr>
        <p:spPr>
          <a:xfrm>
            <a:off x="7190305" y="20760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2.8M</a:t>
            </a:r>
          </a:p>
        </p:txBody>
      </p:sp>
      <p:sp>
        <p:nvSpPr>
          <p:cNvPr id="1399" name="TextBox 1398"/>
          <p:cNvSpPr txBox="1"/>
          <p:nvPr/>
        </p:nvSpPr>
        <p:spPr>
          <a:xfrm>
            <a:off x="7190305" y="22060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10件</a:t>
            </a:r>
          </a:p>
        </p:txBody>
      </p:sp>
      <p:sp>
        <p:nvSpPr>
          <p:cNvPr id="1400" name="Rectangle 1399"/>
          <p:cNvSpPr/>
          <p:nvPr/>
        </p:nvSpPr>
        <p:spPr>
          <a:xfrm>
            <a:off x="7543554" y="2074016"/>
            <a:ext cx="335249" cy="250996"/>
          </a:xfrm>
          <a:prstGeom prst="rect">
            <a:avLst/>
          </a:prstGeom>
          <a:solidFill>
            <a:srgbClr val="1A7A3F">
              <a:alpha val="6973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1" name="TextBox 1400"/>
          <p:cNvSpPr txBox="1"/>
          <p:nvPr/>
        </p:nvSpPr>
        <p:spPr>
          <a:xfrm>
            <a:off x="7537554" y="20760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5.8M</a:t>
            </a:r>
          </a:p>
        </p:txBody>
      </p:sp>
      <p:sp>
        <p:nvSpPr>
          <p:cNvPr id="1402" name="TextBox 1401"/>
          <p:cNvSpPr txBox="1"/>
          <p:nvPr/>
        </p:nvSpPr>
        <p:spPr>
          <a:xfrm>
            <a:off x="7537554" y="22060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10件</a:t>
            </a:r>
          </a:p>
        </p:txBody>
      </p:sp>
      <p:sp>
        <p:nvSpPr>
          <p:cNvPr id="1403" name="Rectangle 1402"/>
          <p:cNvSpPr/>
          <p:nvPr/>
        </p:nvSpPr>
        <p:spPr>
          <a:xfrm>
            <a:off x="7890803" y="2074016"/>
            <a:ext cx="335249" cy="250996"/>
          </a:xfrm>
          <a:prstGeom prst="rect">
            <a:avLst/>
          </a:prstGeom>
          <a:solidFill>
            <a:srgbClr val="1A7A3F">
              <a:alpha val="4234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4" name="TextBox 1403"/>
          <p:cNvSpPr txBox="1"/>
          <p:nvPr/>
        </p:nvSpPr>
        <p:spPr>
          <a:xfrm>
            <a:off x="7884803" y="20760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2.2M</a:t>
            </a:r>
          </a:p>
        </p:txBody>
      </p:sp>
      <p:sp>
        <p:nvSpPr>
          <p:cNvPr id="1405" name="TextBox 1404"/>
          <p:cNvSpPr txBox="1"/>
          <p:nvPr/>
        </p:nvSpPr>
        <p:spPr>
          <a:xfrm>
            <a:off x="7884803" y="22060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4件</a:t>
            </a:r>
          </a:p>
        </p:txBody>
      </p:sp>
      <p:sp>
        <p:nvSpPr>
          <p:cNvPr id="1406" name="Rectangle 1405"/>
          <p:cNvSpPr/>
          <p:nvPr/>
        </p:nvSpPr>
        <p:spPr>
          <a:xfrm>
            <a:off x="8238052" y="2074016"/>
            <a:ext cx="335249" cy="250996"/>
          </a:xfrm>
          <a:prstGeom prst="rect">
            <a:avLst/>
          </a:prstGeom>
          <a:solidFill>
            <a:srgbClr val="1A7A3F">
              <a:alpha val="5750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7" name="TextBox 1406"/>
          <p:cNvSpPr txBox="1"/>
          <p:nvPr/>
        </p:nvSpPr>
        <p:spPr>
          <a:xfrm>
            <a:off x="8232052" y="20760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4.2M</a:t>
            </a:r>
          </a:p>
        </p:txBody>
      </p:sp>
      <p:sp>
        <p:nvSpPr>
          <p:cNvPr id="1408" name="TextBox 1407"/>
          <p:cNvSpPr txBox="1"/>
          <p:nvPr/>
        </p:nvSpPr>
        <p:spPr>
          <a:xfrm>
            <a:off x="8232052" y="22060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8件</a:t>
            </a:r>
          </a:p>
        </p:txBody>
      </p:sp>
      <p:sp>
        <p:nvSpPr>
          <p:cNvPr id="1409" name="Rectangle 1408"/>
          <p:cNvSpPr/>
          <p:nvPr/>
        </p:nvSpPr>
        <p:spPr>
          <a:xfrm>
            <a:off x="8585301" y="2074016"/>
            <a:ext cx="335249" cy="250996"/>
          </a:xfrm>
          <a:prstGeom prst="rect">
            <a:avLst/>
          </a:prstGeom>
          <a:solidFill>
            <a:srgbClr val="1A7A3F">
              <a:alpha val="6397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0" name="TextBox 1409"/>
          <p:cNvSpPr txBox="1"/>
          <p:nvPr/>
        </p:nvSpPr>
        <p:spPr>
          <a:xfrm>
            <a:off x="8579301" y="20760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5.0M</a:t>
            </a:r>
          </a:p>
        </p:txBody>
      </p:sp>
      <p:sp>
        <p:nvSpPr>
          <p:cNvPr id="1411" name="TextBox 1410"/>
          <p:cNvSpPr txBox="1"/>
          <p:nvPr/>
        </p:nvSpPr>
        <p:spPr>
          <a:xfrm>
            <a:off x="8579301" y="22060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9件</a:t>
            </a:r>
          </a:p>
        </p:txBody>
      </p:sp>
      <p:sp>
        <p:nvSpPr>
          <p:cNvPr id="1412" name="Rectangle 1411"/>
          <p:cNvSpPr/>
          <p:nvPr/>
        </p:nvSpPr>
        <p:spPr>
          <a:xfrm>
            <a:off x="8932550" y="2074016"/>
            <a:ext cx="335249" cy="250996"/>
          </a:xfrm>
          <a:prstGeom prst="rect">
            <a:avLst/>
          </a:prstGeom>
          <a:solidFill>
            <a:srgbClr val="1A7A3F">
              <a:alpha val="5853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3" name="TextBox 1412"/>
          <p:cNvSpPr txBox="1"/>
          <p:nvPr/>
        </p:nvSpPr>
        <p:spPr>
          <a:xfrm>
            <a:off x="8926550" y="20760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4.3M</a:t>
            </a:r>
          </a:p>
        </p:txBody>
      </p:sp>
      <p:sp>
        <p:nvSpPr>
          <p:cNvPr id="1414" name="TextBox 1413"/>
          <p:cNvSpPr txBox="1"/>
          <p:nvPr/>
        </p:nvSpPr>
        <p:spPr>
          <a:xfrm>
            <a:off x="8926550" y="22060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16件</a:t>
            </a:r>
          </a:p>
        </p:txBody>
      </p:sp>
      <p:sp>
        <p:nvSpPr>
          <p:cNvPr id="1415" name="Rectangle 1414"/>
          <p:cNvSpPr/>
          <p:nvPr/>
        </p:nvSpPr>
        <p:spPr>
          <a:xfrm>
            <a:off x="9279799" y="2074016"/>
            <a:ext cx="335249" cy="250996"/>
          </a:xfrm>
          <a:prstGeom prst="rect">
            <a:avLst/>
          </a:prstGeom>
          <a:solidFill>
            <a:srgbClr val="1A7A3F">
              <a:alpha val="7812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6" name="TextBox 1415"/>
          <p:cNvSpPr txBox="1"/>
          <p:nvPr/>
        </p:nvSpPr>
        <p:spPr>
          <a:xfrm>
            <a:off x="9273799" y="20760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6.8M</a:t>
            </a:r>
          </a:p>
        </p:txBody>
      </p:sp>
      <p:sp>
        <p:nvSpPr>
          <p:cNvPr id="1417" name="TextBox 1416"/>
          <p:cNvSpPr txBox="1"/>
          <p:nvPr/>
        </p:nvSpPr>
        <p:spPr>
          <a:xfrm>
            <a:off x="9273799" y="22060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17件</a:t>
            </a:r>
          </a:p>
        </p:txBody>
      </p:sp>
      <p:sp>
        <p:nvSpPr>
          <p:cNvPr id="1418" name="Rectangle 1417"/>
          <p:cNvSpPr/>
          <p:nvPr/>
        </p:nvSpPr>
        <p:spPr>
          <a:xfrm>
            <a:off x="9627048" y="2074016"/>
            <a:ext cx="335249" cy="250996"/>
          </a:xfrm>
          <a:prstGeom prst="rect">
            <a:avLst/>
          </a:prstGeom>
          <a:solidFill>
            <a:srgbClr val="1A7A3F">
              <a:alpha val="4974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9" name="TextBox 1418"/>
          <p:cNvSpPr txBox="1"/>
          <p:nvPr/>
        </p:nvSpPr>
        <p:spPr>
          <a:xfrm>
            <a:off x="9621048" y="20760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3.2M</a:t>
            </a:r>
          </a:p>
        </p:txBody>
      </p:sp>
      <p:sp>
        <p:nvSpPr>
          <p:cNvPr id="1420" name="TextBox 1419"/>
          <p:cNvSpPr txBox="1"/>
          <p:nvPr/>
        </p:nvSpPr>
        <p:spPr>
          <a:xfrm>
            <a:off x="9621048" y="22060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10件</a:t>
            </a:r>
          </a:p>
        </p:txBody>
      </p:sp>
      <p:sp>
        <p:nvSpPr>
          <p:cNvPr id="1421" name="Rectangle 1420"/>
          <p:cNvSpPr/>
          <p:nvPr/>
        </p:nvSpPr>
        <p:spPr>
          <a:xfrm>
            <a:off x="9974297" y="2074016"/>
            <a:ext cx="335249" cy="250996"/>
          </a:xfrm>
          <a:prstGeom prst="rect">
            <a:avLst/>
          </a:prstGeom>
          <a:solidFill>
            <a:srgbClr val="1A7A3F">
              <a:alpha val="6462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2" name="TextBox 1421"/>
          <p:cNvSpPr txBox="1"/>
          <p:nvPr/>
        </p:nvSpPr>
        <p:spPr>
          <a:xfrm>
            <a:off x="9968297" y="20760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5.1M</a:t>
            </a:r>
          </a:p>
        </p:txBody>
      </p:sp>
      <p:sp>
        <p:nvSpPr>
          <p:cNvPr id="1423" name="TextBox 1422"/>
          <p:cNvSpPr txBox="1"/>
          <p:nvPr/>
        </p:nvSpPr>
        <p:spPr>
          <a:xfrm>
            <a:off x="9968297" y="22060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14件</a:t>
            </a:r>
          </a:p>
        </p:txBody>
      </p:sp>
      <p:sp>
        <p:nvSpPr>
          <p:cNvPr id="1424" name="Rectangle 1423"/>
          <p:cNvSpPr/>
          <p:nvPr/>
        </p:nvSpPr>
        <p:spPr>
          <a:xfrm>
            <a:off x="10321546" y="2074016"/>
            <a:ext cx="335249" cy="250996"/>
          </a:xfrm>
          <a:prstGeom prst="rect">
            <a:avLst/>
          </a:prstGeom>
          <a:solidFill>
            <a:srgbClr val="1A7A3F">
              <a:alpha val="5954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5" name="TextBox 1424"/>
          <p:cNvSpPr txBox="1"/>
          <p:nvPr/>
        </p:nvSpPr>
        <p:spPr>
          <a:xfrm>
            <a:off x="10315546" y="20760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4.5M</a:t>
            </a:r>
          </a:p>
        </p:txBody>
      </p:sp>
      <p:sp>
        <p:nvSpPr>
          <p:cNvPr id="1426" name="TextBox 1425"/>
          <p:cNvSpPr txBox="1"/>
          <p:nvPr/>
        </p:nvSpPr>
        <p:spPr>
          <a:xfrm>
            <a:off x="10315546" y="22060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14件</a:t>
            </a:r>
          </a:p>
        </p:txBody>
      </p:sp>
      <p:sp>
        <p:nvSpPr>
          <p:cNvPr id="1427" name="Rectangle 1426"/>
          <p:cNvSpPr/>
          <p:nvPr/>
        </p:nvSpPr>
        <p:spPr>
          <a:xfrm>
            <a:off x="10668795" y="2074016"/>
            <a:ext cx="335249" cy="250996"/>
          </a:xfrm>
          <a:prstGeom prst="rect">
            <a:avLst/>
          </a:prstGeom>
          <a:solidFill>
            <a:srgbClr val="1A7A3F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8" name="TextBox 1427"/>
          <p:cNvSpPr txBox="1"/>
          <p:nvPr/>
        </p:nvSpPr>
        <p:spPr>
          <a:xfrm>
            <a:off x="10662795" y="20760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9.7M</a:t>
            </a:r>
          </a:p>
        </p:txBody>
      </p:sp>
      <p:sp>
        <p:nvSpPr>
          <p:cNvPr id="1429" name="TextBox 1428"/>
          <p:cNvSpPr txBox="1"/>
          <p:nvPr/>
        </p:nvSpPr>
        <p:spPr>
          <a:xfrm>
            <a:off x="10662795" y="22060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29件</a:t>
            </a:r>
          </a:p>
        </p:txBody>
      </p:sp>
      <p:sp>
        <p:nvSpPr>
          <p:cNvPr id="1430" name="Rectangle 1429"/>
          <p:cNvSpPr/>
          <p:nvPr/>
        </p:nvSpPr>
        <p:spPr>
          <a:xfrm>
            <a:off x="11016044" y="2074016"/>
            <a:ext cx="335249" cy="250996"/>
          </a:xfrm>
          <a:prstGeom prst="rect">
            <a:avLst/>
          </a:prstGeom>
          <a:solidFill>
            <a:srgbClr val="1A7A3F">
              <a:alpha val="4244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1" name="TextBox 1430"/>
          <p:cNvSpPr txBox="1"/>
          <p:nvPr/>
        </p:nvSpPr>
        <p:spPr>
          <a:xfrm>
            <a:off x="11010044" y="20760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2.2M</a:t>
            </a:r>
          </a:p>
        </p:txBody>
      </p:sp>
      <p:sp>
        <p:nvSpPr>
          <p:cNvPr id="1432" name="TextBox 1431"/>
          <p:cNvSpPr txBox="1"/>
          <p:nvPr/>
        </p:nvSpPr>
        <p:spPr>
          <a:xfrm>
            <a:off x="11010044" y="22060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11件</a:t>
            </a:r>
          </a:p>
        </p:txBody>
      </p:sp>
      <p:sp>
        <p:nvSpPr>
          <p:cNvPr id="1433" name="Rectangle 1432"/>
          <p:cNvSpPr/>
          <p:nvPr/>
        </p:nvSpPr>
        <p:spPr>
          <a:xfrm>
            <a:off x="11363293" y="2074016"/>
            <a:ext cx="335249" cy="250996"/>
          </a:xfrm>
          <a:prstGeom prst="rect">
            <a:avLst/>
          </a:prstGeom>
          <a:solidFill>
            <a:srgbClr val="1A7A3F">
              <a:alpha val="4235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4" name="TextBox 1433"/>
          <p:cNvSpPr txBox="1"/>
          <p:nvPr/>
        </p:nvSpPr>
        <p:spPr>
          <a:xfrm>
            <a:off x="11357293" y="20760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2.2M</a:t>
            </a:r>
          </a:p>
        </p:txBody>
      </p:sp>
      <p:sp>
        <p:nvSpPr>
          <p:cNvPr id="1435" name="TextBox 1434"/>
          <p:cNvSpPr txBox="1"/>
          <p:nvPr/>
        </p:nvSpPr>
        <p:spPr>
          <a:xfrm>
            <a:off x="11357293" y="22060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9件</a:t>
            </a:r>
          </a:p>
        </p:txBody>
      </p:sp>
      <p:sp>
        <p:nvSpPr>
          <p:cNvPr id="1436" name="Rectangle 1435"/>
          <p:cNvSpPr/>
          <p:nvPr/>
        </p:nvSpPr>
        <p:spPr>
          <a:xfrm>
            <a:off x="11710542" y="2074016"/>
            <a:ext cx="335249" cy="250996"/>
          </a:xfrm>
          <a:prstGeom prst="rect">
            <a:avLst/>
          </a:prstGeom>
          <a:solidFill>
            <a:srgbClr val="1A7A3F">
              <a:alpha val="5622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7" name="TextBox 1436"/>
          <p:cNvSpPr txBox="1"/>
          <p:nvPr/>
        </p:nvSpPr>
        <p:spPr>
          <a:xfrm>
            <a:off x="11704542" y="20760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4.0M</a:t>
            </a:r>
          </a:p>
        </p:txBody>
      </p:sp>
      <p:sp>
        <p:nvSpPr>
          <p:cNvPr id="1438" name="TextBox 1437"/>
          <p:cNvSpPr txBox="1"/>
          <p:nvPr/>
        </p:nvSpPr>
        <p:spPr>
          <a:xfrm>
            <a:off x="11704542" y="22060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10件</a:t>
            </a:r>
          </a:p>
        </p:txBody>
      </p:sp>
      <p:sp>
        <p:nvSpPr>
          <p:cNvPr id="1439" name="TextBox 1438"/>
          <p:cNvSpPr txBox="1"/>
          <p:nvPr/>
        </p:nvSpPr>
        <p:spPr>
          <a:xfrm>
            <a:off x="6183056" y="2331012"/>
            <a:ext cx="650000" cy="2629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合伙转介</a:t>
            </a:r>
          </a:p>
        </p:txBody>
      </p:sp>
      <p:sp>
        <p:nvSpPr>
          <p:cNvPr id="1440" name="Rectangle 1439"/>
          <p:cNvSpPr/>
          <p:nvPr/>
        </p:nvSpPr>
        <p:spPr>
          <a:xfrm>
            <a:off x="6849056" y="2337012"/>
            <a:ext cx="335249" cy="250996"/>
          </a:xfrm>
          <a:prstGeom prst="rect">
            <a:avLst/>
          </a:prstGeom>
          <a:solidFill>
            <a:srgbClr val="94A3B8">
              <a:alpha val="2528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1" name="TextBox 1440"/>
          <p:cNvSpPr txBox="1"/>
          <p:nvPr/>
        </p:nvSpPr>
        <p:spPr>
          <a:xfrm>
            <a:off x="6843056" y="23390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0.0M</a:t>
            </a:r>
          </a:p>
        </p:txBody>
      </p:sp>
      <p:sp>
        <p:nvSpPr>
          <p:cNvPr id="1442" name="TextBox 1441"/>
          <p:cNvSpPr txBox="1"/>
          <p:nvPr/>
        </p:nvSpPr>
        <p:spPr>
          <a:xfrm>
            <a:off x="6843056" y="246900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1件</a:t>
            </a:r>
          </a:p>
        </p:txBody>
      </p:sp>
      <p:sp>
        <p:nvSpPr>
          <p:cNvPr id="1443" name="Rectangle 1442"/>
          <p:cNvSpPr/>
          <p:nvPr/>
        </p:nvSpPr>
        <p:spPr>
          <a:xfrm>
            <a:off x="7196305" y="2337012"/>
            <a:ext cx="335249" cy="250996"/>
          </a:xfrm>
          <a:prstGeom prst="rect">
            <a:avLst/>
          </a:prstGeom>
          <a:solidFill>
            <a:srgbClr val="94A3B8">
              <a:alpha val="2529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4" name="TextBox 1443"/>
          <p:cNvSpPr txBox="1"/>
          <p:nvPr/>
        </p:nvSpPr>
        <p:spPr>
          <a:xfrm>
            <a:off x="7190305" y="23390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0.0M</a:t>
            </a:r>
          </a:p>
        </p:txBody>
      </p:sp>
      <p:sp>
        <p:nvSpPr>
          <p:cNvPr id="1445" name="TextBox 1444"/>
          <p:cNvSpPr txBox="1"/>
          <p:nvPr/>
        </p:nvSpPr>
        <p:spPr>
          <a:xfrm>
            <a:off x="7190305" y="246900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1件</a:t>
            </a:r>
          </a:p>
        </p:txBody>
      </p:sp>
      <p:sp>
        <p:nvSpPr>
          <p:cNvPr id="1446" name="Rectangle 1445"/>
          <p:cNvSpPr/>
          <p:nvPr/>
        </p:nvSpPr>
        <p:spPr>
          <a:xfrm>
            <a:off x="7890803" y="2337012"/>
            <a:ext cx="335249" cy="250996"/>
          </a:xfrm>
          <a:prstGeom prst="rect">
            <a:avLst/>
          </a:prstGeom>
          <a:solidFill>
            <a:srgbClr val="94A3B8">
              <a:alpha val="3250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7" name="TextBox 1446"/>
          <p:cNvSpPr txBox="1"/>
          <p:nvPr/>
        </p:nvSpPr>
        <p:spPr>
          <a:xfrm>
            <a:off x="7884803" y="23390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0.4M</a:t>
            </a:r>
          </a:p>
        </p:txBody>
      </p:sp>
      <p:sp>
        <p:nvSpPr>
          <p:cNvPr id="1448" name="TextBox 1447"/>
          <p:cNvSpPr txBox="1"/>
          <p:nvPr/>
        </p:nvSpPr>
        <p:spPr>
          <a:xfrm>
            <a:off x="7884803" y="246900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1件</a:t>
            </a:r>
          </a:p>
        </p:txBody>
      </p:sp>
      <p:sp>
        <p:nvSpPr>
          <p:cNvPr id="1449" name="Rectangle 1448"/>
          <p:cNvSpPr/>
          <p:nvPr/>
        </p:nvSpPr>
        <p:spPr>
          <a:xfrm>
            <a:off x="8585301" y="2337012"/>
            <a:ext cx="335249" cy="250996"/>
          </a:xfrm>
          <a:prstGeom prst="rect">
            <a:avLst/>
          </a:prstGeom>
          <a:solidFill>
            <a:srgbClr val="94A3B8">
              <a:alpha val="2586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0" name="TextBox 1449"/>
          <p:cNvSpPr txBox="1"/>
          <p:nvPr/>
        </p:nvSpPr>
        <p:spPr>
          <a:xfrm>
            <a:off x="8579301" y="23390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0.0M</a:t>
            </a:r>
          </a:p>
        </p:txBody>
      </p:sp>
      <p:sp>
        <p:nvSpPr>
          <p:cNvPr id="1451" name="TextBox 1450"/>
          <p:cNvSpPr txBox="1"/>
          <p:nvPr/>
        </p:nvSpPr>
        <p:spPr>
          <a:xfrm>
            <a:off x="8579301" y="246900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2件</a:t>
            </a:r>
          </a:p>
        </p:txBody>
      </p:sp>
      <p:sp>
        <p:nvSpPr>
          <p:cNvPr id="1452" name="Rectangle 1451"/>
          <p:cNvSpPr/>
          <p:nvPr/>
        </p:nvSpPr>
        <p:spPr>
          <a:xfrm>
            <a:off x="9974297" y="2337012"/>
            <a:ext cx="335249" cy="250996"/>
          </a:xfrm>
          <a:prstGeom prst="rect">
            <a:avLst/>
          </a:prstGeom>
          <a:solidFill>
            <a:srgbClr val="94A3B8">
              <a:alpha val="2650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3" name="TextBox 1452"/>
          <p:cNvSpPr txBox="1"/>
          <p:nvPr/>
        </p:nvSpPr>
        <p:spPr>
          <a:xfrm>
            <a:off x="9968297" y="23390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0.1M</a:t>
            </a:r>
          </a:p>
        </p:txBody>
      </p:sp>
      <p:sp>
        <p:nvSpPr>
          <p:cNvPr id="1454" name="TextBox 1453"/>
          <p:cNvSpPr txBox="1"/>
          <p:nvPr/>
        </p:nvSpPr>
        <p:spPr>
          <a:xfrm>
            <a:off x="9968297" y="246900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1件</a:t>
            </a:r>
          </a:p>
        </p:txBody>
      </p:sp>
      <p:sp>
        <p:nvSpPr>
          <p:cNvPr id="1455" name="Rectangle 1454"/>
          <p:cNvSpPr/>
          <p:nvPr/>
        </p:nvSpPr>
        <p:spPr>
          <a:xfrm>
            <a:off x="10668795" y="2337012"/>
            <a:ext cx="335249" cy="250996"/>
          </a:xfrm>
          <a:prstGeom prst="rect">
            <a:avLst/>
          </a:prstGeom>
          <a:solidFill>
            <a:srgbClr val="94A3B8">
              <a:alpha val="2687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6" name="TextBox 1455"/>
          <p:cNvSpPr txBox="1"/>
          <p:nvPr/>
        </p:nvSpPr>
        <p:spPr>
          <a:xfrm>
            <a:off x="10662795" y="23390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0.1M</a:t>
            </a:r>
          </a:p>
        </p:txBody>
      </p:sp>
      <p:sp>
        <p:nvSpPr>
          <p:cNvPr id="1457" name="TextBox 1456"/>
          <p:cNvSpPr txBox="1"/>
          <p:nvPr/>
        </p:nvSpPr>
        <p:spPr>
          <a:xfrm>
            <a:off x="10662795" y="246900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3件</a:t>
            </a:r>
          </a:p>
        </p:txBody>
      </p:sp>
      <p:sp>
        <p:nvSpPr>
          <p:cNvPr id="1458" name="Rectangle 1457"/>
          <p:cNvSpPr/>
          <p:nvPr/>
        </p:nvSpPr>
        <p:spPr>
          <a:xfrm>
            <a:off x="11016044" y="2337012"/>
            <a:ext cx="335249" cy="250996"/>
          </a:xfrm>
          <a:prstGeom prst="rect">
            <a:avLst/>
          </a:prstGeom>
          <a:solidFill>
            <a:srgbClr val="94A3B8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9" name="TextBox 1458"/>
          <p:cNvSpPr txBox="1"/>
          <p:nvPr/>
        </p:nvSpPr>
        <p:spPr>
          <a:xfrm>
            <a:off x="11010044" y="23390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3.9M</a:t>
            </a:r>
          </a:p>
        </p:txBody>
      </p:sp>
      <p:sp>
        <p:nvSpPr>
          <p:cNvPr id="1460" name="TextBox 1459"/>
          <p:cNvSpPr txBox="1"/>
          <p:nvPr/>
        </p:nvSpPr>
        <p:spPr>
          <a:xfrm>
            <a:off x="11010044" y="246900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1件</a:t>
            </a:r>
          </a:p>
        </p:txBody>
      </p:sp>
      <p:sp>
        <p:nvSpPr>
          <p:cNvPr id="1461" name="Rectangle 1460"/>
          <p:cNvSpPr/>
          <p:nvPr/>
        </p:nvSpPr>
        <p:spPr>
          <a:xfrm>
            <a:off x="11363293" y="2337012"/>
            <a:ext cx="335249" cy="250996"/>
          </a:xfrm>
          <a:prstGeom prst="rect">
            <a:avLst/>
          </a:prstGeom>
          <a:solidFill>
            <a:srgbClr val="94A3B8">
              <a:alpha val="2988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2" name="TextBox 1461"/>
          <p:cNvSpPr txBox="1"/>
          <p:nvPr/>
        </p:nvSpPr>
        <p:spPr>
          <a:xfrm>
            <a:off x="11357293" y="23390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0.3M</a:t>
            </a:r>
          </a:p>
        </p:txBody>
      </p:sp>
      <p:sp>
        <p:nvSpPr>
          <p:cNvPr id="1463" name="TextBox 1462"/>
          <p:cNvSpPr txBox="1"/>
          <p:nvPr/>
        </p:nvSpPr>
        <p:spPr>
          <a:xfrm>
            <a:off x="11357293" y="246900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3件</a:t>
            </a:r>
          </a:p>
        </p:txBody>
      </p:sp>
      <p:sp>
        <p:nvSpPr>
          <p:cNvPr id="1464" name="TextBox 1463"/>
          <p:cNvSpPr txBox="1"/>
          <p:nvPr/>
        </p:nvSpPr>
        <p:spPr>
          <a:xfrm>
            <a:off x="6183056" y="2594008"/>
            <a:ext cx="650000" cy="2629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ICLUB业务</a:t>
            </a:r>
          </a:p>
        </p:txBody>
      </p:sp>
      <p:sp>
        <p:nvSpPr>
          <p:cNvPr id="1465" name="Rectangle 1464"/>
          <p:cNvSpPr/>
          <p:nvPr/>
        </p:nvSpPr>
        <p:spPr>
          <a:xfrm>
            <a:off x="7543554" y="2600008"/>
            <a:ext cx="335249" cy="250996"/>
          </a:xfrm>
          <a:prstGeom prst="rect">
            <a:avLst/>
          </a:prstGeom>
          <a:solidFill>
            <a:srgbClr val="8E44AD">
              <a:alpha val="2535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6" name="TextBox 1465"/>
          <p:cNvSpPr txBox="1"/>
          <p:nvPr/>
        </p:nvSpPr>
        <p:spPr>
          <a:xfrm>
            <a:off x="7537554" y="260200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8E44AD"/>
                </a:solidFill>
                <a:latin typeface="Calibri"/>
              </a:rPr>
              <a:t>0.0M</a:t>
            </a:r>
          </a:p>
        </p:txBody>
      </p:sp>
      <p:sp>
        <p:nvSpPr>
          <p:cNvPr id="1467" name="TextBox 1466"/>
          <p:cNvSpPr txBox="1"/>
          <p:nvPr/>
        </p:nvSpPr>
        <p:spPr>
          <a:xfrm>
            <a:off x="7537554" y="273200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8E44AD"/>
                </a:solidFill>
                <a:latin typeface="Calibri"/>
              </a:rPr>
              <a:t>1件</a:t>
            </a:r>
          </a:p>
        </p:txBody>
      </p:sp>
      <p:sp>
        <p:nvSpPr>
          <p:cNvPr id="1468" name="Rectangle 1467"/>
          <p:cNvSpPr/>
          <p:nvPr/>
        </p:nvSpPr>
        <p:spPr>
          <a:xfrm>
            <a:off x="8238052" y="2600008"/>
            <a:ext cx="335249" cy="250996"/>
          </a:xfrm>
          <a:prstGeom prst="rect">
            <a:avLst/>
          </a:prstGeom>
          <a:solidFill>
            <a:srgbClr val="8E44AD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9" name="TextBox 1468"/>
          <p:cNvSpPr txBox="1"/>
          <p:nvPr/>
        </p:nvSpPr>
        <p:spPr>
          <a:xfrm>
            <a:off x="8232052" y="260200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4.0M</a:t>
            </a:r>
          </a:p>
        </p:txBody>
      </p:sp>
      <p:sp>
        <p:nvSpPr>
          <p:cNvPr id="1470" name="TextBox 1469"/>
          <p:cNvSpPr txBox="1"/>
          <p:nvPr/>
        </p:nvSpPr>
        <p:spPr>
          <a:xfrm>
            <a:off x="8232052" y="273200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1件</a:t>
            </a:r>
          </a:p>
        </p:txBody>
      </p:sp>
      <p:sp>
        <p:nvSpPr>
          <p:cNvPr id="1471" name="Rectangle 1470"/>
          <p:cNvSpPr/>
          <p:nvPr/>
        </p:nvSpPr>
        <p:spPr>
          <a:xfrm>
            <a:off x="8585301" y="2600008"/>
            <a:ext cx="335249" cy="250996"/>
          </a:xfrm>
          <a:prstGeom prst="rect">
            <a:avLst/>
          </a:prstGeom>
          <a:solidFill>
            <a:srgbClr val="8E44AD">
              <a:alpha val="2516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2" name="TextBox 1471"/>
          <p:cNvSpPr txBox="1"/>
          <p:nvPr/>
        </p:nvSpPr>
        <p:spPr>
          <a:xfrm>
            <a:off x="8579301" y="260200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8E44AD"/>
                </a:solidFill>
                <a:latin typeface="Calibri"/>
              </a:rPr>
              <a:t>0.0M</a:t>
            </a:r>
          </a:p>
        </p:txBody>
      </p:sp>
      <p:sp>
        <p:nvSpPr>
          <p:cNvPr id="1473" name="TextBox 1472"/>
          <p:cNvSpPr txBox="1"/>
          <p:nvPr/>
        </p:nvSpPr>
        <p:spPr>
          <a:xfrm>
            <a:off x="8579301" y="273200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8E44AD"/>
                </a:solidFill>
                <a:latin typeface="Calibri"/>
              </a:rPr>
              <a:t>1件</a:t>
            </a:r>
          </a:p>
        </p:txBody>
      </p:sp>
      <p:sp>
        <p:nvSpPr>
          <p:cNvPr id="1474" name="TextBox 1473"/>
          <p:cNvSpPr txBox="1"/>
          <p:nvPr/>
        </p:nvSpPr>
        <p:spPr>
          <a:xfrm>
            <a:off x="6183056" y="2857004"/>
            <a:ext cx="650000" cy="2629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202020"/>
                </a:solidFill>
                <a:latin typeface="Calibri"/>
              </a:rPr>
              <a:t>合计</a:t>
            </a:r>
          </a:p>
        </p:txBody>
      </p:sp>
      <p:sp>
        <p:nvSpPr>
          <p:cNvPr id="1475" name="Rectangle 1474"/>
          <p:cNvSpPr/>
          <p:nvPr/>
        </p:nvSpPr>
        <p:spPr>
          <a:xfrm>
            <a:off x="6849056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6" name="TextBox 1475"/>
          <p:cNvSpPr txBox="1"/>
          <p:nvPr/>
        </p:nvSpPr>
        <p:spPr>
          <a:xfrm>
            <a:off x="6843056" y="28650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6.0M</a:t>
            </a:r>
          </a:p>
        </p:txBody>
      </p:sp>
      <p:sp>
        <p:nvSpPr>
          <p:cNvPr id="1477" name="TextBox 1476"/>
          <p:cNvSpPr txBox="1"/>
          <p:nvPr/>
        </p:nvSpPr>
        <p:spPr>
          <a:xfrm>
            <a:off x="6843056" y="29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13件</a:t>
            </a:r>
          </a:p>
        </p:txBody>
      </p:sp>
      <p:sp>
        <p:nvSpPr>
          <p:cNvPr id="1478" name="Rectangle 1477"/>
          <p:cNvSpPr/>
          <p:nvPr/>
        </p:nvSpPr>
        <p:spPr>
          <a:xfrm>
            <a:off x="7196305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9" name="TextBox 1478"/>
          <p:cNvSpPr txBox="1"/>
          <p:nvPr/>
        </p:nvSpPr>
        <p:spPr>
          <a:xfrm>
            <a:off x="7190305" y="28650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11.5M</a:t>
            </a:r>
          </a:p>
        </p:txBody>
      </p:sp>
      <p:sp>
        <p:nvSpPr>
          <p:cNvPr id="1480" name="TextBox 1479"/>
          <p:cNvSpPr txBox="1"/>
          <p:nvPr/>
        </p:nvSpPr>
        <p:spPr>
          <a:xfrm>
            <a:off x="7190305" y="29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34件</a:t>
            </a:r>
          </a:p>
        </p:txBody>
      </p:sp>
      <p:sp>
        <p:nvSpPr>
          <p:cNvPr id="1481" name="Rectangle 1480"/>
          <p:cNvSpPr/>
          <p:nvPr/>
        </p:nvSpPr>
        <p:spPr>
          <a:xfrm>
            <a:off x="7543554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2" name="TextBox 1481"/>
          <p:cNvSpPr txBox="1"/>
          <p:nvPr/>
        </p:nvSpPr>
        <p:spPr>
          <a:xfrm>
            <a:off x="7537554" y="28650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16.5M</a:t>
            </a:r>
          </a:p>
        </p:txBody>
      </p:sp>
      <p:sp>
        <p:nvSpPr>
          <p:cNvPr id="1483" name="TextBox 1482"/>
          <p:cNvSpPr txBox="1"/>
          <p:nvPr/>
        </p:nvSpPr>
        <p:spPr>
          <a:xfrm>
            <a:off x="7537554" y="29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45件</a:t>
            </a:r>
          </a:p>
        </p:txBody>
      </p:sp>
      <p:sp>
        <p:nvSpPr>
          <p:cNvPr id="1484" name="Rectangle 1483"/>
          <p:cNvSpPr/>
          <p:nvPr/>
        </p:nvSpPr>
        <p:spPr>
          <a:xfrm>
            <a:off x="7890803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5" name="TextBox 1484"/>
          <p:cNvSpPr txBox="1"/>
          <p:nvPr/>
        </p:nvSpPr>
        <p:spPr>
          <a:xfrm>
            <a:off x="7884803" y="28650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15.2M</a:t>
            </a:r>
          </a:p>
        </p:txBody>
      </p:sp>
      <p:sp>
        <p:nvSpPr>
          <p:cNvPr id="1486" name="TextBox 1485"/>
          <p:cNvSpPr txBox="1"/>
          <p:nvPr/>
        </p:nvSpPr>
        <p:spPr>
          <a:xfrm>
            <a:off x="7884803" y="29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28件</a:t>
            </a:r>
          </a:p>
        </p:txBody>
      </p:sp>
      <p:sp>
        <p:nvSpPr>
          <p:cNvPr id="1487" name="Rectangle 1486"/>
          <p:cNvSpPr/>
          <p:nvPr/>
        </p:nvSpPr>
        <p:spPr>
          <a:xfrm>
            <a:off x="8238052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8" name="TextBox 1487"/>
          <p:cNvSpPr txBox="1"/>
          <p:nvPr/>
        </p:nvSpPr>
        <p:spPr>
          <a:xfrm>
            <a:off x="8232052" y="28650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13.2M</a:t>
            </a:r>
          </a:p>
        </p:txBody>
      </p:sp>
      <p:sp>
        <p:nvSpPr>
          <p:cNvPr id="1489" name="TextBox 1488"/>
          <p:cNvSpPr txBox="1"/>
          <p:nvPr/>
        </p:nvSpPr>
        <p:spPr>
          <a:xfrm>
            <a:off x="8232052" y="29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25件</a:t>
            </a:r>
          </a:p>
        </p:txBody>
      </p:sp>
      <p:sp>
        <p:nvSpPr>
          <p:cNvPr id="1490" name="Rectangle 1489"/>
          <p:cNvSpPr/>
          <p:nvPr/>
        </p:nvSpPr>
        <p:spPr>
          <a:xfrm>
            <a:off x="8585301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1" name="TextBox 1490"/>
          <p:cNvSpPr txBox="1"/>
          <p:nvPr/>
        </p:nvSpPr>
        <p:spPr>
          <a:xfrm>
            <a:off x="8579301" y="28650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19.1M</a:t>
            </a:r>
          </a:p>
        </p:txBody>
      </p:sp>
      <p:sp>
        <p:nvSpPr>
          <p:cNvPr id="1492" name="TextBox 1491"/>
          <p:cNvSpPr txBox="1"/>
          <p:nvPr/>
        </p:nvSpPr>
        <p:spPr>
          <a:xfrm>
            <a:off x="8579301" y="29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55件</a:t>
            </a:r>
          </a:p>
        </p:txBody>
      </p:sp>
      <p:sp>
        <p:nvSpPr>
          <p:cNvPr id="1493" name="Rectangle 1492"/>
          <p:cNvSpPr/>
          <p:nvPr/>
        </p:nvSpPr>
        <p:spPr>
          <a:xfrm>
            <a:off x="8932550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4" name="TextBox 1493"/>
          <p:cNvSpPr txBox="1"/>
          <p:nvPr/>
        </p:nvSpPr>
        <p:spPr>
          <a:xfrm>
            <a:off x="8926550" y="28650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11.9M</a:t>
            </a:r>
          </a:p>
        </p:txBody>
      </p:sp>
      <p:sp>
        <p:nvSpPr>
          <p:cNvPr id="1495" name="TextBox 1494"/>
          <p:cNvSpPr txBox="1"/>
          <p:nvPr/>
        </p:nvSpPr>
        <p:spPr>
          <a:xfrm>
            <a:off x="8926550" y="29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44件</a:t>
            </a:r>
          </a:p>
        </p:txBody>
      </p:sp>
      <p:sp>
        <p:nvSpPr>
          <p:cNvPr id="1496" name="Rectangle 1495"/>
          <p:cNvSpPr/>
          <p:nvPr/>
        </p:nvSpPr>
        <p:spPr>
          <a:xfrm>
            <a:off x="9279799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7" name="TextBox 1496"/>
          <p:cNvSpPr txBox="1"/>
          <p:nvPr/>
        </p:nvSpPr>
        <p:spPr>
          <a:xfrm>
            <a:off x="9273799" y="28650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26.7M</a:t>
            </a:r>
          </a:p>
        </p:txBody>
      </p:sp>
      <p:sp>
        <p:nvSpPr>
          <p:cNvPr id="1498" name="TextBox 1497"/>
          <p:cNvSpPr txBox="1"/>
          <p:nvPr/>
        </p:nvSpPr>
        <p:spPr>
          <a:xfrm>
            <a:off x="9273799" y="29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49件</a:t>
            </a:r>
          </a:p>
        </p:txBody>
      </p:sp>
      <p:sp>
        <p:nvSpPr>
          <p:cNvPr id="1499" name="Rectangle 1498"/>
          <p:cNvSpPr/>
          <p:nvPr/>
        </p:nvSpPr>
        <p:spPr>
          <a:xfrm>
            <a:off x="9627048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0" name="TextBox 1499"/>
          <p:cNvSpPr txBox="1"/>
          <p:nvPr/>
        </p:nvSpPr>
        <p:spPr>
          <a:xfrm>
            <a:off x="9621048" y="28650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10.4M</a:t>
            </a:r>
          </a:p>
        </p:txBody>
      </p:sp>
      <p:sp>
        <p:nvSpPr>
          <p:cNvPr id="1501" name="TextBox 1500"/>
          <p:cNvSpPr txBox="1"/>
          <p:nvPr/>
        </p:nvSpPr>
        <p:spPr>
          <a:xfrm>
            <a:off x="9621048" y="29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42件</a:t>
            </a:r>
          </a:p>
        </p:txBody>
      </p:sp>
      <p:sp>
        <p:nvSpPr>
          <p:cNvPr id="1502" name="Rectangle 1501"/>
          <p:cNvSpPr/>
          <p:nvPr/>
        </p:nvSpPr>
        <p:spPr>
          <a:xfrm>
            <a:off x="9974297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3" name="TextBox 1502"/>
          <p:cNvSpPr txBox="1"/>
          <p:nvPr/>
        </p:nvSpPr>
        <p:spPr>
          <a:xfrm>
            <a:off x="9968297" y="28650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10.6M</a:t>
            </a:r>
          </a:p>
        </p:txBody>
      </p:sp>
      <p:sp>
        <p:nvSpPr>
          <p:cNvPr id="1504" name="TextBox 1503"/>
          <p:cNvSpPr txBox="1"/>
          <p:nvPr/>
        </p:nvSpPr>
        <p:spPr>
          <a:xfrm>
            <a:off x="9968297" y="29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28件</a:t>
            </a:r>
          </a:p>
        </p:txBody>
      </p:sp>
      <p:sp>
        <p:nvSpPr>
          <p:cNvPr id="1505" name="Rectangle 1504"/>
          <p:cNvSpPr/>
          <p:nvPr/>
        </p:nvSpPr>
        <p:spPr>
          <a:xfrm>
            <a:off x="10321546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6" name="TextBox 1505"/>
          <p:cNvSpPr txBox="1"/>
          <p:nvPr/>
        </p:nvSpPr>
        <p:spPr>
          <a:xfrm>
            <a:off x="10315546" y="28650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16.0M</a:t>
            </a:r>
          </a:p>
        </p:txBody>
      </p:sp>
      <p:sp>
        <p:nvSpPr>
          <p:cNvPr id="1507" name="TextBox 1506"/>
          <p:cNvSpPr txBox="1"/>
          <p:nvPr/>
        </p:nvSpPr>
        <p:spPr>
          <a:xfrm>
            <a:off x="10315546" y="29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37件</a:t>
            </a:r>
          </a:p>
        </p:txBody>
      </p:sp>
      <p:sp>
        <p:nvSpPr>
          <p:cNvPr id="1508" name="Rectangle 1507"/>
          <p:cNvSpPr/>
          <p:nvPr/>
        </p:nvSpPr>
        <p:spPr>
          <a:xfrm>
            <a:off x="10668795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9" name="TextBox 1508"/>
          <p:cNvSpPr txBox="1"/>
          <p:nvPr/>
        </p:nvSpPr>
        <p:spPr>
          <a:xfrm>
            <a:off x="10662795" y="28650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22.2M</a:t>
            </a:r>
          </a:p>
        </p:txBody>
      </p:sp>
      <p:sp>
        <p:nvSpPr>
          <p:cNvPr id="1510" name="TextBox 1509"/>
          <p:cNvSpPr txBox="1"/>
          <p:nvPr/>
        </p:nvSpPr>
        <p:spPr>
          <a:xfrm>
            <a:off x="10662795" y="29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55件</a:t>
            </a:r>
          </a:p>
        </p:txBody>
      </p:sp>
      <p:sp>
        <p:nvSpPr>
          <p:cNvPr id="1511" name="Rectangle 1510"/>
          <p:cNvSpPr/>
          <p:nvPr/>
        </p:nvSpPr>
        <p:spPr>
          <a:xfrm>
            <a:off x="11016044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2" name="TextBox 1511"/>
          <p:cNvSpPr txBox="1"/>
          <p:nvPr/>
        </p:nvSpPr>
        <p:spPr>
          <a:xfrm>
            <a:off x="11010044" y="28650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15.2M</a:t>
            </a:r>
          </a:p>
        </p:txBody>
      </p:sp>
      <p:sp>
        <p:nvSpPr>
          <p:cNvPr id="1513" name="TextBox 1512"/>
          <p:cNvSpPr txBox="1"/>
          <p:nvPr/>
        </p:nvSpPr>
        <p:spPr>
          <a:xfrm>
            <a:off x="11010044" y="29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42件</a:t>
            </a:r>
          </a:p>
        </p:txBody>
      </p:sp>
      <p:sp>
        <p:nvSpPr>
          <p:cNvPr id="1514" name="Rectangle 1513"/>
          <p:cNvSpPr/>
          <p:nvPr/>
        </p:nvSpPr>
        <p:spPr>
          <a:xfrm>
            <a:off x="11363293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5" name="TextBox 1514"/>
          <p:cNvSpPr txBox="1"/>
          <p:nvPr/>
        </p:nvSpPr>
        <p:spPr>
          <a:xfrm>
            <a:off x="11357293" y="28650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6.6M</a:t>
            </a:r>
          </a:p>
        </p:txBody>
      </p:sp>
      <p:sp>
        <p:nvSpPr>
          <p:cNvPr id="1516" name="TextBox 1515"/>
          <p:cNvSpPr txBox="1"/>
          <p:nvPr/>
        </p:nvSpPr>
        <p:spPr>
          <a:xfrm>
            <a:off x="11357293" y="29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22件</a:t>
            </a:r>
          </a:p>
        </p:txBody>
      </p:sp>
      <p:sp>
        <p:nvSpPr>
          <p:cNvPr id="1517" name="Rectangle 1516"/>
          <p:cNvSpPr/>
          <p:nvPr/>
        </p:nvSpPr>
        <p:spPr>
          <a:xfrm>
            <a:off x="11710542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8" name="TextBox 1517"/>
          <p:cNvSpPr txBox="1"/>
          <p:nvPr/>
        </p:nvSpPr>
        <p:spPr>
          <a:xfrm>
            <a:off x="11704542" y="28650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16.0M</a:t>
            </a:r>
          </a:p>
        </p:txBody>
      </p:sp>
      <p:sp>
        <p:nvSpPr>
          <p:cNvPr id="1519" name="TextBox 1518"/>
          <p:cNvSpPr txBox="1"/>
          <p:nvPr/>
        </p:nvSpPr>
        <p:spPr>
          <a:xfrm>
            <a:off x="11704542" y="29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30件</a:t>
            </a:r>
          </a:p>
        </p:txBody>
      </p:sp>
      <p:sp>
        <p:nvSpPr>
          <p:cNvPr id="1520" name="Rectangle 1519"/>
          <p:cNvSpPr/>
          <p:nvPr/>
        </p:nvSpPr>
        <p:spPr>
          <a:xfrm>
            <a:off x="182880" y="3657600"/>
            <a:ext cx="5888736" cy="256032"/>
          </a:xfrm>
          <a:prstGeom prst="rect">
            <a:avLst/>
          </a:prstGeom>
          <a:solidFill>
            <a:srgbClr val="7E1F1F"/>
          </a:solidFill>
          <a:ln w="3175">
            <a:solidFill>
              <a:srgbClr val="7E1F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1" name="TextBox 1520"/>
          <p:cNvSpPr txBox="1"/>
          <p:nvPr/>
        </p:nvSpPr>
        <p:spPr>
          <a:xfrm>
            <a:off x="262880" y="3657600"/>
            <a:ext cx="5888736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S  周度批核业绩热力矩阵（APE in M）</a:t>
            </a:r>
          </a:p>
        </p:txBody>
      </p:sp>
      <p:sp>
        <p:nvSpPr>
          <p:cNvPr id="1522" name="TextBox 1521"/>
          <p:cNvSpPr txBox="1"/>
          <p:nvPr/>
        </p:nvSpPr>
        <p:spPr>
          <a:xfrm>
            <a:off x="862880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W14</a:t>
            </a:r>
          </a:p>
        </p:txBody>
      </p:sp>
      <p:sp>
        <p:nvSpPr>
          <p:cNvPr id="1523" name="TextBox 1522"/>
          <p:cNvSpPr txBox="1"/>
          <p:nvPr/>
        </p:nvSpPr>
        <p:spPr>
          <a:xfrm>
            <a:off x="1210129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W15</a:t>
            </a:r>
          </a:p>
        </p:txBody>
      </p:sp>
      <p:sp>
        <p:nvSpPr>
          <p:cNvPr id="1524" name="TextBox 1523"/>
          <p:cNvSpPr txBox="1"/>
          <p:nvPr/>
        </p:nvSpPr>
        <p:spPr>
          <a:xfrm>
            <a:off x="1557378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W16</a:t>
            </a:r>
          </a:p>
        </p:txBody>
      </p:sp>
      <p:sp>
        <p:nvSpPr>
          <p:cNvPr id="1525" name="TextBox 1524"/>
          <p:cNvSpPr txBox="1"/>
          <p:nvPr/>
        </p:nvSpPr>
        <p:spPr>
          <a:xfrm>
            <a:off x="1904627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W17</a:t>
            </a:r>
          </a:p>
        </p:txBody>
      </p:sp>
      <p:sp>
        <p:nvSpPr>
          <p:cNvPr id="1526" name="TextBox 1525"/>
          <p:cNvSpPr txBox="1"/>
          <p:nvPr/>
        </p:nvSpPr>
        <p:spPr>
          <a:xfrm>
            <a:off x="2251876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W18</a:t>
            </a:r>
          </a:p>
        </p:txBody>
      </p:sp>
      <p:sp>
        <p:nvSpPr>
          <p:cNvPr id="1527" name="TextBox 1526"/>
          <p:cNvSpPr txBox="1"/>
          <p:nvPr/>
        </p:nvSpPr>
        <p:spPr>
          <a:xfrm>
            <a:off x="2599125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W19</a:t>
            </a:r>
          </a:p>
        </p:txBody>
      </p:sp>
      <p:sp>
        <p:nvSpPr>
          <p:cNvPr id="1528" name="TextBox 1527"/>
          <p:cNvSpPr txBox="1"/>
          <p:nvPr/>
        </p:nvSpPr>
        <p:spPr>
          <a:xfrm>
            <a:off x="2946374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W20</a:t>
            </a:r>
          </a:p>
        </p:txBody>
      </p:sp>
      <p:sp>
        <p:nvSpPr>
          <p:cNvPr id="1529" name="TextBox 1528"/>
          <p:cNvSpPr txBox="1"/>
          <p:nvPr/>
        </p:nvSpPr>
        <p:spPr>
          <a:xfrm>
            <a:off x="3293623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W21</a:t>
            </a:r>
          </a:p>
        </p:txBody>
      </p:sp>
      <p:sp>
        <p:nvSpPr>
          <p:cNvPr id="1530" name="TextBox 1529"/>
          <p:cNvSpPr txBox="1"/>
          <p:nvPr/>
        </p:nvSpPr>
        <p:spPr>
          <a:xfrm>
            <a:off x="3640872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W22</a:t>
            </a:r>
          </a:p>
        </p:txBody>
      </p:sp>
      <p:sp>
        <p:nvSpPr>
          <p:cNvPr id="1531" name="TextBox 1530"/>
          <p:cNvSpPr txBox="1"/>
          <p:nvPr/>
        </p:nvSpPr>
        <p:spPr>
          <a:xfrm>
            <a:off x="3988121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W23</a:t>
            </a:r>
          </a:p>
        </p:txBody>
      </p:sp>
      <p:sp>
        <p:nvSpPr>
          <p:cNvPr id="1532" name="TextBox 1531"/>
          <p:cNvSpPr txBox="1"/>
          <p:nvPr/>
        </p:nvSpPr>
        <p:spPr>
          <a:xfrm>
            <a:off x="4335370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W24</a:t>
            </a:r>
          </a:p>
        </p:txBody>
      </p:sp>
      <p:sp>
        <p:nvSpPr>
          <p:cNvPr id="1533" name="TextBox 1532"/>
          <p:cNvSpPr txBox="1"/>
          <p:nvPr/>
        </p:nvSpPr>
        <p:spPr>
          <a:xfrm>
            <a:off x="4682619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W25</a:t>
            </a:r>
          </a:p>
        </p:txBody>
      </p:sp>
      <p:sp>
        <p:nvSpPr>
          <p:cNvPr id="1534" name="TextBox 1533"/>
          <p:cNvSpPr txBox="1"/>
          <p:nvPr/>
        </p:nvSpPr>
        <p:spPr>
          <a:xfrm>
            <a:off x="5029868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W26</a:t>
            </a:r>
          </a:p>
        </p:txBody>
      </p:sp>
      <p:sp>
        <p:nvSpPr>
          <p:cNvPr id="1535" name="TextBox 1534"/>
          <p:cNvSpPr txBox="1"/>
          <p:nvPr/>
        </p:nvSpPr>
        <p:spPr>
          <a:xfrm>
            <a:off x="5377117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666666"/>
                </a:solidFill>
                <a:latin typeface="Calibri"/>
              </a:rPr>
              <a:t>W27</a:t>
            </a:r>
          </a:p>
        </p:txBody>
      </p:sp>
      <p:sp>
        <p:nvSpPr>
          <p:cNvPr id="1536" name="TextBox 1535"/>
          <p:cNvSpPr txBox="1"/>
          <p:nvPr/>
        </p:nvSpPr>
        <p:spPr>
          <a:xfrm>
            <a:off x="5724366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666666"/>
                </a:solidFill>
                <a:latin typeface="Calibri"/>
              </a:rPr>
              <a:t>W28</a:t>
            </a:r>
          </a:p>
        </p:txBody>
      </p:sp>
      <p:sp>
        <p:nvSpPr>
          <p:cNvPr id="1537" name="TextBox 1536"/>
          <p:cNvSpPr txBox="1"/>
          <p:nvPr/>
        </p:nvSpPr>
        <p:spPr>
          <a:xfrm>
            <a:off x="202880" y="4113632"/>
            <a:ext cx="650000" cy="2632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天领业务</a:t>
            </a:r>
          </a:p>
        </p:txBody>
      </p:sp>
      <p:sp>
        <p:nvSpPr>
          <p:cNvPr id="1538" name="Rectangle 1537"/>
          <p:cNvSpPr/>
          <p:nvPr/>
        </p:nvSpPr>
        <p:spPr>
          <a:xfrm>
            <a:off x="868880" y="4119632"/>
            <a:ext cx="335249" cy="251296"/>
          </a:xfrm>
          <a:prstGeom prst="rect">
            <a:avLst/>
          </a:prstGeom>
          <a:solidFill>
            <a:srgbClr val="2980B9">
              <a:alpha val="5031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9" name="TextBox 1538"/>
          <p:cNvSpPr txBox="1"/>
          <p:nvPr/>
        </p:nvSpPr>
        <p:spPr>
          <a:xfrm>
            <a:off x="862880" y="41216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3.1M</a:t>
            </a:r>
          </a:p>
        </p:txBody>
      </p:sp>
      <p:sp>
        <p:nvSpPr>
          <p:cNvPr id="1540" name="TextBox 1539"/>
          <p:cNvSpPr txBox="1"/>
          <p:nvPr/>
        </p:nvSpPr>
        <p:spPr>
          <a:xfrm>
            <a:off x="862880" y="42519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3件</a:t>
            </a:r>
          </a:p>
        </p:txBody>
      </p:sp>
      <p:sp>
        <p:nvSpPr>
          <p:cNvPr id="1541" name="Rectangle 1540"/>
          <p:cNvSpPr/>
          <p:nvPr/>
        </p:nvSpPr>
        <p:spPr>
          <a:xfrm>
            <a:off x="1216129" y="4119632"/>
            <a:ext cx="335249" cy="251296"/>
          </a:xfrm>
          <a:prstGeom prst="rect">
            <a:avLst/>
          </a:prstGeom>
          <a:solidFill>
            <a:srgbClr val="2980B9">
              <a:alpha val="3076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2" name="TextBox 1541"/>
          <p:cNvSpPr txBox="1"/>
          <p:nvPr/>
        </p:nvSpPr>
        <p:spPr>
          <a:xfrm>
            <a:off x="1210129" y="41216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0.7M</a:t>
            </a:r>
          </a:p>
        </p:txBody>
      </p:sp>
      <p:sp>
        <p:nvSpPr>
          <p:cNvPr id="1543" name="TextBox 1542"/>
          <p:cNvSpPr txBox="1"/>
          <p:nvPr/>
        </p:nvSpPr>
        <p:spPr>
          <a:xfrm>
            <a:off x="1210129" y="42519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8件</a:t>
            </a:r>
          </a:p>
        </p:txBody>
      </p:sp>
      <p:sp>
        <p:nvSpPr>
          <p:cNvPr id="1544" name="Rectangle 1543"/>
          <p:cNvSpPr/>
          <p:nvPr/>
        </p:nvSpPr>
        <p:spPr>
          <a:xfrm>
            <a:off x="1563378" y="4119632"/>
            <a:ext cx="335249" cy="251296"/>
          </a:xfrm>
          <a:prstGeom prst="rect">
            <a:avLst/>
          </a:prstGeom>
          <a:solidFill>
            <a:srgbClr val="2980B9">
              <a:alpha val="5404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5" name="TextBox 1544"/>
          <p:cNvSpPr txBox="1"/>
          <p:nvPr/>
        </p:nvSpPr>
        <p:spPr>
          <a:xfrm>
            <a:off x="1557378" y="41216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3.5M</a:t>
            </a:r>
          </a:p>
        </p:txBody>
      </p:sp>
      <p:sp>
        <p:nvSpPr>
          <p:cNvPr id="1546" name="TextBox 1545"/>
          <p:cNvSpPr txBox="1"/>
          <p:nvPr/>
        </p:nvSpPr>
        <p:spPr>
          <a:xfrm>
            <a:off x="1557378" y="42519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7件</a:t>
            </a:r>
          </a:p>
        </p:txBody>
      </p:sp>
      <p:sp>
        <p:nvSpPr>
          <p:cNvPr id="1547" name="Rectangle 1546"/>
          <p:cNvSpPr/>
          <p:nvPr/>
        </p:nvSpPr>
        <p:spPr>
          <a:xfrm>
            <a:off x="1910627" y="4119632"/>
            <a:ext cx="335249" cy="251296"/>
          </a:xfrm>
          <a:prstGeom prst="rect">
            <a:avLst/>
          </a:prstGeom>
          <a:solidFill>
            <a:srgbClr val="2980B9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8" name="TextBox 1547"/>
          <p:cNvSpPr txBox="1"/>
          <p:nvPr/>
        </p:nvSpPr>
        <p:spPr>
          <a:xfrm>
            <a:off x="1904627" y="41216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9.1M</a:t>
            </a:r>
          </a:p>
        </p:txBody>
      </p:sp>
      <p:sp>
        <p:nvSpPr>
          <p:cNvPr id="1549" name="TextBox 1548"/>
          <p:cNvSpPr txBox="1"/>
          <p:nvPr/>
        </p:nvSpPr>
        <p:spPr>
          <a:xfrm>
            <a:off x="1904627" y="42519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16件</a:t>
            </a:r>
          </a:p>
        </p:txBody>
      </p:sp>
      <p:sp>
        <p:nvSpPr>
          <p:cNvPr id="1550" name="Rectangle 1549"/>
          <p:cNvSpPr/>
          <p:nvPr/>
        </p:nvSpPr>
        <p:spPr>
          <a:xfrm>
            <a:off x="2257876" y="4119632"/>
            <a:ext cx="335249" cy="251296"/>
          </a:xfrm>
          <a:prstGeom prst="rect">
            <a:avLst/>
          </a:prstGeom>
          <a:solidFill>
            <a:srgbClr val="2980B9">
              <a:alpha val="3372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1" name="TextBox 1550"/>
          <p:cNvSpPr txBox="1"/>
          <p:nvPr/>
        </p:nvSpPr>
        <p:spPr>
          <a:xfrm>
            <a:off x="2251876" y="41216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1.1M</a:t>
            </a:r>
          </a:p>
        </p:txBody>
      </p:sp>
      <p:sp>
        <p:nvSpPr>
          <p:cNvPr id="1552" name="TextBox 1551"/>
          <p:cNvSpPr txBox="1"/>
          <p:nvPr/>
        </p:nvSpPr>
        <p:spPr>
          <a:xfrm>
            <a:off x="2251876" y="42519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7件</a:t>
            </a:r>
          </a:p>
        </p:txBody>
      </p:sp>
      <p:sp>
        <p:nvSpPr>
          <p:cNvPr id="1553" name="Rectangle 1552"/>
          <p:cNvSpPr/>
          <p:nvPr/>
        </p:nvSpPr>
        <p:spPr>
          <a:xfrm>
            <a:off x="2605125" y="4119632"/>
            <a:ext cx="335249" cy="251296"/>
          </a:xfrm>
          <a:prstGeom prst="rect">
            <a:avLst/>
          </a:prstGeom>
          <a:solidFill>
            <a:srgbClr val="2980B9">
              <a:alpha val="2782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4" name="TextBox 1553"/>
          <p:cNvSpPr txBox="1"/>
          <p:nvPr/>
        </p:nvSpPr>
        <p:spPr>
          <a:xfrm>
            <a:off x="2599125" y="41216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0.3M</a:t>
            </a:r>
          </a:p>
        </p:txBody>
      </p:sp>
      <p:sp>
        <p:nvSpPr>
          <p:cNvPr id="1555" name="TextBox 1554"/>
          <p:cNvSpPr txBox="1"/>
          <p:nvPr/>
        </p:nvSpPr>
        <p:spPr>
          <a:xfrm>
            <a:off x="2599125" y="42519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5件</a:t>
            </a:r>
          </a:p>
        </p:txBody>
      </p:sp>
      <p:sp>
        <p:nvSpPr>
          <p:cNvPr id="1556" name="Rectangle 1555"/>
          <p:cNvSpPr/>
          <p:nvPr/>
        </p:nvSpPr>
        <p:spPr>
          <a:xfrm>
            <a:off x="2952374" y="4119632"/>
            <a:ext cx="335249" cy="251296"/>
          </a:xfrm>
          <a:prstGeom prst="rect">
            <a:avLst/>
          </a:prstGeom>
          <a:solidFill>
            <a:srgbClr val="2980B9">
              <a:alpha val="4743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7" name="TextBox 1556"/>
          <p:cNvSpPr txBox="1"/>
          <p:nvPr/>
        </p:nvSpPr>
        <p:spPr>
          <a:xfrm>
            <a:off x="2946374" y="41216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2.7M</a:t>
            </a:r>
          </a:p>
        </p:txBody>
      </p:sp>
      <p:sp>
        <p:nvSpPr>
          <p:cNvPr id="1558" name="TextBox 1557"/>
          <p:cNvSpPr txBox="1"/>
          <p:nvPr/>
        </p:nvSpPr>
        <p:spPr>
          <a:xfrm>
            <a:off x="2946374" y="42519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13件</a:t>
            </a:r>
          </a:p>
        </p:txBody>
      </p:sp>
      <p:sp>
        <p:nvSpPr>
          <p:cNvPr id="1559" name="Rectangle 1558"/>
          <p:cNvSpPr/>
          <p:nvPr/>
        </p:nvSpPr>
        <p:spPr>
          <a:xfrm>
            <a:off x="3299623" y="4119632"/>
            <a:ext cx="335249" cy="251296"/>
          </a:xfrm>
          <a:prstGeom prst="rect">
            <a:avLst/>
          </a:prstGeom>
          <a:solidFill>
            <a:srgbClr val="2980B9">
              <a:alpha val="4041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0" name="TextBox 1559"/>
          <p:cNvSpPr txBox="1"/>
          <p:nvPr/>
        </p:nvSpPr>
        <p:spPr>
          <a:xfrm>
            <a:off x="3293623" y="41216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1.9M</a:t>
            </a:r>
          </a:p>
        </p:txBody>
      </p:sp>
      <p:sp>
        <p:nvSpPr>
          <p:cNvPr id="1561" name="TextBox 1560"/>
          <p:cNvSpPr txBox="1"/>
          <p:nvPr/>
        </p:nvSpPr>
        <p:spPr>
          <a:xfrm>
            <a:off x="3293623" y="42519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11件</a:t>
            </a:r>
          </a:p>
        </p:txBody>
      </p:sp>
      <p:sp>
        <p:nvSpPr>
          <p:cNvPr id="1562" name="Rectangle 1561"/>
          <p:cNvSpPr/>
          <p:nvPr/>
        </p:nvSpPr>
        <p:spPr>
          <a:xfrm>
            <a:off x="3646872" y="4119632"/>
            <a:ext cx="335249" cy="251296"/>
          </a:xfrm>
          <a:prstGeom prst="rect">
            <a:avLst/>
          </a:prstGeom>
          <a:solidFill>
            <a:srgbClr val="2980B9">
              <a:alpha val="6814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3" name="TextBox 1562"/>
          <p:cNvSpPr txBox="1"/>
          <p:nvPr/>
        </p:nvSpPr>
        <p:spPr>
          <a:xfrm>
            <a:off x="3640872" y="41216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5.2M</a:t>
            </a:r>
          </a:p>
        </p:txBody>
      </p:sp>
      <p:sp>
        <p:nvSpPr>
          <p:cNvPr id="1564" name="TextBox 1563"/>
          <p:cNvSpPr txBox="1"/>
          <p:nvPr/>
        </p:nvSpPr>
        <p:spPr>
          <a:xfrm>
            <a:off x="3640872" y="42519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7件</a:t>
            </a:r>
          </a:p>
        </p:txBody>
      </p:sp>
      <p:sp>
        <p:nvSpPr>
          <p:cNvPr id="1565" name="Rectangle 1564"/>
          <p:cNvSpPr/>
          <p:nvPr/>
        </p:nvSpPr>
        <p:spPr>
          <a:xfrm>
            <a:off x="3994121" y="4119632"/>
            <a:ext cx="335249" cy="251296"/>
          </a:xfrm>
          <a:prstGeom prst="rect">
            <a:avLst/>
          </a:prstGeom>
          <a:solidFill>
            <a:srgbClr val="2980B9">
              <a:alpha val="4645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6" name="TextBox 1565"/>
          <p:cNvSpPr txBox="1"/>
          <p:nvPr/>
        </p:nvSpPr>
        <p:spPr>
          <a:xfrm>
            <a:off x="3988121" y="41216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2.6M</a:t>
            </a:r>
          </a:p>
        </p:txBody>
      </p:sp>
      <p:sp>
        <p:nvSpPr>
          <p:cNvPr id="1567" name="TextBox 1566"/>
          <p:cNvSpPr txBox="1"/>
          <p:nvPr/>
        </p:nvSpPr>
        <p:spPr>
          <a:xfrm>
            <a:off x="3988121" y="42519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13件</a:t>
            </a:r>
          </a:p>
        </p:txBody>
      </p:sp>
      <p:sp>
        <p:nvSpPr>
          <p:cNvPr id="1568" name="Rectangle 1567"/>
          <p:cNvSpPr/>
          <p:nvPr/>
        </p:nvSpPr>
        <p:spPr>
          <a:xfrm>
            <a:off x="4341370" y="4119632"/>
            <a:ext cx="335249" cy="251296"/>
          </a:xfrm>
          <a:prstGeom prst="rect">
            <a:avLst/>
          </a:prstGeom>
          <a:solidFill>
            <a:srgbClr val="2980B9">
              <a:alpha val="9669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9" name="TextBox 1568"/>
          <p:cNvSpPr txBox="1"/>
          <p:nvPr/>
        </p:nvSpPr>
        <p:spPr>
          <a:xfrm>
            <a:off x="4335370" y="41216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8.7M</a:t>
            </a:r>
          </a:p>
        </p:txBody>
      </p:sp>
      <p:sp>
        <p:nvSpPr>
          <p:cNvPr id="1570" name="TextBox 1569"/>
          <p:cNvSpPr txBox="1"/>
          <p:nvPr/>
        </p:nvSpPr>
        <p:spPr>
          <a:xfrm>
            <a:off x="4335370" y="42519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9件</a:t>
            </a:r>
          </a:p>
        </p:txBody>
      </p:sp>
      <p:sp>
        <p:nvSpPr>
          <p:cNvPr id="1571" name="Rectangle 1570"/>
          <p:cNvSpPr/>
          <p:nvPr/>
        </p:nvSpPr>
        <p:spPr>
          <a:xfrm>
            <a:off x="4688619" y="4119632"/>
            <a:ext cx="335249" cy="251296"/>
          </a:xfrm>
          <a:prstGeom prst="rect">
            <a:avLst/>
          </a:prstGeom>
          <a:solidFill>
            <a:srgbClr val="2980B9">
              <a:alpha val="2785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2" name="TextBox 1571"/>
          <p:cNvSpPr txBox="1"/>
          <p:nvPr/>
        </p:nvSpPr>
        <p:spPr>
          <a:xfrm>
            <a:off x="4682619" y="41216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0.3M</a:t>
            </a:r>
          </a:p>
        </p:txBody>
      </p:sp>
      <p:sp>
        <p:nvSpPr>
          <p:cNvPr id="1573" name="TextBox 1572"/>
          <p:cNvSpPr txBox="1"/>
          <p:nvPr/>
        </p:nvSpPr>
        <p:spPr>
          <a:xfrm>
            <a:off x="4682619" y="42519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6件</a:t>
            </a:r>
          </a:p>
        </p:txBody>
      </p:sp>
      <p:sp>
        <p:nvSpPr>
          <p:cNvPr id="1574" name="Rectangle 1573"/>
          <p:cNvSpPr/>
          <p:nvPr/>
        </p:nvSpPr>
        <p:spPr>
          <a:xfrm>
            <a:off x="5035868" y="4119632"/>
            <a:ext cx="335249" cy="251296"/>
          </a:xfrm>
          <a:prstGeom prst="rect">
            <a:avLst/>
          </a:prstGeom>
          <a:solidFill>
            <a:srgbClr val="2980B9">
              <a:alpha val="2971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5" name="TextBox 1574"/>
          <p:cNvSpPr txBox="1"/>
          <p:nvPr/>
        </p:nvSpPr>
        <p:spPr>
          <a:xfrm>
            <a:off x="5029868" y="41216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0.6M</a:t>
            </a:r>
          </a:p>
        </p:txBody>
      </p:sp>
      <p:sp>
        <p:nvSpPr>
          <p:cNvPr id="1576" name="TextBox 1575"/>
          <p:cNvSpPr txBox="1"/>
          <p:nvPr/>
        </p:nvSpPr>
        <p:spPr>
          <a:xfrm>
            <a:off x="5029868" y="42519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5件</a:t>
            </a:r>
          </a:p>
        </p:txBody>
      </p:sp>
      <p:sp>
        <p:nvSpPr>
          <p:cNvPr id="1577" name="Rectangle 1576"/>
          <p:cNvSpPr/>
          <p:nvPr/>
        </p:nvSpPr>
        <p:spPr>
          <a:xfrm>
            <a:off x="5383117" y="4119632"/>
            <a:ext cx="335249" cy="251296"/>
          </a:xfrm>
          <a:prstGeom prst="rect">
            <a:avLst/>
          </a:prstGeom>
          <a:solidFill>
            <a:srgbClr val="2980B9">
              <a:alpha val="2766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8" name="TextBox 1577"/>
          <p:cNvSpPr txBox="1"/>
          <p:nvPr/>
        </p:nvSpPr>
        <p:spPr>
          <a:xfrm>
            <a:off x="5377117" y="41216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0.3M</a:t>
            </a:r>
          </a:p>
        </p:txBody>
      </p:sp>
      <p:sp>
        <p:nvSpPr>
          <p:cNvPr id="1579" name="TextBox 1578"/>
          <p:cNvSpPr txBox="1"/>
          <p:nvPr/>
        </p:nvSpPr>
        <p:spPr>
          <a:xfrm>
            <a:off x="5377117" y="42519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4件</a:t>
            </a:r>
          </a:p>
        </p:txBody>
      </p:sp>
      <p:sp>
        <p:nvSpPr>
          <p:cNvPr id="1580" name="Rectangle 1579"/>
          <p:cNvSpPr/>
          <p:nvPr/>
        </p:nvSpPr>
        <p:spPr>
          <a:xfrm>
            <a:off x="5730366" y="4119632"/>
            <a:ext cx="335249" cy="251296"/>
          </a:xfrm>
          <a:prstGeom prst="rect">
            <a:avLst/>
          </a:prstGeom>
          <a:solidFill>
            <a:srgbClr val="2980B9">
              <a:alpha val="2918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1" name="TextBox 1580"/>
          <p:cNvSpPr txBox="1"/>
          <p:nvPr/>
        </p:nvSpPr>
        <p:spPr>
          <a:xfrm>
            <a:off x="5724366" y="41216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0.5M</a:t>
            </a:r>
          </a:p>
        </p:txBody>
      </p:sp>
      <p:sp>
        <p:nvSpPr>
          <p:cNvPr id="1582" name="TextBox 1581"/>
          <p:cNvSpPr txBox="1"/>
          <p:nvPr/>
        </p:nvSpPr>
        <p:spPr>
          <a:xfrm>
            <a:off x="5724366" y="42519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3件</a:t>
            </a:r>
          </a:p>
        </p:txBody>
      </p:sp>
      <p:sp>
        <p:nvSpPr>
          <p:cNvPr id="1583" name="TextBox 1582"/>
          <p:cNvSpPr txBox="1"/>
          <p:nvPr/>
        </p:nvSpPr>
        <p:spPr>
          <a:xfrm>
            <a:off x="202880" y="4376928"/>
            <a:ext cx="650000" cy="2632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成事家办</a:t>
            </a:r>
          </a:p>
        </p:txBody>
      </p:sp>
      <p:sp>
        <p:nvSpPr>
          <p:cNvPr id="1584" name="Rectangle 1583"/>
          <p:cNvSpPr/>
          <p:nvPr/>
        </p:nvSpPr>
        <p:spPr>
          <a:xfrm>
            <a:off x="868880" y="4382928"/>
            <a:ext cx="335249" cy="251296"/>
          </a:xfrm>
          <a:prstGeom prst="rect">
            <a:avLst/>
          </a:prstGeom>
          <a:solidFill>
            <a:srgbClr val="374151">
              <a:alpha val="4230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5" name="TextBox 1584"/>
          <p:cNvSpPr txBox="1"/>
          <p:nvPr/>
        </p:nvSpPr>
        <p:spPr>
          <a:xfrm>
            <a:off x="862880" y="43849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0.2M</a:t>
            </a:r>
          </a:p>
        </p:txBody>
      </p:sp>
      <p:sp>
        <p:nvSpPr>
          <p:cNvPr id="1586" name="TextBox 1585"/>
          <p:cNvSpPr txBox="1"/>
          <p:nvPr/>
        </p:nvSpPr>
        <p:spPr>
          <a:xfrm>
            <a:off x="862880" y="4515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1件</a:t>
            </a:r>
          </a:p>
        </p:txBody>
      </p:sp>
      <p:sp>
        <p:nvSpPr>
          <p:cNvPr id="1587" name="Rectangle 1586"/>
          <p:cNvSpPr/>
          <p:nvPr/>
        </p:nvSpPr>
        <p:spPr>
          <a:xfrm>
            <a:off x="1216129" y="4382928"/>
            <a:ext cx="335249" cy="251296"/>
          </a:xfrm>
          <a:prstGeom prst="rect">
            <a:avLst/>
          </a:prstGeom>
          <a:solidFill>
            <a:srgbClr val="374151">
              <a:alpha val="5211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8" name="TextBox 1587"/>
          <p:cNvSpPr txBox="1"/>
          <p:nvPr/>
        </p:nvSpPr>
        <p:spPr>
          <a:xfrm>
            <a:off x="1210129" y="43849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0.4M</a:t>
            </a:r>
          </a:p>
        </p:txBody>
      </p:sp>
      <p:sp>
        <p:nvSpPr>
          <p:cNvPr id="1589" name="TextBox 1588"/>
          <p:cNvSpPr txBox="1"/>
          <p:nvPr/>
        </p:nvSpPr>
        <p:spPr>
          <a:xfrm>
            <a:off x="1210129" y="4515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2件</a:t>
            </a:r>
          </a:p>
        </p:txBody>
      </p:sp>
      <p:sp>
        <p:nvSpPr>
          <p:cNvPr id="1590" name="Rectangle 1589"/>
          <p:cNvSpPr/>
          <p:nvPr/>
        </p:nvSpPr>
        <p:spPr>
          <a:xfrm>
            <a:off x="1563378" y="4382928"/>
            <a:ext cx="335249" cy="251296"/>
          </a:xfrm>
          <a:prstGeom prst="rect">
            <a:avLst/>
          </a:prstGeom>
          <a:solidFill>
            <a:srgbClr val="374151">
              <a:alpha val="3076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1" name="TextBox 1590"/>
          <p:cNvSpPr txBox="1"/>
          <p:nvPr/>
        </p:nvSpPr>
        <p:spPr>
          <a:xfrm>
            <a:off x="1557378" y="43849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0.1M</a:t>
            </a:r>
          </a:p>
        </p:txBody>
      </p:sp>
      <p:sp>
        <p:nvSpPr>
          <p:cNvPr id="1592" name="TextBox 1591"/>
          <p:cNvSpPr txBox="1"/>
          <p:nvPr/>
        </p:nvSpPr>
        <p:spPr>
          <a:xfrm>
            <a:off x="1557378" y="4515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1件</a:t>
            </a:r>
          </a:p>
        </p:txBody>
      </p:sp>
      <p:sp>
        <p:nvSpPr>
          <p:cNvPr id="1593" name="Rectangle 1592"/>
          <p:cNvSpPr/>
          <p:nvPr/>
        </p:nvSpPr>
        <p:spPr>
          <a:xfrm>
            <a:off x="1910627" y="4382928"/>
            <a:ext cx="335249" cy="251296"/>
          </a:xfrm>
          <a:prstGeom prst="rect">
            <a:avLst/>
          </a:prstGeom>
          <a:solidFill>
            <a:srgbClr val="374151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4" name="TextBox 1593"/>
          <p:cNvSpPr txBox="1"/>
          <p:nvPr/>
        </p:nvSpPr>
        <p:spPr>
          <a:xfrm>
            <a:off x="1904627" y="43849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1.0M</a:t>
            </a:r>
          </a:p>
        </p:txBody>
      </p:sp>
      <p:sp>
        <p:nvSpPr>
          <p:cNvPr id="1595" name="TextBox 1594"/>
          <p:cNvSpPr txBox="1"/>
          <p:nvPr/>
        </p:nvSpPr>
        <p:spPr>
          <a:xfrm>
            <a:off x="1904627" y="4515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2件</a:t>
            </a:r>
          </a:p>
        </p:txBody>
      </p:sp>
      <p:sp>
        <p:nvSpPr>
          <p:cNvPr id="1596" name="Rectangle 1595"/>
          <p:cNvSpPr/>
          <p:nvPr/>
        </p:nvSpPr>
        <p:spPr>
          <a:xfrm>
            <a:off x="2257876" y="4382928"/>
            <a:ext cx="335249" cy="251296"/>
          </a:xfrm>
          <a:prstGeom prst="rect">
            <a:avLst/>
          </a:prstGeom>
          <a:solidFill>
            <a:srgbClr val="374151">
              <a:alpha val="4519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7" name="TextBox 1596"/>
          <p:cNvSpPr txBox="1"/>
          <p:nvPr/>
        </p:nvSpPr>
        <p:spPr>
          <a:xfrm>
            <a:off x="2251876" y="43849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0.3M</a:t>
            </a:r>
          </a:p>
        </p:txBody>
      </p:sp>
      <p:sp>
        <p:nvSpPr>
          <p:cNvPr id="1598" name="TextBox 1597"/>
          <p:cNvSpPr txBox="1"/>
          <p:nvPr/>
        </p:nvSpPr>
        <p:spPr>
          <a:xfrm>
            <a:off x="2251876" y="4515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2件</a:t>
            </a:r>
          </a:p>
        </p:txBody>
      </p:sp>
      <p:sp>
        <p:nvSpPr>
          <p:cNvPr id="1599" name="Rectangle 1598"/>
          <p:cNvSpPr/>
          <p:nvPr/>
        </p:nvSpPr>
        <p:spPr>
          <a:xfrm>
            <a:off x="2605125" y="4382928"/>
            <a:ext cx="335249" cy="251296"/>
          </a:xfrm>
          <a:prstGeom prst="rect">
            <a:avLst/>
          </a:prstGeom>
          <a:solidFill>
            <a:srgbClr val="374151">
              <a:alpha val="8424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0" name="TextBox 1599"/>
          <p:cNvSpPr txBox="1"/>
          <p:nvPr/>
        </p:nvSpPr>
        <p:spPr>
          <a:xfrm>
            <a:off x="2599125" y="43849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0.8M</a:t>
            </a:r>
          </a:p>
        </p:txBody>
      </p:sp>
      <p:sp>
        <p:nvSpPr>
          <p:cNvPr id="1601" name="TextBox 1600"/>
          <p:cNvSpPr txBox="1"/>
          <p:nvPr/>
        </p:nvSpPr>
        <p:spPr>
          <a:xfrm>
            <a:off x="2599125" y="4515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6件</a:t>
            </a:r>
          </a:p>
        </p:txBody>
      </p:sp>
      <p:sp>
        <p:nvSpPr>
          <p:cNvPr id="1602" name="Rectangle 1601"/>
          <p:cNvSpPr/>
          <p:nvPr/>
        </p:nvSpPr>
        <p:spPr>
          <a:xfrm>
            <a:off x="2952374" y="4382928"/>
            <a:ext cx="335249" cy="251296"/>
          </a:xfrm>
          <a:prstGeom prst="rect">
            <a:avLst/>
          </a:prstGeom>
          <a:solidFill>
            <a:srgbClr val="374151">
              <a:alpha val="8801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3" name="TextBox 1602"/>
          <p:cNvSpPr txBox="1"/>
          <p:nvPr/>
        </p:nvSpPr>
        <p:spPr>
          <a:xfrm>
            <a:off x="2946374" y="43849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0.9M</a:t>
            </a:r>
          </a:p>
        </p:txBody>
      </p:sp>
      <p:sp>
        <p:nvSpPr>
          <p:cNvPr id="1604" name="TextBox 1603"/>
          <p:cNvSpPr txBox="1"/>
          <p:nvPr/>
        </p:nvSpPr>
        <p:spPr>
          <a:xfrm>
            <a:off x="2946374" y="4515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3件</a:t>
            </a:r>
          </a:p>
        </p:txBody>
      </p:sp>
      <p:sp>
        <p:nvSpPr>
          <p:cNvPr id="1605" name="Rectangle 1604"/>
          <p:cNvSpPr/>
          <p:nvPr/>
        </p:nvSpPr>
        <p:spPr>
          <a:xfrm>
            <a:off x="3299623" y="4382928"/>
            <a:ext cx="335249" cy="251296"/>
          </a:xfrm>
          <a:prstGeom prst="rect">
            <a:avLst/>
          </a:prstGeom>
          <a:solidFill>
            <a:srgbClr val="374151">
              <a:alpha val="7536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6" name="TextBox 1605"/>
          <p:cNvSpPr txBox="1"/>
          <p:nvPr/>
        </p:nvSpPr>
        <p:spPr>
          <a:xfrm>
            <a:off x="3293623" y="43849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0.7M</a:t>
            </a:r>
          </a:p>
        </p:txBody>
      </p:sp>
      <p:sp>
        <p:nvSpPr>
          <p:cNvPr id="1607" name="TextBox 1606"/>
          <p:cNvSpPr txBox="1"/>
          <p:nvPr/>
        </p:nvSpPr>
        <p:spPr>
          <a:xfrm>
            <a:off x="3293623" y="4515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3件</a:t>
            </a:r>
          </a:p>
        </p:txBody>
      </p:sp>
      <p:sp>
        <p:nvSpPr>
          <p:cNvPr id="1608" name="Rectangle 1607"/>
          <p:cNvSpPr/>
          <p:nvPr/>
        </p:nvSpPr>
        <p:spPr>
          <a:xfrm>
            <a:off x="4688619" y="4382928"/>
            <a:ext cx="335249" cy="251296"/>
          </a:xfrm>
          <a:prstGeom prst="rect">
            <a:avLst/>
          </a:prstGeom>
          <a:solidFill>
            <a:srgbClr val="374151">
              <a:alpha val="5451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9" name="TextBox 1608"/>
          <p:cNvSpPr txBox="1"/>
          <p:nvPr/>
        </p:nvSpPr>
        <p:spPr>
          <a:xfrm>
            <a:off x="4682619" y="43849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0.4M</a:t>
            </a:r>
          </a:p>
        </p:txBody>
      </p:sp>
      <p:sp>
        <p:nvSpPr>
          <p:cNvPr id="1610" name="TextBox 1609"/>
          <p:cNvSpPr txBox="1"/>
          <p:nvPr/>
        </p:nvSpPr>
        <p:spPr>
          <a:xfrm>
            <a:off x="4682619" y="4515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1件</a:t>
            </a:r>
          </a:p>
        </p:txBody>
      </p:sp>
      <p:sp>
        <p:nvSpPr>
          <p:cNvPr id="1611" name="Rectangle 1610"/>
          <p:cNvSpPr/>
          <p:nvPr/>
        </p:nvSpPr>
        <p:spPr>
          <a:xfrm>
            <a:off x="5035868" y="4382928"/>
            <a:ext cx="335249" cy="251296"/>
          </a:xfrm>
          <a:prstGeom prst="rect">
            <a:avLst/>
          </a:prstGeom>
          <a:solidFill>
            <a:srgbClr val="374151">
              <a:alpha val="4807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2" name="TextBox 1611"/>
          <p:cNvSpPr txBox="1"/>
          <p:nvPr/>
        </p:nvSpPr>
        <p:spPr>
          <a:xfrm>
            <a:off x="5029868" y="43849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0.3M</a:t>
            </a:r>
          </a:p>
        </p:txBody>
      </p:sp>
      <p:sp>
        <p:nvSpPr>
          <p:cNvPr id="1613" name="TextBox 1612"/>
          <p:cNvSpPr txBox="1"/>
          <p:nvPr/>
        </p:nvSpPr>
        <p:spPr>
          <a:xfrm>
            <a:off x="5029868" y="4515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2件</a:t>
            </a:r>
          </a:p>
        </p:txBody>
      </p:sp>
      <p:sp>
        <p:nvSpPr>
          <p:cNvPr id="1614" name="Rectangle 1613"/>
          <p:cNvSpPr/>
          <p:nvPr/>
        </p:nvSpPr>
        <p:spPr>
          <a:xfrm>
            <a:off x="5383117" y="4382928"/>
            <a:ext cx="335249" cy="251296"/>
          </a:xfrm>
          <a:prstGeom prst="rect">
            <a:avLst/>
          </a:prstGeom>
          <a:solidFill>
            <a:srgbClr val="374151">
              <a:alpha val="6250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5" name="TextBox 1614"/>
          <p:cNvSpPr txBox="1"/>
          <p:nvPr/>
        </p:nvSpPr>
        <p:spPr>
          <a:xfrm>
            <a:off x="5377117" y="43849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0.5M</a:t>
            </a:r>
          </a:p>
        </p:txBody>
      </p:sp>
      <p:sp>
        <p:nvSpPr>
          <p:cNvPr id="1616" name="TextBox 1615"/>
          <p:cNvSpPr txBox="1"/>
          <p:nvPr/>
        </p:nvSpPr>
        <p:spPr>
          <a:xfrm>
            <a:off x="5377117" y="4515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2件</a:t>
            </a:r>
          </a:p>
        </p:txBody>
      </p:sp>
      <p:sp>
        <p:nvSpPr>
          <p:cNvPr id="1617" name="TextBox 1616"/>
          <p:cNvSpPr txBox="1"/>
          <p:nvPr/>
        </p:nvSpPr>
        <p:spPr>
          <a:xfrm>
            <a:off x="202880" y="4640224"/>
            <a:ext cx="650000" cy="2632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BK业务</a:t>
            </a:r>
          </a:p>
        </p:txBody>
      </p:sp>
      <p:sp>
        <p:nvSpPr>
          <p:cNvPr id="1618" name="Rectangle 1617"/>
          <p:cNvSpPr/>
          <p:nvPr/>
        </p:nvSpPr>
        <p:spPr>
          <a:xfrm>
            <a:off x="868880" y="4646224"/>
            <a:ext cx="335249" cy="251296"/>
          </a:xfrm>
          <a:prstGeom prst="rect">
            <a:avLst/>
          </a:prstGeom>
          <a:solidFill>
            <a:srgbClr val="1F3864">
              <a:alpha val="4779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9" name="TextBox 1618"/>
          <p:cNvSpPr txBox="1"/>
          <p:nvPr/>
        </p:nvSpPr>
        <p:spPr>
          <a:xfrm>
            <a:off x="862880" y="4648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4.3M</a:t>
            </a:r>
          </a:p>
        </p:txBody>
      </p:sp>
      <p:sp>
        <p:nvSpPr>
          <p:cNvPr id="1620" name="TextBox 1619"/>
          <p:cNvSpPr txBox="1"/>
          <p:nvPr/>
        </p:nvSpPr>
        <p:spPr>
          <a:xfrm>
            <a:off x="862880" y="47785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4件</a:t>
            </a:r>
          </a:p>
        </p:txBody>
      </p:sp>
      <p:sp>
        <p:nvSpPr>
          <p:cNvPr id="1621" name="Rectangle 1620"/>
          <p:cNvSpPr/>
          <p:nvPr/>
        </p:nvSpPr>
        <p:spPr>
          <a:xfrm>
            <a:off x="1216129" y="4646224"/>
            <a:ext cx="335249" cy="251296"/>
          </a:xfrm>
          <a:prstGeom prst="rect">
            <a:avLst/>
          </a:prstGeom>
          <a:solidFill>
            <a:srgbClr val="1F3864">
              <a:alpha val="6560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2" name="TextBox 1621"/>
          <p:cNvSpPr txBox="1"/>
          <p:nvPr/>
        </p:nvSpPr>
        <p:spPr>
          <a:xfrm>
            <a:off x="1210129" y="4648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7.6M</a:t>
            </a:r>
          </a:p>
        </p:txBody>
      </p:sp>
      <p:sp>
        <p:nvSpPr>
          <p:cNvPr id="1623" name="TextBox 1622"/>
          <p:cNvSpPr txBox="1"/>
          <p:nvPr/>
        </p:nvSpPr>
        <p:spPr>
          <a:xfrm>
            <a:off x="1210129" y="47785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10件</a:t>
            </a:r>
          </a:p>
        </p:txBody>
      </p:sp>
      <p:sp>
        <p:nvSpPr>
          <p:cNvPr id="1624" name="Rectangle 1623"/>
          <p:cNvSpPr/>
          <p:nvPr/>
        </p:nvSpPr>
        <p:spPr>
          <a:xfrm>
            <a:off x="1563378" y="4646224"/>
            <a:ext cx="335249" cy="251296"/>
          </a:xfrm>
          <a:prstGeom prst="rect">
            <a:avLst/>
          </a:prstGeom>
          <a:solidFill>
            <a:srgbClr val="1F3864">
              <a:alpha val="8756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5" name="TextBox 1624"/>
          <p:cNvSpPr txBox="1"/>
          <p:nvPr/>
        </p:nvSpPr>
        <p:spPr>
          <a:xfrm>
            <a:off x="1557378" y="4648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11.8M</a:t>
            </a:r>
          </a:p>
        </p:txBody>
      </p:sp>
      <p:sp>
        <p:nvSpPr>
          <p:cNvPr id="1626" name="TextBox 1625"/>
          <p:cNvSpPr txBox="1"/>
          <p:nvPr/>
        </p:nvSpPr>
        <p:spPr>
          <a:xfrm>
            <a:off x="1557378" y="47785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12件</a:t>
            </a:r>
          </a:p>
        </p:txBody>
      </p:sp>
      <p:sp>
        <p:nvSpPr>
          <p:cNvPr id="1627" name="Rectangle 1626"/>
          <p:cNvSpPr/>
          <p:nvPr/>
        </p:nvSpPr>
        <p:spPr>
          <a:xfrm>
            <a:off x="1910627" y="4646224"/>
            <a:ext cx="335249" cy="251296"/>
          </a:xfrm>
          <a:prstGeom prst="rect">
            <a:avLst/>
          </a:prstGeom>
          <a:solidFill>
            <a:srgbClr val="1F3864">
              <a:alpha val="4157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8" name="TextBox 1627"/>
          <p:cNvSpPr txBox="1"/>
          <p:nvPr/>
        </p:nvSpPr>
        <p:spPr>
          <a:xfrm>
            <a:off x="1904627" y="4648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3.1M</a:t>
            </a:r>
          </a:p>
        </p:txBody>
      </p:sp>
      <p:sp>
        <p:nvSpPr>
          <p:cNvPr id="1629" name="TextBox 1628"/>
          <p:cNvSpPr txBox="1"/>
          <p:nvPr/>
        </p:nvSpPr>
        <p:spPr>
          <a:xfrm>
            <a:off x="1904627" y="47785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3件</a:t>
            </a:r>
          </a:p>
        </p:txBody>
      </p:sp>
      <p:sp>
        <p:nvSpPr>
          <p:cNvPr id="1630" name="Rectangle 1629"/>
          <p:cNvSpPr/>
          <p:nvPr/>
        </p:nvSpPr>
        <p:spPr>
          <a:xfrm>
            <a:off x="2257876" y="4646224"/>
            <a:ext cx="335249" cy="251296"/>
          </a:xfrm>
          <a:prstGeom prst="rect">
            <a:avLst/>
          </a:prstGeom>
          <a:solidFill>
            <a:srgbClr val="1F3864">
              <a:alpha val="3535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1" name="TextBox 1630"/>
          <p:cNvSpPr txBox="1"/>
          <p:nvPr/>
        </p:nvSpPr>
        <p:spPr>
          <a:xfrm>
            <a:off x="2251876" y="4648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1.9M</a:t>
            </a:r>
          </a:p>
        </p:txBody>
      </p:sp>
      <p:sp>
        <p:nvSpPr>
          <p:cNvPr id="1632" name="TextBox 1631"/>
          <p:cNvSpPr txBox="1"/>
          <p:nvPr/>
        </p:nvSpPr>
        <p:spPr>
          <a:xfrm>
            <a:off x="2251876" y="47785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3件</a:t>
            </a:r>
          </a:p>
        </p:txBody>
      </p:sp>
      <p:sp>
        <p:nvSpPr>
          <p:cNvPr id="1633" name="Rectangle 1632"/>
          <p:cNvSpPr/>
          <p:nvPr/>
        </p:nvSpPr>
        <p:spPr>
          <a:xfrm>
            <a:off x="2605125" y="4646224"/>
            <a:ext cx="335249" cy="251296"/>
          </a:xfrm>
          <a:prstGeom prst="rect">
            <a:avLst/>
          </a:prstGeom>
          <a:solidFill>
            <a:srgbClr val="1F3864">
              <a:alpha val="4250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4" name="TextBox 1633"/>
          <p:cNvSpPr txBox="1"/>
          <p:nvPr/>
        </p:nvSpPr>
        <p:spPr>
          <a:xfrm>
            <a:off x="2599125" y="4648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3.3M</a:t>
            </a:r>
          </a:p>
        </p:txBody>
      </p:sp>
      <p:sp>
        <p:nvSpPr>
          <p:cNvPr id="1635" name="TextBox 1634"/>
          <p:cNvSpPr txBox="1"/>
          <p:nvPr/>
        </p:nvSpPr>
        <p:spPr>
          <a:xfrm>
            <a:off x="2599125" y="47785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5件</a:t>
            </a:r>
          </a:p>
        </p:txBody>
      </p:sp>
      <p:sp>
        <p:nvSpPr>
          <p:cNvPr id="1636" name="Rectangle 1635"/>
          <p:cNvSpPr/>
          <p:nvPr/>
        </p:nvSpPr>
        <p:spPr>
          <a:xfrm>
            <a:off x="2952374" y="4646224"/>
            <a:ext cx="335249" cy="251296"/>
          </a:xfrm>
          <a:prstGeom prst="rect">
            <a:avLst/>
          </a:prstGeom>
          <a:solidFill>
            <a:srgbClr val="1F3864">
              <a:alpha val="3743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7" name="TextBox 1636"/>
          <p:cNvSpPr txBox="1"/>
          <p:nvPr/>
        </p:nvSpPr>
        <p:spPr>
          <a:xfrm>
            <a:off x="2946374" y="4648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2.3M</a:t>
            </a:r>
          </a:p>
        </p:txBody>
      </p:sp>
      <p:sp>
        <p:nvSpPr>
          <p:cNvPr id="1638" name="TextBox 1637"/>
          <p:cNvSpPr txBox="1"/>
          <p:nvPr/>
        </p:nvSpPr>
        <p:spPr>
          <a:xfrm>
            <a:off x="2946374" y="47785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3件</a:t>
            </a:r>
          </a:p>
        </p:txBody>
      </p:sp>
      <p:sp>
        <p:nvSpPr>
          <p:cNvPr id="1639" name="Rectangle 1638"/>
          <p:cNvSpPr/>
          <p:nvPr/>
        </p:nvSpPr>
        <p:spPr>
          <a:xfrm>
            <a:off x="3299623" y="4646224"/>
            <a:ext cx="335249" cy="251296"/>
          </a:xfrm>
          <a:prstGeom prst="rect">
            <a:avLst/>
          </a:prstGeom>
          <a:solidFill>
            <a:srgbClr val="1F3864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0" name="TextBox 1639"/>
          <p:cNvSpPr txBox="1"/>
          <p:nvPr/>
        </p:nvSpPr>
        <p:spPr>
          <a:xfrm>
            <a:off x="3293623" y="4648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14.1M</a:t>
            </a:r>
          </a:p>
        </p:txBody>
      </p:sp>
      <p:sp>
        <p:nvSpPr>
          <p:cNvPr id="1641" name="TextBox 1640"/>
          <p:cNvSpPr txBox="1"/>
          <p:nvPr/>
        </p:nvSpPr>
        <p:spPr>
          <a:xfrm>
            <a:off x="3293623" y="47785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5件</a:t>
            </a:r>
          </a:p>
        </p:txBody>
      </p:sp>
      <p:sp>
        <p:nvSpPr>
          <p:cNvPr id="1642" name="Rectangle 1641"/>
          <p:cNvSpPr/>
          <p:nvPr/>
        </p:nvSpPr>
        <p:spPr>
          <a:xfrm>
            <a:off x="3646872" y="4646224"/>
            <a:ext cx="335249" cy="251296"/>
          </a:xfrm>
          <a:prstGeom prst="rect">
            <a:avLst/>
          </a:prstGeom>
          <a:solidFill>
            <a:srgbClr val="1F3864">
              <a:alpha val="3328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3" name="TextBox 1642"/>
          <p:cNvSpPr txBox="1"/>
          <p:nvPr/>
        </p:nvSpPr>
        <p:spPr>
          <a:xfrm>
            <a:off x="3640872" y="4648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1.6M</a:t>
            </a:r>
          </a:p>
        </p:txBody>
      </p:sp>
      <p:sp>
        <p:nvSpPr>
          <p:cNvPr id="1644" name="TextBox 1643"/>
          <p:cNvSpPr txBox="1"/>
          <p:nvPr/>
        </p:nvSpPr>
        <p:spPr>
          <a:xfrm>
            <a:off x="3640872" y="47785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2件</a:t>
            </a:r>
          </a:p>
        </p:txBody>
      </p:sp>
      <p:sp>
        <p:nvSpPr>
          <p:cNvPr id="1645" name="Rectangle 1644"/>
          <p:cNvSpPr/>
          <p:nvPr/>
        </p:nvSpPr>
        <p:spPr>
          <a:xfrm>
            <a:off x="3994121" y="4646224"/>
            <a:ext cx="335249" cy="251296"/>
          </a:xfrm>
          <a:prstGeom prst="rect">
            <a:avLst/>
          </a:prstGeom>
          <a:solidFill>
            <a:srgbClr val="1F3864">
              <a:alpha val="2914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6" name="TextBox 1645"/>
          <p:cNvSpPr txBox="1"/>
          <p:nvPr/>
        </p:nvSpPr>
        <p:spPr>
          <a:xfrm>
            <a:off x="3988121" y="4648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0.8M</a:t>
            </a:r>
          </a:p>
        </p:txBody>
      </p:sp>
      <p:sp>
        <p:nvSpPr>
          <p:cNvPr id="1647" name="TextBox 1646"/>
          <p:cNvSpPr txBox="1"/>
          <p:nvPr/>
        </p:nvSpPr>
        <p:spPr>
          <a:xfrm>
            <a:off x="3988121" y="47785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2件</a:t>
            </a:r>
          </a:p>
        </p:txBody>
      </p:sp>
      <p:sp>
        <p:nvSpPr>
          <p:cNvPr id="1648" name="Rectangle 1647"/>
          <p:cNvSpPr/>
          <p:nvPr/>
        </p:nvSpPr>
        <p:spPr>
          <a:xfrm>
            <a:off x="4341370" y="4646224"/>
            <a:ext cx="335249" cy="251296"/>
          </a:xfrm>
          <a:prstGeom prst="rect">
            <a:avLst/>
          </a:prstGeom>
          <a:solidFill>
            <a:srgbClr val="1F3864">
              <a:alpha val="2914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9" name="TextBox 1648"/>
          <p:cNvSpPr txBox="1"/>
          <p:nvPr/>
        </p:nvSpPr>
        <p:spPr>
          <a:xfrm>
            <a:off x="4335370" y="4648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0.8M</a:t>
            </a:r>
          </a:p>
        </p:txBody>
      </p:sp>
      <p:sp>
        <p:nvSpPr>
          <p:cNvPr id="1650" name="TextBox 1649"/>
          <p:cNvSpPr txBox="1"/>
          <p:nvPr/>
        </p:nvSpPr>
        <p:spPr>
          <a:xfrm>
            <a:off x="4335370" y="47785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1件</a:t>
            </a:r>
          </a:p>
        </p:txBody>
      </p:sp>
      <p:sp>
        <p:nvSpPr>
          <p:cNvPr id="1651" name="Rectangle 1650"/>
          <p:cNvSpPr/>
          <p:nvPr/>
        </p:nvSpPr>
        <p:spPr>
          <a:xfrm>
            <a:off x="4688619" y="4646224"/>
            <a:ext cx="335249" cy="251296"/>
          </a:xfrm>
          <a:prstGeom prst="rect">
            <a:avLst/>
          </a:prstGeom>
          <a:solidFill>
            <a:srgbClr val="1F3864">
              <a:alpha val="3991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2" name="TextBox 1651"/>
          <p:cNvSpPr txBox="1"/>
          <p:nvPr/>
        </p:nvSpPr>
        <p:spPr>
          <a:xfrm>
            <a:off x="4682619" y="4648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2.8M</a:t>
            </a:r>
          </a:p>
        </p:txBody>
      </p:sp>
      <p:sp>
        <p:nvSpPr>
          <p:cNvPr id="1653" name="TextBox 1652"/>
          <p:cNvSpPr txBox="1"/>
          <p:nvPr/>
        </p:nvSpPr>
        <p:spPr>
          <a:xfrm>
            <a:off x="4682619" y="47785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6件</a:t>
            </a:r>
          </a:p>
        </p:txBody>
      </p:sp>
      <p:sp>
        <p:nvSpPr>
          <p:cNvPr id="1654" name="Rectangle 1653"/>
          <p:cNvSpPr/>
          <p:nvPr/>
        </p:nvSpPr>
        <p:spPr>
          <a:xfrm>
            <a:off x="5035868" y="4646224"/>
            <a:ext cx="335249" cy="251296"/>
          </a:xfrm>
          <a:prstGeom prst="rect">
            <a:avLst/>
          </a:prstGeom>
          <a:solidFill>
            <a:srgbClr val="1F3864">
              <a:alpha val="2665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5" name="TextBox 1654"/>
          <p:cNvSpPr txBox="1"/>
          <p:nvPr/>
        </p:nvSpPr>
        <p:spPr>
          <a:xfrm>
            <a:off x="5029868" y="4648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0.3M</a:t>
            </a:r>
          </a:p>
        </p:txBody>
      </p:sp>
      <p:sp>
        <p:nvSpPr>
          <p:cNvPr id="1656" name="TextBox 1655"/>
          <p:cNvSpPr txBox="1"/>
          <p:nvPr/>
        </p:nvSpPr>
        <p:spPr>
          <a:xfrm>
            <a:off x="5029868" y="47785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2件</a:t>
            </a:r>
          </a:p>
        </p:txBody>
      </p:sp>
      <p:sp>
        <p:nvSpPr>
          <p:cNvPr id="1657" name="Rectangle 1656"/>
          <p:cNvSpPr/>
          <p:nvPr/>
        </p:nvSpPr>
        <p:spPr>
          <a:xfrm>
            <a:off x="5383117" y="4646224"/>
            <a:ext cx="335249" cy="251296"/>
          </a:xfrm>
          <a:prstGeom prst="rect">
            <a:avLst/>
          </a:prstGeom>
          <a:solidFill>
            <a:srgbClr val="1F3864">
              <a:alpha val="3328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8" name="TextBox 1657"/>
          <p:cNvSpPr txBox="1"/>
          <p:nvPr/>
        </p:nvSpPr>
        <p:spPr>
          <a:xfrm>
            <a:off x="5377117" y="4648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1.6M</a:t>
            </a:r>
          </a:p>
        </p:txBody>
      </p:sp>
      <p:sp>
        <p:nvSpPr>
          <p:cNvPr id="1659" name="TextBox 1658"/>
          <p:cNvSpPr txBox="1"/>
          <p:nvPr/>
        </p:nvSpPr>
        <p:spPr>
          <a:xfrm>
            <a:off x="5377117" y="47785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3件</a:t>
            </a:r>
          </a:p>
        </p:txBody>
      </p:sp>
      <p:sp>
        <p:nvSpPr>
          <p:cNvPr id="1660" name="TextBox 1659"/>
          <p:cNvSpPr txBox="1"/>
          <p:nvPr/>
        </p:nvSpPr>
        <p:spPr>
          <a:xfrm>
            <a:off x="202880" y="4903520"/>
            <a:ext cx="650000" cy="2632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同行经代</a:t>
            </a:r>
          </a:p>
        </p:txBody>
      </p:sp>
      <p:sp>
        <p:nvSpPr>
          <p:cNvPr id="1661" name="Rectangle 1660"/>
          <p:cNvSpPr/>
          <p:nvPr/>
        </p:nvSpPr>
        <p:spPr>
          <a:xfrm>
            <a:off x="868880" y="4909520"/>
            <a:ext cx="335249" cy="251296"/>
          </a:xfrm>
          <a:prstGeom prst="rect">
            <a:avLst/>
          </a:prstGeom>
          <a:solidFill>
            <a:srgbClr val="E67E22">
              <a:alpha val="3447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2" name="TextBox 1661"/>
          <p:cNvSpPr txBox="1"/>
          <p:nvPr/>
        </p:nvSpPr>
        <p:spPr>
          <a:xfrm>
            <a:off x="862880" y="49115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1.2M</a:t>
            </a:r>
          </a:p>
        </p:txBody>
      </p:sp>
      <p:sp>
        <p:nvSpPr>
          <p:cNvPr id="1663" name="TextBox 1662"/>
          <p:cNvSpPr txBox="1"/>
          <p:nvPr/>
        </p:nvSpPr>
        <p:spPr>
          <a:xfrm>
            <a:off x="862880" y="50418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4件</a:t>
            </a:r>
          </a:p>
        </p:txBody>
      </p:sp>
      <p:sp>
        <p:nvSpPr>
          <p:cNvPr id="1664" name="Rectangle 1663"/>
          <p:cNvSpPr/>
          <p:nvPr/>
        </p:nvSpPr>
        <p:spPr>
          <a:xfrm>
            <a:off x="1216129" y="4909520"/>
            <a:ext cx="335249" cy="251296"/>
          </a:xfrm>
          <a:prstGeom prst="rect">
            <a:avLst/>
          </a:prstGeom>
          <a:solidFill>
            <a:srgbClr val="E67E22">
              <a:alpha val="4561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5" name="TextBox 1664"/>
          <p:cNvSpPr txBox="1"/>
          <p:nvPr/>
        </p:nvSpPr>
        <p:spPr>
          <a:xfrm>
            <a:off x="1210129" y="49115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2.7M</a:t>
            </a:r>
          </a:p>
        </p:txBody>
      </p:sp>
      <p:sp>
        <p:nvSpPr>
          <p:cNvPr id="1666" name="TextBox 1665"/>
          <p:cNvSpPr txBox="1"/>
          <p:nvPr/>
        </p:nvSpPr>
        <p:spPr>
          <a:xfrm>
            <a:off x="1210129" y="50418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12件</a:t>
            </a:r>
          </a:p>
        </p:txBody>
      </p:sp>
      <p:sp>
        <p:nvSpPr>
          <p:cNvPr id="1667" name="Rectangle 1666"/>
          <p:cNvSpPr/>
          <p:nvPr/>
        </p:nvSpPr>
        <p:spPr>
          <a:xfrm>
            <a:off x="1563378" y="4909520"/>
            <a:ext cx="335249" cy="251296"/>
          </a:xfrm>
          <a:prstGeom prst="rect">
            <a:avLst/>
          </a:prstGeom>
          <a:solidFill>
            <a:srgbClr val="E67E22">
              <a:alpha val="5009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8" name="TextBox 1667"/>
          <p:cNvSpPr txBox="1"/>
          <p:nvPr/>
        </p:nvSpPr>
        <p:spPr>
          <a:xfrm>
            <a:off x="1557378" y="49115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3.3M</a:t>
            </a:r>
          </a:p>
        </p:txBody>
      </p:sp>
      <p:sp>
        <p:nvSpPr>
          <p:cNvPr id="1669" name="TextBox 1668"/>
          <p:cNvSpPr txBox="1"/>
          <p:nvPr/>
        </p:nvSpPr>
        <p:spPr>
          <a:xfrm>
            <a:off x="1557378" y="50418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9件</a:t>
            </a:r>
          </a:p>
        </p:txBody>
      </p:sp>
      <p:sp>
        <p:nvSpPr>
          <p:cNvPr id="1670" name="Rectangle 1669"/>
          <p:cNvSpPr/>
          <p:nvPr/>
        </p:nvSpPr>
        <p:spPr>
          <a:xfrm>
            <a:off x="1910627" y="4909520"/>
            <a:ext cx="335249" cy="251296"/>
          </a:xfrm>
          <a:prstGeom prst="rect">
            <a:avLst/>
          </a:prstGeom>
          <a:solidFill>
            <a:srgbClr val="E67E22">
              <a:alpha val="4967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1" name="TextBox 1670"/>
          <p:cNvSpPr txBox="1"/>
          <p:nvPr/>
        </p:nvSpPr>
        <p:spPr>
          <a:xfrm>
            <a:off x="1904627" y="49115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3.3M</a:t>
            </a:r>
          </a:p>
        </p:txBody>
      </p:sp>
      <p:sp>
        <p:nvSpPr>
          <p:cNvPr id="1672" name="TextBox 1671"/>
          <p:cNvSpPr txBox="1"/>
          <p:nvPr/>
        </p:nvSpPr>
        <p:spPr>
          <a:xfrm>
            <a:off x="1904627" y="50418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8件</a:t>
            </a:r>
          </a:p>
        </p:txBody>
      </p:sp>
      <p:sp>
        <p:nvSpPr>
          <p:cNvPr id="1673" name="Rectangle 1672"/>
          <p:cNvSpPr/>
          <p:nvPr/>
        </p:nvSpPr>
        <p:spPr>
          <a:xfrm>
            <a:off x="2257876" y="4909520"/>
            <a:ext cx="335249" cy="251296"/>
          </a:xfrm>
          <a:prstGeom prst="rect">
            <a:avLst/>
          </a:prstGeom>
          <a:solidFill>
            <a:srgbClr val="E67E22">
              <a:alpha val="4896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4" name="TextBox 1673"/>
          <p:cNvSpPr txBox="1"/>
          <p:nvPr/>
        </p:nvSpPr>
        <p:spPr>
          <a:xfrm>
            <a:off x="2251876" y="49115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3.2M</a:t>
            </a:r>
          </a:p>
        </p:txBody>
      </p:sp>
      <p:sp>
        <p:nvSpPr>
          <p:cNvPr id="1675" name="TextBox 1674"/>
          <p:cNvSpPr txBox="1"/>
          <p:nvPr/>
        </p:nvSpPr>
        <p:spPr>
          <a:xfrm>
            <a:off x="2251876" y="50418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8件</a:t>
            </a:r>
          </a:p>
        </p:txBody>
      </p:sp>
      <p:sp>
        <p:nvSpPr>
          <p:cNvPr id="1676" name="Rectangle 1675"/>
          <p:cNvSpPr/>
          <p:nvPr/>
        </p:nvSpPr>
        <p:spPr>
          <a:xfrm>
            <a:off x="2605125" y="4909520"/>
            <a:ext cx="335249" cy="251296"/>
          </a:xfrm>
          <a:prstGeom prst="rect">
            <a:avLst/>
          </a:prstGeom>
          <a:solidFill>
            <a:srgbClr val="E67E22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7" name="TextBox 1676"/>
          <p:cNvSpPr txBox="1"/>
          <p:nvPr/>
        </p:nvSpPr>
        <p:spPr>
          <a:xfrm>
            <a:off x="2599125" y="49115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9.9M</a:t>
            </a:r>
          </a:p>
        </p:txBody>
      </p:sp>
      <p:sp>
        <p:nvSpPr>
          <p:cNvPr id="1678" name="TextBox 1677"/>
          <p:cNvSpPr txBox="1"/>
          <p:nvPr/>
        </p:nvSpPr>
        <p:spPr>
          <a:xfrm>
            <a:off x="2599125" y="50418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12件</a:t>
            </a:r>
          </a:p>
        </p:txBody>
      </p:sp>
      <p:sp>
        <p:nvSpPr>
          <p:cNvPr id="1679" name="Rectangle 1678"/>
          <p:cNvSpPr/>
          <p:nvPr/>
        </p:nvSpPr>
        <p:spPr>
          <a:xfrm>
            <a:off x="2952374" y="4909520"/>
            <a:ext cx="335249" cy="251296"/>
          </a:xfrm>
          <a:prstGeom prst="rect">
            <a:avLst/>
          </a:prstGeom>
          <a:solidFill>
            <a:srgbClr val="E67E22">
              <a:alpha val="4443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0" name="TextBox 1679"/>
          <p:cNvSpPr txBox="1"/>
          <p:nvPr/>
        </p:nvSpPr>
        <p:spPr>
          <a:xfrm>
            <a:off x="2946374" y="49115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2.6M</a:t>
            </a:r>
          </a:p>
        </p:txBody>
      </p:sp>
      <p:sp>
        <p:nvSpPr>
          <p:cNvPr id="1681" name="TextBox 1680"/>
          <p:cNvSpPr txBox="1"/>
          <p:nvPr/>
        </p:nvSpPr>
        <p:spPr>
          <a:xfrm>
            <a:off x="2946374" y="50418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10件</a:t>
            </a:r>
          </a:p>
        </p:txBody>
      </p:sp>
      <p:sp>
        <p:nvSpPr>
          <p:cNvPr id="1682" name="Rectangle 1681"/>
          <p:cNvSpPr/>
          <p:nvPr/>
        </p:nvSpPr>
        <p:spPr>
          <a:xfrm>
            <a:off x="3299623" y="4909520"/>
            <a:ext cx="335249" cy="251296"/>
          </a:xfrm>
          <a:prstGeom prst="rect">
            <a:avLst/>
          </a:prstGeom>
          <a:solidFill>
            <a:srgbClr val="E67E22">
              <a:alpha val="6731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3" name="TextBox 1682"/>
          <p:cNvSpPr txBox="1"/>
          <p:nvPr/>
        </p:nvSpPr>
        <p:spPr>
          <a:xfrm>
            <a:off x="3293623" y="49115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5.6M</a:t>
            </a:r>
          </a:p>
        </p:txBody>
      </p:sp>
      <p:sp>
        <p:nvSpPr>
          <p:cNvPr id="1684" name="TextBox 1683"/>
          <p:cNvSpPr txBox="1"/>
          <p:nvPr/>
        </p:nvSpPr>
        <p:spPr>
          <a:xfrm>
            <a:off x="3293623" y="50418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12件</a:t>
            </a:r>
          </a:p>
        </p:txBody>
      </p:sp>
      <p:sp>
        <p:nvSpPr>
          <p:cNvPr id="1685" name="Rectangle 1684"/>
          <p:cNvSpPr/>
          <p:nvPr/>
        </p:nvSpPr>
        <p:spPr>
          <a:xfrm>
            <a:off x="3646872" y="4909520"/>
            <a:ext cx="335249" cy="251296"/>
          </a:xfrm>
          <a:prstGeom prst="rect">
            <a:avLst/>
          </a:prstGeom>
          <a:solidFill>
            <a:srgbClr val="E67E22">
              <a:alpha val="3350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6" name="TextBox 1685"/>
          <p:cNvSpPr txBox="1"/>
          <p:nvPr/>
        </p:nvSpPr>
        <p:spPr>
          <a:xfrm>
            <a:off x="3640872" y="49115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1.1M</a:t>
            </a:r>
          </a:p>
        </p:txBody>
      </p:sp>
      <p:sp>
        <p:nvSpPr>
          <p:cNvPr id="1687" name="TextBox 1686"/>
          <p:cNvSpPr txBox="1"/>
          <p:nvPr/>
        </p:nvSpPr>
        <p:spPr>
          <a:xfrm>
            <a:off x="3640872" y="50418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5件</a:t>
            </a:r>
          </a:p>
        </p:txBody>
      </p:sp>
      <p:sp>
        <p:nvSpPr>
          <p:cNvPr id="1688" name="Rectangle 1687"/>
          <p:cNvSpPr/>
          <p:nvPr/>
        </p:nvSpPr>
        <p:spPr>
          <a:xfrm>
            <a:off x="3994121" y="4909520"/>
            <a:ext cx="335249" cy="251296"/>
          </a:xfrm>
          <a:prstGeom prst="rect">
            <a:avLst/>
          </a:prstGeom>
          <a:solidFill>
            <a:srgbClr val="E67E22">
              <a:alpha val="5476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9" name="TextBox 1688"/>
          <p:cNvSpPr txBox="1"/>
          <p:nvPr/>
        </p:nvSpPr>
        <p:spPr>
          <a:xfrm>
            <a:off x="3988121" y="49115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3.9M</a:t>
            </a:r>
          </a:p>
        </p:txBody>
      </p:sp>
      <p:sp>
        <p:nvSpPr>
          <p:cNvPr id="1690" name="TextBox 1689"/>
          <p:cNvSpPr txBox="1"/>
          <p:nvPr/>
        </p:nvSpPr>
        <p:spPr>
          <a:xfrm>
            <a:off x="3988121" y="50418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13件</a:t>
            </a:r>
          </a:p>
        </p:txBody>
      </p:sp>
      <p:sp>
        <p:nvSpPr>
          <p:cNvPr id="1691" name="Rectangle 1690"/>
          <p:cNvSpPr/>
          <p:nvPr/>
        </p:nvSpPr>
        <p:spPr>
          <a:xfrm>
            <a:off x="4341370" y="4909520"/>
            <a:ext cx="335249" cy="251296"/>
          </a:xfrm>
          <a:prstGeom prst="rect">
            <a:avLst/>
          </a:prstGeom>
          <a:solidFill>
            <a:srgbClr val="E67E22">
              <a:alpha val="4497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2" name="TextBox 1691"/>
          <p:cNvSpPr txBox="1"/>
          <p:nvPr/>
        </p:nvSpPr>
        <p:spPr>
          <a:xfrm>
            <a:off x="4335370" y="49115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2.6M</a:t>
            </a:r>
          </a:p>
        </p:txBody>
      </p:sp>
      <p:sp>
        <p:nvSpPr>
          <p:cNvPr id="1693" name="TextBox 1692"/>
          <p:cNvSpPr txBox="1"/>
          <p:nvPr/>
        </p:nvSpPr>
        <p:spPr>
          <a:xfrm>
            <a:off x="4335370" y="50418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10件</a:t>
            </a:r>
          </a:p>
        </p:txBody>
      </p:sp>
      <p:sp>
        <p:nvSpPr>
          <p:cNvPr id="1694" name="Rectangle 1693"/>
          <p:cNvSpPr/>
          <p:nvPr/>
        </p:nvSpPr>
        <p:spPr>
          <a:xfrm>
            <a:off x="4688619" y="4909520"/>
            <a:ext cx="335249" cy="251296"/>
          </a:xfrm>
          <a:prstGeom prst="rect">
            <a:avLst/>
          </a:prstGeom>
          <a:solidFill>
            <a:srgbClr val="E67E22">
              <a:alpha val="9139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5" name="TextBox 1694"/>
          <p:cNvSpPr txBox="1"/>
          <p:nvPr/>
        </p:nvSpPr>
        <p:spPr>
          <a:xfrm>
            <a:off x="4682619" y="49115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8.8M</a:t>
            </a:r>
          </a:p>
        </p:txBody>
      </p:sp>
      <p:sp>
        <p:nvSpPr>
          <p:cNvPr id="1696" name="TextBox 1695"/>
          <p:cNvSpPr txBox="1"/>
          <p:nvPr/>
        </p:nvSpPr>
        <p:spPr>
          <a:xfrm>
            <a:off x="4682619" y="50418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17件</a:t>
            </a:r>
          </a:p>
        </p:txBody>
      </p:sp>
      <p:sp>
        <p:nvSpPr>
          <p:cNvPr id="1697" name="Rectangle 1696"/>
          <p:cNvSpPr/>
          <p:nvPr/>
        </p:nvSpPr>
        <p:spPr>
          <a:xfrm>
            <a:off x="5035868" y="4909520"/>
            <a:ext cx="335249" cy="251296"/>
          </a:xfrm>
          <a:prstGeom prst="rect">
            <a:avLst/>
          </a:prstGeom>
          <a:solidFill>
            <a:srgbClr val="E67E22">
              <a:alpha val="4772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8" name="TextBox 1697"/>
          <p:cNvSpPr txBox="1"/>
          <p:nvPr/>
        </p:nvSpPr>
        <p:spPr>
          <a:xfrm>
            <a:off x="5029868" y="49115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3.0M</a:t>
            </a:r>
          </a:p>
        </p:txBody>
      </p:sp>
      <p:sp>
        <p:nvSpPr>
          <p:cNvPr id="1699" name="TextBox 1698"/>
          <p:cNvSpPr txBox="1"/>
          <p:nvPr/>
        </p:nvSpPr>
        <p:spPr>
          <a:xfrm>
            <a:off x="5029868" y="50418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8件</a:t>
            </a:r>
          </a:p>
        </p:txBody>
      </p:sp>
      <p:sp>
        <p:nvSpPr>
          <p:cNvPr id="1700" name="Rectangle 1699"/>
          <p:cNvSpPr/>
          <p:nvPr/>
        </p:nvSpPr>
        <p:spPr>
          <a:xfrm>
            <a:off x="5383117" y="4909520"/>
            <a:ext cx="335249" cy="251296"/>
          </a:xfrm>
          <a:prstGeom prst="rect">
            <a:avLst/>
          </a:prstGeom>
          <a:solidFill>
            <a:srgbClr val="E67E22">
              <a:alpha val="4740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1" name="TextBox 1700"/>
          <p:cNvSpPr txBox="1"/>
          <p:nvPr/>
        </p:nvSpPr>
        <p:spPr>
          <a:xfrm>
            <a:off x="5377117" y="49115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3.0M</a:t>
            </a:r>
          </a:p>
        </p:txBody>
      </p:sp>
      <p:sp>
        <p:nvSpPr>
          <p:cNvPr id="1702" name="TextBox 1701"/>
          <p:cNvSpPr txBox="1"/>
          <p:nvPr/>
        </p:nvSpPr>
        <p:spPr>
          <a:xfrm>
            <a:off x="5377117" y="50418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10件</a:t>
            </a:r>
          </a:p>
        </p:txBody>
      </p:sp>
      <p:sp>
        <p:nvSpPr>
          <p:cNvPr id="1703" name="Rectangle 1702"/>
          <p:cNvSpPr/>
          <p:nvPr/>
        </p:nvSpPr>
        <p:spPr>
          <a:xfrm>
            <a:off x="5730366" y="4909520"/>
            <a:ext cx="335249" cy="251296"/>
          </a:xfrm>
          <a:prstGeom prst="rect">
            <a:avLst/>
          </a:prstGeom>
          <a:solidFill>
            <a:srgbClr val="E67E22">
              <a:alpha val="3712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4" name="TextBox 1703"/>
          <p:cNvSpPr txBox="1"/>
          <p:nvPr/>
        </p:nvSpPr>
        <p:spPr>
          <a:xfrm>
            <a:off x="5724366" y="49115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1.6M</a:t>
            </a:r>
          </a:p>
        </p:txBody>
      </p:sp>
      <p:sp>
        <p:nvSpPr>
          <p:cNvPr id="1705" name="TextBox 1704"/>
          <p:cNvSpPr txBox="1"/>
          <p:nvPr/>
        </p:nvSpPr>
        <p:spPr>
          <a:xfrm>
            <a:off x="5724366" y="50418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7件</a:t>
            </a:r>
          </a:p>
        </p:txBody>
      </p:sp>
      <p:sp>
        <p:nvSpPr>
          <p:cNvPr id="1706" name="TextBox 1705"/>
          <p:cNvSpPr txBox="1"/>
          <p:nvPr/>
        </p:nvSpPr>
        <p:spPr>
          <a:xfrm>
            <a:off x="202880" y="5166816"/>
            <a:ext cx="650000" cy="2632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永明经代</a:t>
            </a:r>
          </a:p>
        </p:txBody>
      </p:sp>
      <p:sp>
        <p:nvSpPr>
          <p:cNvPr id="1707" name="Rectangle 1706"/>
          <p:cNvSpPr/>
          <p:nvPr/>
        </p:nvSpPr>
        <p:spPr>
          <a:xfrm>
            <a:off x="868880" y="5172816"/>
            <a:ext cx="335249" cy="251296"/>
          </a:xfrm>
          <a:prstGeom prst="rect">
            <a:avLst/>
          </a:prstGeom>
          <a:solidFill>
            <a:srgbClr val="1A7A3F">
              <a:alpha val="4424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8" name="TextBox 1707"/>
          <p:cNvSpPr txBox="1"/>
          <p:nvPr/>
        </p:nvSpPr>
        <p:spPr>
          <a:xfrm>
            <a:off x="862880" y="51748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3.2M</a:t>
            </a:r>
          </a:p>
        </p:txBody>
      </p:sp>
      <p:sp>
        <p:nvSpPr>
          <p:cNvPr id="1709" name="TextBox 1708"/>
          <p:cNvSpPr txBox="1"/>
          <p:nvPr/>
        </p:nvSpPr>
        <p:spPr>
          <a:xfrm>
            <a:off x="862880" y="53051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11件</a:t>
            </a:r>
          </a:p>
        </p:txBody>
      </p:sp>
      <p:sp>
        <p:nvSpPr>
          <p:cNvPr id="1710" name="Rectangle 1709"/>
          <p:cNvSpPr/>
          <p:nvPr/>
        </p:nvSpPr>
        <p:spPr>
          <a:xfrm>
            <a:off x="1216129" y="5172816"/>
            <a:ext cx="335249" cy="251296"/>
          </a:xfrm>
          <a:prstGeom prst="rect">
            <a:avLst/>
          </a:prstGeom>
          <a:solidFill>
            <a:srgbClr val="1A7A3F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1" name="TextBox 1710"/>
          <p:cNvSpPr txBox="1"/>
          <p:nvPr/>
        </p:nvSpPr>
        <p:spPr>
          <a:xfrm>
            <a:off x="1210129" y="51748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12.4M</a:t>
            </a:r>
          </a:p>
        </p:txBody>
      </p:sp>
      <p:sp>
        <p:nvSpPr>
          <p:cNvPr id="1712" name="TextBox 1711"/>
          <p:cNvSpPr txBox="1"/>
          <p:nvPr/>
        </p:nvSpPr>
        <p:spPr>
          <a:xfrm>
            <a:off x="1210129" y="53051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25件</a:t>
            </a:r>
          </a:p>
        </p:txBody>
      </p:sp>
      <p:sp>
        <p:nvSpPr>
          <p:cNvPr id="1713" name="Rectangle 1712"/>
          <p:cNvSpPr/>
          <p:nvPr/>
        </p:nvSpPr>
        <p:spPr>
          <a:xfrm>
            <a:off x="1563378" y="5172816"/>
            <a:ext cx="335249" cy="251296"/>
          </a:xfrm>
          <a:prstGeom prst="rect">
            <a:avLst/>
          </a:prstGeom>
          <a:solidFill>
            <a:srgbClr val="1A7A3F">
              <a:alpha val="5290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4" name="TextBox 1713"/>
          <p:cNvSpPr txBox="1"/>
          <p:nvPr/>
        </p:nvSpPr>
        <p:spPr>
          <a:xfrm>
            <a:off x="1557378" y="51748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4.6M</a:t>
            </a:r>
          </a:p>
        </p:txBody>
      </p:sp>
      <p:sp>
        <p:nvSpPr>
          <p:cNvPr id="1715" name="TextBox 1714"/>
          <p:cNvSpPr txBox="1"/>
          <p:nvPr/>
        </p:nvSpPr>
        <p:spPr>
          <a:xfrm>
            <a:off x="1557378" y="53051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12件</a:t>
            </a:r>
          </a:p>
        </p:txBody>
      </p:sp>
      <p:sp>
        <p:nvSpPr>
          <p:cNvPr id="1716" name="Rectangle 1715"/>
          <p:cNvSpPr/>
          <p:nvPr/>
        </p:nvSpPr>
        <p:spPr>
          <a:xfrm>
            <a:off x="1910627" y="5172816"/>
            <a:ext cx="335249" cy="251296"/>
          </a:xfrm>
          <a:prstGeom prst="rect">
            <a:avLst/>
          </a:prstGeom>
          <a:solidFill>
            <a:srgbClr val="1A7A3F">
              <a:alpha val="5872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7" name="TextBox 1716"/>
          <p:cNvSpPr txBox="1"/>
          <p:nvPr/>
        </p:nvSpPr>
        <p:spPr>
          <a:xfrm>
            <a:off x="1904627" y="51748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5.6M</a:t>
            </a:r>
          </a:p>
        </p:txBody>
      </p:sp>
      <p:sp>
        <p:nvSpPr>
          <p:cNvPr id="1718" name="TextBox 1717"/>
          <p:cNvSpPr txBox="1"/>
          <p:nvPr/>
        </p:nvSpPr>
        <p:spPr>
          <a:xfrm>
            <a:off x="1904627" y="53051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12件</a:t>
            </a:r>
          </a:p>
        </p:txBody>
      </p:sp>
      <p:sp>
        <p:nvSpPr>
          <p:cNvPr id="1719" name="Rectangle 1718"/>
          <p:cNvSpPr/>
          <p:nvPr/>
        </p:nvSpPr>
        <p:spPr>
          <a:xfrm>
            <a:off x="2257876" y="5172816"/>
            <a:ext cx="335249" cy="251296"/>
          </a:xfrm>
          <a:prstGeom prst="rect">
            <a:avLst/>
          </a:prstGeom>
          <a:solidFill>
            <a:srgbClr val="1A7A3F">
              <a:alpha val="3170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0" name="TextBox 1719"/>
          <p:cNvSpPr txBox="1"/>
          <p:nvPr/>
        </p:nvSpPr>
        <p:spPr>
          <a:xfrm>
            <a:off x="2251876" y="51748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1.1M</a:t>
            </a:r>
          </a:p>
        </p:txBody>
      </p:sp>
      <p:sp>
        <p:nvSpPr>
          <p:cNvPr id="1721" name="TextBox 1720"/>
          <p:cNvSpPr txBox="1"/>
          <p:nvPr/>
        </p:nvSpPr>
        <p:spPr>
          <a:xfrm>
            <a:off x="2251876" y="53051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4件</a:t>
            </a:r>
          </a:p>
        </p:txBody>
      </p:sp>
      <p:sp>
        <p:nvSpPr>
          <p:cNvPr id="1722" name="Rectangle 1721"/>
          <p:cNvSpPr/>
          <p:nvPr/>
        </p:nvSpPr>
        <p:spPr>
          <a:xfrm>
            <a:off x="2605125" y="5172816"/>
            <a:ext cx="335249" cy="251296"/>
          </a:xfrm>
          <a:prstGeom prst="rect">
            <a:avLst/>
          </a:prstGeom>
          <a:solidFill>
            <a:srgbClr val="1A7A3F">
              <a:alpha val="2896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3" name="TextBox 1722"/>
          <p:cNvSpPr txBox="1"/>
          <p:nvPr/>
        </p:nvSpPr>
        <p:spPr>
          <a:xfrm>
            <a:off x="2599125" y="51748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0.7M</a:t>
            </a:r>
          </a:p>
        </p:txBody>
      </p:sp>
      <p:sp>
        <p:nvSpPr>
          <p:cNvPr id="1724" name="TextBox 1723"/>
          <p:cNvSpPr txBox="1"/>
          <p:nvPr/>
        </p:nvSpPr>
        <p:spPr>
          <a:xfrm>
            <a:off x="2599125" y="53051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4件</a:t>
            </a:r>
          </a:p>
        </p:txBody>
      </p:sp>
      <p:sp>
        <p:nvSpPr>
          <p:cNvPr id="1725" name="Rectangle 1724"/>
          <p:cNvSpPr/>
          <p:nvPr/>
        </p:nvSpPr>
        <p:spPr>
          <a:xfrm>
            <a:off x="2952374" y="5172816"/>
            <a:ext cx="335249" cy="251296"/>
          </a:xfrm>
          <a:prstGeom prst="rect">
            <a:avLst/>
          </a:prstGeom>
          <a:solidFill>
            <a:srgbClr val="1A7A3F">
              <a:alpha val="6499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6" name="TextBox 1725"/>
          <p:cNvSpPr txBox="1"/>
          <p:nvPr/>
        </p:nvSpPr>
        <p:spPr>
          <a:xfrm>
            <a:off x="2946374" y="51748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6.6M</a:t>
            </a:r>
          </a:p>
        </p:txBody>
      </p:sp>
      <p:sp>
        <p:nvSpPr>
          <p:cNvPr id="1727" name="TextBox 1726"/>
          <p:cNvSpPr txBox="1"/>
          <p:nvPr/>
        </p:nvSpPr>
        <p:spPr>
          <a:xfrm>
            <a:off x="2946374" y="53051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13件</a:t>
            </a:r>
          </a:p>
        </p:txBody>
      </p:sp>
      <p:sp>
        <p:nvSpPr>
          <p:cNvPr id="1728" name="Rectangle 1727"/>
          <p:cNvSpPr/>
          <p:nvPr/>
        </p:nvSpPr>
        <p:spPr>
          <a:xfrm>
            <a:off x="3299623" y="5172816"/>
            <a:ext cx="335249" cy="251296"/>
          </a:xfrm>
          <a:prstGeom prst="rect">
            <a:avLst/>
          </a:prstGeom>
          <a:solidFill>
            <a:srgbClr val="1A7A3F">
              <a:alpha val="3980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9" name="TextBox 1728"/>
          <p:cNvSpPr txBox="1"/>
          <p:nvPr/>
        </p:nvSpPr>
        <p:spPr>
          <a:xfrm>
            <a:off x="3293623" y="51748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2.5M</a:t>
            </a:r>
          </a:p>
        </p:txBody>
      </p:sp>
      <p:sp>
        <p:nvSpPr>
          <p:cNvPr id="1730" name="TextBox 1729"/>
          <p:cNvSpPr txBox="1"/>
          <p:nvPr/>
        </p:nvSpPr>
        <p:spPr>
          <a:xfrm>
            <a:off x="3293623" y="53051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8件</a:t>
            </a:r>
          </a:p>
        </p:txBody>
      </p:sp>
      <p:sp>
        <p:nvSpPr>
          <p:cNvPr id="1731" name="Rectangle 1730"/>
          <p:cNvSpPr/>
          <p:nvPr/>
        </p:nvSpPr>
        <p:spPr>
          <a:xfrm>
            <a:off x="3646872" y="5172816"/>
            <a:ext cx="335249" cy="251296"/>
          </a:xfrm>
          <a:prstGeom prst="rect">
            <a:avLst/>
          </a:prstGeom>
          <a:solidFill>
            <a:srgbClr val="1A7A3F">
              <a:alpha val="3857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2" name="TextBox 1731"/>
          <p:cNvSpPr txBox="1"/>
          <p:nvPr/>
        </p:nvSpPr>
        <p:spPr>
          <a:xfrm>
            <a:off x="3640872" y="51748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2.2M</a:t>
            </a:r>
          </a:p>
        </p:txBody>
      </p:sp>
      <p:sp>
        <p:nvSpPr>
          <p:cNvPr id="1733" name="TextBox 1732"/>
          <p:cNvSpPr txBox="1"/>
          <p:nvPr/>
        </p:nvSpPr>
        <p:spPr>
          <a:xfrm>
            <a:off x="3640872" y="53051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7件</a:t>
            </a:r>
          </a:p>
        </p:txBody>
      </p:sp>
      <p:sp>
        <p:nvSpPr>
          <p:cNvPr id="1734" name="Rectangle 1733"/>
          <p:cNvSpPr/>
          <p:nvPr/>
        </p:nvSpPr>
        <p:spPr>
          <a:xfrm>
            <a:off x="3994121" y="5172816"/>
            <a:ext cx="335249" cy="251296"/>
          </a:xfrm>
          <a:prstGeom prst="rect">
            <a:avLst/>
          </a:prstGeom>
          <a:solidFill>
            <a:srgbClr val="1A7A3F">
              <a:alpha val="4480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5" name="TextBox 1734"/>
          <p:cNvSpPr txBox="1"/>
          <p:nvPr/>
        </p:nvSpPr>
        <p:spPr>
          <a:xfrm>
            <a:off x="3988121" y="51748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3.3M</a:t>
            </a:r>
          </a:p>
        </p:txBody>
      </p:sp>
      <p:sp>
        <p:nvSpPr>
          <p:cNvPr id="1736" name="TextBox 1735"/>
          <p:cNvSpPr txBox="1"/>
          <p:nvPr/>
        </p:nvSpPr>
        <p:spPr>
          <a:xfrm>
            <a:off x="3988121" y="53051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10件</a:t>
            </a:r>
          </a:p>
        </p:txBody>
      </p:sp>
      <p:sp>
        <p:nvSpPr>
          <p:cNvPr id="1737" name="Rectangle 1736"/>
          <p:cNvSpPr/>
          <p:nvPr/>
        </p:nvSpPr>
        <p:spPr>
          <a:xfrm>
            <a:off x="4341370" y="5172816"/>
            <a:ext cx="335249" cy="251296"/>
          </a:xfrm>
          <a:prstGeom prst="rect">
            <a:avLst/>
          </a:prstGeom>
          <a:solidFill>
            <a:srgbClr val="1A7A3F">
              <a:alpha val="4471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8" name="TextBox 1737"/>
          <p:cNvSpPr txBox="1"/>
          <p:nvPr/>
        </p:nvSpPr>
        <p:spPr>
          <a:xfrm>
            <a:off x="4335370" y="51748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3.3M</a:t>
            </a:r>
          </a:p>
        </p:txBody>
      </p:sp>
      <p:sp>
        <p:nvSpPr>
          <p:cNvPr id="1739" name="TextBox 1738"/>
          <p:cNvSpPr txBox="1"/>
          <p:nvPr/>
        </p:nvSpPr>
        <p:spPr>
          <a:xfrm>
            <a:off x="4335370" y="53051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10件</a:t>
            </a:r>
          </a:p>
        </p:txBody>
      </p:sp>
      <p:sp>
        <p:nvSpPr>
          <p:cNvPr id="1740" name="Rectangle 1739"/>
          <p:cNvSpPr/>
          <p:nvPr/>
        </p:nvSpPr>
        <p:spPr>
          <a:xfrm>
            <a:off x="4688619" y="5172816"/>
            <a:ext cx="335249" cy="251296"/>
          </a:xfrm>
          <a:prstGeom prst="rect">
            <a:avLst/>
          </a:prstGeom>
          <a:solidFill>
            <a:srgbClr val="1A7A3F">
              <a:alpha val="4408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" name="TextBox 1740"/>
          <p:cNvSpPr txBox="1"/>
          <p:nvPr/>
        </p:nvSpPr>
        <p:spPr>
          <a:xfrm>
            <a:off x="4682619" y="51748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3.2M</a:t>
            </a:r>
          </a:p>
        </p:txBody>
      </p:sp>
      <p:sp>
        <p:nvSpPr>
          <p:cNvPr id="1742" name="TextBox 1741"/>
          <p:cNvSpPr txBox="1"/>
          <p:nvPr/>
        </p:nvSpPr>
        <p:spPr>
          <a:xfrm>
            <a:off x="4682619" y="53051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9件</a:t>
            </a:r>
          </a:p>
        </p:txBody>
      </p:sp>
      <p:sp>
        <p:nvSpPr>
          <p:cNvPr id="1743" name="Rectangle 1742"/>
          <p:cNvSpPr/>
          <p:nvPr/>
        </p:nvSpPr>
        <p:spPr>
          <a:xfrm>
            <a:off x="5035868" y="5172816"/>
            <a:ext cx="335249" cy="251296"/>
          </a:xfrm>
          <a:prstGeom prst="rect">
            <a:avLst/>
          </a:prstGeom>
          <a:solidFill>
            <a:srgbClr val="1A7A3F">
              <a:alpha val="5958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" name="TextBox 1743"/>
          <p:cNvSpPr txBox="1"/>
          <p:nvPr/>
        </p:nvSpPr>
        <p:spPr>
          <a:xfrm>
            <a:off x="5029868" y="51748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5.7M</a:t>
            </a:r>
          </a:p>
        </p:txBody>
      </p:sp>
      <p:sp>
        <p:nvSpPr>
          <p:cNvPr id="1745" name="TextBox 1744"/>
          <p:cNvSpPr txBox="1"/>
          <p:nvPr/>
        </p:nvSpPr>
        <p:spPr>
          <a:xfrm>
            <a:off x="5029868" y="53051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16件</a:t>
            </a:r>
          </a:p>
        </p:txBody>
      </p:sp>
      <p:sp>
        <p:nvSpPr>
          <p:cNvPr id="1746" name="Rectangle 1745"/>
          <p:cNvSpPr/>
          <p:nvPr/>
        </p:nvSpPr>
        <p:spPr>
          <a:xfrm>
            <a:off x="5383117" y="5172816"/>
            <a:ext cx="335249" cy="251296"/>
          </a:xfrm>
          <a:prstGeom prst="rect">
            <a:avLst/>
          </a:prstGeom>
          <a:solidFill>
            <a:srgbClr val="1A7A3F">
              <a:alpha val="8477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7" name="TextBox 1746"/>
          <p:cNvSpPr txBox="1"/>
          <p:nvPr/>
        </p:nvSpPr>
        <p:spPr>
          <a:xfrm>
            <a:off x="5377117" y="51748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9.9M</a:t>
            </a:r>
          </a:p>
        </p:txBody>
      </p:sp>
      <p:sp>
        <p:nvSpPr>
          <p:cNvPr id="1748" name="TextBox 1747"/>
          <p:cNvSpPr txBox="1"/>
          <p:nvPr/>
        </p:nvSpPr>
        <p:spPr>
          <a:xfrm>
            <a:off x="5377117" y="53051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22件</a:t>
            </a:r>
          </a:p>
        </p:txBody>
      </p:sp>
      <p:sp>
        <p:nvSpPr>
          <p:cNvPr id="1749" name="Rectangle 1748"/>
          <p:cNvSpPr/>
          <p:nvPr/>
        </p:nvSpPr>
        <p:spPr>
          <a:xfrm>
            <a:off x="5730366" y="5172816"/>
            <a:ext cx="335249" cy="251296"/>
          </a:xfrm>
          <a:prstGeom prst="rect">
            <a:avLst/>
          </a:prstGeom>
          <a:solidFill>
            <a:srgbClr val="1A7A3F">
              <a:alpha val="4987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0" name="TextBox 1749"/>
          <p:cNvSpPr txBox="1"/>
          <p:nvPr/>
        </p:nvSpPr>
        <p:spPr>
          <a:xfrm>
            <a:off x="5724366" y="51748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4.1M</a:t>
            </a:r>
          </a:p>
        </p:txBody>
      </p:sp>
      <p:sp>
        <p:nvSpPr>
          <p:cNvPr id="1751" name="TextBox 1750"/>
          <p:cNvSpPr txBox="1"/>
          <p:nvPr/>
        </p:nvSpPr>
        <p:spPr>
          <a:xfrm>
            <a:off x="5724366" y="53051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11件</a:t>
            </a:r>
          </a:p>
        </p:txBody>
      </p:sp>
      <p:sp>
        <p:nvSpPr>
          <p:cNvPr id="1752" name="TextBox 1751"/>
          <p:cNvSpPr txBox="1"/>
          <p:nvPr/>
        </p:nvSpPr>
        <p:spPr>
          <a:xfrm>
            <a:off x="202880" y="5430112"/>
            <a:ext cx="650000" cy="2632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合伙转介</a:t>
            </a:r>
          </a:p>
        </p:txBody>
      </p:sp>
      <p:sp>
        <p:nvSpPr>
          <p:cNvPr id="1753" name="Rectangle 1752"/>
          <p:cNvSpPr/>
          <p:nvPr/>
        </p:nvSpPr>
        <p:spPr>
          <a:xfrm>
            <a:off x="1216129" y="5436112"/>
            <a:ext cx="335249" cy="251296"/>
          </a:xfrm>
          <a:prstGeom prst="rect">
            <a:avLst/>
          </a:prstGeom>
          <a:solidFill>
            <a:srgbClr val="94A3B8">
              <a:alpha val="2983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4" name="TextBox 1753"/>
          <p:cNvSpPr txBox="1"/>
          <p:nvPr/>
        </p:nvSpPr>
        <p:spPr>
          <a:xfrm>
            <a:off x="1210129" y="54381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0.1M</a:t>
            </a:r>
          </a:p>
        </p:txBody>
      </p:sp>
      <p:sp>
        <p:nvSpPr>
          <p:cNvPr id="1755" name="TextBox 1754"/>
          <p:cNvSpPr txBox="1"/>
          <p:nvPr/>
        </p:nvSpPr>
        <p:spPr>
          <a:xfrm>
            <a:off x="1210129" y="556840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1件</a:t>
            </a:r>
          </a:p>
        </p:txBody>
      </p:sp>
      <p:sp>
        <p:nvSpPr>
          <p:cNvPr id="1756" name="Rectangle 1755"/>
          <p:cNvSpPr/>
          <p:nvPr/>
        </p:nvSpPr>
        <p:spPr>
          <a:xfrm>
            <a:off x="1563378" y="5436112"/>
            <a:ext cx="335249" cy="251296"/>
          </a:xfrm>
          <a:prstGeom prst="rect">
            <a:avLst/>
          </a:prstGeom>
          <a:solidFill>
            <a:srgbClr val="94A3B8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7" name="TextBox 1756"/>
          <p:cNvSpPr txBox="1"/>
          <p:nvPr/>
        </p:nvSpPr>
        <p:spPr>
          <a:xfrm>
            <a:off x="1557378" y="54381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1.2M</a:t>
            </a:r>
          </a:p>
        </p:txBody>
      </p:sp>
      <p:sp>
        <p:nvSpPr>
          <p:cNvPr id="1758" name="TextBox 1757"/>
          <p:cNvSpPr txBox="1"/>
          <p:nvPr/>
        </p:nvSpPr>
        <p:spPr>
          <a:xfrm>
            <a:off x="1557378" y="556840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2件</a:t>
            </a:r>
          </a:p>
        </p:txBody>
      </p:sp>
      <p:sp>
        <p:nvSpPr>
          <p:cNvPr id="1759" name="Rectangle 1758"/>
          <p:cNvSpPr/>
          <p:nvPr/>
        </p:nvSpPr>
        <p:spPr>
          <a:xfrm>
            <a:off x="2257876" y="5436112"/>
            <a:ext cx="335249" cy="251296"/>
          </a:xfrm>
          <a:prstGeom prst="rect">
            <a:avLst/>
          </a:prstGeom>
          <a:solidFill>
            <a:srgbClr val="94A3B8">
              <a:alpha val="2592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0" name="TextBox 1759"/>
          <p:cNvSpPr txBox="1"/>
          <p:nvPr/>
        </p:nvSpPr>
        <p:spPr>
          <a:xfrm>
            <a:off x="2251876" y="54381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0.0M</a:t>
            </a:r>
          </a:p>
        </p:txBody>
      </p:sp>
      <p:sp>
        <p:nvSpPr>
          <p:cNvPr id="1761" name="TextBox 1760"/>
          <p:cNvSpPr txBox="1"/>
          <p:nvPr/>
        </p:nvSpPr>
        <p:spPr>
          <a:xfrm>
            <a:off x="2251876" y="556840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1件</a:t>
            </a:r>
          </a:p>
        </p:txBody>
      </p:sp>
      <p:sp>
        <p:nvSpPr>
          <p:cNvPr id="1762" name="Rectangle 1761"/>
          <p:cNvSpPr/>
          <p:nvPr/>
        </p:nvSpPr>
        <p:spPr>
          <a:xfrm>
            <a:off x="2605125" y="5436112"/>
            <a:ext cx="335249" cy="251296"/>
          </a:xfrm>
          <a:prstGeom prst="rect">
            <a:avLst/>
          </a:prstGeom>
          <a:solidFill>
            <a:srgbClr val="94A3B8">
              <a:alpha val="5875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3" name="TextBox 1762"/>
          <p:cNvSpPr txBox="1"/>
          <p:nvPr/>
        </p:nvSpPr>
        <p:spPr>
          <a:xfrm>
            <a:off x="2599125" y="54381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0.5M</a:t>
            </a:r>
          </a:p>
        </p:txBody>
      </p:sp>
      <p:sp>
        <p:nvSpPr>
          <p:cNvPr id="1764" name="TextBox 1763"/>
          <p:cNvSpPr txBox="1"/>
          <p:nvPr/>
        </p:nvSpPr>
        <p:spPr>
          <a:xfrm>
            <a:off x="2599125" y="556840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2件</a:t>
            </a:r>
          </a:p>
        </p:txBody>
      </p:sp>
      <p:sp>
        <p:nvSpPr>
          <p:cNvPr id="1765" name="Rectangle 1764"/>
          <p:cNvSpPr/>
          <p:nvPr/>
        </p:nvSpPr>
        <p:spPr>
          <a:xfrm>
            <a:off x="3299623" y="5436112"/>
            <a:ext cx="335249" cy="251296"/>
          </a:xfrm>
          <a:prstGeom prst="rect">
            <a:avLst/>
          </a:prstGeom>
          <a:solidFill>
            <a:srgbClr val="94A3B8">
              <a:alpha val="2594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6" name="TextBox 1765"/>
          <p:cNvSpPr txBox="1"/>
          <p:nvPr/>
        </p:nvSpPr>
        <p:spPr>
          <a:xfrm>
            <a:off x="3293623" y="54381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0.0M</a:t>
            </a:r>
          </a:p>
        </p:txBody>
      </p:sp>
      <p:sp>
        <p:nvSpPr>
          <p:cNvPr id="1767" name="TextBox 1766"/>
          <p:cNvSpPr txBox="1"/>
          <p:nvPr/>
        </p:nvSpPr>
        <p:spPr>
          <a:xfrm>
            <a:off x="3293623" y="556840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1件</a:t>
            </a:r>
          </a:p>
        </p:txBody>
      </p:sp>
      <p:sp>
        <p:nvSpPr>
          <p:cNvPr id="1768" name="Rectangle 1767"/>
          <p:cNvSpPr/>
          <p:nvPr/>
        </p:nvSpPr>
        <p:spPr>
          <a:xfrm>
            <a:off x="5035868" y="5436112"/>
            <a:ext cx="335249" cy="251296"/>
          </a:xfrm>
          <a:prstGeom prst="rect">
            <a:avLst/>
          </a:prstGeom>
          <a:solidFill>
            <a:srgbClr val="94A3B8">
              <a:alpha val="2983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9" name="TextBox 1768"/>
          <p:cNvSpPr txBox="1"/>
          <p:nvPr/>
        </p:nvSpPr>
        <p:spPr>
          <a:xfrm>
            <a:off x="5029868" y="54381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0.1M</a:t>
            </a:r>
          </a:p>
        </p:txBody>
      </p:sp>
      <p:sp>
        <p:nvSpPr>
          <p:cNvPr id="1770" name="TextBox 1769"/>
          <p:cNvSpPr txBox="1"/>
          <p:nvPr/>
        </p:nvSpPr>
        <p:spPr>
          <a:xfrm>
            <a:off x="5029868" y="556840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1件</a:t>
            </a:r>
          </a:p>
        </p:txBody>
      </p:sp>
      <p:sp>
        <p:nvSpPr>
          <p:cNvPr id="1771" name="Rectangle 1770"/>
          <p:cNvSpPr/>
          <p:nvPr/>
        </p:nvSpPr>
        <p:spPr>
          <a:xfrm>
            <a:off x="5730366" y="5436112"/>
            <a:ext cx="335249" cy="251296"/>
          </a:xfrm>
          <a:prstGeom prst="rect">
            <a:avLst/>
          </a:prstGeom>
          <a:solidFill>
            <a:srgbClr val="94A3B8">
              <a:alpha val="4025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2" name="TextBox 1771"/>
          <p:cNvSpPr txBox="1"/>
          <p:nvPr/>
        </p:nvSpPr>
        <p:spPr>
          <a:xfrm>
            <a:off x="5724366" y="54381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0.2M</a:t>
            </a:r>
          </a:p>
        </p:txBody>
      </p:sp>
      <p:sp>
        <p:nvSpPr>
          <p:cNvPr id="1773" name="TextBox 1772"/>
          <p:cNvSpPr txBox="1"/>
          <p:nvPr/>
        </p:nvSpPr>
        <p:spPr>
          <a:xfrm>
            <a:off x="5724366" y="556840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3件</a:t>
            </a:r>
          </a:p>
        </p:txBody>
      </p:sp>
      <p:sp>
        <p:nvSpPr>
          <p:cNvPr id="1774" name="TextBox 1773"/>
          <p:cNvSpPr txBox="1"/>
          <p:nvPr/>
        </p:nvSpPr>
        <p:spPr>
          <a:xfrm>
            <a:off x="202880" y="5693408"/>
            <a:ext cx="650000" cy="2632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ICLUB业务</a:t>
            </a:r>
          </a:p>
        </p:txBody>
      </p:sp>
      <p:sp>
        <p:nvSpPr>
          <p:cNvPr id="1775" name="Rectangle 1774"/>
          <p:cNvSpPr/>
          <p:nvPr/>
        </p:nvSpPr>
        <p:spPr>
          <a:xfrm>
            <a:off x="2605125" y="5699408"/>
            <a:ext cx="335249" cy="251296"/>
          </a:xfrm>
          <a:prstGeom prst="rect">
            <a:avLst/>
          </a:prstGeom>
          <a:solidFill>
            <a:srgbClr val="8E44AD">
              <a:alpha val="2535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6" name="TextBox 1775"/>
          <p:cNvSpPr txBox="1"/>
          <p:nvPr/>
        </p:nvSpPr>
        <p:spPr>
          <a:xfrm>
            <a:off x="2599125" y="570140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8E44AD"/>
                </a:solidFill>
                <a:latin typeface="Calibri"/>
              </a:rPr>
              <a:t>0.0M</a:t>
            </a:r>
          </a:p>
        </p:txBody>
      </p:sp>
      <p:sp>
        <p:nvSpPr>
          <p:cNvPr id="1777" name="TextBox 1776"/>
          <p:cNvSpPr txBox="1"/>
          <p:nvPr/>
        </p:nvSpPr>
        <p:spPr>
          <a:xfrm>
            <a:off x="2599125" y="583170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8E44AD"/>
                </a:solidFill>
                <a:latin typeface="Calibri"/>
              </a:rPr>
              <a:t>1件</a:t>
            </a:r>
          </a:p>
        </p:txBody>
      </p:sp>
      <p:sp>
        <p:nvSpPr>
          <p:cNvPr id="1778" name="Rectangle 1777"/>
          <p:cNvSpPr/>
          <p:nvPr/>
        </p:nvSpPr>
        <p:spPr>
          <a:xfrm>
            <a:off x="2952374" y="5699408"/>
            <a:ext cx="335249" cy="251296"/>
          </a:xfrm>
          <a:prstGeom prst="rect">
            <a:avLst/>
          </a:prstGeom>
          <a:solidFill>
            <a:srgbClr val="8E44AD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9" name="TextBox 1778"/>
          <p:cNvSpPr txBox="1"/>
          <p:nvPr/>
        </p:nvSpPr>
        <p:spPr>
          <a:xfrm>
            <a:off x="2946374" y="570140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4.0M</a:t>
            </a:r>
          </a:p>
        </p:txBody>
      </p:sp>
      <p:sp>
        <p:nvSpPr>
          <p:cNvPr id="1780" name="TextBox 1779"/>
          <p:cNvSpPr txBox="1"/>
          <p:nvPr/>
        </p:nvSpPr>
        <p:spPr>
          <a:xfrm>
            <a:off x="2946374" y="583170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1件</a:t>
            </a:r>
          </a:p>
        </p:txBody>
      </p:sp>
      <p:sp>
        <p:nvSpPr>
          <p:cNvPr id="1781" name="Rectangle 1780"/>
          <p:cNvSpPr/>
          <p:nvPr/>
        </p:nvSpPr>
        <p:spPr>
          <a:xfrm>
            <a:off x="3299623" y="5699408"/>
            <a:ext cx="335249" cy="251296"/>
          </a:xfrm>
          <a:prstGeom prst="rect">
            <a:avLst/>
          </a:prstGeom>
          <a:solidFill>
            <a:srgbClr val="8E44AD">
              <a:alpha val="5891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2" name="TextBox 1781"/>
          <p:cNvSpPr txBox="1"/>
          <p:nvPr/>
        </p:nvSpPr>
        <p:spPr>
          <a:xfrm>
            <a:off x="3293623" y="570140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1.8M</a:t>
            </a:r>
          </a:p>
        </p:txBody>
      </p:sp>
      <p:sp>
        <p:nvSpPr>
          <p:cNvPr id="1783" name="TextBox 1782"/>
          <p:cNvSpPr txBox="1"/>
          <p:nvPr/>
        </p:nvSpPr>
        <p:spPr>
          <a:xfrm>
            <a:off x="3293623" y="583170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2件</a:t>
            </a:r>
          </a:p>
        </p:txBody>
      </p:sp>
      <p:sp>
        <p:nvSpPr>
          <p:cNvPr id="1784" name="TextBox 1783"/>
          <p:cNvSpPr txBox="1"/>
          <p:nvPr/>
        </p:nvSpPr>
        <p:spPr>
          <a:xfrm>
            <a:off x="202880" y="5956704"/>
            <a:ext cx="650000" cy="2632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202020"/>
                </a:solidFill>
                <a:latin typeface="Calibri"/>
              </a:rPr>
              <a:t>合计</a:t>
            </a:r>
          </a:p>
        </p:txBody>
      </p:sp>
      <p:sp>
        <p:nvSpPr>
          <p:cNvPr id="1785" name="Rectangle 1784"/>
          <p:cNvSpPr/>
          <p:nvPr/>
        </p:nvSpPr>
        <p:spPr>
          <a:xfrm>
            <a:off x="868880" y="5962704"/>
            <a:ext cx="335249" cy="2512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6" name="TextBox 1785"/>
          <p:cNvSpPr txBox="1"/>
          <p:nvPr/>
        </p:nvSpPr>
        <p:spPr>
          <a:xfrm>
            <a:off x="862880" y="59647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12.0M</a:t>
            </a:r>
          </a:p>
        </p:txBody>
      </p:sp>
      <p:sp>
        <p:nvSpPr>
          <p:cNvPr id="1787" name="TextBox 1786"/>
          <p:cNvSpPr txBox="1"/>
          <p:nvPr/>
        </p:nvSpPr>
        <p:spPr>
          <a:xfrm>
            <a:off x="862880" y="60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23件</a:t>
            </a:r>
          </a:p>
        </p:txBody>
      </p:sp>
      <p:sp>
        <p:nvSpPr>
          <p:cNvPr id="1788" name="Rectangle 1787"/>
          <p:cNvSpPr/>
          <p:nvPr/>
        </p:nvSpPr>
        <p:spPr>
          <a:xfrm>
            <a:off x="1216129" y="5962704"/>
            <a:ext cx="335249" cy="2512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9" name="TextBox 1788"/>
          <p:cNvSpPr txBox="1"/>
          <p:nvPr/>
        </p:nvSpPr>
        <p:spPr>
          <a:xfrm>
            <a:off x="1210129" y="59647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23.9M</a:t>
            </a:r>
          </a:p>
        </p:txBody>
      </p:sp>
      <p:sp>
        <p:nvSpPr>
          <p:cNvPr id="1790" name="TextBox 1789"/>
          <p:cNvSpPr txBox="1"/>
          <p:nvPr/>
        </p:nvSpPr>
        <p:spPr>
          <a:xfrm>
            <a:off x="1210129" y="60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58件</a:t>
            </a:r>
          </a:p>
        </p:txBody>
      </p:sp>
      <p:sp>
        <p:nvSpPr>
          <p:cNvPr id="1791" name="Rectangle 1790"/>
          <p:cNvSpPr/>
          <p:nvPr/>
        </p:nvSpPr>
        <p:spPr>
          <a:xfrm>
            <a:off x="1563378" y="5962704"/>
            <a:ext cx="335249" cy="2512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2" name="TextBox 1791"/>
          <p:cNvSpPr txBox="1"/>
          <p:nvPr/>
        </p:nvSpPr>
        <p:spPr>
          <a:xfrm>
            <a:off x="1557378" y="59647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24.5M</a:t>
            </a:r>
          </a:p>
        </p:txBody>
      </p:sp>
      <p:sp>
        <p:nvSpPr>
          <p:cNvPr id="1793" name="TextBox 1792"/>
          <p:cNvSpPr txBox="1"/>
          <p:nvPr/>
        </p:nvSpPr>
        <p:spPr>
          <a:xfrm>
            <a:off x="1557378" y="60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43件</a:t>
            </a:r>
          </a:p>
        </p:txBody>
      </p:sp>
      <p:sp>
        <p:nvSpPr>
          <p:cNvPr id="1794" name="Rectangle 1793"/>
          <p:cNvSpPr/>
          <p:nvPr/>
        </p:nvSpPr>
        <p:spPr>
          <a:xfrm>
            <a:off x="1910627" y="5962704"/>
            <a:ext cx="335249" cy="2512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5" name="TextBox 1794"/>
          <p:cNvSpPr txBox="1"/>
          <p:nvPr/>
        </p:nvSpPr>
        <p:spPr>
          <a:xfrm>
            <a:off x="1904627" y="59647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22.1M</a:t>
            </a:r>
          </a:p>
        </p:txBody>
      </p:sp>
      <p:sp>
        <p:nvSpPr>
          <p:cNvPr id="1796" name="TextBox 1795"/>
          <p:cNvSpPr txBox="1"/>
          <p:nvPr/>
        </p:nvSpPr>
        <p:spPr>
          <a:xfrm>
            <a:off x="1904627" y="60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41件</a:t>
            </a:r>
          </a:p>
        </p:txBody>
      </p:sp>
      <p:sp>
        <p:nvSpPr>
          <p:cNvPr id="1797" name="Rectangle 1796"/>
          <p:cNvSpPr/>
          <p:nvPr/>
        </p:nvSpPr>
        <p:spPr>
          <a:xfrm>
            <a:off x="2257876" y="5962704"/>
            <a:ext cx="335249" cy="2512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8" name="TextBox 1797"/>
          <p:cNvSpPr txBox="1"/>
          <p:nvPr/>
        </p:nvSpPr>
        <p:spPr>
          <a:xfrm>
            <a:off x="2251876" y="59647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7.6M</a:t>
            </a:r>
          </a:p>
        </p:txBody>
      </p:sp>
      <p:sp>
        <p:nvSpPr>
          <p:cNvPr id="1799" name="TextBox 1798"/>
          <p:cNvSpPr txBox="1"/>
          <p:nvPr/>
        </p:nvSpPr>
        <p:spPr>
          <a:xfrm>
            <a:off x="2251876" y="60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25件</a:t>
            </a:r>
          </a:p>
        </p:txBody>
      </p:sp>
      <p:sp>
        <p:nvSpPr>
          <p:cNvPr id="1800" name="Rectangle 1799"/>
          <p:cNvSpPr/>
          <p:nvPr/>
        </p:nvSpPr>
        <p:spPr>
          <a:xfrm>
            <a:off x="2605125" y="5962704"/>
            <a:ext cx="335249" cy="2512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1" name="TextBox 1800"/>
          <p:cNvSpPr txBox="1"/>
          <p:nvPr/>
        </p:nvSpPr>
        <p:spPr>
          <a:xfrm>
            <a:off x="2599125" y="59647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15.6M</a:t>
            </a:r>
          </a:p>
        </p:txBody>
      </p:sp>
      <p:sp>
        <p:nvSpPr>
          <p:cNvPr id="1802" name="TextBox 1801"/>
          <p:cNvSpPr txBox="1"/>
          <p:nvPr/>
        </p:nvSpPr>
        <p:spPr>
          <a:xfrm>
            <a:off x="2599125" y="60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35件</a:t>
            </a:r>
          </a:p>
        </p:txBody>
      </p:sp>
      <p:sp>
        <p:nvSpPr>
          <p:cNvPr id="1803" name="Rectangle 1802"/>
          <p:cNvSpPr/>
          <p:nvPr/>
        </p:nvSpPr>
        <p:spPr>
          <a:xfrm>
            <a:off x="2952374" y="5962704"/>
            <a:ext cx="335249" cy="2512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4" name="TextBox 1803"/>
          <p:cNvSpPr txBox="1"/>
          <p:nvPr/>
        </p:nvSpPr>
        <p:spPr>
          <a:xfrm>
            <a:off x="2946374" y="59647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19.1M</a:t>
            </a:r>
          </a:p>
        </p:txBody>
      </p:sp>
      <p:sp>
        <p:nvSpPr>
          <p:cNvPr id="1805" name="TextBox 1804"/>
          <p:cNvSpPr txBox="1"/>
          <p:nvPr/>
        </p:nvSpPr>
        <p:spPr>
          <a:xfrm>
            <a:off x="2946374" y="60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43件</a:t>
            </a:r>
          </a:p>
        </p:txBody>
      </p:sp>
      <p:sp>
        <p:nvSpPr>
          <p:cNvPr id="1806" name="Rectangle 1805"/>
          <p:cNvSpPr/>
          <p:nvPr/>
        </p:nvSpPr>
        <p:spPr>
          <a:xfrm>
            <a:off x="3299623" y="5962704"/>
            <a:ext cx="335249" cy="2512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7" name="TextBox 1806"/>
          <p:cNvSpPr txBox="1"/>
          <p:nvPr/>
        </p:nvSpPr>
        <p:spPr>
          <a:xfrm>
            <a:off x="3293623" y="59647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26.5M</a:t>
            </a:r>
          </a:p>
        </p:txBody>
      </p:sp>
      <p:sp>
        <p:nvSpPr>
          <p:cNvPr id="1808" name="TextBox 1807"/>
          <p:cNvSpPr txBox="1"/>
          <p:nvPr/>
        </p:nvSpPr>
        <p:spPr>
          <a:xfrm>
            <a:off x="3293623" y="60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42件</a:t>
            </a:r>
          </a:p>
        </p:txBody>
      </p:sp>
      <p:sp>
        <p:nvSpPr>
          <p:cNvPr id="1809" name="Rectangle 1808"/>
          <p:cNvSpPr/>
          <p:nvPr/>
        </p:nvSpPr>
        <p:spPr>
          <a:xfrm>
            <a:off x="3646872" y="5962704"/>
            <a:ext cx="335249" cy="2512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0" name="TextBox 1809"/>
          <p:cNvSpPr txBox="1"/>
          <p:nvPr/>
        </p:nvSpPr>
        <p:spPr>
          <a:xfrm>
            <a:off x="3640872" y="59647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10.2M</a:t>
            </a:r>
          </a:p>
        </p:txBody>
      </p:sp>
      <p:sp>
        <p:nvSpPr>
          <p:cNvPr id="1811" name="TextBox 1810"/>
          <p:cNvSpPr txBox="1"/>
          <p:nvPr/>
        </p:nvSpPr>
        <p:spPr>
          <a:xfrm>
            <a:off x="3640872" y="60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21件</a:t>
            </a:r>
          </a:p>
        </p:txBody>
      </p:sp>
      <p:sp>
        <p:nvSpPr>
          <p:cNvPr id="1812" name="Rectangle 1811"/>
          <p:cNvSpPr/>
          <p:nvPr/>
        </p:nvSpPr>
        <p:spPr>
          <a:xfrm>
            <a:off x="3994121" y="5962704"/>
            <a:ext cx="335249" cy="2512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3" name="TextBox 1812"/>
          <p:cNvSpPr txBox="1"/>
          <p:nvPr/>
        </p:nvSpPr>
        <p:spPr>
          <a:xfrm>
            <a:off x="3988121" y="59647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10.6M</a:t>
            </a:r>
          </a:p>
        </p:txBody>
      </p:sp>
      <p:sp>
        <p:nvSpPr>
          <p:cNvPr id="1814" name="TextBox 1813"/>
          <p:cNvSpPr txBox="1"/>
          <p:nvPr/>
        </p:nvSpPr>
        <p:spPr>
          <a:xfrm>
            <a:off x="3988121" y="60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38件</a:t>
            </a:r>
          </a:p>
        </p:txBody>
      </p:sp>
      <p:sp>
        <p:nvSpPr>
          <p:cNvPr id="1815" name="Rectangle 1814"/>
          <p:cNvSpPr/>
          <p:nvPr/>
        </p:nvSpPr>
        <p:spPr>
          <a:xfrm>
            <a:off x="4341370" y="5962704"/>
            <a:ext cx="335249" cy="2512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6" name="TextBox 1815"/>
          <p:cNvSpPr txBox="1"/>
          <p:nvPr/>
        </p:nvSpPr>
        <p:spPr>
          <a:xfrm>
            <a:off x="4335370" y="59647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15.4M</a:t>
            </a:r>
          </a:p>
        </p:txBody>
      </p:sp>
      <p:sp>
        <p:nvSpPr>
          <p:cNvPr id="1817" name="TextBox 1816"/>
          <p:cNvSpPr txBox="1"/>
          <p:nvPr/>
        </p:nvSpPr>
        <p:spPr>
          <a:xfrm>
            <a:off x="4335370" y="60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30件</a:t>
            </a:r>
          </a:p>
        </p:txBody>
      </p:sp>
      <p:sp>
        <p:nvSpPr>
          <p:cNvPr id="1818" name="Rectangle 1817"/>
          <p:cNvSpPr/>
          <p:nvPr/>
        </p:nvSpPr>
        <p:spPr>
          <a:xfrm>
            <a:off x="4688619" y="5962704"/>
            <a:ext cx="335249" cy="2512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9" name="TextBox 1818"/>
          <p:cNvSpPr txBox="1"/>
          <p:nvPr/>
        </p:nvSpPr>
        <p:spPr>
          <a:xfrm>
            <a:off x="4682619" y="59647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15.5M</a:t>
            </a:r>
          </a:p>
        </p:txBody>
      </p:sp>
      <p:sp>
        <p:nvSpPr>
          <p:cNvPr id="1820" name="TextBox 1819"/>
          <p:cNvSpPr txBox="1"/>
          <p:nvPr/>
        </p:nvSpPr>
        <p:spPr>
          <a:xfrm>
            <a:off x="4682619" y="60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39件</a:t>
            </a:r>
          </a:p>
        </p:txBody>
      </p:sp>
      <p:sp>
        <p:nvSpPr>
          <p:cNvPr id="1821" name="Rectangle 1820"/>
          <p:cNvSpPr/>
          <p:nvPr/>
        </p:nvSpPr>
        <p:spPr>
          <a:xfrm>
            <a:off x="5035868" y="5962704"/>
            <a:ext cx="335249" cy="2512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2" name="TextBox 1821"/>
          <p:cNvSpPr txBox="1"/>
          <p:nvPr/>
        </p:nvSpPr>
        <p:spPr>
          <a:xfrm>
            <a:off x="5029868" y="59647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10.0M</a:t>
            </a:r>
          </a:p>
        </p:txBody>
      </p:sp>
      <p:sp>
        <p:nvSpPr>
          <p:cNvPr id="1823" name="TextBox 1822"/>
          <p:cNvSpPr txBox="1"/>
          <p:nvPr/>
        </p:nvSpPr>
        <p:spPr>
          <a:xfrm>
            <a:off x="5029868" y="60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34件</a:t>
            </a:r>
          </a:p>
        </p:txBody>
      </p:sp>
      <p:sp>
        <p:nvSpPr>
          <p:cNvPr id="1824" name="Rectangle 1823"/>
          <p:cNvSpPr/>
          <p:nvPr/>
        </p:nvSpPr>
        <p:spPr>
          <a:xfrm>
            <a:off x="5383117" y="5962704"/>
            <a:ext cx="335249" cy="2512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5" name="TextBox 1824"/>
          <p:cNvSpPr txBox="1"/>
          <p:nvPr/>
        </p:nvSpPr>
        <p:spPr>
          <a:xfrm>
            <a:off x="5377117" y="59647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15.2M</a:t>
            </a:r>
          </a:p>
        </p:txBody>
      </p:sp>
      <p:sp>
        <p:nvSpPr>
          <p:cNvPr id="1826" name="TextBox 1825"/>
          <p:cNvSpPr txBox="1"/>
          <p:nvPr/>
        </p:nvSpPr>
        <p:spPr>
          <a:xfrm>
            <a:off x="5377117" y="60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41件</a:t>
            </a:r>
          </a:p>
        </p:txBody>
      </p:sp>
      <p:sp>
        <p:nvSpPr>
          <p:cNvPr id="1827" name="Rectangle 1826"/>
          <p:cNvSpPr/>
          <p:nvPr/>
        </p:nvSpPr>
        <p:spPr>
          <a:xfrm>
            <a:off x="5730366" y="5962704"/>
            <a:ext cx="335249" cy="2512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8" name="TextBox 1827"/>
          <p:cNvSpPr txBox="1"/>
          <p:nvPr/>
        </p:nvSpPr>
        <p:spPr>
          <a:xfrm>
            <a:off x="5724366" y="59647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6.5M</a:t>
            </a:r>
          </a:p>
        </p:txBody>
      </p:sp>
      <p:sp>
        <p:nvSpPr>
          <p:cNvPr id="1829" name="TextBox 1828"/>
          <p:cNvSpPr txBox="1"/>
          <p:nvPr/>
        </p:nvSpPr>
        <p:spPr>
          <a:xfrm>
            <a:off x="5724366" y="60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24件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Shape 4"/>
          <p:cNvSpPr/>
          <p:nvPr>
            <p:custDataLst>
              <p:tags r:id="rId3"/>
            </p:custDataLst>
          </p:nvPr>
        </p:nvSpPr>
        <p:spPr>
          <a:xfrm>
            <a:off x="3902710" y="605028"/>
            <a:ext cx="18288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35" name="Shape 4"/>
          <p:cNvSpPr/>
          <p:nvPr>
            <p:custDataLst>
              <p:tags r:id="rId4"/>
            </p:custDataLst>
          </p:nvPr>
        </p:nvSpPr>
        <p:spPr>
          <a:xfrm>
            <a:off x="1992630" y="605028"/>
            <a:ext cx="18288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34" name="Shape 4"/>
          <p:cNvSpPr/>
          <p:nvPr>
            <p:custDataLst>
              <p:tags r:id="rId5"/>
            </p:custDataLst>
          </p:nvPr>
        </p:nvSpPr>
        <p:spPr>
          <a:xfrm>
            <a:off x="91440" y="631698"/>
            <a:ext cx="18288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9" name="Shape 3"/>
          <p:cNvSpPr/>
          <p:nvPr/>
        </p:nvSpPr>
        <p:spPr>
          <a:xfrm>
            <a:off x="5972810" y="3529330"/>
            <a:ext cx="5888990" cy="3089275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4" name="Shape 3"/>
          <p:cNvSpPr/>
          <p:nvPr>
            <p:custDataLst>
              <p:tags r:id="rId6"/>
            </p:custDataLst>
          </p:nvPr>
        </p:nvSpPr>
        <p:spPr>
          <a:xfrm>
            <a:off x="5974715" y="568960"/>
            <a:ext cx="5913120" cy="232537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3" name="Shape 0"/>
          <p:cNvSpPr/>
          <p:nvPr/>
        </p:nvSpPr>
        <p:spPr>
          <a:xfrm>
            <a:off x="0" y="0"/>
            <a:ext cx="12192635" cy="475615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209550" y="38100"/>
            <a:ext cx="3747770" cy="3841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algn="l">
              <a:buClrTx/>
              <a:buSzTx/>
              <a:buFontTx/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同行业绩分析仪表盘 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 |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Pip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eline &amp; Approval View</a:t>
            </a:r>
            <a:endParaRPr lang="en-US" sz="120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5" name="Shape 3"/>
          <p:cNvSpPr/>
          <p:nvPr>
            <p:custDataLst>
              <p:tags r:id="rId7"/>
            </p:custDataLst>
          </p:nvPr>
        </p:nvSpPr>
        <p:spPr>
          <a:xfrm>
            <a:off x="5974715" y="567055"/>
            <a:ext cx="5913120" cy="295275"/>
          </a:xfrm>
          <a:prstGeom prst="rect">
            <a:avLst/>
          </a:prstGeom>
          <a:solidFill>
            <a:srgbClr val="4A235A"/>
          </a:solidFill>
          <a:ln w="12700">
            <a:solidFill>
              <a:srgbClr val="4A235A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6" name="Text 4"/>
          <p:cNvSpPr/>
          <p:nvPr>
            <p:custDataLst>
              <p:tags r:id="rId8"/>
            </p:custDataLst>
          </p:nvPr>
        </p:nvSpPr>
        <p:spPr>
          <a:xfrm>
            <a:off x="6029325" y="592455"/>
            <a:ext cx="2948940" cy="2305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FFFFFF"/>
                </a:solidFill>
              </a:rPr>
              <a:t>U </a:t>
            </a:r>
            <a:r>
              <a:rPr lang="en-US" sz="850" b="1" dirty="0">
                <a:solidFill>
                  <a:schemeClr val="bg1"/>
                </a:solidFill>
                <a:sym typeface="+mn-ea"/>
              </a:rPr>
              <a:t>同行推荐人分析 </a:t>
            </a:r>
            <a:r>
              <a:rPr lang="en-US" sz="1100" b="1" dirty="0">
                <a:solidFill>
                  <a:schemeClr val="bg1"/>
                </a:solidFill>
                <a:sym typeface="+mn-ea"/>
              </a:rPr>
              <a:t> </a:t>
            </a:r>
            <a:endParaRPr lang="en-US" sz="1100" dirty="0"/>
          </a:p>
        </p:txBody>
      </p:sp>
      <p:graphicFrame>
        <p:nvGraphicFramePr>
          <p:cNvPr id="8" name="Chart 0"/>
          <p:cNvGraphicFramePr/>
          <p:nvPr>
            <p:custDataLst>
              <p:tags r:id="rId9"/>
            </p:custDataLst>
          </p:nvPr>
        </p:nvGraphicFramePr>
        <p:xfrm>
          <a:off x="5974715" y="895985"/>
          <a:ext cx="5842000" cy="196215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9" name="Shape 6"/>
          <p:cNvSpPr/>
          <p:nvPr>
            <p:custDataLst>
              <p:tags r:id="rId10"/>
            </p:custDataLst>
          </p:nvPr>
        </p:nvSpPr>
        <p:spPr>
          <a:xfrm>
            <a:off x="5930900" y="2950845"/>
            <a:ext cx="6035040" cy="425450"/>
          </a:xfrm>
          <a:prstGeom prst="rect">
            <a:avLst/>
          </a:prstGeom>
          <a:solidFill>
            <a:srgbClr val="EDE7F6"/>
          </a:solidFill>
          <a:ln w="12700">
            <a:solidFill>
              <a:srgbClr val="8E44AD"/>
            </a:solidFill>
            <a:prstDash val="solid"/>
          </a:ln>
          <a:effectLst>
            <a:outerShdw blurRad="381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0" name="Shape 7"/>
          <p:cNvSpPr/>
          <p:nvPr>
            <p:custDataLst>
              <p:tags r:id="rId11"/>
            </p:custDataLst>
          </p:nvPr>
        </p:nvSpPr>
        <p:spPr>
          <a:xfrm>
            <a:off x="5930900" y="2950845"/>
            <a:ext cx="54000" cy="420370"/>
          </a:xfrm>
          <a:prstGeom prst="rect">
            <a:avLst/>
          </a:prstGeom>
          <a:solidFill>
            <a:srgbClr val="4A235A"/>
          </a:solidFill>
          <a:ln w="12700">
            <a:solidFill>
              <a:srgbClr val="4A235A"/>
            </a:solidFill>
            <a:prstDash val="solid"/>
          </a:ln>
        </p:spPr>
        <p:txBody>
          <a:bodyPr/>
          <a:p/>
        </p:txBody>
      </p:sp>
      <p:sp>
        <p:nvSpPr>
          <p:cNvPr id="11" name="Text 8"/>
          <p:cNvSpPr/>
          <p:nvPr>
            <p:custDataLst>
              <p:tags r:id="rId12"/>
            </p:custDataLst>
          </p:nvPr>
        </p:nvSpPr>
        <p:spPr>
          <a:xfrm>
            <a:off x="6040755" y="2968625"/>
            <a:ext cx="5852160" cy="35687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4A235A"/>
                </a:solidFill>
              </a:rPr>
              <a:t>So What：  姜通 + 战略合作合计贡献批核 APE 74.5%，但模式迥异：姜通件均 APE≈36万 为「大单驱动型」；战略合作 119件 为「流量驱动型」。头部集中度高，需差异化管理策略。</a:t>
            </a:r>
            <a:endParaRPr lang="en-US" sz="850" dirty="0">
              <a:solidFill>
                <a:srgbClr val="374151"/>
              </a:solidFill>
            </a:endParaRPr>
          </a:p>
        </p:txBody>
      </p:sp>
      <p:sp>
        <p:nvSpPr>
          <p:cNvPr id="14" name="Shape 10"/>
          <p:cNvSpPr/>
          <p:nvPr>
            <p:custDataLst>
              <p:tags r:id="rId13"/>
            </p:custDataLst>
          </p:nvPr>
        </p:nvSpPr>
        <p:spPr>
          <a:xfrm>
            <a:off x="5948045" y="3496945"/>
            <a:ext cx="5914390" cy="291465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graphicFrame>
        <p:nvGraphicFramePr>
          <p:cNvPr id="17" name="Chart 1"/>
          <p:cNvGraphicFramePr/>
          <p:nvPr>
            <p:custDataLst>
              <p:tags r:id="rId14"/>
            </p:custDataLst>
          </p:nvPr>
        </p:nvGraphicFramePr>
        <p:xfrm>
          <a:off x="5948045" y="3825875"/>
          <a:ext cx="5904230" cy="279273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8" name="Shape 13"/>
          <p:cNvSpPr/>
          <p:nvPr>
            <p:custDataLst>
              <p:tags r:id="rId15"/>
            </p:custDataLst>
          </p:nvPr>
        </p:nvSpPr>
        <p:spPr>
          <a:xfrm>
            <a:off x="176530" y="6134100"/>
            <a:ext cx="5481320" cy="494030"/>
          </a:xfrm>
          <a:prstGeom prst="rect">
            <a:avLst/>
          </a:prstGeom>
          <a:solidFill>
            <a:srgbClr val="E8F5E9"/>
          </a:solidFill>
          <a:ln w="12700">
            <a:solidFill>
              <a:srgbClr val="00796B"/>
            </a:solidFill>
            <a:prstDash val="solid"/>
          </a:ln>
          <a:effectLst>
            <a:outerShdw blurRad="381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9" name="Shape 14"/>
          <p:cNvSpPr/>
          <p:nvPr>
            <p:custDataLst>
              <p:tags r:id="rId16"/>
            </p:custDataLst>
          </p:nvPr>
        </p:nvSpPr>
        <p:spPr>
          <a:xfrm>
            <a:off x="176530" y="6134354"/>
            <a:ext cx="54864" cy="493776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20" name="Text 15"/>
          <p:cNvSpPr/>
          <p:nvPr>
            <p:custDataLst>
              <p:tags r:id="rId17"/>
            </p:custDataLst>
          </p:nvPr>
        </p:nvSpPr>
        <p:spPr>
          <a:xfrm>
            <a:off x="286258" y="6152642"/>
            <a:ext cx="52578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6A085"/>
                </a:solidFill>
              </a:rPr>
              <a:t>So What：  Mark批核率 100%（批核 13.3M，未批核 0.0M），件质量最高。姜通未批核量最大（37.3M），批核率 76%，需优先排查件质量问题。头部推荐人质量差异显著，需差异化对接策略。</a:t>
            </a:r>
            <a:endParaRPr lang="en-US" sz="850" dirty="0"/>
          </a:p>
        </p:txBody>
      </p:sp>
      <p:sp>
        <p:nvSpPr>
          <p:cNvPr id="22" name="Text 2"/>
          <p:cNvSpPr/>
          <p:nvPr/>
        </p:nvSpPr>
        <p:spPr>
          <a:xfrm>
            <a:off x="10515600" y="109728"/>
            <a:ext cx="15087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内部文件 · 仅供使用</a:t>
            </a:r>
            <a:endParaRPr lang="en-US" sz="900" dirty="0"/>
          </a:p>
        </p:txBody>
      </p:sp>
      <p:sp>
        <p:nvSpPr>
          <p:cNvPr id="24" name="Text 4"/>
          <p:cNvSpPr/>
          <p:nvPr>
            <p:custDataLst>
              <p:tags r:id="rId18"/>
            </p:custDataLst>
          </p:nvPr>
        </p:nvSpPr>
        <p:spPr>
          <a:xfrm>
            <a:off x="6002655" y="3511550"/>
            <a:ext cx="2948940" cy="2305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FFFFFF"/>
                </a:solidFill>
              </a:rPr>
              <a:t>V  </a:t>
            </a:r>
            <a:r>
              <a:rPr lang="en-US" sz="850" b="1" dirty="0">
                <a:solidFill>
                  <a:schemeClr val="bg1"/>
                </a:solidFill>
                <a:sym typeface="+mn-ea"/>
              </a:rPr>
              <a:t>同行 TOP 10 KEY ACCOUNT分析</a:t>
            </a:r>
            <a:r>
              <a:rPr lang="en-US" sz="850" b="1" dirty="0">
                <a:solidFill>
                  <a:srgbClr val="1B2A4A"/>
                </a:solidFill>
                <a:sym typeface="+mn-ea"/>
              </a:rPr>
              <a:t>  </a:t>
            </a:r>
            <a:r>
              <a:rPr lang="en-US" sz="850" b="1" dirty="0">
                <a:solidFill>
                  <a:schemeClr val="bg1"/>
                </a:solidFill>
                <a:sym typeface="+mn-ea"/>
              </a:rPr>
              <a:t> </a:t>
            </a:r>
            <a:r>
              <a:rPr lang="en-US" sz="1100" b="1" dirty="0">
                <a:solidFill>
                  <a:schemeClr val="bg1"/>
                </a:solidFill>
                <a:sym typeface="+mn-ea"/>
              </a:rPr>
              <a:t> </a:t>
            </a:r>
            <a:endParaRPr lang="en-US" sz="1100" dirty="0"/>
          </a:p>
        </p:txBody>
      </p:sp>
      <p:sp>
        <p:nvSpPr>
          <p:cNvPr id="7" name="Text 6"/>
          <p:cNvSpPr/>
          <p:nvPr>
            <p:custDataLst>
              <p:tags r:id="rId19"/>
            </p:custDataLst>
          </p:nvPr>
        </p:nvSpPr>
        <p:spPr>
          <a:xfrm>
            <a:off x="174625" y="731520"/>
            <a:ext cx="1710055" cy="132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85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同行</a:t>
            </a:r>
            <a:r>
              <a:rPr lang="en-US" altLang="zh-CN" sz="85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2026</a:t>
            </a:r>
            <a:r>
              <a:rPr lang="en-US" sz="8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批核APE</a:t>
            </a:r>
            <a:endParaRPr lang="en-US" sz="850" dirty="0"/>
          </a:p>
        </p:txBody>
      </p:sp>
      <p:sp>
        <p:nvSpPr>
          <p:cNvPr id="12" name="Text 7"/>
          <p:cNvSpPr/>
          <p:nvPr>
            <p:custDataLst>
              <p:tags r:id="rId20"/>
            </p:custDataLst>
          </p:nvPr>
        </p:nvSpPr>
        <p:spPr>
          <a:xfrm>
            <a:off x="174625" y="857885"/>
            <a:ext cx="1710055" cy="2787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136.8M</a:t>
            </a:r>
            <a:endParaRPr lang="en-US" sz="2400" b="1" dirty="0">
              <a:solidFill>
                <a:srgbClr val="1F3864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3" name="Text 8"/>
          <p:cNvSpPr/>
          <p:nvPr>
            <p:custDataLst>
              <p:tags r:id="rId21"/>
            </p:custDataLst>
          </p:nvPr>
        </p:nvSpPr>
        <p:spPr>
          <a:xfrm>
            <a:off x="174625" y="1195070"/>
            <a:ext cx="1710055" cy="1168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296件  |  件均46.2万</a:t>
            </a:r>
            <a:endParaRPr lang="en-US" sz="750" dirty="0"/>
          </a:p>
        </p:txBody>
      </p:sp>
      <p:sp>
        <p:nvSpPr>
          <p:cNvPr id="16" name="Shape 10"/>
          <p:cNvSpPr/>
          <p:nvPr>
            <p:custDataLst>
              <p:tags r:id="rId22"/>
            </p:custDataLst>
          </p:nvPr>
        </p:nvSpPr>
        <p:spPr>
          <a:xfrm>
            <a:off x="109855" y="605155"/>
            <a:ext cx="1782445" cy="7620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25" name="Text 6"/>
          <p:cNvSpPr/>
          <p:nvPr>
            <p:custDataLst>
              <p:tags r:id="rId23"/>
            </p:custDataLst>
          </p:nvPr>
        </p:nvSpPr>
        <p:spPr>
          <a:xfrm>
            <a:off x="2079625" y="725170"/>
            <a:ext cx="1710055" cy="132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85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同行未</a:t>
            </a:r>
            <a:r>
              <a:rPr lang="en-US" sz="8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批核APE</a:t>
            </a:r>
            <a:endParaRPr lang="en-US" sz="850" dirty="0"/>
          </a:p>
        </p:txBody>
      </p:sp>
      <p:sp>
        <p:nvSpPr>
          <p:cNvPr id="26" name="Text 7"/>
          <p:cNvSpPr/>
          <p:nvPr>
            <p:custDataLst>
              <p:tags r:id="rId24"/>
            </p:custDataLst>
          </p:nvPr>
        </p:nvSpPr>
        <p:spPr>
          <a:xfrm>
            <a:off x="2079625" y="851535"/>
            <a:ext cx="1710055" cy="2787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64.4M</a:t>
            </a:r>
            <a:endParaRPr lang="en-US" sz="2400" b="1" dirty="0">
              <a:solidFill>
                <a:srgbClr val="1F3864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27" name="Text 8"/>
          <p:cNvSpPr/>
          <p:nvPr>
            <p:custDataLst>
              <p:tags r:id="rId25"/>
            </p:custDataLst>
          </p:nvPr>
        </p:nvSpPr>
        <p:spPr>
          <a:xfrm>
            <a:off x="2079625" y="1188720"/>
            <a:ext cx="1710055" cy="1168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750">
                <a:solidFill>
                  <a:srgbClr val="374151"/>
                </a:solidFill>
                <a:latin typeface="Calibri"/>
              </a:rPr>
              <a:t>159件  |  件均37.0万</a:t>
            </a:r>
            <a:endParaRPr lang="zh-CN" altLang="en-US" sz="7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28" name="Shape 10"/>
          <p:cNvSpPr/>
          <p:nvPr>
            <p:custDataLst>
              <p:tags r:id="rId26"/>
            </p:custDataLst>
          </p:nvPr>
        </p:nvSpPr>
        <p:spPr>
          <a:xfrm>
            <a:off x="2005330" y="598805"/>
            <a:ext cx="1782445" cy="76200"/>
          </a:xfrm>
          <a:prstGeom prst="rect">
            <a:avLst/>
          </a:prstGeom>
          <a:solidFill>
            <a:srgbClr val="4A235A"/>
          </a:solidFill>
          <a:ln w="12700">
            <a:solidFill>
              <a:srgbClr val="7030A0"/>
            </a:solidFill>
            <a:prstDash val="solid"/>
          </a:ln>
        </p:spPr>
        <p:txBody>
          <a:bodyPr/>
          <a:p/>
        </p:txBody>
      </p:sp>
      <p:sp>
        <p:nvSpPr>
          <p:cNvPr id="30" name="Text 6"/>
          <p:cNvSpPr/>
          <p:nvPr>
            <p:custDataLst>
              <p:tags r:id="rId27"/>
            </p:custDataLst>
          </p:nvPr>
        </p:nvSpPr>
        <p:spPr>
          <a:xfrm>
            <a:off x="3975735" y="718820"/>
            <a:ext cx="1710055" cy="132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85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同行待签</a:t>
            </a:r>
            <a:r>
              <a:rPr lang="en-US" sz="8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APE</a:t>
            </a:r>
            <a:endParaRPr lang="en-US" sz="850" dirty="0"/>
          </a:p>
        </p:txBody>
      </p:sp>
      <p:sp>
        <p:nvSpPr>
          <p:cNvPr id="31" name="Text 7"/>
          <p:cNvSpPr/>
          <p:nvPr>
            <p:custDataLst>
              <p:tags r:id="rId28"/>
            </p:custDataLst>
          </p:nvPr>
        </p:nvSpPr>
        <p:spPr>
          <a:xfrm>
            <a:off x="3975735" y="845185"/>
            <a:ext cx="1710055" cy="2787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1.5M</a:t>
            </a:r>
            <a:endParaRPr lang="en-US" sz="2400" b="1" dirty="0">
              <a:solidFill>
                <a:srgbClr val="1F3864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2" name="Text 8"/>
          <p:cNvSpPr/>
          <p:nvPr>
            <p:custDataLst>
              <p:tags r:id="rId29"/>
            </p:custDataLst>
          </p:nvPr>
        </p:nvSpPr>
        <p:spPr>
          <a:xfrm>
            <a:off x="3975735" y="1182370"/>
            <a:ext cx="1710055" cy="1168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750">
                <a:solidFill>
                  <a:srgbClr val="374151"/>
                </a:solidFill>
                <a:latin typeface="Calibri"/>
              </a:rPr>
              <a:t>38件  |  件均41.2万</a:t>
            </a:r>
            <a:endParaRPr lang="zh-CN" altLang="en-US" sz="7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33" name="Shape 10"/>
          <p:cNvSpPr/>
          <p:nvPr>
            <p:custDataLst>
              <p:tags r:id="rId30"/>
            </p:custDataLst>
          </p:nvPr>
        </p:nvSpPr>
        <p:spPr>
          <a:xfrm>
            <a:off x="3901440" y="592455"/>
            <a:ext cx="1782445" cy="76200"/>
          </a:xfrm>
          <a:prstGeom prst="rect">
            <a:avLst/>
          </a:prstGeom>
          <a:solidFill>
            <a:srgbClr val="00796B"/>
          </a:solidFill>
          <a:ln w="12700">
            <a:solidFill>
              <a:schemeClr val="accent6">
                <a:lumMod val="50000"/>
              </a:schemeClr>
            </a:solidFill>
            <a:prstDash val="solid"/>
          </a:ln>
        </p:spPr>
        <p:txBody>
          <a:bodyPr/>
          <a:p/>
        </p:txBody>
      </p:sp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131445" y="1496822"/>
          <a:ext cx="5526405" cy="470852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6280"/>
                <a:gridCol w="611505"/>
                <a:gridCol w="545465"/>
                <a:gridCol w="702310"/>
                <a:gridCol w="613925"/>
                <a:gridCol w="638810"/>
                <a:gridCol w="529865"/>
                <a:gridCol w="631190"/>
                <a:gridCol w="536965"/>
              </a:tblGrid>
              <a:tr h="1919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2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KEY ACCOUNT</a:t>
                      </a:r>
                      <a:endParaRPr lang="zh-CN" sz="72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2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批核APE(M)</a:t>
                      </a:r>
                      <a:endParaRPr lang="zh-CN" sz="72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2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批核件数</a:t>
                      </a:r>
                      <a:endParaRPr lang="zh-CN" sz="72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2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未批核APE(M)</a:t>
                      </a:r>
                      <a:endParaRPr lang="zh-CN" sz="72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2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未批核件数</a:t>
                      </a:r>
                      <a:endParaRPr lang="zh-CN" sz="72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2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待签APE(M)</a:t>
                      </a:r>
                      <a:endParaRPr lang="zh-CN" sz="72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2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待签件数</a:t>
                      </a:r>
                      <a:endParaRPr lang="zh-CN" sz="72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2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合计APE(M)</a:t>
                      </a:r>
                      <a:endParaRPr lang="zh-CN" sz="72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2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合计件数</a:t>
                      </a:r>
                      <a:endParaRPr lang="zh-CN" sz="72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天誉国际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42.70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91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8.93</a:t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21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1.74</a:t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7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53.37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119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唯思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39.39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119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C0392B"/>
                          </a:solidFill>
                          <a:latin typeface="Calibri"/>
                        </a:rPr>
                        <a:t>5.77</a:t>
                      </a:r>
                      <a:endParaRPr lang="zh-CN" sz="760" dirty="0">
                        <a:solidFill>
                          <a:srgbClr val="C0392B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14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1.87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4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47.03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137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紫荆保险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34.91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99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C0392B"/>
                          </a:solidFill>
                          <a:latin typeface="Calibri"/>
                        </a:rPr>
                        <a:t>4.54</a:t>
                      </a:r>
                      <a:endParaRPr lang="zh-CN" sz="760" dirty="0">
                        <a:solidFill>
                          <a:srgbClr val="C0392B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0.96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2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40.40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112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利泰丰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27.82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9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C0392B"/>
                          </a:solidFill>
                          <a:latin typeface="Calibri"/>
                        </a:rPr>
                        <a:t>1.01</a:t>
                      </a:r>
                      <a:endParaRPr lang="zh-CN" sz="760" dirty="0">
                        <a:solidFill>
                          <a:srgbClr val="C0392B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4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28.83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堡盛国际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27.18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71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2.38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8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0.28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29.84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80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万森保险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25.92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79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3.02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5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28.94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84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天誉国际(MGA)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19.38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80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C0392B"/>
                          </a:solidFill>
                          <a:latin typeface="Calibri"/>
                        </a:rPr>
                        <a:t>23.97</a:t>
                      </a:r>
                      <a:endParaRPr lang="zh-CN" sz="760" dirty="0">
                        <a:solidFill>
                          <a:srgbClr val="C0392B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65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9.24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21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52.58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166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企鹅保险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18.86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68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C0392B"/>
                          </a:solidFill>
                          <a:latin typeface="Calibri"/>
                        </a:rPr>
                        <a:t>0.78</a:t>
                      </a:r>
                      <a:endParaRPr lang="zh-CN" sz="760" dirty="0">
                        <a:solidFill>
                          <a:srgbClr val="C0392B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0.78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2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20.42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73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宏鑫资产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12.48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12.48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万城保险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8.35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12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1.27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5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9.62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17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中天家办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8.16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20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4.25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12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0.78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13.19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33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臻略财富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4.27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14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2.04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5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6.31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19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德方集团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2.34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6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2.34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6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晋誉财富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1.88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6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1.88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6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卓樾会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1.65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1.65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龙腾财富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1.45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4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0.16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2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1.60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6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富仕德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1.15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0.22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1.37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6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太富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0.80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0.80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动力势能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0.57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0.57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巨蚁环球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0.39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0.39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共享经纪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94A3B8"/>
                          </a:solidFill>
                          <a:latin typeface="Calibri"/>
                        </a:rPr>
                        <a:t>0.28</a:t>
                      </a:r>
                      <a:endParaRPr lang="zh-CN" sz="760" dirty="0">
                        <a:solidFill>
                          <a:srgbClr val="94A3B8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C0392B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C0392B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0.28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钜诚保险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94A3B8"/>
                          </a:solidFill>
                          <a:latin typeface="Calibri"/>
                        </a:rPr>
                        <a:t>0.18</a:t>
                      </a:r>
                      <a:endParaRPr lang="zh-CN" sz="760" dirty="0">
                        <a:solidFill>
                          <a:srgbClr val="94A3B8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2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0.18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2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裕承资产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0.16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0.57</a:t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0.73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2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众安国际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0.12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0.12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时代保险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0.08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0.08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香港宜达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0.04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0.04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/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/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/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/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/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/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/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/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/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919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80" b="1">
                          <a:solidFill>
                            <a:srgbClr val="FFFFFF"/>
                          </a:solidFill>
                          <a:latin typeface="Calibri"/>
                        </a:rPr>
                        <a:t>合计</a:t>
                      </a:r>
                      <a:endParaRPr lang="zh-CN" sz="78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80" b="1">
                          <a:solidFill>
                            <a:srgbClr val="FFFFFF"/>
                          </a:solidFill>
                          <a:latin typeface="Calibri"/>
                        </a:rPr>
                        <a:t>280.49</a:t>
                      </a:r>
                      <a:endParaRPr lang="zh-CN" sz="78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FFFFFF"/>
                          </a:solidFill>
                          <a:latin typeface="Calibri"/>
                        </a:rPr>
                        <a:t>699</a:t>
                      </a:r>
                      <a:endParaRPr lang="zh-CN" sz="76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80" b="1">
                          <a:solidFill>
                            <a:srgbClr val="FFFFFF"/>
                          </a:solidFill>
                          <a:latin typeface="Calibri"/>
                        </a:rPr>
                        <a:t>58.89</a:t>
                      </a:r>
                      <a:endParaRPr lang="zh-CN" sz="78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FFFFFF"/>
                          </a:solidFill>
                          <a:latin typeface="Calibri"/>
                        </a:rPr>
                        <a:t>159</a:t>
                      </a:r>
                      <a:endParaRPr lang="zh-CN" sz="76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80" b="1">
                          <a:solidFill>
                            <a:srgbClr val="FFFFFF"/>
                          </a:solidFill>
                          <a:latin typeface="Calibri"/>
                        </a:rPr>
                        <a:t>15.66</a:t>
                      </a:r>
                      <a:endParaRPr lang="zh-CN" sz="78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FFFFFF"/>
                          </a:solidFill>
                          <a:latin typeface="Calibri"/>
                        </a:rPr>
                        <a:t>38</a:t>
                      </a:r>
                      <a:endParaRPr lang="zh-CN" sz="76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80" b="1">
                          <a:solidFill>
                            <a:srgbClr val="FFFFFF"/>
                          </a:solidFill>
                          <a:latin typeface="Calibri"/>
                        </a:rPr>
                        <a:t>355.03</a:t>
                      </a:r>
                      <a:endParaRPr lang="zh-CN" sz="78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FFFFFF"/>
                          </a:solidFill>
                          <a:latin typeface="Calibri"/>
                        </a:rPr>
                        <a:t>896</a:t>
                      </a:r>
                      <a:endParaRPr lang="zh-CN" sz="76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Shape 3"/>
          <p:cNvSpPr/>
          <p:nvPr/>
        </p:nvSpPr>
        <p:spPr>
          <a:xfrm>
            <a:off x="265430" y="1485900"/>
            <a:ext cx="11710670" cy="1875155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3" name="Shape 0"/>
          <p:cNvSpPr/>
          <p:nvPr/>
        </p:nvSpPr>
        <p:spPr>
          <a:xfrm>
            <a:off x="0" y="0"/>
            <a:ext cx="12161520" cy="47548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209550" y="38100"/>
            <a:ext cx="3747770" cy="3841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algn="l">
              <a:buClrTx/>
              <a:buSzTx/>
              <a:buFontTx/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同行业绩分析仪表盘 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 |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Pip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eline &amp; Approval View</a:t>
            </a:r>
            <a:endParaRPr lang="en-US" sz="120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22" name="Text 2"/>
          <p:cNvSpPr/>
          <p:nvPr/>
        </p:nvSpPr>
        <p:spPr>
          <a:xfrm>
            <a:off x="10515600" y="109728"/>
            <a:ext cx="15087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内部文件 · 仅供使用</a:t>
            </a:r>
            <a:endParaRPr lang="en-US" sz="900" dirty="0"/>
          </a:p>
        </p:txBody>
      </p:sp>
      <p:sp>
        <p:nvSpPr>
          <p:cNvPr id="48" name="Shape 42"/>
          <p:cNvSpPr/>
          <p:nvPr>
            <p:custDataLst>
              <p:tags r:id="rId2"/>
            </p:custDataLst>
          </p:nvPr>
        </p:nvSpPr>
        <p:spPr>
          <a:xfrm>
            <a:off x="6404610" y="556260"/>
            <a:ext cx="1800860" cy="85217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49" name="Shape 43"/>
          <p:cNvSpPr/>
          <p:nvPr>
            <p:custDataLst>
              <p:tags r:id="rId3"/>
            </p:custDataLst>
          </p:nvPr>
        </p:nvSpPr>
        <p:spPr>
          <a:xfrm flipH="1">
            <a:off x="6388100" y="556260"/>
            <a:ext cx="54000" cy="842400"/>
          </a:xfrm>
          <a:prstGeom prst="rect">
            <a:avLst/>
          </a:prstGeom>
          <a:solidFill>
            <a:srgbClr val="1B4F72"/>
          </a:solidFill>
          <a:ln w="12700">
            <a:solidFill>
              <a:srgbClr val="1B4F72"/>
            </a:solidFill>
            <a:prstDash val="solid"/>
          </a:ln>
        </p:spPr>
        <p:txBody>
          <a:bodyPr/>
          <a:p/>
        </p:txBody>
      </p:sp>
      <p:sp>
        <p:nvSpPr>
          <p:cNvPr id="50" name="Text 44"/>
          <p:cNvSpPr/>
          <p:nvPr>
            <p:custDataLst>
              <p:tags r:id="rId4"/>
            </p:custDataLst>
          </p:nvPr>
        </p:nvSpPr>
        <p:spPr>
          <a:xfrm>
            <a:off x="6514338" y="611124"/>
            <a:ext cx="1088136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同行W28预约</a:t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/>
            </a:r>
            <a:endParaRPr lang="en-US" sz="800" dirty="0"/>
          </a:p>
        </p:txBody>
      </p:sp>
      <p:sp>
        <p:nvSpPr>
          <p:cNvPr id="51" name="Text 45"/>
          <p:cNvSpPr/>
          <p:nvPr>
            <p:custDataLst>
              <p:tags r:id="rId5"/>
            </p:custDataLst>
          </p:nvPr>
        </p:nvSpPr>
        <p:spPr>
          <a:xfrm>
            <a:off x="6514338" y="784860"/>
            <a:ext cx="1088136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B4F7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8.19M</a:t>
            </a:r>
            <a:endParaRPr lang="en-US" sz="1800" dirty="0"/>
          </a:p>
        </p:txBody>
      </p:sp>
      <p:sp>
        <p:nvSpPr>
          <p:cNvPr id="52" name="Text 46"/>
          <p:cNvSpPr/>
          <p:nvPr>
            <p:custDataLst>
              <p:tags r:id="rId6"/>
            </p:custDataLst>
          </p:nvPr>
        </p:nvSpPr>
        <p:spPr>
          <a:xfrm>
            <a:off x="6514338" y="1095756"/>
            <a:ext cx="1088136" cy="16459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21件| 件均39.0W</a:t>
            </a: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/>
            </a:r>
            <a:endParaRPr lang="en-US" sz="750" dirty="0"/>
          </a:p>
        </p:txBody>
      </p:sp>
      <p:sp>
        <p:nvSpPr>
          <p:cNvPr id="53" name="Shape 47"/>
          <p:cNvSpPr/>
          <p:nvPr>
            <p:custDataLst>
              <p:tags r:id="rId7"/>
            </p:custDataLst>
          </p:nvPr>
        </p:nvSpPr>
        <p:spPr>
          <a:xfrm>
            <a:off x="8282305" y="556260"/>
            <a:ext cx="1757045" cy="852805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54" name="Shape 48"/>
          <p:cNvSpPr/>
          <p:nvPr>
            <p:custDataLst>
              <p:tags r:id="rId8"/>
            </p:custDataLst>
          </p:nvPr>
        </p:nvSpPr>
        <p:spPr>
          <a:xfrm>
            <a:off x="8282178" y="556260"/>
            <a:ext cx="54864" cy="842400"/>
          </a:xfrm>
          <a:prstGeom prst="rect">
            <a:avLst/>
          </a:prstGeom>
          <a:solidFill>
            <a:srgbClr val="117A65"/>
          </a:solidFill>
          <a:ln w="12700">
            <a:solidFill>
              <a:srgbClr val="117A65"/>
            </a:solidFill>
            <a:prstDash val="solid"/>
          </a:ln>
        </p:spPr>
        <p:txBody>
          <a:bodyPr/>
          <a:p/>
        </p:txBody>
      </p:sp>
      <p:sp>
        <p:nvSpPr>
          <p:cNvPr id="55" name="Text 49"/>
          <p:cNvSpPr/>
          <p:nvPr>
            <p:custDataLst>
              <p:tags r:id="rId9"/>
            </p:custDataLst>
          </p:nvPr>
        </p:nvSpPr>
        <p:spPr>
          <a:xfrm>
            <a:off x="8391906" y="611124"/>
            <a:ext cx="1088136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同行W28签单</a:t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/>
            </a:r>
            <a:endParaRPr lang="en-US" sz="800" dirty="0"/>
          </a:p>
        </p:txBody>
      </p:sp>
      <p:sp>
        <p:nvSpPr>
          <p:cNvPr id="56" name="Text 50"/>
          <p:cNvSpPr/>
          <p:nvPr>
            <p:custDataLst>
              <p:tags r:id="rId10"/>
            </p:custDataLst>
          </p:nvPr>
        </p:nvSpPr>
        <p:spPr>
          <a:xfrm>
            <a:off x="8391906" y="784860"/>
            <a:ext cx="1088136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17A6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5.54M</a:t>
            </a:r>
            <a:endParaRPr lang="en-US" sz="1800" dirty="0"/>
          </a:p>
        </p:txBody>
      </p:sp>
      <p:sp>
        <p:nvSpPr>
          <p:cNvPr id="57" name="Text 51"/>
          <p:cNvSpPr/>
          <p:nvPr>
            <p:custDataLst>
              <p:tags r:id="rId11"/>
            </p:custDataLst>
          </p:nvPr>
        </p:nvSpPr>
        <p:spPr>
          <a:xfrm>
            <a:off x="8391906" y="1095756"/>
            <a:ext cx="1088136" cy="16459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16件| 件均34.6W</a:t>
            </a: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/>
            </a:r>
            <a:endParaRPr lang="en-US" sz="750" dirty="0"/>
          </a:p>
        </p:txBody>
      </p:sp>
      <p:sp>
        <p:nvSpPr>
          <p:cNvPr id="58" name="Shape 52"/>
          <p:cNvSpPr/>
          <p:nvPr>
            <p:custDataLst>
              <p:tags r:id="rId12"/>
            </p:custDataLst>
          </p:nvPr>
        </p:nvSpPr>
        <p:spPr>
          <a:xfrm>
            <a:off x="10139680" y="556260"/>
            <a:ext cx="1901190" cy="84201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59" name="Shape 53"/>
          <p:cNvSpPr/>
          <p:nvPr>
            <p:custDataLst>
              <p:tags r:id="rId13"/>
            </p:custDataLst>
          </p:nvPr>
        </p:nvSpPr>
        <p:spPr>
          <a:xfrm>
            <a:off x="10139426" y="556260"/>
            <a:ext cx="54864" cy="804672"/>
          </a:xfrm>
          <a:prstGeom prst="rect">
            <a:avLst/>
          </a:prstGeom>
          <a:solidFill>
            <a:srgbClr val="6C3483"/>
          </a:solidFill>
          <a:ln w="12700">
            <a:solidFill>
              <a:srgbClr val="00796B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60" name="Text 54"/>
          <p:cNvSpPr/>
          <p:nvPr>
            <p:custDataLst>
              <p:tags r:id="rId14"/>
            </p:custDataLst>
          </p:nvPr>
        </p:nvSpPr>
        <p:spPr>
          <a:xfrm>
            <a:off x="10249154" y="611124"/>
            <a:ext cx="1088136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同行W28批核</a:t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/>
            </a:r>
            <a:endParaRPr lang="en-US" sz="800" dirty="0"/>
          </a:p>
        </p:txBody>
      </p:sp>
      <p:sp>
        <p:nvSpPr>
          <p:cNvPr id="61" name="Text 55"/>
          <p:cNvSpPr/>
          <p:nvPr>
            <p:custDataLst>
              <p:tags r:id="rId15"/>
            </p:custDataLst>
          </p:nvPr>
        </p:nvSpPr>
        <p:spPr>
          <a:xfrm>
            <a:off x="10249154" y="784860"/>
            <a:ext cx="1088136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6C348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5.72M</a:t>
            </a:r>
            <a:endParaRPr lang="en-US" sz="1800" b="1" dirty="0">
              <a:solidFill>
                <a:srgbClr val="6C3483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62" name="Text 56"/>
          <p:cNvSpPr/>
          <p:nvPr>
            <p:custDataLst>
              <p:tags r:id="rId16"/>
            </p:custDataLst>
          </p:nvPr>
        </p:nvSpPr>
        <p:spPr>
          <a:xfrm>
            <a:off x="10249154" y="1095756"/>
            <a:ext cx="1088136" cy="16459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18件| 件均31.8W</a:t>
            </a: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/>
            </a:r>
            <a:endParaRPr lang="en-US" sz="750" dirty="0"/>
          </a:p>
        </p:txBody>
      </p:sp>
      <p:sp>
        <p:nvSpPr>
          <p:cNvPr id="45" name="Shape 40"/>
          <p:cNvSpPr/>
          <p:nvPr/>
        </p:nvSpPr>
        <p:spPr>
          <a:xfrm>
            <a:off x="7939405" y="3824605"/>
            <a:ext cx="4015740" cy="255905"/>
          </a:xfrm>
          <a:prstGeom prst="rect">
            <a:avLst/>
          </a:prstGeom>
          <a:solidFill>
            <a:srgbClr val="1B4F72"/>
          </a:solidFill>
          <a:ln w="12700">
            <a:solidFill>
              <a:srgbClr val="6C3483"/>
            </a:solidFill>
            <a:prstDash val="solid"/>
          </a:ln>
        </p:spPr>
        <p:txBody>
          <a:bodyPr/>
          <a:p/>
        </p:txBody>
      </p:sp>
      <p:sp>
        <p:nvSpPr>
          <p:cNvPr id="46" name="Text 41"/>
          <p:cNvSpPr/>
          <p:nvPr/>
        </p:nvSpPr>
        <p:spPr>
          <a:xfrm>
            <a:off x="7972425" y="3824605"/>
            <a:ext cx="2117090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Y  W28 本周快报  |  同行</a:t>
            </a:r>
            <a:endParaRPr lang="en-US" sz="950" dirty="0"/>
          </a:p>
        </p:txBody>
      </p:sp>
      <p:graphicFrame>
        <p:nvGraphicFramePr>
          <p:cNvPr id="47" name="Table 2"/>
          <p:cNvGraphicFramePr>
            <a:graphicFrameLocks noGrp="1"/>
          </p:cNvGraphicFramePr>
          <p:nvPr/>
        </p:nvGraphicFramePr>
        <p:xfrm>
          <a:off x="7927340" y="4099052"/>
          <a:ext cx="4034790" cy="2685415"/>
        </p:xfrm>
        <a:graphic>
          <a:graphicData uri="http://schemas.openxmlformats.org/drawingml/2006/table">
            <a:tbl>
              <a:tblPr/>
              <a:tblGrid>
                <a:gridCol w="1093470"/>
                <a:gridCol w="995045"/>
                <a:gridCol w="1051560"/>
                <a:gridCol w="894715"/>
              </a:tblGrid>
              <a:tr h="23774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KEY ACCOUNT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预约(M)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签单(M)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批核(M)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</a:tr>
              <a:tr h="169545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850" b="1">
                          <a:solidFill>
                            <a:srgbClr val="1A1A2E"/>
                          </a:solidFill>
                        </a:rPr>
                        <a:t>中天家办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B4F72"/>
                          </a:solidFill>
                        </a:rPr>
                        <a:t>2.46M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17A65"/>
                          </a:solidFill>
                        </a:rPr>
                        <a:t>2.40M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64748B"/>
                          </a:solidFill>
                        </a:rPr>
                        <a:t>0.94M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08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850" b="1">
                          <a:solidFill>
                            <a:srgbClr val="1A1A2E"/>
                          </a:solidFill>
                        </a:rPr>
                        <a:t>天誉国际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B4F72"/>
                          </a:solidFill>
                        </a:rPr>
                        <a:t>1.54M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17A65"/>
                          </a:solidFill>
                        </a:rPr>
                        <a:t>0.82M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64748B"/>
                          </a:solidFill>
                        </a:rPr>
                        <a:t>1.44M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5575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850" b="1">
                          <a:solidFill>
                            <a:srgbClr val="1A1A2E"/>
                          </a:solidFill>
                        </a:rPr>
                        <a:t>唯思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B4F72"/>
                          </a:solidFill>
                        </a:rPr>
                        <a:t>1.90M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17A65"/>
                          </a:solidFill>
                        </a:rPr>
                        <a:t>0.70M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64748B"/>
                          </a:solidFill>
                        </a:rPr>
                        <a:t>0.16M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850" b="1">
                          <a:solidFill>
                            <a:srgbClr val="1A1A2E"/>
                          </a:solidFill>
                        </a:rPr>
                        <a:t>臻略财富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B4F72"/>
                          </a:solidFill>
                        </a:rPr>
                        <a:t>0.32M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17A65"/>
                          </a:solidFill>
                        </a:rPr>
                        <a:t>0.48M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00796B"/>
                          </a:solidFill>
                        </a:rPr>
                        <a:t>1.03M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850" b="1">
                          <a:solidFill>
                            <a:srgbClr val="1A1A2E"/>
                          </a:solidFill>
                        </a:rPr>
                        <a:t>堡盛国际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B4F72"/>
                          </a:solidFill>
                        </a:rPr>
                        <a:t>0.00M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17A65"/>
                          </a:solidFill>
                        </a:rPr>
                        <a:t>0.00M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64748B"/>
                          </a:solidFill>
                        </a:rPr>
                        <a:t>1.31M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850" b="1">
                          <a:solidFill>
                            <a:srgbClr val="1A1A2E"/>
                          </a:solidFill>
                        </a:rPr>
                        <a:t>企鹅保险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B4F72"/>
                          </a:solidFill>
                        </a:rPr>
                        <a:t>0.78M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17A65"/>
                          </a:solidFill>
                        </a:rPr>
                        <a:t>0.23M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64748B"/>
                          </a:solidFill>
                        </a:rPr>
                        <a:t>0.29M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850" b="1">
                          <a:solidFill>
                            <a:srgbClr val="1A1A2E"/>
                          </a:solidFill>
                        </a:rPr>
                        <a:t>紫荆保险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B4F72"/>
                          </a:solidFill>
                        </a:rPr>
                        <a:t>0.96M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17A65"/>
                          </a:solidFill>
                        </a:rPr>
                        <a:t>0.12M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64748B"/>
                          </a:solidFill>
                        </a:rPr>
                        <a:t>0.00M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850" b="1">
                          <a:solidFill>
                            <a:srgbClr val="1A1A2E"/>
                          </a:solidFill>
                        </a:rPr>
                        <a:t>裕承资产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B4F72"/>
                          </a:solidFill>
                        </a:rPr>
                        <a:t>0.00M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17A65"/>
                          </a:solidFill>
                        </a:rPr>
                        <a:t>0.57M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64748B"/>
                          </a:solidFill>
                        </a:rPr>
                        <a:t>0.00M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p>
                      <a:pPr marL="0" algn="l">
                        <a:buClrTx/>
                        <a:buSzTx/>
                        <a:buFontTx/>
                        <a:buNone/>
                      </a:pPr>
                      <a:r>
                        <a:rPr sz="850" b="1">
                          <a:solidFill>
                            <a:srgbClr val="1A1A2E"/>
                          </a:solidFill>
                        </a:rPr>
                        <a:t>万森保险</a:t>
                      </a:r>
                      <a:endParaRPr lang="zh-CN" altLang="en-US" sz="850" b="1" dirty="0">
                        <a:solidFill>
                          <a:srgbClr val="1A1A2E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B4F72"/>
                          </a:solidFill>
                        </a:rPr>
                        <a:t>0.00M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17A65"/>
                          </a:solidFill>
                        </a:rPr>
                        <a:t>0.00M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64748B"/>
                          </a:solidFill>
                        </a:rPr>
                        <a:t>0.55M</a:t>
                      </a:r>
                      <a:endParaRPr lang="en-US" alt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p>
                      <a:pPr marL="0" algn="l">
                        <a:buClrTx/>
                        <a:buSzTx/>
                        <a:buFontTx/>
                        <a:buNone/>
                      </a:pPr>
                      <a:r>
                        <a:rPr sz="850" b="1">
                          <a:solidFill>
                            <a:srgbClr val="1A1A2E"/>
                          </a:solidFill>
                        </a:rPr>
                        <a:t>万城保险</a:t>
                      </a:r>
                      <a:endParaRPr lang="en-US" sz="850" b="1" dirty="0">
                        <a:solidFill>
                          <a:srgbClr val="1A1A2E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B4F72"/>
                          </a:solidFill>
                        </a:rPr>
                        <a:t>0.23M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17A65"/>
                          </a:solidFill>
                        </a:rPr>
                        <a:t>0.23M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64748B"/>
                          </a:solidFill>
                        </a:rPr>
                        <a:t>0.00M</a:t>
                      </a:r>
                      <a:endParaRPr lang="en-US" alt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850"/>
                        <a:t>合计</a:t>
                      </a:r>
                      <a:endParaRPr lang="zh-CN" altLang="en-US" sz="85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 b="1">
                          <a:solidFill>
                            <a:srgbClr val="FFFFFF"/>
                          </a:solidFill>
                        </a:rPr>
                        <a:t>8.19M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 b="1">
                          <a:solidFill>
                            <a:srgbClr val="FFFFFF"/>
                          </a:solidFill>
                        </a:rPr>
                        <a:t>5.54M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 b="1">
                          <a:solidFill>
                            <a:srgbClr val="FFFFFF"/>
                          </a:solidFill>
                        </a:rPr>
                        <a:t>5.72M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</a:tr>
            </a:tbl>
          </a:graphicData>
        </a:graphic>
      </p:graphicFrame>
      <p:sp>
        <p:nvSpPr>
          <p:cNvPr id="63" name="Shape 57"/>
          <p:cNvSpPr/>
          <p:nvPr/>
        </p:nvSpPr>
        <p:spPr>
          <a:xfrm>
            <a:off x="233680" y="3408680"/>
            <a:ext cx="11751310" cy="325120"/>
          </a:xfrm>
          <a:prstGeom prst="rect">
            <a:avLst/>
          </a:prstGeom>
          <a:solidFill>
            <a:srgbClr val="F0F7FF"/>
          </a:solidFill>
          <a:ln w="12700">
            <a:solidFill>
              <a:srgbClr val="BFDBFE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64" name="Text 58"/>
          <p:cNvSpPr/>
          <p:nvPr/>
        </p:nvSpPr>
        <p:spPr>
          <a:xfrm>
            <a:off x="261620" y="3408680"/>
            <a:ext cx="11292205" cy="26543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  W28 同行批核 5.72M，签单 5.54M，预约 8.19M。签单前端尚在蓄力，预约 8.2M 为节后水平，需密切跟踪后续周次是否回升。</a:t>
            </a:r>
            <a:endParaRPr lang="en-US" sz="800" dirty="0">
              <a:solidFill>
                <a:srgbClr val="374151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2" name="Shape 34"/>
          <p:cNvSpPr/>
          <p:nvPr/>
        </p:nvSpPr>
        <p:spPr>
          <a:xfrm>
            <a:off x="251460" y="1459230"/>
            <a:ext cx="11729085" cy="226695"/>
          </a:xfrm>
          <a:prstGeom prst="rect">
            <a:avLst/>
          </a:prstGeom>
          <a:solidFill>
            <a:srgbClr val="1E5128"/>
          </a:solidFill>
          <a:ln w="12700">
            <a:solidFill>
              <a:srgbClr val="1E5128"/>
            </a:solidFill>
            <a:prstDash val="solid"/>
          </a:ln>
        </p:spPr>
        <p:txBody>
          <a:bodyPr/>
          <a:p/>
        </p:txBody>
      </p:sp>
      <p:sp>
        <p:nvSpPr>
          <p:cNvPr id="37" name="Text 35"/>
          <p:cNvSpPr/>
          <p:nvPr/>
        </p:nvSpPr>
        <p:spPr>
          <a:xfrm>
            <a:off x="361315" y="1476375"/>
            <a:ext cx="7435215" cy="18605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X  W01–W28 同行 预约/签单/批核 趋势（M）</a:t>
            </a:r>
            <a:endParaRPr lang="en-US" sz="950" dirty="0"/>
          </a:p>
        </p:txBody>
      </p:sp>
      <p:graphicFrame>
        <p:nvGraphicFramePr>
          <p:cNvPr id="38" name="Chart 0"/>
          <p:cNvGraphicFramePr/>
          <p:nvPr/>
        </p:nvGraphicFramePr>
        <p:xfrm>
          <a:off x="333375" y="1740535"/>
          <a:ext cx="11569065" cy="159194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21" name="Shape 4"/>
          <p:cNvSpPr/>
          <p:nvPr/>
        </p:nvSpPr>
        <p:spPr>
          <a:xfrm>
            <a:off x="182880" y="566928"/>
            <a:ext cx="18288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39" name="Shape 5"/>
          <p:cNvSpPr/>
          <p:nvPr/>
        </p:nvSpPr>
        <p:spPr>
          <a:xfrm>
            <a:off x="182880" y="566928"/>
            <a:ext cx="54864" cy="841248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40" name="Text 6"/>
          <p:cNvSpPr/>
          <p:nvPr/>
        </p:nvSpPr>
        <p:spPr>
          <a:xfrm>
            <a:off x="292608" y="621792"/>
            <a:ext cx="1682496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同行</a:t>
            </a: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本月预约</a:t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APE</a:t>
            </a:r>
            <a:endParaRPr lang="en-US" sz="800" dirty="0"/>
          </a:p>
        </p:txBody>
      </p:sp>
      <p:sp>
        <p:nvSpPr>
          <p:cNvPr id="41" name="Text 7"/>
          <p:cNvSpPr/>
          <p:nvPr/>
        </p:nvSpPr>
        <p:spPr>
          <a:xfrm>
            <a:off x="292608" y="795528"/>
            <a:ext cx="1682496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33.43M</a:t>
            </a:r>
            <a:endParaRPr lang="en-US" sz="1800" dirty="0"/>
          </a:p>
        </p:txBody>
      </p:sp>
      <p:sp>
        <p:nvSpPr>
          <p:cNvPr id="42" name="Text 8"/>
          <p:cNvSpPr/>
          <p:nvPr/>
        </p:nvSpPr>
        <p:spPr>
          <a:xfrm>
            <a:off x="292608" y="1106424"/>
            <a:ext cx="1682496" cy="16459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95件 | 件均35.2W</a:t>
            </a:r>
            <a:r>
              <a:rPr lang="zh-CN" altLang="en-US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/>
            </a:r>
            <a:r>
              <a:rPr lang="en-US" altLang="zh-CN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/>
            </a:r>
            <a:endParaRPr lang="en-US" altLang="zh-CN" sz="75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43" name="Shape 9"/>
          <p:cNvSpPr/>
          <p:nvPr/>
        </p:nvSpPr>
        <p:spPr>
          <a:xfrm>
            <a:off x="2176272" y="566928"/>
            <a:ext cx="18288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44" name="Shape 10"/>
          <p:cNvSpPr/>
          <p:nvPr/>
        </p:nvSpPr>
        <p:spPr>
          <a:xfrm>
            <a:off x="2176272" y="566928"/>
            <a:ext cx="54864" cy="841248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65" name="Text 11"/>
          <p:cNvSpPr/>
          <p:nvPr/>
        </p:nvSpPr>
        <p:spPr>
          <a:xfrm>
            <a:off x="2286000" y="621792"/>
            <a:ext cx="1682496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同行</a:t>
            </a: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本月签单</a:t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APE</a:t>
            </a:r>
            <a:endParaRPr lang="en-US" sz="800" dirty="0"/>
          </a:p>
        </p:txBody>
      </p:sp>
      <p:sp>
        <p:nvSpPr>
          <p:cNvPr id="66" name="Text 12"/>
          <p:cNvSpPr/>
          <p:nvPr/>
        </p:nvSpPr>
        <p:spPr>
          <a:xfrm>
            <a:off x="2286000" y="795528"/>
            <a:ext cx="1682496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22.86M</a:t>
            </a:r>
            <a:endParaRPr lang="en-US" sz="1800" dirty="0"/>
          </a:p>
        </p:txBody>
      </p:sp>
      <p:sp>
        <p:nvSpPr>
          <p:cNvPr id="67" name="Text 13"/>
          <p:cNvSpPr/>
          <p:nvPr/>
        </p:nvSpPr>
        <p:spPr>
          <a:xfrm>
            <a:off x="2286000" y="1106424"/>
            <a:ext cx="1682496" cy="16459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72件 | 件均31.8W</a:t>
            </a:r>
            <a:endParaRPr lang="en-US" sz="750" dirty="0"/>
          </a:p>
        </p:txBody>
      </p:sp>
      <p:sp>
        <p:nvSpPr>
          <p:cNvPr id="68" name="Shape 14"/>
          <p:cNvSpPr/>
          <p:nvPr/>
        </p:nvSpPr>
        <p:spPr>
          <a:xfrm>
            <a:off x="4169664" y="566928"/>
            <a:ext cx="18288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69" name="Shape 15"/>
          <p:cNvSpPr/>
          <p:nvPr/>
        </p:nvSpPr>
        <p:spPr>
          <a:xfrm>
            <a:off x="4169664" y="566928"/>
            <a:ext cx="54864" cy="841248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70" name="Text 16"/>
          <p:cNvSpPr/>
          <p:nvPr/>
        </p:nvSpPr>
        <p:spPr>
          <a:xfrm>
            <a:off x="4279392" y="621792"/>
            <a:ext cx="1682496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同行</a:t>
            </a: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本月批核</a:t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APE</a:t>
            </a:r>
            <a:endParaRPr lang="en-US" sz="800" dirty="0"/>
          </a:p>
        </p:txBody>
      </p:sp>
      <p:sp>
        <p:nvSpPr>
          <p:cNvPr id="71" name="Text 17"/>
          <p:cNvSpPr/>
          <p:nvPr/>
        </p:nvSpPr>
        <p:spPr>
          <a:xfrm>
            <a:off x="4279392" y="795528"/>
            <a:ext cx="1682496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29.11M</a:t>
            </a:r>
            <a:endParaRPr lang="en-US" sz="1800" dirty="0"/>
          </a:p>
        </p:txBody>
      </p:sp>
      <p:sp>
        <p:nvSpPr>
          <p:cNvPr id="72" name="Text 18"/>
          <p:cNvSpPr/>
          <p:nvPr/>
        </p:nvSpPr>
        <p:spPr>
          <a:xfrm>
            <a:off x="4279392" y="1106424"/>
            <a:ext cx="1682496" cy="16459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85件 | 件均34.2W</a:t>
            </a:r>
            <a:endParaRPr lang="en-US" sz="750" dirty="0"/>
          </a:p>
        </p:txBody>
      </p:sp>
      <p:sp>
        <p:nvSpPr>
          <p:cNvPr id="2100" name="s2100"/>
          <p:cNvSpPr/>
          <p:nvPr/>
        </p:nvSpPr>
        <p:spPr>
          <a:xfrm>
            <a:off x="260985" y="3824605"/>
            <a:ext cx="7313295" cy="255905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txBody>
          <a:bodyPr/>
          <a:p/>
        </p:txBody>
      </p:sp>
      <p:sp>
        <p:nvSpPr>
          <p:cNvPr id="2101" name="t2101"/>
          <p:cNvSpPr/>
          <p:nvPr/>
        </p:nvSpPr>
        <p:spPr>
          <a:xfrm>
            <a:off x="277495" y="3810635"/>
            <a:ext cx="6905625" cy="269875"/>
          </a:xfrm>
          <a:prstGeom prst="rect">
            <a:avLst/>
          </a:prstGeom>
          <a:noFill/>
        </p:spPr>
        <p:txBody>
          <a:bodyPr wrap="square" lIns="45720" tIns="0" rIns="45720" bIns="0" rtlCol="0" anchor="ctr"/>
          <a:lstStyle/>
          <a:p>
            <a:pPr marL="0" indent="0" algn="l">
              <a:buNone/>
            </a:pPr>
            <a:r>
              <a:rPr lang="en-US" altLang="zh-CN" sz="9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W</a:t>
            </a:r>
            <a:r>
              <a:rPr lang="zh-CN" sz="9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  同行月度分析 — 重点KA 预约/签单/批核 走势 &amp; 月度汇总（APE in M）</a:t>
            </a:r>
            <a:endParaRPr lang="zh-CN" sz="95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graphicFrame>
        <p:nvGraphicFramePr>
          <p:cNvPr id="2109" name="SumTable2109"/>
          <p:cNvGraphicFramePr>
            <a:graphicFrameLocks noGrp="1"/>
          </p:cNvGraphicFramePr>
          <p:nvPr>
            <p:custDataLst>
              <p:tags r:id="rId17"/>
            </p:custDataLst>
          </p:nvPr>
        </p:nvGraphicFramePr>
        <p:xfrm>
          <a:off x="260985" y="4166235"/>
          <a:ext cx="7303770" cy="19773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1565"/>
                <a:gridCol w="997585"/>
                <a:gridCol w="1030605"/>
                <a:gridCol w="981075"/>
                <a:gridCol w="967740"/>
                <a:gridCol w="1049020"/>
                <a:gridCol w="1186180"/>
              </a:tblGrid>
              <a:tr h="31559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9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月份</a:t>
                      </a:r>
                      <a:endParaRPr lang="zh-CN" sz="9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9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预约(M)</a:t>
                      </a:r>
                      <a:endParaRPr lang="zh-CN" sz="9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9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预约件</a:t>
                      </a:r>
                      <a:endParaRPr lang="zh-CN" sz="9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9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签单(M)</a:t>
                      </a:r>
                      <a:endParaRPr lang="zh-CN" sz="9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9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签单件</a:t>
                      </a:r>
                      <a:endParaRPr lang="zh-CN" sz="9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9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批核(M)</a:t>
                      </a:r>
                      <a:endParaRPr lang="zh-CN" sz="9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9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批核件</a:t>
                      </a:r>
                      <a:endParaRPr lang="zh-CN" sz="9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</a:tr>
              <a:tr h="33401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 b="1">
                          <a:solidFill>
                            <a:srgbClr val="1A3A5C"/>
                          </a:solidFill>
                          <a:latin typeface="Calibri"/>
                        </a:rPr>
                        <a:t>Jan-26</a:t>
                      </a:r>
                      <a:endParaRPr lang="zh-CN" sz="100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23.19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68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16.33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56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87.76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137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</a:tr>
              <a:tr h="357505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 b="1">
                          <a:solidFill>
                            <a:srgbClr val="1A3A5C"/>
                          </a:solidFill>
                          <a:latin typeface="Calibri"/>
                        </a:rPr>
                        <a:t>Feb-26</a:t>
                      </a:r>
                      <a:endParaRPr lang="zh-CN" sz="100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21.06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63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22.76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68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25.98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80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318135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 b="1">
                          <a:solidFill>
                            <a:srgbClr val="1A3A5C"/>
                          </a:solidFill>
                          <a:latin typeface="Calibri"/>
                        </a:rPr>
                        <a:t>Mar-26</a:t>
                      </a:r>
                      <a:endParaRPr lang="zh-CN" sz="100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40.20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126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43.43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129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19.46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75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</a:tr>
              <a:tr h="323850"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 b="1">
                          <a:solidFill>
                            <a:srgbClr val="1A3A5C"/>
                          </a:solidFill>
                          <a:latin typeface="Calibri"/>
                        </a:rPr>
                        <a:t>Apr-26</a:t>
                      </a:r>
                      <a:endParaRPr lang="en-US" altLang="zh-CN" sz="100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39.30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97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37.71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91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43.88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115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</a:tr>
              <a:tr h="323850"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 b="1">
                          <a:solidFill>
                            <a:srgbClr val="1A3A5C"/>
                          </a:solidFill>
                          <a:latin typeface="Calibri"/>
                        </a:rPr>
                        <a:t>May-26</a:t>
                      </a:r>
                      <a:endParaRPr lang="en-US" altLang="zh-CN" sz="100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47.88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137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47.89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139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36.08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88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</a:tr>
              <a:tr h="323850"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 b="1">
                          <a:solidFill>
                            <a:srgbClr val="1A3A5C"/>
                          </a:solidFill>
                          <a:latin typeface="Calibri"/>
                        </a:rPr>
                        <a:t>Jun-26</a:t>
                      </a:r>
                      <a:endParaRPr lang="en-US" altLang="zh-CN" sz="100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60.09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167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58.81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162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38.22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119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</a:tr>
              <a:tr h="323850"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 b="1">
                          <a:solidFill>
                            <a:srgbClr val="1A3A5C"/>
                          </a:solidFill>
                          <a:latin typeface="Calibri"/>
                        </a:rPr>
                        <a:t>Jul-26</a:t>
                      </a:r>
                      <a:endParaRPr lang="en-US" altLang="zh-CN" sz="100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33.43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95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22.86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72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29.11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85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</a:tr>
              <a:tr h="323850"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 b="1">
                          <a:solidFill>
                            <a:srgbClr val="1A3A5C"/>
                          </a:solidFill>
                          <a:latin typeface="Calibri"/>
                        </a:rPr>
                        <a:t>Aug-26</a:t>
                      </a:r>
                      <a:endParaRPr lang="en-US" altLang="zh-CN" sz="100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0.00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0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0.00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0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0.00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0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</a:tr>
              <a:tr h="328295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合计</a:t>
                      </a:r>
                      <a:endParaRPr lang="zh-CN" sz="10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265.14</a:t>
                      </a:r>
                      <a:endParaRPr lang="zh-CN" sz="10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FFFFFF"/>
                          </a:solidFill>
                          <a:latin typeface="Calibri"/>
                        </a:rPr>
                        <a:t>753</a:t>
                      </a:r>
                      <a:endParaRPr lang="en-US" altLang="zh-CN" sz="1000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249.79</a:t>
                      </a:r>
                      <a:endParaRPr lang="en-US" altLang="zh-CN" sz="10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FFFFFF"/>
                          </a:solidFill>
                          <a:latin typeface="Calibri"/>
                        </a:rPr>
                        <a:t>717</a:t>
                      </a:r>
                      <a:endParaRPr lang="en-US" altLang="zh-CN" sz="1000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280.49</a:t>
                      </a:r>
                      <a:endParaRPr lang="en-US" altLang="zh-CN" sz="10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FFFFFF"/>
                          </a:solidFill>
                          <a:latin typeface="Calibri"/>
                        </a:rPr>
                        <a:t>699</a:t>
                      </a:r>
                      <a:endParaRPr lang="en-US" altLang="zh-CN" sz="1000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</a:tr>
            </a:tbl>
          </a:graphicData>
        </a:graphic>
      </p:graphicFrame>
      <p:sp>
        <p:nvSpPr>
          <p:cNvPr id="93" name="Shape 6"/>
          <p:cNvSpPr/>
          <p:nvPr/>
        </p:nvSpPr>
        <p:spPr>
          <a:xfrm>
            <a:off x="302260" y="6348095"/>
            <a:ext cx="7228205" cy="385445"/>
          </a:xfrm>
          <a:prstGeom prst="rect">
            <a:avLst/>
          </a:prstGeom>
          <a:solidFill>
            <a:srgbClr val="FEF9C3"/>
          </a:solidFill>
          <a:ln w="12700">
            <a:solidFill>
              <a:srgbClr val="F5A623"/>
            </a:solidFill>
            <a:prstDash val="solid"/>
          </a:ln>
          <a:effectLst>
            <a:outerShdw blurRad="381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94" name="Shape 7"/>
          <p:cNvSpPr/>
          <p:nvPr/>
        </p:nvSpPr>
        <p:spPr>
          <a:xfrm>
            <a:off x="284480" y="6348730"/>
            <a:ext cx="100965" cy="38481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p/>
        </p:txBody>
      </p:sp>
      <p:sp>
        <p:nvSpPr>
          <p:cNvPr id="95" name="Text 8"/>
          <p:cNvSpPr/>
          <p:nvPr/>
        </p:nvSpPr>
        <p:spPr>
          <a:xfrm>
            <a:off x="398145" y="6350000"/>
            <a:ext cx="7019290" cy="36195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B45309"/>
                </a:solidFill>
              </a:rPr>
              <a:t>So What：  3 月同行预约 4020 万，环比 +90.9%，前端显著回暖。3 月签单 4343 万，预约-签单缺口反映大量前端件仍处「待结」状态，需密切跟进 4 月转化节奏。</a:t>
            </a:r>
            <a:endParaRPr lang="en-US" sz="850" b="1" dirty="0">
              <a:solidFill>
                <a:srgbClr val="B45309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0" name="Shape 0"/>
          <p:cNvSpPr/>
          <p:nvPr/>
        </p:nvSpPr>
        <p:spPr>
          <a:xfrm>
            <a:off x="0" y="0"/>
            <a:ext cx="12191365" cy="475615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>
            <p:custDataLst>
              <p:tags r:id="rId2"/>
            </p:custDataLst>
          </p:nvPr>
        </p:nvSpPr>
        <p:spPr>
          <a:xfrm>
            <a:off x="182880" y="528955"/>
            <a:ext cx="1828800" cy="76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7" name="Shape 5"/>
          <p:cNvSpPr/>
          <p:nvPr>
            <p:custDataLst>
              <p:tags r:id="rId3"/>
            </p:custDataLst>
          </p:nvPr>
        </p:nvSpPr>
        <p:spPr>
          <a:xfrm>
            <a:off x="182880" y="528955"/>
            <a:ext cx="76200" cy="762000"/>
          </a:xfrm>
          <a:prstGeom prst="rect">
            <a:avLst/>
          </a:prstGeom>
          <a:solidFill>
            <a:srgbClr val="1B4F72"/>
          </a:solidFill>
          <a:ln w="12700">
            <a:solidFill>
              <a:srgbClr val="1B4F72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>
            <p:custDataLst>
              <p:tags r:id="rId4"/>
            </p:custDataLst>
          </p:nvPr>
        </p:nvSpPr>
        <p:spPr>
          <a:xfrm>
            <a:off x="292735" y="583565"/>
            <a:ext cx="1682750" cy="18224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altLang="zh-CN" sz="800" dirty="0"/>
              <a:t>BK</a:t>
            </a:r>
            <a:r>
              <a:rPr lang="zh-CN" altLang="en-US" sz="800" dirty="0"/>
              <a:t>批核</a:t>
            </a:r>
            <a:endParaRPr lang="zh-CN" altLang="en-US" sz="800" dirty="0"/>
          </a:p>
        </p:txBody>
      </p:sp>
      <p:sp>
        <p:nvSpPr>
          <p:cNvPr id="9" name="Text 7"/>
          <p:cNvSpPr/>
          <p:nvPr>
            <p:custDataLst>
              <p:tags r:id="rId5"/>
            </p:custDataLst>
          </p:nvPr>
        </p:nvSpPr>
        <p:spPr>
          <a:xfrm>
            <a:off x="292735" y="757555"/>
            <a:ext cx="1682750" cy="2978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B4F7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227.6M</a:t>
            </a:r>
            <a:endParaRPr lang="en-US" sz="1800" dirty="0"/>
          </a:p>
        </p:txBody>
      </p:sp>
      <p:sp>
        <p:nvSpPr>
          <p:cNvPr id="10" name="Text 8"/>
          <p:cNvSpPr/>
          <p:nvPr>
            <p:custDataLst>
              <p:tags r:id="rId6"/>
            </p:custDataLst>
          </p:nvPr>
        </p:nvSpPr>
        <p:spPr>
          <a:xfrm>
            <a:off x="292735" y="1068070"/>
            <a:ext cx="1682750" cy="1492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196件 | 达成率113.8%</a:t>
            </a:r>
            <a:r>
              <a:rPr lang="zh-CN" altLang="en-US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/>
            </a:r>
            <a:r>
              <a:rPr lang="en-US" altLang="zh-CN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/>
            </a:r>
            <a:endParaRPr lang="en-US" altLang="zh-CN" sz="75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11" name="Shape 9"/>
          <p:cNvSpPr/>
          <p:nvPr>
            <p:custDataLst>
              <p:tags r:id="rId7"/>
            </p:custDataLst>
          </p:nvPr>
        </p:nvSpPr>
        <p:spPr>
          <a:xfrm>
            <a:off x="2176145" y="528955"/>
            <a:ext cx="1828800" cy="76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2" name="Shape 10"/>
          <p:cNvSpPr/>
          <p:nvPr>
            <p:custDataLst>
              <p:tags r:id="rId8"/>
            </p:custDataLst>
          </p:nvPr>
        </p:nvSpPr>
        <p:spPr>
          <a:xfrm>
            <a:off x="2176145" y="528955"/>
            <a:ext cx="76200" cy="762000"/>
          </a:xfrm>
          <a:prstGeom prst="rect">
            <a:avLst/>
          </a:prstGeom>
          <a:solidFill>
            <a:srgbClr val="117A65"/>
          </a:solidFill>
          <a:ln w="12700">
            <a:solidFill>
              <a:srgbClr val="117A65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>
            <p:custDataLst>
              <p:tags r:id="rId9"/>
            </p:custDataLst>
          </p:nvPr>
        </p:nvSpPr>
        <p:spPr>
          <a:xfrm>
            <a:off x="2286000" y="583565"/>
            <a:ext cx="1682750" cy="18224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</a:t>
            </a: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未批核</a:t>
            </a:r>
            <a:endParaRPr lang="zh-CN" altLang="en-US" sz="80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14" name="Text 12"/>
          <p:cNvSpPr/>
          <p:nvPr>
            <p:custDataLst>
              <p:tags r:id="rId10"/>
            </p:custDataLst>
          </p:nvPr>
        </p:nvSpPr>
        <p:spPr>
          <a:xfrm>
            <a:off x="2286000" y="757555"/>
            <a:ext cx="1682750" cy="2978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17A6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28.6M</a:t>
            </a:r>
            <a:endParaRPr lang="en-US" sz="1800" dirty="0"/>
          </a:p>
        </p:txBody>
      </p:sp>
      <p:sp>
        <p:nvSpPr>
          <p:cNvPr id="15" name="Text 13"/>
          <p:cNvSpPr/>
          <p:nvPr>
            <p:custDataLst>
              <p:tags r:id="rId11"/>
            </p:custDataLst>
          </p:nvPr>
        </p:nvSpPr>
        <p:spPr>
          <a:xfrm>
            <a:off x="2286000" y="1068070"/>
            <a:ext cx="1682750" cy="1492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37件 |件均77.4W</a:t>
            </a:r>
            <a:r>
              <a:rPr lang="zh-CN" altLang="en-US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/>
            </a:r>
            <a:r>
              <a:rPr lang="en-US" altLang="zh-CN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/>
            </a:r>
            <a:endParaRPr lang="en-US" altLang="zh-CN" sz="75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16" name="Shape 14"/>
          <p:cNvSpPr/>
          <p:nvPr>
            <p:custDataLst>
              <p:tags r:id="rId12"/>
            </p:custDataLst>
          </p:nvPr>
        </p:nvSpPr>
        <p:spPr>
          <a:xfrm>
            <a:off x="4169410" y="528955"/>
            <a:ext cx="1828800" cy="76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7" name="Shape 15"/>
          <p:cNvSpPr/>
          <p:nvPr>
            <p:custDataLst>
              <p:tags r:id="rId13"/>
            </p:custDataLst>
          </p:nvPr>
        </p:nvSpPr>
        <p:spPr>
          <a:xfrm>
            <a:off x="4169410" y="528955"/>
            <a:ext cx="76200" cy="76200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>
            <p:custDataLst>
              <p:tags r:id="rId14"/>
            </p:custDataLst>
          </p:nvPr>
        </p:nvSpPr>
        <p:spPr>
          <a:xfrm>
            <a:off x="4279265" y="583565"/>
            <a:ext cx="1682750" cy="18224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</a:t>
            </a: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待签</a:t>
            </a:r>
            <a:endParaRPr lang="zh-CN" altLang="en-US" sz="80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19" name="Text 17"/>
          <p:cNvSpPr/>
          <p:nvPr>
            <p:custDataLst>
              <p:tags r:id="rId15"/>
            </p:custDataLst>
          </p:nvPr>
        </p:nvSpPr>
        <p:spPr>
          <a:xfrm>
            <a:off x="4279265" y="757555"/>
            <a:ext cx="1682750" cy="2978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0.00M</a:t>
            </a:r>
            <a:endParaRPr lang="en-US" sz="1800" dirty="0"/>
          </a:p>
        </p:txBody>
      </p:sp>
      <p:sp>
        <p:nvSpPr>
          <p:cNvPr id="20" name="Text 18"/>
          <p:cNvSpPr/>
          <p:nvPr>
            <p:custDataLst>
              <p:tags r:id="rId16"/>
            </p:custDataLst>
          </p:nvPr>
        </p:nvSpPr>
        <p:spPr>
          <a:xfrm>
            <a:off x="4279265" y="1068070"/>
            <a:ext cx="1682750" cy="1492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0件 | 件均0W</a:t>
            </a:r>
            <a:r>
              <a:rPr lang="zh-CN" altLang="en-US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/>
            </a:r>
            <a:r>
              <a:rPr lang="en-US" altLang="zh-CN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/>
            </a:r>
            <a:endParaRPr lang="en-US" altLang="zh-CN" sz="75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21" name="Shape 19"/>
          <p:cNvSpPr/>
          <p:nvPr>
            <p:custDataLst>
              <p:tags r:id="rId17"/>
            </p:custDataLst>
          </p:nvPr>
        </p:nvSpPr>
        <p:spPr>
          <a:xfrm>
            <a:off x="6163310" y="528955"/>
            <a:ext cx="1828800" cy="76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2" name="Shape 20"/>
          <p:cNvSpPr/>
          <p:nvPr>
            <p:custDataLst>
              <p:tags r:id="rId18"/>
            </p:custDataLst>
          </p:nvPr>
        </p:nvSpPr>
        <p:spPr>
          <a:xfrm>
            <a:off x="6163310" y="528955"/>
            <a:ext cx="76200" cy="762000"/>
          </a:xfrm>
          <a:prstGeom prst="rect">
            <a:avLst/>
          </a:prstGeom>
          <a:solidFill>
            <a:srgbClr val="9B2335"/>
          </a:solidFill>
          <a:ln w="12700">
            <a:solidFill>
              <a:srgbClr val="9B2335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>
            <p:custDataLst>
              <p:tags r:id="rId19"/>
            </p:custDataLst>
          </p:nvPr>
        </p:nvSpPr>
        <p:spPr>
          <a:xfrm>
            <a:off x="6272530" y="583565"/>
            <a:ext cx="1682750" cy="18224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 </a:t>
            </a: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本月</a:t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预约</a:t>
            </a:r>
            <a:endParaRPr lang="en-US" sz="800" dirty="0"/>
          </a:p>
        </p:txBody>
      </p:sp>
      <p:sp>
        <p:nvSpPr>
          <p:cNvPr id="24" name="Text 22"/>
          <p:cNvSpPr/>
          <p:nvPr>
            <p:custDataLst>
              <p:tags r:id="rId20"/>
            </p:custDataLst>
          </p:nvPr>
        </p:nvSpPr>
        <p:spPr>
          <a:xfrm>
            <a:off x="6272530" y="757555"/>
            <a:ext cx="1682750" cy="2978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9B233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8.97M</a:t>
            </a:r>
            <a:endParaRPr lang="en-US" sz="1800" dirty="0"/>
          </a:p>
        </p:txBody>
      </p:sp>
      <p:sp>
        <p:nvSpPr>
          <p:cNvPr id="25" name="Text 23"/>
          <p:cNvSpPr/>
          <p:nvPr>
            <p:custDataLst>
              <p:tags r:id="rId21"/>
            </p:custDataLst>
          </p:nvPr>
        </p:nvSpPr>
        <p:spPr>
          <a:xfrm>
            <a:off x="6272530" y="1068070"/>
            <a:ext cx="1682750" cy="1492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14件| 件均64W</a:t>
            </a: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/>
            </a:r>
            <a:r>
              <a:rPr lang="zh-CN" altLang="en-US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/>
            </a:r>
            <a:r>
              <a:rPr lang="en-US" altLang="zh-CN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/>
            </a:r>
            <a:endParaRPr lang="en-US" altLang="zh-CN" sz="75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  <a:sym typeface="+mn-ea"/>
            </a:endParaRPr>
          </a:p>
        </p:txBody>
      </p:sp>
      <p:sp>
        <p:nvSpPr>
          <p:cNvPr id="26" name="Shape 24"/>
          <p:cNvSpPr/>
          <p:nvPr>
            <p:custDataLst>
              <p:tags r:id="rId22"/>
            </p:custDataLst>
          </p:nvPr>
        </p:nvSpPr>
        <p:spPr>
          <a:xfrm>
            <a:off x="8156575" y="528955"/>
            <a:ext cx="1828800" cy="76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7" name="Shape 25"/>
          <p:cNvSpPr/>
          <p:nvPr>
            <p:custDataLst>
              <p:tags r:id="rId23"/>
            </p:custDataLst>
          </p:nvPr>
        </p:nvSpPr>
        <p:spPr>
          <a:xfrm>
            <a:off x="8156575" y="528955"/>
            <a:ext cx="76200" cy="762000"/>
          </a:xfrm>
          <a:prstGeom prst="rect">
            <a:avLst/>
          </a:prstGeom>
          <a:solidFill>
            <a:srgbClr val="6B2737"/>
          </a:solidFill>
          <a:ln w="12700">
            <a:solidFill>
              <a:srgbClr val="6B2737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>
            <p:custDataLst>
              <p:tags r:id="rId24"/>
            </p:custDataLst>
          </p:nvPr>
        </p:nvSpPr>
        <p:spPr>
          <a:xfrm>
            <a:off x="8266430" y="583565"/>
            <a:ext cx="1682750" cy="18224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 </a:t>
            </a: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>本月</a:t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签单</a:t>
            </a:r>
            <a:endParaRPr lang="en-US" sz="800" dirty="0"/>
          </a:p>
        </p:txBody>
      </p:sp>
      <p:sp>
        <p:nvSpPr>
          <p:cNvPr id="29" name="Text 27"/>
          <p:cNvSpPr/>
          <p:nvPr>
            <p:custDataLst>
              <p:tags r:id="rId25"/>
            </p:custDataLst>
          </p:nvPr>
        </p:nvSpPr>
        <p:spPr>
          <a:xfrm>
            <a:off x="8266430" y="757555"/>
            <a:ext cx="1682750" cy="2978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6B2737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8.97M</a:t>
            </a:r>
            <a:endParaRPr lang="en-US" sz="1800" dirty="0"/>
          </a:p>
        </p:txBody>
      </p:sp>
      <p:sp>
        <p:nvSpPr>
          <p:cNvPr id="30" name="Text 28"/>
          <p:cNvSpPr/>
          <p:nvPr>
            <p:custDataLst>
              <p:tags r:id="rId26"/>
            </p:custDataLst>
          </p:nvPr>
        </p:nvSpPr>
        <p:spPr>
          <a:xfrm>
            <a:off x="8266430" y="1068070"/>
            <a:ext cx="1682750" cy="1492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14件| 件均64W</a:t>
            </a: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/>
            </a:r>
            <a:r>
              <a:rPr lang="zh-CN" altLang="en-US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/>
            </a:r>
            <a:r>
              <a:rPr lang="en-US" altLang="zh-CN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/>
            </a:r>
            <a:endParaRPr lang="en-US" altLang="zh-CN" sz="75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  <a:sym typeface="+mn-ea"/>
            </a:endParaRPr>
          </a:p>
        </p:txBody>
      </p:sp>
      <p:sp>
        <p:nvSpPr>
          <p:cNvPr id="31" name="Shape 29"/>
          <p:cNvSpPr/>
          <p:nvPr>
            <p:custDataLst>
              <p:tags r:id="rId27"/>
            </p:custDataLst>
          </p:nvPr>
        </p:nvSpPr>
        <p:spPr>
          <a:xfrm>
            <a:off x="10149840" y="528955"/>
            <a:ext cx="1828800" cy="76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32" name="Shape 30"/>
          <p:cNvSpPr/>
          <p:nvPr>
            <p:custDataLst>
              <p:tags r:id="rId28"/>
            </p:custDataLst>
          </p:nvPr>
        </p:nvSpPr>
        <p:spPr>
          <a:xfrm>
            <a:off x="10149840" y="528955"/>
            <a:ext cx="76200" cy="762000"/>
          </a:xfrm>
          <a:prstGeom prst="rect">
            <a:avLst/>
          </a:prstGeom>
          <a:solidFill>
            <a:srgbClr val="6C3483"/>
          </a:solidFill>
          <a:ln w="12700">
            <a:solidFill>
              <a:srgbClr val="6C3483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>
            <p:custDataLst>
              <p:tags r:id="rId29"/>
            </p:custDataLst>
          </p:nvPr>
        </p:nvSpPr>
        <p:spPr>
          <a:xfrm>
            <a:off x="10259695" y="583565"/>
            <a:ext cx="1682750" cy="18224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 </a:t>
            </a: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>本月</a:t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800" dirty="0"/>
          </a:p>
        </p:txBody>
      </p:sp>
      <p:sp>
        <p:nvSpPr>
          <p:cNvPr id="34" name="Text 32"/>
          <p:cNvSpPr/>
          <p:nvPr>
            <p:custDataLst>
              <p:tags r:id="rId30"/>
            </p:custDataLst>
          </p:nvPr>
        </p:nvSpPr>
        <p:spPr>
          <a:xfrm>
            <a:off x="10259695" y="757555"/>
            <a:ext cx="1682750" cy="2978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6C348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1.56M</a:t>
            </a:r>
            <a:endParaRPr lang="en-US" sz="1800" dirty="0"/>
          </a:p>
        </p:txBody>
      </p:sp>
      <p:sp>
        <p:nvSpPr>
          <p:cNvPr id="35" name="Text 33"/>
          <p:cNvSpPr/>
          <p:nvPr>
            <p:custDataLst>
              <p:tags r:id="rId31"/>
            </p:custDataLst>
          </p:nvPr>
        </p:nvSpPr>
        <p:spPr>
          <a:xfrm>
            <a:off x="10259695" y="1068070"/>
            <a:ext cx="1682750" cy="1492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3件 | 件均52W</a:t>
            </a: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/>
            </a:r>
            <a:r>
              <a:rPr lang="zh-CN" altLang="en-US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/>
            </a:r>
            <a:r>
              <a:rPr lang="en-US" altLang="zh-CN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/>
            </a:r>
            <a:r>
              <a:rPr lang="en-US" altLang="zh-CN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/>
            </a:r>
            <a:endParaRPr lang="en-US" altLang="zh-CN" sz="75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  <a:sym typeface="+mn-ea"/>
            </a:endParaRPr>
          </a:p>
        </p:txBody>
      </p:sp>
      <p:sp>
        <p:nvSpPr>
          <p:cNvPr id="51" name="Text 1"/>
          <p:cNvSpPr/>
          <p:nvPr/>
        </p:nvSpPr>
        <p:spPr>
          <a:xfrm>
            <a:off x="228600" y="38100"/>
            <a:ext cx="960120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algn="l">
              <a:buClrTx/>
              <a:buSzTx/>
              <a:buFontTx/>
              <a:buNone/>
            </a:pPr>
            <a:r>
              <a:rPr lang="zh-CN" alt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银行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业绩分析仪表盘 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 |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Bank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 View</a:t>
            </a:r>
            <a:endParaRPr lang="en-US" sz="120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6" name="Text 2"/>
          <p:cNvSpPr/>
          <p:nvPr/>
        </p:nvSpPr>
        <p:spPr>
          <a:xfrm>
            <a:off x="10515600" y="109728"/>
            <a:ext cx="15087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内部文件 · 仅供使用</a:t>
            </a:r>
            <a:endParaRPr lang="en-US" sz="900" dirty="0"/>
          </a:p>
        </p:txBody>
      </p:sp>
      <p:sp>
        <p:nvSpPr>
          <p:cNvPr id="21" name="Shape 19"/>
          <p:cNvSpPr/>
          <p:nvPr>
            <p:custDataLst>
              <p:tags r:id="rId41"/>
            </p:custDataLst>
          </p:nvPr>
        </p:nvSpPr>
        <p:spPr>
          <a:xfrm>
            <a:off x="111760" y="1400000"/>
            <a:ext cx="1828800" cy="76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2" name="Shape 20"/>
          <p:cNvSpPr/>
          <p:nvPr>
            <p:custDataLst>
              <p:tags r:id="rId42"/>
            </p:custDataLst>
          </p:nvPr>
        </p:nvSpPr>
        <p:spPr>
          <a:xfrm>
            <a:off x="111760" y="1400000"/>
            <a:ext cx="76200" cy="762000"/>
          </a:xfrm>
          <a:prstGeom prst="rect">
            <a:avLst/>
          </a:prstGeom>
          <a:solidFill>
            <a:srgbClr val="9B2335"/>
          </a:solidFill>
          <a:ln w="12700">
            <a:solidFill>
              <a:srgbClr val="9B2335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>
            <p:custDataLst>
              <p:tags r:id="rId43"/>
            </p:custDataLst>
          </p:nvPr>
        </p:nvSpPr>
        <p:spPr>
          <a:xfrm>
            <a:off x="220980" y="1454610"/>
            <a:ext cx="1682750" cy="18224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sz="800">
                <a:solidFill>
                  <a:srgbClr val="64748B"/>
                </a:solidFill>
                <a:latin typeface="Calibri"/>
              </a:rPr>
              <a:t>BK W28预约</a:t>
            </a:r>
            <a:endParaRPr lang="en-US" sz="800" dirty="0"/>
          </a:p>
        </p:txBody>
      </p:sp>
      <p:sp>
        <p:nvSpPr>
          <p:cNvPr id="24" name="Text 22"/>
          <p:cNvSpPr/>
          <p:nvPr>
            <p:custDataLst>
              <p:tags r:id="rId44"/>
            </p:custDataLst>
          </p:nvPr>
        </p:nvSpPr>
        <p:spPr>
          <a:xfrm>
            <a:off x="220980" y="1628600"/>
            <a:ext cx="1682750" cy="2978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800" b="1">
                <a:solidFill>
                  <a:srgbClr val="9B2335"/>
                </a:solidFill>
                <a:latin typeface="Calibri"/>
              </a:rPr>
              <a:t>2.73M</a:t>
            </a:r>
            <a:endParaRPr lang="en-US" sz="1800" dirty="0"/>
          </a:p>
        </p:txBody>
      </p:sp>
      <p:sp>
        <p:nvSpPr>
          <p:cNvPr id="25" name="Text 23"/>
          <p:cNvSpPr/>
          <p:nvPr>
            <p:custDataLst>
              <p:tags r:id="rId45"/>
            </p:custDataLst>
          </p:nvPr>
        </p:nvSpPr>
        <p:spPr>
          <a:xfrm>
            <a:off x="220980" y="1939115"/>
            <a:ext cx="1682750" cy="1492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sz="750">
                <a:solidFill>
                  <a:srgbClr val="64748B"/>
                </a:solidFill>
                <a:latin typeface="Calibri"/>
              </a:rPr>
              <a:t>4件 | 件均68.2W</a:t>
            </a:r>
            <a:endParaRPr lang="en-US" altLang="zh-CN" sz="75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  <a:sym typeface="+mn-ea"/>
            </a:endParaRPr>
          </a:p>
        </p:txBody>
      </p:sp>
      <p:sp>
        <p:nvSpPr>
          <p:cNvPr id="26" name="Shape 24"/>
          <p:cNvSpPr/>
          <p:nvPr>
            <p:custDataLst>
              <p:tags r:id="rId46"/>
            </p:custDataLst>
          </p:nvPr>
        </p:nvSpPr>
        <p:spPr>
          <a:xfrm>
            <a:off x="2155825" y="1400000"/>
            <a:ext cx="1828800" cy="76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7" name="Shape 25"/>
          <p:cNvSpPr/>
          <p:nvPr>
            <p:custDataLst>
              <p:tags r:id="rId47"/>
            </p:custDataLst>
          </p:nvPr>
        </p:nvSpPr>
        <p:spPr>
          <a:xfrm>
            <a:off x="2155825" y="1400000"/>
            <a:ext cx="76200" cy="762000"/>
          </a:xfrm>
          <a:prstGeom prst="rect">
            <a:avLst/>
          </a:prstGeom>
          <a:solidFill>
            <a:srgbClr val="6B2737"/>
          </a:solidFill>
          <a:ln w="12700">
            <a:solidFill>
              <a:srgbClr val="6B2737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>
            <p:custDataLst>
              <p:tags r:id="rId48"/>
            </p:custDataLst>
          </p:nvPr>
        </p:nvSpPr>
        <p:spPr>
          <a:xfrm>
            <a:off x="2265680" y="1454610"/>
            <a:ext cx="1682750" cy="18224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sz="800">
                <a:solidFill>
                  <a:srgbClr val="64748B"/>
                </a:solidFill>
                <a:latin typeface="Calibri"/>
              </a:rPr>
              <a:t>BK W28签单</a:t>
            </a:r>
            <a:endParaRPr lang="en-US" sz="800" dirty="0"/>
          </a:p>
        </p:txBody>
      </p:sp>
      <p:sp>
        <p:nvSpPr>
          <p:cNvPr id="29" name="Text 27"/>
          <p:cNvSpPr/>
          <p:nvPr>
            <p:custDataLst>
              <p:tags r:id="rId49"/>
            </p:custDataLst>
          </p:nvPr>
        </p:nvSpPr>
        <p:spPr>
          <a:xfrm>
            <a:off x="2265680" y="1628600"/>
            <a:ext cx="1682750" cy="2978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800" b="1">
                <a:solidFill>
                  <a:srgbClr val="6B2737"/>
                </a:solidFill>
                <a:latin typeface="Calibri"/>
              </a:rPr>
              <a:t>4.29M</a:t>
            </a:r>
            <a:endParaRPr lang="en-US" sz="1800" dirty="0"/>
          </a:p>
        </p:txBody>
      </p:sp>
      <p:sp>
        <p:nvSpPr>
          <p:cNvPr id="30" name="Text 28"/>
          <p:cNvSpPr/>
          <p:nvPr>
            <p:custDataLst>
              <p:tags r:id="rId50"/>
            </p:custDataLst>
          </p:nvPr>
        </p:nvSpPr>
        <p:spPr>
          <a:xfrm>
            <a:off x="2265680" y="1939115"/>
            <a:ext cx="1682750" cy="1492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sz="750">
                <a:solidFill>
                  <a:srgbClr val="64748B"/>
                </a:solidFill>
                <a:latin typeface="Calibri"/>
              </a:rPr>
              <a:t>7件 | 件均61.3W</a:t>
            </a:r>
            <a:endParaRPr lang="en-US" altLang="zh-CN" sz="75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  <a:sym typeface="+mn-ea"/>
            </a:endParaRPr>
          </a:p>
        </p:txBody>
      </p:sp>
      <p:sp>
        <p:nvSpPr>
          <p:cNvPr id="31" name="Shape 29"/>
          <p:cNvSpPr/>
          <p:nvPr>
            <p:custDataLst>
              <p:tags r:id="rId51"/>
            </p:custDataLst>
          </p:nvPr>
        </p:nvSpPr>
        <p:spPr>
          <a:xfrm>
            <a:off x="4220210" y="1400000"/>
            <a:ext cx="1828800" cy="76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32" name="Shape 30"/>
          <p:cNvSpPr/>
          <p:nvPr>
            <p:custDataLst>
              <p:tags r:id="rId52"/>
            </p:custDataLst>
          </p:nvPr>
        </p:nvSpPr>
        <p:spPr>
          <a:xfrm>
            <a:off x="4220210" y="1400000"/>
            <a:ext cx="76200" cy="762000"/>
          </a:xfrm>
          <a:prstGeom prst="rect">
            <a:avLst/>
          </a:prstGeom>
          <a:solidFill>
            <a:srgbClr val="6C3483"/>
          </a:solidFill>
          <a:ln w="12700">
            <a:solidFill>
              <a:srgbClr val="6C3483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>
            <p:custDataLst>
              <p:tags r:id="rId53"/>
            </p:custDataLst>
          </p:nvPr>
        </p:nvSpPr>
        <p:spPr>
          <a:xfrm>
            <a:off x="4330065" y="1454610"/>
            <a:ext cx="1682750" cy="18224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sz="800">
                <a:solidFill>
                  <a:srgbClr val="64748B"/>
                </a:solidFill>
                <a:latin typeface="Calibri"/>
              </a:rPr>
              <a:t>BK W28批核</a:t>
            </a:r>
            <a:endParaRPr lang="en-US" sz="800" dirty="0"/>
          </a:p>
        </p:txBody>
      </p:sp>
      <p:sp>
        <p:nvSpPr>
          <p:cNvPr id="34" name="Text 32"/>
          <p:cNvSpPr/>
          <p:nvPr>
            <p:custDataLst>
              <p:tags r:id="rId54"/>
            </p:custDataLst>
          </p:nvPr>
        </p:nvSpPr>
        <p:spPr>
          <a:xfrm>
            <a:off x="4330065" y="1628600"/>
            <a:ext cx="1682750" cy="2978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800" b="1">
                <a:solidFill>
                  <a:srgbClr val="6C3483"/>
                </a:solidFill>
                <a:latin typeface="Calibri"/>
              </a:rPr>
              <a:t>0.00M</a:t>
            </a:r>
            <a:endParaRPr lang="en-US" sz="1800" dirty="0"/>
          </a:p>
        </p:txBody>
      </p:sp>
      <p:sp>
        <p:nvSpPr>
          <p:cNvPr id="35" name="Text 33"/>
          <p:cNvSpPr/>
          <p:nvPr>
            <p:custDataLst>
              <p:tags r:id="rId55"/>
            </p:custDataLst>
          </p:nvPr>
        </p:nvSpPr>
        <p:spPr>
          <a:xfrm>
            <a:off x="4330065" y="1939115"/>
            <a:ext cx="1682750" cy="1492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sz="750">
                <a:solidFill>
                  <a:srgbClr val="64748B"/>
                </a:solidFill>
                <a:latin typeface="Calibri"/>
              </a:rPr>
              <a:t>0件 | 件均0W</a:t>
            </a:r>
            <a:endParaRPr lang="en-US" altLang="zh-CN" sz="75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  <a:sym typeface="+mn-ea"/>
            </a:endParaRPr>
          </a:p>
        </p:txBody>
      </p:sp>
      <p:sp>
        <p:nvSpPr>
          <p:cNvPr id="45" name="Shape 40"/>
          <p:cNvSpPr/>
          <p:nvPr/>
        </p:nvSpPr>
        <p:spPr>
          <a:xfrm>
            <a:off x="57150" y="2328890"/>
            <a:ext cx="6014085" cy="247015"/>
          </a:xfrm>
          <a:prstGeom prst="rect">
            <a:avLst/>
          </a:prstGeom>
          <a:solidFill>
            <a:srgbClr val="1B4F72"/>
          </a:solidFill>
          <a:ln w="12700">
            <a:solidFill>
              <a:srgbClr val="002060"/>
            </a:solidFill>
            <a:prstDash val="solid"/>
          </a:ln>
        </p:spPr>
        <p:txBody>
          <a:bodyPr/>
          <a:p/>
        </p:txBody>
      </p:sp>
      <p:sp>
        <p:nvSpPr>
          <p:cNvPr id="46" name="Text 41"/>
          <p:cNvSpPr/>
          <p:nvPr/>
        </p:nvSpPr>
        <p:spPr>
          <a:xfrm>
            <a:off x="133350" y="2320000"/>
            <a:ext cx="2510155" cy="2559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1B4F72"/>
                </a:solidFill>
              </a14:hiddenFill>
            </a:ext>
          </a:extLst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AC W28 银行 KA 本周业绩详情（M）</a:t>
            </a:r>
            <a:endParaRPr lang="en-US" sz="950" dirty="0"/>
          </a:p>
        </p:txBody>
      </p:sp>
      <p:graphicFrame>
        <p:nvGraphicFramePr>
          <p:cNvPr id="47" name="Table 1"/>
          <p:cNvGraphicFramePr>
            <a:graphicFrameLocks noGrp="1"/>
          </p:cNvGraphicFramePr>
          <p:nvPr>
            <p:custDataLst>
              <p:tags r:id="rId56"/>
            </p:custDataLst>
          </p:nvPr>
        </p:nvGraphicFramePr>
        <p:xfrm>
          <a:off x="59055" y="2621625"/>
          <a:ext cx="6012815" cy="1172845"/>
        </p:xfrm>
        <a:graphic>
          <a:graphicData uri="http://schemas.openxmlformats.org/drawingml/2006/table">
            <a:tbl>
              <a:tblPr/>
              <a:tblGrid>
                <a:gridCol w="927100"/>
                <a:gridCol w="798195"/>
                <a:gridCol w="856615"/>
                <a:gridCol w="791086"/>
                <a:gridCol w="921958"/>
                <a:gridCol w="772160"/>
                <a:gridCol w="945701"/>
              </a:tblGrid>
              <a:tr h="401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KEY ACCOUNT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本周预约</a:t>
                      </a:r>
                      <a:endParaRPr lang="en-US" sz="900" b="1" dirty="0">
                        <a:solidFill>
                          <a:srgbClr val="FFFFFF"/>
                        </a:solidFill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(M)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本周</a:t>
                      </a:r>
                      <a:r>
                        <a:rPr lang="zh-CN" altLang="en-US" sz="900" b="1" dirty="0">
                          <a:solidFill>
                            <a:srgbClr val="FFFFFF"/>
                          </a:solidFill>
                        </a:rPr>
                        <a:t>预约</a:t>
                      </a:r>
                      <a:endParaRPr lang="zh-CN" altLang="en-US" sz="900" b="1" dirty="0">
                        <a:solidFill>
                          <a:srgbClr val="FFFFFF"/>
                        </a:solidFill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(</a:t>
                      </a:r>
                      <a:r>
                        <a:rPr lang="zh-CN" altLang="en-US" sz="900" b="1" dirty="0">
                          <a:solidFill>
                            <a:srgbClr val="FFFFFF"/>
                          </a:solidFill>
                        </a:rPr>
                        <a:t>件数</a:t>
                      </a: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)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本周签单</a:t>
                      </a:r>
                      <a:endParaRPr lang="en-US" sz="900" b="1" dirty="0">
                        <a:solidFill>
                          <a:srgbClr val="FFFFFF"/>
                        </a:solidFill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(M)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sym typeface="+mn-ea"/>
                        </a:rPr>
                        <a:t>本周签单</a:t>
                      </a:r>
                      <a:endParaRPr lang="en-US" sz="900" b="1" dirty="0">
                        <a:solidFill>
                          <a:srgbClr val="FFFFFF"/>
                        </a:solidFill>
                        <a:sym typeface="+mn-ea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sym typeface="+mn-ea"/>
                        </a:rPr>
                        <a:t>(</a:t>
                      </a:r>
                      <a:r>
                        <a:rPr lang="zh-CN" altLang="en-US" sz="900" b="1" dirty="0">
                          <a:solidFill>
                            <a:srgbClr val="FFFFFF"/>
                          </a:solidFill>
                          <a:sym typeface="+mn-ea"/>
                        </a:rPr>
                        <a:t>件数</a:t>
                      </a:r>
                      <a:r>
                        <a:rPr lang="en-US" sz="900" b="1" dirty="0">
                          <a:solidFill>
                            <a:srgbClr val="FFFFFF"/>
                          </a:solidFill>
                          <a:sym typeface="+mn-ea"/>
                        </a:rPr>
                        <a:t>)</a:t>
                      </a:r>
                      <a:endParaRPr lang="en-US" alt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本周批核(M)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sym typeface="+mn-ea"/>
                        </a:rPr>
                        <a:t>本周批核</a:t>
                      </a:r>
                      <a:endParaRPr lang="en-US" sz="900" b="1" dirty="0">
                        <a:solidFill>
                          <a:srgbClr val="FFFFFF"/>
                        </a:solidFill>
                        <a:sym typeface="+mn-ea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sym typeface="+mn-ea"/>
                        </a:rPr>
                        <a:t>(</a:t>
                      </a:r>
                      <a:r>
                        <a:rPr lang="zh-CN" altLang="en-US" sz="900" b="1" dirty="0">
                          <a:solidFill>
                            <a:srgbClr val="FFFFFF"/>
                          </a:solidFill>
                          <a:sym typeface="+mn-ea"/>
                        </a:rPr>
                        <a:t>件数</a:t>
                      </a:r>
                      <a:r>
                        <a:rPr lang="en-US" sz="900" b="1" dirty="0">
                          <a:solidFill>
                            <a:srgbClr val="FFFFFF"/>
                          </a:solidFill>
                          <a:sym typeface="+mn-ea"/>
                        </a:rPr>
                        <a:t>)</a:t>
                      </a:r>
                      <a:endParaRPr lang="en-US" alt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</a:tr>
              <a:tr h="257175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</a:rPr>
                        <a:t>民生银行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sz="900">
                          <a:solidFill>
                            <a:srgbClr val="1B4F72"/>
                          </a:solidFill>
                        </a:rPr>
                        <a:t>2.73M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sz="900">
                          <a:solidFill>
                            <a:srgbClr val="117A65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r">
                        <a:buNone/>
                      </a:pPr>
                      <a:r>
                        <a:rPr sz="900">
                          <a:solidFill>
                            <a:srgbClr val="117A65"/>
                          </a:solidFill>
                        </a:rPr>
                        <a:t>4.29M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r">
                        <a:buNone/>
                      </a:pPr>
                      <a:r>
                        <a:rPr sz="900">
                          <a:solidFill>
                            <a:srgbClr val="117A65"/>
                          </a:solidFill>
                        </a:rPr>
                        <a:t>7</a:t>
                      </a:r>
                      <a:endParaRPr lang="en-US" alt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sz="950" b="1">
                          <a:solidFill>
                            <a:srgbClr val="00796B"/>
                          </a:solidFill>
                        </a:rPr>
                        <a:t>0.00M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r">
                        <a:buNone/>
                      </a:pPr>
                      <a:r>
                        <a:rPr sz="950" b="1">
                          <a:solidFill>
                            <a:srgbClr val="00796B"/>
                          </a:solidFill>
                        </a:rPr>
                        <a:t>0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7175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</a:rPr>
                        <a:t>平安银行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sz="900">
                          <a:solidFill>
                            <a:srgbClr val="1B4F72"/>
                          </a:solidFill>
                        </a:rPr>
                        <a:t>0.00M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sz="900">
                          <a:solidFill>
                            <a:srgbClr val="117A65"/>
                          </a:solidFill>
                        </a:rPr>
                        <a:t>0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r">
                        <a:buNone/>
                      </a:pPr>
                      <a:r>
                        <a:rPr sz="900">
                          <a:solidFill>
                            <a:srgbClr val="117A65"/>
                          </a:solidFill>
                        </a:rPr>
                        <a:t>0.00M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r">
                        <a:buNone/>
                      </a:pPr>
                      <a:r>
                        <a:rPr sz="900">
                          <a:solidFill>
                            <a:srgbClr val="117A65"/>
                          </a:solidFill>
                        </a:rPr>
                        <a:t>0</a:t>
                      </a:r>
                      <a:endParaRPr lang="en-US" alt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sz="950" b="1">
                          <a:solidFill>
                            <a:srgbClr val="00796B"/>
                          </a:solidFill>
                        </a:rPr>
                        <a:t>0.00M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r">
                        <a:buNone/>
                      </a:pPr>
                      <a:r>
                        <a:rPr sz="950" b="1">
                          <a:solidFill>
                            <a:srgbClr val="00796B"/>
                          </a:solidFill>
                        </a:rPr>
                        <a:t>0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717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银行合计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sz="900" b="1">
                          <a:solidFill>
                            <a:srgbClr val="FFFFFF"/>
                          </a:solidFill>
                        </a:rPr>
                        <a:t>2.73M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sz="900" b="1">
                          <a:solidFill>
                            <a:srgbClr val="FFFFF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p>
                      <a:pPr marL="0" indent="0" algn="r">
                        <a:buNone/>
                      </a:pPr>
                      <a:r>
                        <a:rPr sz="900" b="1">
                          <a:solidFill>
                            <a:srgbClr val="FFFFFF"/>
                          </a:solidFill>
                        </a:rPr>
                        <a:t>4.29M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p>
                      <a:pPr marL="0" indent="0" algn="r">
                        <a:buNone/>
                      </a:pPr>
                      <a:r>
                        <a:rPr sz="900" b="1">
                          <a:solidFill>
                            <a:srgbClr val="FFFFFF"/>
                          </a:solidFill>
                        </a:rPr>
                        <a:t>7</a:t>
                      </a:r>
                      <a:endParaRPr lang="en-US" alt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sz="900" b="1">
                          <a:solidFill>
                            <a:srgbClr val="FFFFFF"/>
                          </a:solidFill>
                        </a:rPr>
                        <a:t>0.00M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p>
                      <a:pPr marL="0" indent="0" algn="r">
                        <a:buNone/>
                      </a:pPr>
                      <a:r>
                        <a:rPr sz="950" b="1">
                          <a:solidFill>
                            <a:srgbClr val="FFFFFF"/>
                          </a:solidFill>
                        </a:rPr>
                        <a:t>0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</a:tr>
            </a:tbl>
          </a:graphicData>
        </a:graphic>
      </p:graphicFrame>
      <p:pic>
        <p:nvPicPr>
          <p:cNvPr id="52" name="Picture 51" descr="image.png"/>
          <p:cNvPicPr>
            <a:picLocks noChangeAspect="1"/>
          </p:cNvPicPr>
          <p:nvPr/>
        </p:nvPicPr>
        <p:blipFill>
          <a:blip r:embed="rId57"/>
          <a:stretch>
            <a:fillRect/>
          </a:stretch>
        </p:blipFill>
        <p:spPr>
          <a:xfrm>
            <a:off x="6200000" y="1400000"/>
            <a:ext cx="5900000" cy="3500000"/>
          </a:xfrm>
          <a:prstGeom prst="rect">
            <a:avLst/>
          </a:prstGeom>
        </p:spPr>
      </p:pic>
      <p:pic>
        <p:nvPicPr>
          <p:cNvPr id="53" name="Picture 52" descr="image.png"/>
          <p:cNvPicPr>
            <a:picLocks noChangeAspect="1"/>
          </p:cNvPicPr>
          <p:nvPr/>
        </p:nvPicPr>
        <p:blipFill>
          <a:blip r:embed="rId58"/>
          <a:stretch>
            <a:fillRect/>
          </a:stretch>
        </p:blipFill>
        <p:spPr>
          <a:xfrm>
            <a:off x="100000" y="5050000"/>
            <a:ext cx="12000000" cy="1680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380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50000" y="60000"/>
            <a:ext cx="8000000" cy="2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FFFFFF"/>
                </a:solidFill>
              </a:rPr>
              <a:t>代理人业务分析仪表盘  Agent Business 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92000" y="80000"/>
            <a:ext cx="2100000" cy="2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>
                <a:solidFill>
                  <a:srgbClr val="CCCCCC"/>
                </a:solidFill>
              </a:rPr>
              <a:t>内部文件 · 仅供使用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" y="430000"/>
            <a:ext cx="1828800" cy="762000"/>
          </a:xfrm>
          <a:prstGeom prst="rect">
            <a:avLst/>
          </a:prstGeom>
          <a:solidFill>
            <a:srgbClr val="FFFFFF"/>
          </a:solidFill>
          <a:ln w="9525">
            <a:solidFill>
              <a:srgbClr val="E8E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2880" y="430000"/>
            <a:ext cx="76200" cy="762000"/>
          </a:xfrm>
          <a:prstGeom prst="rect">
            <a:avLst/>
          </a:prstGeom>
          <a:solidFill>
            <a:srgbClr val="1B4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92715" y="484610"/>
            <a:ext cx="1682750" cy="18224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64748B"/>
                </a:solidFill>
              </a:rPr>
              <a:t>代理人业务批核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715" y="658600"/>
            <a:ext cx="1682750" cy="29781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B4F72"/>
                </a:solidFill>
              </a:rPr>
              <a:t>72.2M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715" y="969115"/>
            <a:ext cx="1682750" cy="14922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64748B"/>
                </a:solidFill>
              </a:rPr>
              <a:t>225件 | 件均32.1W</a:t>
            </a:r>
          </a:p>
        </p:txBody>
      </p:sp>
      <p:sp>
        <p:nvSpPr>
          <p:cNvPr id="10" name="Rectangle 9"/>
          <p:cNvSpPr/>
          <p:nvPr/>
        </p:nvSpPr>
        <p:spPr>
          <a:xfrm>
            <a:off x="2176145" y="430000"/>
            <a:ext cx="1828800" cy="762000"/>
          </a:xfrm>
          <a:prstGeom prst="rect">
            <a:avLst/>
          </a:prstGeom>
          <a:solidFill>
            <a:srgbClr val="FFFFFF"/>
          </a:solidFill>
          <a:ln w="9525">
            <a:solidFill>
              <a:srgbClr val="E8E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176145" y="430000"/>
            <a:ext cx="76200" cy="762000"/>
          </a:xfrm>
          <a:prstGeom prst="rect">
            <a:avLst/>
          </a:prstGeom>
          <a:solidFill>
            <a:srgbClr val="117A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85980" y="484610"/>
            <a:ext cx="1682750" cy="18224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64748B"/>
                </a:solidFill>
              </a:rPr>
              <a:t>代理人业务未批核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5980" y="658600"/>
            <a:ext cx="1682750" cy="29781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17A65"/>
                </a:solidFill>
              </a:rPr>
              <a:t>15.4M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85980" y="969115"/>
            <a:ext cx="1682750" cy="14922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64748B"/>
                </a:solidFill>
              </a:rPr>
              <a:t>31件 | 件均49.8W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69410" y="430000"/>
            <a:ext cx="1828800" cy="762000"/>
          </a:xfrm>
          <a:prstGeom prst="rect">
            <a:avLst/>
          </a:prstGeom>
          <a:solidFill>
            <a:srgbClr val="FFFFFF"/>
          </a:solidFill>
          <a:ln w="9525">
            <a:solidFill>
              <a:srgbClr val="E8E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169410" y="430000"/>
            <a:ext cx="76200" cy="762000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79245" y="484610"/>
            <a:ext cx="1682750" cy="18224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64748B"/>
                </a:solidFill>
              </a:rPr>
              <a:t>代理人业务待签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79245" y="658600"/>
            <a:ext cx="1682750" cy="29781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0796B"/>
                </a:solidFill>
              </a:rPr>
              <a:t>0.39M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79245" y="969115"/>
            <a:ext cx="1682750" cy="14922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64748B"/>
                </a:solidFill>
              </a:rPr>
              <a:t>4件 | 件均9.8W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62675" y="430000"/>
            <a:ext cx="1828800" cy="762000"/>
          </a:xfrm>
          <a:prstGeom prst="rect">
            <a:avLst/>
          </a:prstGeom>
          <a:solidFill>
            <a:srgbClr val="FFFFFF"/>
          </a:solidFill>
          <a:ln w="9525">
            <a:solidFill>
              <a:srgbClr val="E8E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62675" y="430000"/>
            <a:ext cx="76200" cy="762000"/>
          </a:xfrm>
          <a:prstGeom prst="rect">
            <a:avLst/>
          </a:prstGeom>
          <a:solidFill>
            <a:srgbClr val="9B2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72510" y="484610"/>
            <a:ext cx="1682750" cy="18224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64748B"/>
                </a:solidFill>
              </a:rPr>
              <a:t>代理人7月预约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72510" y="658600"/>
            <a:ext cx="1682750" cy="29781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9B2335"/>
                </a:solidFill>
              </a:rPr>
              <a:t>6.57M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72510" y="969115"/>
            <a:ext cx="1682750" cy="14922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64748B"/>
                </a:solidFill>
              </a:rPr>
              <a:t>11件 | 件均59.8W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55940" y="430000"/>
            <a:ext cx="1828800" cy="762000"/>
          </a:xfrm>
          <a:prstGeom prst="rect">
            <a:avLst/>
          </a:prstGeom>
          <a:solidFill>
            <a:srgbClr val="FFFFFF"/>
          </a:solidFill>
          <a:ln w="9525">
            <a:solidFill>
              <a:srgbClr val="E8E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155940" y="430000"/>
            <a:ext cx="76200" cy="762000"/>
          </a:xfrm>
          <a:prstGeom prst="rect">
            <a:avLst/>
          </a:prstGeom>
          <a:solidFill>
            <a:srgbClr val="6B27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65775" y="484610"/>
            <a:ext cx="1682750" cy="18224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64748B"/>
                </a:solidFill>
              </a:rPr>
              <a:t>代理人7月签单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65775" y="658600"/>
            <a:ext cx="1682750" cy="29781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6B2737"/>
                </a:solidFill>
              </a:rPr>
              <a:t>6.81M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65775" y="969115"/>
            <a:ext cx="1682750" cy="14922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64748B"/>
                </a:solidFill>
              </a:rPr>
              <a:t>9件 | 件均75.6W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149205" y="430000"/>
            <a:ext cx="1828800" cy="762000"/>
          </a:xfrm>
          <a:prstGeom prst="rect">
            <a:avLst/>
          </a:prstGeom>
          <a:solidFill>
            <a:srgbClr val="FFFFFF"/>
          </a:solidFill>
          <a:ln w="9525">
            <a:solidFill>
              <a:srgbClr val="E8E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0149205" y="430000"/>
            <a:ext cx="76200" cy="762000"/>
          </a:xfrm>
          <a:prstGeom prst="rect">
            <a:avLst/>
          </a:prstGeom>
          <a:solidFill>
            <a:srgbClr val="6C34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259040" y="484610"/>
            <a:ext cx="1682750" cy="18224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64748B"/>
                </a:solidFill>
              </a:rPr>
              <a:t>代理人7月批核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59040" y="658600"/>
            <a:ext cx="1682750" cy="29781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6C3483"/>
                </a:solidFill>
              </a:rPr>
              <a:t>1.88M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259040" y="969115"/>
            <a:ext cx="1682750" cy="14922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64748B"/>
                </a:solidFill>
              </a:rPr>
              <a:t>12件 | 件均15.7W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82880" y="1272000"/>
            <a:ext cx="1828800" cy="762000"/>
          </a:xfrm>
          <a:prstGeom prst="rect">
            <a:avLst/>
          </a:prstGeom>
          <a:solidFill>
            <a:srgbClr val="FFFFFF"/>
          </a:solidFill>
          <a:ln w="9525">
            <a:solidFill>
              <a:srgbClr val="E8E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82880" y="1272000"/>
            <a:ext cx="76200" cy="762000"/>
          </a:xfrm>
          <a:prstGeom prst="rect">
            <a:avLst/>
          </a:prstGeom>
          <a:solidFill>
            <a:srgbClr val="1B4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92715" y="1326610"/>
            <a:ext cx="1682750" cy="18224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64748B"/>
                </a:solidFill>
              </a:rPr>
              <a:t>代理人 W28预约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2715" y="1500600"/>
            <a:ext cx="1682750" cy="29781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B4F72"/>
                </a:solidFill>
              </a:rPr>
              <a:t>0.86M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92715" y="1811115"/>
            <a:ext cx="1682750" cy="14922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64748B"/>
                </a:solidFill>
              </a:rPr>
              <a:t/>
            </a:r>
          </a:p>
        </p:txBody>
      </p:sp>
      <p:sp>
        <p:nvSpPr>
          <p:cNvPr id="40" name="Rectangle 39"/>
          <p:cNvSpPr/>
          <p:nvPr/>
        </p:nvSpPr>
        <p:spPr>
          <a:xfrm>
            <a:off x="2176145" y="1272000"/>
            <a:ext cx="1828800" cy="762000"/>
          </a:xfrm>
          <a:prstGeom prst="rect">
            <a:avLst/>
          </a:prstGeom>
          <a:solidFill>
            <a:srgbClr val="FFFFFF"/>
          </a:solidFill>
          <a:ln w="9525">
            <a:solidFill>
              <a:srgbClr val="E8E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176145" y="1272000"/>
            <a:ext cx="76200" cy="762000"/>
          </a:xfrm>
          <a:prstGeom prst="rect">
            <a:avLst/>
          </a:prstGeom>
          <a:solidFill>
            <a:srgbClr val="117A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285980" y="1326610"/>
            <a:ext cx="1682750" cy="18224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64748B"/>
                </a:solidFill>
              </a:rPr>
              <a:t>代理人 W28签单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285980" y="1500600"/>
            <a:ext cx="1682750" cy="29781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17A65"/>
                </a:solidFill>
              </a:rPr>
              <a:t>6.18M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285980" y="1811115"/>
            <a:ext cx="1682750" cy="14922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64748B"/>
                </a:solidFill>
              </a:rPr>
              <a:t/>
            </a:r>
          </a:p>
        </p:txBody>
      </p:sp>
      <p:sp>
        <p:nvSpPr>
          <p:cNvPr id="45" name="Rectangle 44"/>
          <p:cNvSpPr/>
          <p:nvPr/>
        </p:nvSpPr>
        <p:spPr>
          <a:xfrm>
            <a:off x="4169410" y="1272000"/>
            <a:ext cx="1828800" cy="762000"/>
          </a:xfrm>
          <a:prstGeom prst="rect">
            <a:avLst/>
          </a:prstGeom>
          <a:solidFill>
            <a:srgbClr val="FFFFFF"/>
          </a:solidFill>
          <a:ln w="9525">
            <a:solidFill>
              <a:srgbClr val="E8E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169410" y="1272000"/>
            <a:ext cx="76200" cy="762000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279245" y="1326610"/>
            <a:ext cx="1682750" cy="18224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64748B"/>
                </a:solidFill>
              </a:rPr>
              <a:t>代理人 W28批核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279245" y="1500600"/>
            <a:ext cx="1682750" cy="29781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0796B"/>
                </a:solidFill>
              </a:rPr>
              <a:t>0.51M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79245" y="1811115"/>
            <a:ext cx="1682750" cy="14922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64748B"/>
                </a:solidFill>
              </a:rPr>
              <a:t/>
            </a:r>
          </a:p>
        </p:txBody>
      </p:sp>
      <p:sp>
        <p:nvSpPr>
          <p:cNvPr id="50" name="Rectangle 49"/>
          <p:cNvSpPr/>
          <p:nvPr/>
        </p:nvSpPr>
        <p:spPr>
          <a:xfrm>
            <a:off x="100000" y="2154000"/>
            <a:ext cx="6000000" cy="270000"/>
          </a:xfrm>
          <a:prstGeom prst="rect">
            <a:avLst/>
          </a:prstGeom>
          <a:solidFill>
            <a:srgbClr val="1B4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80000" y="2184000"/>
            <a:ext cx="5900000" cy="23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FFFFFF"/>
                </a:solidFill>
              </a:rPr>
              <a:t>KA明细 | 天领业务</a:t>
            </a:r>
          </a:p>
        </p:txBody>
      </p:sp>
      <p:graphicFrame>
        <p:nvGraphicFramePr>
          <p:cNvPr id="52" name="Table 51"/>
          <p:cNvGraphicFramePr>
            <a:graphicFrameLocks noGrp="1"/>
          </p:cNvGraphicFramePr>
          <p:nvPr/>
        </p:nvGraphicFramePr>
        <p:xfrm>
          <a:off x="100000" y="2424000"/>
          <a:ext cx="5999997" cy="34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3333"/>
                <a:gridCol w="666666"/>
                <a:gridCol w="433333"/>
                <a:gridCol w="800000"/>
                <a:gridCol w="433333"/>
                <a:gridCol w="666666"/>
                <a:gridCol w="433333"/>
                <a:gridCol w="800000"/>
                <a:gridCol w="433333"/>
              </a:tblGrid>
              <a:tr h="264615"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KEY ACCOUNT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批核APE(万)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批核
件数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未批核APE(万)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未批核
件数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待签APE(万)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待签
件数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合计APE(万)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合计
件数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</a:tr>
              <a:tr h="264615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天领重庆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2828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446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39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3313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4615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天领深圳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1500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9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156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1656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264615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天领成都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1071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400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1471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43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4615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宁波贴牌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394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9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300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694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12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264615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广西贴牌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332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354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4615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武汉贴牌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199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6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88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287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9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264615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合肥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39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39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4615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苏州贴牌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27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39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66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264615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厦门贴牌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4615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台州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23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23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264615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长沙贴牌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4620">
                <a:tc>
                  <a:txBody>
                    <a:bodyPr wrap="square"/>
                    <a:lstStyle/>
                    <a:p>
                      <a:pPr algn="l"/>
                      <a:r>
                        <a:rPr b="1" sz="750">
                          <a:solidFill>
                            <a:srgbClr val="FFFFFF"/>
                          </a:solidFill>
                        </a:rPr>
                        <a:t>合计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6445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191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1451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28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39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7936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223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</a:tr>
            </a:tbl>
          </a:graphicData>
        </a:graphic>
      </p:graphicFrame>
      <p:sp>
        <p:nvSpPr>
          <p:cNvPr id="53" name="Rectangle 52"/>
          <p:cNvSpPr/>
          <p:nvPr/>
        </p:nvSpPr>
        <p:spPr>
          <a:xfrm>
            <a:off x="100000" y="5984000"/>
            <a:ext cx="6000000" cy="270000"/>
          </a:xfrm>
          <a:prstGeom prst="rect">
            <a:avLst/>
          </a:prstGeom>
          <a:solidFill>
            <a:srgbClr val="1A5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80000" y="6014000"/>
            <a:ext cx="5900000" cy="23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FFFFFF"/>
                </a:solidFill>
              </a:rPr>
              <a:t>KA明细 | 成事家办</a:t>
            </a:r>
          </a:p>
        </p:txBody>
      </p:sp>
      <p:graphicFrame>
        <p:nvGraphicFramePr>
          <p:cNvPr id="55" name="Table 54"/>
          <p:cNvGraphicFramePr>
            <a:graphicFrameLocks noGrp="1"/>
          </p:cNvGraphicFramePr>
          <p:nvPr/>
        </p:nvGraphicFramePr>
        <p:xfrm>
          <a:off x="100000" y="6254000"/>
          <a:ext cx="5999997" cy="18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3333"/>
                <a:gridCol w="666666"/>
                <a:gridCol w="433333"/>
                <a:gridCol w="800000"/>
                <a:gridCol w="433333"/>
                <a:gridCol w="666666"/>
                <a:gridCol w="433333"/>
                <a:gridCol w="800000"/>
                <a:gridCol w="433333"/>
              </a:tblGrid>
              <a:tr h="268571"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KEY ACCOUNT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批核APE(万)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批核
件数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未批核APE(万)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未批核
件数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待签APE(万)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待签
件数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合计APE(万)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合计
件数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</a:tr>
              <a:tr h="268571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刘微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263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287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8571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杨璐熙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225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11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225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11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268571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杨帆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188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8571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杨洪美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55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47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101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268571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丁洁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8574">
                <a:tc>
                  <a:txBody>
                    <a:bodyPr wrap="square"/>
                    <a:lstStyle/>
                    <a:p>
                      <a:pPr algn="l"/>
                      <a:r>
                        <a:rPr b="1" sz="750">
                          <a:solidFill>
                            <a:srgbClr val="FFFFFF"/>
                          </a:solidFill>
                        </a:rPr>
                        <a:t>合计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772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34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94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866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37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</a:tr>
            </a:tbl>
          </a:graphicData>
        </a:graphic>
      </p:graphicFrame>
      <p:pic>
        <p:nvPicPr>
          <p:cNvPr id="56" name="Picture 5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0000" y="1272000"/>
            <a:ext cx="5832000" cy="3000000"/>
          </a:xfrm>
          <a:prstGeom prst="rect">
            <a:avLst/>
          </a:prstGeom>
        </p:spPr>
      </p:pic>
      <p:sp>
        <p:nvSpPr>
          <p:cNvPr id="57" name="Rectangle 56"/>
          <p:cNvSpPr/>
          <p:nvPr/>
        </p:nvSpPr>
        <p:spPr>
          <a:xfrm>
            <a:off x="6280000" y="4352000"/>
            <a:ext cx="5832000" cy="300000"/>
          </a:xfrm>
          <a:prstGeom prst="rect">
            <a:avLst/>
          </a:prstGeom>
          <a:solidFill>
            <a:srgbClr val="4A1F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360000" y="4382000"/>
            <a:ext cx="5732000" cy="2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FFFFFF"/>
                </a:solidFill>
              </a:rPr>
              <a:t>W28 本周快报 | 代理人业务（天领+成事家办）</a:t>
            </a:r>
          </a:p>
        </p:txBody>
      </p:sp>
      <p:graphicFrame>
        <p:nvGraphicFramePr>
          <p:cNvPr id="59" name="Table 58"/>
          <p:cNvGraphicFramePr>
            <a:graphicFrameLocks noGrp="1"/>
          </p:cNvGraphicFramePr>
          <p:nvPr/>
        </p:nvGraphicFramePr>
        <p:xfrm>
          <a:off x="6280000" y="4662000"/>
          <a:ext cx="5832000" cy="213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32800"/>
                <a:gridCol w="1166400"/>
                <a:gridCol w="1166400"/>
                <a:gridCol w="1166400"/>
              </a:tblGrid>
              <a:tr h="118666">
                <a:tc>
                  <a:txBody>
                    <a:bodyPr wrap="square"/>
                    <a:lstStyle/>
                    <a:p>
                      <a:pPr algn="ctr"/>
                      <a:r>
                        <a:rPr b="1" sz="800">
                          <a:solidFill>
                            <a:srgbClr val="FFFFFF"/>
                          </a:solidFill>
                        </a:rPr>
                        <a:t>KEY ACCOUNT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800">
                          <a:solidFill>
                            <a:srgbClr val="FFFFFF"/>
                          </a:solidFill>
                        </a:rPr>
                        <a:t>预约(M)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800">
                          <a:solidFill>
                            <a:srgbClr val="FFFFFF"/>
                          </a:solidFill>
                        </a:rPr>
                        <a:t>签单(M)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800">
                          <a:solidFill>
                            <a:srgbClr val="FFFFFF"/>
                          </a:solidFill>
                        </a:rPr>
                        <a:t>批核(M)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</a:tr>
              <a:tr h="118666">
                <a:tc>
                  <a:txBody>
                    <a:bodyPr wrap="square"/>
                    <a:lstStyle/>
                    <a:p>
                      <a:pPr algn="l"/>
                      <a:r>
                        <a:rPr b="0" sz="800">
                          <a:solidFill>
                            <a:srgbClr val="1A2744"/>
                          </a:solidFill>
                        </a:rPr>
                        <a:t>天领成都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4.00M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0.16M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18666">
                <a:tc>
                  <a:txBody>
                    <a:bodyPr wrap="square"/>
                    <a:lstStyle/>
                    <a:p>
                      <a:pPr algn="l"/>
                      <a:r>
                        <a:rPr b="0" sz="800">
                          <a:solidFill>
                            <a:srgbClr val="1A2744"/>
                          </a:solidFill>
                        </a:rPr>
                        <a:t>天领重庆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0.86M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1.95M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0.35M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118666">
                <a:tc>
                  <a:txBody>
                    <a:bodyPr wrap="square"/>
                    <a:lstStyle/>
                    <a:p>
                      <a:pPr algn="l"/>
                      <a:r>
                        <a:rPr b="0" sz="800">
                          <a:solidFill>
                            <a:srgbClr val="1A2744"/>
                          </a:solidFill>
                        </a:rPr>
                        <a:t>杨帆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0.23M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18666">
                <a:tc>
                  <a:txBody>
                    <a:bodyPr wrap="square"/>
                    <a:lstStyle/>
                    <a:p>
                      <a:pPr algn="l"/>
                      <a:r>
                        <a:rPr b="0" sz="800">
                          <a:solidFill>
                            <a:srgbClr val="1A2744"/>
                          </a:solidFill>
                        </a:rPr>
                        <a:t>丁洁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118666">
                <a:tc>
                  <a:txBody>
                    <a:bodyPr wrap="square"/>
                    <a:lstStyle/>
                    <a:p>
                      <a:pPr algn="l"/>
                      <a:r>
                        <a:rPr b="0" sz="800">
                          <a:solidFill>
                            <a:srgbClr val="1A2744"/>
                          </a:solidFill>
                        </a:rPr>
                        <a:t>杨洪美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18666">
                <a:tc>
                  <a:txBody>
                    <a:bodyPr wrap="square"/>
                    <a:lstStyle/>
                    <a:p>
                      <a:pPr algn="l"/>
                      <a:r>
                        <a:rPr b="0" sz="800">
                          <a:solidFill>
                            <a:srgbClr val="1A2744"/>
                          </a:solidFill>
                        </a:rPr>
                        <a:t>武汉贴牌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118666">
                <a:tc>
                  <a:txBody>
                    <a:bodyPr wrap="square"/>
                    <a:lstStyle/>
                    <a:p>
                      <a:pPr algn="l"/>
                      <a:r>
                        <a:rPr b="0" sz="800">
                          <a:solidFill>
                            <a:srgbClr val="1A2744"/>
                          </a:solidFill>
                        </a:rPr>
                        <a:t>天领深圳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18666">
                <a:tc>
                  <a:txBody>
                    <a:bodyPr wrap="square"/>
                    <a:lstStyle/>
                    <a:p>
                      <a:pPr algn="l"/>
                      <a:r>
                        <a:rPr b="0" sz="800">
                          <a:solidFill>
                            <a:srgbClr val="1A2744"/>
                          </a:solidFill>
                        </a:rPr>
                        <a:t>苏州贴牌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118666">
                <a:tc>
                  <a:txBody>
                    <a:bodyPr wrap="square"/>
                    <a:lstStyle/>
                    <a:p>
                      <a:pPr algn="l"/>
                      <a:r>
                        <a:rPr b="0" sz="800">
                          <a:solidFill>
                            <a:srgbClr val="1A2744"/>
                          </a:solidFill>
                        </a:rPr>
                        <a:t>长沙贴牌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18666">
                <a:tc>
                  <a:txBody>
                    <a:bodyPr wrap="square"/>
                    <a:lstStyle/>
                    <a:p>
                      <a:pPr algn="l"/>
                      <a:r>
                        <a:rPr b="0" sz="800">
                          <a:solidFill>
                            <a:srgbClr val="1A2744"/>
                          </a:solidFill>
                        </a:rPr>
                        <a:t>广西贴牌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118666">
                <a:tc>
                  <a:txBody>
                    <a:bodyPr wrap="square"/>
                    <a:lstStyle/>
                    <a:p>
                      <a:pPr algn="l"/>
                      <a:r>
                        <a:rPr b="0" sz="800">
                          <a:solidFill>
                            <a:srgbClr val="1A2744"/>
                          </a:solidFill>
                        </a:rPr>
                        <a:t>厦门贴牌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18666">
                <a:tc>
                  <a:txBody>
                    <a:bodyPr wrap="square"/>
                    <a:lstStyle/>
                    <a:p>
                      <a:pPr algn="l"/>
                      <a:r>
                        <a:rPr b="0" sz="800">
                          <a:solidFill>
                            <a:srgbClr val="1A2744"/>
                          </a:solidFill>
                        </a:rPr>
                        <a:t>台州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118666">
                <a:tc>
                  <a:txBody>
                    <a:bodyPr wrap="square"/>
                    <a:lstStyle/>
                    <a:p>
                      <a:pPr algn="l"/>
                      <a:r>
                        <a:rPr b="0" sz="800">
                          <a:solidFill>
                            <a:srgbClr val="1A2744"/>
                          </a:solidFill>
                        </a:rPr>
                        <a:t>宁波贴牌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18666">
                <a:tc>
                  <a:txBody>
                    <a:bodyPr wrap="square"/>
                    <a:lstStyle/>
                    <a:p>
                      <a:pPr algn="l"/>
                      <a:r>
                        <a:rPr b="0" sz="800">
                          <a:solidFill>
                            <a:srgbClr val="1A2744"/>
                          </a:solidFill>
                        </a:rPr>
                        <a:t>杨璐熙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118666">
                <a:tc>
                  <a:txBody>
                    <a:bodyPr wrap="square"/>
                    <a:lstStyle/>
                    <a:p>
                      <a:pPr algn="l"/>
                      <a:r>
                        <a:rPr b="0" sz="800">
                          <a:solidFill>
                            <a:srgbClr val="1A2744"/>
                          </a:solidFill>
                        </a:rPr>
                        <a:t>刘微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18666">
                <a:tc>
                  <a:txBody>
                    <a:bodyPr wrap="square"/>
                    <a:lstStyle/>
                    <a:p>
                      <a:pPr algn="l"/>
                      <a:r>
                        <a:rPr b="0" sz="800">
                          <a:solidFill>
                            <a:srgbClr val="1A2744"/>
                          </a:solidFill>
                        </a:rPr>
                        <a:t>合肥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118678">
                <a:tc>
                  <a:txBody>
                    <a:bodyPr wrap="square"/>
                    <a:lstStyle/>
                    <a:p>
                      <a:pPr algn="l"/>
                      <a:r>
                        <a:rPr b="1" sz="800">
                          <a:solidFill>
                            <a:srgbClr val="FFFFFF"/>
                          </a:solidFill>
                        </a:rPr>
                        <a:t>合计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800">
                          <a:solidFill>
                            <a:srgbClr val="FFFFFF"/>
                          </a:solidFill>
                        </a:rPr>
                        <a:t>0.86M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800">
                          <a:solidFill>
                            <a:srgbClr val="FFFFFF"/>
                          </a:solidFill>
                        </a:rPr>
                        <a:t>6.18M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800">
                          <a:solidFill>
                            <a:srgbClr val="FFFFFF"/>
                          </a:solidFill>
                        </a:rPr>
                        <a:t>0.51M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380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50000" y="60000"/>
            <a:ext cx="8000000" cy="2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FFFFFF"/>
                </a:solidFill>
              </a:rPr>
              <a:t>KA业务分析仪表盘  |ICLUB + 合伙转介 + IFA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92000" y="80000"/>
            <a:ext cx="2100000" cy="2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>
                <a:solidFill>
                  <a:srgbClr val="CCCCCC"/>
                </a:solidFill>
              </a:rPr>
              <a:t>内部文件 · 仅供使用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000" y="430000"/>
            <a:ext cx="1900000" cy="800000"/>
          </a:xfrm>
          <a:prstGeom prst="rect">
            <a:avLst/>
          </a:prstGeom>
          <a:noFill/>
          <a:ln w="30000">
            <a:solidFill>
              <a:srgbClr val="1B6B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0000" y="430000"/>
            <a:ext cx="30000" cy="800000"/>
          </a:xfrm>
          <a:prstGeom prst="rect">
            <a:avLst/>
          </a:prstGeom>
          <a:solidFill>
            <a:srgbClr val="1B6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0000" y="490000"/>
            <a:ext cx="1830000" cy="1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1A2744"/>
                </a:solidFill>
              </a:rPr>
              <a:t>KA业务 批核APE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000" y="650000"/>
            <a:ext cx="1830000" cy="3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B6B3A"/>
                </a:solidFill>
              </a:rPr>
              <a:t>24.9M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000" y="990000"/>
            <a:ext cx="1830000" cy="1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555555"/>
                </a:solidFill>
              </a:rPr>
              <a:t>37件 | 件均67.2W</a:t>
            </a:r>
          </a:p>
        </p:txBody>
      </p:sp>
      <p:sp>
        <p:nvSpPr>
          <p:cNvPr id="10" name="Rectangle 9"/>
          <p:cNvSpPr/>
          <p:nvPr/>
        </p:nvSpPr>
        <p:spPr>
          <a:xfrm>
            <a:off x="2060000" y="430000"/>
            <a:ext cx="1900000" cy="800000"/>
          </a:xfrm>
          <a:prstGeom prst="rect">
            <a:avLst/>
          </a:prstGeom>
          <a:noFill/>
          <a:ln w="30000">
            <a:solidFill>
              <a:srgbClr val="1B6B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060000" y="430000"/>
            <a:ext cx="30000" cy="800000"/>
          </a:xfrm>
          <a:prstGeom prst="rect">
            <a:avLst/>
          </a:prstGeom>
          <a:solidFill>
            <a:srgbClr val="1B6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110000" y="490000"/>
            <a:ext cx="1830000" cy="1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1A2744"/>
                </a:solidFill>
              </a:rPr>
              <a:t>KA业务 未批核APE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10000" y="650000"/>
            <a:ext cx="1830000" cy="3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B6B3A"/>
                </a:solidFill>
              </a:rPr>
              <a:t>4.39M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10000" y="990000"/>
            <a:ext cx="1830000" cy="1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555555"/>
                </a:solidFill>
              </a:rPr>
              <a:t>8件 | 件均54.9W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020000" y="430000"/>
            <a:ext cx="1900000" cy="800000"/>
          </a:xfrm>
          <a:prstGeom prst="rect">
            <a:avLst/>
          </a:prstGeom>
          <a:noFill/>
          <a:ln w="30000">
            <a:solidFill>
              <a:srgbClr val="8B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020000" y="430000"/>
            <a:ext cx="30000" cy="8000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070000" y="490000"/>
            <a:ext cx="1830000" cy="1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1A2744"/>
                </a:solidFill>
              </a:rPr>
              <a:t>KA业务 待签APE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70000" y="650000"/>
            <a:ext cx="1830000" cy="3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8B1A1A"/>
                </a:solidFill>
              </a:rPr>
              <a:t>0.00M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70000" y="990000"/>
            <a:ext cx="1830000" cy="1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555555"/>
                </a:solidFill>
              </a:rPr>
              <a:t>0件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0000" y="1310000"/>
            <a:ext cx="5940000" cy="260000"/>
          </a:xfrm>
          <a:prstGeom prst="rect">
            <a:avLst/>
          </a:prstGeom>
          <a:solidFill>
            <a:srgbClr val="1B4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80000" y="1340000"/>
            <a:ext cx="5840000" cy="2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FFFFFF"/>
                </a:solidFill>
              </a:rPr>
              <a:t>ICLUB业务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100000" y="1570000"/>
          <a:ext cx="5940000" cy="13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0000"/>
                <a:gridCol w="660000"/>
                <a:gridCol w="429000"/>
                <a:gridCol w="792000"/>
                <a:gridCol w="429000"/>
                <a:gridCol w="660000"/>
                <a:gridCol w="429000"/>
                <a:gridCol w="792000"/>
                <a:gridCol w="429000"/>
              </a:tblGrid>
              <a:tr h="268000"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KEY ACCOUNT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批核APE(万)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批核
件数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未批核APE(万)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未批核
件数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待签APE(万)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待签
件数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合计APE(万)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合计
件数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</a:tr>
              <a:tr h="268000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个人转介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1853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1853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8000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保险师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180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180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268000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新风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8000">
                <a:tc>
                  <a:txBody>
                    <a:bodyPr wrap="square"/>
                    <a:lstStyle/>
                    <a:p>
                      <a:pPr algn="l"/>
                      <a:r>
                        <a:rPr b="1" sz="750">
                          <a:solidFill>
                            <a:srgbClr val="FFFFFF"/>
                          </a:solidFill>
                        </a:rPr>
                        <a:t>合计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2040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11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2040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11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</a:tr>
            </a:tbl>
          </a:graphicData>
        </a:graphic>
      </p:graphicFrame>
      <p:sp>
        <p:nvSpPr>
          <p:cNvPr id="23" name="Rectangle 22"/>
          <p:cNvSpPr/>
          <p:nvPr/>
        </p:nvSpPr>
        <p:spPr>
          <a:xfrm>
            <a:off x="100000" y="2990000"/>
            <a:ext cx="5940000" cy="260000"/>
          </a:xfrm>
          <a:prstGeom prst="rect">
            <a:avLst/>
          </a:prstGeom>
          <a:solidFill>
            <a:srgbClr val="1A5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80000" y="3020000"/>
            <a:ext cx="5840000" cy="2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FFFFFF"/>
                </a:solidFill>
              </a:rPr>
              <a:t>合伙转介业务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100000" y="3250000"/>
          <a:ext cx="5940000" cy="31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0000"/>
                <a:gridCol w="660000"/>
                <a:gridCol w="429000"/>
                <a:gridCol w="792000"/>
                <a:gridCol w="429000"/>
                <a:gridCol w="660000"/>
                <a:gridCol w="429000"/>
                <a:gridCol w="792000"/>
                <a:gridCol w="429000"/>
              </a:tblGrid>
              <a:tr h="263333"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KEY ACCOUNT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批核APE(万)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批核
件数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未批核APE(万)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未批核
件数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待签APE(万)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待签
件数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合计APE(万)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合计
件数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</a:tr>
              <a:tr h="263333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懿丰家族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390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526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3333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明德长青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86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86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263333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总部职能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67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79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3333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荻邦咨询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51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51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263333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德约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3333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Molly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23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23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263333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个人转介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3333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迪岸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15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34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50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263333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虹霖贸易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3333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励欧移民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263337">
                <a:tc>
                  <a:txBody>
                    <a:bodyPr wrap="square"/>
                    <a:lstStyle/>
                    <a:p>
                      <a:pPr algn="l"/>
                      <a:r>
                        <a:rPr b="1" sz="750">
                          <a:solidFill>
                            <a:srgbClr val="FFFFFF"/>
                          </a:solidFill>
                        </a:rPr>
                        <a:t>合计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447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26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439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8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886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34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</a:tr>
            </a:tbl>
          </a:graphicData>
        </a:graphic>
      </p:graphicFrame>
      <p:sp>
        <p:nvSpPr>
          <p:cNvPr id="26" name="Rectangle 25"/>
          <p:cNvSpPr/>
          <p:nvPr/>
        </p:nvSpPr>
        <p:spPr>
          <a:xfrm>
            <a:off x="100000" y="6490000"/>
            <a:ext cx="5940000" cy="260000"/>
          </a:xfrm>
          <a:prstGeom prst="rect">
            <a:avLst/>
          </a:prstGeom>
          <a:solidFill>
            <a:srgbClr val="5D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80000" y="6520000"/>
            <a:ext cx="5840000" cy="2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FFFFFF"/>
                </a:solidFill>
              </a:rPr>
              <a:t>IFA业务</a:t>
            </a:r>
          </a:p>
        </p:txBody>
      </p:sp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100000" y="6750000"/>
          <a:ext cx="5940000" cy="52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0000"/>
                <a:gridCol w="660000"/>
                <a:gridCol w="429000"/>
                <a:gridCol w="792000"/>
                <a:gridCol w="429000"/>
                <a:gridCol w="660000"/>
                <a:gridCol w="429000"/>
                <a:gridCol w="792000"/>
                <a:gridCol w="429000"/>
              </a:tblGrid>
              <a:tr h="520000"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KEY ACCOUNT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批核APE(万)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批核
件数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未批核APE(万)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未批核
件数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待签APE(万)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待签
件数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合计APE(万)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合计
件数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</a:tr>
            </a:tbl>
          </a:graphicData>
        </a:graphic>
      </p:graphicFrame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0000" y="430000"/>
            <a:ext cx="5832000" cy="3000000"/>
          </a:xfrm>
          <a:prstGeom prst="rect">
            <a:avLst/>
          </a:prstGeom>
        </p:spPr>
      </p:pic>
      <p:sp>
        <p:nvSpPr>
          <p:cNvPr id="30" name="Rectangle 29"/>
          <p:cNvSpPr/>
          <p:nvPr/>
        </p:nvSpPr>
        <p:spPr>
          <a:xfrm>
            <a:off x="6280000" y="3550000"/>
            <a:ext cx="5832000" cy="290000"/>
          </a:xfrm>
          <a:prstGeom prst="rect">
            <a:avLst/>
          </a:prstGeom>
          <a:solidFill>
            <a:srgbClr val="4A1F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60000" y="3580000"/>
            <a:ext cx="5732000" cy="2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FFFFFF"/>
                </a:solidFill>
              </a:rPr>
              <a:t>W28 本周快报 | KA业务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6280000" y="3850000"/>
          <a:ext cx="5832000" cy="28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32800"/>
                <a:gridCol w="1166400"/>
                <a:gridCol w="1166400"/>
                <a:gridCol w="1166400"/>
              </a:tblGrid>
              <a:tr h="205714"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KEY ACCOUNT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预约(M)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签单(M)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批核(M)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</a:tr>
              <a:tr h="205714">
                <a:tc>
                  <a:txBody>
                    <a:bodyPr wrap="square"/>
                    <a:lstStyle/>
                    <a:p>
                      <a:pPr algn="l"/>
                      <a:r>
                        <a:rPr b="0" sz="700">
                          <a:solidFill>
                            <a:srgbClr val="1A2744"/>
                          </a:solidFill>
                        </a:rPr>
                        <a:t>总部职能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0.23M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05714">
                <a:tc>
                  <a:txBody>
                    <a:bodyPr wrap="square"/>
                    <a:lstStyle/>
                    <a:p>
                      <a:pPr algn="l"/>
                      <a:r>
                        <a:rPr b="0" sz="700">
                          <a:solidFill>
                            <a:srgbClr val="1A2744"/>
                          </a:solidFill>
                        </a:rPr>
                        <a:t>个人转介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0.02M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205714">
                <a:tc>
                  <a:txBody>
                    <a:bodyPr wrap="square"/>
                    <a:lstStyle/>
                    <a:p>
                      <a:pPr algn="l"/>
                      <a:r>
                        <a:rPr b="0" sz="700">
                          <a:solidFill>
                            <a:srgbClr val="1A2744"/>
                          </a:solidFill>
                        </a:rPr>
                        <a:t>德约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05714">
                <a:tc>
                  <a:txBody>
                    <a:bodyPr wrap="square"/>
                    <a:lstStyle/>
                    <a:p>
                      <a:pPr algn="l"/>
                      <a:r>
                        <a:rPr b="0" sz="700">
                          <a:solidFill>
                            <a:srgbClr val="1A2744"/>
                          </a:solidFill>
                        </a:rPr>
                        <a:t>懿丰家族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205714">
                <a:tc>
                  <a:txBody>
                    <a:bodyPr wrap="square"/>
                    <a:lstStyle/>
                    <a:p>
                      <a:pPr algn="l"/>
                      <a:r>
                        <a:rPr b="0" sz="700">
                          <a:solidFill>
                            <a:srgbClr val="1A2744"/>
                          </a:solidFill>
                        </a:rPr>
                        <a:t>明德长青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05714">
                <a:tc>
                  <a:txBody>
                    <a:bodyPr wrap="square"/>
                    <a:lstStyle/>
                    <a:p>
                      <a:pPr algn="l"/>
                      <a:r>
                        <a:rPr b="0" sz="700">
                          <a:solidFill>
                            <a:srgbClr val="1A2744"/>
                          </a:solidFill>
                        </a:rPr>
                        <a:t>保险师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205714">
                <a:tc>
                  <a:txBody>
                    <a:bodyPr wrap="square"/>
                    <a:lstStyle/>
                    <a:p>
                      <a:pPr algn="l"/>
                      <a:r>
                        <a:rPr b="0" sz="700">
                          <a:solidFill>
                            <a:srgbClr val="1A2744"/>
                          </a:solidFill>
                        </a:rPr>
                        <a:t>新风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05714">
                <a:tc>
                  <a:txBody>
                    <a:bodyPr wrap="square"/>
                    <a:lstStyle/>
                    <a:p>
                      <a:pPr algn="l"/>
                      <a:r>
                        <a:rPr b="0" sz="700">
                          <a:solidFill>
                            <a:srgbClr val="1A2744"/>
                          </a:solidFill>
                        </a:rPr>
                        <a:t>Molly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205714">
                <a:tc>
                  <a:txBody>
                    <a:bodyPr wrap="square"/>
                    <a:lstStyle/>
                    <a:p>
                      <a:pPr algn="l"/>
                      <a:r>
                        <a:rPr b="0" sz="700">
                          <a:solidFill>
                            <a:srgbClr val="1A2744"/>
                          </a:solidFill>
                        </a:rPr>
                        <a:t>虹霖贸易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05714">
                <a:tc>
                  <a:txBody>
                    <a:bodyPr wrap="square"/>
                    <a:lstStyle/>
                    <a:p>
                      <a:pPr algn="l"/>
                      <a:r>
                        <a:rPr b="0" sz="700">
                          <a:solidFill>
                            <a:srgbClr val="1A2744"/>
                          </a:solidFill>
                        </a:rPr>
                        <a:t>励欧移民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205714">
                <a:tc>
                  <a:txBody>
                    <a:bodyPr wrap="square"/>
                    <a:lstStyle/>
                    <a:p>
                      <a:pPr algn="l"/>
                      <a:r>
                        <a:rPr b="0" sz="700">
                          <a:solidFill>
                            <a:srgbClr val="1A2744"/>
                          </a:solidFill>
                        </a:rPr>
                        <a:t>迪岸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05714">
                <a:tc>
                  <a:txBody>
                    <a:bodyPr wrap="square"/>
                    <a:lstStyle/>
                    <a:p>
                      <a:pPr algn="l"/>
                      <a:r>
                        <a:rPr b="0" sz="700">
                          <a:solidFill>
                            <a:srgbClr val="1A2744"/>
                          </a:solidFill>
                        </a:rPr>
                        <a:t>荻邦咨询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205718">
                <a:tc>
                  <a:txBody>
                    <a:bodyPr wrap="square"/>
                    <a:lstStyle/>
                    <a:p>
                      <a:pPr algn="l"/>
                      <a:r>
                        <a:rPr b="1" sz="750">
                          <a:solidFill>
                            <a:srgbClr val="FFFFFF"/>
                          </a:solidFill>
                        </a:rPr>
                        <a:t>合计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0.25M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ags/tag1.xml><?xml version="1.0" encoding="utf-8"?>
<p:tagLst xmlns:p="http://schemas.openxmlformats.org/presentationml/2006/main">
  <p:tag name="KSO_DOCER_RESOURCE_TRACE_INFO" val="{&quot;id&quot;:&quot;21573901&quot;,&quot;origin&quot;:0,&quot;type&quot;:&quot;icons&quot;,&quot;user&quot;:&quot;641547233&quot;}"/>
</p:tagLst>
</file>

<file path=ppt/tags/tag2.xml><?xml version="1.0" encoding="utf-8"?>
<p:tagLst xmlns:p="http://schemas.openxmlformats.org/presentationml/2006/main">
  <p:tag name="KSO_DOCER_RESOURCE_TRACE_INFO" val="{&quot;id&quot;:&quot;21573901&quot;,&quot;origin&quot;:0,&quot;type&quot;:&quot;icons&quot;,&quot;user&quot;:&quot;641547233&quot;}"/>
</p:tagLst>
</file>

<file path=ppt/tags/tag3.xml><?xml version="1.0" encoding="utf-8"?>
<p:tagLst xmlns:p="http://schemas.openxmlformats.org/presentationml/2006/main">
  <p:tag name="KSO_DOCER_RESOURCE_TRACE_INFO" val="{&quot;id&quot;:&quot;21573901&quot;,&quot;origin&quot;:0,&quot;type&quot;:&quot;icons&quot;,&quot;user&quot;:&quot;641547233&quot;}"/>
</p:tagLst>
</file>

<file path=ppt/tags/tag4.xml><?xml version="1.0" encoding="utf-8"?>
<p:tagLst xmlns:p="http://schemas.openxmlformats.org/presentationml/2006/main">
  <p:tag name="KSO_DOCER_RESOURCE_TRACE_INFO" val="{&quot;id&quot;:&quot;21573901&quot;,&quot;origin&quot;:0,&quot;type&quot;:&quot;icons&quot;,&quot;user&quot;:&quot;641547233&quot;}"/>
</p:tagLst>
</file>

<file path=ppt/tags/tag5.xml><?xml version="1.0" encoding="utf-8"?>
<p:tagLst xmlns:p="http://schemas.openxmlformats.org/presentationml/2006/main">
  <p:tag name="KSO_DOCER_RESOURCE_TRACE_INFO" val="{&quot;id&quot;:&quot;21573901&quot;,&quot;origin&quot;:0,&quot;type&quot;:&quot;icons&quot;,&quot;user&quot;:&quot;641547233&quot;}"/>
</p:tagLst>
</file>

<file path=ppt/tags/tag6.xml><?xml version="1.0" encoding="utf-8"?>
<p:tagLst xmlns:p="http://schemas.openxmlformats.org/presentationml/2006/main">
  <p:tag name="KSO_DOCER_RESOURCE_TRACE_INFO" val="{&quot;id&quot;:&quot;21573901&quot;,&quot;origin&quot;:0,&quot;type&quot;:&quot;icons&quot;,&quot;user&quot;:&quot;641547233&quot;}"/>
</p:tagLst>
</file>

<file path=ppt/tags/tag7.xml><?xml version="1.0" encoding="utf-8"?>
<p:tagLst xmlns:p="http://schemas.openxmlformats.org/presentationml/2006/main">
  <p:tag name="KSO_DOCER_RESOURCE_TRACE_INFO" val="{&quot;id&quot;:&quot;21573901&quot;,&quot;origin&quot;:0,&quot;type&quot;:&quot;icons&quot;,&quot;user&quot;:&quot;641547233&quot;}"/>
</p:tagLst>
</file>

<file path=ppt/tags/tag8.xml><?xml version="1.0" encoding="utf-8"?>
<p:tagLst xmlns:p="http://schemas.openxmlformats.org/presentationml/2006/main">
  <p:tag name="KSO_DOCER_RESOURCE_TRACE_INFO" val="{&quot;id&quot;:&quot;21573901&quot;,&quot;origin&quot;:0,&quot;type&quot;:&quot;icons&quot;,&quot;user&quot;:&quot;641547233&quot;}"/>
</p:tagLst>
</file>

<file path=ppt/tags/tag9.xml><?xml version="1.0" encoding="utf-8"?>
<p:tagLst xmlns:p="http://schemas.openxmlformats.org/presentationml/2006/main">
  <p:tag name="KSO_DOCER_RESOURCE_TRACE_INFO" val="{&quot;id&quot;:&quot;21573901&quot;,&quot;origin&quot;:0,&quot;type&quot;:&quot;icons&quot;,&quot;user&quot;:&quot;641547233&quot;}"/>
</p:tagLst>
</file>

<file path=ppt/tags/tag10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11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12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13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14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15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16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17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18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19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20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21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22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23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24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25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26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27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28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29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30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31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32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33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34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35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36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37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38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39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40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41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42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43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44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45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46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47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48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49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50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51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52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53.xml><?xml version="1.0" encoding="utf-8"?>
<p:tagLst xmlns:p="http://schemas.openxmlformats.org/presentationml/2006/main">
  <p:tag name="TABLE_ENDDRAG_ORIGIN_RECT" val="527*165"/>
  <p:tag name="TABLE_ENDDRAG_RECT" val="40*299*527*165"/>
</p:tagLst>
</file>

<file path=ppt/tags/tag54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55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56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57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58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59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60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61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62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63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64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65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66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67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68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69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70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71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72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73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74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75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76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77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78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79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80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81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82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83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84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85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86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87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88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89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90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91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92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93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94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95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96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97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98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99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100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101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102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103.xml><?xml version="1.0" encoding="utf-8"?>
<p:tagLst xmlns:p="http://schemas.openxmlformats.org/presentationml/2006/main">
  <p:tag name="TABLE_ENDDRAG_ORIGIN_RECT" val="473*81"/>
  <p:tag name="TABLE_ENDDRAG_RECT" val="4*396*473*81"/>
</p:tagLst>
</file>

<file path=ppt/tags/tag105.xml><?xml version="1.0" encoding="utf-8"?>
<p:tagLst xmlns:p="http://schemas.openxmlformats.org/presentationml/2006/main">
  <p:tag name="resource_record_key" val="{&quot;10&quot;:[21573901]}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11851</Words>
  <Application>WPS 演示</Application>
  <PresentationFormat>On-screen Show (16:9)</PresentationFormat>
  <Paragraphs>3394</Paragraphs>
  <Slides>11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11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11</vt:i4>
      </vt:variant>
    </vt:vector>
  </HeadingPairs>
  <TitlesOfParts>
    <vt:vector size="23" baseType="lpstr">
      <vt:lpstr>Arial</vt:lpstr>
      <vt:lpstr>宋体</vt:lpstr>
      <vt:lpstr>Wingdings</vt:lpstr>
      <vt:lpstr>Calibri</vt:lpstr>
      <vt:lpstr>Calibri</vt:lpstr>
      <vt:lpstr>Calibri</vt:lpstr>
      <vt:lpstr>Arial</vt:lpstr>
      <vt:lpstr>Calibri</vt:lpstr>
      <vt:lpstr>微软雅黑</vt:lpstr>
      <vt:lpstr>Arial Unicode MS</vt:lpstr>
      <vt:lpstr>等线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creator>PptxGenJS</dc:creator>
  <dc:subject>PptxGenJS Presentation</dc:subject>
  <cp:lastModifiedBy>欧阳芷茵</cp:lastModifiedBy>
  <cp:revision>66</cp:revision>
  <dcterms:created xsi:type="dcterms:W3CDTF">2026-03-26T15:42:00Z</dcterms:created>
  <dcterms:modified xsi:type="dcterms:W3CDTF">2026-06-02T05:49:53Z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E2BAF4848A5C4625BF70E805C155F5D7_12</vt:lpwstr>
  </property>
  <property fmtid="{D5CDD505-2E9C-101B-9397-08002B2CF9AE}" pid="3" name="KSOProductBuildVer">
    <vt:lpwstr>2052-12.1.0.26375</vt:lpwstr>
  </property>
</Properties>
</file>