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3"/>
    <p:sldId id="277" r:id="rId14"/>
    <p:sldId id="278" r:id="rId15"/>
  </p:sldIdLst>
  <p:sldSz cx="12192000" cy="6858000"/>
  <p:notesSz cx="6858000" cy="12192000"/>
  <p:custDataLst>
    <p:tags r:id="rId19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gs" Target="tags/tag100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20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500.3</c:v>
                </c:pt>
                <c:pt idx="1">
                  <c:v>71.82</c:v>
                </c:pt>
                <c:pt idx="2">
                  <c:v>24.62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83.84</c:v>
                </c:pt>
                <c:pt idx="1">
                  <c:v>9.3</c:v>
                </c:pt>
                <c:pt idx="2">
                  <c:v>4.61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11.42</c:v>
                </c:pt>
                <c:pt idx="1">
                  <c:v>6.57</c:v>
                </c:pt>
                <c:pt idx="2">
                  <c:v>0.03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29.55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</c:v>
                </c:pt>
                <c:pt idx="13">
                  <c:v>61.13</c:v>
                </c:pt>
                <c:pt idx="14">
                  <c:v>82.15</c:v>
                </c:pt>
                <c:pt idx="15">
                  <c:v>62.1</c:v>
                </c:pt>
                <c:pt idx="16">
                  <c:v>86.14</c:v>
                </c:pt>
                <c:pt idx="17">
                  <c:v>85.69</c:v>
                </c:pt>
                <c:pt idx="18">
                  <c:v>17.24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62.21</c:v>
                </c:pt>
                <c:pt idx="18">
                  <c:v>24.31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62.21</c:v>
                </c:pt>
                <c:pt idx="6">
                  <c:v>24.31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29.6M / 71件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29.55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17.2M / 51件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</c:v>
                </c:pt>
                <c:pt idx="1">
                  <c:v>61.13</c:v>
                </c:pt>
                <c:pt idx="2">
                  <c:v>82.15</c:v>
                </c:pt>
                <c:pt idx="3">
                  <c:v>62.1</c:v>
                </c:pt>
                <c:pt idx="4">
                  <c:v>86.14</c:v>
                </c:pt>
                <c:pt idx="5">
                  <c:v>85.69</c:v>
                </c:pt>
                <c:pt idx="6">
                  <c:v>17.24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62.2M / 172件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24.3M / 69件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62.21</c:v>
                </c:pt>
                <c:pt idx="6">
                  <c:v>24.31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7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7"/>
                <c:pt idx="0">
                  <c:v>42.32</c:v>
                </c:pt>
                <c:pt idx="1">
                  <c:v>29.76</c:v>
                </c:pt>
                <c:pt idx="2">
                  <c:v>67.65</c:v>
                </c:pt>
                <c:pt idx="3">
                  <c:v>46.32</c:v>
                </c:pt>
                <c:pt idx="4">
                  <c:v>62.59</c:v>
                </c:pt>
                <c:pt idx="5">
                  <c:v>63.97</c:v>
                </c:pt>
                <c:pt idx="6">
                  <c:v>16.83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7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7"/>
                <c:pt idx="0">
                  <c:v>36.68</c:v>
                </c:pt>
                <c:pt idx="1">
                  <c:v>34.31</c:v>
                </c:pt>
                <c:pt idx="2">
                  <c:v>68.56</c:v>
                </c:pt>
                <c:pt idx="3">
                  <c:v>46.86</c:v>
                </c:pt>
                <c:pt idx="4">
                  <c:v>62.22</c:v>
                </c:pt>
                <c:pt idx="5">
                  <c:v>65.6</c:v>
                </c:pt>
                <c:pt idx="6">
                  <c:v>11.99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7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7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</c:v>
                </c:pt>
                <c:pt idx="4">
                  <c:v>56.85</c:v>
                </c:pt>
                <c:pt idx="5">
                  <c:v>48.65</c:v>
                </c:pt>
                <c:pt idx="6">
                  <c:v>21.66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Sheet1!$A$8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Sheet1!$B2:$D8</c:f>
              <c:numCache>
                <c:formatCode>0.0</c:formatCode>
                <c:ptCount val="7"/>
                <c:pt idx="0">
                  <c:v>6.674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5.872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Sheet1!$A$8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Sheet1!$B3:$D8</c:f>
              <c:numCache>
                <c:formatCode>0.0</c:formatCode>
                <c:ptCount val="7"/>
                <c:pt idx="0">
                  <c:v>4.958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0.156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Sheet1!$A$8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Sheet1!$B4:$D8</c:f>
              <c:numCache>
                <c:formatCode>0.0</c:formatCode>
                <c:ptCount val="7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</c:v>
                </c:pt>
                <c:pt idx="4">
                  <c:v>6.0226</c:v>
                </c:pt>
                <c:pt idx="5">
                  <c:v>17.1128</c:v>
                </c:pt>
                <c:pt idx="6">
                  <c:v>0.6345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Sheet1!$A$8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Sheet1!$B2:$D8</c:f>
              <c:numCache>
                <c:formatCode>0.0</c:formatCode>
                <c:ptCount val="7"/>
                <c:pt idx="0">
                  <c:v>1.023</c:v>
                </c:pt>
                <c:pt idx="1">
                  <c:v>0.39</c:v>
                </c:pt>
                <c:pt idx="2">
                  <c:v>0.312</c:v>
                </c:pt>
                <c:pt idx="3">
                  <c:v>2.6315</c:v>
                </c:pt>
                <c:pt idx="4">
                  <c:v>2.391</c:v>
                </c:pt>
                <c:pt idx="5">
                  <c:v>0.819</c:v>
                </c:pt>
                <c:pt idx="6">
                  <c:v>0.234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Sheet1!$A$8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Sheet1!$B3:$D8</c:f>
              <c:numCache>
                <c:formatCode>0.0</c:formatCode>
                <c:ptCount val="7"/>
                <c:pt idx="0">
                  <c:v>1.023</c:v>
                </c:pt>
                <c:pt idx="1">
                  <c:v>0.39</c:v>
                </c:pt>
                <c:pt idx="2">
                  <c:v>0.312</c:v>
                </c:pt>
                <c:pt idx="3">
                  <c:v>1.8935</c:v>
                </c:pt>
                <c:pt idx="4">
                  <c:v>3.129</c:v>
                </c:pt>
                <c:pt idx="5">
                  <c:v>0.819</c:v>
                </c:pt>
                <c:pt idx="6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Sheet1!$A$8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Sheet1!$B4:$D8</c:f>
              <c:numCache>
                <c:formatCode>0.0</c:formatCode>
                <c:ptCount val="7"/>
                <c:pt idx="0">
                  <c:v>1.3447</c:v>
                </c:pt>
                <c:pt idx="1">
                  <c:v>0.39</c:v>
                </c:pt>
                <c:pt idx="2">
                  <c:v>0.468</c:v>
                </c:pt>
                <c:pt idx="3">
                  <c:v>1.6926</c:v>
                </c:pt>
                <c:pt idx="4">
                  <c:v>2.607</c:v>
                </c:pt>
                <c:pt idx="5">
                  <c:v>0.633</c:v>
                </c:pt>
                <c:pt idx="6">
                  <c:v>0.741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Sheet1!$A$8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Sheet1!$B2:$D8</c:f>
              <c:numCache>
                <c:formatCode>0.0</c:formatCode>
                <c:ptCount val="7"/>
                <c:pt idx="0">
                  <c:v>13.8622</c:v>
                </c:pt>
                <c:pt idx="1">
                  <c:v>7.3632</c:v>
                </c:pt>
                <c:pt idx="2">
                  <c:v>14.82</c:v>
                </c:pt>
                <c:pt idx="3">
                  <c:v>7.332</c:v>
                </c:pt>
                <c:pt idx="4">
                  <c:v>6.864</c:v>
                </c:pt>
                <c:pt idx="5">
                  <c:v>10.0542</c:v>
                </c:pt>
                <c:pt idx="6">
                  <c:v>6.24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Sheet1!$A$8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Sheet1!$B3:$D8</c:f>
              <c:numCache>
                <c:formatCode>0.0</c:formatCode>
                <c:ptCount val="7"/>
                <c:pt idx="0">
                  <c:v>17.1382</c:v>
                </c:pt>
                <c:pt idx="1">
                  <c:v>8.3772</c:v>
                </c:pt>
                <c:pt idx="2">
                  <c:v>13.26</c:v>
                </c:pt>
                <c:pt idx="3">
                  <c:v>8.502</c:v>
                </c:pt>
                <c:pt idx="4">
                  <c:v>6.864</c:v>
                </c:pt>
                <c:pt idx="5">
                  <c:v>11.2242</c:v>
                </c:pt>
                <c:pt idx="6">
                  <c:v>4.68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Sheet1!$A$8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Sheet1!$B4:$D8</c:f>
              <c:numCache>
                <c:formatCode>0.0</c:formatCode>
                <c:ptCount val="7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</c:v>
                </c:pt>
                <c:pt idx="4">
                  <c:v>21.7036</c:v>
                </c:pt>
                <c:pt idx="5">
                  <c:v>6.24</c:v>
                </c:pt>
                <c:pt idx="6">
                  <c:v>1.56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Sheet1!$A$8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Sheet1!$B2:$D8</c:f>
              <c:numCache>
                <c:formatCode>0.0</c:formatCode>
                <c:ptCount val="7"/>
                <c:pt idx="0">
                  <c:v>6.1763</c:v>
                </c:pt>
                <c:pt idx="1">
                  <c:v>4.9992</c:v>
                </c:pt>
                <c:pt idx="2">
                  <c:v>15.0477</c:v>
                </c:pt>
                <c:pt idx="3">
                  <c:v>23.6304</c:v>
                </c:pt>
                <c:pt idx="4">
                  <c:v>28.9432</c:v>
                </c:pt>
                <c:pt idx="5">
                  <c:v>38.5652</c:v>
                </c:pt>
                <c:pt idx="6">
                  <c:v>11.751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Sheet1!$A$8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Sheet1!$B3:$D8</c:f>
              <c:numCache>
                <c:formatCode>0.0</c:formatCode>
                <c:ptCount val="7"/>
                <c:pt idx="0">
                  <c:v>2.5883</c:v>
                </c:pt>
                <c:pt idx="1">
                  <c:v>7.5732</c:v>
                </c:pt>
                <c:pt idx="2">
                  <c:v>15.8277</c:v>
                </c:pt>
                <c:pt idx="3">
                  <c:v>22.523</c:v>
                </c:pt>
                <c:pt idx="4">
                  <c:v>28.3147</c:v>
                </c:pt>
                <c:pt idx="5">
                  <c:v>36.3713</c:v>
                </c:pt>
                <c:pt idx="6">
                  <c:v>9.1823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Sheet1!$A$8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Sheet1!$B4:$D8</c:f>
              <c:numCache>
                <c:formatCode>0.0</c:formatCode>
                <c:ptCount val="7"/>
                <c:pt idx="0">
                  <c:v>41.7944</c:v>
                </c:pt>
                <c:pt idx="1">
                  <c:v>5.6723</c:v>
                </c:pt>
                <c:pt idx="2">
                  <c:v>5.929</c:v>
                </c:pt>
                <c:pt idx="3">
                  <c:v>15.0442</c:v>
                </c:pt>
                <c:pt idx="4">
                  <c:v>25.229</c:v>
                </c:pt>
                <c:pt idx="5">
                  <c:v>25.7477</c:v>
                </c:pt>
                <c:pt idx="6">
                  <c:v>6.9189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Sheet1!$A$8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Sheet1!$B2:$D8</c:f>
              <c:numCache>
                <c:formatCode>0.0</c:formatCode>
                <c:ptCount val="7"/>
                <c:pt idx="0">
                  <c:v>17.0096</c:v>
                </c:pt>
                <c:pt idx="1">
                  <c:v>16.1054</c:v>
                </c:pt>
                <c:pt idx="2">
                  <c:v>25.5418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5.2022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Sheet1!$A$8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Sheet1!$B3:$D8</c:f>
              <c:numCache>
                <c:formatCode>0.0</c:formatCode>
                <c:ptCount val="7"/>
                <c:pt idx="0">
                  <c:v>13.7444</c:v>
                </c:pt>
                <c:pt idx="1">
                  <c:v>15.2288</c:v>
                </c:pt>
                <c:pt idx="2">
                  <c:v>28.3861</c:v>
                </c:pt>
                <c:pt idx="3">
                  <c:v>14.7969</c:v>
                </c:pt>
                <c:pt idx="4">
                  <c:v>20.378</c:v>
                </c:pt>
                <c:pt idx="5">
                  <c:v>23.8791</c:v>
                </c:pt>
                <c:pt idx="6">
                  <c:v>2.993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Sheet1!$A$8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Sheet1!$B4:$D8</c:f>
              <c:numCache>
                <c:formatCode>0.0</c:formatCode>
                <c:ptCount val="7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14.3784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Sheet1!$A$8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Sheet1!$B2:$D8</c:f>
              <c:numCache>
                <c:formatCode>0.0</c:formatCode>
                <c:ptCount val="7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Sheet1!$A$8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Sheet1!$B3:$D8</c:f>
              <c:numCache>
                <c:formatCode>0.0</c:formatCode>
                <c:ptCount val="7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0.2262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Sheet1!$A$8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Sheet1!$B4:$D8</c:f>
              <c:numCache>
                <c:formatCode>0.0</c:formatCode>
                <c:ptCount val="7"/>
                <c:pt idx="0">
                  <c:v>0.5802</c:v>
                </c:pt>
                <c:pt idx="1">
                  <c:v>0.897</c:v>
                </c:pt>
                <c:pt idx="2">
                  <c:v>0.3355</c:v>
                </c:pt>
                <c:pt idx="3">
                  <c:v>1.755</c:v>
                </c:pt>
                <c:pt idx="4">
                  <c:v>0.5743</c:v>
                </c:pt>
                <c:pt idx="5">
                  <c:v>0</c:v>
                </c:pt>
                <c:pt idx="6">
                  <c:v>0.078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Sheet1!$A$8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Sheet1!$B2:$D8</c:f>
              <c:numCache>
                <c:formatCode>0.0</c:formatCode>
                <c:ptCount val="7"/>
                <c:pt idx="0">
                  <c:v>2.39</c:v>
                </c:pt>
                <c:pt idx="1">
                  <c:v>12.1092</c:v>
                </c:pt>
                <c:pt idx="2">
                  <c:v>1.8188</c:v>
                </c:pt>
                <c:pt idx="3">
                  <c:v>4</c:v>
                </c:pt>
                <c:pt idx="4">
                  <c:v>0.0088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Sheet1!$A$8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Sheet1!$B3:$D8</c:f>
              <c:numCache>
                <c:formatCode>0.0</c:formatCode>
                <c:ptCount val="7"/>
                <c:pt idx="0">
                  <c:v>2.39</c:v>
                </c:pt>
                <c:pt idx="1">
                  <c:v>12.1092</c:v>
                </c:pt>
                <c:pt idx="2">
                  <c:v>1.8</c:v>
                </c:pt>
                <c:pt idx="3">
                  <c:v>0.0188</c:v>
                </c:pt>
                <c:pt idx="4">
                  <c:v>4.0088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Sheet1!$A$8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Sheet1!$B4:$D8</c:f>
              <c:numCache>
                <c:formatCode>0.0</c:formatCode>
                <c:ptCount val="7"/>
                <c:pt idx="0">
                  <c:v>2.078</c:v>
                </c:pt>
                <c:pt idx="1">
                  <c:v>12</c:v>
                </c:pt>
                <c:pt idx="2">
                  <c:v>0.4992</c:v>
                </c:pt>
                <c:pt idx="3">
                  <c:v>0</c:v>
                </c:pt>
                <c:pt idx="4">
                  <c:v>5.8276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596.75</c:v>
                </c:pt>
                <c:pt idx="1">
                  <c:v>97.75</c:v>
                </c:pt>
                <c:pt idx="2">
                  <c:v>18.02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227.63</c:v>
                </c:pt>
                <c:pt idx="1">
                  <c:v>146.34</c:v>
                </c:pt>
                <c:pt idx="2">
                  <c:v>126.34</c:v>
                </c:pt>
                <c:pt idx="3">
                  <c:v>63.95</c:v>
                </c:pt>
                <c:pt idx="4">
                  <c:v>20.4</c:v>
                </c:pt>
                <c:pt idx="5">
                  <c:v>7.88</c:v>
                </c:pt>
                <c:pt idx="6">
                  <c:v>4.22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25.15</c:v>
                </c:pt>
                <c:pt idx="1">
                  <c:v>20.85</c:v>
                </c:pt>
                <c:pt idx="2">
                  <c:v>37.84</c:v>
                </c:pt>
                <c:pt idx="3">
                  <c:v>8.6</c:v>
                </c:pt>
                <c:pt idx="4">
                  <c:v>0</c:v>
                </c:pt>
                <c:pt idx="5">
                  <c:v>0.7</c:v>
                </c:pt>
                <c:pt idx="6">
                  <c:v>4.61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1.56</c:v>
                </c:pt>
                <c:pt idx="1">
                  <c:v>2.97</c:v>
                </c:pt>
                <c:pt idx="2">
                  <c:v>6.89</c:v>
                </c:pt>
                <c:pt idx="3">
                  <c:v>6.34</c:v>
                </c:pt>
                <c:pt idx="4">
                  <c:v>0</c:v>
                </c:pt>
                <c:pt idx="5">
                  <c:v>0.23</c:v>
                </c:pt>
                <c:pt idx="6">
                  <c:v>0.03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169.84</c:v>
                </c:pt>
                <c:pt idx="2">
                  <c:v>0</c:v>
                </c:pt>
                <c:pt idx="3">
                  <c:v>114.11</c:v>
                </c:pt>
                <c:pt idx="4">
                  <c:v>31.6</c:v>
                </c:pt>
                <c:pt idx="5">
                  <c:v>61.19</c:v>
                </c:pt>
                <c:pt idx="6">
                  <c:v>64.14</c:v>
                </c:pt>
                <c:pt idx="7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7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7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12.77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24.81</c:v>
                </c:pt>
                <c:pt idx="12">
                  <c:v>6.15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21.88</c:v>
                </c:pt>
                <c:pt idx="21">
                  <c:v>11.14</c:v>
                </c:pt>
                <c:pt idx="22">
                  <c:v>21.33</c:v>
                </c:pt>
                <c:pt idx="23">
                  <c:v>16.79</c:v>
                </c:pt>
                <c:pt idx="24">
                  <c:v>26.44</c:v>
                </c:pt>
                <c:pt idx="25">
                  <c:v>14.43</c:v>
                </c:pt>
                <c:pt idx="26">
                  <c:v>23.19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7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7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12.89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16.22</c:v>
                </c:pt>
                <c:pt idx="13">
                  <c:v>6.6</c:v>
                </c:pt>
                <c:pt idx="14">
                  <c:v>14.41</c:v>
                </c:pt>
                <c:pt idx="15">
                  <c:v>18.14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33.8</c:v>
                </c:pt>
                <c:pt idx="21">
                  <c:v>11.77</c:v>
                </c:pt>
                <c:pt idx="22">
                  <c:v>13.07</c:v>
                </c:pt>
                <c:pt idx="23">
                  <c:v>19.94</c:v>
                </c:pt>
                <c:pt idx="24">
                  <c:v>26.37</c:v>
                </c:pt>
                <c:pt idx="25">
                  <c:v>19.77</c:v>
                </c:pt>
                <c:pt idx="26">
                  <c:v>9.97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7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7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14.41</c:v>
                </c:pt>
                <c:pt idx="6">
                  <c:v>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36.38</c:v>
                </c:pt>
                <c:pt idx="13">
                  <c:v>4.16</c:v>
                </c:pt>
                <c:pt idx="14">
                  <c:v>12.33</c:v>
                </c:pt>
                <c:pt idx="15">
                  <c:v>15.46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35.36</c:v>
                </c:pt>
                <c:pt idx="22">
                  <c:v>11.36</c:v>
                </c:pt>
                <c:pt idx="23">
                  <c:v>12.01</c:v>
                </c:pt>
                <c:pt idx="24">
                  <c:v>23.05</c:v>
                </c:pt>
                <c:pt idx="25">
                  <c:v>24.51</c:v>
                </c:pt>
                <c:pt idx="26">
                  <c:v>15.14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7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7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</c:v>
                </c:pt>
                <c:pt idx="23">
                  <c:v>15.44</c:v>
                </c:pt>
                <c:pt idx="24">
                  <c:v>19.28</c:v>
                </c:pt>
                <c:pt idx="25">
                  <c:v>11.35</c:v>
                </c:pt>
                <c:pt idx="26">
                  <c:v>15.98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113.52</c:v>
                </c:pt>
                <c:pt idx="1">
                  <c:v>39.23</c:v>
                </c:pt>
                <c:pt idx="2">
                  <c:v>25.55</c:v>
                </c:pt>
                <c:pt idx="3">
                  <c:v>13.28</c:v>
                </c:pt>
                <c:pt idx="4">
                  <c:v>10.9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37.83</c:v>
                </c:pt>
                <c:pt idx="1">
                  <c:v>5.3</c:v>
                </c:pt>
                <c:pt idx="2">
                  <c:v>3.61</c:v>
                </c:pt>
                <c:pt idx="3">
                  <c:v>0</c:v>
                </c:pt>
                <c:pt idx="4">
                  <c:v>5.36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6.73</c:v>
                </c:pt>
                <c:pt idx="1">
                  <c:v>0.68</c:v>
                </c:pt>
                <c:pt idx="2">
                  <c:v>0</c:v>
                </c:pt>
                <c:pt idx="3">
                  <c:v>0</c:v>
                </c:pt>
                <c:pt idx="4">
                  <c:v>2.34</c:v>
                </c:pt>
                <c:pt idx="5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17.82</c:v>
                </c:pt>
                <c:pt idx="3">
                  <c:v>18.74</c:v>
                </c:pt>
                <c:pt idx="4">
                  <c:v>25.37</c:v>
                </c:pt>
                <c:pt idx="5">
                  <c:v>25.87</c:v>
                </c:pt>
                <c:pt idx="6">
                  <c:v>27.82</c:v>
                </c:pt>
                <c:pt idx="7">
                  <c:v>34.91</c:v>
                </c:pt>
                <c:pt idx="8">
                  <c:v>39.23</c:v>
                </c:pt>
                <c:pt idx="9">
                  <c:v>40.55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1.04</c:v>
                </c:pt>
                <c:pt idx="1">
                  <c:v>0</c:v>
                </c:pt>
                <c:pt idx="2">
                  <c:v>1.59</c:v>
                </c:pt>
                <c:pt idx="3">
                  <c:v>20.19</c:v>
                </c:pt>
                <c:pt idx="4">
                  <c:v>3.61</c:v>
                </c:pt>
                <c:pt idx="5">
                  <c:v>3.69</c:v>
                </c:pt>
                <c:pt idx="6">
                  <c:v>1.01</c:v>
                </c:pt>
                <c:pt idx="7">
                  <c:v>5.2</c:v>
                </c:pt>
                <c:pt idx="8">
                  <c:v>5.3</c:v>
                </c:pt>
                <c:pt idx="9">
                  <c:v>11.34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0.23</c:v>
                </c:pt>
                <c:pt idx="3">
                  <c:v>5.31</c:v>
                </c:pt>
                <c:pt idx="4">
                  <c:v>0</c:v>
                </c:pt>
                <c:pt idx="5">
                  <c:v>0.28</c:v>
                </c:pt>
                <c:pt idx="6">
                  <c:v>0</c:v>
                </c:pt>
                <c:pt idx="7">
                  <c:v>0.12</c:v>
                </c:pt>
                <c:pt idx="8">
                  <c:v>0.68</c:v>
                </c:pt>
                <c:pt idx="9">
                  <c:v>0.9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7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7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5.88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12.52</c:v>
                </c:pt>
                <c:pt idx="12">
                  <c:v>3.9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15.65</c:v>
                </c:pt>
                <c:pt idx="21">
                  <c:v>8.26</c:v>
                </c:pt>
                <c:pt idx="22">
                  <c:v>15.95</c:v>
                </c:pt>
                <c:pt idx="23">
                  <c:v>15.27</c:v>
                </c:pt>
                <c:pt idx="24">
                  <c:v>14.82</c:v>
                </c:pt>
                <c:pt idx="25">
                  <c:v>12.88</c:v>
                </c:pt>
                <c:pt idx="26">
                  <c:v>11.37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7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7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4.34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6.5</c:v>
                </c:pt>
                <c:pt idx="13">
                  <c:v>4.97</c:v>
                </c:pt>
                <c:pt idx="14">
                  <c:v>7.99</c:v>
                </c:pt>
                <c:pt idx="15">
                  <c:v>9.41</c:v>
                </c:pt>
                <c:pt idx="16">
                  <c:v>14.75</c:v>
                </c:pt>
                <c:pt idx="17">
                  <c:v>6</c:v>
                </c:pt>
                <c:pt idx="18">
                  <c:v>11.76</c:v>
                </c:pt>
                <c:pt idx="19">
                  <c:v>10.19</c:v>
                </c:pt>
                <c:pt idx="20">
                  <c:v>20.48</c:v>
                </c:pt>
                <c:pt idx="21">
                  <c:v>8.56</c:v>
                </c:pt>
                <c:pt idx="22">
                  <c:v>8.7</c:v>
                </c:pt>
                <c:pt idx="23">
                  <c:v>16.47</c:v>
                </c:pt>
                <c:pt idx="24">
                  <c:v>20.44</c:v>
                </c:pt>
                <c:pt idx="25">
                  <c:v>11.01</c:v>
                </c:pt>
                <c:pt idx="26">
                  <c:v>7.25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7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7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13.59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2.xml"/><Relationship Id="rId7" Type="http://schemas.openxmlformats.org/officeDocument/2006/relationships/image" Target="../media/image2.svg"/><Relationship Id="rId6" Type="http://schemas.openxmlformats.org/officeDocument/2006/relationships/image" Target="../media/image1.png"/><Relationship Id="rId5" Type="http://schemas.openxmlformats.org/officeDocument/2006/relationships/tags" Target="../tags/tag1.xml"/><Relationship Id="rId4" Type="http://schemas.openxmlformats.org/officeDocument/2006/relationships/chart" Target="../charts/chart6.xml"/><Relationship Id="rId3" Type="http://schemas.openxmlformats.org/officeDocument/2006/relationships/chart" Target="../charts/chart5.xml"/><Relationship Id="rId27" Type="http://schemas.openxmlformats.org/officeDocument/2006/relationships/notesSlide" Target="../notesSlides/notesSlide2.xml"/><Relationship Id="rId26" Type="http://schemas.openxmlformats.org/officeDocument/2006/relationships/slideLayout" Target="../slideLayouts/slideLayout1.xml"/><Relationship Id="rId25" Type="http://schemas.openxmlformats.org/officeDocument/2006/relationships/image" Target="../media/image12.png"/><Relationship Id="rId24" Type="http://schemas.openxmlformats.org/officeDocument/2006/relationships/tags" Target="../tags/tag9.xml"/><Relationship Id="rId23" Type="http://schemas.openxmlformats.org/officeDocument/2006/relationships/image" Target="../media/image11.png"/><Relationship Id="rId22" Type="http://schemas.openxmlformats.org/officeDocument/2006/relationships/tags" Target="../tags/tag8.xml"/><Relationship Id="rId21" Type="http://schemas.openxmlformats.org/officeDocument/2006/relationships/image" Target="../media/image10.png"/><Relationship Id="rId20" Type="http://schemas.openxmlformats.org/officeDocument/2006/relationships/tags" Target="../tags/tag7.xml"/><Relationship Id="rId2" Type="http://schemas.openxmlformats.org/officeDocument/2006/relationships/chart" Target="../charts/chart4.xml"/><Relationship Id="rId19" Type="http://schemas.openxmlformats.org/officeDocument/2006/relationships/image" Target="../media/image9.svg"/><Relationship Id="rId18" Type="http://schemas.openxmlformats.org/officeDocument/2006/relationships/tags" Target="../tags/tag6.xml"/><Relationship Id="rId17" Type="http://schemas.openxmlformats.org/officeDocument/2006/relationships/image" Target="../media/image8.svg"/><Relationship Id="rId16" Type="http://schemas.openxmlformats.org/officeDocument/2006/relationships/tags" Target="../tags/tag5.xml"/><Relationship Id="rId15" Type="http://schemas.openxmlformats.org/officeDocument/2006/relationships/image" Target="../media/image7.svg"/><Relationship Id="rId14" Type="http://schemas.openxmlformats.org/officeDocument/2006/relationships/image" Target="../media/image6.png"/><Relationship Id="rId13" Type="http://schemas.openxmlformats.org/officeDocument/2006/relationships/tags" Target="../tags/tag4.xml"/><Relationship Id="rId12" Type="http://schemas.openxmlformats.org/officeDocument/2006/relationships/image" Target="../media/image5.svg"/><Relationship Id="rId11" Type="http://schemas.openxmlformats.org/officeDocument/2006/relationships/tags" Target="../tags/tag3.xml"/><Relationship Id="rId10" Type="http://schemas.openxmlformats.org/officeDocument/2006/relationships/image" Target="../media/image4.svg"/><Relationship Id="rId1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.xml"/><Relationship Id="rId8" Type="http://schemas.openxmlformats.org/officeDocument/2006/relationships/slideLayout" Target="../slideLayouts/slideLayout1.xml"/><Relationship Id="rId7" Type="http://schemas.openxmlformats.org/officeDocument/2006/relationships/chart" Target="../charts/chart14.xml"/><Relationship Id="rId6" Type="http://schemas.openxmlformats.org/officeDocument/2006/relationships/chart" Target="../charts/chart13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chart" Target="../charts/chart8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chart" Target="../charts/chart16.xml"/><Relationship Id="rId1" Type="http://schemas.openxmlformats.org/officeDocument/2006/relationships/chart" Target="../charts/char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2" Type="http://schemas.openxmlformats.org/officeDocument/2006/relationships/notesSlide" Target="../notesSlides/notesSlide8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37.xml"/><Relationship Id="rId3" Type="http://schemas.openxmlformats.org/officeDocument/2006/relationships/tags" Target="../tags/tag10.xml"/><Relationship Id="rId29" Type="http://schemas.openxmlformats.org/officeDocument/2006/relationships/tags" Target="../tags/tag36.xml"/><Relationship Id="rId28" Type="http://schemas.openxmlformats.org/officeDocument/2006/relationships/tags" Target="../tags/tag35.xml"/><Relationship Id="rId27" Type="http://schemas.openxmlformats.org/officeDocument/2006/relationships/tags" Target="../tags/tag34.xml"/><Relationship Id="rId26" Type="http://schemas.openxmlformats.org/officeDocument/2006/relationships/tags" Target="../tags/tag33.xml"/><Relationship Id="rId25" Type="http://schemas.openxmlformats.org/officeDocument/2006/relationships/tags" Target="../tags/tag32.xml"/><Relationship Id="rId24" Type="http://schemas.openxmlformats.org/officeDocument/2006/relationships/tags" Target="../tags/tag31.xml"/><Relationship Id="rId23" Type="http://schemas.openxmlformats.org/officeDocument/2006/relationships/tags" Target="../tags/tag30.xml"/><Relationship Id="rId22" Type="http://schemas.openxmlformats.org/officeDocument/2006/relationships/tags" Target="../tags/tag29.xml"/><Relationship Id="rId21" Type="http://schemas.openxmlformats.org/officeDocument/2006/relationships/tags" Target="../tags/tag28.xml"/><Relationship Id="rId20" Type="http://schemas.openxmlformats.org/officeDocument/2006/relationships/tags" Target="../tags/tag27.xml"/><Relationship Id="rId2" Type="http://schemas.openxmlformats.org/officeDocument/2006/relationships/chart" Target="../charts/chart19.xml"/><Relationship Id="rId19" Type="http://schemas.openxmlformats.org/officeDocument/2006/relationships/tags" Target="../tags/tag26.xml"/><Relationship Id="rId18" Type="http://schemas.openxmlformats.org/officeDocument/2006/relationships/tags" Target="../tags/tag25.xml"/><Relationship Id="rId17" Type="http://schemas.openxmlformats.org/officeDocument/2006/relationships/tags" Target="../tags/tag24.xml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chart" Target="../charts/chart1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9" Type="http://schemas.openxmlformats.org/officeDocument/2006/relationships/notesSlide" Target="../notesSlides/notesSlide9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53.xml"/><Relationship Id="rId16" Type="http://schemas.openxmlformats.org/officeDocument/2006/relationships/tags" Target="../tags/tag52.xml"/><Relationship Id="rId15" Type="http://schemas.openxmlformats.org/officeDocument/2006/relationships/tags" Target="../tags/tag51.xml"/><Relationship Id="rId14" Type="http://schemas.openxmlformats.org/officeDocument/2006/relationships/tags" Target="../tags/tag50.xml"/><Relationship Id="rId13" Type="http://schemas.openxmlformats.org/officeDocument/2006/relationships/tags" Target="../tags/tag49.xml"/><Relationship Id="rId12" Type="http://schemas.openxmlformats.org/officeDocument/2006/relationships/tags" Target="../tags/tag48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chart" Target="../charts/chart20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6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9" Type="http://schemas.openxmlformats.org/officeDocument/2006/relationships/slideLayout" Target="../slideLayouts/slideLayout1.xml"/><Relationship Id="rId48" Type="http://schemas.openxmlformats.org/officeDocument/2006/relationships/image" Target="../media/image14.png"/><Relationship Id="rId47" Type="http://schemas.openxmlformats.org/officeDocument/2006/relationships/image" Target="../media/image13.png"/><Relationship Id="rId46" Type="http://schemas.openxmlformats.org/officeDocument/2006/relationships/tags" Target="../tags/tag99.xml"/><Relationship Id="rId45" Type="http://schemas.openxmlformats.org/officeDocument/2006/relationships/tags" Target="../tags/tag98.xml"/><Relationship Id="rId44" Type="http://schemas.openxmlformats.org/officeDocument/2006/relationships/tags" Target="../tags/tag97.xml"/><Relationship Id="rId43" Type="http://schemas.openxmlformats.org/officeDocument/2006/relationships/tags" Target="../tags/tag96.xml"/><Relationship Id="rId42" Type="http://schemas.openxmlformats.org/officeDocument/2006/relationships/tags" Target="../tags/tag95.xml"/><Relationship Id="rId41" Type="http://schemas.openxmlformats.org/officeDocument/2006/relationships/tags" Target="../tags/tag94.xml"/><Relationship Id="rId40" Type="http://schemas.openxmlformats.org/officeDocument/2006/relationships/tags" Target="../tags/tag93.xml"/><Relationship Id="rId4" Type="http://schemas.openxmlformats.org/officeDocument/2006/relationships/tags" Target="../tags/tag57.xml"/><Relationship Id="rId39" Type="http://schemas.openxmlformats.org/officeDocument/2006/relationships/tags" Target="../tags/tag92.xml"/><Relationship Id="rId38" Type="http://schemas.openxmlformats.org/officeDocument/2006/relationships/tags" Target="../tags/tag91.xml"/><Relationship Id="rId37" Type="http://schemas.openxmlformats.org/officeDocument/2006/relationships/tags" Target="../tags/tag90.xml"/><Relationship Id="rId36" Type="http://schemas.openxmlformats.org/officeDocument/2006/relationships/tags" Target="../tags/tag89.xml"/><Relationship Id="rId35" Type="http://schemas.openxmlformats.org/officeDocument/2006/relationships/tags" Target="../tags/tag88.xml"/><Relationship Id="rId34" Type="http://schemas.openxmlformats.org/officeDocument/2006/relationships/tags" Target="../tags/tag87.xml"/><Relationship Id="rId33" Type="http://schemas.openxmlformats.org/officeDocument/2006/relationships/tags" Target="../tags/tag86.xml"/><Relationship Id="rId32" Type="http://schemas.openxmlformats.org/officeDocument/2006/relationships/tags" Target="../tags/tag85.xml"/><Relationship Id="rId31" Type="http://schemas.openxmlformats.org/officeDocument/2006/relationships/tags" Target="../tags/tag84.xml"/><Relationship Id="rId30" Type="http://schemas.openxmlformats.org/officeDocument/2006/relationships/tags" Target="../tags/tag83.xml"/><Relationship Id="rId3" Type="http://schemas.openxmlformats.org/officeDocument/2006/relationships/tags" Target="../tags/tag56.xml"/><Relationship Id="rId29" Type="http://schemas.openxmlformats.org/officeDocument/2006/relationships/tags" Target="../tags/tag82.xml"/><Relationship Id="rId28" Type="http://schemas.openxmlformats.org/officeDocument/2006/relationships/tags" Target="../tags/tag81.xml"/><Relationship Id="rId27" Type="http://schemas.openxmlformats.org/officeDocument/2006/relationships/tags" Target="../tags/tag80.xml"/><Relationship Id="rId26" Type="http://schemas.openxmlformats.org/officeDocument/2006/relationships/tags" Target="../tags/tag79.xml"/><Relationship Id="rId25" Type="http://schemas.openxmlformats.org/officeDocument/2006/relationships/tags" Target="../tags/tag78.xml"/><Relationship Id="rId24" Type="http://schemas.openxmlformats.org/officeDocument/2006/relationships/tags" Target="../tags/tag77.xml"/><Relationship Id="rId23" Type="http://schemas.openxmlformats.org/officeDocument/2006/relationships/tags" Target="../tags/tag76.xml"/><Relationship Id="rId22" Type="http://schemas.openxmlformats.org/officeDocument/2006/relationships/tags" Target="../tags/tag75.xml"/><Relationship Id="rId21" Type="http://schemas.openxmlformats.org/officeDocument/2006/relationships/tags" Target="../tags/tag74.xml"/><Relationship Id="rId20" Type="http://schemas.openxmlformats.org/officeDocument/2006/relationships/tags" Target="../tags/tag73.xml"/><Relationship Id="rId2" Type="http://schemas.openxmlformats.org/officeDocument/2006/relationships/tags" Target="../tags/tag55.xml"/><Relationship Id="rId19" Type="http://schemas.openxmlformats.org/officeDocument/2006/relationships/tags" Target="../tags/tag72.xml"/><Relationship Id="rId18" Type="http://schemas.openxmlformats.org/officeDocument/2006/relationships/tags" Target="../tags/tag71.xml"/><Relationship Id="rId17" Type="http://schemas.openxmlformats.org/officeDocument/2006/relationships/tags" Target="../tags/tag70.xml"/><Relationship Id="rId16" Type="http://schemas.openxmlformats.org/officeDocument/2006/relationships/tags" Target="../tags/tag69.xml"/><Relationship Id="rId15" Type="http://schemas.openxmlformats.org/officeDocument/2006/relationships/tags" Target="../tags/tag68.xml"/><Relationship Id="rId14" Type="http://schemas.openxmlformats.org/officeDocument/2006/relationships/tags" Target="../tags/tag67.xml"/><Relationship Id="rId13" Type="http://schemas.openxmlformats.org/officeDocument/2006/relationships/tags" Target="../tags/tag66.xml"/><Relationship Id="rId12" Type="http://schemas.openxmlformats.org/officeDocument/2006/relationships/tags" Target="../tags/tag65.xml"/><Relationship Id="rId11" Type="http://schemas.openxmlformats.org/officeDocument/2006/relationships/tags" Target="../tags/tag64.xml"/><Relationship Id="rId10" Type="http://schemas.openxmlformats.org/officeDocument/2006/relationships/tags" Target="../tags/tag63.xml"/><Relationship Id="rId1" Type="http://schemas.openxmlformats.org/officeDocument/2006/relationships/tags" Target="../tags/tag5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53.6%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597M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1122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-516M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53.6%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597M / 剩余缺口 516M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51.7%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504M / 剩余缺口 472M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596.7M，达成率 53.6%，全年目标 1113M 缺口约 516M。3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596.8M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1122 件  |  占比 80.4%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97.8M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233 件  |  占比 13.2%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18.0M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 件  |  占比 2.4%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 件  |  占比 4.0%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未批核（97.8M，233 件）与待签（18.0M，37 件）合计 115.8M 在管道中，占批核 APE 的 19%。若能快速推进至生效，可直接拉升达成率逾 10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500.3M 占全渠道 83.8%，是唯一业绩主力；未批核 83.8M 是最大转化机会。其余渠道：代理人业务（批核 71.8M）、KA业务（批核 24.6M），体量较小，需明确各渠道扩量优先级。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8558911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1258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9" name="Text 95"/>
          <p:cNvSpPr/>
          <p:nvPr/>
        </p:nvSpPr>
        <p:spPr>
          <a:xfrm>
            <a:off x="8558911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1258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5" name="Text 101"/>
          <p:cNvSpPr/>
          <p:nvPr/>
        </p:nvSpPr>
        <p:spPr>
          <a:xfrm>
            <a:off x="8558911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1258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2" name="Text 108"/>
          <p:cNvSpPr/>
          <p:nvPr/>
        </p:nvSpPr>
        <p:spPr>
          <a:xfrm>
            <a:off x="8558911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1258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8" name="Text 114"/>
          <p:cNvSpPr/>
          <p:nvPr/>
        </p:nvSpPr>
        <p:spPr>
          <a:xfrm>
            <a:off x="8558911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1258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5" name="Text 121"/>
          <p:cNvSpPr/>
          <p:nvPr/>
        </p:nvSpPr>
        <p:spPr>
          <a:xfrm>
            <a:off x="8558911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1258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1" name="Text 127"/>
          <p:cNvSpPr/>
          <p:nvPr/>
        </p:nvSpPr>
        <p:spPr>
          <a:xfrm>
            <a:off x="8558911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1258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24.3M，节后启动正常，后续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963320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963320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963320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963320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963320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963320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963320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45" name="Text 90"/>
          <p:cNvSpPr/>
          <p:nvPr/>
        </p:nvSpPr>
        <p:spPr>
          <a:xfrm>
            <a:off x="1020020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6" name="Text 96"/>
          <p:cNvSpPr/>
          <p:nvPr/>
        </p:nvSpPr>
        <p:spPr>
          <a:xfrm>
            <a:off x="1020020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7" name="Text 102"/>
          <p:cNvSpPr/>
          <p:nvPr/>
        </p:nvSpPr>
        <p:spPr>
          <a:xfrm>
            <a:off x="1020020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8" name="Text 109"/>
          <p:cNvSpPr/>
          <p:nvPr/>
        </p:nvSpPr>
        <p:spPr>
          <a:xfrm>
            <a:off x="1020020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9" name="Text 115"/>
          <p:cNvSpPr/>
          <p:nvPr/>
        </p:nvSpPr>
        <p:spPr>
          <a:xfrm>
            <a:off x="1020020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50" name="Text 122"/>
          <p:cNvSpPr/>
          <p:nvPr/>
        </p:nvSpPr>
        <p:spPr>
          <a:xfrm>
            <a:off x="1020020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51" name="Text 128"/>
          <p:cNvSpPr/>
          <p:nvPr/>
        </p:nvSpPr>
        <p:spPr>
          <a:xfrm>
            <a:off x="1020020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52" name="Text 90"/>
          <p:cNvSpPr/>
          <p:nvPr/>
        </p:nvSpPr>
        <p:spPr>
          <a:xfrm>
            <a:off x="1076720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53" name="Text 96"/>
          <p:cNvSpPr/>
          <p:nvPr/>
        </p:nvSpPr>
        <p:spPr>
          <a:xfrm>
            <a:off x="1076720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54" name="Text 102"/>
          <p:cNvSpPr/>
          <p:nvPr/>
        </p:nvSpPr>
        <p:spPr>
          <a:xfrm>
            <a:off x="1076720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55" name="Text 109"/>
          <p:cNvSpPr/>
          <p:nvPr/>
        </p:nvSpPr>
        <p:spPr>
          <a:xfrm>
            <a:off x="1076720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56" name="Text 115"/>
          <p:cNvSpPr/>
          <p:nvPr/>
        </p:nvSpPr>
        <p:spPr>
          <a:xfrm>
            <a:off x="1076720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57" name="Text 122"/>
          <p:cNvSpPr/>
          <p:nvPr/>
        </p:nvSpPr>
        <p:spPr>
          <a:xfrm>
            <a:off x="1076720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62.2</a:t>
            </a:r>
            <a:endParaRPr lang="en-US" sz="900" dirty="0"/>
          </a:p>
        </p:txBody>
      </p:sp>
      <p:sp>
        <p:nvSpPr>
          <p:cNvPr id="158" name="Text 128"/>
          <p:cNvSpPr/>
          <p:nvPr/>
        </p:nvSpPr>
        <p:spPr>
          <a:xfrm>
            <a:off x="1076720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59" name="Text 90"/>
          <p:cNvSpPr/>
          <p:nvPr/>
        </p:nvSpPr>
        <p:spPr>
          <a:xfrm>
            <a:off x="1133420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0" name="Text 96"/>
          <p:cNvSpPr/>
          <p:nvPr/>
        </p:nvSpPr>
        <p:spPr>
          <a:xfrm>
            <a:off x="1133420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29.6</a:t>
            </a:r>
            <a:endParaRPr lang="en-US" sz="900" dirty="0"/>
          </a:p>
        </p:txBody>
      </p:sp>
      <p:sp>
        <p:nvSpPr>
          <p:cNvPr id="161" name="Text 102"/>
          <p:cNvSpPr/>
          <p:nvPr/>
        </p:nvSpPr>
        <p:spPr>
          <a:xfrm>
            <a:off x="1133420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71件</a:t>
            </a:r>
            <a:endParaRPr lang="en-US" sz="900" dirty="0"/>
          </a:p>
        </p:txBody>
      </p:sp>
      <p:sp>
        <p:nvSpPr>
          <p:cNvPr id="162" name="Text 109"/>
          <p:cNvSpPr/>
          <p:nvPr/>
        </p:nvSpPr>
        <p:spPr>
          <a:xfrm>
            <a:off x="1133420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17.2</a:t>
            </a:r>
            <a:endParaRPr lang="en-US" sz="900" dirty="0"/>
          </a:p>
        </p:txBody>
      </p:sp>
      <p:sp>
        <p:nvSpPr>
          <p:cNvPr id="163" name="Text 115"/>
          <p:cNvSpPr/>
          <p:nvPr/>
        </p:nvSpPr>
        <p:spPr>
          <a:xfrm>
            <a:off x="1133420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900" dirty="0"/>
          </a:p>
        </p:txBody>
      </p:sp>
      <p:sp>
        <p:nvSpPr>
          <p:cNvPr id="164" name="Text 122"/>
          <p:cNvSpPr/>
          <p:nvPr/>
        </p:nvSpPr>
        <p:spPr>
          <a:xfrm>
            <a:off x="1133420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24.3</a:t>
            </a:r>
            <a:endParaRPr lang="en-US" sz="900" dirty="0"/>
          </a:p>
        </p:txBody>
      </p:sp>
      <p:sp>
        <p:nvSpPr>
          <p:cNvPr id="165" name="Text 128"/>
          <p:cNvSpPr/>
          <p:nvPr/>
        </p:nvSpPr>
        <p:spPr>
          <a:xfrm>
            <a:off x="1133420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616862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86.0M/月（剩余 516M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596.7M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53.6% 达成率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516M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46.4% 目标剩余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86.0M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W27，已批核 596.7M（达成率 53.6%），完成全年目标 1113M 还需约 516M，剩余 9 个月月均需 57.4M。若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-65.0%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-79.9%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-60.9%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  <a:endParaRPr lang="zh-CN" sz="1000" dirty="0">
              <a:solidFill>
                <a:srgbClr val="1A7A3F"/>
              </a:solidFill>
            </a:endParaRP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  <a:endParaRPr lang="zh-CN" sz="1000" dirty="0">
              <a:solidFill>
                <a:srgbClr val="1A7A3F"/>
              </a:solidFill>
            </a:endParaRP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-14.6%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  <a:endParaRPr lang="zh-CN" sz="1000" dirty="0">
              <a:solidFill>
                <a:srgbClr val="C0392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504.3M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987件  |  达成率51.7%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51.7%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976M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|  缺口679M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75.8M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未批核165件|  件均45.9万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待签22件  |  件均39.5万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130.2M（160 件），集中度高。头部产品「万年青·卓金保险计划II」贡献 27.6M/46 件，件均 59.9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27.57M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59.9万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18.20M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101.1万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12.48M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138.7万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5.99M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160件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130.2M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41.6万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  <a:endParaRPr lang="en-US" sz="850" dirty="0"/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  <a:endParaRPr lang="en-US" sz="850" dirty="0"/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  <a:endParaRPr lang="en-US" sz="850" dirty="0"/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27.45M</a:t>
            </a:r>
            <a:endParaRPr lang="en-US" sz="850" dirty="0"/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25.68M</a:t>
            </a:r>
            <a:endParaRPr lang="en-US" sz="850" dirty="0"/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9.20M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  <a:endParaRPr lang="en-US" sz="850" dirty="0"/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  <a:endParaRPr lang="en-US" sz="850" dirty="0"/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25.17M</a:t>
            </a:r>
            <a:endParaRPr lang="en-US" sz="850" dirty="0"/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7.57M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  <a:endParaRPr lang="en-US" sz="850" dirty="0"/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  <a:endParaRPr lang="en-US" sz="850" dirty="0"/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  <a:endParaRPr lang="en-US" sz="850" dirty="0"/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  <a:endParaRPr lang="en-US" sz="850" dirty="0"/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  <a:endParaRPr lang="en-US" sz="850" dirty="0"/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  <a:endParaRPr lang="en-US" sz="850" dirty="0"/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  <a:endParaRPr lang="en-US" sz="850" dirty="0"/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42.41M</a:t>
            </a:r>
            <a:endParaRPr lang="en-US" sz="850" dirty="0"/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51.86M</a:t>
            </a:r>
            <a:endParaRPr lang="en-US" sz="850" dirty="0"/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16.78M</a:t>
            </a:r>
            <a:endParaRPr lang="en-US" sz="850" dirty="0"/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  <a:endParaRPr lang="en-US" sz="850" dirty="0"/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  <a:endParaRPr lang="en-US" sz="850" dirty="0"/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  <a:endParaRPr lang="en-US" sz="850" dirty="0"/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  <a:endParaRPr lang="en-US" sz="850" dirty="0"/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23.91M</a:t>
            </a:r>
            <a:endParaRPr lang="en-US" sz="850" dirty="0"/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2.34M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10.85M</a:t>
            </a:r>
            <a:endParaRPr lang="en-US" sz="850" dirty="0"/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9.17M</a:t>
            </a:r>
            <a:endParaRPr lang="en-US" sz="850" dirty="0"/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  <a:endParaRPr lang="en-US" sz="850" dirty="0"/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20.10M</a:t>
            </a:r>
            <a:endParaRPr lang="en-US" sz="850" dirty="0"/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  <a:endParaRPr lang="en-US" sz="850" dirty="0"/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53.6%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597M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516M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1122件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5522" y="3875554"/>
            <a:ext cx="573117" cy="57311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46367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24936" y="2125497"/>
            <a:ext cx="507042" cy="507042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2647539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6956" y="4434298"/>
            <a:ext cx="436330" cy="4363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856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7919" y="5603500"/>
            <a:ext cx="257453" cy="257453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75952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6832" y="5888770"/>
            <a:ext cx="231746" cy="231746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70917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63.9M）但达成率仅 33.1%，是最大战略风险点。IFA业务达成率仅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53.6%  |  剩余缺口 516M  |  需 6 个月完成 46.4%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712.5M，距目标 1113M 仍差 400M。若未批核 97.8M 与待签 18.0M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35213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−146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22210"/>
            <a:ext cx="241200" cy="46206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37025"/>
            <a:ext cx="244475" cy="35750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514145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−98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094529"/>
            <a:ext cx="241300" cy="65905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871649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−18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160434"/>
            <a:ext cx="238760" cy="1464649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37554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699330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−126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84276"/>
            <a:ext cx="241200" cy="233886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61396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61816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9528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721592"/>
            <a:ext cx="241300" cy="1543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98712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92772"/>
            <a:ext cx="241300" cy="28819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6989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28.4M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254.3M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227.6▌25.1▌1.6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170.2M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146.3▌20.9▌3.0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171.1M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126.3▌37.8▌6.9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78.9M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64.0▌8.6▌6.3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8.8M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7.9▌0.7▌0.2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合伙转介业务未批核占比最高（52%），金额达 4.6M，催核优先级最高。其余业务线管道分布相对均衡，需按未批核规模排序推进。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596.8M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1122件  83.8%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83.8%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1122件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712.5M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83.8%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97.8M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233件  13.7%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233件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712.5M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18.0M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  2.5%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2.5%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712.5M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2.5%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712.5M 中，批核占 83.8%（596.7M）。剩余 115.8M（未批 97.8M + 待签 18.0M）若转化可直接推高达成率 10+。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146.3M，缺口 194M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48%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4.2▌4.6▌0.0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424.8M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1070件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407.8M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1038件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410.2M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1033件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593.6M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1121件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593.6M 显著高于预约 424.8M，反映跨周积压存量消化效应。签单累计 407.8M，递交→批核转化效率较高。W07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33.8M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W27（2026）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23.2M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环比+60.7%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环比-49.6%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16.0M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环比+40.8%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97.8M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233件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18.0M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W27 预约 23.2M/54件；签单 10.0M/30件；批核 16.0M/43件。未批核 97.8M（233件）是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12.7M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201.8M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40.5M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52.8M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12.5M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5.3M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45.2M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134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40.2M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27.9M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32.7M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118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3.7M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25.4M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77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29.0M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18.7M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20.2M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58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5.3M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44.2M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468.0M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820件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78.3M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184件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10.7M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557.1M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1030件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1017.8M（占全业务 170.6%），高度集中。 以 568.5M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369417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  批核业绩热力矩阵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）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188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282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387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1122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75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天渠道，大额件审核慢是主要风险。天领业务均值 19.7 天效率最优。整体均值 30 天，P90=75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424.8M/1070件。同行经代领跑，累计 129.1M/367件，占比 30%。W05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407.8M/1038件。同行经代领跑，累计 122.4M/352件，占比 30%。W21 单周峰值 33.8M/68件，是本季度最高单周贡献。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593.6M/1121件。BK业务领跑，累计 224.5M/195件，占比 38%。W08 单周峰值 67.0M/61件，是本季度最高单周贡献。</a:t>
            </a:r>
            <a:endParaRPr lang="en-US" sz="55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Q  周度预约业绩热力矩阵（APE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24" name="Rectangle 923"/>
          <p:cNvSpPr/>
          <p:nvPr/>
        </p:nvSpPr>
        <p:spPr>
          <a:xfrm>
            <a:off x="868880" y="1022032"/>
            <a:ext cx="335249" cy="250996"/>
          </a:xfrm>
          <a:prstGeom prst="rect">
            <a:avLst/>
          </a:prstGeom>
          <a:solidFill>
            <a:srgbClr val="2980B9">
              <a:alpha val="434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862880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26" name="TextBox 925"/>
          <p:cNvSpPr txBox="1"/>
          <p:nvPr/>
        </p:nvSpPr>
        <p:spPr>
          <a:xfrm>
            <a:off x="862880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734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67" name="Rectangle 966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69" name="TextBox 968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0" name="Rectangle 969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2" name="TextBox 971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3" name="Rectangle 972"/>
          <p:cNvSpPr/>
          <p:nvPr/>
        </p:nvSpPr>
        <p:spPr>
          <a:xfrm>
            <a:off x="1910627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904627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5" name="TextBox 974"/>
          <p:cNvSpPr txBox="1"/>
          <p:nvPr/>
        </p:nvSpPr>
        <p:spPr>
          <a:xfrm>
            <a:off x="1904627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6" name="Rectangle 975"/>
          <p:cNvSpPr/>
          <p:nvPr/>
        </p:nvSpPr>
        <p:spPr>
          <a:xfrm>
            <a:off x="295237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946374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8" name="TextBox 977"/>
          <p:cNvSpPr txBox="1"/>
          <p:nvPr/>
        </p:nvSpPr>
        <p:spPr>
          <a:xfrm>
            <a:off x="2946374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0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2" name="Rectangle 981"/>
          <p:cNvSpPr/>
          <p:nvPr/>
        </p:nvSpPr>
        <p:spPr>
          <a:xfrm>
            <a:off x="3994121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3988121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4" name="TextBox 983"/>
          <p:cNvSpPr txBox="1"/>
          <p:nvPr/>
        </p:nvSpPr>
        <p:spPr>
          <a:xfrm>
            <a:off x="3988121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5035868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029868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7" name="TextBox 986"/>
          <p:cNvSpPr txBox="1"/>
          <p:nvPr/>
        </p:nvSpPr>
        <p:spPr>
          <a:xfrm>
            <a:off x="5029868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8" name="Rectangle 987"/>
          <p:cNvSpPr/>
          <p:nvPr/>
        </p:nvSpPr>
        <p:spPr>
          <a:xfrm>
            <a:off x="5730366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TextBox 988"/>
          <p:cNvSpPr txBox="1"/>
          <p:nvPr/>
        </p:nvSpPr>
        <p:spPr>
          <a:xfrm>
            <a:off x="5724366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90" name="TextBox 989"/>
          <p:cNvSpPr txBox="1"/>
          <p:nvPr/>
        </p:nvSpPr>
        <p:spPr>
          <a:xfrm>
            <a:off x="5724366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91" name="TextBox 990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1.7M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81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1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1.3M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3523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>
              <a:alpha val="520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363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518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614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528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85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11.5M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524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81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741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630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78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64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506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1.5M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636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127" name="Rectangle 1126"/>
          <p:cNvSpPr/>
          <p:nvPr/>
        </p:nvSpPr>
        <p:spPr>
          <a:xfrm>
            <a:off x="1216129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1210129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29" name="TextBox 1128"/>
          <p:cNvSpPr txBox="1"/>
          <p:nvPr/>
        </p:nvSpPr>
        <p:spPr>
          <a:xfrm>
            <a:off x="1210129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0" name="Rectangle 1129"/>
          <p:cNvSpPr/>
          <p:nvPr/>
        </p:nvSpPr>
        <p:spPr>
          <a:xfrm>
            <a:off x="2257876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2251876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2" name="TextBox 1131"/>
          <p:cNvSpPr txBox="1"/>
          <p:nvPr/>
        </p:nvSpPr>
        <p:spPr>
          <a:xfrm>
            <a:off x="2251876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3" name="Rectangle 1132"/>
          <p:cNvSpPr/>
          <p:nvPr/>
        </p:nvSpPr>
        <p:spPr>
          <a:xfrm>
            <a:off x="2952374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946374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5" name="TextBox 1134"/>
          <p:cNvSpPr txBox="1"/>
          <p:nvPr/>
        </p:nvSpPr>
        <p:spPr>
          <a:xfrm>
            <a:off x="2946374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6" name="Rectangle 1135"/>
          <p:cNvSpPr/>
          <p:nvPr/>
        </p:nvSpPr>
        <p:spPr>
          <a:xfrm>
            <a:off x="4341370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4335370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8" name="TextBox 1137"/>
          <p:cNvSpPr txBox="1"/>
          <p:nvPr/>
        </p:nvSpPr>
        <p:spPr>
          <a:xfrm>
            <a:off x="4335370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9" name="Rectangle 1138"/>
          <p:cNvSpPr/>
          <p:nvPr/>
        </p:nvSpPr>
        <p:spPr>
          <a:xfrm>
            <a:off x="5035868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5029868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1" name="TextBox 1140"/>
          <p:cNvSpPr txBox="1"/>
          <p:nvPr/>
        </p:nvSpPr>
        <p:spPr>
          <a:xfrm>
            <a:off x="5029868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2" name="Rectangle 1141"/>
          <p:cNvSpPr/>
          <p:nvPr/>
        </p:nvSpPr>
        <p:spPr>
          <a:xfrm>
            <a:off x="5730366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724366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44" name="TextBox 1143"/>
          <p:cNvSpPr txBox="1"/>
          <p:nvPr/>
        </p:nvSpPr>
        <p:spPr>
          <a:xfrm>
            <a:off x="5724366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146" name="Rectangle 1145"/>
          <p:cNvSpPr/>
          <p:nvPr/>
        </p:nvSpPr>
        <p:spPr>
          <a:xfrm>
            <a:off x="868880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862880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48" name="TextBox 1147"/>
          <p:cNvSpPr txBox="1"/>
          <p:nvPr/>
        </p:nvSpPr>
        <p:spPr>
          <a:xfrm>
            <a:off x="862880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49" name="Rectangle 1148"/>
          <p:cNvSpPr/>
          <p:nvPr/>
        </p:nvSpPr>
        <p:spPr>
          <a:xfrm>
            <a:off x="2257876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251876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51" name="TextBox 1150"/>
          <p:cNvSpPr txBox="1"/>
          <p:nvPr/>
        </p:nvSpPr>
        <p:spPr>
          <a:xfrm>
            <a:off x="2251876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52" name="Rectangle 1151"/>
          <p:cNvSpPr/>
          <p:nvPr/>
        </p:nvSpPr>
        <p:spPr>
          <a:xfrm>
            <a:off x="2952374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2946374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54" name="TextBox 1153"/>
          <p:cNvSpPr txBox="1"/>
          <p:nvPr/>
        </p:nvSpPr>
        <p:spPr>
          <a:xfrm>
            <a:off x="2946374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55" name="TextBox 1154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156" name="Rectangle 1155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6.2M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58" name="TextBox 1157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59" name="Rectangle 1158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12.7M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1" name="TextBox 1160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2" name="Rectangle 1161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13.4M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4" name="TextBox 1163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5" name="Rectangle 1164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7" name="TextBox 1166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8" name="Rectangle 1167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9.9M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0" name="TextBox 1169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1" name="Rectangle 1170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3" name="TextBox 1172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4" name="Rectangle 1173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22.2M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6" name="TextBox 1175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7" name="Rectangle 1176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21.0M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9" name="TextBox 1178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0" name="Rectangle 1179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21.9M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2" name="TextBox 1181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3" name="Rectangle 1182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5" name="TextBox 1184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6" name="Rectangle 1185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21.3M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8" name="TextBox 1187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9" name="Rectangle 1188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1" name="TextBox 1190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38件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2" name="Rectangle 1191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4" name="TextBox 1193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72件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5" name="Rectangle 1194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7" name="TextBox 1196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8" name="Rectangle 1197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23.2M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200" name="TextBox 1199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201" name="Rectangle 1200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TextBox 1201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R  周度签单业绩热力矩阵（APE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03" name="TextBox 1202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4" name="TextBox 1203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5" name="TextBox 1204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6" name="TextBox 1205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7" name="TextBox 1206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8" name="TextBox 1207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9" name="TextBox 1208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0" name="TextBox 1209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1" name="TextBox 1210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2" name="TextBox 1211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3" name="TextBox 1212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4" name="TextBox 1213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5" name="TextBox 1214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6" name="TextBox 1215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7" name="TextBox 1216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8" name="TextBox 1217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219" name="Rectangle 1218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56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21" name="TextBox 1220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22" name="Rectangle 1221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4" name="TextBox 1223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5" name="Rectangle 1224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7" name="TextBox 1226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8" name="Rectangle 1227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0" name="TextBox 1229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1" name="Rectangle 1230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3" name="TextBox 1232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4" name="Rectangle 1233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6" name="TextBox 1235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7" name="Rectangle 1236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9" name="TextBox 1238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40" name="Rectangle 1239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2" name="TextBox 1241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3" name="Rectangle 1242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45" name="TextBox 1244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46" name="Rectangle 1245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8" name="TextBox 1247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9" name="Rectangle 1248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1" name="TextBox 1250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2" name="Rectangle 1251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4" name="TextBox 1253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5" name="Rectangle 1254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7" name="TextBox 1256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8" name="Rectangle 1257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60" name="TextBox 1259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61" name="Rectangle 1260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26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TextBox 1261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63" name="TextBox 1262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64" name="TextBox 1263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53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8" name="Rectangle 1297"/>
          <p:cNvSpPr/>
          <p:nvPr/>
        </p:nvSpPr>
        <p:spPr>
          <a:xfrm>
            <a:off x="11016044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010044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300" name="TextBox 1299"/>
          <p:cNvSpPr txBox="1"/>
          <p:nvPr/>
        </p:nvSpPr>
        <p:spPr>
          <a:xfrm>
            <a:off x="11010044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863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90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352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305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537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>
              <a:alpha val="450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938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349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620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>
              <a:alpha val="572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13.6M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54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4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910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842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731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52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17件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609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2.8M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421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440" name="Rectangle 1439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2" name="TextBox 1441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3" name="Rectangle 1442"/>
          <p:cNvSpPr/>
          <p:nvPr/>
        </p:nvSpPr>
        <p:spPr>
          <a:xfrm>
            <a:off x="7543554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537554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5" name="TextBox 1444"/>
          <p:cNvSpPr txBox="1"/>
          <p:nvPr/>
        </p:nvSpPr>
        <p:spPr>
          <a:xfrm>
            <a:off x="7537554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6" name="Rectangle 1445"/>
          <p:cNvSpPr/>
          <p:nvPr/>
        </p:nvSpPr>
        <p:spPr>
          <a:xfrm>
            <a:off x="8238052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8232052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8" name="TextBox 1447"/>
          <p:cNvSpPr txBox="1"/>
          <p:nvPr/>
        </p:nvSpPr>
        <p:spPr>
          <a:xfrm>
            <a:off x="8232052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9" name="Rectangle 1448"/>
          <p:cNvSpPr/>
          <p:nvPr/>
        </p:nvSpPr>
        <p:spPr>
          <a:xfrm>
            <a:off x="8932550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926550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1" name="TextBox 1450"/>
          <p:cNvSpPr txBox="1"/>
          <p:nvPr/>
        </p:nvSpPr>
        <p:spPr>
          <a:xfrm>
            <a:off x="8926550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2" name="Rectangle 1451"/>
          <p:cNvSpPr/>
          <p:nvPr/>
        </p:nvSpPr>
        <p:spPr>
          <a:xfrm>
            <a:off x="10321546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10315546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4" name="TextBox 1453"/>
          <p:cNvSpPr txBox="1"/>
          <p:nvPr/>
        </p:nvSpPr>
        <p:spPr>
          <a:xfrm>
            <a:off x="10315546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5" name="Rectangle 1454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7" name="TextBox 1456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8" name="Rectangle 1457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0" name="TextBox 1459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1" name="Rectangle 1460"/>
          <p:cNvSpPr/>
          <p:nvPr/>
        </p:nvSpPr>
        <p:spPr>
          <a:xfrm>
            <a:off x="11710542" y="2337012"/>
            <a:ext cx="335249" cy="250996"/>
          </a:xfrm>
          <a:prstGeom prst="rect">
            <a:avLst/>
          </a:prstGeom>
          <a:solidFill>
            <a:srgbClr val="94A3B8">
              <a:alpha val="293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704542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63" name="TextBox 1462"/>
          <p:cNvSpPr txBox="1"/>
          <p:nvPr/>
        </p:nvSpPr>
        <p:spPr>
          <a:xfrm>
            <a:off x="11704542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465" name="Rectangle 1464"/>
          <p:cNvSpPr/>
          <p:nvPr/>
        </p:nvSpPr>
        <p:spPr>
          <a:xfrm>
            <a:off x="6849056" y="2600008"/>
            <a:ext cx="335249" cy="250996"/>
          </a:xfrm>
          <a:prstGeom prst="rect">
            <a:avLst/>
          </a:prstGeom>
          <a:solidFill>
            <a:srgbClr val="8E44AD">
              <a:alpha val="587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6843056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7" name="TextBox 1466"/>
          <p:cNvSpPr txBox="1"/>
          <p:nvPr/>
        </p:nvSpPr>
        <p:spPr>
          <a:xfrm>
            <a:off x="6843056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8" name="Rectangle 1467"/>
          <p:cNvSpPr/>
          <p:nvPr/>
        </p:nvSpPr>
        <p:spPr>
          <a:xfrm>
            <a:off x="7890803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7884803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0" name="TextBox 1469"/>
          <p:cNvSpPr txBox="1"/>
          <p:nvPr/>
        </p:nvSpPr>
        <p:spPr>
          <a:xfrm>
            <a:off x="7884803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74" name="Rectangle 1473"/>
          <p:cNvSpPr/>
          <p:nvPr/>
        </p:nvSpPr>
        <p:spPr>
          <a:xfrm>
            <a:off x="8932550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TextBox 1474"/>
          <p:cNvSpPr txBox="1"/>
          <p:nvPr/>
        </p:nvSpPr>
        <p:spPr>
          <a:xfrm>
            <a:off x="8926550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6" name="TextBox 1475"/>
          <p:cNvSpPr txBox="1"/>
          <p:nvPr/>
        </p:nvSpPr>
        <p:spPr>
          <a:xfrm>
            <a:off x="8926550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7" name="TextBox 1476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478" name="Rectangle 1477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0" name="TextBox 1479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38件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1" name="Rectangle 1480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6.6M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3" name="TextBox 1482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4" name="Rectangle 1483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6" name="TextBox 1485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7" name="Rectangle 1486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18.1M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9" name="TextBox 1488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0" name="Rectangle 1489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2" name="TextBox 1491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3" name="Rectangle 1492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13.2M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5" name="TextBox 1494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6" name="Rectangle 1495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8" name="TextBox 1497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9" name="Rectangle 1498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1" name="TextBox 1500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2" name="Rectangle 1501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33.8M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4" name="TextBox 1503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68件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5" name="Rectangle 1504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7" name="TextBox 1506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8" name="Rectangle 1507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13.1M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0" name="TextBox 1509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1" name="Rectangle 1510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3" name="TextBox 1512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4" name="Rectangle 1513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6" name="TextBox 1515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68件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7" name="Rectangle 1516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9" name="TextBox 1518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20" name="Rectangle 1519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10.0M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22" name="TextBox 1521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30件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23" name="Rectangle 1522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TextBox 1523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S  周度批核业绩热力矩阵（APE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25" name="TextBox 1524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6" name="TextBox 1525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7" name="TextBox 1526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8" name="TextBox 1527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9" name="TextBox 1528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0" name="TextBox 1529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1" name="TextBox 1530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2" name="TextBox 1531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3" name="TextBox 1532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4" name="TextBox 1533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5" name="TextBox 1534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6" name="TextBox 1535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7" name="TextBox 1536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8" name="TextBox 1537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9" name="TextBox 1538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40" name="TextBox 1539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541" name="Rectangle 1540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325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3" name="TextBox 1542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4" name="Rectangle 1543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6" name="TextBox 1545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7" name="Rectangle 1546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9" name="TextBox 1548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0" name="Rectangle 1549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2" name="TextBox 1551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3" name="Rectangle 1552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55" name="TextBox 1554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56" name="Rectangle 1555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1.1M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8" name="TextBox 1557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9" name="Rectangle 1558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1" name="TextBox 1560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2" name="Rectangle 1561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4" name="TextBox 1563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5" name="Rectangle 1564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7" name="TextBox 1566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8" name="Rectangle 1567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0" name="TextBox 1569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1" name="Rectangle 1570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3" name="TextBox 1572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4" name="Rectangle 1573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6" name="TextBox 1575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7" name="Rectangle 1576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9" name="TextBox 1578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0" name="Rectangle 1579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2" name="TextBox 1581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3" name="Rectangle 1582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TextBox 1583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5" name="TextBox 1584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6" name="TextBox 1585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8" name="Rectangle 1607"/>
          <p:cNvSpPr/>
          <p:nvPr/>
        </p:nvSpPr>
        <p:spPr>
          <a:xfrm>
            <a:off x="3646872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3640872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0" name="TextBox 1609"/>
          <p:cNvSpPr txBox="1"/>
          <p:nvPr/>
        </p:nvSpPr>
        <p:spPr>
          <a:xfrm>
            <a:off x="3640872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59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7" name="Rectangle 1616"/>
          <p:cNvSpPr/>
          <p:nvPr/>
        </p:nvSpPr>
        <p:spPr>
          <a:xfrm>
            <a:off x="5730366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TextBox 1617"/>
          <p:cNvSpPr txBox="1"/>
          <p:nvPr/>
        </p:nvSpPr>
        <p:spPr>
          <a:xfrm>
            <a:off x="5724366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9" name="TextBox 1618"/>
          <p:cNvSpPr txBox="1"/>
          <p:nvPr/>
        </p:nvSpPr>
        <p:spPr>
          <a:xfrm>
            <a:off x="5724366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0" name="TextBox 1619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621" name="Rectangle 1620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366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3" name="TextBox 1622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4" name="Rectangle 1623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6" name="TextBox 1625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7" name="Rectangle 1626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9" name="TextBox 1628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30" name="Rectangle 1629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32" name="TextBox 1631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33" name="Rectangle 1632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5" name="TextBox 1634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6" name="Rectangle 1635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8" name="TextBox 1637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9" name="Rectangle 1638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1" name="TextBox 1640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2" name="Rectangle 1641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4" name="TextBox 1643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5" name="Rectangle 1644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14.1M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47" name="TextBox 1646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48" name="Rectangle 1647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0" name="TextBox 1649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1" name="Rectangle 1650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3" name="TextBox 1652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4" name="Rectangle 1653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6" name="TextBox 1655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7" name="Rectangle 1656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2.8M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9" name="TextBox 1658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60" name="Rectangle 1659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TextBox 1660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62" name="TextBox 1661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63" name="Rectangle 1662"/>
          <p:cNvSpPr/>
          <p:nvPr/>
        </p:nvSpPr>
        <p:spPr>
          <a:xfrm>
            <a:off x="5730366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TextBox 1663"/>
          <p:cNvSpPr txBox="1"/>
          <p:nvPr/>
        </p:nvSpPr>
        <p:spPr>
          <a:xfrm>
            <a:off x="5724366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65" name="TextBox 1664"/>
          <p:cNvSpPr txBox="1"/>
          <p:nvPr/>
        </p:nvSpPr>
        <p:spPr>
          <a:xfrm>
            <a:off x="5724366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66" name="TextBox 1665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667" name="Rectangle 1666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5086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9" name="TextBox 1668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0" name="Rectangle 1669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345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2" name="TextBox 1671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3" name="Rectangle 1672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435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5" name="TextBox 1674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6" name="Rectangle 1675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451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8" name="TextBox 1677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9" name="Rectangle 1678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52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4.7M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1" name="TextBox 1680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2" name="Rectangle 1681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>
              <a:alpha val="48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4" name="TextBox 1683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5" name="Rectangle 1684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860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87" name="TextBox 1686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88" name="Rectangle 1687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479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3.9M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0" name="TextBox 1689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1" name="Rectangle 1690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676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3" name="TextBox 1692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4" name="Rectangle 1693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455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6" name="TextBox 1695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7" name="Rectangle 1696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568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9" name="TextBox 1698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0" name="Rectangle 1699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>
              <a:alpha val="411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2" name="TextBox 1701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3" name="Rectangle 1702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5" name="TextBox 1704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6" name="Rectangle 1705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4998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TextBox 1706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8" name="TextBox 1707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9" name="Rectangle 1708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514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TextBox 1709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11" name="TextBox 1710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12" name="TextBox 1711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13" name="Rectangle 1712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693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5" name="TextBox 1714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6" name="Rectangle 1715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8" name="TextBox 1717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9" name="Rectangle 1718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1" name="TextBox 1720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2" name="Rectangle 1721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4.6M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4" name="TextBox 1723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5" name="Rectangle 1724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7" name="TextBox 1726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8" name="Rectangle 1727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1.1M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0" name="TextBox 1729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1" name="Rectangle 1730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3" name="TextBox 1732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4" name="Rectangle 1733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36" name="TextBox 1735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37" name="Rectangle 1736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2.5M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9" name="TextBox 1738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0" name="Rectangle 1739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2" name="TextBox 1741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3" name="Rectangle 1742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5" name="TextBox 1744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6" name="Rectangle 1745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8" name="TextBox 1747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9" name="Rectangle 1748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51" name="TextBox 1750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52" name="Rectangle 1751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TextBox 1752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4" name="TextBox 1753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5" name="Rectangle 1754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802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TextBox 1755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7" name="TextBox 1756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8" name="TextBox 1757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59" name="Rectangle 1758"/>
          <p:cNvSpPr/>
          <p:nvPr/>
        </p:nvSpPr>
        <p:spPr>
          <a:xfrm>
            <a:off x="868880" y="5436112"/>
            <a:ext cx="335249" cy="251296"/>
          </a:xfrm>
          <a:prstGeom prst="rect">
            <a:avLst/>
          </a:prstGeom>
          <a:solidFill>
            <a:srgbClr val="94A3B8">
              <a:alpha val="594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862880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1" name="TextBox 1760"/>
          <p:cNvSpPr txBox="1"/>
          <p:nvPr/>
        </p:nvSpPr>
        <p:spPr>
          <a:xfrm>
            <a:off x="862880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2" name="Rectangle 1761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4" name="TextBox 1763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5" name="Rectangle 1764"/>
          <p:cNvSpPr/>
          <p:nvPr/>
        </p:nvSpPr>
        <p:spPr>
          <a:xfrm>
            <a:off x="1910627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1904627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7" name="TextBox 1766"/>
          <p:cNvSpPr txBox="1"/>
          <p:nvPr/>
        </p:nvSpPr>
        <p:spPr>
          <a:xfrm>
            <a:off x="1904627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8" name="Rectangle 1767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0" name="TextBox 1769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1" name="Rectangle 1770"/>
          <p:cNvSpPr/>
          <p:nvPr/>
        </p:nvSpPr>
        <p:spPr>
          <a:xfrm>
            <a:off x="2952374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2946374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73" name="TextBox 1772"/>
          <p:cNvSpPr txBox="1"/>
          <p:nvPr/>
        </p:nvSpPr>
        <p:spPr>
          <a:xfrm>
            <a:off x="2946374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74" name="Rectangle 1773"/>
          <p:cNvSpPr/>
          <p:nvPr/>
        </p:nvSpPr>
        <p:spPr>
          <a:xfrm>
            <a:off x="3646872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TextBox 1774"/>
          <p:cNvSpPr txBox="1"/>
          <p:nvPr/>
        </p:nvSpPr>
        <p:spPr>
          <a:xfrm>
            <a:off x="3640872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6" name="TextBox 1775"/>
          <p:cNvSpPr txBox="1"/>
          <p:nvPr/>
        </p:nvSpPr>
        <p:spPr>
          <a:xfrm>
            <a:off x="3640872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7" name="Rectangle 1776"/>
          <p:cNvSpPr/>
          <p:nvPr/>
        </p:nvSpPr>
        <p:spPr>
          <a:xfrm>
            <a:off x="5383117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TextBox 1777"/>
          <p:cNvSpPr txBox="1"/>
          <p:nvPr/>
        </p:nvSpPr>
        <p:spPr>
          <a:xfrm>
            <a:off x="5377117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9" name="TextBox 1778"/>
          <p:cNvSpPr txBox="1"/>
          <p:nvPr/>
        </p:nvSpPr>
        <p:spPr>
          <a:xfrm>
            <a:off x="5377117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80" name="TextBox 1779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81" name="Rectangle 1780"/>
          <p:cNvSpPr/>
          <p:nvPr/>
        </p:nvSpPr>
        <p:spPr>
          <a:xfrm>
            <a:off x="868880" y="5699408"/>
            <a:ext cx="335249" cy="251296"/>
          </a:xfrm>
          <a:prstGeom prst="rect">
            <a:avLst/>
          </a:prstGeom>
          <a:solidFill>
            <a:srgbClr val="8E44AD">
              <a:alpha val="323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862880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83" name="TextBox 1782"/>
          <p:cNvSpPr txBox="1"/>
          <p:nvPr/>
        </p:nvSpPr>
        <p:spPr>
          <a:xfrm>
            <a:off x="862880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84" name="Rectangle 1783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TextBox 1784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86" name="TextBox 1785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87" name="Rectangle 1786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TextBox 1787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9" name="TextBox 1788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90" name="Rectangle 1789"/>
          <p:cNvSpPr/>
          <p:nvPr/>
        </p:nvSpPr>
        <p:spPr>
          <a:xfrm>
            <a:off x="3646872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TextBox 1790"/>
          <p:cNvSpPr txBox="1"/>
          <p:nvPr/>
        </p:nvSpPr>
        <p:spPr>
          <a:xfrm>
            <a:off x="3640872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92" name="TextBox 1791"/>
          <p:cNvSpPr txBox="1"/>
          <p:nvPr/>
        </p:nvSpPr>
        <p:spPr>
          <a:xfrm>
            <a:off x="3640872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93" name="TextBox 1792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794" name="Rectangle 1793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15.7M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6" name="TextBox 1795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97" name="Rectangle 1796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9" name="TextBox 1798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0" name="Rectangle 1799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24.3M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2" name="TextBox 1801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3" name="Rectangle 1802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24.6M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5" name="TextBox 1804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6" name="Rectangle 1805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23.5M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8" name="TextBox 1807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9" name="Rectangle 1808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8.4M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1" name="TextBox 1810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2" name="Rectangle 1811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15.9M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4" name="TextBox 1813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5" name="Rectangle 1814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7" name="TextBox 1816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8" name="Rectangle 1817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28.1M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0" name="TextBox 1819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1" name="Rectangle 1820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3" name="TextBox 1822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4" name="Rectangle 1823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6" name="TextBox 1825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7" name="Rectangle 1826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15.4M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9" name="TextBox 1828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30" name="Rectangle 1829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TextBox 1830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32" name="TextBox 1831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50件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33" name="Rectangle 1832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35" name="TextBox 1834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36" name="Rectangle 1835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TextBox 1836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38" name="TextBox 1837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500253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500253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526923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846070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74.7%，但模式迥异：姜通件均 APE≈37万 为「大单驱动型」；战略合作 116件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029325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029579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047867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0.0M），件质量最高。姜通未批核量最大（37.8M），批核率 75%，需优先排查件质量问题。头部推荐人质量差异显著，需差异化对接策略。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626745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753110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090295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500380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620395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746760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083945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165件  |  件均35.6万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494030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614045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740410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077595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23件  |  件均42.9万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487680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392047"/>
          <a:ext cx="5526405" cy="5667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265"/>
                <a:gridCol w="477520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40.55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83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11.34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0.90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52.79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39.23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5.30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0.68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45.21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5.20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40.22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25.87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3.69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25.37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3.61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28.98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18.74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20.19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5.31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44.23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1.59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0.23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19.64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9.38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7.22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2.77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1.61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3.24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2.59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5.99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272.68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669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58.69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165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9.86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23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341.23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857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同行W27预约</a:t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11.37M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34件| 件均33.4W</a:t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同行W27签单</a:t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7.25M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25件| 件均29.0W</a:t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同行W27批核</a:t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13.59M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34件| 件均40.0W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W27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5.23M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3.92M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2.18M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0.62M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2.19M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万城保险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3.42M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1.61M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0.74M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0.39M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1.51M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0.32M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7.25M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13.59M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W27 同行批核 13.59M，签单 7.25M，预约 11.37M。签单前端尚在蓄力，预约 11.4M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W01–W27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16.95M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50件 | 件均33.9W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12.18M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| 件均29.0W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21.30M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56件 | 件均38.0W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2948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21.10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22.80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44.21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39.31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37.32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48.68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48.69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61.52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60.25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16.95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12.18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251.34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714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241.79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693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272.68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669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4059 万，环比 +92.3%，前端显著回暖。3 月签单 4421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3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4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6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9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25.1M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0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 |件均76.2W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1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3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4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5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6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8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19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0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10件| 件均62W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1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3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4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4.68M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5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件均67W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6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8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29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0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" name="Shape 19"/>
          <p:cNvSpPr/>
          <p:nvPr>
            <p:custDataLst>
              <p:tags r:id="rId3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" name="Shape 20"/>
          <p:cNvSpPr/>
          <p:nvPr>
            <p:custDataLst>
              <p:tags r:id="rId3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4" name="Text 21"/>
          <p:cNvSpPr/>
          <p:nvPr>
            <p:custDataLst>
              <p:tags r:id="rId3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W27预约</a:t>
            </a:r>
            <a:endParaRPr lang="en-US" sz="800" dirty="0"/>
          </a:p>
        </p:txBody>
      </p:sp>
      <p:sp>
        <p:nvSpPr>
          <p:cNvPr id="5" name="Text 22"/>
          <p:cNvSpPr/>
          <p:nvPr>
            <p:custDataLst>
              <p:tags r:id="rId3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 panose="020F0502020204030204"/>
              </a:rPr>
              <a:t>5.46M</a:t>
            </a:r>
            <a:endParaRPr lang="en-US" sz="1800" dirty="0"/>
          </a:p>
        </p:txBody>
      </p:sp>
      <p:sp>
        <p:nvSpPr>
          <p:cNvPr id="37" name="Text 23"/>
          <p:cNvSpPr/>
          <p:nvPr>
            <p:custDataLst>
              <p:tags r:id="rId3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9件 | 件均60.7W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8" name="Shape 24"/>
          <p:cNvSpPr/>
          <p:nvPr>
            <p:custDataLst>
              <p:tags r:id="rId3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25"/>
          <p:cNvSpPr/>
          <p:nvPr>
            <p:custDataLst>
              <p:tags r:id="rId3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40" name="Text 26"/>
          <p:cNvSpPr/>
          <p:nvPr>
            <p:custDataLst>
              <p:tags r:id="rId3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W27签单</a:t>
            </a:r>
            <a:endParaRPr lang="en-US" sz="800" dirty="0"/>
          </a:p>
        </p:txBody>
      </p:sp>
      <p:sp>
        <p:nvSpPr>
          <p:cNvPr id="41" name="Text 27"/>
          <p:cNvSpPr/>
          <p:nvPr>
            <p:custDataLst>
              <p:tags r:id="rId3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 panose="020F0502020204030204"/>
              </a:rPr>
              <a:t>2.34M</a:t>
            </a:r>
            <a:endParaRPr lang="en-US" sz="1800" dirty="0"/>
          </a:p>
        </p:txBody>
      </p:sp>
      <p:sp>
        <p:nvSpPr>
          <p:cNvPr id="42" name="Text 28"/>
          <p:cNvSpPr/>
          <p:nvPr>
            <p:custDataLst>
              <p:tags r:id="rId4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3件 | 件均78.0W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3" name="Shape 29"/>
          <p:cNvSpPr/>
          <p:nvPr>
            <p:custDataLst>
              <p:tags r:id="rId4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30"/>
          <p:cNvSpPr/>
          <p:nvPr>
            <p:custDataLst>
              <p:tags r:id="rId4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5" name="Text 31"/>
          <p:cNvSpPr/>
          <p:nvPr>
            <p:custDataLst>
              <p:tags r:id="rId4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W27批核</a:t>
            </a:r>
            <a:endParaRPr lang="en-US" sz="800" dirty="0"/>
          </a:p>
        </p:txBody>
      </p:sp>
      <p:sp>
        <p:nvSpPr>
          <p:cNvPr id="46" name="Text 32"/>
          <p:cNvSpPr/>
          <p:nvPr>
            <p:custDataLst>
              <p:tags r:id="rId4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 panose="020F0502020204030204"/>
              </a:rPr>
              <a:t>1.56M</a:t>
            </a:r>
            <a:endParaRPr lang="en-US" sz="1800" dirty="0"/>
          </a:p>
        </p:txBody>
      </p:sp>
      <p:sp>
        <p:nvSpPr>
          <p:cNvPr id="47" name="Text 33"/>
          <p:cNvSpPr/>
          <p:nvPr>
            <p:custDataLst>
              <p:tags r:id="rId4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3件 | 件均52.0W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9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W27 银行 KA 本周业绩详情（M）</a:t>
            </a:r>
            <a:endParaRPr lang="en-US" sz="950" dirty="0"/>
          </a:p>
        </p:txBody>
      </p:sp>
      <p:graphicFrame>
        <p:nvGraphicFramePr>
          <p:cNvPr id="52" name="Table 1"/>
          <p:cNvGraphicFramePr>
            <a:graphicFrameLocks noGrp="1"/>
          </p:cNvGraphicFramePr>
          <p:nvPr>
            <p:custDataLst>
              <p:tags r:id="rId4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1.56M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1.56M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3.90M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2.34M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3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5.46M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2.34M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1.56M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3" name="Picture 51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4" name="Picture 52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  <a:endParaRPr sz="800">
              <a:solidFill>
                <a:srgbClr val="CCCCCC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  <a:endParaRPr sz="900" b="0">
              <a:solidFill>
                <a:srgbClr val="64748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71.8M</a:t>
            </a:r>
            <a:endParaRPr sz="2200" b="1">
              <a:solidFill>
                <a:srgbClr val="1B4F72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223件 | 件均32.2W</a:t>
            </a:r>
            <a:endParaRPr sz="800" b="0">
              <a:solidFill>
                <a:srgbClr val="64748B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  <a:endParaRPr sz="900" b="0">
              <a:solidFill>
                <a:srgbClr val="64748B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9.30M</a:t>
            </a:r>
            <a:endParaRPr sz="2200" b="1">
              <a:solidFill>
                <a:srgbClr val="117A65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26件 | 件均35.8W</a:t>
            </a:r>
            <a:endParaRPr sz="800" b="0">
              <a:solidFill>
                <a:srgbClr val="64748B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  <a:endParaRPr sz="900" b="0">
              <a:solidFill>
                <a:srgbClr val="64748B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6.57M</a:t>
            </a:r>
            <a:endParaRPr sz="2200" b="1">
              <a:solidFill>
                <a:srgbClr val="00796B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件均73.0W</a:t>
            </a:r>
            <a:endParaRPr sz="800" b="0">
              <a:solidFill>
                <a:srgbClr val="64748B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100000" y="127008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154008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天领重庆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2793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3267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118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天领深圳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1500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156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1656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天领成都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1056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400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1471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宁波贴牌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300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694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广西贴牌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332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354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武汉贴牌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199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287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合肥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苏州贴牌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66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厦门贴牌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台州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长沙贴牌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6395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188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860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24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634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7889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220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10008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513008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537008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刘微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263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287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杨璐熙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241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241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杨帆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杨洪美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101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丁洁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788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35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70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23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881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38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0000" y="37792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345792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348792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W27 本周快报 | 代理人业务（天领+成事家办）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376792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天领成都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4.00M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天领重庆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1.87M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0.16M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0.32M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杨帆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0.23M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0.39M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杨璐熙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0.12M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长沙贴牌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武汉贴牌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合肥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苏州贴牌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丁洁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台州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广西贴牌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刘微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天领深圳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宁波贴牌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厦门贴牌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2744"/>
                          </a:solidFill>
                        </a:rPr>
                        <a:t>杨洪美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8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6.11M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0.16M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0.83M</a:t>
                      </a:r>
                      <a:endParaRPr sz="80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  <a:endParaRPr sz="800">
              <a:solidFill>
                <a:srgbClr val="CCCCCC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24.6M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34件 | 件均72.4W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4.61M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9件 | 件均51.2W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0.03M</a:t>
            </a:r>
            <a:endParaRPr sz="2200" b="1">
              <a:solidFill>
                <a:srgbClr val="8B1A1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2件 | 件均1.4W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保险师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新风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懿丰家族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526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明德长青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荻邦咨询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总部职能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79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德约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Molly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迪岸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虹霖贸易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励欧移民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422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23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461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9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3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886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34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W27 本周快报 | KA业务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总部职能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0.23M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0.23M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励欧移民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0.03M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德约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迪岸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明德长青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Molly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懿丰家族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新风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保险师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虹霖贸易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荻邦咨询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0.25M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0.23M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0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13066</Words>
  <Application>WPS 演示</Application>
  <PresentationFormat>On-screen Show (16:9)</PresentationFormat>
  <Paragraphs>4772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Carrie</cp:lastModifiedBy>
  <cp:revision>67</cp:revision>
  <dcterms:created xsi:type="dcterms:W3CDTF">2026-03-26T15:42:00Z</dcterms:created>
  <dcterms:modified xsi:type="dcterms:W3CDTF">2026-07-10T11:57:42Z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2052-12.1.0.21915</vt:lpwstr>
  </property>
</Properties>
</file>