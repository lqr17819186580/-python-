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6" r:id="rId19"/>
    <p:sldId id="277" r:id="rId20"/>
    <p:sldId id="278" r:id="rId21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10.64</c:v>
                </c:pt>
                <c:pt idx="1">
                  <c:v>6.65</c:v>
                </c:pt>
                <c:pt idx="2">
                  <c:v>0.03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0.00</c:v>
                </c:pt>
                <c:pt idx="13">
                  <c:v>0.00</c:v>
                </c:pt>
                <c:pt idx="14">
                  <c:v>0.00</c:v>
                </c:pt>
                <c:pt idx="15">
                  <c:v>0.00</c:v>
                </c:pt>
                <c:pt idx="16">
                  <c:v>0.00</c:v>
                </c:pt>
                <c:pt idx="17">
                  <c:v>0.47</c:v>
                </c:pt>
                <c:pt idx="18">
                  <c:v>22.67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0.00</c:v>
                </c:pt>
                <c:pt idx="13">
                  <c:v>0.00</c:v>
                </c:pt>
                <c:pt idx="14">
                  <c:v>0.00</c:v>
                </c:pt>
                <c:pt idx="15">
                  <c:v>0.00</c:v>
                </c:pt>
                <c:pt idx="16">
                  <c:v>0.00</c:v>
                </c:pt>
                <c:pt idx="17">
                  <c:v>0.00</c:v>
                </c:pt>
                <c:pt idx="18">
                  <c:v>23.14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0.00</c:v>
                </c:pt>
                <c:pt idx="13">
                  <c:v>0.00</c:v>
                </c:pt>
                <c:pt idx="14">
                  <c:v>0.00</c:v>
                </c:pt>
                <c:pt idx="15">
                  <c:v>0.00</c:v>
                </c:pt>
                <c:pt idx="16">
                  <c:v>0.00</c:v>
                </c:pt>
                <c:pt idx="17">
                  <c:v>0.00</c:v>
                </c:pt>
                <c:pt idx="18">
                  <c:v>0.00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0.00</c:v>
                </c:pt>
                <c:pt idx="6">
                  <c:v>0.00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0.5M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22.7M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0.47</c:v>
                </c:pt>
                <c:pt idx="6">
                  <c:v>22.67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0.0M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23.1M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0.00</c:v>
                </c:pt>
                <c:pt idx="6">
                  <c:v>23.14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0.0M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0.0M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0.00</c:v>
                </c:pt>
                <c:pt idx="6">
                  <c:v>0.00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0.47</c:v>
                </c:pt>
                <c:pt idx="6">
                  <c:v>12.82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0.00</c:v>
                </c:pt>
                <c:pt idx="6">
                  <c:v>13.29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0.00</c:v>
                </c:pt>
                <c:pt idx="1">
                  <c:v>0.00</c:v>
                </c:pt>
                <c:pt idx="2">
                  <c:v>0.00</c:v>
                </c:pt>
                <c:pt idx="3">
                  <c:v>0.00</c:v>
                </c:pt>
                <c:pt idx="4">
                  <c:v>0.00</c:v>
                </c:pt>
                <c:pt idx="5">
                  <c:v>0.00</c:v>
                </c:pt>
                <c:pt idx="6">
                  <c:v>0.00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0.4680</c:v>
                </c:pt>
                <c:pt idx="6">
                  <c:v>5.9500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6.4180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5.0700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5.0700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1.5210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1.5210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4.0472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4.0472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0.0278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0.0278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17.32</c:v>
                </c:pt>
                <c:pt idx="2">
                  <c:v>0.0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5.0700</c:v>
                </c:pt>
                <c:pt idx="1">
                  <c:v>4.0500</c:v>
                </c:pt>
                <c:pt idx="2">
                  <c:v>1.5200</c:v>
                </c:pt>
                <c:pt idx="3">
                  <c:v>6.4200</c:v>
                </c:pt>
                <c:pt idx="4">
                  <c:v>0.0000</c:v>
                </c:pt>
                <c:pt idx="5">
                  <c:v>0.2300</c:v>
                </c:pt>
                <c:pt idx="6">
                  <c:v>0.0300</c:v>
                </c:pt>
                <c:pt idx="7">
                  <c:v>0.0000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0.0000</c:v>
                </c:pt>
                <c:pt idx="3">
                  <c:v>0.0000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194.9300</c:v>
                </c:pt>
                <c:pt idx="1">
                  <c:v>335.9500</c:v>
                </c:pt>
                <c:pt idx="2">
                  <c:v>158.4800</c:v>
                </c:pt>
                <c:pt idx="3">
                  <c:v>186.5800</c:v>
                </c:pt>
                <c:pt idx="4">
                  <c:v>52.0000</c:v>
                </c:pt>
                <c:pt idx="5">
                  <c:v>69.7700</c:v>
                </c:pt>
                <c:pt idx="6">
                  <c:v>72.9700</c:v>
                </c:pt>
                <c:pt idx="7">
                  <c:v>25.0000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2.61</c:v>
                </c:pt>
                <c:pt idx="26">
                  <c:v>12.32</c:v>
                </c:pt>
                <c:pt idx="27">
                  <c:v>8.21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2.12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0.43</c:v>
                </c:pt>
                <c:pt idx="27">
                  <c:v>11.65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战略合作</c:v>
                </c:pt>
                <c:pt idx="1">
                  <c:v>Mark</c:v>
                </c:pt>
                <c:pt idx="2">
                  <c:v>姜通</c:v>
                </c:pt>
                <c:pt idx="3">
                  <c:v>高瑶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战略合作</c:v>
                </c:pt>
                <c:pt idx="1">
                  <c:v>Mark</c:v>
                </c:pt>
                <c:pt idx="2">
                  <c:v>姜通</c:v>
                </c:pt>
                <c:pt idx="3">
                  <c:v>高瑶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0.7</c:v>
                </c:pt>
                <c:pt idx="1">
                  <c:v>0.0</c:v>
                </c:pt>
                <c:pt idx="2">
                  <c:v>7.1</c:v>
                </c:pt>
                <c:pt idx="3">
                  <c:v>0.0</c:v>
                </c:pt>
                <c:pt idx="4">
                  <c:v>3.47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战略合作</c:v>
                </c:pt>
                <c:pt idx="1">
                  <c:v>Mark</c:v>
                </c:pt>
                <c:pt idx="2">
                  <c:v>姜通</c:v>
                </c:pt>
                <c:pt idx="3">
                  <c:v>高瑶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唯思</c:v>
                </c:pt>
                <c:pt idx="1">
                  <c:v>卓樾会</c:v>
                </c:pt>
                <c:pt idx="2">
                  <c:v>动力势能</c:v>
                </c:pt>
                <c:pt idx="3">
                  <c:v>利泰丰</c:v>
                </c:pt>
                <c:pt idx="4">
                  <c:v>共享经纪</c:v>
                </c:pt>
                <c:pt idx="5">
                  <c:v>众安国际</c:v>
                </c:pt>
                <c:pt idx="6">
                  <c:v>企鹅保险</c:v>
                </c:pt>
                <c:pt idx="7">
                  <c:v>中天家办</c:v>
                </c:pt>
                <c:pt idx="8">
                  <c:v>万森保险</c:v>
                </c:pt>
                <c:pt idx="9">
                  <c:v>万城保险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唯思</c:v>
                </c:pt>
                <c:pt idx="1">
                  <c:v>卓樾会</c:v>
                </c:pt>
                <c:pt idx="2">
                  <c:v>动力势能</c:v>
                </c:pt>
                <c:pt idx="3">
                  <c:v>利泰丰</c:v>
                </c:pt>
                <c:pt idx="4">
                  <c:v>共享经纪</c:v>
                </c:pt>
                <c:pt idx="5">
                  <c:v>众安国际</c:v>
                </c:pt>
                <c:pt idx="6">
                  <c:v>企鹅保险</c:v>
                </c:pt>
                <c:pt idx="7">
                  <c:v>中天家办</c:v>
                </c:pt>
                <c:pt idx="8">
                  <c:v>万森保险</c:v>
                </c:pt>
                <c:pt idx="9">
                  <c:v>万城保险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0.7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0.23</c:v>
                </c:pt>
                <c:pt idx="7">
                  <c:v>2.42</c:v>
                </c:pt>
                <c:pt idx="8">
                  <c:v>0.0</c:v>
                </c:pt>
                <c:pt idx="9">
                  <c:v>0.23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唯思</c:v>
                </c:pt>
                <c:pt idx="1">
                  <c:v>卓樾会</c:v>
                </c:pt>
                <c:pt idx="2">
                  <c:v>动力势能</c:v>
                </c:pt>
                <c:pt idx="3">
                  <c:v>利泰丰</c:v>
                </c:pt>
                <c:pt idx="4">
                  <c:v>共享经纪</c:v>
                </c:pt>
                <c:pt idx="5">
                  <c:v>众安国际</c:v>
                </c:pt>
                <c:pt idx="6">
                  <c:v>企鹅保险</c:v>
                </c:pt>
                <c:pt idx="7">
                  <c:v>中天家办</c:v>
                </c:pt>
                <c:pt idx="8">
                  <c:v>万森保险</c:v>
                </c:pt>
                <c:pt idx="9">
                  <c:v>万城保险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2.83</c:v>
                </c:pt>
                <c:pt idx="27">
                  <c:v>2.73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0.02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0.78M/7件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0.78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0.78M/7件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0.78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1.79M/3件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0.78M/1件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4.29</c:v>
                </c:pt>
                <c:pt idx="1">
                  <c:v>0.78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0.0</c:v>
                </c:pt>
                <c:pt idx="1">
                  <c:v>200.0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ags" Target="../tags/tag54.xml"/><Relationship Id="rId3" Type="http://schemas.openxmlformats.org/officeDocument/2006/relationships/tags" Target="../tags/tag55.xml"/><Relationship Id="rId4" Type="http://schemas.openxmlformats.org/officeDocument/2006/relationships/tags" Target="../tags/tag56.xml"/><Relationship Id="rId5" Type="http://schemas.openxmlformats.org/officeDocument/2006/relationships/tags" Target="../tags/tag57.xml"/><Relationship Id="rId6" Type="http://schemas.openxmlformats.org/officeDocument/2006/relationships/tags" Target="../tags/tag58.xml"/><Relationship Id="rId7" Type="http://schemas.openxmlformats.org/officeDocument/2006/relationships/tags" Target="../tags/tag59.xml"/><Relationship Id="rId8" Type="http://schemas.openxmlformats.org/officeDocument/2006/relationships/tags" Target="../tags/tag60.xml"/><Relationship Id="rId9" Type="http://schemas.openxmlformats.org/officeDocument/2006/relationships/tags" Target="../tags/tag61.xml"/><Relationship Id="rId10" Type="http://schemas.openxmlformats.org/officeDocument/2006/relationships/tags" Target="../tags/tag62.xml"/><Relationship Id="rId11" Type="http://schemas.openxmlformats.org/officeDocument/2006/relationships/tags" Target="../tags/tag63.xml"/><Relationship Id="rId12" Type="http://schemas.openxmlformats.org/officeDocument/2006/relationships/tags" Target="../tags/tag64.xml"/><Relationship Id="rId13" Type="http://schemas.openxmlformats.org/officeDocument/2006/relationships/tags" Target="../tags/tag65.xml"/><Relationship Id="rId14" Type="http://schemas.openxmlformats.org/officeDocument/2006/relationships/tags" Target="../tags/tag66.xml"/><Relationship Id="rId15" Type="http://schemas.openxmlformats.org/officeDocument/2006/relationships/tags" Target="../tags/tag67.xml"/><Relationship Id="rId16" Type="http://schemas.openxmlformats.org/officeDocument/2006/relationships/tags" Target="../tags/tag68.xml"/><Relationship Id="rId17" Type="http://schemas.openxmlformats.org/officeDocument/2006/relationships/tags" Target="../tags/tag69.xml"/><Relationship Id="rId18" Type="http://schemas.openxmlformats.org/officeDocument/2006/relationships/tags" Target="../tags/tag70.xml"/><Relationship Id="rId19" Type="http://schemas.openxmlformats.org/officeDocument/2006/relationships/tags" Target="../tags/tag71.xml"/><Relationship Id="rId20" Type="http://schemas.openxmlformats.org/officeDocument/2006/relationships/tags" Target="../tags/tag72.xml"/><Relationship Id="rId21" Type="http://schemas.openxmlformats.org/officeDocument/2006/relationships/tags" Target="../tags/tag73.xml"/><Relationship Id="rId22" Type="http://schemas.openxmlformats.org/officeDocument/2006/relationships/tags" Target="../tags/tag74.xml"/><Relationship Id="rId23" Type="http://schemas.openxmlformats.org/officeDocument/2006/relationships/tags" Target="../tags/tag75.xml"/><Relationship Id="rId24" Type="http://schemas.openxmlformats.org/officeDocument/2006/relationships/tags" Target="../tags/tag76.xml"/><Relationship Id="rId25" Type="http://schemas.openxmlformats.org/officeDocument/2006/relationships/tags" Target="../tags/tag77.xml"/><Relationship Id="rId26" Type="http://schemas.openxmlformats.org/officeDocument/2006/relationships/tags" Target="../tags/tag78.xml"/><Relationship Id="rId27" Type="http://schemas.openxmlformats.org/officeDocument/2006/relationships/tags" Target="../tags/tag79.xml"/><Relationship Id="rId28" Type="http://schemas.openxmlformats.org/officeDocument/2006/relationships/tags" Target="../tags/tag80.xml"/><Relationship Id="rId29" Type="http://schemas.openxmlformats.org/officeDocument/2006/relationships/tags" Target="../tags/tag81.xml"/><Relationship Id="rId30" Type="http://schemas.openxmlformats.org/officeDocument/2006/relationships/tags" Target="../tags/tag82.xml"/><Relationship Id="rId31" Type="http://schemas.openxmlformats.org/officeDocument/2006/relationships/tags" Target="../tags/tag83.xml"/><Relationship Id="rId32" Type="http://schemas.openxmlformats.org/officeDocument/2006/relationships/chart" Target="../charts/chart21.xml"/><Relationship Id="rId33" Type="http://schemas.openxmlformats.org/officeDocument/2006/relationships/chart" Target="../charts/chart22.xml"/><Relationship Id="rId34" Type="http://schemas.openxmlformats.org/officeDocument/2006/relationships/chart" Target="../charts/chart23.xml"/><Relationship Id="rId35" Type="http://schemas.openxmlformats.org/officeDocument/2006/relationships/tags" Target="../tags/tag84.xml"/><Relationship Id="rId36" Type="http://schemas.openxmlformats.org/officeDocument/2006/relationships/chart" Target="../charts/chart24.xml"/><Relationship Id="rId37" Type="http://schemas.openxmlformats.org/officeDocument/2006/relationships/chart" Target="../charts/chart25.xml"/><Relationship Id="rId38" Type="http://schemas.openxmlformats.org/officeDocument/2006/relationships/tags" Target="../tags/tag85.xml"/><Relationship Id="rId39" Type="http://schemas.openxmlformats.org/officeDocument/2006/relationships/tags" Target="../tags/tag86.xml"/><Relationship Id="rId40" Type="http://schemas.openxmlformats.org/officeDocument/2006/relationships/tags" Target="../tags/tag87.xml"/><Relationship Id="rId41" Type="http://schemas.openxmlformats.org/officeDocument/2006/relationships/tags" Target="../tags/tag88.xml"/><Relationship Id="rId42" Type="http://schemas.openxmlformats.org/officeDocument/2006/relationships/tags" Target="../tags/tag89.xml"/><Relationship Id="rId43" Type="http://schemas.openxmlformats.org/officeDocument/2006/relationships/tags" Target="../tags/tag90.xml"/><Relationship Id="rId44" Type="http://schemas.openxmlformats.org/officeDocument/2006/relationships/tags" Target="../tags/tag91.xml"/><Relationship Id="rId45" Type="http://schemas.openxmlformats.org/officeDocument/2006/relationships/tags" Target="../tags/tag92.xml"/><Relationship Id="rId46" Type="http://schemas.openxmlformats.org/officeDocument/2006/relationships/tags" Target="../tags/tag93.xml"/><Relationship Id="rId47" Type="http://schemas.openxmlformats.org/officeDocument/2006/relationships/tags" Target="../tags/tag94.xml"/><Relationship Id="rId48" Type="http://schemas.openxmlformats.org/officeDocument/2006/relationships/tags" Target="../tags/tag95.xml"/><Relationship Id="rId49" Type="http://schemas.openxmlformats.org/officeDocument/2006/relationships/tags" Target="../tags/tag96.xml"/><Relationship Id="rId50" Type="http://schemas.openxmlformats.org/officeDocument/2006/relationships/tags" Target="../tags/tag97.xml"/><Relationship Id="rId51" Type="http://schemas.openxmlformats.org/officeDocument/2006/relationships/tags" Target="../tags/tag98.xml"/><Relationship Id="rId52" Type="http://schemas.openxmlformats.org/officeDocument/2006/relationships/tags" Target="../tags/tag99.xml"/><Relationship Id="rId53" Type="http://schemas.openxmlformats.org/officeDocument/2006/relationships/tags" Target="../tags/tag100.xml"/><Relationship Id="rId54" Type="http://schemas.openxmlformats.org/officeDocument/2006/relationships/tags" Target="../tags/tag101.xml"/><Relationship Id="rId55" Type="http://schemas.openxmlformats.org/officeDocument/2006/relationships/tags" Target="../tags/tag102.xml"/><Relationship Id="rId56" Type="http://schemas.openxmlformats.org/officeDocument/2006/relationships/tags" Target="../tags/tag103.xml"/><Relationship Id="rId57" Type="http://schemas.openxmlformats.org/officeDocument/2006/relationships/image" Target="../media/image13.png"/><Relationship Id="rId58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-1113M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0M / 剩余缺口 1113M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0M / 剩余缺口 976M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0.0M，达成率 0.0%，全年目标 1113M 缺口约 1113M。3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0.0%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100.0%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0.0%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0.0%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未批核（17.3M，170 件）与待签（0.0M，21 件）合计 17.3M 在管道中，占批核 APE 的 0%。若能快速推进至生效，可直接拉升达成率逾 2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307.7M 占全渠道 87.8%，是唯一业绩主力；未批核 145.9M 融资率较高，是最大转化机会。代理人（批核 25.9M）与 KA（批核 16.9M）体量极小，需明确各渠道扩量优先级</a:t>
            </a: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呈现存量驱动特征，1月批核峰值 0.0M 为全年迄今最高。3 月预约/签单同步走强，前端动能复苏。7月初已批核 0.0M，节后启动正常，后续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22.7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0.0 万低于 2 月 0.0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-8319108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185.5M/月（剩余 1113M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100.0%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185.5M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0.0M（达成率 0.0%），完成全年目标 1113M 还需约 1113M，剩余 9 个月月均需 123.7M。若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407299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+4744.6%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349625" y="1534795"/>
            <a:ext cx="1145540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b="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▲ 环比 +4.1%</a:t>
            </a:r>
            <a:endParaRPr lang="zh-CN" sz="1000" b="0" dirty="0">
              <a:solidFill>
                <a:srgbClr val="922B2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4450715" y="3264535"/>
            <a:ext cx="1146175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▼ 环比 −96.2%</a:t>
            </a:r>
            <a:endParaRPr lang="zh-CN" sz="1000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08" name="Ann_QD"/>
          <p:cNvSpPr/>
          <p:nvPr/>
        </p:nvSpPr>
        <p:spPr>
          <a:xfrm>
            <a:off x="3520440" y="3264535"/>
            <a:ext cx="1151255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▲ 环比 +27.0%</a:t>
            </a:r>
            <a:endParaRPr lang="zh-CN" sz="1000" b="0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2872740" y="4720590"/>
            <a:ext cx="1263650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▼ 环比 −95.2%</a:t>
            </a:r>
            <a:endParaRPr lang="zh-CN" sz="1000" b="0" dirty="0">
              <a:solidFill>
                <a:srgbClr val="1A6B3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17" name="Ann_PH"/>
          <p:cNvSpPr/>
          <p:nvPr/>
        </p:nvSpPr>
        <p:spPr>
          <a:xfrm>
            <a:off x="4264025" y="5303520"/>
            <a:ext cx="1276985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▲ 环比 +23.1%</a:t>
            </a:r>
            <a:endParaRPr lang="zh-CN" sz="1000" b="0" dirty="0">
              <a:solidFill>
                <a:srgbClr val="1A6B3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4424680" y="1374775"/>
            <a:ext cx="1066800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</a:t>
            </a: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▲</a:t>
            </a: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环比 </a:t>
            </a:r>
            <a:r>
              <a:rPr lang="en-US" alt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42.5</a:t>
            </a:r>
            <a:r>
              <a:rPr lang="zh-CN" sz="1000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%</a:t>
            </a:r>
            <a:endParaRPr lang="zh-CN" sz="1000" dirty="0">
              <a:solidFill>
                <a:srgbClr val="922B2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4478020" y="3264535"/>
            <a:ext cx="106299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▲ 环比 +</a:t>
            </a:r>
            <a:r>
              <a:rPr lang="en-US" alt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32.5</a:t>
            </a:r>
            <a:r>
              <a:rPr lang="zh-CN" sz="1000" b="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%</a:t>
            </a:r>
            <a:endParaRPr lang="zh-CN" sz="1000" b="0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11" name="Ann_PH"/>
          <p:cNvSpPr/>
          <p:nvPr/>
        </p:nvSpPr>
        <p:spPr>
          <a:xfrm>
            <a:off x="4227830" y="4941570"/>
            <a:ext cx="1263650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▼ 环比 −</a:t>
            </a:r>
            <a:r>
              <a:rPr lang="en-US" alt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40</a:t>
            </a: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.</a:t>
            </a:r>
            <a:r>
              <a:rPr lang="en-US" alt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3</a:t>
            </a:r>
            <a:r>
              <a:rPr lang="zh-CN" sz="1000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%</a:t>
            </a:r>
            <a:endParaRPr lang="zh-CN" sz="1000" b="0" dirty="0">
              <a:solidFill>
                <a:srgbClr val="1A6B3A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达成率0.0%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976M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|  缺口679M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13.3M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件均8.3万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件均0.0万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7.5M（162 件），集中度高。头部产品「万年青·卓金保险计划II」贡献 1.9M/45 件，件均 4.3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1.95M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4.3万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0.78M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4.9万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0.78M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39.0万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0.55M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3.2万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0.47M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0.23M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7.5M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7.8万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3.6万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3.53M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2.13M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4.69M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8.22M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5.02M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5.07M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0.00M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0.00M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5688940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550934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/>
          </a:p>
        </p:txBody>
      </p:sp>
      <p:sp>
        <p:nvSpPr>
          <p:cNvPr id="70" name="Shape 67"/>
          <p:cNvSpPr/>
          <p:nvPr/>
        </p:nvSpPr>
        <p:spPr>
          <a:xfrm>
            <a:off x="3151762" y="5551258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537166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2" name="Shape 69"/>
          <p:cNvSpPr/>
          <p:nvPr/>
        </p:nvSpPr>
        <p:spPr>
          <a:xfrm>
            <a:off x="1647817" y="5670614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5413044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1945706" y="5693064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5513472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en-US" sz="650" dirty="0"/>
          </a:p>
        </p:txBody>
      </p:sp>
      <p:sp>
        <p:nvSpPr>
          <p:cNvPr id="76" name="Shape 73"/>
          <p:cNvSpPr/>
          <p:nvPr/>
        </p:nvSpPr>
        <p:spPr>
          <a:xfrm>
            <a:off x="841381" y="5934092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575450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650" dirty="0"/>
          </a:p>
        </p:txBody>
      </p:sp>
      <p:sp>
        <p:nvSpPr>
          <p:cNvPr id="78" name="Shape 75"/>
          <p:cNvSpPr/>
          <p:nvPr/>
        </p:nvSpPr>
        <p:spPr>
          <a:xfrm>
            <a:off x="968896" y="587639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69680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650" dirty="0"/>
          </a:p>
        </p:txBody>
      </p:sp>
      <p:sp>
        <p:nvSpPr>
          <p:cNvPr id="80" name="Shape 77"/>
          <p:cNvSpPr/>
          <p:nvPr/>
        </p:nvSpPr>
        <p:spPr>
          <a:xfrm>
            <a:off x="1003353" y="5893190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71359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650" dirty="0"/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</a:t>
            </a:r>
            <a:endParaRPr lang="en-US" sz="650" dirty="0"/>
          </a:p>
        </p:txBody>
      </p:sp>
      <p:sp>
        <p:nvSpPr>
          <p:cNvPr id="84" name="Shape 81"/>
          <p:cNvSpPr/>
          <p:nvPr/>
        </p:nvSpPr>
        <p:spPr>
          <a:xfrm>
            <a:off x="109855" y="6300470"/>
            <a:ext cx="3776345" cy="39624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天领业务达成率 0.0% 领跑全渠道，是唯一接近达标的渠道。IFA业务规模较大（批核 0.0M）但达成率仅 0.0%，是最大战略风险点。IFA业务达成率仅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0.0%  |  剩余缺口 1113M  |  需 6 个月完成 100.0%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天领业务贡献最大批核（0.0M）。已批核 + 在途合计 17.3M，距目标 1113M 仍差 1096M。若未批核 17.3M 与待签 0.0M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−0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1554480"/>
            <a:ext cx="241200" cy="80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−0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1554480"/>
            <a:ext cx="241200" cy="800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1554480"/>
            <a:ext cx="244475" cy="846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−23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1639110"/>
            <a:ext cx="241300" cy="8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1416230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−0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1639110"/>
            <a:ext cx="238760" cy="3985973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141623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1090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1331600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1554480"/>
            <a:ext cx="241200" cy="800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1331600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−0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1554480"/>
            <a:ext cx="241300" cy="800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1331600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1554480"/>
            <a:ext cx="241300" cy="8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1331600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−0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1554480"/>
            <a:ext cx="241300" cy="800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1331600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−0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天领业务：3 月签单 0.0M 居首，前端动能最强。天领业务：2 月批核峰 0.0M 为存量集中放款。各业务线节奏分化明显，需按渠道特征差异化管理。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5.1M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0.0▌5.1▌0.0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4.0M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0.0▌4.0▌0.0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1.5M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0.0▌1.5▌0.0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6.4M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0.0▌6.4▌0.0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0.2M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0.0▌0.2▌0.0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天领业务未批核占比最高（100%），金额达 6.4M，催核优先级最高。其余业务线管道分布相对均衡，需按未批核规模排序推进。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0.0%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23.1M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100.0%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100.0%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23.1M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100.0%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0.0%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23.1M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17.3M 中，批核占 0.0%（0.0M）。剩余 17.3M（未批 17.3M + 待签 0.0M）若转化可直接推高达成率 2+。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天领业务批核 0.0M 已达目标 193M 的 0.0%，是唯一接近达标的业务线。永明经代目标最大（340M）但实际仅 0.0M，缺口 340M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12.1M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0.0M 显著高于预约 17.3M，反映跨周积压存量消化效应。签单累计 17.3M，递交→批核转化效率较高。W26 预约低点 0.5M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签单峰 16.0M 为阶段高点；W01 批核峰 0.0M 为存量集中消化；W27 预约峰 10.8M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8.2M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环比-33.4%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环比+894.0%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环比+0.0%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23.1M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6.0M/29件；签单 16.0M/30件；批核 0.0M/24件。未批核 17.3M（170件）是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Molly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丁洁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万城保险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个人转介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ICLUB业务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个人转介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中天家办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企鹅保险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73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众安国际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保险师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198件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2.9M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2.9M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226件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0.0M（占全业务 0.0%），高度集中。Molly 以 0.0M 独占 0.0%，是最核心的单一客户，亦是最大集中风险点。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最高（0万）且平均时效 71.8 天（P90=145 天），是唯一超 SLA=60 天渠道，大额件审核慢是主要风险。天领业务均值 19.7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17.3M/948件。天领业务领跑，累计 6.4M/191件，占比 37%。W27 单周峰值 10.8M/39件，是本季度最高单周贡献。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17.3M/932件。天领业务领跑，累计 6.4M/189件，占比 37%。W28 单周峰值 16.0M/30件，是本季度最高单周贡献。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批核数据暂缺。</a:t>
            </a:r>
            <a:endParaRPr lang="en-US" sz="550" dirty="0"/>
          </a:p>
        </p:txBody>
      </p:sp>
      <p:sp>
        <p:nvSpPr>
          <p:cNvPr id="59" name="T7063"/>
          <p:cNvSpPr/>
          <p:nvPr/>
        </p:nvSpPr>
        <p:spPr>
          <a:xfrm>
            <a:off x="2251168" y="1332670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6.2M</a:t>
            </a:r>
            <a:endParaRPr lang="zh-CN" sz="570" dirty="0"/>
          </a:p>
        </p:txBody>
      </p:sp>
      <p:sp>
        <p:nvSpPr>
          <p:cNvPr id="387" name="T8045"/>
          <p:cNvSpPr/>
          <p:nvPr/>
        </p:nvSpPr>
        <p:spPr>
          <a:xfrm>
            <a:off x="1066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9.8M</a:t>
            </a:r>
            <a:endParaRPr lang="zh-CN" sz="570" dirty="0"/>
          </a:p>
        </p:txBody>
      </p:sp>
      <p:sp>
        <p:nvSpPr>
          <p:cNvPr id="390" name="T8048"/>
          <p:cNvSpPr/>
          <p:nvPr/>
        </p:nvSpPr>
        <p:spPr>
          <a:xfrm>
            <a:off x="11056941" y="107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15.8M</a:t>
            </a:r>
            <a:endParaRPr lang="zh-CN" sz="570" dirty="0"/>
          </a:p>
        </p:txBody>
      </p:sp>
      <p:sp>
        <p:nvSpPr>
          <p:cNvPr id="652" name="T6043"/>
          <p:cNvSpPr/>
          <p:nvPr/>
        </p:nvSpPr>
        <p:spPr>
          <a:xfrm>
            <a:off x="416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</a:t>
            </a:r>
            <a:endParaRPr lang="zh-CN" sz="500" dirty="0"/>
          </a:p>
        </p:txBody>
      </p:sp>
      <p:sp>
        <p:nvSpPr>
          <p:cNvPr id="655" name="T6046"/>
          <p:cNvSpPr/>
          <p:nvPr/>
        </p:nvSpPr>
        <p:spPr>
          <a:xfrm>
            <a:off x="455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19件</a:t>
            </a:r>
            <a:endParaRPr lang="zh-CN" sz="500" dirty="0"/>
          </a:p>
        </p:txBody>
      </p:sp>
      <p:sp>
        <p:nvSpPr>
          <p:cNvPr id="658" name="T6049"/>
          <p:cNvSpPr/>
          <p:nvPr/>
        </p:nvSpPr>
        <p:spPr>
          <a:xfrm>
            <a:off x="4949384" y="432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</a:t>
            </a:r>
            <a:endParaRPr lang="zh-CN" sz="50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5035868" y="1022032"/>
            <a:ext cx="335249" cy="250996"/>
          </a:xfrm>
          <a:prstGeom prst="rect">
            <a:avLst/>
          </a:prstGeom>
          <a:solidFill>
            <a:srgbClr val="2980B9">
              <a:alpha val="314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502986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5383117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5.4M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537711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5730366" y="1022032"/>
            <a:ext cx="335249" cy="250996"/>
          </a:xfrm>
          <a:prstGeom prst="rect">
            <a:avLst/>
          </a:prstGeom>
          <a:solidFill>
            <a:srgbClr val="2980B9">
              <a:alpha val="325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572436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202880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34" name="Rectangle 933"/>
          <p:cNvSpPr/>
          <p:nvPr/>
        </p:nvSpPr>
        <p:spPr>
          <a:xfrm>
            <a:off x="5383117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TextBox 934"/>
          <p:cNvSpPr txBox="1"/>
          <p:nvPr/>
        </p:nvSpPr>
        <p:spPr>
          <a:xfrm>
            <a:off x="537711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0.2M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537711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202880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938" name="Rectangle 937"/>
          <p:cNvSpPr/>
          <p:nvPr/>
        </p:nvSpPr>
        <p:spPr>
          <a:xfrm>
            <a:off x="5383117" y="1548024"/>
            <a:ext cx="335249" cy="250996"/>
          </a:xfrm>
          <a:prstGeom prst="rect">
            <a:avLst/>
          </a:prstGeom>
          <a:solidFill>
            <a:srgbClr val="1F3864">
              <a:alpha val="892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TextBox 938"/>
          <p:cNvSpPr txBox="1"/>
          <p:nvPr/>
        </p:nvSpPr>
        <p:spPr>
          <a:xfrm>
            <a:off x="537711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940" name="TextBox 939"/>
          <p:cNvSpPr txBox="1"/>
          <p:nvPr/>
        </p:nvSpPr>
        <p:spPr>
          <a:xfrm>
            <a:off x="537711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941" name="Rectangle 940"/>
          <p:cNvSpPr/>
          <p:nvPr/>
        </p:nvSpPr>
        <p:spPr>
          <a:xfrm>
            <a:off x="5730366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TextBox 941"/>
          <p:cNvSpPr txBox="1"/>
          <p:nvPr/>
        </p:nvSpPr>
        <p:spPr>
          <a:xfrm>
            <a:off x="572436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943" name="TextBox 942"/>
          <p:cNvSpPr txBox="1"/>
          <p:nvPr/>
        </p:nvSpPr>
        <p:spPr>
          <a:xfrm>
            <a:off x="572436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202880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5383117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537711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537711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5730366" y="1811020"/>
            <a:ext cx="335249" cy="250996"/>
          </a:xfrm>
          <a:prstGeom prst="rect">
            <a:avLst/>
          </a:prstGeom>
          <a:solidFill>
            <a:srgbClr val="E67E22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572436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572436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951" name="TextBox 950"/>
          <p:cNvSpPr txBox="1"/>
          <p:nvPr/>
        </p:nvSpPr>
        <p:spPr>
          <a:xfrm>
            <a:off x="202880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952" name="Rectangle 951"/>
          <p:cNvSpPr/>
          <p:nvPr/>
        </p:nvSpPr>
        <p:spPr>
          <a:xfrm>
            <a:off x="5383117" y="2074016"/>
            <a:ext cx="335249" cy="250996"/>
          </a:xfrm>
          <a:prstGeom prst="rect">
            <a:avLst/>
          </a:prstGeom>
          <a:solidFill>
            <a:srgbClr val="1A7A3F">
              <a:alpha val="862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TextBox 952"/>
          <p:cNvSpPr txBox="1"/>
          <p:nvPr/>
        </p:nvSpPr>
        <p:spPr>
          <a:xfrm>
            <a:off x="537711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954" name="TextBox 953"/>
          <p:cNvSpPr txBox="1"/>
          <p:nvPr/>
        </p:nvSpPr>
        <p:spPr>
          <a:xfrm>
            <a:off x="537711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955" name="Rectangle 954"/>
          <p:cNvSpPr/>
          <p:nvPr/>
        </p:nvSpPr>
        <p:spPr>
          <a:xfrm>
            <a:off x="5730366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TextBox 955"/>
          <p:cNvSpPr txBox="1"/>
          <p:nvPr/>
        </p:nvSpPr>
        <p:spPr>
          <a:xfrm>
            <a:off x="572436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957" name="TextBox 956"/>
          <p:cNvSpPr txBox="1"/>
          <p:nvPr/>
        </p:nvSpPr>
        <p:spPr>
          <a:xfrm>
            <a:off x="572436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958" name="TextBox 957"/>
          <p:cNvSpPr txBox="1"/>
          <p:nvPr/>
        </p:nvSpPr>
        <p:spPr>
          <a:xfrm>
            <a:off x="202880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959" name="Rectangle 958"/>
          <p:cNvSpPr/>
          <p:nvPr/>
        </p:nvSpPr>
        <p:spPr>
          <a:xfrm>
            <a:off x="5383117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TextBox 959"/>
          <p:cNvSpPr txBox="1"/>
          <p:nvPr/>
        </p:nvSpPr>
        <p:spPr>
          <a:xfrm>
            <a:off x="537711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0.0M</a:t>
            </a:r>
          </a:p>
        </p:txBody>
      </p:sp>
      <p:sp>
        <p:nvSpPr>
          <p:cNvPr id="961" name="TextBox 960"/>
          <p:cNvSpPr txBox="1"/>
          <p:nvPr/>
        </p:nvSpPr>
        <p:spPr>
          <a:xfrm>
            <a:off x="537711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202880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963" name="TextBox 962"/>
          <p:cNvSpPr txBox="1"/>
          <p:nvPr/>
        </p:nvSpPr>
        <p:spPr>
          <a:xfrm>
            <a:off x="202880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964" name="Rectangle 963"/>
          <p:cNvSpPr/>
          <p:nvPr/>
        </p:nvSpPr>
        <p:spPr>
          <a:xfrm>
            <a:off x="503586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TextBox 964"/>
          <p:cNvSpPr txBox="1"/>
          <p:nvPr/>
        </p:nvSpPr>
        <p:spPr>
          <a:xfrm>
            <a:off x="502986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0.5M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502986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28件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538311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537711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10.8M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537711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573036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572436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6.0M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572436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76" name="TextBox 975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80" name="TextBox 979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82" name="TextBox 981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83" name="TextBox 982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86" name="TextBox 985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90" name="TextBox 989"/>
          <p:cNvSpPr txBox="1"/>
          <p:nvPr/>
        </p:nvSpPr>
        <p:spPr>
          <a:xfrm>
            <a:off x="6183056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91" name="Rectangle 990"/>
          <p:cNvSpPr/>
          <p:nvPr/>
        </p:nvSpPr>
        <p:spPr>
          <a:xfrm>
            <a:off x="11363293" y="1022032"/>
            <a:ext cx="335249" cy="250996"/>
          </a:xfrm>
          <a:prstGeom prst="rect">
            <a:avLst/>
          </a:prstGeom>
          <a:solidFill>
            <a:srgbClr val="2980B9">
              <a:alpha val="308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TextBox 991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993" name="TextBox 992"/>
          <p:cNvSpPr txBox="1"/>
          <p:nvPr/>
        </p:nvSpPr>
        <p:spPr>
          <a:xfrm>
            <a:off x="1135729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994" name="Rectangle 993"/>
          <p:cNvSpPr/>
          <p:nvPr/>
        </p:nvSpPr>
        <p:spPr>
          <a:xfrm>
            <a:off x="11710542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TextBox 994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996" name="TextBox 995"/>
          <p:cNvSpPr txBox="1"/>
          <p:nvPr/>
        </p:nvSpPr>
        <p:spPr>
          <a:xfrm>
            <a:off x="1170454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6183056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11710542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170454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0.2M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1170454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6183056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002" name="Rectangle 1001"/>
          <p:cNvSpPr/>
          <p:nvPr/>
        </p:nvSpPr>
        <p:spPr>
          <a:xfrm>
            <a:off x="11363293" y="1548024"/>
            <a:ext cx="335249" cy="250996"/>
          </a:xfrm>
          <a:prstGeom prst="rect">
            <a:avLst/>
          </a:prstGeom>
          <a:solidFill>
            <a:srgbClr val="1F3864">
              <a:alpha val="386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TextBox 1002"/>
          <p:cNvSpPr txBox="1"/>
          <p:nvPr/>
        </p:nvSpPr>
        <p:spPr>
          <a:xfrm>
            <a:off x="1135729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04" name="TextBox 1003"/>
          <p:cNvSpPr txBox="1"/>
          <p:nvPr/>
        </p:nvSpPr>
        <p:spPr>
          <a:xfrm>
            <a:off x="1135729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005" name="Rectangle 1004"/>
          <p:cNvSpPr/>
          <p:nvPr/>
        </p:nvSpPr>
        <p:spPr>
          <a:xfrm>
            <a:off x="11710542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TextBox 1005"/>
          <p:cNvSpPr txBox="1"/>
          <p:nvPr/>
        </p:nvSpPr>
        <p:spPr>
          <a:xfrm>
            <a:off x="1170454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007" name="TextBox 1006"/>
          <p:cNvSpPr txBox="1"/>
          <p:nvPr/>
        </p:nvSpPr>
        <p:spPr>
          <a:xfrm>
            <a:off x="1170454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08" name="TextBox 1007"/>
          <p:cNvSpPr txBox="1"/>
          <p:nvPr/>
        </p:nvSpPr>
        <p:spPr>
          <a:xfrm>
            <a:off x="6183056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09" name="Rectangle 1008"/>
          <p:cNvSpPr/>
          <p:nvPr/>
        </p:nvSpPr>
        <p:spPr>
          <a:xfrm>
            <a:off x="11710542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1170454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1.5M</a:t>
            </a:r>
          </a:p>
        </p:txBody>
      </p:sp>
      <p:sp>
        <p:nvSpPr>
          <p:cNvPr id="1011" name="TextBox 1010"/>
          <p:cNvSpPr txBox="1"/>
          <p:nvPr/>
        </p:nvSpPr>
        <p:spPr>
          <a:xfrm>
            <a:off x="1170454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6183056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11363293" y="2074016"/>
            <a:ext cx="335249" cy="250996"/>
          </a:xfrm>
          <a:prstGeom prst="rect">
            <a:avLst/>
          </a:prstGeom>
          <a:solidFill>
            <a:srgbClr val="1A7A3F">
              <a:alpha val="254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1135729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0.0M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1135729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11710542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1170454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1170454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19" name="TextBox 1018"/>
          <p:cNvSpPr txBox="1"/>
          <p:nvPr/>
        </p:nvSpPr>
        <p:spPr>
          <a:xfrm>
            <a:off x="6183056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020" name="Rectangle 1019"/>
          <p:cNvSpPr/>
          <p:nvPr/>
        </p:nvSpPr>
        <p:spPr>
          <a:xfrm>
            <a:off x="11363293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TextBox 1020"/>
          <p:cNvSpPr txBox="1"/>
          <p:nvPr/>
        </p:nvSpPr>
        <p:spPr>
          <a:xfrm>
            <a:off x="1135729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0.0M</a:t>
            </a:r>
          </a:p>
        </p:txBody>
      </p:sp>
      <p:sp>
        <p:nvSpPr>
          <p:cNvPr id="1022" name="TextBox 1021"/>
          <p:cNvSpPr txBox="1"/>
          <p:nvPr/>
        </p:nvSpPr>
        <p:spPr>
          <a:xfrm>
            <a:off x="1135729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023" name="TextBox 1022"/>
          <p:cNvSpPr txBox="1"/>
          <p:nvPr/>
        </p:nvSpPr>
        <p:spPr>
          <a:xfrm>
            <a:off x="6183056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6183056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1136329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1135729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1.3M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1135729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1171054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1170454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16.0M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1170454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30件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038" name="TextBox 1037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202880" y="411363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202880" y="437692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202880" y="464022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202880" y="4903520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202880" y="5166816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202880" y="543011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202880" y="569340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02880" y="595670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推荐人数据待更新。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战略合作批核率 0%（批核 0.0M，未批核 0.7M），件质量最高。姜通未批核量最大（7.1M），批核率 0%，需优先排查件质量问题。头部推荐人质量差异显著，需差异化对接策略。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94件  |  件均5.9万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750">
                <a:solidFill>
                  <a:srgbClr val="374151"/>
                </a:solidFill>
                <a:latin typeface="Calibri"/>
              </a:rPr>
              <a:t>17件  |  件均0.0万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0.23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2.42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2.42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0.23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0.23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0.70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0.70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0.82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0.82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C0392B"/>
                          </a:solidFill>
                          <a:latin typeface="Calibri"/>
                        </a:rPr>
                        <a:t>0.48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94A3B8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>—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4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2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1A3A5C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40">
                          <a:solidFill>
                            <a:srgbClr val="374151"/>
                          </a:solidFill>
                          <a:latin typeface="Calibri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619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5.57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94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17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80" b="1">
                          <a:solidFill>
                            <a:srgbClr val="FFFFFF"/>
                          </a:solidFill>
                          <a:latin typeface="Calibri"/>
                        </a:rPr>
                        <a:t>5.57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Calibri"/>
                        </a:rPr>
                        <a:t>730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2.73M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件均13.0W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0件| 件均0.0W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1.68M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2.40M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0.20M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0.82M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0.31M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0.70M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0.32M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0.48M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裕承资产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0.57M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万城保险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/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/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/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/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sz="850" b="1">
                          <a:solidFill>
                            <a:srgbClr val="1A1A2E"/>
                          </a:solidFill>
                        </a:rPr>
                        <a:t/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B4F72"/>
                          </a:solidFill>
                        </a:rPr>
                        <a:t/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117A65"/>
                          </a:solidFill>
                        </a:rPr>
                        <a:t/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sz="800">
                          <a:solidFill>
                            <a:srgbClr val="64748B"/>
                          </a:solidFill>
                        </a:rPr>
                        <a:t/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50"/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8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0.00M，签单 5.54M，预约 2.73M。签单前端尚在蓄力，预约 2.7M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5.57M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41件 | 件均13.6W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5.57M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33件 | 件均16.9W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件均0.0W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83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63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75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91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5.57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41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5.57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33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1A3A5C"/>
                          </a:solidFill>
                          <a:latin typeface="Calibri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374151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5.57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436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5.57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422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sz="1000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0 万，环比 +0.0%，前端显著回暖。3 月签单 0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3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5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6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达成率0.0%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7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8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9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0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5.1M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1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|件均13.7W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2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3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4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5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16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17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18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19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0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5.07M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1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件均36W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2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3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4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5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5.07M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26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件均36W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27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28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29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0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1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1" name="Shape 19"/>
          <p:cNvSpPr/>
          <p:nvPr>
            <p:custDataLst>
              <p:tags r:id="rId41"/>
            </p:custDataLst>
          </p:nvPr>
        </p:nvSpPr>
        <p:spPr>
          <a:xfrm>
            <a:off x="11176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2"/>
            </p:custDataLst>
          </p:nvPr>
        </p:nvSpPr>
        <p:spPr>
          <a:xfrm>
            <a:off x="111760" y="1400000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43"/>
            </p:custDataLst>
          </p:nvPr>
        </p:nvSpPr>
        <p:spPr>
          <a:xfrm>
            <a:off x="2209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44"/>
            </p:custDataLst>
          </p:nvPr>
        </p:nvSpPr>
        <p:spPr>
          <a:xfrm>
            <a:off x="2209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9B2335"/>
                </a:solidFill>
                <a:latin typeface="Calibri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45"/>
            </p:custDataLst>
          </p:nvPr>
        </p:nvSpPr>
        <p:spPr>
          <a:xfrm>
            <a:off x="2209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4件 | 件均68.2W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46"/>
            </p:custDataLst>
          </p:nvPr>
        </p:nvSpPr>
        <p:spPr>
          <a:xfrm>
            <a:off x="2155825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47"/>
            </p:custDataLst>
          </p:nvPr>
        </p:nvSpPr>
        <p:spPr>
          <a:xfrm>
            <a:off x="2155825" y="1400000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48"/>
            </p:custDataLst>
          </p:nvPr>
        </p:nvSpPr>
        <p:spPr>
          <a:xfrm>
            <a:off x="2265680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49"/>
            </p:custDataLst>
          </p:nvPr>
        </p:nvSpPr>
        <p:spPr>
          <a:xfrm>
            <a:off x="2265680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B2737"/>
                </a:solidFill>
                <a:latin typeface="Calibri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50"/>
            </p:custDataLst>
          </p:nvPr>
        </p:nvSpPr>
        <p:spPr>
          <a:xfrm>
            <a:off x="2265680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7件 | 件均61.3W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51"/>
            </p:custDataLst>
          </p:nvPr>
        </p:nvSpPr>
        <p:spPr>
          <a:xfrm>
            <a:off x="4220210" y="1400000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52"/>
            </p:custDataLst>
          </p:nvPr>
        </p:nvSpPr>
        <p:spPr>
          <a:xfrm>
            <a:off x="4220210" y="1400000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53"/>
            </p:custDataLst>
          </p:nvPr>
        </p:nvSpPr>
        <p:spPr>
          <a:xfrm>
            <a:off x="4330065" y="1454610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800">
                <a:solidFill>
                  <a:srgbClr val="64748B"/>
                </a:solidFill>
                <a:latin typeface="Calibri"/>
              </a:rPr>
              <a:t>BK W28批核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54"/>
            </p:custDataLst>
          </p:nvPr>
        </p:nvSpPr>
        <p:spPr>
          <a:xfrm>
            <a:off x="4330065" y="1628600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800" b="1">
                <a:solidFill>
                  <a:srgbClr val="6C3483"/>
                </a:solidFill>
                <a:latin typeface="Calibri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55"/>
            </p:custDataLst>
          </p:nvPr>
        </p:nvSpPr>
        <p:spPr>
          <a:xfrm>
            <a:off x="4330065" y="1939115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750">
                <a:solidFill>
                  <a:srgbClr val="64748B"/>
                </a:solidFill>
                <a:latin typeface="Calibri"/>
              </a:rPr>
              <a:t>0件 | 件均0W</a:t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45" name="Shape 40"/>
          <p:cNvSpPr/>
          <p:nvPr/>
        </p:nvSpPr>
        <p:spPr>
          <a:xfrm>
            <a:off x="57150" y="2328890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2320000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56"/>
            </p:custDataLst>
          </p:nvPr>
        </p:nvGraphicFramePr>
        <p:xfrm>
          <a:off x="59055" y="2621625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>
                          <a:solidFill>
                            <a:srgbClr val="117A65"/>
                          </a:solidFill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sz="900" b="1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6200000" y="1400000"/>
            <a:ext cx="5900000" cy="3500000"/>
          </a:xfrm>
          <a:prstGeom prst="rect">
            <a:avLst/>
          </a:prstGeom>
        </p:spPr>
      </p:pic>
      <p:pic>
        <p:nvPicPr>
          <p:cNvPr id="53" name="Picture 52" descr="image.png"/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100000" y="5050000"/>
            <a:ext cx="12000000" cy="168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代理人业务分析仪表盘  Agent Business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430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71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代理人业务批核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71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71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225件 | 件均0.0W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7614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76145" y="430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598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代理人业务未批核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598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6.65M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598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件均21.5W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941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9410" y="430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924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代理人业务待签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24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924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4件 | 件均0.0W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267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62675" y="430000"/>
            <a:ext cx="76200" cy="762000"/>
          </a:xfrm>
          <a:prstGeom prst="rect">
            <a:avLst/>
          </a:prstGeom>
          <a:solidFill>
            <a:srgbClr val="9B2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51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代理人1月预约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51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9B2335"/>
                </a:solidFill>
              </a:rPr>
              <a:t>0.00M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51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31件 | 件均0.0W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55940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55940" y="430000"/>
            <a:ext cx="76200" cy="762000"/>
          </a:xfrm>
          <a:prstGeom prst="rect">
            <a:avLst/>
          </a:prstGeom>
          <a:solidFill>
            <a:srgbClr val="6B27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65775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代理人1月签单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5775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B2737"/>
                </a:solidFill>
              </a:rPr>
              <a:t>0.00M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5775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29件 | 件均0.0W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205" y="430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49205" y="430000"/>
            <a:ext cx="76200" cy="762000"/>
          </a:xfrm>
          <a:prstGeom prst="rect">
            <a:avLst/>
          </a:prstGeom>
          <a:solidFill>
            <a:srgbClr val="6C34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59040" y="484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代理人1月批核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59040" y="658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6C3483"/>
                </a:solidFill>
              </a:rPr>
              <a:t>0.00M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040" y="969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>34件 | 件均0.0W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288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82880" y="1272000"/>
            <a:ext cx="76200" cy="762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71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W28预约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71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4F72"/>
                </a:solidFill>
              </a:rPr>
              <a:t>0.55M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271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2176145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6145" y="1272000"/>
            <a:ext cx="76200" cy="762000"/>
          </a:xfrm>
          <a:prstGeom prst="rect">
            <a:avLst/>
          </a:prstGeom>
          <a:solidFill>
            <a:srgbClr val="117A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85980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W28签单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5980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17A65"/>
                </a:solidFill>
              </a:rPr>
              <a:t>6.18M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5980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45" name="Rectangle 44"/>
          <p:cNvSpPr/>
          <p:nvPr/>
        </p:nvSpPr>
        <p:spPr>
          <a:xfrm>
            <a:off x="4169410" y="1272000"/>
            <a:ext cx="18288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8E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69410" y="1272000"/>
            <a:ext cx="76200" cy="76200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9245" y="1326610"/>
            <a:ext cx="1682750" cy="18224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64748B"/>
                </a:solidFill>
              </a:rPr>
              <a:t>代理人 W28批核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245" y="1500600"/>
            <a:ext cx="1682750" cy="297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796B"/>
                </a:solidFill>
              </a:rPr>
              <a:t>0.00M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79245" y="1811115"/>
            <a:ext cx="1682750" cy="14922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64748B"/>
                </a:solidFill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100000" y="2154000"/>
            <a:ext cx="6000000" cy="27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80000" y="218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天领业务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100000" y="2424000"/>
          <a:ext cx="5999997" cy="34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4615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厦门贴牌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台州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合肥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400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天领深圳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101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195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宁波贴牌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广西贴牌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苏州贴牌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4615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长沙贴牌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462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191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642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100000" y="5984000"/>
            <a:ext cx="6000000" cy="27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0000" y="6014000"/>
            <a:ext cx="590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KA明细 | 成事家办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100000" y="6254000"/>
          <a:ext cx="5999997" cy="1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333"/>
                <a:gridCol w="666666"/>
                <a:gridCol w="433333"/>
                <a:gridCol w="800000"/>
                <a:gridCol w="433333"/>
                <a:gridCol w="666666"/>
                <a:gridCol w="433333"/>
                <a:gridCol w="800000"/>
                <a:gridCol w="433333"/>
              </a:tblGrid>
              <a:tr h="268571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丁洁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刘微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杨洪美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571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杨璐熙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574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1272000"/>
            <a:ext cx="5832000" cy="3000000"/>
          </a:xfrm>
          <a:prstGeom prst="rect">
            <a:avLst/>
          </a:prstGeom>
        </p:spPr>
      </p:pic>
      <p:sp>
        <p:nvSpPr>
          <p:cNvPr id="57" name="Rectangle 56"/>
          <p:cNvSpPr/>
          <p:nvPr/>
        </p:nvSpPr>
        <p:spPr>
          <a:xfrm>
            <a:off x="6280000" y="4352000"/>
            <a:ext cx="5832000" cy="30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60000" y="4382000"/>
            <a:ext cx="5732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代理人业务（天领+成事家办）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6280000" y="4662000"/>
          <a:ext cx="5832000" cy="21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356000"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356000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天领成都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4.00M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000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天领重庆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0.55M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1.95M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356000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杨帆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0.23M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6000">
                <a:tc>
                  <a:txBody>
                    <a:bodyPr wrap="square"/>
                    <a:lstStyle/>
                    <a:p>
                      <a:pPr algn="l"/>
                      <a:r>
                        <a:rPr b="0" sz="800">
                          <a:solidFill>
                            <a:srgbClr val="1A2744"/>
                          </a:solidFill>
                        </a:rPr>
                        <a:t>武汉贴牌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8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356000">
                <a:tc>
                  <a:txBody>
                    <a:bodyPr wrap="square"/>
                    <a:lstStyle/>
                    <a:p>
                      <a:pPr algn="l"/>
                      <a:r>
                        <a:rPr b="1" sz="80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0.55M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6.18M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80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380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0000" y="60000"/>
            <a:ext cx="8000000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KA业务分析仪表盘  |ICLUB + 合伙转介 + IFA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92000" y="80000"/>
            <a:ext cx="210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CCCCCC"/>
                </a:solidFill>
              </a:rPr>
              <a:t>内部文件 · 仅供使用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批核APE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0.00M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37件 | 件均0.0W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60000" y="430000"/>
            <a:ext cx="1900000" cy="800000"/>
          </a:xfrm>
          <a:prstGeom prst="rect">
            <a:avLst/>
          </a:prstGeom>
          <a:noFill/>
          <a:ln w="30000">
            <a:solidFill>
              <a:srgbClr val="1B6B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0000" y="430000"/>
            <a:ext cx="30000" cy="800000"/>
          </a:xfrm>
          <a:prstGeom prst="rect">
            <a:avLst/>
          </a:prstGeom>
          <a:solidFill>
            <a:srgbClr val="1B6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1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未批核APE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1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B6B3A"/>
                </a:solidFill>
              </a:rPr>
              <a:t>0.03M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1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8件 | 件均0.3W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0000" y="430000"/>
            <a:ext cx="1900000" cy="800000"/>
          </a:xfrm>
          <a:prstGeom prst="rect">
            <a:avLst/>
          </a:prstGeom>
          <a:noFill/>
          <a:ln w="30000">
            <a:solidFill>
              <a:srgbClr val="8B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020000" y="430000"/>
            <a:ext cx="30000" cy="800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70000" y="4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1A2744"/>
                </a:solidFill>
              </a:rPr>
              <a:t>KA业务 待签APE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0000" y="650000"/>
            <a:ext cx="183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B1A1A"/>
                </a:solidFill>
              </a:rPr>
              <a:t>0.00M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0000" y="990000"/>
            <a:ext cx="18300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55555"/>
                </a:solidFill>
              </a:rPr>
              <a:t>0件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000" y="1310000"/>
            <a:ext cx="5940000" cy="260000"/>
          </a:xfrm>
          <a:prstGeom prst="rect">
            <a:avLst/>
          </a:prstGeom>
          <a:solidFill>
            <a:srgbClr val="1B4F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000" y="134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ICLUB业务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0000" y="1570000"/>
          <a:ext cx="5940000" cy="13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8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保险师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新风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8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00000" y="2990000"/>
            <a:ext cx="5940000" cy="260000"/>
          </a:xfrm>
          <a:prstGeom prst="rect">
            <a:avLst/>
          </a:prstGeom>
          <a:solidFill>
            <a:srgbClr val="1A5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000" y="30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合伙转介业务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0000" y="3250000"/>
          <a:ext cx="5940000" cy="3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263333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Molly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个人转介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德约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总部职能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懿丰家族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明德长青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荻邦咨询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虹霖贸易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3333">
                <a:tc>
                  <a:txBody>
                    <a:bodyPr wrap="square"/>
                    <a:lstStyle/>
                    <a:p>
                      <a:pPr algn="l"/>
                      <a:r>
                        <a:rPr b="0" sz="750">
                          <a:solidFill>
                            <a:srgbClr val="1A2744"/>
                          </a:solidFill>
                        </a:rPr>
                        <a:t>迪岸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50">
                          <a:solidFill>
                            <a:srgbClr val="1A2744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2F7FF"/>
                    </a:solidFill>
                  </a:tcPr>
                </a:tc>
              </a:tr>
              <a:tr h="263337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26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100000" y="6490000"/>
            <a:ext cx="5940000" cy="26000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0000" y="6520000"/>
            <a:ext cx="5840000" cy="2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IFA业务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0000" y="6750000"/>
          <a:ext cx="5940000" cy="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000"/>
                <a:gridCol w="660000"/>
                <a:gridCol w="429000"/>
                <a:gridCol w="792000"/>
                <a:gridCol w="429000"/>
                <a:gridCol w="660000"/>
                <a:gridCol w="429000"/>
                <a:gridCol w="792000"/>
                <a:gridCol w="429000"/>
              </a:tblGrid>
              <a:tr h="52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未批核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待签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合计APE(万)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
件数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000" y="430000"/>
            <a:ext cx="5832000" cy="3000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80000" y="3550000"/>
            <a:ext cx="5832000" cy="290000"/>
          </a:xfrm>
          <a:prstGeom prst="rect">
            <a:avLst/>
          </a:prstGeom>
          <a:solidFill>
            <a:srgbClr val="4A1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60000" y="3580000"/>
            <a:ext cx="5732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FFFFFF"/>
                </a:solidFill>
              </a:rPr>
              <a:t>W28 本周快报 | KA业务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280000" y="3850000"/>
          <a:ext cx="5832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2800"/>
                <a:gridCol w="1166400"/>
                <a:gridCol w="1166400"/>
                <a:gridCol w="1166400"/>
              </a:tblGrid>
              <a:tr h="960000"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KEY ACCOUNT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预约(M)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签单(M)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批核(M)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  <a:tr h="960000">
                <a:tc>
                  <a:txBody>
                    <a:bodyPr wrap="square"/>
                    <a:lstStyle/>
                    <a:p>
                      <a:pPr algn="l"/>
                      <a:r>
                        <a:rPr b="0" sz="700">
                          <a:solidFill>
                            <a:srgbClr val="1A2744"/>
                          </a:solidFill>
                        </a:rPr>
                        <a:t>励欧移民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0" sz="700">
                          <a:solidFill>
                            <a:srgbClr val="1A2744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60000">
                <a:tc>
                  <a:txBody>
                    <a:bodyPr wrap="square"/>
                    <a:lstStyle/>
                    <a:p>
                      <a:pPr algn="l"/>
                      <a:r>
                        <a:rPr b="1" sz="750">
                          <a:solidFill>
                            <a:srgbClr val="FFFFFF"/>
                          </a:solidFill>
                        </a:rPr>
                        <a:t>合计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750">
                          <a:solidFill>
                            <a:srgbClr val="FFFFFF"/>
                          </a:solidFill>
                        </a:rPr>
                        <a:t>0.00M</a:t>
                      </a:r>
                    </a:p>
                  </a:txBody>
                  <a:tcPr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