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9041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  <c:pt idx="3">
                  <c:v>MGA业务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488.74</c:v>
                </c:pt>
                <c:pt idx="1">
                  <c:v>72.17</c:v>
                </c:pt>
                <c:pt idx="2">
                  <c:v>24.87</c:v>
                </c:pt>
                <c:pt idx="3">
                  <c:v>19.38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  <c:pt idx="3">
                  <c:v>MGA业务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4"/>
                <c:pt idx="0">
                  <c:v>63.54</c:v>
                </c:pt>
                <c:pt idx="1">
                  <c:v>15.45</c:v>
                </c:pt>
                <c:pt idx="2">
                  <c:v>4.39</c:v>
                </c:pt>
                <c:pt idx="3">
                  <c:v>23.97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  <c:pt idx="3">
                  <c:v>MGA业务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4"/>
                <c:pt idx="0">
                  <c:v>6.42</c:v>
                </c:pt>
                <c:pt idx="1">
                  <c:v>0.39</c:v>
                </c:pt>
                <c:pt idx="2">
                  <c:v>0.0</c:v>
                </c:pt>
                <c:pt idx="3">
                  <c:v>9.24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53.90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47.90</c:v>
                </c:pt>
                <c:pt idx="13">
                  <c:v>61.13</c:v>
                </c:pt>
                <c:pt idx="14">
                  <c:v>82.15</c:v>
                </c:pt>
                <c:pt idx="15">
                  <c:v>62.10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53.90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47.90</c:v>
                </c:pt>
                <c:pt idx="1">
                  <c:v>61.13</c:v>
                </c:pt>
                <c:pt idx="2">
                  <c:v>82.15</c:v>
                </c:pt>
                <c:pt idx="3">
                  <c:v>62.10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85.90</c:v>
                </c:pt>
                <c:pt idx="4">
                  <c:v>56.85</c:v>
                </c:pt>
                <c:pt idx="5">
                  <c:v>48.49</c:v>
                </c:pt>
                <c:pt idx="6">
                  <c:v>29.10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6.6740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4.9580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16.6020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2.6315</c:v>
                </c:pt>
                <c:pt idx="4">
                  <c:v>2.2350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1.8935</c:v>
                </c:pt>
                <c:pt idx="4">
                  <c:v>2.9730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0.3900</c:v>
                </c:pt>
                <c:pt idx="2">
                  <c:v>0.4680</c:v>
                </c:pt>
                <c:pt idx="3">
                  <c:v>1.6926</c:v>
                </c:pt>
                <c:pt idx="4">
                  <c:v>2.6070</c:v>
                </c:pt>
                <c:pt idx="5">
                  <c:v>0.4770</c:v>
                </c:pt>
                <c:pt idx="6">
                  <c:v>0.7410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14.8200</c:v>
                </c:pt>
                <c:pt idx="3">
                  <c:v>7.3320</c:v>
                </c:pt>
                <c:pt idx="4">
                  <c:v>6.8640</c:v>
                </c:pt>
                <c:pt idx="5">
                  <c:v>9.2742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13.2600</c:v>
                </c:pt>
                <c:pt idx="3">
                  <c:v>8.5020</c:v>
                </c:pt>
                <c:pt idx="4">
                  <c:v>6.8640</c:v>
                </c:pt>
                <c:pt idx="5">
                  <c:v>10.4442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27.2220</c:v>
                </c:pt>
                <c:pt idx="4">
                  <c:v>21.7036</c:v>
                </c:pt>
                <c:pt idx="5">
                  <c:v>6.2400</c:v>
                </c:pt>
                <c:pt idx="6">
                  <c:v>1.5600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3.9852</c:v>
                </c:pt>
                <c:pt idx="2">
                  <c:v>13.5372</c:v>
                </c:pt>
                <c:pt idx="3">
                  <c:v>16.8389</c:v>
                </c:pt>
                <c:pt idx="4">
                  <c:v>16.8841</c:v>
                </c:pt>
                <c:pt idx="5">
                  <c:v>23.3036</c:v>
                </c:pt>
                <c:pt idx="6">
                  <c:v>6.5540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6.5592</c:v>
                </c:pt>
                <c:pt idx="2">
                  <c:v>13.9272</c:v>
                </c:pt>
                <c:pt idx="3">
                  <c:v>16.1215</c:v>
                </c:pt>
                <c:pt idx="4">
                  <c:v>17.2306</c:v>
                </c:pt>
                <c:pt idx="5">
                  <c:v>21.9951</c:v>
                </c:pt>
                <c:pt idx="6">
                  <c:v>5.3989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4.4310</c:v>
                </c:pt>
                <c:pt idx="3">
                  <c:v>12.8148</c:v>
                </c:pt>
                <c:pt idx="4">
                  <c:v>21.1993</c:v>
                </c:pt>
                <c:pt idx="5">
                  <c:v>17.4175</c:v>
                </c:pt>
                <c:pt idx="6">
                  <c:v>6.5766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20.3780</c:v>
                </c:pt>
                <c:pt idx="5">
                  <c:v>23.8791</c:v>
                </c:pt>
                <c:pt idx="6">
                  <c:v>7.0402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0.8970</c:v>
                </c:pt>
                <c:pt idx="2">
                  <c:v>0.3355</c:v>
                </c:pt>
                <c:pt idx="3">
                  <c:v>1.7550</c:v>
                </c:pt>
                <c:pt idx="4">
                  <c:v>0.5743</c:v>
                </c:pt>
                <c:pt idx="5">
                  <c:v>0.0000</c:v>
                </c:pt>
                <c:pt idx="6">
                  <c:v>0.3239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11.2611</c:v>
                </c:pt>
                <c:pt idx="5">
                  <c:v>13.8249</c:v>
                </c:pt>
                <c:pt idx="6">
                  <c:v>17.7919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10.2861</c:v>
                </c:pt>
                <c:pt idx="5">
                  <c:v>12.9396</c:v>
                </c:pt>
                <c:pt idx="6">
                  <c:v>10.4164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1.4980</c:v>
                </c:pt>
                <c:pt idx="3">
                  <c:v>2.2294</c:v>
                </c:pt>
                <c:pt idx="4">
                  <c:v>4.0297</c:v>
                </c:pt>
                <c:pt idx="5">
                  <c:v>8.3324</c:v>
                </c:pt>
                <c:pt idx="6">
                  <c:v>3.2884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9"/>
                <c:pt idx="0">
                  <c:v>227.6300</c:v>
                </c:pt>
                <c:pt idx="1">
                  <c:v>151.2100</c:v>
                </c:pt>
                <c:pt idx="2">
                  <c:v>109.9100</c:v>
                </c:pt>
                <c:pt idx="3">
                  <c:v>64.4500</c:v>
                </c:pt>
                <c:pt idx="4">
                  <c:v>20.4000</c:v>
                </c:pt>
                <c:pt idx="5">
                  <c:v>7.7200</c:v>
                </c:pt>
                <c:pt idx="6">
                  <c:v>4.4700</c:v>
                </c:pt>
                <c:pt idx="7">
                  <c:v>0.0000</c:v>
                </c:pt>
                <c:pt idx="8">
                  <c:v>19.3800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9"/>
                <c:pt idx="0">
                  <c:v>28.6200</c:v>
                </c:pt>
                <c:pt idx="1">
                  <c:v>19.2100</c:v>
                </c:pt>
                <c:pt idx="2">
                  <c:v>15.7100</c:v>
                </c:pt>
                <c:pt idx="3">
                  <c:v>14.5100</c:v>
                </c:pt>
                <c:pt idx="4">
                  <c:v>0.0000</c:v>
                </c:pt>
                <c:pt idx="5">
                  <c:v>0.9400</c:v>
                </c:pt>
                <c:pt idx="6">
                  <c:v>4.3900</c:v>
                </c:pt>
                <c:pt idx="7">
                  <c:v>0.0000</c:v>
                </c:pt>
                <c:pt idx="8">
                  <c:v>23.9700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9"/>
                <c:pt idx="0">
                  <c:v>0.0000</c:v>
                </c:pt>
                <c:pt idx="1">
                  <c:v>2.8100</c:v>
                </c:pt>
                <c:pt idx="2">
                  <c:v>3.6100</c:v>
                </c:pt>
                <c:pt idx="3">
                  <c:v>0.3900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  <c:pt idx="8">
                  <c:v>9.2400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9"/>
                <c:pt idx="0">
                  <c:v>0.0000</c:v>
                </c:pt>
                <c:pt idx="1">
                  <c:v>166.7700</c:v>
                </c:pt>
                <c:pt idx="2">
                  <c:v>30.7700</c:v>
                </c:pt>
                <c:pt idx="3">
                  <c:v>113.6500</c:v>
                </c:pt>
                <c:pt idx="4">
                  <c:v>31.6000</c:v>
                </c:pt>
                <c:pt idx="5">
                  <c:v>61.3400</c:v>
                </c:pt>
                <c:pt idx="6">
                  <c:v>64.1400</c:v>
                </c:pt>
                <c:pt idx="7">
                  <c:v>25.0000</c:v>
                </c:pt>
                <c:pt idx="8">
                  <c:v>0.0000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0.0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12.0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118.66</c:v>
                </c:pt>
                <c:pt idx="1">
                  <c:v>39.39</c:v>
                </c:pt>
                <c:pt idx="2">
                  <c:v>26.1</c:v>
                </c:pt>
                <c:pt idx="3">
                  <c:v>13.28</c:v>
                </c:pt>
                <c:pt idx="4">
                  <c:v>12.88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37.33</c:v>
                </c:pt>
                <c:pt idx="1">
                  <c:v>5.77</c:v>
                </c:pt>
                <c:pt idx="2">
                  <c:v>3.02</c:v>
                </c:pt>
                <c:pt idx="3">
                  <c:v>0.0</c:v>
                </c:pt>
                <c:pt idx="4">
                  <c:v>6.86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12.04</c:v>
                </c:pt>
                <c:pt idx="1">
                  <c:v>1.87</c:v>
                </c:pt>
                <c:pt idx="2">
                  <c:v>0.0</c:v>
                </c:pt>
                <c:pt idx="3">
                  <c:v>0.0</c:v>
                </c:pt>
                <c:pt idx="4">
                  <c:v>0.78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8.35</c:v>
                </c:pt>
                <c:pt idx="1">
                  <c:v>12.48</c:v>
                </c:pt>
                <c:pt idx="2">
                  <c:v>18.86</c:v>
                </c:pt>
                <c:pt idx="3">
                  <c:v>19.38</c:v>
                </c:pt>
                <c:pt idx="4">
                  <c:v>25.92</c:v>
                </c:pt>
                <c:pt idx="5">
                  <c:v>27.18</c:v>
                </c:pt>
                <c:pt idx="6">
                  <c:v>27.82</c:v>
                </c:pt>
                <c:pt idx="7">
                  <c:v>34.91</c:v>
                </c:pt>
                <c:pt idx="8">
                  <c:v>39.39</c:v>
                </c:pt>
                <c:pt idx="9">
                  <c:v>42.7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1.27</c:v>
                </c:pt>
                <c:pt idx="1">
                  <c:v>0.0</c:v>
                </c:pt>
                <c:pt idx="2">
                  <c:v>0.78</c:v>
                </c:pt>
                <c:pt idx="3">
                  <c:v>23.97</c:v>
                </c:pt>
                <c:pt idx="4">
                  <c:v>3.02</c:v>
                </c:pt>
                <c:pt idx="5">
                  <c:v>2.38</c:v>
                </c:pt>
                <c:pt idx="6">
                  <c:v>1.01</c:v>
                </c:pt>
                <c:pt idx="7">
                  <c:v>4.54</c:v>
                </c:pt>
                <c:pt idx="8">
                  <c:v>5.77</c:v>
                </c:pt>
                <c:pt idx="9">
                  <c:v>8.93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0.78</c:v>
                </c:pt>
                <c:pt idx="3">
                  <c:v>9.24</c:v>
                </c:pt>
                <c:pt idx="4">
                  <c:v>0.0</c:v>
                </c:pt>
                <c:pt idx="5">
                  <c:v>0.28</c:v>
                </c:pt>
                <c:pt idx="6">
                  <c:v>0.0</c:v>
                </c:pt>
                <c:pt idx="7">
                  <c:v>0.96</c:v>
                </c:pt>
                <c:pt idx="8">
                  <c:v>1.87</c:v>
                </c:pt>
                <c:pt idx="9">
                  <c:v>1.74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5.84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12.91</c:v>
                </c:pt>
                <c:pt idx="12">
                  <c:v>3.12</c:v>
                </c:pt>
                <c:pt idx="13">
                  <c:v>6.85</c:v>
                </c:pt>
                <c:pt idx="14">
                  <c:v>8.65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14.85</c:v>
                </c:pt>
                <c:pt idx="21">
                  <c:v>8.03</c:v>
                </c:pt>
                <c:pt idx="22">
                  <c:v>14.97</c:v>
                </c:pt>
                <c:pt idx="23">
                  <c:v>15.27</c:v>
                </c:pt>
                <c:pt idx="24">
                  <c:v>14.59</c:v>
                </c:pt>
                <c:pt idx="25">
                  <c:v>12.6</c:v>
                </c:pt>
                <c:pt idx="26">
                  <c:v>11.4</c:v>
                </c:pt>
                <c:pt idx="27">
                  <c:v>16.73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4.29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6.11</c:v>
                </c:pt>
                <c:pt idx="13">
                  <c:v>4.97</c:v>
                </c:pt>
                <c:pt idx="14">
                  <c:v>7.99</c:v>
                </c:pt>
                <c:pt idx="15">
                  <c:v>9.4</c:v>
                </c:pt>
                <c:pt idx="16">
                  <c:v>14.75</c:v>
                </c:pt>
                <c:pt idx="17">
                  <c:v>6.0</c:v>
                </c:pt>
                <c:pt idx="18">
                  <c:v>11.76</c:v>
                </c:pt>
                <c:pt idx="19">
                  <c:v>10.19</c:v>
                </c:pt>
                <c:pt idx="20">
                  <c:v>19.68</c:v>
                </c:pt>
                <c:pt idx="21">
                  <c:v>8.32</c:v>
                </c:pt>
                <c:pt idx="22">
                  <c:v>8.7</c:v>
                </c:pt>
                <c:pt idx="23">
                  <c:v>15.49</c:v>
                </c:pt>
                <c:pt idx="24">
                  <c:v>20.22</c:v>
                </c:pt>
                <c:pt idx="25">
                  <c:v>10.72</c:v>
                </c:pt>
                <c:pt idx="26">
                  <c:v>7.66</c:v>
                </c:pt>
                <c:pt idx="27">
                  <c:v>10.55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15.73</c:v>
                </c:pt>
                <c:pt idx="25">
                  <c:v>9.92</c:v>
                </c:pt>
                <c:pt idx="26">
                  <c:v>15.23</c:v>
                </c:pt>
                <c:pt idx="27">
                  <c:v>6.17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4.13M/7件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3.42M/10件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7.0</c:v>
                </c:pt>
                <c:pt idx="1">
                  <c:v>3.46</c:v>
                </c:pt>
                <c:pt idx="2">
                  <c:v>4.29</c:v>
                </c:pt>
                <c:pt idx="3">
                  <c:v>3.12</c:v>
                </c:pt>
                <c:pt idx="4">
                  <c:v>2.73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5.77M/12件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3.74M/6件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4.59M/13件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5.77</c:v>
                </c:pt>
                <c:pt idx="4">
                  <c:v>3.74</c:v>
                </c:pt>
                <c:pt idx="5">
                  <c:v>4.59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10.90M/6件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10.9</c:v>
                </c:pt>
                <c:pt idx="1">
                  <c:v>3.46</c:v>
                </c:pt>
                <c:pt idx="2">
                  <c:v>5.07</c:v>
                </c:pt>
                <c:pt idx="3">
                  <c:v>2.73</c:v>
                </c:pt>
                <c:pt idx="4">
                  <c:v>3.12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12.80M/23件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25.66M/28件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14.68M/11件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1.56M/3件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25.66</c:v>
                </c:pt>
                <c:pt idx="4">
                  <c:v>14.68</c:v>
                </c:pt>
                <c:pt idx="5">
                  <c:v>3.51</c:v>
                </c:pt>
                <c:pt idx="6">
                  <c:v>1.56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1.56M/2件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7.02M/5件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1.56</c:v>
                </c:pt>
                <c:pt idx="4">
                  <c:v>7.02</c:v>
                </c:pt>
                <c:pt idx="5">
                  <c:v>2.73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187.52</c:v>
                </c:pt>
                <c:pt idx="1">
                  <c:v>40.1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16.92</c:v>
                </c:pt>
                <c:pt idx="1">
                  <c:v>11.7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227.63</c:v>
                </c:pt>
                <c:pt idx="1">
                  <c:v>-27.629999999999995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2.34</c:v>
                </c:pt>
                <c:pt idx="1">
                  <c:v>3.69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0.0</c:v>
                </c:pt>
                <c:pt idx="7">
                  <c:v>0.0</c:v>
                </c:pt>
                <c:pt idx="8">
                  <c:v>2.34</c:v>
                </c:pt>
                <c:pt idx="9">
                  <c:v>5.46</c:v>
                </c:pt>
                <c:pt idx="10">
                  <c:v>4.29</c:v>
                </c:pt>
                <c:pt idx="11">
                  <c:v>2.73</c:v>
                </c:pt>
                <c:pt idx="12">
                  <c:v>0.0</c:v>
                </c:pt>
                <c:pt idx="13">
                  <c:v>5.23</c:v>
                </c:pt>
                <c:pt idx="14">
                  <c:v>0.39</c:v>
                </c:pt>
                <c:pt idx="15">
                  <c:v>1.72</c:v>
                </c:pt>
                <c:pt idx="16">
                  <c:v>1.17</c:v>
                </c:pt>
                <c:pt idx="17">
                  <c:v>0.39</c:v>
                </c:pt>
                <c:pt idx="18">
                  <c:v>1.01</c:v>
                </c:pt>
                <c:pt idx="19">
                  <c:v>0.78</c:v>
                </c:pt>
                <c:pt idx="20">
                  <c:v>3.51</c:v>
                </c:pt>
                <c:pt idx="21">
                  <c:v>1.17</c:v>
                </c:pt>
                <c:pt idx="22">
                  <c:v>3.35</c:v>
                </c:pt>
                <c:pt idx="23">
                  <c:v>0.78</c:v>
                </c:pt>
                <c:pt idx="24">
                  <c:v>3.97</c:v>
                </c:pt>
                <c:pt idx="25">
                  <c:v>0.78</c:v>
                </c:pt>
                <c:pt idx="26">
                  <c:v>5.46</c:v>
                </c:pt>
                <c:pt idx="27">
                  <c:v>2.73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0.78</c:v>
                </c:pt>
                <c:pt idx="1">
                  <c:v>3.69</c:v>
                </c:pt>
                <c:pt idx="2">
                  <c:v>5.25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0.0</c:v>
                </c:pt>
                <c:pt idx="8">
                  <c:v>1.95</c:v>
                </c:pt>
                <c:pt idx="9">
                  <c:v>1.95</c:v>
                </c:pt>
                <c:pt idx="10">
                  <c:v>4.68</c:v>
                </c:pt>
                <c:pt idx="11">
                  <c:v>2.73</c:v>
                </c:pt>
                <c:pt idx="12">
                  <c:v>3.51</c:v>
                </c:pt>
                <c:pt idx="13">
                  <c:v>0.16</c:v>
                </c:pt>
                <c:pt idx="14">
                  <c:v>4.29</c:v>
                </c:pt>
                <c:pt idx="15">
                  <c:v>1.95</c:v>
                </c:pt>
                <c:pt idx="16">
                  <c:v>0.55</c:v>
                </c:pt>
                <c:pt idx="17">
                  <c:v>2.34</c:v>
                </c:pt>
                <c:pt idx="18">
                  <c:v>1.17</c:v>
                </c:pt>
                <c:pt idx="19">
                  <c:v>1.01</c:v>
                </c:pt>
                <c:pt idx="20">
                  <c:v>2.34</c:v>
                </c:pt>
                <c:pt idx="21">
                  <c:v>1.17</c:v>
                </c:pt>
                <c:pt idx="22">
                  <c:v>2.96</c:v>
                </c:pt>
                <c:pt idx="23">
                  <c:v>2.34</c:v>
                </c:pt>
                <c:pt idx="24">
                  <c:v>3.19</c:v>
                </c:pt>
                <c:pt idx="25">
                  <c:v>3.12</c:v>
                </c:pt>
                <c:pt idx="26">
                  <c:v>2.34</c:v>
                </c:pt>
                <c:pt idx="27">
                  <c:v>4.29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2.18</c:v>
                </c:pt>
                <c:pt idx="13">
                  <c:v>4.29</c:v>
                </c:pt>
                <c:pt idx="14">
                  <c:v>7.64</c:v>
                </c:pt>
                <c:pt idx="15">
                  <c:v>11.78</c:v>
                </c:pt>
                <c:pt idx="16">
                  <c:v>3.12</c:v>
                </c:pt>
                <c:pt idx="17">
                  <c:v>1.95</c:v>
                </c:pt>
                <c:pt idx="18">
                  <c:v>3.3</c:v>
                </c:pt>
                <c:pt idx="19">
                  <c:v>2.34</c:v>
                </c:pt>
                <c:pt idx="20">
                  <c:v>14.12</c:v>
                </c:pt>
                <c:pt idx="21">
                  <c:v>1.56</c:v>
                </c:pt>
                <c:pt idx="22">
                  <c:v>0.78</c:v>
                </c:pt>
                <c:pt idx="23">
                  <c:v>0.78</c:v>
                </c:pt>
                <c:pt idx="24">
                  <c:v>2.81</c:v>
                </c:pt>
                <c:pt idx="25">
                  <c:v>0.31</c:v>
                </c:pt>
                <c:pt idx="26">
                  <c:v>1.56</c:v>
                </c:pt>
                <c:pt idx="27">
                  <c:v>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Sheet1!$A$2:$A$27</c:f>
              <c:strCache>
                <c:ptCount val="26"/>
                <c:pt idx="0">
                  <c:v>民生广州分行</c:v>
                </c:pt>
                <c:pt idx="1">
                  <c:v>民生南京分行</c:v>
                </c:pt>
                <c:pt idx="2">
                  <c:v>民生上海分行</c:v>
                </c:pt>
                <c:pt idx="3">
                  <c:v>民生深圳分行</c:v>
                </c:pt>
                <c:pt idx="4">
                  <c:v>民生北京分行</c:v>
                </c:pt>
                <c:pt idx="5">
                  <c:v>平安香港分行徐艳</c:v>
                </c:pt>
                <c:pt idx="6">
                  <c:v>平安香港分行许菁</c:v>
                </c:pt>
                <c:pt idx="7">
                  <c:v>民生重庆分行</c:v>
                </c:pt>
                <c:pt idx="8">
                  <c:v>民生杭州分行</c:v>
                </c:pt>
                <c:pt idx="9">
                  <c:v>平安香港分行钟丽丽</c:v>
                </c:pt>
                <c:pt idx="10">
                  <c:v>民生香港分行梁驹团队</c:v>
                </c:pt>
                <c:pt idx="11">
                  <c:v>平安香港分行高凯</c:v>
                </c:pt>
                <c:pt idx="12">
                  <c:v>民生嘉兴分行</c:v>
                </c:pt>
                <c:pt idx="13">
                  <c:v>民生温州分行</c:v>
                </c:pt>
                <c:pt idx="14">
                  <c:v>民生合肥分行</c:v>
                </c:pt>
                <c:pt idx="15">
                  <c:v>民生武汉分行</c:v>
                </c:pt>
                <c:pt idx="16">
                  <c:v>民生贵阳分行</c:v>
                </c:pt>
                <c:pt idx="17">
                  <c:v>民生厦门分行</c:v>
                </c:pt>
                <c:pt idx="18">
                  <c:v>民生沈阳分行</c:v>
                </c:pt>
                <c:pt idx="19">
                  <c:v>民生泉州分行</c:v>
                </c:pt>
                <c:pt idx="20">
                  <c:v>平安香港分行朱慧娟</c:v>
                </c:pt>
                <c:pt idx="21">
                  <c:v>平安香港分行王慧娟</c:v>
                </c:pt>
                <c:pt idx="22">
                  <c:v>民生上海分行张江支行</c:v>
                </c:pt>
                <c:pt idx="23">
                  <c:v>平安香港分行高原</c:v>
                </c:pt>
                <c:pt idx="24">
                  <c:v>民生呼和浩特分行</c:v>
                </c:pt>
                <c:pt idx="25">
                  <c:v>民生昆明分行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44.09</c:v>
                </c:pt>
                <c:pt idx="1">
                  <c:v>37.09</c:v>
                </c:pt>
                <c:pt idx="2">
                  <c:v>30.08</c:v>
                </c:pt>
                <c:pt idx="3">
                  <c:v>18.88</c:v>
                </c:pt>
                <c:pt idx="4">
                  <c:v>17.38</c:v>
                </c:pt>
                <c:pt idx="5">
                  <c:v>14.04</c:v>
                </c:pt>
                <c:pt idx="6">
                  <c:v>12.87</c:v>
                </c:pt>
                <c:pt idx="7">
                  <c:v>10.14</c:v>
                </c:pt>
                <c:pt idx="8">
                  <c:v>7.02</c:v>
                </c:pt>
                <c:pt idx="9">
                  <c:v>6.95</c:v>
                </c:pt>
                <c:pt idx="10">
                  <c:v>4.13</c:v>
                </c:pt>
                <c:pt idx="11">
                  <c:v>3.9</c:v>
                </c:pt>
                <c:pt idx="12">
                  <c:v>3.12</c:v>
                </c:pt>
                <c:pt idx="13">
                  <c:v>2.81</c:v>
                </c:pt>
                <c:pt idx="14">
                  <c:v>2.57</c:v>
                </c:pt>
                <c:pt idx="15">
                  <c:v>2.34</c:v>
                </c:pt>
                <c:pt idx="16">
                  <c:v>1.95</c:v>
                </c:pt>
                <c:pt idx="17">
                  <c:v>1.56</c:v>
                </c:pt>
                <c:pt idx="18">
                  <c:v>1.56</c:v>
                </c:pt>
                <c:pt idx="19">
                  <c:v>1.56</c:v>
                </c:pt>
                <c:pt idx="20">
                  <c:v>1.17</c:v>
                </c:pt>
                <c:pt idx="21">
                  <c:v>0.78</c:v>
                </c:pt>
                <c:pt idx="22">
                  <c:v>0.78</c:v>
                </c:pt>
                <c:pt idx="23">
                  <c:v>0.39</c:v>
                </c:pt>
                <c:pt idx="24">
                  <c:v>0.31</c:v>
                </c:pt>
                <c:pt idx="25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0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1.8188</c:v>
                </c:pt>
                <c:pt idx="3">
                  <c:v>4.0000</c:v>
                </c:pt>
                <c:pt idx="4">
                  <c:v>0.0088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1.8000</c:v>
                </c:pt>
                <c:pt idx="3">
                  <c:v>0.0188</c:v>
                </c:pt>
                <c:pt idx="4">
                  <c:v>4.0088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2.0780</c:v>
                </c:pt>
                <c:pt idx="1">
                  <c:v>12.0000</c:v>
                </c:pt>
                <c:pt idx="2">
                  <c:v>0.4992</c:v>
                </c:pt>
                <c:pt idx="3">
                  <c:v>0.0000</c:v>
                </c:pt>
                <c:pt idx="4">
                  <c:v>5.8276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chart" Target="../charts/chart90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tags" Target="../tags/tag61.xml"/><Relationship Id="rId14" Type="http://schemas.openxmlformats.org/officeDocument/2006/relationships/tags" Target="../tags/tag62.xml"/><Relationship Id="rId15" Type="http://schemas.openxmlformats.org/officeDocument/2006/relationships/tags" Target="../tags/tag63.xml"/><Relationship Id="rId16" Type="http://schemas.openxmlformats.org/officeDocument/2006/relationships/tags" Target="../tags/tag64.xml"/><Relationship Id="rId17" Type="http://schemas.openxmlformats.org/officeDocument/2006/relationships/tags" Target="../tags/tag65.xml"/><Relationship Id="rId18" Type="http://schemas.openxmlformats.org/officeDocument/2006/relationships/tags" Target="../tags/tag66.xml"/><Relationship Id="rId19" Type="http://schemas.openxmlformats.org/officeDocument/2006/relationships/tags" Target="../tags/tag67.xml"/><Relationship Id="rId20" Type="http://schemas.openxmlformats.org/officeDocument/2006/relationships/tags" Target="../tags/tag68.xml"/><Relationship Id="rId21" Type="http://schemas.openxmlformats.org/officeDocument/2006/relationships/tags" Target="../tags/tag69.xml"/><Relationship Id="rId22" Type="http://schemas.openxmlformats.org/officeDocument/2006/relationships/tags" Target="../tags/tag70.xml"/><Relationship Id="rId23" Type="http://schemas.openxmlformats.org/officeDocument/2006/relationships/tags" Target="../tags/tag71.xml"/><Relationship Id="rId24" Type="http://schemas.openxmlformats.org/officeDocument/2006/relationships/tags" Target="../tags/tag72.xml"/><Relationship Id="rId25" Type="http://schemas.openxmlformats.org/officeDocument/2006/relationships/tags" Target="../tags/tag73.xml"/><Relationship Id="rId26" Type="http://schemas.openxmlformats.org/officeDocument/2006/relationships/tags" Target="../tags/tag74.xml"/><Relationship Id="rId27" Type="http://schemas.openxmlformats.org/officeDocument/2006/relationships/tags" Target="../tags/tag75.xml"/><Relationship Id="rId28" Type="http://schemas.openxmlformats.org/officeDocument/2006/relationships/tags" Target="../tags/tag76.xml"/><Relationship Id="rId29" Type="http://schemas.openxmlformats.org/officeDocument/2006/relationships/tags" Target="../tags/tag77.xml"/><Relationship Id="rId30" Type="http://schemas.openxmlformats.org/officeDocument/2006/relationships/tags" Target="../tags/tag78.xml"/><Relationship Id="rId31" Type="http://schemas.openxmlformats.org/officeDocument/2006/relationships/tags" Target="../tags/tag79.xml"/><Relationship Id="rId32" Type="http://schemas.openxmlformats.org/officeDocument/2006/relationships/tags" Target="../tags/tag80.xml"/><Relationship Id="rId33" Type="http://schemas.openxmlformats.org/officeDocument/2006/relationships/tags" Target="../tags/tag81.xml"/><Relationship Id="rId34" Type="http://schemas.openxmlformats.org/officeDocument/2006/relationships/tags" Target="../tags/tag82.xml"/><Relationship Id="rId35" Type="http://schemas.openxmlformats.org/officeDocument/2006/relationships/tags" Target="../tags/tag83.xml"/><Relationship Id="rId36" Type="http://schemas.openxmlformats.org/officeDocument/2006/relationships/tags" Target="../tags/tag84.xml"/><Relationship Id="rId37" Type="http://schemas.openxmlformats.org/officeDocument/2006/relationships/tags" Target="../tags/tag85.xml"/><Relationship Id="rId38" Type="http://schemas.openxmlformats.org/officeDocument/2006/relationships/tags" Target="../tags/tag86.xml"/><Relationship Id="rId39" Type="http://schemas.openxmlformats.org/officeDocument/2006/relationships/tags" Target="../tags/tag87.xml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tags" Target="../tags/tag94.xml"/><Relationship Id="rId10" Type="http://schemas.openxmlformats.org/officeDocument/2006/relationships/tags" Target="../tags/tag95.xml"/><Relationship Id="rId11" Type="http://schemas.openxmlformats.org/officeDocument/2006/relationships/tags" Target="../tags/tag96.xml"/><Relationship Id="rId12" Type="http://schemas.openxmlformats.org/officeDocument/2006/relationships/tags" Target="../tags/tag97.xml"/><Relationship Id="rId13" Type="http://schemas.openxmlformats.org/officeDocument/2006/relationships/tags" Target="../tags/tag98.xml"/><Relationship Id="rId14" Type="http://schemas.openxmlformats.org/officeDocument/2006/relationships/tags" Target="../tags/tag99.xml"/><Relationship Id="rId15" Type="http://schemas.openxmlformats.org/officeDocument/2006/relationships/tags" Target="../tags/tag100.xml"/><Relationship Id="rId16" Type="http://schemas.openxmlformats.org/officeDocument/2006/relationships/tags" Target="../tags/tag101.xml"/><Relationship Id="rId17" Type="http://schemas.openxmlformats.org/officeDocument/2006/relationships/tags" Target="../tags/tag102.xml"/><Relationship Id="rId18" Type="http://schemas.openxmlformats.org/officeDocument/2006/relationships/tags" Target="../tags/tag103.xml"/><Relationship Id="rId19" Type="http://schemas.openxmlformats.org/officeDocument/2006/relationships/tags" Target="../tags/tag104.xm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605.2M，达成率 54.4%，全年目标 1113M 缺口约 508M。3 月预约件数 216 件，环比 +96.4%，前端动能延续，Q2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未批核（107.3M，235 件）与待签（16.0M，42 件）合计 123.4M 在管道中，占批核 APE 的 20%。若能快速推进至生效，可直接拉升达成率逾 11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488.7M 占全渠道 80.8%，是唯一业绩主力；未批核 63.5M 是最大转化机会。其余渠道：代理人业务（批核 72.2M）、KA业务（批核 24.9M）、MGA业务（批核 19.4M），体量较小，需明确各渠道扩量优先级。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Q1 呈现存量驱动特征，2月批核峰值 143.7M 为全年迄今最高。3 月预约/签单同步走强，前端动能复苏。7月初已批核 32.9M，节后启动正常，后续 9 个月需月均 83.8M 以达成年度目标。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0696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696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696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696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696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696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696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263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263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263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263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263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263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263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830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830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830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830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830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830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830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2026 年 3 月预约件数从 2 月 110 件增至 216 件（环比 +96.4%），前端明显回暖。但 3 月件均 APE 3.8 万低于 2 月 5.1 万，显示新增单偏中小额，需关注单均下滑趋势。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1–6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54.4%），完成全年目标 1113M 还需约 508M，剩余 9 个月月均需 56.4M。若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 TOP10 产品累计签单 130.8M（163 件），集中度高。头部产品「万年青·卓金保险计划II」贡献 27.2M/45 件，件均 60.4 万。中小额产品虽件数占比大，但单均偏低，需关注大单产品的持续性供给。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BK</a:t>
            </a:r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永明经代</a:t>
            </a:r>
          </a:p>
        </p:txBody>
      </p:sp>
      <p:sp>
        <p:nvSpPr>
          <p:cNvPr id="72" name="Shape 69"/>
          <p:cNvSpPr/>
          <p:nvPr/>
        </p:nvSpPr>
        <p:spPr>
          <a:xfrm>
            <a:off x="1647817" y="2658541"/>
            <a:ext cx="461281" cy="4612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3134821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同行经代</a:t>
            </a:r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ICLUB</a:t>
            </a:r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成事家办</a:t>
            </a:r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合伙转介</a:t>
            </a:r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IFA</a:t>
            </a:r>
          </a:p>
        </p:txBody>
      </p:sp>
      <p:sp>
        <p:nvSpPr>
          <p:cNvPr id="84" name="Shape 81"/>
          <p:cNvSpPr/>
          <p:nvPr/>
        </p:nvSpPr>
        <p:spPr>
          <a:xfrm>
            <a:off x="493449" y="1295574"/>
            <a:ext cx="326941" cy="326941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BK业务达成率 113.8% 领跑全渠道，是唯一接近达标的渠道。天领业务规模较大（批核 64.5M）但达成率仅 33.4%，是最大战略风险点。IFA业务达成率仅 0.0%，需重点关注。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BK业务贡献最大批核（227.6M）。已批核 + 在途合计 728.5M，距目标 1113M 仍差 384M。若未批核 107.3M 与待签 16.0M 快速推进，可直接拉升年度达成。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01976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84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98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98"/>
            <a:ext cx="238760" cy="140598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−110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341998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19118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577712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354832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680556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457676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652322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429442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/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/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40"/>
          <p:cNvSpPr/>
          <p:nvPr/>
        </p:nvSpPr>
        <p:spPr>
          <a:xfrm>
            <a:off x="9900448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MGA业务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41"/>
          <p:cNvGraphicFramePr>
            <a:graphicFrameLocks noGrp="1"/>
          </p:cNvGraphicFramePr>
          <p:nvPr/>
        </p:nvGraphicFramePr>
        <p:xfrm>
          <a:off x="9891308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永明经代：3 月签单 27.6M 居首，前端动能最强。BK业务：2 月批核峰 93.9M 为存量集中放款。各业务线节奏分化明显，需按渠道特征差异化管理。</a:t>
            </a:r>
            <a:endParaRPr lang="en-US" sz="550" dirty="0"/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83" name="Text 82"/>
          <p:cNvSpPr/>
          <p:nvPr/>
        </p:nvSpPr>
        <p:spPr>
          <a:xfrm>
            <a:off x="314019" y="16375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MGA</a:t>
            </a:r>
          </a:p>
        </p:txBody>
      </p:sp>
      <p:sp>
        <p:nvSpPr>
          <p:cNvPr id="177" name="Shape_315"/>
          <p:cNvSpPr/>
          <p:nvPr/>
        </p:nvSpPr>
        <p:spPr>
          <a:xfrm>
            <a:off x="6626860" y="3696905"/>
            <a:ext cx="241300" cy="708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646545" y="3474025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−19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3822220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382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397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382222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3822220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391366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3822220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391366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3822220"/>
            <a:ext cx="31789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3920956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30555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30555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45555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30555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305552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396992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305552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396992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305552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404288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338888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33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48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129.2M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33888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338888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430328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338888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430328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338888"/>
            <a:ext cx="95963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43762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109.9▌15.7▌3.6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4316664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431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446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431666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4316664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4408104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4316664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4408104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4316664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441540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84444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84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199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184444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1844444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1935884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1844444"/>
            <a:ext cx="42070" cy="347472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194318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2833332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283333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298333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283333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2833332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2924772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2833332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2924772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2833332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2932068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合伙转介业务未批核占比最高（50%），金额达 4.4M，催核优先级最高。其余业务线管道分布相对均衡，需按未批核规模排序推进。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728.5M 中，批核占 83.1%（605.2M）。剩余 123.4M（未批 107.3M + 待签 16.0M）若转化可直接推高达成率 11+。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 227.6M 已达目标 200M 的 113.8%，是唯一接近达标的业务线。永明经代目标最大（340M）但实际仅 151.2M，缺口 189M 为最大绝对值，是最大战略风险点。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327776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32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47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32777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327776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419216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327776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419216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327776"/>
            <a:ext cx="2009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42651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350000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35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50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35000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448736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401" name="Text_MGA"/>
          <p:cNvSpPr txBox="1"/>
          <p:nvPr/>
        </p:nvSpPr>
        <p:spPr>
          <a:xfrm>
            <a:off x="299720" y="481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402" name="Text_MGA_total"/>
          <p:cNvSpPr txBox="1"/>
          <p:nvPr/>
        </p:nvSpPr>
        <p:spPr>
          <a:xfrm>
            <a:off x="299720" y="496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合计 52.6M</a:t>
            </a:r>
          </a:p>
        </p:txBody>
      </p:sp>
      <p:sp>
        <p:nvSpPr>
          <p:cNvPr id="403" name="Text_MGA_pct1"/>
          <p:cNvSpPr txBox="1"/>
          <p:nvPr/>
        </p:nvSpPr>
        <p:spPr>
          <a:xfrm>
            <a:off x="1616456" y="4902548"/>
            <a:ext cx="500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6B3A"/>
                </a:solidFill>
                <a:latin typeface="Calibri"/>
              </a:rPr>
              <a:t>37%</a:t>
            </a:r>
          </a:p>
        </p:txBody>
      </p:sp>
      <p:sp>
        <p:nvSpPr>
          <p:cNvPr id="404" name="Text_MGA_pct2"/>
          <p:cNvSpPr txBox="1"/>
          <p:nvPr/>
        </p:nvSpPr>
        <p:spPr>
          <a:xfrm>
            <a:off x="2653916" y="4902548"/>
            <a:ext cx="500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8890A"/>
                </a:solidFill>
                <a:latin typeface="Calibri"/>
              </a:rPr>
              <a:t>46%</a:t>
            </a:r>
          </a:p>
        </p:txBody>
      </p:sp>
      <p:sp>
        <p:nvSpPr>
          <p:cNvPr id="405" name="Text_MGA_stack"/>
          <p:cNvSpPr txBox="1"/>
          <p:nvPr/>
        </p:nvSpPr>
        <p:spPr>
          <a:xfrm>
            <a:off x="3198368" y="4909844"/>
            <a:ext cx="1500000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19.4▌24.0▌9.2</a:t>
            </a:r>
          </a:p>
        </p:txBody>
      </p:sp>
      <p:sp>
        <p:nvSpPr>
          <p:cNvPr id="406" name="Shape_MGA_0"/>
          <p:cNvSpPr/>
          <p:nvPr/>
        </p:nvSpPr>
        <p:spPr>
          <a:xfrm>
            <a:off x="226568" y="4811108"/>
            <a:ext cx="36576" cy="347472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Shape_MGA_1"/>
          <p:cNvSpPr/>
          <p:nvPr/>
        </p:nvSpPr>
        <p:spPr>
          <a:xfrm>
            <a:off x="1579880" y="4847684"/>
            <a:ext cx="579692" cy="274320"/>
          </a:xfrm>
          <a:prstGeom prst="rect">
            <a:avLst/>
          </a:prstGeom>
          <a:solidFill>
            <a:srgbClr val="1A6B3A"/>
          </a:solidFill>
          <a:ln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Shape_MGA_2"/>
          <p:cNvSpPr/>
          <p:nvPr/>
        </p:nvSpPr>
        <p:spPr>
          <a:xfrm>
            <a:off x="2159572" y="4847684"/>
            <a:ext cx="716988" cy="274320"/>
          </a:xfrm>
          <a:prstGeom prst="rect">
            <a:avLst/>
          </a:prstGeom>
          <a:solidFill>
            <a:srgbClr val="C8890A"/>
          </a:solidFill>
          <a:ln>
            <a:solidFill>
              <a:srgbClr val="C88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Shape_MGA_3"/>
          <p:cNvSpPr/>
          <p:nvPr/>
        </p:nvSpPr>
        <p:spPr>
          <a:xfrm>
            <a:off x="2876560" y="4847684"/>
            <a:ext cx="276088" cy="27432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 累计 602.0M 显著高于预约 440.9M，反映跨周积压存量消化效应。签单累计 425.8M，递交→批核转化效率较高。W07 预约低点 2.7M 需关注执行节奏。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W21 签单峰 32.8M 为阶段高点；W08 批核峰 67.0M 为存量集中消化；W05 预约峰 28.2M 显示前端动能。周度节奏呈脉冲式特征，需关注执行连续性。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20.3M/51件；签单 21.0M/43件；批核 6.9M/29件。未批核 107.3M（235件）是 Q2 批核的核心转化储量。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1030.6M（占全业务 170.3%），高度集中。 以 576.8M 独占 95.3%，是最核心的单一客户，亦是最大集中风险点。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388.3M/948件。永明经代领跑，累计 125.3M/355件，占比 32%。W05 单周峰值 28.2M/32件，是本季度最高单周贡献。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批核总量 582.7M/1076件。BK业务领跑，累计 224.5M/195件，占比 39%。W08 单周峰值 67.0M/61件，是本季度最高单周贡献。</a:t>
            </a:r>
            <a:endParaRPr lang="en-US" sz="550" dirty="0"/>
          </a:p>
        </p:txBody>
      </p:sp>
      <p:sp>
        <p:nvSpPr>
          <p:cNvPr id="367" name="T8025"/>
          <p:cNvSpPr/>
          <p:nvPr/>
        </p:nvSpPr>
        <p:spPr>
          <a:xfrm>
            <a:off x="79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33" name="T6024"/>
          <p:cNvSpPr/>
          <p:nvPr/>
        </p:nvSpPr>
        <p:spPr>
          <a:xfrm>
            <a:off x="182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34" name="T6025"/>
          <p:cNvSpPr/>
          <p:nvPr/>
        </p:nvSpPr>
        <p:spPr>
          <a:xfrm>
            <a:off x="18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36" name="T6027"/>
          <p:cNvSpPr/>
          <p:nvPr/>
        </p:nvSpPr>
        <p:spPr>
          <a:xfrm>
            <a:off x="221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zh-CN" sz="570" dirty="0"/>
          </a:p>
        </p:txBody>
      </p:sp>
      <p:sp>
        <p:nvSpPr>
          <p:cNvPr id="638" name="R6029"/>
          <p:cNvSpPr/>
          <p:nvPr/>
        </p:nvSpPr>
        <p:spPr>
          <a:xfrm>
            <a:off x="2609384" y="4151376"/>
            <a:ext cx="390000" cy="290000"/>
          </a:xfrm>
          <a:prstGeom prst="rect">
            <a:avLst/>
          </a:prstGeom>
          <a:solidFill>
            <a:srgbClr val="1F3864">
              <a:alpha val="5375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03" name="Rectangle 902"/>
          <p:cNvSpPr/>
          <p:nvPr/>
        </p:nvSpPr>
        <p:spPr>
          <a:xfrm>
            <a:off x="6327775" y="4224655"/>
            <a:ext cx="72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6327775" y="422465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业务线</a:t>
            </a:r>
          </a:p>
        </p:txBody>
      </p:sp>
      <p:sp>
        <p:nvSpPr>
          <p:cNvPr id="905" name="Rectangle 904"/>
          <p:cNvSpPr/>
          <p:nvPr/>
        </p:nvSpPr>
        <p:spPr>
          <a:xfrm>
            <a:off x="7047775" y="4224655"/>
            <a:ext cx="63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TextBox 905"/>
          <p:cNvSpPr txBox="1"/>
          <p:nvPr/>
        </p:nvSpPr>
        <p:spPr>
          <a:xfrm>
            <a:off x="7047775" y="422465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件数</a:t>
            </a:r>
          </a:p>
        </p:txBody>
      </p:sp>
      <p:sp>
        <p:nvSpPr>
          <p:cNvPr id="907" name="Rectangle 906"/>
          <p:cNvSpPr/>
          <p:nvPr/>
        </p:nvSpPr>
        <p:spPr>
          <a:xfrm>
            <a:off x="7677775" y="4224655"/>
            <a:ext cx="85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7677775" y="42246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件均APE(万)</a:t>
            </a:r>
          </a:p>
        </p:txBody>
      </p:sp>
      <p:sp>
        <p:nvSpPr>
          <p:cNvPr id="909" name="Rectangle 908"/>
          <p:cNvSpPr/>
          <p:nvPr/>
        </p:nvSpPr>
        <p:spPr>
          <a:xfrm>
            <a:off x="8527775" y="4224655"/>
            <a:ext cx="85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TextBox 909"/>
          <p:cNvSpPr txBox="1"/>
          <p:nvPr/>
        </p:nvSpPr>
        <p:spPr>
          <a:xfrm>
            <a:off x="8527775" y="42246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平均时效(天)</a:t>
            </a:r>
          </a:p>
        </p:txBody>
      </p:sp>
      <p:sp>
        <p:nvSpPr>
          <p:cNvPr id="911" name="Rectangle 910"/>
          <p:cNvSpPr/>
          <p:nvPr/>
        </p:nvSpPr>
        <p:spPr>
          <a:xfrm>
            <a:off x="9377775" y="4224655"/>
            <a:ext cx="85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TextBox 911"/>
          <p:cNvSpPr txBox="1"/>
          <p:nvPr/>
        </p:nvSpPr>
        <p:spPr>
          <a:xfrm>
            <a:off x="9377775" y="42246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P90时效(天)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10227775" y="4224655"/>
            <a:ext cx="85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10227775" y="42246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中位时效(天)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11077775" y="4224655"/>
            <a:ext cx="850000" cy="234140"/>
          </a:xfrm>
          <a:prstGeom prst="rect">
            <a:avLst/>
          </a:prstGeom>
          <a:solidFill>
            <a:srgbClr val="3A3A5C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TextBox 915"/>
          <p:cNvSpPr txBox="1"/>
          <p:nvPr/>
        </p:nvSpPr>
        <p:spPr>
          <a:xfrm>
            <a:off x="11077775" y="42246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最大时效(天)</a:t>
            </a:r>
          </a:p>
        </p:txBody>
      </p:sp>
      <p:sp>
        <p:nvSpPr>
          <p:cNvPr id="917" name="Rectangle 916"/>
          <p:cNvSpPr/>
          <p:nvPr/>
        </p:nvSpPr>
        <p:spPr>
          <a:xfrm>
            <a:off x="6327775" y="4458795"/>
            <a:ext cx="72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TextBox 917"/>
          <p:cNvSpPr txBox="1"/>
          <p:nvPr/>
        </p:nvSpPr>
        <p:spPr>
          <a:xfrm>
            <a:off x="6327775" y="445879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天领业务</a:t>
            </a:r>
          </a:p>
        </p:txBody>
      </p:sp>
      <p:sp>
        <p:nvSpPr>
          <p:cNvPr id="919" name="Rectangle 918"/>
          <p:cNvSpPr/>
          <p:nvPr/>
        </p:nvSpPr>
        <p:spPr>
          <a:xfrm>
            <a:off x="7047775" y="4458795"/>
            <a:ext cx="63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TextBox 919"/>
          <p:cNvSpPr txBox="1"/>
          <p:nvPr/>
        </p:nvSpPr>
        <p:spPr>
          <a:xfrm>
            <a:off x="7047775" y="445879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191</a:t>
            </a:r>
          </a:p>
        </p:txBody>
      </p:sp>
      <p:sp>
        <p:nvSpPr>
          <p:cNvPr id="921" name="Rectangle 920"/>
          <p:cNvSpPr/>
          <p:nvPr/>
        </p:nvSpPr>
        <p:spPr>
          <a:xfrm>
            <a:off x="7677775" y="445879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TextBox 921"/>
          <p:cNvSpPr txBox="1"/>
          <p:nvPr/>
        </p:nvSpPr>
        <p:spPr>
          <a:xfrm>
            <a:off x="7677775" y="44587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34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8527775" y="445879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TextBox 923"/>
          <p:cNvSpPr txBox="1"/>
          <p:nvPr/>
        </p:nvSpPr>
        <p:spPr>
          <a:xfrm>
            <a:off x="8527775" y="44587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25" name="Rectangle 924"/>
          <p:cNvSpPr/>
          <p:nvPr/>
        </p:nvSpPr>
        <p:spPr>
          <a:xfrm>
            <a:off x="9377775" y="445879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9377775" y="44587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10227775" y="445879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0227775" y="44587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17</a:t>
            </a:r>
          </a:p>
        </p:txBody>
      </p:sp>
      <p:sp>
        <p:nvSpPr>
          <p:cNvPr id="929" name="Rectangle 928"/>
          <p:cNvSpPr/>
          <p:nvPr/>
        </p:nvSpPr>
        <p:spPr>
          <a:xfrm>
            <a:off x="11077775" y="445879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11077775" y="44587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125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6327775" y="4692935"/>
            <a:ext cx="72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6327775" y="469293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成事家办</a:t>
            </a:r>
          </a:p>
        </p:txBody>
      </p:sp>
      <p:sp>
        <p:nvSpPr>
          <p:cNvPr id="933" name="Rectangle 932"/>
          <p:cNvSpPr/>
          <p:nvPr/>
        </p:nvSpPr>
        <p:spPr>
          <a:xfrm>
            <a:off x="7047775" y="4692935"/>
            <a:ext cx="63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7047775" y="469293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34</a:t>
            </a:r>
          </a:p>
        </p:txBody>
      </p:sp>
      <p:sp>
        <p:nvSpPr>
          <p:cNvPr id="935" name="Rectangle 934"/>
          <p:cNvSpPr/>
          <p:nvPr/>
        </p:nvSpPr>
        <p:spPr>
          <a:xfrm>
            <a:off x="7677775" y="469293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TextBox 935"/>
          <p:cNvSpPr txBox="1"/>
          <p:nvPr/>
        </p:nvSpPr>
        <p:spPr>
          <a:xfrm>
            <a:off x="7677775" y="46929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23</a:t>
            </a:r>
          </a:p>
        </p:txBody>
      </p:sp>
      <p:sp>
        <p:nvSpPr>
          <p:cNvPr id="937" name="Rectangle 936"/>
          <p:cNvSpPr/>
          <p:nvPr/>
        </p:nvSpPr>
        <p:spPr>
          <a:xfrm>
            <a:off x="8527775" y="469293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TextBox 937"/>
          <p:cNvSpPr txBox="1"/>
          <p:nvPr/>
        </p:nvSpPr>
        <p:spPr>
          <a:xfrm>
            <a:off x="8527775" y="46929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22</a:t>
            </a:r>
          </a:p>
        </p:txBody>
      </p:sp>
      <p:sp>
        <p:nvSpPr>
          <p:cNvPr id="939" name="Rectangle 938"/>
          <p:cNvSpPr/>
          <p:nvPr/>
        </p:nvSpPr>
        <p:spPr>
          <a:xfrm>
            <a:off x="9377775" y="469293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9377775" y="46929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35</a:t>
            </a:r>
          </a:p>
        </p:txBody>
      </p:sp>
      <p:sp>
        <p:nvSpPr>
          <p:cNvPr id="941" name="Rectangle 940"/>
          <p:cNvSpPr/>
          <p:nvPr/>
        </p:nvSpPr>
        <p:spPr>
          <a:xfrm>
            <a:off x="10227775" y="469293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TextBox 941"/>
          <p:cNvSpPr txBox="1"/>
          <p:nvPr/>
        </p:nvSpPr>
        <p:spPr>
          <a:xfrm>
            <a:off x="10227775" y="46929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14</a:t>
            </a:r>
          </a:p>
        </p:txBody>
      </p:sp>
      <p:sp>
        <p:nvSpPr>
          <p:cNvPr id="943" name="Rectangle 942"/>
          <p:cNvSpPr/>
          <p:nvPr/>
        </p:nvSpPr>
        <p:spPr>
          <a:xfrm>
            <a:off x="11077775" y="469293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TextBox 943"/>
          <p:cNvSpPr txBox="1"/>
          <p:nvPr/>
        </p:nvSpPr>
        <p:spPr>
          <a:xfrm>
            <a:off x="11077775" y="46929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166</a:t>
            </a:r>
          </a:p>
        </p:txBody>
      </p:sp>
      <p:sp>
        <p:nvSpPr>
          <p:cNvPr id="945" name="Rectangle 944"/>
          <p:cNvSpPr/>
          <p:nvPr/>
        </p:nvSpPr>
        <p:spPr>
          <a:xfrm>
            <a:off x="6327775" y="4927075"/>
            <a:ext cx="72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6327775" y="492707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Calibri"/>
              </a:rPr>
              <a:t>BK业务</a:t>
            </a:r>
          </a:p>
        </p:txBody>
      </p:sp>
      <p:sp>
        <p:nvSpPr>
          <p:cNvPr id="947" name="Rectangle 946"/>
          <p:cNvSpPr/>
          <p:nvPr/>
        </p:nvSpPr>
        <p:spPr>
          <a:xfrm>
            <a:off x="7047775" y="4927075"/>
            <a:ext cx="63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TextBox 947"/>
          <p:cNvSpPr txBox="1"/>
          <p:nvPr/>
        </p:nvSpPr>
        <p:spPr>
          <a:xfrm>
            <a:off x="7047775" y="492707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196</a:t>
            </a:r>
          </a:p>
        </p:txBody>
      </p:sp>
      <p:sp>
        <p:nvSpPr>
          <p:cNvPr id="949" name="Rectangle 948"/>
          <p:cNvSpPr/>
          <p:nvPr/>
        </p:nvSpPr>
        <p:spPr>
          <a:xfrm>
            <a:off x="7677775" y="492707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7677775" y="49270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116</a:t>
            </a:r>
          </a:p>
        </p:txBody>
      </p:sp>
      <p:sp>
        <p:nvSpPr>
          <p:cNvPr id="951" name="Rectangle 950"/>
          <p:cNvSpPr/>
          <p:nvPr/>
        </p:nvSpPr>
        <p:spPr>
          <a:xfrm>
            <a:off x="8527775" y="492707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8527775" y="49270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72</a:t>
            </a:r>
          </a:p>
        </p:txBody>
      </p:sp>
      <p:sp>
        <p:nvSpPr>
          <p:cNvPr id="953" name="Rectangle 952"/>
          <p:cNvSpPr/>
          <p:nvPr/>
        </p:nvSpPr>
        <p:spPr>
          <a:xfrm>
            <a:off x="9377775" y="492707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TextBox 953"/>
          <p:cNvSpPr txBox="1"/>
          <p:nvPr/>
        </p:nvSpPr>
        <p:spPr>
          <a:xfrm>
            <a:off x="9377775" y="49270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145</a:t>
            </a:r>
          </a:p>
        </p:txBody>
      </p:sp>
      <p:sp>
        <p:nvSpPr>
          <p:cNvPr id="955" name="Rectangle 954"/>
          <p:cNvSpPr/>
          <p:nvPr/>
        </p:nvSpPr>
        <p:spPr>
          <a:xfrm>
            <a:off x="10227775" y="492707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TextBox 955"/>
          <p:cNvSpPr txBox="1"/>
          <p:nvPr/>
        </p:nvSpPr>
        <p:spPr>
          <a:xfrm>
            <a:off x="10227775" y="49270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74</a:t>
            </a:r>
          </a:p>
        </p:txBody>
      </p:sp>
      <p:sp>
        <p:nvSpPr>
          <p:cNvPr id="957" name="Rectangle 956"/>
          <p:cNvSpPr/>
          <p:nvPr/>
        </p:nvSpPr>
        <p:spPr>
          <a:xfrm>
            <a:off x="11077775" y="492707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11077775" y="49270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220</a:t>
            </a:r>
          </a:p>
        </p:txBody>
      </p:sp>
      <p:sp>
        <p:nvSpPr>
          <p:cNvPr id="959" name="Rectangle 958"/>
          <p:cNvSpPr/>
          <p:nvPr/>
        </p:nvSpPr>
        <p:spPr>
          <a:xfrm>
            <a:off x="6327775" y="5161215"/>
            <a:ext cx="72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6327775" y="516121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同行经代</a:t>
            </a:r>
          </a:p>
        </p:txBody>
      </p:sp>
      <p:sp>
        <p:nvSpPr>
          <p:cNvPr id="961" name="Rectangle 960"/>
          <p:cNvSpPr/>
          <p:nvPr/>
        </p:nvSpPr>
        <p:spPr>
          <a:xfrm>
            <a:off x="7047775" y="5161215"/>
            <a:ext cx="63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TextBox 961"/>
          <p:cNvSpPr txBox="1"/>
          <p:nvPr/>
        </p:nvSpPr>
        <p:spPr>
          <a:xfrm>
            <a:off x="7047775" y="516121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219</a:t>
            </a:r>
          </a:p>
        </p:txBody>
      </p:sp>
      <p:sp>
        <p:nvSpPr>
          <p:cNvPr id="963" name="Rectangle 962"/>
          <p:cNvSpPr/>
          <p:nvPr/>
        </p:nvSpPr>
        <p:spPr>
          <a:xfrm>
            <a:off x="7677775" y="516121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7677775" y="51612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50</a:t>
            </a:r>
          </a:p>
        </p:txBody>
      </p:sp>
      <p:sp>
        <p:nvSpPr>
          <p:cNvPr id="965" name="Rectangle 964"/>
          <p:cNvSpPr/>
          <p:nvPr/>
        </p:nvSpPr>
        <p:spPr>
          <a:xfrm>
            <a:off x="8527775" y="516121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TextBox 965"/>
          <p:cNvSpPr txBox="1"/>
          <p:nvPr/>
        </p:nvSpPr>
        <p:spPr>
          <a:xfrm>
            <a:off x="8527775" y="51612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22</a:t>
            </a:r>
          </a:p>
        </p:txBody>
      </p:sp>
      <p:sp>
        <p:nvSpPr>
          <p:cNvPr id="967" name="Rectangle 966"/>
          <p:cNvSpPr/>
          <p:nvPr/>
        </p:nvSpPr>
        <p:spPr>
          <a:xfrm>
            <a:off x="9377775" y="516121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9377775" y="51612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39</a:t>
            </a:r>
          </a:p>
        </p:txBody>
      </p:sp>
      <p:sp>
        <p:nvSpPr>
          <p:cNvPr id="969" name="Rectangle 968"/>
          <p:cNvSpPr/>
          <p:nvPr/>
        </p:nvSpPr>
        <p:spPr>
          <a:xfrm>
            <a:off x="10227775" y="516121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TextBox 969"/>
          <p:cNvSpPr txBox="1"/>
          <p:nvPr/>
        </p:nvSpPr>
        <p:spPr>
          <a:xfrm>
            <a:off x="10227775" y="51612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18</a:t>
            </a:r>
          </a:p>
        </p:txBody>
      </p:sp>
      <p:sp>
        <p:nvSpPr>
          <p:cNvPr id="971" name="Rectangle 970"/>
          <p:cNvSpPr/>
          <p:nvPr/>
        </p:nvSpPr>
        <p:spPr>
          <a:xfrm>
            <a:off x="11077775" y="516121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TextBox 971"/>
          <p:cNvSpPr txBox="1"/>
          <p:nvPr/>
        </p:nvSpPr>
        <p:spPr>
          <a:xfrm>
            <a:off x="11077775" y="51612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104</a:t>
            </a:r>
          </a:p>
        </p:txBody>
      </p:sp>
      <p:sp>
        <p:nvSpPr>
          <p:cNvPr id="973" name="Rectangle 972"/>
          <p:cNvSpPr/>
          <p:nvPr/>
        </p:nvSpPr>
        <p:spPr>
          <a:xfrm>
            <a:off x="6327775" y="5395355"/>
            <a:ext cx="72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6327775" y="539535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永明经代</a:t>
            </a:r>
          </a:p>
        </p:txBody>
      </p:sp>
      <p:sp>
        <p:nvSpPr>
          <p:cNvPr id="975" name="Rectangle 974"/>
          <p:cNvSpPr/>
          <p:nvPr/>
        </p:nvSpPr>
        <p:spPr>
          <a:xfrm>
            <a:off x="7047775" y="5395355"/>
            <a:ext cx="63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TextBox 975"/>
          <p:cNvSpPr txBox="1"/>
          <p:nvPr/>
        </p:nvSpPr>
        <p:spPr>
          <a:xfrm>
            <a:off x="7047775" y="539535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400</a:t>
            </a:r>
          </a:p>
        </p:txBody>
      </p:sp>
      <p:sp>
        <p:nvSpPr>
          <p:cNvPr id="977" name="Rectangle 976"/>
          <p:cNvSpPr/>
          <p:nvPr/>
        </p:nvSpPr>
        <p:spPr>
          <a:xfrm>
            <a:off x="7677775" y="539535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TextBox 977"/>
          <p:cNvSpPr txBox="1"/>
          <p:nvPr/>
        </p:nvSpPr>
        <p:spPr>
          <a:xfrm>
            <a:off x="7677775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79" name="Rectangle 978"/>
          <p:cNvSpPr/>
          <p:nvPr/>
        </p:nvSpPr>
        <p:spPr>
          <a:xfrm>
            <a:off x="8527775" y="539535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8527775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22</a:t>
            </a:r>
          </a:p>
        </p:txBody>
      </p:sp>
      <p:sp>
        <p:nvSpPr>
          <p:cNvPr id="981" name="Rectangle 980"/>
          <p:cNvSpPr/>
          <p:nvPr/>
        </p:nvSpPr>
        <p:spPr>
          <a:xfrm>
            <a:off x="9377775" y="539535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TextBox 981"/>
          <p:cNvSpPr txBox="1"/>
          <p:nvPr/>
        </p:nvSpPr>
        <p:spPr>
          <a:xfrm>
            <a:off x="9377775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83" name="Rectangle 982"/>
          <p:cNvSpPr/>
          <p:nvPr/>
        </p:nvSpPr>
        <p:spPr>
          <a:xfrm>
            <a:off x="10227775" y="539535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TextBox 983"/>
          <p:cNvSpPr txBox="1"/>
          <p:nvPr/>
        </p:nvSpPr>
        <p:spPr>
          <a:xfrm>
            <a:off x="10227775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85" name="Rectangle 984"/>
          <p:cNvSpPr/>
          <p:nvPr/>
        </p:nvSpPr>
        <p:spPr>
          <a:xfrm>
            <a:off x="11077775" y="539535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11077775" y="53953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107</a:t>
            </a:r>
          </a:p>
        </p:txBody>
      </p:sp>
      <p:sp>
        <p:nvSpPr>
          <p:cNvPr id="987" name="Rectangle 986"/>
          <p:cNvSpPr/>
          <p:nvPr/>
        </p:nvSpPr>
        <p:spPr>
          <a:xfrm>
            <a:off x="6327775" y="5629495"/>
            <a:ext cx="72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6327775" y="562949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合伙转介</a:t>
            </a:r>
          </a:p>
        </p:txBody>
      </p:sp>
      <p:sp>
        <p:nvSpPr>
          <p:cNvPr id="989" name="Rectangle 988"/>
          <p:cNvSpPr/>
          <p:nvPr/>
        </p:nvSpPr>
        <p:spPr>
          <a:xfrm>
            <a:off x="7047775" y="5629495"/>
            <a:ext cx="63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7047775" y="562949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26</a:t>
            </a:r>
          </a:p>
        </p:txBody>
      </p:sp>
      <p:sp>
        <p:nvSpPr>
          <p:cNvPr id="991" name="Rectangle 990"/>
          <p:cNvSpPr/>
          <p:nvPr/>
        </p:nvSpPr>
        <p:spPr>
          <a:xfrm>
            <a:off x="7677775" y="562949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TextBox 991"/>
          <p:cNvSpPr txBox="1"/>
          <p:nvPr/>
        </p:nvSpPr>
        <p:spPr>
          <a:xfrm>
            <a:off x="7677775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17</a:t>
            </a:r>
          </a:p>
        </p:txBody>
      </p:sp>
      <p:sp>
        <p:nvSpPr>
          <p:cNvPr id="993" name="Rectangle 992"/>
          <p:cNvSpPr/>
          <p:nvPr/>
        </p:nvSpPr>
        <p:spPr>
          <a:xfrm>
            <a:off x="8527775" y="562949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TextBox 993"/>
          <p:cNvSpPr txBox="1"/>
          <p:nvPr/>
        </p:nvSpPr>
        <p:spPr>
          <a:xfrm>
            <a:off x="8527775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29</a:t>
            </a:r>
          </a:p>
        </p:txBody>
      </p:sp>
      <p:sp>
        <p:nvSpPr>
          <p:cNvPr id="995" name="Rectangle 994"/>
          <p:cNvSpPr/>
          <p:nvPr/>
        </p:nvSpPr>
        <p:spPr>
          <a:xfrm>
            <a:off x="9377775" y="562949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9377775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36</a:t>
            </a:r>
          </a:p>
        </p:txBody>
      </p:sp>
      <p:sp>
        <p:nvSpPr>
          <p:cNvPr id="997" name="Rectangle 996"/>
          <p:cNvSpPr/>
          <p:nvPr/>
        </p:nvSpPr>
        <p:spPr>
          <a:xfrm>
            <a:off x="10227775" y="562949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TextBox 997"/>
          <p:cNvSpPr txBox="1"/>
          <p:nvPr/>
        </p:nvSpPr>
        <p:spPr>
          <a:xfrm>
            <a:off x="10227775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99" name="Rectangle 998"/>
          <p:cNvSpPr/>
          <p:nvPr/>
        </p:nvSpPr>
        <p:spPr>
          <a:xfrm>
            <a:off x="11077775" y="562949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TextBox 999"/>
          <p:cNvSpPr txBox="1"/>
          <p:nvPr/>
        </p:nvSpPr>
        <p:spPr>
          <a:xfrm>
            <a:off x="11077775" y="562949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244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6327775" y="5863635"/>
            <a:ext cx="72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6327775" y="586363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ICLUB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7047775" y="5863635"/>
            <a:ext cx="63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TextBox 1003"/>
          <p:cNvSpPr txBox="1"/>
          <p:nvPr/>
        </p:nvSpPr>
        <p:spPr>
          <a:xfrm>
            <a:off x="7047775" y="586363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11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7677775" y="586363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TextBox 1005"/>
          <p:cNvSpPr txBox="1"/>
          <p:nvPr/>
        </p:nvSpPr>
        <p:spPr>
          <a:xfrm>
            <a:off x="7677775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185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8527775" y="586363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8527775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</a:t>
            </a:r>
          </a:p>
        </p:txBody>
      </p:sp>
      <p:sp>
        <p:nvSpPr>
          <p:cNvPr id="1009" name="Rectangle 1008"/>
          <p:cNvSpPr/>
          <p:nvPr/>
        </p:nvSpPr>
        <p:spPr>
          <a:xfrm>
            <a:off x="9377775" y="586363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TextBox 1009"/>
          <p:cNvSpPr txBox="1"/>
          <p:nvPr/>
        </p:nvSpPr>
        <p:spPr>
          <a:xfrm>
            <a:off x="9377775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59</a:t>
            </a:r>
          </a:p>
        </p:txBody>
      </p:sp>
      <p:sp>
        <p:nvSpPr>
          <p:cNvPr id="1011" name="Rectangle 1010"/>
          <p:cNvSpPr/>
          <p:nvPr/>
        </p:nvSpPr>
        <p:spPr>
          <a:xfrm>
            <a:off x="10227775" y="586363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TextBox 1011"/>
          <p:cNvSpPr txBox="1"/>
          <p:nvPr/>
        </p:nvSpPr>
        <p:spPr>
          <a:xfrm>
            <a:off x="10227775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14</a:t>
            </a:r>
          </a:p>
        </p:txBody>
      </p:sp>
      <p:sp>
        <p:nvSpPr>
          <p:cNvPr id="1013" name="Rectangle 1012"/>
          <p:cNvSpPr/>
          <p:nvPr/>
        </p:nvSpPr>
        <p:spPr>
          <a:xfrm>
            <a:off x="11077775" y="586363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11077775" y="586363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76</a:t>
            </a:r>
          </a:p>
        </p:txBody>
      </p:sp>
      <p:sp>
        <p:nvSpPr>
          <p:cNvPr id="1015" name="Rectangle 1014"/>
          <p:cNvSpPr/>
          <p:nvPr/>
        </p:nvSpPr>
        <p:spPr>
          <a:xfrm>
            <a:off x="6327775" y="6097775"/>
            <a:ext cx="72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6327775" y="609777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IFA业务</a:t>
            </a:r>
          </a:p>
        </p:txBody>
      </p:sp>
      <p:sp>
        <p:nvSpPr>
          <p:cNvPr id="1017" name="Rectangle 1016"/>
          <p:cNvSpPr/>
          <p:nvPr/>
        </p:nvSpPr>
        <p:spPr>
          <a:xfrm>
            <a:off x="7047775" y="6097775"/>
            <a:ext cx="63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7047775" y="609777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019" name="Rectangle 1018"/>
          <p:cNvSpPr/>
          <p:nvPr/>
        </p:nvSpPr>
        <p:spPr>
          <a:xfrm>
            <a:off x="7677775" y="609777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7677775" y="60977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021" name="Rectangle 1020"/>
          <p:cNvSpPr/>
          <p:nvPr/>
        </p:nvSpPr>
        <p:spPr>
          <a:xfrm>
            <a:off x="8527775" y="609777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TextBox 1021"/>
          <p:cNvSpPr txBox="1"/>
          <p:nvPr/>
        </p:nvSpPr>
        <p:spPr>
          <a:xfrm>
            <a:off x="8527775" y="60977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023" name="Rectangle 1022"/>
          <p:cNvSpPr/>
          <p:nvPr/>
        </p:nvSpPr>
        <p:spPr>
          <a:xfrm>
            <a:off x="9377775" y="609777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TextBox 1023"/>
          <p:cNvSpPr txBox="1"/>
          <p:nvPr/>
        </p:nvSpPr>
        <p:spPr>
          <a:xfrm>
            <a:off x="9377775" y="60977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025" name="Rectangle 1024"/>
          <p:cNvSpPr/>
          <p:nvPr/>
        </p:nvSpPr>
        <p:spPr>
          <a:xfrm>
            <a:off x="10227775" y="609777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10227775" y="60977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027" name="Rectangle 1026"/>
          <p:cNvSpPr/>
          <p:nvPr/>
        </p:nvSpPr>
        <p:spPr>
          <a:xfrm>
            <a:off x="11077775" y="6097775"/>
            <a:ext cx="850000" cy="234140"/>
          </a:xfrm>
          <a:prstGeom prst="rect">
            <a:avLst/>
          </a:prstGeom>
          <a:solidFill>
            <a:srgbClr val="EBEBEB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11077775" y="609777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029" name="Rectangle 1028"/>
          <p:cNvSpPr/>
          <p:nvPr/>
        </p:nvSpPr>
        <p:spPr>
          <a:xfrm>
            <a:off x="6327775" y="6331915"/>
            <a:ext cx="72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6327775" y="633191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1031" name="Rectangle 1030"/>
          <p:cNvSpPr/>
          <p:nvPr/>
        </p:nvSpPr>
        <p:spPr>
          <a:xfrm>
            <a:off x="7047775" y="6331915"/>
            <a:ext cx="63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7047775" y="633191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80</a:t>
            </a:r>
          </a:p>
        </p:txBody>
      </p:sp>
      <p:sp>
        <p:nvSpPr>
          <p:cNvPr id="1033" name="Rectangle 1032"/>
          <p:cNvSpPr/>
          <p:nvPr/>
        </p:nvSpPr>
        <p:spPr>
          <a:xfrm>
            <a:off x="7677775" y="633191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677775" y="63319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</a:t>
            </a:r>
          </a:p>
        </p:txBody>
      </p:sp>
      <p:sp>
        <p:nvSpPr>
          <p:cNvPr id="1035" name="Rectangle 1034"/>
          <p:cNvSpPr/>
          <p:nvPr/>
        </p:nvSpPr>
        <p:spPr>
          <a:xfrm>
            <a:off x="8527775" y="633191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527775" y="63319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18</a:t>
            </a:r>
          </a:p>
        </p:txBody>
      </p:sp>
      <p:sp>
        <p:nvSpPr>
          <p:cNvPr id="1037" name="Rectangle 1036"/>
          <p:cNvSpPr/>
          <p:nvPr/>
        </p:nvSpPr>
        <p:spPr>
          <a:xfrm>
            <a:off x="9377775" y="633191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9377775" y="63319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34</a:t>
            </a:r>
          </a:p>
        </p:txBody>
      </p:sp>
      <p:sp>
        <p:nvSpPr>
          <p:cNvPr id="1039" name="Rectangle 1038"/>
          <p:cNvSpPr/>
          <p:nvPr/>
        </p:nvSpPr>
        <p:spPr>
          <a:xfrm>
            <a:off x="10227775" y="633191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0227775" y="63319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17</a:t>
            </a:r>
          </a:p>
        </p:txBody>
      </p:sp>
      <p:sp>
        <p:nvSpPr>
          <p:cNvPr id="1041" name="Rectangle 1040"/>
          <p:cNvSpPr/>
          <p:nvPr/>
        </p:nvSpPr>
        <p:spPr>
          <a:xfrm>
            <a:off x="11077775" y="6331915"/>
            <a:ext cx="850000" cy="234140"/>
          </a:xfrm>
          <a:prstGeom prst="rect">
            <a:avLst/>
          </a:prstGeom>
          <a:solidFill>
            <a:srgbClr val="F8F8F8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1077775" y="633191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45</a:t>
            </a:r>
          </a:p>
        </p:txBody>
      </p:sp>
      <p:sp>
        <p:nvSpPr>
          <p:cNvPr id="1043" name="Rectangle 1042"/>
          <p:cNvSpPr/>
          <p:nvPr/>
        </p:nvSpPr>
        <p:spPr>
          <a:xfrm>
            <a:off x="6327775" y="6566055"/>
            <a:ext cx="72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6327775" y="6566055"/>
            <a:ext cx="72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045" name="Rectangle 1044"/>
          <p:cNvSpPr/>
          <p:nvPr/>
        </p:nvSpPr>
        <p:spPr>
          <a:xfrm>
            <a:off x="7047775" y="6566055"/>
            <a:ext cx="63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TextBox 1045"/>
          <p:cNvSpPr txBox="1"/>
          <p:nvPr/>
        </p:nvSpPr>
        <p:spPr>
          <a:xfrm>
            <a:off x="7047775" y="6566055"/>
            <a:ext cx="63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1157</a:t>
            </a:r>
          </a:p>
        </p:txBody>
      </p:sp>
      <p:sp>
        <p:nvSpPr>
          <p:cNvPr id="1047" name="Rectangle 1046"/>
          <p:cNvSpPr/>
          <p:nvPr/>
        </p:nvSpPr>
        <p:spPr>
          <a:xfrm>
            <a:off x="7677775" y="6566055"/>
            <a:ext cx="85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7677775" y="65660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52</a:t>
            </a:r>
          </a:p>
        </p:txBody>
      </p:sp>
      <p:sp>
        <p:nvSpPr>
          <p:cNvPr id="1049" name="Rectangle 1048"/>
          <p:cNvSpPr/>
          <p:nvPr/>
        </p:nvSpPr>
        <p:spPr>
          <a:xfrm>
            <a:off x="8527775" y="6566055"/>
            <a:ext cx="85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TextBox 1049"/>
          <p:cNvSpPr txBox="1"/>
          <p:nvPr/>
        </p:nvSpPr>
        <p:spPr>
          <a:xfrm>
            <a:off x="8527775" y="65660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30</a:t>
            </a:r>
          </a:p>
        </p:txBody>
      </p:sp>
      <p:sp>
        <p:nvSpPr>
          <p:cNvPr id="1051" name="Rectangle 1050"/>
          <p:cNvSpPr/>
          <p:nvPr/>
        </p:nvSpPr>
        <p:spPr>
          <a:xfrm>
            <a:off x="9377775" y="6566055"/>
            <a:ext cx="85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TextBox 1051"/>
          <p:cNvSpPr txBox="1"/>
          <p:nvPr/>
        </p:nvSpPr>
        <p:spPr>
          <a:xfrm>
            <a:off x="9377775" y="65660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72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10227775" y="6566055"/>
            <a:ext cx="85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10227775" y="65660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1055" name="Rectangle 1054"/>
          <p:cNvSpPr/>
          <p:nvPr/>
        </p:nvSpPr>
        <p:spPr>
          <a:xfrm>
            <a:off x="11077775" y="6566055"/>
            <a:ext cx="850000" cy="234140"/>
          </a:xfrm>
          <a:prstGeom prst="rect">
            <a:avLst/>
          </a:prstGeom>
          <a:solidFill>
            <a:srgbClr val="DDE8F2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TextBox 1055"/>
          <p:cNvSpPr txBox="1"/>
          <p:nvPr/>
        </p:nvSpPr>
        <p:spPr>
          <a:xfrm>
            <a:off x="11077775" y="6566055"/>
            <a:ext cx="850000" cy="23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244</a:t>
            </a:r>
          </a:p>
        </p:txBody>
      </p:sp>
      <p:sp>
        <p:nvSpPr>
          <p:cNvPr id="1057" name="Rectangle 1056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  周度预约业绩热力矩阵（APE in M）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069" name="TextBox 1068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202880" y="101603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075" name="Rectangle 1074"/>
          <p:cNvSpPr/>
          <p:nvPr/>
        </p:nvSpPr>
        <p:spPr>
          <a:xfrm>
            <a:off x="1216129" y="1022032"/>
            <a:ext cx="335249" cy="221774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TextBox 1075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3.2M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1210129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1078" name="Rectangle 1077"/>
          <p:cNvSpPr/>
          <p:nvPr/>
        </p:nvSpPr>
        <p:spPr>
          <a:xfrm>
            <a:off x="1563378" y="1022032"/>
            <a:ext cx="335249" cy="221774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TextBox 1078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4.4M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1557378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081" name="Rectangle 1080"/>
          <p:cNvSpPr/>
          <p:nvPr/>
        </p:nvSpPr>
        <p:spPr>
          <a:xfrm>
            <a:off x="1910627" y="1022032"/>
            <a:ext cx="335249" cy="221774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1904627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084" name="Rectangle 1083"/>
          <p:cNvSpPr/>
          <p:nvPr/>
        </p:nvSpPr>
        <p:spPr>
          <a:xfrm>
            <a:off x="2257876" y="1022032"/>
            <a:ext cx="335249" cy="221774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1.5M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225187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19件</a:t>
            </a:r>
          </a:p>
        </p:txBody>
      </p:sp>
      <p:sp>
        <p:nvSpPr>
          <p:cNvPr id="1087" name="Rectangle 1086"/>
          <p:cNvSpPr/>
          <p:nvPr/>
        </p:nvSpPr>
        <p:spPr>
          <a:xfrm>
            <a:off x="2605125" y="1022032"/>
            <a:ext cx="335249" cy="221774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7.0M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2599125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090" name="Rectangle 1089"/>
          <p:cNvSpPr/>
          <p:nvPr/>
        </p:nvSpPr>
        <p:spPr>
          <a:xfrm>
            <a:off x="2952374" y="1022032"/>
            <a:ext cx="335249" cy="221774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2946374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093" name="Rectangle 1092"/>
          <p:cNvSpPr/>
          <p:nvPr/>
        </p:nvSpPr>
        <p:spPr>
          <a:xfrm>
            <a:off x="3299623" y="1022032"/>
            <a:ext cx="335249" cy="221774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3293623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1096" name="Rectangle 1095"/>
          <p:cNvSpPr/>
          <p:nvPr/>
        </p:nvSpPr>
        <p:spPr>
          <a:xfrm>
            <a:off x="3646872" y="1022032"/>
            <a:ext cx="335249" cy="221774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3640872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099" name="Rectangle 1098"/>
          <p:cNvSpPr/>
          <p:nvPr/>
        </p:nvSpPr>
        <p:spPr>
          <a:xfrm>
            <a:off x="3994121" y="1022032"/>
            <a:ext cx="335249" cy="221774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1.2M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3988121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102" name="Rectangle 1101"/>
          <p:cNvSpPr/>
          <p:nvPr/>
        </p:nvSpPr>
        <p:spPr>
          <a:xfrm>
            <a:off x="4341370" y="1022032"/>
            <a:ext cx="335249" cy="221774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4335370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105" name="Rectangle 1104"/>
          <p:cNvSpPr/>
          <p:nvPr/>
        </p:nvSpPr>
        <p:spPr>
          <a:xfrm>
            <a:off x="4688619" y="1022032"/>
            <a:ext cx="335249" cy="221774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3.3M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4682619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9件</a:t>
            </a:r>
          </a:p>
        </p:txBody>
      </p:sp>
      <p:sp>
        <p:nvSpPr>
          <p:cNvPr id="1108" name="Rectangle 1107"/>
          <p:cNvSpPr/>
          <p:nvPr/>
        </p:nvSpPr>
        <p:spPr>
          <a:xfrm>
            <a:off x="5035868" y="1022032"/>
            <a:ext cx="335249" cy="221774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0.8M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5029868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111" name="Rectangle 1110"/>
          <p:cNvSpPr/>
          <p:nvPr/>
        </p:nvSpPr>
        <p:spPr>
          <a:xfrm>
            <a:off x="5383117" y="1022032"/>
            <a:ext cx="335249" cy="221774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5377117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114" name="Rectangle 1113"/>
          <p:cNvSpPr/>
          <p:nvPr/>
        </p:nvSpPr>
        <p:spPr>
          <a:xfrm>
            <a:off x="5730366" y="1022032"/>
            <a:ext cx="335249" cy="221774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572436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202880" y="124980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868880" y="1255806"/>
            <a:ext cx="335249" cy="221774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862880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0.6M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62880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1216129" y="1255806"/>
            <a:ext cx="335249" cy="221774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1210129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1210129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124" name="Rectangle 1123"/>
          <p:cNvSpPr/>
          <p:nvPr/>
        </p:nvSpPr>
        <p:spPr>
          <a:xfrm>
            <a:off x="1563378" y="1255806"/>
            <a:ext cx="335249" cy="221774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TextBox 1124"/>
          <p:cNvSpPr txBox="1"/>
          <p:nvPr/>
        </p:nvSpPr>
        <p:spPr>
          <a:xfrm>
            <a:off x="1557378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0.8M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1557378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7件</a:t>
            </a:r>
          </a:p>
        </p:txBody>
      </p:sp>
      <p:sp>
        <p:nvSpPr>
          <p:cNvPr id="1127" name="Rectangle 1126"/>
          <p:cNvSpPr/>
          <p:nvPr/>
        </p:nvSpPr>
        <p:spPr>
          <a:xfrm>
            <a:off x="2605125" y="1255806"/>
            <a:ext cx="335249" cy="221774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2599125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2.2M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2599125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30" name="Rectangle 1129"/>
          <p:cNvSpPr/>
          <p:nvPr/>
        </p:nvSpPr>
        <p:spPr>
          <a:xfrm>
            <a:off x="3646872" y="1255806"/>
            <a:ext cx="335249" cy="221774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3640872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3640872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133" name="Rectangle 1132"/>
          <p:cNvSpPr/>
          <p:nvPr/>
        </p:nvSpPr>
        <p:spPr>
          <a:xfrm>
            <a:off x="4688619" y="1255806"/>
            <a:ext cx="335249" cy="221774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4682619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4682619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136" name="Rectangle 1135"/>
          <p:cNvSpPr/>
          <p:nvPr/>
        </p:nvSpPr>
        <p:spPr>
          <a:xfrm>
            <a:off x="5383117" y="1255806"/>
            <a:ext cx="335249" cy="221774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5377117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5377117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202880" y="148358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140" name="Rectangle 1139"/>
          <p:cNvSpPr/>
          <p:nvPr/>
        </p:nvSpPr>
        <p:spPr>
          <a:xfrm>
            <a:off x="868880" y="1489580"/>
            <a:ext cx="335249" cy="221774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TextBox 1140"/>
          <p:cNvSpPr txBox="1"/>
          <p:nvPr/>
        </p:nvSpPr>
        <p:spPr>
          <a:xfrm>
            <a:off x="862880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862880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43" name="Rectangle 1142"/>
          <p:cNvSpPr/>
          <p:nvPr/>
        </p:nvSpPr>
        <p:spPr>
          <a:xfrm>
            <a:off x="1216129" y="1489580"/>
            <a:ext cx="335249" cy="221774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TextBox 1143"/>
          <p:cNvSpPr txBox="1"/>
          <p:nvPr/>
        </p:nvSpPr>
        <p:spPr>
          <a:xfrm>
            <a:off x="1210129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1210129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46" name="Rectangle 1145"/>
          <p:cNvSpPr/>
          <p:nvPr/>
        </p:nvSpPr>
        <p:spPr>
          <a:xfrm>
            <a:off x="1563378" y="1489580"/>
            <a:ext cx="335249" cy="221774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1557378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1.7M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1557378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149" name="Rectangle 1148"/>
          <p:cNvSpPr/>
          <p:nvPr/>
        </p:nvSpPr>
        <p:spPr>
          <a:xfrm>
            <a:off x="1910627" y="1489580"/>
            <a:ext cx="335249" cy="221774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1904627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151" name="TextBox 1150"/>
          <p:cNvSpPr txBox="1"/>
          <p:nvPr/>
        </p:nvSpPr>
        <p:spPr>
          <a:xfrm>
            <a:off x="1904627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52" name="Rectangle 1151"/>
          <p:cNvSpPr/>
          <p:nvPr/>
        </p:nvSpPr>
        <p:spPr>
          <a:xfrm>
            <a:off x="2257876" y="1489580"/>
            <a:ext cx="335249" cy="221774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TextBox 1152"/>
          <p:cNvSpPr txBox="1"/>
          <p:nvPr/>
        </p:nvSpPr>
        <p:spPr>
          <a:xfrm>
            <a:off x="225187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225187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55" name="Rectangle 1154"/>
          <p:cNvSpPr/>
          <p:nvPr/>
        </p:nvSpPr>
        <p:spPr>
          <a:xfrm>
            <a:off x="2605125" y="1489580"/>
            <a:ext cx="335249" cy="221774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TextBox 1155"/>
          <p:cNvSpPr txBox="1"/>
          <p:nvPr/>
        </p:nvSpPr>
        <p:spPr>
          <a:xfrm>
            <a:off x="2599125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157" name="TextBox 1156"/>
          <p:cNvSpPr txBox="1"/>
          <p:nvPr/>
        </p:nvSpPr>
        <p:spPr>
          <a:xfrm>
            <a:off x="2599125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158" name="Rectangle 1157"/>
          <p:cNvSpPr/>
          <p:nvPr/>
        </p:nvSpPr>
        <p:spPr>
          <a:xfrm>
            <a:off x="2952374" y="1489580"/>
            <a:ext cx="335249" cy="221774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TextBox 1158"/>
          <p:cNvSpPr txBox="1"/>
          <p:nvPr/>
        </p:nvSpPr>
        <p:spPr>
          <a:xfrm>
            <a:off x="2946374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2946374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61" name="Rectangle 1160"/>
          <p:cNvSpPr/>
          <p:nvPr/>
        </p:nvSpPr>
        <p:spPr>
          <a:xfrm>
            <a:off x="3299623" y="1489580"/>
            <a:ext cx="335249" cy="221774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TextBox 1161"/>
          <p:cNvSpPr txBox="1"/>
          <p:nvPr/>
        </p:nvSpPr>
        <p:spPr>
          <a:xfrm>
            <a:off x="3293623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3293623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164" name="Rectangle 1163"/>
          <p:cNvSpPr/>
          <p:nvPr/>
        </p:nvSpPr>
        <p:spPr>
          <a:xfrm>
            <a:off x="3646872" y="1489580"/>
            <a:ext cx="335249" cy="221774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TextBox 1164"/>
          <p:cNvSpPr txBox="1"/>
          <p:nvPr/>
        </p:nvSpPr>
        <p:spPr>
          <a:xfrm>
            <a:off x="3640872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3640872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67" name="Rectangle 1166"/>
          <p:cNvSpPr/>
          <p:nvPr/>
        </p:nvSpPr>
        <p:spPr>
          <a:xfrm>
            <a:off x="3994121" y="1489580"/>
            <a:ext cx="335249" cy="221774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TextBox 1167"/>
          <p:cNvSpPr txBox="1"/>
          <p:nvPr/>
        </p:nvSpPr>
        <p:spPr>
          <a:xfrm>
            <a:off x="3988121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3988121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70" name="Rectangle 1169"/>
          <p:cNvSpPr/>
          <p:nvPr/>
        </p:nvSpPr>
        <p:spPr>
          <a:xfrm>
            <a:off x="4341370" y="1489580"/>
            <a:ext cx="335249" cy="221774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TextBox 1170"/>
          <p:cNvSpPr txBox="1"/>
          <p:nvPr/>
        </p:nvSpPr>
        <p:spPr>
          <a:xfrm>
            <a:off x="4335370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4335370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173" name="Rectangle 1172"/>
          <p:cNvSpPr/>
          <p:nvPr/>
        </p:nvSpPr>
        <p:spPr>
          <a:xfrm>
            <a:off x="4688619" y="1489580"/>
            <a:ext cx="335249" cy="221774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TextBox 1173"/>
          <p:cNvSpPr txBox="1"/>
          <p:nvPr/>
        </p:nvSpPr>
        <p:spPr>
          <a:xfrm>
            <a:off x="4682619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4682619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76" name="Rectangle 1175"/>
          <p:cNvSpPr/>
          <p:nvPr/>
        </p:nvSpPr>
        <p:spPr>
          <a:xfrm>
            <a:off x="5035868" y="1489580"/>
            <a:ext cx="335249" cy="221774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TextBox 1176"/>
          <p:cNvSpPr txBox="1"/>
          <p:nvPr/>
        </p:nvSpPr>
        <p:spPr>
          <a:xfrm>
            <a:off x="5029868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5029868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79" name="Rectangle 1178"/>
          <p:cNvSpPr/>
          <p:nvPr/>
        </p:nvSpPr>
        <p:spPr>
          <a:xfrm>
            <a:off x="5383117" y="1489580"/>
            <a:ext cx="335249" cy="221774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TextBox 1179"/>
          <p:cNvSpPr txBox="1"/>
          <p:nvPr/>
        </p:nvSpPr>
        <p:spPr>
          <a:xfrm>
            <a:off x="5377117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181" name="TextBox 1180"/>
          <p:cNvSpPr txBox="1"/>
          <p:nvPr/>
        </p:nvSpPr>
        <p:spPr>
          <a:xfrm>
            <a:off x="5377117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82" name="Rectangle 1181"/>
          <p:cNvSpPr/>
          <p:nvPr/>
        </p:nvSpPr>
        <p:spPr>
          <a:xfrm>
            <a:off x="5730366" y="1489580"/>
            <a:ext cx="335249" cy="221774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TextBox 1182"/>
          <p:cNvSpPr txBox="1"/>
          <p:nvPr/>
        </p:nvSpPr>
        <p:spPr>
          <a:xfrm>
            <a:off x="572436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2.7M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572436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202880" y="171735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186" name="Rectangle 1185"/>
          <p:cNvSpPr/>
          <p:nvPr/>
        </p:nvSpPr>
        <p:spPr>
          <a:xfrm>
            <a:off x="868880" y="1723354"/>
            <a:ext cx="335249" cy="221774"/>
          </a:xfrm>
          <a:prstGeom prst="rect">
            <a:avLst/>
          </a:prstGeom>
          <a:solidFill>
            <a:srgbClr val="E67E22">
              <a:alpha val="343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862880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1.4M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862880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7件</a:t>
            </a:r>
          </a:p>
        </p:txBody>
      </p:sp>
      <p:sp>
        <p:nvSpPr>
          <p:cNvPr id="1189" name="Rectangle 1188"/>
          <p:cNvSpPr/>
          <p:nvPr/>
        </p:nvSpPr>
        <p:spPr>
          <a:xfrm>
            <a:off x="1216129" y="1723354"/>
            <a:ext cx="335249" cy="221774"/>
          </a:xfrm>
          <a:prstGeom prst="rect">
            <a:avLst/>
          </a:prstGeom>
          <a:solidFill>
            <a:srgbClr val="E67E22">
              <a:alpha val="393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1210129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2.1M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1210129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192" name="Rectangle 1191"/>
          <p:cNvSpPr/>
          <p:nvPr/>
        </p:nvSpPr>
        <p:spPr>
          <a:xfrm>
            <a:off x="1563378" y="1723354"/>
            <a:ext cx="335249" cy="221774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1557378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11.2M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1557378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195" name="Rectangle 1194"/>
          <p:cNvSpPr/>
          <p:nvPr/>
        </p:nvSpPr>
        <p:spPr>
          <a:xfrm>
            <a:off x="1910627" y="1723354"/>
            <a:ext cx="335249" cy="221774"/>
          </a:xfrm>
          <a:prstGeom prst="rect">
            <a:avLst/>
          </a:prstGeom>
          <a:solidFill>
            <a:srgbClr val="E67E22">
              <a:alpha val="387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1904627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2.1M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1904627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6件</a:t>
            </a:r>
          </a:p>
        </p:txBody>
      </p:sp>
      <p:sp>
        <p:nvSpPr>
          <p:cNvPr id="1198" name="Rectangle 1197"/>
          <p:cNvSpPr/>
          <p:nvPr/>
        </p:nvSpPr>
        <p:spPr>
          <a:xfrm>
            <a:off x="2257876" y="1723354"/>
            <a:ext cx="335249" cy="221774"/>
          </a:xfrm>
          <a:prstGeom prst="rect">
            <a:avLst/>
          </a:prstGeom>
          <a:solidFill>
            <a:srgbClr val="E67E22">
              <a:alpha val="54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225187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4.5M</a:t>
            </a:r>
          </a:p>
        </p:txBody>
      </p:sp>
      <p:sp>
        <p:nvSpPr>
          <p:cNvPr id="1200" name="TextBox 1199"/>
          <p:cNvSpPr txBox="1"/>
          <p:nvPr/>
        </p:nvSpPr>
        <p:spPr>
          <a:xfrm>
            <a:off x="225187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201" name="Rectangle 1200"/>
          <p:cNvSpPr/>
          <p:nvPr/>
        </p:nvSpPr>
        <p:spPr>
          <a:xfrm>
            <a:off x="2605125" y="1723354"/>
            <a:ext cx="335249" cy="221774"/>
          </a:xfrm>
          <a:prstGeom prst="rect">
            <a:avLst/>
          </a:prstGeom>
          <a:solidFill>
            <a:srgbClr val="E67E22">
              <a:alpha val="525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TextBox 1201"/>
          <p:cNvSpPr txBox="1"/>
          <p:nvPr/>
        </p:nvSpPr>
        <p:spPr>
          <a:xfrm>
            <a:off x="2599125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4.1M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2599125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204" name="Rectangle 1203"/>
          <p:cNvSpPr/>
          <p:nvPr/>
        </p:nvSpPr>
        <p:spPr>
          <a:xfrm>
            <a:off x="2952374" y="1723354"/>
            <a:ext cx="335249" cy="221774"/>
          </a:xfrm>
          <a:prstGeom prst="rect">
            <a:avLst/>
          </a:prstGeom>
          <a:solidFill>
            <a:srgbClr val="E67E22">
              <a:alpha val="53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TextBox 1204"/>
          <p:cNvSpPr txBox="1"/>
          <p:nvPr/>
        </p:nvSpPr>
        <p:spPr>
          <a:xfrm>
            <a:off x="2946374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2946374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207" name="Rectangle 1206"/>
          <p:cNvSpPr/>
          <p:nvPr/>
        </p:nvSpPr>
        <p:spPr>
          <a:xfrm>
            <a:off x="3299623" y="1723354"/>
            <a:ext cx="335249" cy="221774"/>
          </a:xfrm>
          <a:prstGeom prst="rect">
            <a:avLst/>
          </a:prstGeom>
          <a:solidFill>
            <a:srgbClr val="E67E22">
              <a:alpha val="522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TextBox 1207"/>
          <p:cNvSpPr txBox="1"/>
          <p:nvPr/>
        </p:nvSpPr>
        <p:spPr>
          <a:xfrm>
            <a:off x="3293623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4.1M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3293623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210" name="Rectangle 1209"/>
          <p:cNvSpPr/>
          <p:nvPr/>
        </p:nvSpPr>
        <p:spPr>
          <a:xfrm>
            <a:off x="3646872" y="1723354"/>
            <a:ext cx="335249" cy="221774"/>
          </a:xfrm>
          <a:prstGeom prst="rect">
            <a:avLst/>
          </a:prstGeom>
          <a:solidFill>
            <a:srgbClr val="E67E22">
              <a:alpha val="496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TextBox 1210"/>
          <p:cNvSpPr txBox="1"/>
          <p:nvPr/>
        </p:nvSpPr>
        <p:spPr>
          <a:xfrm>
            <a:off x="3640872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3.7M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3640872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213" name="Rectangle 1212"/>
          <p:cNvSpPr/>
          <p:nvPr/>
        </p:nvSpPr>
        <p:spPr>
          <a:xfrm>
            <a:off x="3994121" y="1723354"/>
            <a:ext cx="335249" cy="221774"/>
          </a:xfrm>
          <a:prstGeom prst="rect">
            <a:avLst/>
          </a:prstGeom>
          <a:solidFill>
            <a:srgbClr val="E67E22">
              <a:alpha val="680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TextBox 1213"/>
          <p:cNvSpPr txBox="1"/>
          <p:nvPr/>
        </p:nvSpPr>
        <p:spPr>
          <a:xfrm>
            <a:off x="3988121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6.4M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3988121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216" name="Rectangle 1215"/>
          <p:cNvSpPr/>
          <p:nvPr/>
        </p:nvSpPr>
        <p:spPr>
          <a:xfrm>
            <a:off x="4341370" y="1723354"/>
            <a:ext cx="335249" cy="221774"/>
          </a:xfrm>
          <a:prstGeom prst="rect">
            <a:avLst/>
          </a:prstGeom>
          <a:solidFill>
            <a:srgbClr val="E67E22">
              <a:alpha val="705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4335370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4335370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219" name="Rectangle 1218"/>
          <p:cNvSpPr/>
          <p:nvPr/>
        </p:nvSpPr>
        <p:spPr>
          <a:xfrm>
            <a:off x="4688619" y="1723354"/>
            <a:ext cx="335249" cy="221774"/>
          </a:xfrm>
          <a:prstGeom prst="rect">
            <a:avLst/>
          </a:prstGeom>
          <a:solidFill>
            <a:srgbClr val="E67E22">
              <a:alpha val="49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4682619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3.6M</a:t>
            </a:r>
          </a:p>
        </p:txBody>
      </p:sp>
      <p:sp>
        <p:nvSpPr>
          <p:cNvPr id="1221" name="TextBox 1220"/>
          <p:cNvSpPr txBox="1"/>
          <p:nvPr/>
        </p:nvSpPr>
        <p:spPr>
          <a:xfrm>
            <a:off x="4682619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222" name="Rectangle 1221"/>
          <p:cNvSpPr/>
          <p:nvPr/>
        </p:nvSpPr>
        <p:spPr>
          <a:xfrm>
            <a:off x="5035868" y="1723354"/>
            <a:ext cx="335249" cy="221774"/>
          </a:xfrm>
          <a:prstGeom prst="rect">
            <a:avLst/>
          </a:prstGeom>
          <a:solidFill>
            <a:srgbClr val="E67E22">
              <a:alpha val="484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5029868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3.5M</a:t>
            </a:r>
          </a:p>
        </p:txBody>
      </p:sp>
      <p:sp>
        <p:nvSpPr>
          <p:cNvPr id="1224" name="TextBox 1223"/>
          <p:cNvSpPr txBox="1"/>
          <p:nvPr/>
        </p:nvSpPr>
        <p:spPr>
          <a:xfrm>
            <a:off x="5029868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225" name="Rectangle 1224"/>
          <p:cNvSpPr/>
          <p:nvPr/>
        </p:nvSpPr>
        <p:spPr>
          <a:xfrm>
            <a:off x="5383117" y="1723354"/>
            <a:ext cx="335249" cy="221774"/>
          </a:xfrm>
          <a:prstGeom prst="rect">
            <a:avLst/>
          </a:prstGeom>
          <a:solidFill>
            <a:srgbClr val="E67E22">
              <a:alpha val="40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5377117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2.4M</a:t>
            </a:r>
          </a:p>
        </p:txBody>
      </p:sp>
      <p:sp>
        <p:nvSpPr>
          <p:cNvPr id="1227" name="TextBox 1226"/>
          <p:cNvSpPr txBox="1"/>
          <p:nvPr/>
        </p:nvSpPr>
        <p:spPr>
          <a:xfrm>
            <a:off x="5377117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228" name="Rectangle 1227"/>
          <p:cNvSpPr/>
          <p:nvPr/>
        </p:nvSpPr>
        <p:spPr>
          <a:xfrm>
            <a:off x="5730366" y="1723354"/>
            <a:ext cx="335249" cy="221774"/>
          </a:xfrm>
          <a:prstGeom prst="rect">
            <a:avLst/>
          </a:prstGeom>
          <a:solidFill>
            <a:srgbClr val="E67E22">
              <a:alpha val="479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572436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3.4M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572436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202880" y="1951128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232" name="Rectangle 1231"/>
          <p:cNvSpPr/>
          <p:nvPr/>
        </p:nvSpPr>
        <p:spPr>
          <a:xfrm>
            <a:off x="868880" y="1957128"/>
            <a:ext cx="335249" cy="221774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TextBox 1232"/>
          <p:cNvSpPr txBox="1"/>
          <p:nvPr/>
        </p:nvSpPr>
        <p:spPr>
          <a:xfrm>
            <a:off x="862880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862880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235" name="Rectangle 1234"/>
          <p:cNvSpPr/>
          <p:nvPr/>
        </p:nvSpPr>
        <p:spPr>
          <a:xfrm>
            <a:off x="1216129" y="1957128"/>
            <a:ext cx="335249" cy="221774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TextBox 1235"/>
          <p:cNvSpPr txBox="1"/>
          <p:nvPr/>
        </p:nvSpPr>
        <p:spPr>
          <a:xfrm>
            <a:off x="1210129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237" name="TextBox 1236"/>
          <p:cNvSpPr txBox="1"/>
          <p:nvPr/>
        </p:nvSpPr>
        <p:spPr>
          <a:xfrm>
            <a:off x="1210129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238" name="Rectangle 1237"/>
          <p:cNvSpPr/>
          <p:nvPr/>
        </p:nvSpPr>
        <p:spPr>
          <a:xfrm>
            <a:off x="1563378" y="1957128"/>
            <a:ext cx="335249" cy="221774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TextBox 1238"/>
          <p:cNvSpPr txBox="1"/>
          <p:nvPr/>
        </p:nvSpPr>
        <p:spPr>
          <a:xfrm>
            <a:off x="1557378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1557378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241" name="Rectangle 1240"/>
          <p:cNvSpPr/>
          <p:nvPr/>
        </p:nvSpPr>
        <p:spPr>
          <a:xfrm>
            <a:off x="1910627" y="1957128"/>
            <a:ext cx="335249" cy="221774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TextBox 1241"/>
          <p:cNvSpPr txBox="1"/>
          <p:nvPr/>
        </p:nvSpPr>
        <p:spPr>
          <a:xfrm>
            <a:off x="1904627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1.5M</a:t>
            </a:r>
          </a:p>
        </p:txBody>
      </p:sp>
      <p:sp>
        <p:nvSpPr>
          <p:cNvPr id="1243" name="TextBox 1242"/>
          <p:cNvSpPr txBox="1"/>
          <p:nvPr/>
        </p:nvSpPr>
        <p:spPr>
          <a:xfrm>
            <a:off x="1904627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5件</a:t>
            </a:r>
          </a:p>
        </p:txBody>
      </p:sp>
      <p:sp>
        <p:nvSpPr>
          <p:cNvPr id="1244" name="Rectangle 1243"/>
          <p:cNvSpPr/>
          <p:nvPr/>
        </p:nvSpPr>
        <p:spPr>
          <a:xfrm>
            <a:off x="2257876" y="1957128"/>
            <a:ext cx="335249" cy="221774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TextBox 1244"/>
          <p:cNvSpPr txBox="1"/>
          <p:nvPr/>
        </p:nvSpPr>
        <p:spPr>
          <a:xfrm>
            <a:off x="225187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4.8M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225187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247" name="Rectangle 1246"/>
          <p:cNvSpPr/>
          <p:nvPr/>
        </p:nvSpPr>
        <p:spPr>
          <a:xfrm>
            <a:off x="2605125" y="1957128"/>
            <a:ext cx="335249" cy="221774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TextBox 1247"/>
          <p:cNvSpPr txBox="1"/>
          <p:nvPr/>
        </p:nvSpPr>
        <p:spPr>
          <a:xfrm>
            <a:off x="2599125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249" name="TextBox 1248"/>
          <p:cNvSpPr txBox="1"/>
          <p:nvPr/>
        </p:nvSpPr>
        <p:spPr>
          <a:xfrm>
            <a:off x="2599125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250" name="Rectangle 1249"/>
          <p:cNvSpPr/>
          <p:nvPr/>
        </p:nvSpPr>
        <p:spPr>
          <a:xfrm>
            <a:off x="2952374" y="1957128"/>
            <a:ext cx="335249" cy="221774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TextBox 1250"/>
          <p:cNvSpPr txBox="1"/>
          <p:nvPr/>
        </p:nvSpPr>
        <p:spPr>
          <a:xfrm>
            <a:off x="2946374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2946374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253" name="Rectangle 1252"/>
          <p:cNvSpPr/>
          <p:nvPr/>
        </p:nvSpPr>
        <p:spPr>
          <a:xfrm>
            <a:off x="3299623" y="1957128"/>
            <a:ext cx="335249" cy="221774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TextBox 1253"/>
          <p:cNvSpPr txBox="1"/>
          <p:nvPr/>
        </p:nvSpPr>
        <p:spPr>
          <a:xfrm>
            <a:off x="3293623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4.1M</a:t>
            </a:r>
          </a:p>
        </p:txBody>
      </p:sp>
      <p:sp>
        <p:nvSpPr>
          <p:cNvPr id="1255" name="TextBox 1254"/>
          <p:cNvSpPr txBox="1"/>
          <p:nvPr/>
        </p:nvSpPr>
        <p:spPr>
          <a:xfrm>
            <a:off x="3293623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256" name="Rectangle 1255"/>
          <p:cNvSpPr/>
          <p:nvPr/>
        </p:nvSpPr>
        <p:spPr>
          <a:xfrm>
            <a:off x="3646872" y="1957128"/>
            <a:ext cx="335249" cy="221774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TextBox 1256"/>
          <p:cNvSpPr txBox="1"/>
          <p:nvPr/>
        </p:nvSpPr>
        <p:spPr>
          <a:xfrm>
            <a:off x="3640872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258" name="TextBox 1257"/>
          <p:cNvSpPr txBox="1"/>
          <p:nvPr/>
        </p:nvSpPr>
        <p:spPr>
          <a:xfrm>
            <a:off x="3640872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259" name="Rectangle 1258"/>
          <p:cNvSpPr/>
          <p:nvPr/>
        </p:nvSpPr>
        <p:spPr>
          <a:xfrm>
            <a:off x="3994121" y="1957128"/>
            <a:ext cx="335249" cy="221774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TextBox 1259"/>
          <p:cNvSpPr txBox="1"/>
          <p:nvPr/>
        </p:nvSpPr>
        <p:spPr>
          <a:xfrm>
            <a:off x="3988121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261" name="TextBox 1260"/>
          <p:cNvSpPr txBox="1"/>
          <p:nvPr/>
        </p:nvSpPr>
        <p:spPr>
          <a:xfrm>
            <a:off x="3988121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15件</a:t>
            </a:r>
          </a:p>
        </p:txBody>
      </p:sp>
      <p:sp>
        <p:nvSpPr>
          <p:cNvPr id="1262" name="Rectangle 1261"/>
          <p:cNvSpPr/>
          <p:nvPr/>
        </p:nvSpPr>
        <p:spPr>
          <a:xfrm>
            <a:off x="4341370" y="1957128"/>
            <a:ext cx="335249" cy="221774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TextBox 1262"/>
          <p:cNvSpPr txBox="1"/>
          <p:nvPr/>
        </p:nvSpPr>
        <p:spPr>
          <a:xfrm>
            <a:off x="4335370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264" name="TextBox 1263"/>
          <p:cNvSpPr txBox="1"/>
          <p:nvPr/>
        </p:nvSpPr>
        <p:spPr>
          <a:xfrm>
            <a:off x="4335370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265" name="Rectangle 1264"/>
          <p:cNvSpPr/>
          <p:nvPr/>
        </p:nvSpPr>
        <p:spPr>
          <a:xfrm>
            <a:off x="4688619" y="1957128"/>
            <a:ext cx="335249" cy="221774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4682619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4682619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23件</a:t>
            </a:r>
          </a:p>
        </p:txBody>
      </p:sp>
      <p:sp>
        <p:nvSpPr>
          <p:cNvPr id="1268" name="Rectangle 1267"/>
          <p:cNvSpPr/>
          <p:nvPr/>
        </p:nvSpPr>
        <p:spPr>
          <a:xfrm>
            <a:off x="5035868" y="1957128"/>
            <a:ext cx="335249" cy="221774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5029868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2.6M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5029868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271" name="Rectangle 1270"/>
          <p:cNvSpPr/>
          <p:nvPr/>
        </p:nvSpPr>
        <p:spPr>
          <a:xfrm>
            <a:off x="5383117" y="1957128"/>
            <a:ext cx="335249" cy="221774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5377117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5377117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274" name="Rectangle 1273"/>
          <p:cNvSpPr/>
          <p:nvPr/>
        </p:nvSpPr>
        <p:spPr>
          <a:xfrm>
            <a:off x="5730366" y="1957128"/>
            <a:ext cx="335249" cy="221774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572436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4.7M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572436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202880" y="218490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278" name="Rectangle 1277"/>
          <p:cNvSpPr/>
          <p:nvPr/>
        </p:nvSpPr>
        <p:spPr>
          <a:xfrm>
            <a:off x="868880" y="2190902"/>
            <a:ext cx="335249" cy="221774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TextBox 1278"/>
          <p:cNvSpPr txBox="1"/>
          <p:nvPr/>
        </p:nvSpPr>
        <p:spPr>
          <a:xfrm>
            <a:off x="862880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862880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281" name="Rectangle 1280"/>
          <p:cNvSpPr/>
          <p:nvPr/>
        </p:nvSpPr>
        <p:spPr>
          <a:xfrm>
            <a:off x="1910627" y="2190902"/>
            <a:ext cx="335249" cy="221774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TextBox 1281"/>
          <p:cNvSpPr txBox="1"/>
          <p:nvPr/>
        </p:nvSpPr>
        <p:spPr>
          <a:xfrm>
            <a:off x="1904627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1904627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284" name="Rectangle 1283"/>
          <p:cNvSpPr/>
          <p:nvPr/>
        </p:nvSpPr>
        <p:spPr>
          <a:xfrm>
            <a:off x="2605125" y="2190902"/>
            <a:ext cx="335249" cy="221774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Box 1284"/>
          <p:cNvSpPr txBox="1"/>
          <p:nvPr/>
        </p:nvSpPr>
        <p:spPr>
          <a:xfrm>
            <a:off x="2599125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599125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287" name="Rectangle 1286"/>
          <p:cNvSpPr/>
          <p:nvPr/>
        </p:nvSpPr>
        <p:spPr>
          <a:xfrm>
            <a:off x="3994121" y="2190902"/>
            <a:ext cx="335249" cy="221774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TextBox 1287"/>
          <p:cNvSpPr txBox="1"/>
          <p:nvPr/>
        </p:nvSpPr>
        <p:spPr>
          <a:xfrm>
            <a:off x="3988121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3988121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290" name="Rectangle 1289"/>
          <p:cNvSpPr/>
          <p:nvPr/>
        </p:nvSpPr>
        <p:spPr>
          <a:xfrm>
            <a:off x="4688619" y="2190902"/>
            <a:ext cx="335249" cy="221774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TextBox 1290"/>
          <p:cNvSpPr txBox="1"/>
          <p:nvPr/>
        </p:nvSpPr>
        <p:spPr>
          <a:xfrm>
            <a:off x="4682619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4682619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293" name="Rectangle 1292"/>
          <p:cNvSpPr/>
          <p:nvPr/>
        </p:nvSpPr>
        <p:spPr>
          <a:xfrm>
            <a:off x="5383117" y="2190902"/>
            <a:ext cx="335249" cy="221774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5377117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5377117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296" name="TextBox 1295"/>
          <p:cNvSpPr txBox="1"/>
          <p:nvPr/>
        </p:nvSpPr>
        <p:spPr>
          <a:xfrm>
            <a:off x="202880" y="241867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297" name="Rectangle 1296"/>
          <p:cNvSpPr/>
          <p:nvPr/>
        </p:nvSpPr>
        <p:spPr>
          <a:xfrm>
            <a:off x="1910627" y="2424676"/>
            <a:ext cx="335249" cy="221774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TextBox 1297"/>
          <p:cNvSpPr txBox="1"/>
          <p:nvPr/>
        </p:nvSpPr>
        <p:spPr>
          <a:xfrm>
            <a:off x="1904627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299" name="TextBox 1298"/>
          <p:cNvSpPr txBox="1"/>
          <p:nvPr/>
        </p:nvSpPr>
        <p:spPr>
          <a:xfrm>
            <a:off x="1904627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300" name="Rectangle 1299"/>
          <p:cNvSpPr/>
          <p:nvPr/>
        </p:nvSpPr>
        <p:spPr>
          <a:xfrm>
            <a:off x="2605125" y="2424676"/>
            <a:ext cx="335249" cy="221774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TextBox 1300"/>
          <p:cNvSpPr txBox="1"/>
          <p:nvPr/>
        </p:nvSpPr>
        <p:spPr>
          <a:xfrm>
            <a:off x="2599125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302" name="TextBox 1301"/>
          <p:cNvSpPr txBox="1"/>
          <p:nvPr/>
        </p:nvSpPr>
        <p:spPr>
          <a:xfrm>
            <a:off x="2599125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202880" y="265245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MGA业务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868880" y="2658450"/>
            <a:ext cx="335249" cy="221774"/>
          </a:xfrm>
          <a:prstGeom prst="rect">
            <a:avLst/>
          </a:prstGeom>
          <a:solidFill>
            <a:srgbClr val="C0392B">
              <a:alpha val="29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862880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0.5M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862880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5件</a:t>
            </a:r>
          </a:p>
        </p:txBody>
      </p:sp>
      <p:sp>
        <p:nvSpPr>
          <p:cNvPr id="1307" name="Rectangle 1306"/>
          <p:cNvSpPr/>
          <p:nvPr/>
        </p:nvSpPr>
        <p:spPr>
          <a:xfrm>
            <a:off x="1216129" y="2658450"/>
            <a:ext cx="335249" cy="221774"/>
          </a:xfrm>
          <a:prstGeom prst="rect">
            <a:avLst/>
          </a:prstGeom>
          <a:solidFill>
            <a:srgbClr val="C0392B">
              <a:alpha val="513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TextBox 1307"/>
          <p:cNvSpPr txBox="1"/>
          <p:nvPr/>
        </p:nvSpPr>
        <p:spPr>
          <a:xfrm>
            <a:off x="1210129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3.0M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1210129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310" name="Rectangle 1309"/>
          <p:cNvSpPr/>
          <p:nvPr/>
        </p:nvSpPr>
        <p:spPr>
          <a:xfrm>
            <a:off x="1563378" y="2658450"/>
            <a:ext cx="335249" cy="221774"/>
          </a:xfrm>
          <a:prstGeom prst="rect">
            <a:avLst/>
          </a:prstGeom>
          <a:solidFill>
            <a:srgbClr val="C0392B">
              <a:alpha val="518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TextBox 1310"/>
          <p:cNvSpPr txBox="1"/>
          <p:nvPr/>
        </p:nvSpPr>
        <p:spPr>
          <a:xfrm>
            <a:off x="1557378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3.1M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1557378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313" name="Rectangle 1312"/>
          <p:cNvSpPr/>
          <p:nvPr/>
        </p:nvSpPr>
        <p:spPr>
          <a:xfrm>
            <a:off x="1910627" y="2658450"/>
            <a:ext cx="335249" cy="221774"/>
          </a:xfrm>
          <a:prstGeom prst="rect">
            <a:avLst/>
          </a:prstGeom>
          <a:solidFill>
            <a:srgbClr val="C0392B">
              <a:alpha val="2596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TextBox 1313"/>
          <p:cNvSpPr txBox="1"/>
          <p:nvPr/>
        </p:nvSpPr>
        <p:spPr>
          <a:xfrm>
            <a:off x="1904627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0.1M</a:t>
            </a:r>
          </a:p>
        </p:txBody>
      </p:sp>
      <p:sp>
        <p:nvSpPr>
          <p:cNvPr id="1315" name="TextBox 1314"/>
          <p:cNvSpPr txBox="1"/>
          <p:nvPr/>
        </p:nvSpPr>
        <p:spPr>
          <a:xfrm>
            <a:off x="1904627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3件</a:t>
            </a:r>
          </a:p>
        </p:txBody>
      </p:sp>
      <p:sp>
        <p:nvSpPr>
          <p:cNvPr id="1316" name="Rectangle 1315"/>
          <p:cNvSpPr/>
          <p:nvPr/>
        </p:nvSpPr>
        <p:spPr>
          <a:xfrm>
            <a:off x="2257876" y="2658450"/>
            <a:ext cx="335249" cy="221774"/>
          </a:xfrm>
          <a:prstGeom prst="rect">
            <a:avLst/>
          </a:prstGeom>
          <a:solidFill>
            <a:srgbClr val="C0392B">
              <a:alpha val="308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TextBox 1316"/>
          <p:cNvSpPr txBox="1"/>
          <p:nvPr/>
        </p:nvSpPr>
        <p:spPr>
          <a:xfrm>
            <a:off x="225187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0.7M</a:t>
            </a:r>
          </a:p>
        </p:txBody>
      </p:sp>
      <p:sp>
        <p:nvSpPr>
          <p:cNvPr id="1318" name="TextBox 1317"/>
          <p:cNvSpPr txBox="1"/>
          <p:nvPr/>
        </p:nvSpPr>
        <p:spPr>
          <a:xfrm>
            <a:off x="225187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4件</a:t>
            </a:r>
          </a:p>
        </p:txBody>
      </p:sp>
      <p:sp>
        <p:nvSpPr>
          <p:cNvPr id="1319" name="Rectangle 1318"/>
          <p:cNvSpPr/>
          <p:nvPr/>
        </p:nvSpPr>
        <p:spPr>
          <a:xfrm>
            <a:off x="2605125" y="2658450"/>
            <a:ext cx="335249" cy="221774"/>
          </a:xfrm>
          <a:prstGeom prst="rect">
            <a:avLst/>
          </a:prstGeom>
          <a:solidFill>
            <a:srgbClr val="C0392B">
              <a:alpha val="497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TextBox 1319"/>
          <p:cNvSpPr txBox="1"/>
          <p:nvPr/>
        </p:nvSpPr>
        <p:spPr>
          <a:xfrm>
            <a:off x="2599125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2.8M</a:t>
            </a:r>
          </a:p>
        </p:txBody>
      </p:sp>
      <p:sp>
        <p:nvSpPr>
          <p:cNvPr id="1321" name="TextBox 1320"/>
          <p:cNvSpPr txBox="1"/>
          <p:nvPr/>
        </p:nvSpPr>
        <p:spPr>
          <a:xfrm>
            <a:off x="2599125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11件</a:t>
            </a:r>
          </a:p>
        </p:txBody>
      </p:sp>
      <p:sp>
        <p:nvSpPr>
          <p:cNvPr id="1322" name="Rectangle 1321"/>
          <p:cNvSpPr/>
          <p:nvPr/>
        </p:nvSpPr>
        <p:spPr>
          <a:xfrm>
            <a:off x="2952374" y="2658450"/>
            <a:ext cx="335249" cy="221774"/>
          </a:xfrm>
          <a:prstGeom prst="rect">
            <a:avLst/>
          </a:prstGeom>
          <a:solidFill>
            <a:srgbClr val="C0392B">
              <a:alpha val="344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TextBox 1322"/>
          <p:cNvSpPr txBox="1"/>
          <p:nvPr/>
        </p:nvSpPr>
        <p:spPr>
          <a:xfrm>
            <a:off x="2946374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1.1M</a:t>
            </a:r>
          </a:p>
        </p:txBody>
      </p:sp>
      <p:sp>
        <p:nvSpPr>
          <p:cNvPr id="1324" name="TextBox 1323"/>
          <p:cNvSpPr txBox="1"/>
          <p:nvPr/>
        </p:nvSpPr>
        <p:spPr>
          <a:xfrm>
            <a:off x="2946374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325" name="Rectangle 1324"/>
          <p:cNvSpPr/>
          <p:nvPr/>
        </p:nvSpPr>
        <p:spPr>
          <a:xfrm>
            <a:off x="3299623" y="2658450"/>
            <a:ext cx="335249" cy="221774"/>
          </a:xfrm>
          <a:prstGeom prst="rect">
            <a:avLst/>
          </a:prstGeom>
          <a:solidFill>
            <a:srgbClr val="C0392B">
              <a:alpha val="832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TextBox 1325"/>
          <p:cNvSpPr txBox="1"/>
          <p:nvPr/>
        </p:nvSpPr>
        <p:spPr>
          <a:xfrm>
            <a:off x="3293623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3293623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328" name="Rectangle 1327"/>
          <p:cNvSpPr/>
          <p:nvPr/>
        </p:nvSpPr>
        <p:spPr>
          <a:xfrm>
            <a:off x="3646872" y="2658450"/>
            <a:ext cx="335249" cy="221774"/>
          </a:xfrm>
          <a:prstGeom prst="rect">
            <a:avLst/>
          </a:prstGeom>
          <a:solidFill>
            <a:srgbClr val="C0392B">
              <a:alpha val="36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TextBox 1328"/>
          <p:cNvSpPr txBox="1"/>
          <p:nvPr/>
        </p:nvSpPr>
        <p:spPr>
          <a:xfrm>
            <a:off x="3640872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1.3M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3640872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331" name="Rectangle 1330"/>
          <p:cNvSpPr/>
          <p:nvPr/>
        </p:nvSpPr>
        <p:spPr>
          <a:xfrm>
            <a:off x="3994121" y="2658450"/>
            <a:ext cx="335249" cy="221774"/>
          </a:xfrm>
          <a:prstGeom prst="rect">
            <a:avLst/>
          </a:prstGeom>
          <a:solidFill>
            <a:srgbClr val="C0392B">
              <a:alpha val="5504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TextBox 1331"/>
          <p:cNvSpPr txBox="1"/>
          <p:nvPr/>
        </p:nvSpPr>
        <p:spPr>
          <a:xfrm>
            <a:off x="3988121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333" name="TextBox 1332"/>
          <p:cNvSpPr txBox="1"/>
          <p:nvPr/>
        </p:nvSpPr>
        <p:spPr>
          <a:xfrm>
            <a:off x="3988121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334" name="Rectangle 1333"/>
          <p:cNvSpPr/>
          <p:nvPr/>
        </p:nvSpPr>
        <p:spPr>
          <a:xfrm>
            <a:off x="4341370" y="2658450"/>
            <a:ext cx="335249" cy="221774"/>
          </a:xfrm>
          <a:prstGeom prst="rect">
            <a:avLst/>
          </a:prstGeom>
          <a:solidFill>
            <a:srgbClr val="C0392B">
              <a:alpha val="4725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TextBox 1334"/>
          <p:cNvSpPr txBox="1"/>
          <p:nvPr/>
        </p:nvSpPr>
        <p:spPr>
          <a:xfrm>
            <a:off x="4335370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2.5M</a:t>
            </a:r>
          </a:p>
        </p:txBody>
      </p:sp>
      <p:sp>
        <p:nvSpPr>
          <p:cNvPr id="1336" name="TextBox 1335"/>
          <p:cNvSpPr txBox="1"/>
          <p:nvPr/>
        </p:nvSpPr>
        <p:spPr>
          <a:xfrm>
            <a:off x="4335370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337" name="Rectangle 1336"/>
          <p:cNvSpPr/>
          <p:nvPr/>
        </p:nvSpPr>
        <p:spPr>
          <a:xfrm>
            <a:off x="4688619" y="2658450"/>
            <a:ext cx="335249" cy="221774"/>
          </a:xfrm>
          <a:prstGeom prst="rect">
            <a:avLst/>
          </a:prstGeom>
          <a:solidFill>
            <a:srgbClr val="C0392B">
              <a:alpha val="55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TextBox 1337"/>
          <p:cNvSpPr txBox="1"/>
          <p:nvPr/>
        </p:nvSpPr>
        <p:spPr>
          <a:xfrm>
            <a:off x="4682619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339" name="TextBox 1338"/>
          <p:cNvSpPr txBox="1"/>
          <p:nvPr/>
        </p:nvSpPr>
        <p:spPr>
          <a:xfrm>
            <a:off x="4682619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340" name="Rectangle 1339"/>
          <p:cNvSpPr/>
          <p:nvPr/>
        </p:nvSpPr>
        <p:spPr>
          <a:xfrm>
            <a:off x="5035868" y="2658450"/>
            <a:ext cx="335249" cy="221774"/>
          </a:xfrm>
          <a:prstGeom prst="rect">
            <a:avLst/>
          </a:prstGeom>
          <a:solidFill>
            <a:srgbClr val="C0392B">
              <a:alpha val="81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TextBox 1340"/>
          <p:cNvSpPr txBox="1"/>
          <p:nvPr/>
        </p:nvSpPr>
        <p:spPr>
          <a:xfrm>
            <a:off x="5029868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6.5M</a:t>
            </a:r>
          </a:p>
        </p:txBody>
      </p:sp>
      <p:sp>
        <p:nvSpPr>
          <p:cNvPr id="1342" name="TextBox 1341"/>
          <p:cNvSpPr txBox="1"/>
          <p:nvPr/>
        </p:nvSpPr>
        <p:spPr>
          <a:xfrm>
            <a:off x="5029868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15件</a:t>
            </a:r>
          </a:p>
        </p:txBody>
      </p:sp>
      <p:sp>
        <p:nvSpPr>
          <p:cNvPr id="1343" name="Rectangle 1342"/>
          <p:cNvSpPr/>
          <p:nvPr/>
        </p:nvSpPr>
        <p:spPr>
          <a:xfrm>
            <a:off x="5383117" y="2658450"/>
            <a:ext cx="335249" cy="221774"/>
          </a:xfrm>
          <a:prstGeom prst="rect">
            <a:avLst/>
          </a:prstGeom>
          <a:solidFill>
            <a:srgbClr val="C0392B">
              <a:alpha val="7778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TextBox 1343"/>
          <p:cNvSpPr txBox="1"/>
          <p:nvPr/>
        </p:nvSpPr>
        <p:spPr>
          <a:xfrm>
            <a:off x="5377117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1345" name="TextBox 1344"/>
          <p:cNvSpPr txBox="1"/>
          <p:nvPr/>
        </p:nvSpPr>
        <p:spPr>
          <a:xfrm>
            <a:off x="5377117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346" name="Rectangle 1345"/>
          <p:cNvSpPr/>
          <p:nvPr/>
        </p:nvSpPr>
        <p:spPr>
          <a:xfrm>
            <a:off x="5730366" y="2658450"/>
            <a:ext cx="335249" cy="221774"/>
          </a:xfrm>
          <a:prstGeom prst="rect">
            <a:avLst/>
          </a:prstGeom>
          <a:solidFill>
            <a:srgbClr val="C0392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TextBox 1346"/>
          <p:cNvSpPr txBox="1"/>
          <p:nvPr/>
        </p:nvSpPr>
        <p:spPr>
          <a:xfrm>
            <a:off x="572436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8.5M</a:t>
            </a:r>
          </a:p>
        </p:txBody>
      </p:sp>
      <p:sp>
        <p:nvSpPr>
          <p:cNvPr id="1348" name="TextBox 1347"/>
          <p:cNvSpPr txBox="1"/>
          <p:nvPr/>
        </p:nvSpPr>
        <p:spPr>
          <a:xfrm>
            <a:off x="572436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349" name="TextBox 1348"/>
          <p:cNvSpPr txBox="1"/>
          <p:nvPr/>
        </p:nvSpPr>
        <p:spPr>
          <a:xfrm>
            <a:off x="202880" y="288622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350" name="Rectangle 1349"/>
          <p:cNvSpPr/>
          <p:nvPr/>
        </p:nvSpPr>
        <p:spPr>
          <a:xfrm>
            <a:off x="868880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TextBox 1350"/>
          <p:cNvSpPr txBox="1"/>
          <p:nvPr/>
        </p:nvSpPr>
        <p:spPr>
          <a:xfrm>
            <a:off x="862880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12.7M</a:t>
            </a:r>
          </a:p>
        </p:txBody>
      </p:sp>
      <p:sp>
        <p:nvSpPr>
          <p:cNvPr id="1352" name="TextBox 1351"/>
          <p:cNvSpPr txBox="1"/>
          <p:nvPr/>
        </p:nvSpPr>
        <p:spPr>
          <a:xfrm>
            <a:off x="862880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34件</a:t>
            </a:r>
          </a:p>
        </p:txBody>
      </p:sp>
      <p:sp>
        <p:nvSpPr>
          <p:cNvPr id="1353" name="Rectangle 1352"/>
          <p:cNvSpPr/>
          <p:nvPr/>
        </p:nvSpPr>
        <p:spPr>
          <a:xfrm>
            <a:off x="1216129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TextBox 1353"/>
          <p:cNvSpPr txBox="1"/>
          <p:nvPr/>
        </p:nvSpPr>
        <p:spPr>
          <a:xfrm>
            <a:off x="1210129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13.4M</a:t>
            </a:r>
          </a:p>
        </p:txBody>
      </p:sp>
      <p:sp>
        <p:nvSpPr>
          <p:cNvPr id="1355" name="TextBox 1354"/>
          <p:cNvSpPr txBox="1"/>
          <p:nvPr/>
        </p:nvSpPr>
        <p:spPr>
          <a:xfrm>
            <a:off x="1210129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356" name="Rectangle 1355"/>
          <p:cNvSpPr/>
          <p:nvPr/>
        </p:nvSpPr>
        <p:spPr>
          <a:xfrm>
            <a:off x="1563378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TextBox 1356"/>
          <p:cNvSpPr txBox="1"/>
          <p:nvPr/>
        </p:nvSpPr>
        <p:spPr>
          <a:xfrm>
            <a:off x="1557378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26.8M</a:t>
            </a:r>
          </a:p>
        </p:txBody>
      </p:sp>
      <p:sp>
        <p:nvSpPr>
          <p:cNvPr id="1358" name="TextBox 1357"/>
          <p:cNvSpPr txBox="1"/>
          <p:nvPr/>
        </p:nvSpPr>
        <p:spPr>
          <a:xfrm>
            <a:off x="1557378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52件</a:t>
            </a:r>
          </a:p>
        </p:txBody>
      </p:sp>
      <p:sp>
        <p:nvSpPr>
          <p:cNvPr id="1359" name="Rectangle 1358"/>
          <p:cNvSpPr/>
          <p:nvPr/>
        </p:nvSpPr>
        <p:spPr>
          <a:xfrm>
            <a:off x="1910627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TextBox 1359"/>
          <p:cNvSpPr txBox="1"/>
          <p:nvPr/>
        </p:nvSpPr>
        <p:spPr>
          <a:xfrm>
            <a:off x="1904627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9.9M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1904627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22件</a:t>
            </a:r>
          </a:p>
        </p:txBody>
      </p:sp>
      <p:sp>
        <p:nvSpPr>
          <p:cNvPr id="1362" name="Rectangle 1361"/>
          <p:cNvSpPr/>
          <p:nvPr/>
        </p:nvSpPr>
        <p:spPr>
          <a:xfrm>
            <a:off x="225787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TextBox 1362"/>
          <p:cNvSpPr txBox="1"/>
          <p:nvPr/>
        </p:nvSpPr>
        <p:spPr>
          <a:xfrm>
            <a:off x="225187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11.8M</a:t>
            </a:r>
          </a:p>
        </p:txBody>
      </p:sp>
      <p:sp>
        <p:nvSpPr>
          <p:cNvPr id="1364" name="TextBox 1363"/>
          <p:cNvSpPr txBox="1"/>
          <p:nvPr/>
        </p:nvSpPr>
        <p:spPr>
          <a:xfrm>
            <a:off x="225187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365" name="Rectangle 1364"/>
          <p:cNvSpPr/>
          <p:nvPr/>
        </p:nvSpPr>
        <p:spPr>
          <a:xfrm>
            <a:off x="2605125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TextBox 1365"/>
          <p:cNvSpPr txBox="1"/>
          <p:nvPr/>
        </p:nvSpPr>
        <p:spPr>
          <a:xfrm>
            <a:off x="2599125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22.2M</a:t>
            </a:r>
          </a:p>
        </p:txBody>
      </p:sp>
      <p:sp>
        <p:nvSpPr>
          <p:cNvPr id="1367" name="TextBox 1366"/>
          <p:cNvSpPr txBox="1"/>
          <p:nvPr/>
        </p:nvSpPr>
        <p:spPr>
          <a:xfrm>
            <a:off x="2599125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61件</a:t>
            </a:r>
          </a:p>
        </p:txBody>
      </p:sp>
      <p:sp>
        <p:nvSpPr>
          <p:cNvPr id="1368" name="Rectangle 1367"/>
          <p:cNvSpPr/>
          <p:nvPr/>
        </p:nvSpPr>
        <p:spPr>
          <a:xfrm>
            <a:off x="2952374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TextBox 1368"/>
          <p:cNvSpPr txBox="1"/>
          <p:nvPr/>
        </p:nvSpPr>
        <p:spPr>
          <a:xfrm>
            <a:off x="2946374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21.0M</a:t>
            </a:r>
          </a:p>
        </p:txBody>
      </p:sp>
      <p:sp>
        <p:nvSpPr>
          <p:cNvPr id="1370" name="TextBox 1369"/>
          <p:cNvSpPr txBox="1"/>
          <p:nvPr/>
        </p:nvSpPr>
        <p:spPr>
          <a:xfrm>
            <a:off x="2946374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47件</a:t>
            </a:r>
          </a:p>
        </p:txBody>
      </p:sp>
      <p:sp>
        <p:nvSpPr>
          <p:cNvPr id="1371" name="Rectangle 1370"/>
          <p:cNvSpPr/>
          <p:nvPr/>
        </p:nvSpPr>
        <p:spPr>
          <a:xfrm>
            <a:off x="3299623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TextBox 1371"/>
          <p:cNvSpPr txBox="1"/>
          <p:nvPr/>
        </p:nvSpPr>
        <p:spPr>
          <a:xfrm>
            <a:off x="3293623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20.9M</a:t>
            </a:r>
          </a:p>
        </p:txBody>
      </p:sp>
      <p:sp>
        <p:nvSpPr>
          <p:cNvPr id="1373" name="TextBox 1372"/>
          <p:cNvSpPr txBox="1"/>
          <p:nvPr/>
        </p:nvSpPr>
        <p:spPr>
          <a:xfrm>
            <a:off x="3293623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57件</a:t>
            </a:r>
          </a:p>
        </p:txBody>
      </p:sp>
      <p:sp>
        <p:nvSpPr>
          <p:cNvPr id="1374" name="Rectangle 1373"/>
          <p:cNvSpPr/>
          <p:nvPr/>
        </p:nvSpPr>
        <p:spPr>
          <a:xfrm>
            <a:off x="3646872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TextBox 1374"/>
          <p:cNvSpPr txBox="1"/>
          <p:nvPr/>
        </p:nvSpPr>
        <p:spPr>
          <a:xfrm>
            <a:off x="3640872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10.9M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3640872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377" name="Rectangle 1376"/>
          <p:cNvSpPr/>
          <p:nvPr/>
        </p:nvSpPr>
        <p:spPr>
          <a:xfrm>
            <a:off x="3994121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TextBox 1377"/>
          <p:cNvSpPr txBox="1"/>
          <p:nvPr/>
        </p:nvSpPr>
        <p:spPr>
          <a:xfrm>
            <a:off x="3988121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19.6M</a:t>
            </a:r>
          </a:p>
        </p:txBody>
      </p:sp>
      <p:sp>
        <p:nvSpPr>
          <p:cNvPr id="1379" name="TextBox 1378"/>
          <p:cNvSpPr txBox="1"/>
          <p:nvPr/>
        </p:nvSpPr>
        <p:spPr>
          <a:xfrm>
            <a:off x="3988121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1380" name="Rectangle 1379"/>
          <p:cNvSpPr/>
          <p:nvPr/>
        </p:nvSpPr>
        <p:spPr>
          <a:xfrm>
            <a:off x="4341370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TextBox 1380"/>
          <p:cNvSpPr txBox="1"/>
          <p:nvPr/>
        </p:nvSpPr>
        <p:spPr>
          <a:xfrm>
            <a:off x="4335370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16.8M</a:t>
            </a:r>
          </a:p>
        </p:txBody>
      </p:sp>
      <p:sp>
        <p:nvSpPr>
          <p:cNvPr id="1382" name="TextBox 1381"/>
          <p:cNvSpPr txBox="1"/>
          <p:nvPr/>
        </p:nvSpPr>
        <p:spPr>
          <a:xfrm>
            <a:off x="4335370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38件</a:t>
            </a:r>
          </a:p>
        </p:txBody>
      </p:sp>
      <p:sp>
        <p:nvSpPr>
          <p:cNvPr id="1383" name="Rectangle 1382"/>
          <p:cNvSpPr/>
          <p:nvPr/>
        </p:nvSpPr>
        <p:spPr>
          <a:xfrm>
            <a:off x="4688619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TextBox 1383"/>
          <p:cNvSpPr txBox="1"/>
          <p:nvPr/>
        </p:nvSpPr>
        <p:spPr>
          <a:xfrm>
            <a:off x="4682619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26.2M</a:t>
            </a:r>
          </a:p>
        </p:txBody>
      </p:sp>
      <p:sp>
        <p:nvSpPr>
          <p:cNvPr id="1385" name="TextBox 1384"/>
          <p:cNvSpPr txBox="1"/>
          <p:nvPr/>
        </p:nvSpPr>
        <p:spPr>
          <a:xfrm>
            <a:off x="4682619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71件</a:t>
            </a:r>
          </a:p>
        </p:txBody>
      </p:sp>
      <p:sp>
        <p:nvSpPr>
          <p:cNvPr id="1386" name="Rectangle 1385"/>
          <p:cNvSpPr/>
          <p:nvPr/>
        </p:nvSpPr>
        <p:spPr>
          <a:xfrm>
            <a:off x="5035868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TextBox 1386"/>
          <p:cNvSpPr txBox="1"/>
          <p:nvPr/>
        </p:nvSpPr>
        <p:spPr>
          <a:xfrm>
            <a:off x="5029868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14.1M</a:t>
            </a:r>
          </a:p>
        </p:txBody>
      </p:sp>
      <p:sp>
        <p:nvSpPr>
          <p:cNvPr id="1388" name="TextBox 1387"/>
          <p:cNvSpPr txBox="1"/>
          <p:nvPr/>
        </p:nvSpPr>
        <p:spPr>
          <a:xfrm>
            <a:off x="5029868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389" name="Rectangle 1388"/>
          <p:cNvSpPr/>
          <p:nvPr/>
        </p:nvSpPr>
        <p:spPr>
          <a:xfrm>
            <a:off x="5383117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TextBox 1389"/>
          <p:cNvSpPr txBox="1"/>
          <p:nvPr/>
        </p:nvSpPr>
        <p:spPr>
          <a:xfrm>
            <a:off x="5377117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22.8M</a:t>
            </a:r>
          </a:p>
        </p:txBody>
      </p:sp>
      <p:sp>
        <p:nvSpPr>
          <p:cNvPr id="1391" name="TextBox 1390"/>
          <p:cNvSpPr txBox="1"/>
          <p:nvPr/>
        </p:nvSpPr>
        <p:spPr>
          <a:xfrm>
            <a:off x="5377117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56件</a:t>
            </a:r>
          </a:p>
        </p:txBody>
      </p:sp>
      <p:sp>
        <p:nvSpPr>
          <p:cNvPr id="1392" name="Rectangle 1391"/>
          <p:cNvSpPr/>
          <p:nvPr/>
        </p:nvSpPr>
        <p:spPr>
          <a:xfrm>
            <a:off x="573036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TextBox 1392"/>
          <p:cNvSpPr txBox="1"/>
          <p:nvPr/>
        </p:nvSpPr>
        <p:spPr>
          <a:xfrm>
            <a:off x="572436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20.3M</a:t>
            </a:r>
          </a:p>
        </p:txBody>
      </p:sp>
      <p:sp>
        <p:nvSpPr>
          <p:cNvPr id="1394" name="TextBox 1393"/>
          <p:cNvSpPr txBox="1"/>
          <p:nvPr/>
        </p:nvSpPr>
        <p:spPr>
          <a:xfrm>
            <a:off x="572436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51件</a:t>
            </a:r>
          </a:p>
        </p:txBody>
      </p:sp>
      <p:sp>
        <p:nvSpPr>
          <p:cNvPr id="1395" name="Rectangle 1394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TextBox 1395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  周度签单业绩热力矩阵（APE in M）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401" name="TextBox 1400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402" name="TextBox 1401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404" name="TextBox 1403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405" name="TextBox 1404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410" name="TextBox 1409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411" name="TextBox 1410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412" name="TextBox 1411"/>
          <p:cNvSpPr txBox="1"/>
          <p:nvPr/>
        </p:nvSpPr>
        <p:spPr>
          <a:xfrm>
            <a:off x="6183056" y="101603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413" name="Rectangle 1412"/>
          <p:cNvSpPr/>
          <p:nvPr/>
        </p:nvSpPr>
        <p:spPr>
          <a:xfrm>
            <a:off x="6849056" y="1022032"/>
            <a:ext cx="335249" cy="221774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TextBox 1413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1415" name="TextBox 1414"/>
          <p:cNvSpPr txBox="1"/>
          <p:nvPr/>
        </p:nvSpPr>
        <p:spPr>
          <a:xfrm>
            <a:off x="684305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416" name="Rectangle 1415"/>
          <p:cNvSpPr/>
          <p:nvPr/>
        </p:nvSpPr>
        <p:spPr>
          <a:xfrm>
            <a:off x="7196305" y="1022032"/>
            <a:ext cx="335249" cy="221774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TextBox 1416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418" name="TextBox 1417"/>
          <p:cNvSpPr txBox="1"/>
          <p:nvPr/>
        </p:nvSpPr>
        <p:spPr>
          <a:xfrm>
            <a:off x="7190305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419" name="Rectangle 1418"/>
          <p:cNvSpPr/>
          <p:nvPr/>
        </p:nvSpPr>
        <p:spPr>
          <a:xfrm>
            <a:off x="7543554" y="1022032"/>
            <a:ext cx="335249" cy="221774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TextBox 1419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421" name="TextBox 1420"/>
          <p:cNvSpPr txBox="1"/>
          <p:nvPr/>
        </p:nvSpPr>
        <p:spPr>
          <a:xfrm>
            <a:off x="7537554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422" name="Rectangle 1421"/>
          <p:cNvSpPr/>
          <p:nvPr/>
        </p:nvSpPr>
        <p:spPr>
          <a:xfrm>
            <a:off x="7890803" y="1022032"/>
            <a:ext cx="335249" cy="221774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TextBox 1422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1424" name="TextBox 1423"/>
          <p:cNvSpPr txBox="1"/>
          <p:nvPr/>
        </p:nvSpPr>
        <p:spPr>
          <a:xfrm>
            <a:off x="7884803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425" name="Rectangle 1424"/>
          <p:cNvSpPr/>
          <p:nvPr/>
        </p:nvSpPr>
        <p:spPr>
          <a:xfrm>
            <a:off x="8238052" y="1022032"/>
            <a:ext cx="335249" cy="221774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TextBox 1425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427" name="TextBox 1426"/>
          <p:cNvSpPr txBox="1"/>
          <p:nvPr/>
        </p:nvSpPr>
        <p:spPr>
          <a:xfrm>
            <a:off x="8232052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428" name="Rectangle 1427"/>
          <p:cNvSpPr/>
          <p:nvPr/>
        </p:nvSpPr>
        <p:spPr>
          <a:xfrm>
            <a:off x="8585301" y="1022032"/>
            <a:ext cx="335249" cy="221774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TextBox 1428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6.1M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8579301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21件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8932550" y="1022032"/>
            <a:ext cx="335249" cy="221774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3.0M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8926550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9279799" y="1022032"/>
            <a:ext cx="335249" cy="221774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10.4M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9273799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9627048" y="1022032"/>
            <a:ext cx="335249" cy="221774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1.8M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9621048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16件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9974297" y="1022032"/>
            <a:ext cx="335249" cy="221774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9968297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1件</a:t>
            </a:r>
          </a:p>
        </p:txBody>
      </p:sp>
      <p:sp>
        <p:nvSpPr>
          <p:cNvPr id="1443" name="Rectangle 1442"/>
          <p:cNvSpPr/>
          <p:nvPr/>
        </p:nvSpPr>
        <p:spPr>
          <a:xfrm>
            <a:off x="10321546" y="1022032"/>
            <a:ext cx="335249" cy="221774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1.0M</a:t>
            </a:r>
          </a:p>
        </p:txBody>
      </p:sp>
      <p:sp>
        <p:nvSpPr>
          <p:cNvPr id="1445" name="TextBox 1444"/>
          <p:cNvSpPr txBox="1"/>
          <p:nvPr/>
        </p:nvSpPr>
        <p:spPr>
          <a:xfrm>
            <a:off x="10315546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446" name="Rectangle 1445"/>
          <p:cNvSpPr/>
          <p:nvPr/>
        </p:nvSpPr>
        <p:spPr>
          <a:xfrm>
            <a:off x="10668795" y="1022032"/>
            <a:ext cx="335249" cy="221774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2.2M</a:t>
            </a:r>
          </a:p>
        </p:txBody>
      </p:sp>
      <p:sp>
        <p:nvSpPr>
          <p:cNvPr id="1448" name="TextBox 1447"/>
          <p:cNvSpPr txBox="1"/>
          <p:nvPr/>
        </p:nvSpPr>
        <p:spPr>
          <a:xfrm>
            <a:off x="10662795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449" name="Rectangle 1448"/>
          <p:cNvSpPr/>
          <p:nvPr/>
        </p:nvSpPr>
        <p:spPr>
          <a:xfrm>
            <a:off x="11016044" y="1022032"/>
            <a:ext cx="335249" cy="221774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1.7M</a:t>
            </a:r>
          </a:p>
        </p:txBody>
      </p:sp>
      <p:sp>
        <p:nvSpPr>
          <p:cNvPr id="1451" name="TextBox 1450"/>
          <p:cNvSpPr txBox="1"/>
          <p:nvPr/>
        </p:nvSpPr>
        <p:spPr>
          <a:xfrm>
            <a:off x="11010044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452" name="Rectangle 1451"/>
          <p:cNvSpPr/>
          <p:nvPr/>
        </p:nvSpPr>
        <p:spPr>
          <a:xfrm>
            <a:off x="11363293" y="1022032"/>
            <a:ext cx="335249" cy="221774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454" name="TextBox 1453"/>
          <p:cNvSpPr txBox="1"/>
          <p:nvPr/>
        </p:nvSpPr>
        <p:spPr>
          <a:xfrm>
            <a:off x="11357293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455" name="Rectangle 1454"/>
          <p:cNvSpPr/>
          <p:nvPr/>
        </p:nvSpPr>
        <p:spPr>
          <a:xfrm>
            <a:off x="11710542" y="1022032"/>
            <a:ext cx="335249" cy="221774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1457" name="TextBox 1456"/>
          <p:cNvSpPr txBox="1"/>
          <p:nvPr/>
        </p:nvSpPr>
        <p:spPr>
          <a:xfrm>
            <a:off x="11704542" y="112480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458" name="TextBox 1457"/>
          <p:cNvSpPr txBox="1"/>
          <p:nvPr/>
        </p:nvSpPr>
        <p:spPr>
          <a:xfrm>
            <a:off x="6183056" y="124980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459" name="Rectangle 1458"/>
          <p:cNvSpPr/>
          <p:nvPr/>
        </p:nvSpPr>
        <p:spPr>
          <a:xfrm>
            <a:off x="6849056" y="1255806"/>
            <a:ext cx="335249" cy="221774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TextBox 1459"/>
          <p:cNvSpPr txBox="1"/>
          <p:nvPr/>
        </p:nvSpPr>
        <p:spPr>
          <a:xfrm>
            <a:off x="6843056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461" name="TextBox 1460"/>
          <p:cNvSpPr txBox="1"/>
          <p:nvPr/>
        </p:nvSpPr>
        <p:spPr>
          <a:xfrm>
            <a:off x="6843056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62" name="Rectangle 1461"/>
          <p:cNvSpPr/>
          <p:nvPr/>
        </p:nvSpPr>
        <p:spPr>
          <a:xfrm>
            <a:off x="7196305" y="1255806"/>
            <a:ext cx="335249" cy="221774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TextBox 1462"/>
          <p:cNvSpPr txBox="1"/>
          <p:nvPr/>
        </p:nvSpPr>
        <p:spPr>
          <a:xfrm>
            <a:off x="7190305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7190305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7543554" y="1255806"/>
            <a:ext cx="335249" cy="221774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7537554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1.4M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7537554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7890803" y="1255806"/>
            <a:ext cx="335249" cy="221774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7884803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7884803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471" name="Rectangle 1470"/>
          <p:cNvSpPr/>
          <p:nvPr/>
        </p:nvSpPr>
        <p:spPr>
          <a:xfrm>
            <a:off x="8238052" y="1255806"/>
            <a:ext cx="335249" cy="221774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8232052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8232052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474" name="Rectangle 1473"/>
          <p:cNvSpPr/>
          <p:nvPr/>
        </p:nvSpPr>
        <p:spPr>
          <a:xfrm>
            <a:off x="8585301" y="1255806"/>
            <a:ext cx="335249" cy="221774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TextBox 1474"/>
          <p:cNvSpPr txBox="1"/>
          <p:nvPr/>
        </p:nvSpPr>
        <p:spPr>
          <a:xfrm>
            <a:off x="8579301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476" name="TextBox 1475"/>
          <p:cNvSpPr txBox="1"/>
          <p:nvPr/>
        </p:nvSpPr>
        <p:spPr>
          <a:xfrm>
            <a:off x="8579301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477" name="Rectangle 1476"/>
          <p:cNvSpPr/>
          <p:nvPr/>
        </p:nvSpPr>
        <p:spPr>
          <a:xfrm>
            <a:off x="8932550" y="1255806"/>
            <a:ext cx="335249" cy="221774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TextBox 1477"/>
          <p:cNvSpPr txBox="1"/>
          <p:nvPr/>
        </p:nvSpPr>
        <p:spPr>
          <a:xfrm>
            <a:off x="8926550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479" name="TextBox 1478"/>
          <p:cNvSpPr txBox="1"/>
          <p:nvPr/>
        </p:nvSpPr>
        <p:spPr>
          <a:xfrm>
            <a:off x="8926550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480" name="Rectangle 1479"/>
          <p:cNvSpPr/>
          <p:nvPr/>
        </p:nvSpPr>
        <p:spPr>
          <a:xfrm>
            <a:off x="9279799" y="1255806"/>
            <a:ext cx="335249" cy="221774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TextBox 1480"/>
          <p:cNvSpPr txBox="1"/>
          <p:nvPr/>
        </p:nvSpPr>
        <p:spPr>
          <a:xfrm>
            <a:off x="9273799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482" name="TextBox 1481"/>
          <p:cNvSpPr txBox="1"/>
          <p:nvPr/>
        </p:nvSpPr>
        <p:spPr>
          <a:xfrm>
            <a:off x="9273799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83" name="Rectangle 1482"/>
          <p:cNvSpPr/>
          <p:nvPr/>
        </p:nvSpPr>
        <p:spPr>
          <a:xfrm>
            <a:off x="9627048" y="1255806"/>
            <a:ext cx="335249" cy="221774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TextBox 1483"/>
          <p:cNvSpPr txBox="1"/>
          <p:nvPr/>
        </p:nvSpPr>
        <p:spPr>
          <a:xfrm>
            <a:off x="9621048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485" name="TextBox 1484"/>
          <p:cNvSpPr txBox="1"/>
          <p:nvPr/>
        </p:nvSpPr>
        <p:spPr>
          <a:xfrm>
            <a:off x="9621048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86" name="Rectangle 1485"/>
          <p:cNvSpPr/>
          <p:nvPr/>
        </p:nvSpPr>
        <p:spPr>
          <a:xfrm>
            <a:off x="9974297" y="1255806"/>
            <a:ext cx="335249" cy="221774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TextBox 1486"/>
          <p:cNvSpPr txBox="1"/>
          <p:nvPr/>
        </p:nvSpPr>
        <p:spPr>
          <a:xfrm>
            <a:off x="9968297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488" name="TextBox 1487"/>
          <p:cNvSpPr txBox="1"/>
          <p:nvPr/>
        </p:nvSpPr>
        <p:spPr>
          <a:xfrm>
            <a:off x="9968297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89" name="Rectangle 1488"/>
          <p:cNvSpPr/>
          <p:nvPr/>
        </p:nvSpPr>
        <p:spPr>
          <a:xfrm>
            <a:off x="10321546" y="1255806"/>
            <a:ext cx="335249" cy="221774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TextBox 1489"/>
          <p:cNvSpPr txBox="1"/>
          <p:nvPr/>
        </p:nvSpPr>
        <p:spPr>
          <a:xfrm>
            <a:off x="10315546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491" name="TextBox 1490"/>
          <p:cNvSpPr txBox="1"/>
          <p:nvPr/>
        </p:nvSpPr>
        <p:spPr>
          <a:xfrm>
            <a:off x="10315546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92" name="Rectangle 1491"/>
          <p:cNvSpPr/>
          <p:nvPr/>
        </p:nvSpPr>
        <p:spPr>
          <a:xfrm>
            <a:off x="10668795" y="1255806"/>
            <a:ext cx="335249" cy="221774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TextBox 1492"/>
          <p:cNvSpPr txBox="1"/>
          <p:nvPr/>
        </p:nvSpPr>
        <p:spPr>
          <a:xfrm>
            <a:off x="10662795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494" name="TextBox 1493"/>
          <p:cNvSpPr txBox="1"/>
          <p:nvPr/>
        </p:nvSpPr>
        <p:spPr>
          <a:xfrm>
            <a:off x="10662795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95" name="Rectangle 1494"/>
          <p:cNvSpPr/>
          <p:nvPr/>
        </p:nvSpPr>
        <p:spPr>
          <a:xfrm>
            <a:off x="11710542" y="1255806"/>
            <a:ext cx="335249" cy="221774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TextBox 1495"/>
          <p:cNvSpPr txBox="1"/>
          <p:nvPr/>
        </p:nvSpPr>
        <p:spPr>
          <a:xfrm>
            <a:off x="11704542" y="125780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04542" y="135858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6183056" y="148358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6849056" y="1489580"/>
            <a:ext cx="335249" cy="221774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84305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0.2M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684305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7196305" y="1489580"/>
            <a:ext cx="335249" cy="221774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7190305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7190305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7543554" y="1489580"/>
            <a:ext cx="335249" cy="221774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7537554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1.9M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7537554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7890803" y="1489580"/>
            <a:ext cx="335249" cy="221774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7884803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0.5M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7884803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8238052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8232052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8232052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8585301" y="1489580"/>
            <a:ext cx="335249" cy="221774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8579301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516" name="TextBox 1515"/>
          <p:cNvSpPr txBox="1"/>
          <p:nvPr/>
        </p:nvSpPr>
        <p:spPr>
          <a:xfrm>
            <a:off x="8579301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517" name="Rectangle 1516"/>
          <p:cNvSpPr/>
          <p:nvPr/>
        </p:nvSpPr>
        <p:spPr>
          <a:xfrm>
            <a:off x="8932550" y="1489580"/>
            <a:ext cx="335249" cy="221774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8926550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519" name="TextBox 1518"/>
          <p:cNvSpPr txBox="1"/>
          <p:nvPr/>
        </p:nvSpPr>
        <p:spPr>
          <a:xfrm>
            <a:off x="8926550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520" name="Rectangle 1519"/>
          <p:cNvSpPr/>
          <p:nvPr/>
        </p:nvSpPr>
        <p:spPr>
          <a:xfrm>
            <a:off x="9279799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9273799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522" name="TextBox 1521"/>
          <p:cNvSpPr txBox="1"/>
          <p:nvPr/>
        </p:nvSpPr>
        <p:spPr>
          <a:xfrm>
            <a:off x="9273799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523" name="Rectangle 1522"/>
          <p:cNvSpPr/>
          <p:nvPr/>
        </p:nvSpPr>
        <p:spPr>
          <a:xfrm>
            <a:off x="9627048" y="1489580"/>
            <a:ext cx="335249" cy="221774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TextBox 1523"/>
          <p:cNvSpPr txBox="1"/>
          <p:nvPr/>
        </p:nvSpPr>
        <p:spPr>
          <a:xfrm>
            <a:off x="9621048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525" name="TextBox 1524"/>
          <p:cNvSpPr txBox="1"/>
          <p:nvPr/>
        </p:nvSpPr>
        <p:spPr>
          <a:xfrm>
            <a:off x="9621048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526" name="Rectangle 1525"/>
          <p:cNvSpPr/>
          <p:nvPr/>
        </p:nvSpPr>
        <p:spPr>
          <a:xfrm>
            <a:off x="9974297" y="1489580"/>
            <a:ext cx="335249" cy="221774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TextBox 1526"/>
          <p:cNvSpPr txBox="1"/>
          <p:nvPr/>
        </p:nvSpPr>
        <p:spPr>
          <a:xfrm>
            <a:off x="9968297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528" name="TextBox 1527"/>
          <p:cNvSpPr txBox="1"/>
          <p:nvPr/>
        </p:nvSpPr>
        <p:spPr>
          <a:xfrm>
            <a:off x="9968297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529" name="Rectangle 1528"/>
          <p:cNvSpPr/>
          <p:nvPr/>
        </p:nvSpPr>
        <p:spPr>
          <a:xfrm>
            <a:off x="10321546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TextBox 1529"/>
          <p:cNvSpPr txBox="1"/>
          <p:nvPr/>
        </p:nvSpPr>
        <p:spPr>
          <a:xfrm>
            <a:off x="10315546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531" name="TextBox 1530"/>
          <p:cNvSpPr txBox="1"/>
          <p:nvPr/>
        </p:nvSpPr>
        <p:spPr>
          <a:xfrm>
            <a:off x="10315546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532" name="Rectangle 1531"/>
          <p:cNvSpPr/>
          <p:nvPr/>
        </p:nvSpPr>
        <p:spPr>
          <a:xfrm>
            <a:off x="10668795" y="1489580"/>
            <a:ext cx="335249" cy="221774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TextBox 1532"/>
          <p:cNvSpPr txBox="1"/>
          <p:nvPr/>
        </p:nvSpPr>
        <p:spPr>
          <a:xfrm>
            <a:off x="10662795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3.2M</a:t>
            </a:r>
          </a:p>
        </p:txBody>
      </p:sp>
      <p:sp>
        <p:nvSpPr>
          <p:cNvPr id="1534" name="TextBox 1533"/>
          <p:cNvSpPr txBox="1"/>
          <p:nvPr/>
        </p:nvSpPr>
        <p:spPr>
          <a:xfrm>
            <a:off x="10662795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535" name="Rectangle 1534"/>
          <p:cNvSpPr/>
          <p:nvPr/>
        </p:nvSpPr>
        <p:spPr>
          <a:xfrm>
            <a:off x="11016044" y="1489580"/>
            <a:ext cx="335249" cy="221774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TextBox 1535"/>
          <p:cNvSpPr txBox="1"/>
          <p:nvPr/>
        </p:nvSpPr>
        <p:spPr>
          <a:xfrm>
            <a:off x="11010044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3.1M</a:t>
            </a:r>
          </a:p>
        </p:txBody>
      </p:sp>
      <p:sp>
        <p:nvSpPr>
          <p:cNvPr id="1537" name="TextBox 1536"/>
          <p:cNvSpPr txBox="1"/>
          <p:nvPr/>
        </p:nvSpPr>
        <p:spPr>
          <a:xfrm>
            <a:off x="11010044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538" name="Rectangle 1537"/>
          <p:cNvSpPr/>
          <p:nvPr/>
        </p:nvSpPr>
        <p:spPr>
          <a:xfrm>
            <a:off x="11363293" y="1489580"/>
            <a:ext cx="335249" cy="221774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11357293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540" name="TextBox 1539"/>
          <p:cNvSpPr txBox="1"/>
          <p:nvPr/>
        </p:nvSpPr>
        <p:spPr>
          <a:xfrm>
            <a:off x="11357293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541" name="Rectangle 1540"/>
          <p:cNvSpPr/>
          <p:nvPr/>
        </p:nvSpPr>
        <p:spPr>
          <a:xfrm>
            <a:off x="11710542" y="1489580"/>
            <a:ext cx="335249" cy="221774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11704542" y="149158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543" name="TextBox 1542"/>
          <p:cNvSpPr txBox="1"/>
          <p:nvPr/>
        </p:nvSpPr>
        <p:spPr>
          <a:xfrm>
            <a:off x="11704542" y="159235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544" name="TextBox 1543"/>
          <p:cNvSpPr txBox="1"/>
          <p:nvPr/>
        </p:nvSpPr>
        <p:spPr>
          <a:xfrm>
            <a:off x="6183056" y="171735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545" name="Rectangle 1544"/>
          <p:cNvSpPr/>
          <p:nvPr/>
        </p:nvSpPr>
        <p:spPr>
          <a:xfrm>
            <a:off x="6849056" y="1723354"/>
            <a:ext cx="335249" cy="221774"/>
          </a:xfrm>
          <a:prstGeom prst="rect">
            <a:avLst/>
          </a:prstGeom>
          <a:solidFill>
            <a:srgbClr val="E67E22">
              <a:alpha val="276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TextBox 1545"/>
          <p:cNvSpPr txBox="1"/>
          <p:nvPr/>
        </p:nvSpPr>
        <p:spPr>
          <a:xfrm>
            <a:off x="684305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0.4M</a:t>
            </a:r>
          </a:p>
        </p:txBody>
      </p:sp>
      <p:sp>
        <p:nvSpPr>
          <p:cNvPr id="1547" name="TextBox 1546"/>
          <p:cNvSpPr txBox="1"/>
          <p:nvPr/>
        </p:nvSpPr>
        <p:spPr>
          <a:xfrm>
            <a:off x="684305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2件</a:t>
            </a:r>
          </a:p>
        </p:txBody>
      </p:sp>
      <p:sp>
        <p:nvSpPr>
          <p:cNvPr id="1548" name="Rectangle 1547"/>
          <p:cNvSpPr/>
          <p:nvPr/>
        </p:nvSpPr>
        <p:spPr>
          <a:xfrm>
            <a:off x="7196305" y="1723354"/>
            <a:ext cx="335249" cy="221774"/>
          </a:xfrm>
          <a:prstGeom prst="rect">
            <a:avLst/>
          </a:prstGeom>
          <a:solidFill>
            <a:srgbClr val="E67E22">
              <a:alpha val="412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TextBox 1548"/>
          <p:cNvSpPr txBox="1"/>
          <p:nvPr/>
        </p:nvSpPr>
        <p:spPr>
          <a:xfrm>
            <a:off x="7190305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2.4M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7190305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551" name="Rectangle 1550"/>
          <p:cNvSpPr/>
          <p:nvPr/>
        </p:nvSpPr>
        <p:spPr>
          <a:xfrm>
            <a:off x="7543554" y="1723354"/>
            <a:ext cx="335249" cy="221774"/>
          </a:xfrm>
          <a:prstGeom prst="rect">
            <a:avLst/>
          </a:prstGeom>
          <a:solidFill>
            <a:srgbClr val="E67E22">
              <a:alpha val="389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TextBox 1551"/>
          <p:cNvSpPr txBox="1"/>
          <p:nvPr/>
        </p:nvSpPr>
        <p:spPr>
          <a:xfrm>
            <a:off x="7537554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2.0M</a:t>
            </a:r>
          </a:p>
        </p:txBody>
      </p:sp>
      <p:sp>
        <p:nvSpPr>
          <p:cNvPr id="1553" name="TextBox 1552"/>
          <p:cNvSpPr txBox="1"/>
          <p:nvPr/>
        </p:nvSpPr>
        <p:spPr>
          <a:xfrm>
            <a:off x="7537554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554" name="Rectangle 1553"/>
          <p:cNvSpPr/>
          <p:nvPr/>
        </p:nvSpPr>
        <p:spPr>
          <a:xfrm>
            <a:off x="7890803" y="1723354"/>
            <a:ext cx="335249" cy="221774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TextBox 1554"/>
          <p:cNvSpPr txBox="1"/>
          <p:nvPr/>
        </p:nvSpPr>
        <p:spPr>
          <a:xfrm>
            <a:off x="7884803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10.8M</a:t>
            </a:r>
          </a:p>
        </p:txBody>
      </p:sp>
      <p:sp>
        <p:nvSpPr>
          <p:cNvPr id="1556" name="TextBox 1555"/>
          <p:cNvSpPr txBox="1"/>
          <p:nvPr/>
        </p:nvSpPr>
        <p:spPr>
          <a:xfrm>
            <a:off x="7884803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557" name="Rectangle 1556"/>
          <p:cNvSpPr/>
          <p:nvPr/>
        </p:nvSpPr>
        <p:spPr>
          <a:xfrm>
            <a:off x="8238052" y="1723354"/>
            <a:ext cx="335249" cy="221774"/>
          </a:xfrm>
          <a:prstGeom prst="rect">
            <a:avLst/>
          </a:prstGeom>
          <a:solidFill>
            <a:srgbClr val="E67E22">
              <a:alpha val="375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TextBox 1557"/>
          <p:cNvSpPr txBox="1"/>
          <p:nvPr/>
        </p:nvSpPr>
        <p:spPr>
          <a:xfrm>
            <a:off x="8232052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1.8M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8232052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560" name="Rectangle 1559"/>
          <p:cNvSpPr/>
          <p:nvPr/>
        </p:nvSpPr>
        <p:spPr>
          <a:xfrm>
            <a:off x="8585301" y="1723354"/>
            <a:ext cx="335249" cy="221774"/>
          </a:xfrm>
          <a:prstGeom prst="rect">
            <a:avLst/>
          </a:prstGeom>
          <a:solidFill>
            <a:srgbClr val="E67E22">
              <a:alpha val="631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TextBox 1560"/>
          <p:cNvSpPr txBox="1"/>
          <p:nvPr/>
        </p:nvSpPr>
        <p:spPr>
          <a:xfrm>
            <a:off x="8579301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8579301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563" name="Rectangle 1562"/>
          <p:cNvSpPr/>
          <p:nvPr/>
        </p:nvSpPr>
        <p:spPr>
          <a:xfrm>
            <a:off x="8932550" y="1723354"/>
            <a:ext cx="335249" cy="221774"/>
          </a:xfrm>
          <a:prstGeom prst="rect">
            <a:avLst/>
          </a:prstGeom>
          <a:solidFill>
            <a:srgbClr val="E67E22">
              <a:alpha val="455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TextBox 1563"/>
          <p:cNvSpPr txBox="1"/>
          <p:nvPr/>
        </p:nvSpPr>
        <p:spPr>
          <a:xfrm>
            <a:off x="8926550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8926550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566" name="Rectangle 1565"/>
          <p:cNvSpPr/>
          <p:nvPr/>
        </p:nvSpPr>
        <p:spPr>
          <a:xfrm>
            <a:off x="9279799" y="1723354"/>
            <a:ext cx="335249" cy="221774"/>
          </a:xfrm>
          <a:prstGeom prst="rect">
            <a:avLst/>
          </a:prstGeom>
          <a:solidFill>
            <a:srgbClr val="E67E22">
              <a:alpha val="711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TextBox 1566"/>
          <p:cNvSpPr txBox="1"/>
          <p:nvPr/>
        </p:nvSpPr>
        <p:spPr>
          <a:xfrm>
            <a:off x="9273799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6.7M</a:t>
            </a:r>
          </a:p>
        </p:txBody>
      </p:sp>
      <p:sp>
        <p:nvSpPr>
          <p:cNvPr id="1568" name="TextBox 1567"/>
          <p:cNvSpPr txBox="1"/>
          <p:nvPr/>
        </p:nvSpPr>
        <p:spPr>
          <a:xfrm>
            <a:off x="9273799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20件</a:t>
            </a:r>
          </a:p>
        </p:txBody>
      </p:sp>
      <p:sp>
        <p:nvSpPr>
          <p:cNvPr id="1569" name="Rectangle 1568"/>
          <p:cNvSpPr/>
          <p:nvPr/>
        </p:nvSpPr>
        <p:spPr>
          <a:xfrm>
            <a:off x="9627048" y="1723354"/>
            <a:ext cx="335249" cy="221774"/>
          </a:xfrm>
          <a:prstGeom prst="rect">
            <a:avLst/>
          </a:prstGeom>
          <a:solidFill>
            <a:srgbClr val="E67E22">
              <a:alpha val="529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TextBox 1569"/>
          <p:cNvSpPr txBox="1"/>
          <p:nvPr/>
        </p:nvSpPr>
        <p:spPr>
          <a:xfrm>
            <a:off x="9621048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4.0M</a:t>
            </a:r>
          </a:p>
        </p:txBody>
      </p:sp>
      <p:sp>
        <p:nvSpPr>
          <p:cNvPr id="1571" name="TextBox 1570"/>
          <p:cNvSpPr txBox="1"/>
          <p:nvPr/>
        </p:nvSpPr>
        <p:spPr>
          <a:xfrm>
            <a:off x="9621048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572" name="Rectangle 1571"/>
          <p:cNvSpPr/>
          <p:nvPr/>
        </p:nvSpPr>
        <p:spPr>
          <a:xfrm>
            <a:off x="9974297" y="1723354"/>
            <a:ext cx="335249" cy="221774"/>
          </a:xfrm>
          <a:prstGeom prst="rect">
            <a:avLst/>
          </a:prstGeom>
          <a:solidFill>
            <a:srgbClr val="E67E22">
              <a:alpha val="379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TextBox 1572"/>
          <p:cNvSpPr txBox="1"/>
          <p:nvPr/>
        </p:nvSpPr>
        <p:spPr>
          <a:xfrm>
            <a:off x="9968297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1.9M</a:t>
            </a:r>
          </a:p>
        </p:txBody>
      </p:sp>
      <p:sp>
        <p:nvSpPr>
          <p:cNvPr id="1574" name="TextBox 1573"/>
          <p:cNvSpPr txBox="1"/>
          <p:nvPr/>
        </p:nvSpPr>
        <p:spPr>
          <a:xfrm>
            <a:off x="9968297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575" name="Rectangle 1574"/>
          <p:cNvSpPr/>
          <p:nvPr/>
        </p:nvSpPr>
        <p:spPr>
          <a:xfrm>
            <a:off x="10321546" y="1723354"/>
            <a:ext cx="335249" cy="221774"/>
          </a:xfrm>
          <a:prstGeom prst="rect">
            <a:avLst/>
          </a:prstGeom>
          <a:solidFill>
            <a:srgbClr val="E67E22">
              <a:alpha val="808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10315546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8.1M</a:t>
            </a:r>
          </a:p>
        </p:txBody>
      </p:sp>
      <p:sp>
        <p:nvSpPr>
          <p:cNvPr id="1577" name="TextBox 1576"/>
          <p:cNvSpPr txBox="1"/>
          <p:nvPr/>
        </p:nvSpPr>
        <p:spPr>
          <a:xfrm>
            <a:off x="10315546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578" name="Rectangle 1577"/>
          <p:cNvSpPr/>
          <p:nvPr/>
        </p:nvSpPr>
        <p:spPr>
          <a:xfrm>
            <a:off x="10668795" y="1723354"/>
            <a:ext cx="335249" cy="221774"/>
          </a:xfrm>
          <a:prstGeom prst="rect">
            <a:avLst/>
          </a:prstGeom>
          <a:solidFill>
            <a:srgbClr val="E67E22">
              <a:alpha val="705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TextBox 1578"/>
          <p:cNvSpPr txBox="1"/>
          <p:nvPr/>
        </p:nvSpPr>
        <p:spPr>
          <a:xfrm>
            <a:off x="10662795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580" name="TextBox 1579"/>
          <p:cNvSpPr txBox="1"/>
          <p:nvPr/>
        </p:nvSpPr>
        <p:spPr>
          <a:xfrm>
            <a:off x="10662795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581" name="Rectangle 1580"/>
          <p:cNvSpPr/>
          <p:nvPr/>
        </p:nvSpPr>
        <p:spPr>
          <a:xfrm>
            <a:off x="11016044" y="1723354"/>
            <a:ext cx="335249" cy="221774"/>
          </a:xfrm>
          <a:prstGeom prst="rect">
            <a:avLst/>
          </a:prstGeom>
          <a:solidFill>
            <a:srgbClr val="E67E22">
              <a:alpha val="5404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TextBox 1581"/>
          <p:cNvSpPr txBox="1"/>
          <p:nvPr/>
        </p:nvSpPr>
        <p:spPr>
          <a:xfrm>
            <a:off x="11010044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583" name="TextBox 1582"/>
          <p:cNvSpPr txBox="1"/>
          <p:nvPr/>
        </p:nvSpPr>
        <p:spPr>
          <a:xfrm>
            <a:off x="11010044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584" name="Rectangle 1583"/>
          <p:cNvSpPr/>
          <p:nvPr/>
        </p:nvSpPr>
        <p:spPr>
          <a:xfrm>
            <a:off x="11363293" y="1723354"/>
            <a:ext cx="335249" cy="221774"/>
          </a:xfrm>
          <a:prstGeom prst="rect">
            <a:avLst/>
          </a:prstGeom>
          <a:solidFill>
            <a:srgbClr val="E67E22">
              <a:alpha val="327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11357293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1.1M</a:t>
            </a:r>
          </a:p>
        </p:txBody>
      </p:sp>
      <p:sp>
        <p:nvSpPr>
          <p:cNvPr id="1586" name="TextBox 1585"/>
          <p:cNvSpPr txBox="1"/>
          <p:nvPr/>
        </p:nvSpPr>
        <p:spPr>
          <a:xfrm>
            <a:off x="11357293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587" name="Rectangle 1586"/>
          <p:cNvSpPr/>
          <p:nvPr/>
        </p:nvSpPr>
        <p:spPr>
          <a:xfrm>
            <a:off x="11710542" y="1723354"/>
            <a:ext cx="335249" cy="221774"/>
          </a:xfrm>
          <a:prstGeom prst="rect">
            <a:avLst/>
          </a:prstGeom>
          <a:solidFill>
            <a:srgbClr val="E67E22">
              <a:alpha val="3552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11704542" y="172535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1.5M</a:t>
            </a:r>
          </a:p>
        </p:txBody>
      </p:sp>
      <p:sp>
        <p:nvSpPr>
          <p:cNvPr id="1589" name="TextBox 1588"/>
          <p:cNvSpPr txBox="1"/>
          <p:nvPr/>
        </p:nvSpPr>
        <p:spPr>
          <a:xfrm>
            <a:off x="11704542" y="18261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6件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6183056" y="1951128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6849056" y="1957128"/>
            <a:ext cx="335249" cy="221774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684305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593" name="TextBox 1592"/>
          <p:cNvSpPr txBox="1"/>
          <p:nvPr/>
        </p:nvSpPr>
        <p:spPr>
          <a:xfrm>
            <a:off x="684305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594" name="Rectangle 1593"/>
          <p:cNvSpPr/>
          <p:nvPr/>
        </p:nvSpPr>
        <p:spPr>
          <a:xfrm>
            <a:off x="7196305" y="1957128"/>
            <a:ext cx="335249" cy="221774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TextBox 1594"/>
          <p:cNvSpPr txBox="1"/>
          <p:nvPr/>
        </p:nvSpPr>
        <p:spPr>
          <a:xfrm>
            <a:off x="7190305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2.8M</a:t>
            </a:r>
          </a:p>
        </p:txBody>
      </p:sp>
      <p:sp>
        <p:nvSpPr>
          <p:cNvPr id="1596" name="TextBox 1595"/>
          <p:cNvSpPr txBox="1"/>
          <p:nvPr/>
        </p:nvSpPr>
        <p:spPr>
          <a:xfrm>
            <a:off x="7190305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597" name="Rectangle 1596"/>
          <p:cNvSpPr/>
          <p:nvPr/>
        </p:nvSpPr>
        <p:spPr>
          <a:xfrm>
            <a:off x="7543554" y="1957128"/>
            <a:ext cx="335249" cy="221774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7537554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5.8M</a:t>
            </a:r>
          </a:p>
        </p:txBody>
      </p:sp>
      <p:sp>
        <p:nvSpPr>
          <p:cNvPr id="1599" name="TextBox 1598"/>
          <p:cNvSpPr txBox="1"/>
          <p:nvPr/>
        </p:nvSpPr>
        <p:spPr>
          <a:xfrm>
            <a:off x="7537554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600" name="Rectangle 1599"/>
          <p:cNvSpPr/>
          <p:nvPr/>
        </p:nvSpPr>
        <p:spPr>
          <a:xfrm>
            <a:off x="7890803" y="1957128"/>
            <a:ext cx="335249" cy="221774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TextBox 1600"/>
          <p:cNvSpPr txBox="1"/>
          <p:nvPr/>
        </p:nvSpPr>
        <p:spPr>
          <a:xfrm>
            <a:off x="7884803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602" name="TextBox 1601"/>
          <p:cNvSpPr txBox="1"/>
          <p:nvPr/>
        </p:nvSpPr>
        <p:spPr>
          <a:xfrm>
            <a:off x="7884803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8238052" y="1957128"/>
            <a:ext cx="335249" cy="221774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8232052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4.2M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8232052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1606" name="Rectangle 1605"/>
          <p:cNvSpPr/>
          <p:nvPr/>
        </p:nvSpPr>
        <p:spPr>
          <a:xfrm>
            <a:off x="8585301" y="1957128"/>
            <a:ext cx="335249" cy="221774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8579301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5.0M</a:t>
            </a:r>
          </a:p>
        </p:txBody>
      </p:sp>
      <p:sp>
        <p:nvSpPr>
          <p:cNvPr id="1608" name="TextBox 1607"/>
          <p:cNvSpPr txBox="1"/>
          <p:nvPr/>
        </p:nvSpPr>
        <p:spPr>
          <a:xfrm>
            <a:off x="8579301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609" name="Rectangle 1608"/>
          <p:cNvSpPr/>
          <p:nvPr/>
        </p:nvSpPr>
        <p:spPr>
          <a:xfrm>
            <a:off x="8932550" y="1957128"/>
            <a:ext cx="335249" cy="221774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TextBox 1609"/>
          <p:cNvSpPr txBox="1"/>
          <p:nvPr/>
        </p:nvSpPr>
        <p:spPr>
          <a:xfrm>
            <a:off x="8926550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611" name="TextBox 1610"/>
          <p:cNvSpPr txBox="1"/>
          <p:nvPr/>
        </p:nvSpPr>
        <p:spPr>
          <a:xfrm>
            <a:off x="8926550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612" name="Rectangle 1611"/>
          <p:cNvSpPr/>
          <p:nvPr/>
        </p:nvSpPr>
        <p:spPr>
          <a:xfrm>
            <a:off x="9279799" y="1957128"/>
            <a:ext cx="335249" cy="221774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TextBox 1612"/>
          <p:cNvSpPr txBox="1"/>
          <p:nvPr/>
        </p:nvSpPr>
        <p:spPr>
          <a:xfrm>
            <a:off x="9273799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614" name="TextBox 1613"/>
          <p:cNvSpPr txBox="1"/>
          <p:nvPr/>
        </p:nvSpPr>
        <p:spPr>
          <a:xfrm>
            <a:off x="9273799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615" name="Rectangle 1614"/>
          <p:cNvSpPr/>
          <p:nvPr/>
        </p:nvSpPr>
        <p:spPr>
          <a:xfrm>
            <a:off x="9627048" y="1957128"/>
            <a:ext cx="335249" cy="221774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TextBox 1615"/>
          <p:cNvSpPr txBox="1"/>
          <p:nvPr/>
        </p:nvSpPr>
        <p:spPr>
          <a:xfrm>
            <a:off x="9621048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617" name="TextBox 1616"/>
          <p:cNvSpPr txBox="1"/>
          <p:nvPr/>
        </p:nvSpPr>
        <p:spPr>
          <a:xfrm>
            <a:off x="9621048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9974297" y="1957128"/>
            <a:ext cx="335249" cy="221774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9968297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9968297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10321546" y="1957128"/>
            <a:ext cx="335249" cy="221774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0315546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4.5M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10315546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10668795" y="1957128"/>
            <a:ext cx="335249" cy="221774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0662795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9.7M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10662795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29件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11016044" y="1957128"/>
            <a:ext cx="335249" cy="221774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1010044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11010044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630" name="Rectangle 1629"/>
          <p:cNvSpPr/>
          <p:nvPr/>
        </p:nvSpPr>
        <p:spPr>
          <a:xfrm>
            <a:off x="11363293" y="1957128"/>
            <a:ext cx="335249" cy="221774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11357293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11357293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633" name="Rectangle 1632"/>
          <p:cNvSpPr/>
          <p:nvPr/>
        </p:nvSpPr>
        <p:spPr>
          <a:xfrm>
            <a:off x="11710542" y="1957128"/>
            <a:ext cx="335249" cy="221774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11704542" y="19591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11704542" y="205990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6183056" y="2184902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637" name="Rectangle 1636"/>
          <p:cNvSpPr/>
          <p:nvPr/>
        </p:nvSpPr>
        <p:spPr>
          <a:xfrm>
            <a:off x="6849056" y="2190902"/>
            <a:ext cx="335249" cy="221774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TextBox 1637"/>
          <p:cNvSpPr txBox="1"/>
          <p:nvPr/>
        </p:nvSpPr>
        <p:spPr>
          <a:xfrm>
            <a:off x="6843056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639" name="TextBox 1638"/>
          <p:cNvSpPr txBox="1"/>
          <p:nvPr/>
        </p:nvSpPr>
        <p:spPr>
          <a:xfrm>
            <a:off x="6843056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640" name="Rectangle 1639"/>
          <p:cNvSpPr/>
          <p:nvPr/>
        </p:nvSpPr>
        <p:spPr>
          <a:xfrm>
            <a:off x="7196305" y="2190902"/>
            <a:ext cx="335249" cy="221774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TextBox 1640"/>
          <p:cNvSpPr txBox="1"/>
          <p:nvPr/>
        </p:nvSpPr>
        <p:spPr>
          <a:xfrm>
            <a:off x="7190305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642" name="TextBox 1641"/>
          <p:cNvSpPr txBox="1"/>
          <p:nvPr/>
        </p:nvSpPr>
        <p:spPr>
          <a:xfrm>
            <a:off x="7190305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643" name="Rectangle 1642"/>
          <p:cNvSpPr/>
          <p:nvPr/>
        </p:nvSpPr>
        <p:spPr>
          <a:xfrm>
            <a:off x="7890803" y="2190902"/>
            <a:ext cx="335249" cy="221774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TextBox 1643"/>
          <p:cNvSpPr txBox="1"/>
          <p:nvPr/>
        </p:nvSpPr>
        <p:spPr>
          <a:xfrm>
            <a:off x="7884803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645" name="TextBox 1644"/>
          <p:cNvSpPr txBox="1"/>
          <p:nvPr/>
        </p:nvSpPr>
        <p:spPr>
          <a:xfrm>
            <a:off x="7884803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646" name="Rectangle 1645"/>
          <p:cNvSpPr/>
          <p:nvPr/>
        </p:nvSpPr>
        <p:spPr>
          <a:xfrm>
            <a:off x="8585301" y="2190902"/>
            <a:ext cx="335249" cy="221774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TextBox 1646"/>
          <p:cNvSpPr txBox="1"/>
          <p:nvPr/>
        </p:nvSpPr>
        <p:spPr>
          <a:xfrm>
            <a:off x="8579301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648" name="TextBox 1647"/>
          <p:cNvSpPr txBox="1"/>
          <p:nvPr/>
        </p:nvSpPr>
        <p:spPr>
          <a:xfrm>
            <a:off x="8579301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649" name="Rectangle 1648"/>
          <p:cNvSpPr/>
          <p:nvPr/>
        </p:nvSpPr>
        <p:spPr>
          <a:xfrm>
            <a:off x="9974297" y="2190902"/>
            <a:ext cx="335249" cy="221774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TextBox 1649"/>
          <p:cNvSpPr txBox="1"/>
          <p:nvPr/>
        </p:nvSpPr>
        <p:spPr>
          <a:xfrm>
            <a:off x="9968297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651" name="TextBox 1650"/>
          <p:cNvSpPr txBox="1"/>
          <p:nvPr/>
        </p:nvSpPr>
        <p:spPr>
          <a:xfrm>
            <a:off x="9968297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652" name="Rectangle 1651"/>
          <p:cNvSpPr/>
          <p:nvPr/>
        </p:nvSpPr>
        <p:spPr>
          <a:xfrm>
            <a:off x="10668795" y="2190902"/>
            <a:ext cx="335249" cy="221774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TextBox 1652"/>
          <p:cNvSpPr txBox="1"/>
          <p:nvPr/>
        </p:nvSpPr>
        <p:spPr>
          <a:xfrm>
            <a:off x="10662795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654" name="TextBox 1653"/>
          <p:cNvSpPr txBox="1"/>
          <p:nvPr/>
        </p:nvSpPr>
        <p:spPr>
          <a:xfrm>
            <a:off x="10662795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655" name="Rectangle 1654"/>
          <p:cNvSpPr/>
          <p:nvPr/>
        </p:nvSpPr>
        <p:spPr>
          <a:xfrm>
            <a:off x="11016044" y="2190902"/>
            <a:ext cx="335249" cy="221774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TextBox 1655"/>
          <p:cNvSpPr txBox="1"/>
          <p:nvPr/>
        </p:nvSpPr>
        <p:spPr>
          <a:xfrm>
            <a:off x="11010044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3.9M</a:t>
            </a:r>
          </a:p>
        </p:txBody>
      </p:sp>
      <p:sp>
        <p:nvSpPr>
          <p:cNvPr id="1657" name="TextBox 1656"/>
          <p:cNvSpPr txBox="1"/>
          <p:nvPr/>
        </p:nvSpPr>
        <p:spPr>
          <a:xfrm>
            <a:off x="11010044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658" name="Rectangle 1657"/>
          <p:cNvSpPr/>
          <p:nvPr/>
        </p:nvSpPr>
        <p:spPr>
          <a:xfrm>
            <a:off x="11363293" y="2190902"/>
            <a:ext cx="335249" cy="221774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TextBox 1658"/>
          <p:cNvSpPr txBox="1"/>
          <p:nvPr/>
        </p:nvSpPr>
        <p:spPr>
          <a:xfrm>
            <a:off x="11357293" y="219290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660" name="TextBox 1659"/>
          <p:cNvSpPr txBox="1"/>
          <p:nvPr/>
        </p:nvSpPr>
        <p:spPr>
          <a:xfrm>
            <a:off x="11357293" y="229367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661" name="TextBox 1660"/>
          <p:cNvSpPr txBox="1"/>
          <p:nvPr/>
        </p:nvSpPr>
        <p:spPr>
          <a:xfrm>
            <a:off x="6183056" y="2418676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662" name="Rectangle 1661"/>
          <p:cNvSpPr/>
          <p:nvPr/>
        </p:nvSpPr>
        <p:spPr>
          <a:xfrm>
            <a:off x="7543554" y="2424676"/>
            <a:ext cx="335249" cy="221774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TextBox 1662"/>
          <p:cNvSpPr txBox="1"/>
          <p:nvPr/>
        </p:nvSpPr>
        <p:spPr>
          <a:xfrm>
            <a:off x="7537554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664" name="TextBox 1663"/>
          <p:cNvSpPr txBox="1"/>
          <p:nvPr/>
        </p:nvSpPr>
        <p:spPr>
          <a:xfrm>
            <a:off x="7537554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665" name="Rectangle 1664"/>
          <p:cNvSpPr/>
          <p:nvPr/>
        </p:nvSpPr>
        <p:spPr>
          <a:xfrm>
            <a:off x="8238052" y="2424676"/>
            <a:ext cx="335249" cy="221774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TextBox 1665"/>
          <p:cNvSpPr txBox="1"/>
          <p:nvPr/>
        </p:nvSpPr>
        <p:spPr>
          <a:xfrm>
            <a:off x="8232052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8232052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668" name="Rectangle 1667"/>
          <p:cNvSpPr/>
          <p:nvPr/>
        </p:nvSpPr>
        <p:spPr>
          <a:xfrm>
            <a:off x="8585301" y="2424676"/>
            <a:ext cx="335249" cy="221774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TextBox 1668"/>
          <p:cNvSpPr txBox="1"/>
          <p:nvPr/>
        </p:nvSpPr>
        <p:spPr>
          <a:xfrm>
            <a:off x="8579301" y="242667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670" name="TextBox 1669"/>
          <p:cNvSpPr txBox="1"/>
          <p:nvPr/>
        </p:nvSpPr>
        <p:spPr>
          <a:xfrm>
            <a:off x="8579301" y="252745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6183056" y="2652450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MGA业务</a:t>
            </a:r>
          </a:p>
        </p:txBody>
      </p:sp>
      <p:sp>
        <p:nvSpPr>
          <p:cNvPr id="1672" name="Rectangle 1671"/>
          <p:cNvSpPr/>
          <p:nvPr/>
        </p:nvSpPr>
        <p:spPr>
          <a:xfrm>
            <a:off x="6849056" y="2658450"/>
            <a:ext cx="335249" cy="221774"/>
          </a:xfrm>
          <a:prstGeom prst="rect">
            <a:avLst/>
          </a:prstGeom>
          <a:solidFill>
            <a:srgbClr val="C0392B">
              <a:alpha val="325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TextBox 1672"/>
          <p:cNvSpPr txBox="1"/>
          <p:nvPr/>
        </p:nvSpPr>
        <p:spPr>
          <a:xfrm>
            <a:off x="684305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0.6M</a:t>
            </a:r>
          </a:p>
        </p:txBody>
      </p:sp>
      <p:sp>
        <p:nvSpPr>
          <p:cNvPr id="1674" name="TextBox 1673"/>
          <p:cNvSpPr txBox="1"/>
          <p:nvPr/>
        </p:nvSpPr>
        <p:spPr>
          <a:xfrm>
            <a:off x="684305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1675" name="Rectangle 1674"/>
          <p:cNvSpPr/>
          <p:nvPr/>
        </p:nvSpPr>
        <p:spPr>
          <a:xfrm>
            <a:off x="7196305" y="2658450"/>
            <a:ext cx="335249" cy="221774"/>
          </a:xfrm>
          <a:prstGeom prst="rect">
            <a:avLst/>
          </a:prstGeom>
          <a:solidFill>
            <a:srgbClr val="C0392B">
              <a:alpha val="59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TextBox 1675"/>
          <p:cNvSpPr txBox="1"/>
          <p:nvPr/>
        </p:nvSpPr>
        <p:spPr>
          <a:xfrm>
            <a:off x="7190305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2.9M</a:t>
            </a:r>
          </a:p>
        </p:txBody>
      </p:sp>
      <p:sp>
        <p:nvSpPr>
          <p:cNvPr id="1677" name="TextBox 1676"/>
          <p:cNvSpPr txBox="1"/>
          <p:nvPr/>
        </p:nvSpPr>
        <p:spPr>
          <a:xfrm>
            <a:off x="7190305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678" name="Rectangle 1677"/>
          <p:cNvSpPr/>
          <p:nvPr/>
        </p:nvSpPr>
        <p:spPr>
          <a:xfrm>
            <a:off x="7543554" y="2658450"/>
            <a:ext cx="335249" cy="221774"/>
          </a:xfrm>
          <a:prstGeom prst="rect">
            <a:avLst/>
          </a:prstGeom>
          <a:solidFill>
            <a:srgbClr val="C0392B">
              <a:alpha val="447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TextBox 1678"/>
          <p:cNvSpPr txBox="1"/>
          <p:nvPr/>
        </p:nvSpPr>
        <p:spPr>
          <a:xfrm>
            <a:off x="7537554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1.6M</a:t>
            </a:r>
          </a:p>
        </p:txBody>
      </p:sp>
      <p:sp>
        <p:nvSpPr>
          <p:cNvPr id="1680" name="TextBox 1679"/>
          <p:cNvSpPr txBox="1"/>
          <p:nvPr/>
        </p:nvSpPr>
        <p:spPr>
          <a:xfrm>
            <a:off x="7537554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681" name="Rectangle 1680"/>
          <p:cNvSpPr/>
          <p:nvPr/>
        </p:nvSpPr>
        <p:spPr>
          <a:xfrm>
            <a:off x="7890803" y="2658450"/>
            <a:ext cx="335249" cy="221774"/>
          </a:xfrm>
          <a:prstGeom prst="rect">
            <a:avLst/>
          </a:prstGeom>
          <a:solidFill>
            <a:srgbClr val="C0392B">
              <a:alpha val="453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TextBox 1681"/>
          <p:cNvSpPr txBox="1"/>
          <p:nvPr/>
        </p:nvSpPr>
        <p:spPr>
          <a:xfrm>
            <a:off x="7884803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1.7M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7884803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4件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8585301" y="2658450"/>
            <a:ext cx="335249" cy="221774"/>
          </a:xfrm>
          <a:prstGeom prst="rect">
            <a:avLst/>
          </a:prstGeom>
          <a:solidFill>
            <a:srgbClr val="C0392B">
              <a:alpha val="398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8579301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1.2M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8579301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8932550" y="2658450"/>
            <a:ext cx="335249" cy="221774"/>
          </a:xfrm>
          <a:prstGeom prst="rect">
            <a:avLst/>
          </a:prstGeom>
          <a:solidFill>
            <a:srgbClr val="C0392B">
              <a:alpha val="603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8926550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2.9M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8926550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9279799" y="2658450"/>
            <a:ext cx="335249" cy="221774"/>
          </a:xfrm>
          <a:prstGeom prst="rect">
            <a:avLst/>
          </a:prstGeom>
          <a:solidFill>
            <a:srgbClr val="C0392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9273799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6.2M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9273799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693" name="Rectangle 1692"/>
          <p:cNvSpPr/>
          <p:nvPr/>
        </p:nvSpPr>
        <p:spPr>
          <a:xfrm>
            <a:off x="9627048" y="2658450"/>
            <a:ext cx="335249" cy="221774"/>
          </a:xfrm>
          <a:prstGeom prst="rect">
            <a:avLst/>
          </a:prstGeom>
          <a:solidFill>
            <a:srgbClr val="C0392B">
              <a:alpha val="384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TextBox 1693"/>
          <p:cNvSpPr txBox="1"/>
          <p:nvPr/>
        </p:nvSpPr>
        <p:spPr>
          <a:xfrm>
            <a:off x="9621048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1.1M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9621048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5件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9974297" y="2658450"/>
            <a:ext cx="335249" cy="221774"/>
          </a:xfrm>
          <a:prstGeom prst="rect">
            <a:avLst/>
          </a:prstGeom>
          <a:solidFill>
            <a:srgbClr val="C0392B">
              <a:alpha val="460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9968297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1.7M</a:t>
            </a:r>
          </a:p>
        </p:txBody>
      </p:sp>
      <p:sp>
        <p:nvSpPr>
          <p:cNvPr id="1698" name="TextBox 1697"/>
          <p:cNvSpPr txBox="1"/>
          <p:nvPr/>
        </p:nvSpPr>
        <p:spPr>
          <a:xfrm>
            <a:off x="9968297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8件</a:t>
            </a:r>
          </a:p>
        </p:txBody>
      </p:sp>
      <p:sp>
        <p:nvSpPr>
          <p:cNvPr id="1699" name="Rectangle 1698"/>
          <p:cNvSpPr/>
          <p:nvPr/>
        </p:nvSpPr>
        <p:spPr>
          <a:xfrm>
            <a:off x="10321546" y="2658450"/>
            <a:ext cx="335249" cy="221774"/>
          </a:xfrm>
          <a:prstGeom prst="rect">
            <a:avLst/>
          </a:prstGeom>
          <a:solidFill>
            <a:srgbClr val="C0392B">
              <a:alpha val="6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TextBox 1699"/>
          <p:cNvSpPr txBox="1"/>
          <p:nvPr/>
        </p:nvSpPr>
        <p:spPr>
          <a:xfrm>
            <a:off x="10315546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701" name="TextBox 1700"/>
          <p:cNvSpPr txBox="1"/>
          <p:nvPr/>
        </p:nvSpPr>
        <p:spPr>
          <a:xfrm>
            <a:off x="10315546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702" name="Rectangle 1701"/>
          <p:cNvSpPr/>
          <p:nvPr/>
        </p:nvSpPr>
        <p:spPr>
          <a:xfrm>
            <a:off x="10668795" y="2658450"/>
            <a:ext cx="335249" cy="221774"/>
          </a:xfrm>
          <a:prstGeom prst="rect">
            <a:avLst/>
          </a:prstGeom>
          <a:solidFill>
            <a:srgbClr val="C0392B">
              <a:alpha val="733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TextBox 1702"/>
          <p:cNvSpPr txBox="1"/>
          <p:nvPr/>
        </p:nvSpPr>
        <p:spPr>
          <a:xfrm>
            <a:off x="10662795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704" name="TextBox 1703"/>
          <p:cNvSpPr txBox="1"/>
          <p:nvPr/>
        </p:nvSpPr>
        <p:spPr>
          <a:xfrm>
            <a:off x="10662795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05" name="Rectangle 1704"/>
          <p:cNvSpPr/>
          <p:nvPr/>
        </p:nvSpPr>
        <p:spPr>
          <a:xfrm>
            <a:off x="11016044" y="2658450"/>
            <a:ext cx="335249" cy="221774"/>
          </a:xfrm>
          <a:prstGeom prst="rect">
            <a:avLst/>
          </a:prstGeom>
          <a:solidFill>
            <a:srgbClr val="C0392B">
              <a:alpha val="770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TextBox 1705"/>
          <p:cNvSpPr txBox="1"/>
          <p:nvPr/>
        </p:nvSpPr>
        <p:spPr>
          <a:xfrm>
            <a:off x="11010044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707" name="TextBox 1706"/>
          <p:cNvSpPr txBox="1"/>
          <p:nvPr/>
        </p:nvSpPr>
        <p:spPr>
          <a:xfrm>
            <a:off x="11010044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708" name="Rectangle 1707"/>
          <p:cNvSpPr/>
          <p:nvPr/>
        </p:nvSpPr>
        <p:spPr>
          <a:xfrm>
            <a:off x="11363293" y="2658450"/>
            <a:ext cx="335249" cy="221774"/>
          </a:xfrm>
          <a:prstGeom prst="rect">
            <a:avLst/>
          </a:prstGeom>
          <a:solidFill>
            <a:srgbClr val="C0392B">
              <a:alpha val="7749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TextBox 1708"/>
          <p:cNvSpPr txBox="1"/>
          <p:nvPr/>
        </p:nvSpPr>
        <p:spPr>
          <a:xfrm>
            <a:off x="11357293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710" name="TextBox 1709"/>
          <p:cNvSpPr txBox="1"/>
          <p:nvPr/>
        </p:nvSpPr>
        <p:spPr>
          <a:xfrm>
            <a:off x="11357293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711" name="Rectangle 1710"/>
          <p:cNvSpPr/>
          <p:nvPr/>
        </p:nvSpPr>
        <p:spPr>
          <a:xfrm>
            <a:off x="11710542" y="2658450"/>
            <a:ext cx="335249" cy="221774"/>
          </a:xfrm>
          <a:prstGeom prst="rect">
            <a:avLst/>
          </a:prstGeom>
          <a:solidFill>
            <a:srgbClr val="C0392B">
              <a:alpha val="859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TextBox 1711"/>
          <p:cNvSpPr txBox="1"/>
          <p:nvPr/>
        </p:nvSpPr>
        <p:spPr>
          <a:xfrm>
            <a:off x="11704542" y="266045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5.0M</a:t>
            </a:r>
          </a:p>
        </p:txBody>
      </p:sp>
      <p:sp>
        <p:nvSpPr>
          <p:cNvPr id="1713" name="TextBox 1712"/>
          <p:cNvSpPr txBox="1"/>
          <p:nvPr/>
        </p:nvSpPr>
        <p:spPr>
          <a:xfrm>
            <a:off x="11704542" y="2761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714" name="TextBox 1713"/>
          <p:cNvSpPr txBox="1"/>
          <p:nvPr/>
        </p:nvSpPr>
        <p:spPr>
          <a:xfrm>
            <a:off x="6183056" y="2886224"/>
            <a:ext cx="650000" cy="233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715" name="Rectangle 1714"/>
          <p:cNvSpPr/>
          <p:nvPr/>
        </p:nvSpPr>
        <p:spPr>
          <a:xfrm>
            <a:off x="684905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TextBox 1715"/>
          <p:cNvSpPr txBox="1"/>
          <p:nvPr/>
        </p:nvSpPr>
        <p:spPr>
          <a:xfrm>
            <a:off x="684305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6.6M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684305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19件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7196305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7190305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14.4M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7190305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7543554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7537554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18.1M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7537554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52件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7890803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7884803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16.9M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7884803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32件</a:t>
            </a:r>
          </a:p>
        </p:txBody>
      </p:sp>
      <p:sp>
        <p:nvSpPr>
          <p:cNvPr id="1727" name="Rectangle 1726"/>
          <p:cNvSpPr/>
          <p:nvPr/>
        </p:nvSpPr>
        <p:spPr>
          <a:xfrm>
            <a:off x="8238052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TextBox 1727"/>
          <p:cNvSpPr txBox="1"/>
          <p:nvPr/>
        </p:nvSpPr>
        <p:spPr>
          <a:xfrm>
            <a:off x="8232052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13.2M</a:t>
            </a:r>
          </a:p>
        </p:txBody>
      </p:sp>
      <p:sp>
        <p:nvSpPr>
          <p:cNvPr id="1729" name="TextBox 1728"/>
          <p:cNvSpPr txBox="1"/>
          <p:nvPr/>
        </p:nvSpPr>
        <p:spPr>
          <a:xfrm>
            <a:off x="8232052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25件</a:t>
            </a:r>
          </a:p>
        </p:txBody>
      </p:sp>
      <p:sp>
        <p:nvSpPr>
          <p:cNvPr id="1730" name="Rectangle 1729"/>
          <p:cNvSpPr/>
          <p:nvPr/>
        </p:nvSpPr>
        <p:spPr>
          <a:xfrm>
            <a:off x="8585301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TextBox 1730"/>
          <p:cNvSpPr txBox="1"/>
          <p:nvPr/>
        </p:nvSpPr>
        <p:spPr>
          <a:xfrm>
            <a:off x="8579301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20.3M</a:t>
            </a:r>
          </a:p>
        </p:txBody>
      </p:sp>
      <p:sp>
        <p:nvSpPr>
          <p:cNvPr id="1732" name="TextBox 1731"/>
          <p:cNvSpPr txBox="1"/>
          <p:nvPr/>
        </p:nvSpPr>
        <p:spPr>
          <a:xfrm>
            <a:off x="8579301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62件</a:t>
            </a:r>
          </a:p>
        </p:txBody>
      </p:sp>
      <p:sp>
        <p:nvSpPr>
          <p:cNvPr id="1733" name="Rectangle 1732"/>
          <p:cNvSpPr/>
          <p:nvPr/>
        </p:nvSpPr>
        <p:spPr>
          <a:xfrm>
            <a:off x="8932550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TextBox 1733"/>
          <p:cNvSpPr txBox="1"/>
          <p:nvPr/>
        </p:nvSpPr>
        <p:spPr>
          <a:xfrm>
            <a:off x="8926550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14.8M</a:t>
            </a:r>
          </a:p>
        </p:txBody>
      </p:sp>
      <p:sp>
        <p:nvSpPr>
          <p:cNvPr id="1735" name="TextBox 1734"/>
          <p:cNvSpPr txBox="1"/>
          <p:nvPr/>
        </p:nvSpPr>
        <p:spPr>
          <a:xfrm>
            <a:off x="8926550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56件</a:t>
            </a:r>
          </a:p>
        </p:txBody>
      </p:sp>
      <p:sp>
        <p:nvSpPr>
          <p:cNvPr id="1736" name="Rectangle 1735"/>
          <p:cNvSpPr/>
          <p:nvPr/>
        </p:nvSpPr>
        <p:spPr>
          <a:xfrm>
            <a:off x="9279799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TextBox 1736"/>
          <p:cNvSpPr txBox="1"/>
          <p:nvPr/>
        </p:nvSpPr>
        <p:spPr>
          <a:xfrm>
            <a:off x="9273799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32.8M</a:t>
            </a:r>
          </a:p>
        </p:txBody>
      </p:sp>
      <p:sp>
        <p:nvSpPr>
          <p:cNvPr id="1738" name="TextBox 1737"/>
          <p:cNvSpPr txBox="1"/>
          <p:nvPr/>
        </p:nvSpPr>
        <p:spPr>
          <a:xfrm>
            <a:off x="9273799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66件</a:t>
            </a:r>
          </a:p>
        </p:txBody>
      </p:sp>
      <p:sp>
        <p:nvSpPr>
          <p:cNvPr id="1739" name="Rectangle 1738"/>
          <p:cNvSpPr/>
          <p:nvPr/>
        </p:nvSpPr>
        <p:spPr>
          <a:xfrm>
            <a:off x="9627048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TextBox 1739"/>
          <p:cNvSpPr txBox="1"/>
          <p:nvPr/>
        </p:nvSpPr>
        <p:spPr>
          <a:xfrm>
            <a:off x="9621048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11.5M</a:t>
            </a:r>
          </a:p>
        </p:txBody>
      </p:sp>
      <p:sp>
        <p:nvSpPr>
          <p:cNvPr id="1741" name="TextBox 1740"/>
          <p:cNvSpPr txBox="1"/>
          <p:nvPr/>
        </p:nvSpPr>
        <p:spPr>
          <a:xfrm>
            <a:off x="9621048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47件</a:t>
            </a:r>
          </a:p>
        </p:txBody>
      </p:sp>
      <p:sp>
        <p:nvSpPr>
          <p:cNvPr id="1742" name="Rectangle 1741"/>
          <p:cNvSpPr/>
          <p:nvPr/>
        </p:nvSpPr>
        <p:spPr>
          <a:xfrm>
            <a:off x="9974297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TextBox 1742"/>
          <p:cNvSpPr txBox="1"/>
          <p:nvPr/>
        </p:nvSpPr>
        <p:spPr>
          <a:xfrm>
            <a:off x="9968297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12.3M</a:t>
            </a:r>
          </a:p>
        </p:txBody>
      </p:sp>
      <p:sp>
        <p:nvSpPr>
          <p:cNvPr id="1744" name="TextBox 1743"/>
          <p:cNvSpPr txBox="1"/>
          <p:nvPr/>
        </p:nvSpPr>
        <p:spPr>
          <a:xfrm>
            <a:off x="9968297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36件</a:t>
            </a:r>
          </a:p>
        </p:txBody>
      </p:sp>
      <p:sp>
        <p:nvSpPr>
          <p:cNvPr id="1745" name="Rectangle 1744"/>
          <p:cNvSpPr/>
          <p:nvPr/>
        </p:nvSpPr>
        <p:spPr>
          <a:xfrm>
            <a:off x="10321546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TextBox 1745"/>
          <p:cNvSpPr txBox="1"/>
          <p:nvPr/>
        </p:nvSpPr>
        <p:spPr>
          <a:xfrm>
            <a:off x="10315546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19.0M</a:t>
            </a:r>
          </a:p>
        </p:txBody>
      </p:sp>
      <p:sp>
        <p:nvSpPr>
          <p:cNvPr id="1747" name="TextBox 1746"/>
          <p:cNvSpPr txBox="1"/>
          <p:nvPr/>
        </p:nvSpPr>
        <p:spPr>
          <a:xfrm>
            <a:off x="10315546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1748" name="Rectangle 1747"/>
          <p:cNvSpPr/>
          <p:nvPr/>
        </p:nvSpPr>
        <p:spPr>
          <a:xfrm>
            <a:off x="10668795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TextBox 1748"/>
          <p:cNvSpPr txBox="1"/>
          <p:nvPr/>
        </p:nvSpPr>
        <p:spPr>
          <a:xfrm>
            <a:off x="10662795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26.1M</a:t>
            </a:r>
          </a:p>
        </p:txBody>
      </p:sp>
      <p:sp>
        <p:nvSpPr>
          <p:cNvPr id="1750" name="TextBox 1749"/>
          <p:cNvSpPr txBox="1"/>
          <p:nvPr/>
        </p:nvSpPr>
        <p:spPr>
          <a:xfrm>
            <a:off x="10662795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67件</a:t>
            </a:r>
          </a:p>
        </p:txBody>
      </p:sp>
      <p:sp>
        <p:nvSpPr>
          <p:cNvPr id="1751" name="Rectangle 1750"/>
          <p:cNvSpPr/>
          <p:nvPr/>
        </p:nvSpPr>
        <p:spPr>
          <a:xfrm>
            <a:off x="11016044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TextBox 1751"/>
          <p:cNvSpPr txBox="1"/>
          <p:nvPr/>
        </p:nvSpPr>
        <p:spPr>
          <a:xfrm>
            <a:off x="11010044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19.5M</a:t>
            </a:r>
          </a:p>
        </p:txBody>
      </p:sp>
      <p:sp>
        <p:nvSpPr>
          <p:cNvPr id="1753" name="TextBox 1752"/>
          <p:cNvSpPr txBox="1"/>
          <p:nvPr/>
        </p:nvSpPr>
        <p:spPr>
          <a:xfrm>
            <a:off x="11010044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55件</a:t>
            </a:r>
          </a:p>
        </p:txBody>
      </p:sp>
      <p:sp>
        <p:nvSpPr>
          <p:cNvPr id="1754" name="Rectangle 1753"/>
          <p:cNvSpPr/>
          <p:nvPr/>
        </p:nvSpPr>
        <p:spPr>
          <a:xfrm>
            <a:off x="11363293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TextBox 1754"/>
          <p:cNvSpPr txBox="1"/>
          <p:nvPr/>
        </p:nvSpPr>
        <p:spPr>
          <a:xfrm>
            <a:off x="11357293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10.9M</a:t>
            </a:r>
          </a:p>
        </p:txBody>
      </p:sp>
      <p:sp>
        <p:nvSpPr>
          <p:cNvPr id="1756" name="TextBox 1755"/>
          <p:cNvSpPr txBox="1"/>
          <p:nvPr/>
        </p:nvSpPr>
        <p:spPr>
          <a:xfrm>
            <a:off x="11357293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35件</a:t>
            </a:r>
          </a:p>
        </p:txBody>
      </p:sp>
      <p:sp>
        <p:nvSpPr>
          <p:cNvPr id="1757" name="Rectangle 1756"/>
          <p:cNvSpPr/>
          <p:nvPr/>
        </p:nvSpPr>
        <p:spPr>
          <a:xfrm>
            <a:off x="11710542" y="2892224"/>
            <a:ext cx="335249" cy="221774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TextBox 1757"/>
          <p:cNvSpPr txBox="1"/>
          <p:nvPr/>
        </p:nvSpPr>
        <p:spPr>
          <a:xfrm>
            <a:off x="11704542" y="2894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21.0M</a:t>
            </a:r>
          </a:p>
        </p:txBody>
      </p:sp>
      <p:sp>
        <p:nvSpPr>
          <p:cNvPr id="1759" name="TextBox 1758"/>
          <p:cNvSpPr txBox="1"/>
          <p:nvPr/>
        </p:nvSpPr>
        <p:spPr>
          <a:xfrm>
            <a:off x="11704542" y="299499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760" name="Rectangle 1759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TextBox 1760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  周度批核业绩热力矩阵（APE in M）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763" name="TextBox 1762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764" name="TextBox 1763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765" name="TextBox 1764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766" name="TextBox 1765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767" name="TextBox 1766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768" name="TextBox 1767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769" name="TextBox 1768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770" name="TextBox 1769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771" name="TextBox 1770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772" name="TextBox 1771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773" name="TextBox 1772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774" name="TextBox 1773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775" name="TextBox 1774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776" name="TextBox 1775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777" name="TextBox 1776"/>
          <p:cNvSpPr txBox="1"/>
          <p:nvPr/>
        </p:nvSpPr>
        <p:spPr>
          <a:xfrm>
            <a:off x="202880" y="411363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778" name="Rectangle 1777"/>
          <p:cNvSpPr/>
          <p:nvPr/>
        </p:nvSpPr>
        <p:spPr>
          <a:xfrm>
            <a:off x="868880" y="4119632"/>
            <a:ext cx="335249" cy="222040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TextBox 1778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3.1M</a:t>
            </a:r>
          </a:p>
        </p:txBody>
      </p:sp>
      <p:sp>
        <p:nvSpPr>
          <p:cNvPr id="1780" name="TextBox 1779"/>
          <p:cNvSpPr txBox="1"/>
          <p:nvPr/>
        </p:nvSpPr>
        <p:spPr>
          <a:xfrm>
            <a:off x="862880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781" name="Rectangle 1780"/>
          <p:cNvSpPr/>
          <p:nvPr/>
        </p:nvSpPr>
        <p:spPr>
          <a:xfrm>
            <a:off x="1216129" y="4119632"/>
            <a:ext cx="335249" cy="222040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783" name="TextBox 1782"/>
          <p:cNvSpPr txBox="1"/>
          <p:nvPr/>
        </p:nvSpPr>
        <p:spPr>
          <a:xfrm>
            <a:off x="1210129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784" name="Rectangle 1783"/>
          <p:cNvSpPr/>
          <p:nvPr/>
        </p:nvSpPr>
        <p:spPr>
          <a:xfrm>
            <a:off x="1563378" y="4119632"/>
            <a:ext cx="335249" cy="222040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TextBox 1784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3.5M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1557378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787" name="Rectangle 1786"/>
          <p:cNvSpPr/>
          <p:nvPr/>
        </p:nvSpPr>
        <p:spPr>
          <a:xfrm>
            <a:off x="1910627" y="4119632"/>
            <a:ext cx="335249" cy="222040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TextBox 1787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904627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2257876" y="4119632"/>
            <a:ext cx="335249" cy="222040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1.1M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2251876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793" name="Rectangle 1792"/>
          <p:cNvSpPr/>
          <p:nvPr/>
        </p:nvSpPr>
        <p:spPr>
          <a:xfrm>
            <a:off x="2605125" y="4119632"/>
            <a:ext cx="335249" cy="222040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TextBox 1793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795" name="TextBox 1794"/>
          <p:cNvSpPr txBox="1"/>
          <p:nvPr/>
        </p:nvSpPr>
        <p:spPr>
          <a:xfrm>
            <a:off x="2599125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796" name="Rectangle 1795"/>
          <p:cNvSpPr/>
          <p:nvPr/>
        </p:nvSpPr>
        <p:spPr>
          <a:xfrm>
            <a:off x="2952374" y="4119632"/>
            <a:ext cx="335249" cy="222040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TextBox 1796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2.7M</a:t>
            </a:r>
          </a:p>
        </p:txBody>
      </p:sp>
      <p:sp>
        <p:nvSpPr>
          <p:cNvPr id="1798" name="TextBox 1797"/>
          <p:cNvSpPr txBox="1"/>
          <p:nvPr/>
        </p:nvSpPr>
        <p:spPr>
          <a:xfrm>
            <a:off x="2946374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799" name="Rectangle 1798"/>
          <p:cNvSpPr/>
          <p:nvPr/>
        </p:nvSpPr>
        <p:spPr>
          <a:xfrm>
            <a:off x="3299623" y="4119632"/>
            <a:ext cx="335249" cy="222040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TextBox 1799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801" name="TextBox 1800"/>
          <p:cNvSpPr txBox="1"/>
          <p:nvPr/>
        </p:nvSpPr>
        <p:spPr>
          <a:xfrm>
            <a:off x="3293623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802" name="Rectangle 1801"/>
          <p:cNvSpPr/>
          <p:nvPr/>
        </p:nvSpPr>
        <p:spPr>
          <a:xfrm>
            <a:off x="3646872" y="4119632"/>
            <a:ext cx="335249" cy="222040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TextBox 1802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804" name="TextBox 1803"/>
          <p:cNvSpPr txBox="1"/>
          <p:nvPr/>
        </p:nvSpPr>
        <p:spPr>
          <a:xfrm>
            <a:off x="3640872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805" name="Rectangle 1804"/>
          <p:cNvSpPr/>
          <p:nvPr/>
        </p:nvSpPr>
        <p:spPr>
          <a:xfrm>
            <a:off x="3994121" y="4119632"/>
            <a:ext cx="335249" cy="222040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TextBox 1805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1807" name="TextBox 1806"/>
          <p:cNvSpPr txBox="1"/>
          <p:nvPr/>
        </p:nvSpPr>
        <p:spPr>
          <a:xfrm>
            <a:off x="3988121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808" name="Rectangle 1807"/>
          <p:cNvSpPr/>
          <p:nvPr/>
        </p:nvSpPr>
        <p:spPr>
          <a:xfrm>
            <a:off x="4341370" y="4119632"/>
            <a:ext cx="335249" cy="222040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TextBox 1808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8.7M</a:t>
            </a:r>
          </a:p>
        </p:txBody>
      </p:sp>
      <p:sp>
        <p:nvSpPr>
          <p:cNvPr id="1810" name="TextBox 1809"/>
          <p:cNvSpPr txBox="1"/>
          <p:nvPr/>
        </p:nvSpPr>
        <p:spPr>
          <a:xfrm>
            <a:off x="4335370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811" name="Rectangle 1810"/>
          <p:cNvSpPr/>
          <p:nvPr/>
        </p:nvSpPr>
        <p:spPr>
          <a:xfrm>
            <a:off x="4688619" y="4119632"/>
            <a:ext cx="335249" cy="222040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TextBox 1811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813" name="TextBox 1812"/>
          <p:cNvSpPr txBox="1"/>
          <p:nvPr/>
        </p:nvSpPr>
        <p:spPr>
          <a:xfrm>
            <a:off x="4682619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6件</a:t>
            </a:r>
          </a:p>
        </p:txBody>
      </p:sp>
      <p:sp>
        <p:nvSpPr>
          <p:cNvPr id="1814" name="Rectangle 1813"/>
          <p:cNvSpPr/>
          <p:nvPr/>
        </p:nvSpPr>
        <p:spPr>
          <a:xfrm>
            <a:off x="5035868" y="4119632"/>
            <a:ext cx="335249" cy="222040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TextBox 1814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816" name="TextBox 1815"/>
          <p:cNvSpPr txBox="1"/>
          <p:nvPr/>
        </p:nvSpPr>
        <p:spPr>
          <a:xfrm>
            <a:off x="5029868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817" name="Rectangle 1816"/>
          <p:cNvSpPr/>
          <p:nvPr/>
        </p:nvSpPr>
        <p:spPr>
          <a:xfrm>
            <a:off x="5383117" y="4119632"/>
            <a:ext cx="335249" cy="222040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TextBox 1817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5377117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5730366" y="4119632"/>
            <a:ext cx="335249" cy="222040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5724366" y="42226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823" name="TextBox 1822"/>
          <p:cNvSpPr txBox="1"/>
          <p:nvPr/>
        </p:nvSpPr>
        <p:spPr>
          <a:xfrm>
            <a:off x="202880" y="434767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824" name="Rectangle 1823"/>
          <p:cNvSpPr/>
          <p:nvPr/>
        </p:nvSpPr>
        <p:spPr>
          <a:xfrm>
            <a:off x="868880" y="4353672"/>
            <a:ext cx="335249" cy="222040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862880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826" name="TextBox 1825"/>
          <p:cNvSpPr txBox="1"/>
          <p:nvPr/>
        </p:nvSpPr>
        <p:spPr>
          <a:xfrm>
            <a:off x="862880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827" name="Rectangle 1826"/>
          <p:cNvSpPr/>
          <p:nvPr/>
        </p:nvSpPr>
        <p:spPr>
          <a:xfrm>
            <a:off x="1216129" y="4353672"/>
            <a:ext cx="335249" cy="222040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1210129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829" name="TextBox 1828"/>
          <p:cNvSpPr txBox="1"/>
          <p:nvPr/>
        </p:nvSpPr>
        <p:spPr>
          <a:xfrm>
            <a:off x="1210129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830" name="Rectangle 1829"/>
          <p:cNvSpPr/>
          <p:nvPr/>
        </p:nvSpPr>
        <p:spPr>
          <a:xfrm>
            <a:off x="1563378" y="4353672"/>
            <a:ext cx="335249" cy="222040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TextBox 1830"/>
          <p:cNvSpPr txBox="1"/>
          <p:nvPr/>
        </p:nvSpPr>
        <p:spPr>
          <a:xfrm>
            <a:off x="1557378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1557378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833" name="Rectangle 1832"/>
          <p:cNvSpPr/>
          <p:nvPr/>
        </p:nvSpPr>
        <p:spPr>
          <a:xfrm>
            <a:off x="1910627" y="4353672"/>
            <a:ext cx="335249" cy="222040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TextBox 1833"/>
          <p:cNvSpPr txBox="1"/>
          <p:nvPr/>
        </p:nvSpPr>
        <p:spPr>
          <a:xfrm>
            <a:off x="1904627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1.0M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904627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36" name="Rectangle 1835"/>
          <p:cNvSpPr/>
          <p:nvPr/>
        </p:nvSpPr>
        <p:spPr>
          <a:xfrm>
            <a:off x="2257876" y="4353672"/>
            <a:ext cx="335249" cy="222040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TextBox 1836"/>
          <p:cNvSpPr txBox="1"/>
          <p:nvPr/>
        </p:nvSpPr>
        <p:spPr>
          <a:xfrm>
            <a:off x="2251876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2251876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839" name="Rectangle 1838"/>
          <p:cNvSpPr/>
          <p:nvPr/>
        </p:nvSpPr>
        <p:spPr>
          <a:xfrm>
            <a:off x="2605125" y="4353672"/>
            <a:ext cx="335249" cy="222040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TextBox 1839"/>
          <p:cNvSpPr txBox="1"/>
          <p:nvPr/>
        </p:nvSpPr>
        <p:spPr>
          <a:xfrm>
            <a:off x="2599125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0.8M</a:t>
            </a:r>
          </a:p>
        </p:txBody>
      </p:sp>
      <p:sp>
        <p:nvSpPr>
          <p:cNvPr id="1841" name="TextBox 1840"/>
          <p:cNvSpPr txBox="1"/>
          <p:nvPr/>
        </p:nvSpPr>
        <p:spPr>
          <a:xfrm>
            <a:off x="2599125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842" name="Rectangle 1841"/>
          <p:cNvSpPr/>
          <p:nvPr/>
        </p:nvSpPr>
        <p:spPr>
          <a:xfrm>
            <a:off x="2952374" y="4353672"/>
            <a:ext cx="335249" cy="222040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TextBox 1842"/>
          <p:cNvSpPr txBox="1"/>
          <p:nvPr/>
        </p:nvSpPr>
        <p:spPr>
          <a:xfrm>
            <a:off x="2946374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0.9M</a:t>
            </a:r>
          </a:p>
        </p:txBody>
      </p:sp>
      <p:sp>
        <p:nvSpPr>
          <p:cNvPr id="1844" name="TextBox 1843"/>
          <p:cNvSpPr txBox="1"/>
          <p:nvPr/>
        </p:nvSpPr>
        <p:spPr>
          <a:xfrm>
            <a:off x="2946374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845" name="Rectangle 1844"/>
          <p:cNvSpPr/>
          <p:nvPr/>
        </p:nvSpPr>
        <p:spPr>
          <a:xfrm>
            <a:off x="3299623" y="4353672"/>
            <a:ext cx="335249" cy="222040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TextBox 1845"/>
          <p:cNvSpPr txBox="1"/>
          <p:nvPr/>
        </p:nvSpPr>
        <p:spPr>
          <a:xfrm>
            <a:off x="3293623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0.7M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3293623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848" name="Rectangle 1847"/>
          <p:cNvSpPr/>
          <p:nvPr/>
        </p:nvSpPr>
        <p:spPr>
          <a:xfrm>
            <a:off x="4688619" y="4353672"/>
            <a:ext cx="335249" cy="222040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TextBox 1848"/>
          <p:cNvSpPr txBox="1"/>
          <p:nvPr/>
        </p:nvSpPr>
        <p:spPr>
          <a:xfrm>
            <a:off x="4682619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850" name="TextBox 1849"/>
          <p:cNvSpPr txBox="1"/>
          <p:nvPr/>
        </p:nvSpPr>
        <p:spPr>
          <a:xfrm>
            <a:off x="4682619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851" name="Rectangle 1850"/>
          <p:cNvSpPr/>
          <p:nvPr/>
        </p:nvSpPr>
        <p:spPr>
          <a:xfrm>
            <a:off x="5035868" y="4353672"/>
            <a:ext cx="335249" cy="222040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TextBox 1851"/>
          <p:cNvSpPr txBox="1"/>
          <p:nvPr/>
        </p:nvSpPr>
        <p:spPr>
          <a:xfrm>
            <a:off x="5029868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5029868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854" name="Rectangle 1853"/>
          <p:cNvSpPr/>
          <p:nvPr/>
        </p:nvSpPr>
        <p:spPr>
          <a:xfrm>
            <a:off x="5383117" y="4353672"/>
            <a:ext cx="335249" cy="222040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TextBox 1854"/>
          <p:cNvSpPr txBox="1"/>
          <p:nvPr/>
        </p:nvSpPr>
        <p:spPr>
          <a:xfrm>
            <a:off x="5377117" y="43556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5377117" y="44567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202880" y="458171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868880" y="4587712"/>
            <a:ext cx="335249" cy="222040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TextBox 1858"/>
          <p:cNvSpPr txBox="1"/>
          <p:nvPr/>
        </p:nvSpPr>
        <p:spPr>
          <a:xfrm>
            <a:off x="862880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4.3M</a:t>
            </a:r>
          </a:p>
        </p:txBody>
      </p:sp>
      <p:sp>
        <p:nvSpPr>
          <p:cNvPr id="1860" name="TextBox 1859"/>
          <p:cNvSpPr txBox="1"/>
          <p:nvPr/>
        </p:nvSpPr>
        <p:spPr>
          <a:xfrm>
            <a:off x="862880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861" name="Rectangle 1860"/>
          <p:cNvSpPr/>
          <p:nvPr/>
        </p:nvSpPr>
        <p:spPr>
          <a:xfrm>
            <a:off x="1216129" y="4587712"/>
            <a:ext cx="335249" cy="222040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TextBox 1861"/>
          <p:cNvSpPr txBox="1"/>
          <p:nvPr/>
        </p:nvSpPr>
        <p:spPr>
          <a:xfrm>
            <a:off x="1210129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863" name="TextBox 1862"/>
          <p:cNvSpPr txBox="1"/>
          <p:nvPr/>
        </p:nvSpPr>
        <p:spPr>
          <a:xfrm>
            <a:off x="1210129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864" name="Rectangle 1863"/>
          <p:cNvSpPr/>
          <p:nvPr/>
        </p:nvSpPr>
        <p:spPr>
          <a:xfrm>
            <a:off x="1563378" y="4587712"/>
            <a:ext cx="335249" cy="222040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TextBox 1864"/>
          <p:cNvSpPr txBox="1"/>
          <p:nvPr/>
        </p:nvSpPr>
        <p:spPr>
          <a:xfrm>
            <a:off x="1557378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11.8M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557378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910627" y="4587712"/>
            <a:ext cx="335249" cy="222040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TextBox 1867"/>
          <p:cNvSpPr txBox="1"/>
          <p:nvPr/>
        </p:nvSpPr>
        <p:spPr>
          <a:xfrm>
            <a:off x="1904627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3.1M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904627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870" name="Rectangle 1869"/>
          <p:cNvSpPr/>
          <p:nvPr/>
        </p:nvSpPr>
        <p:spPr>
          <a:xfrm>
            <a:off x="2257876" y="4587712"/>
            <a:ext cx="335249" cy="222040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TextBox 1870"/>
          <p:cNvSpPr txBox="1"/>
          <p:nvPr/>
        </p:nvSpPr>
        <p:spPr>
          <a:xfrm>
            <a:off x="2251876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1.9M</a:t>
            </a:r>
          </a:p>
        </p:txBody>
      </p:sp>
      <p:sp>
        <p:nvSpPr>
          <p:cNvPr id="1872" name="TextBox 1871"/>
          <p:cNvSpPr txBox="1"/>
          <p:nvPr/>
        </p:nvSpPr>
        <p:spPr>
          <a:xfrm>
            <a:off x="2251876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873" name="Rectangle 1872"/>
          <p:cNvSpPr/>
          <p:nvPr/>
        </p:nvSpPr>
        <p:spPr>
          <a:xfrm>
            <a:off x="2605125" y="4587712"/>
            <a:ext cx="335249" cy="222040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TextBox 1873"/>
          <p:cNvSpPr txBox="1"/>
          <p:nvPr/>
        </p:nvSpPr>
        <p:spPr>
          <a:xfrm>
            <a:off x="2599125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3.3M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2599125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5件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2952374" y="4587712"/>
            <a:ext cx="335249" cy="222040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TextBox 1876"/>
          <p:cNvSpPr txBox="1"/>
          <p:nvPr/>
        </p:nvSpPr>
        <p:spPr>
          <a:xfrm>
            <a:off x="2946374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2.3M</a:t>
            </a:r>
          </a:p>
        </p:txBody>
      </p:sp>
      <p:sp>
        <p:nvSpPr>
          <p:cNvPr id="1878" name="TextBox 1877"/>
          <p:cNvSpPr txBox="1"/>
          <p:nvPr/>
        </p:nvSpPr>
        <p:spPr>
          <a:xfrm>
            <a:off x="2946374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879" name="Rectangle 1878"/>
          <p:cNvSpPr/>
          <p:nvPr/>
        </p:nvSpPr>
        <p:spPr>
          <a:xfrm>
            <a:off x="3299623" y="4587712"/>
            <a:ext cx="335249" cy="222040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TextBox 1879"/>
          <p:cNvSpPr txBox="1"/>
          <p:nvPr/>
        </p:nvSpPr>
        <p:spPr>
          <a:xfrm>
            <a:off x="3293623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14.1M</a:t>
            </a:r>
          </a:p>
        </p:txBody>
      </p:sp>
      <p:sp>
        <p:nvSpPr>
          <p:cNvPr id="1881" name="TextBox 1880"/>
          <p:cNvSpPr txBox="1"/>
          <p:nvPr/>
        </p:nvSpPr>
        <p:spPr>
          <a:xfrm>
            <a:off x="3293623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882" name="Rectangle 1881"/>
          <p:cNvSpPr/>
          <p:nvPr/>
        </p:nvSpPr>
        <p:spPr>
          <a:xfrm>
            <a:off x="3646872" y="4587712"/>
            <a:ext cx="335249" cy="222040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TextBox 1882"/>
          <p:cNvSpPr txBox="1"/>
          <p:nvPr/>
        </p:nvSpPr>
        <p:spPr>
          <a:xfrm>
            <a:off x="3640872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3640872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3994121" y="4587712"/>
            <a:ext cx="335249" cy="222040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TextBox 1885"/>
          <p:cNvSpPr txBox="1"/>
          <p:nvPr/>
        </p:nvSpPr>
        <p:spPr>
          <a:xfrm>
            <a:off x="3988121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3988121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888" name="Rectangle 1887"/>
          <p:cNvSpPr/>
          <p:nvPr/>
        </p:nvSpPr>
        <p:spPr>
          <a:xfrm>
            <a:off x="4341370" y="4587712"/>
            <a:ext cx="335249" cy="222040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TextBox 1888"/>
          <p:cNvSpPr txBox="1"/>
          <p:nvPr/>
        </p:nvSpPr>
        <p:spPr>
          <a:xfrm>
            <a:off x="4335370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4335370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891" name="Rectangle 1890"/>
          <p:cNvSpPr/>
          <p:nvPr/>
        </p:nvSpPr>
        <p:spPr>
          <a:xfrm>
            <a:off x="4688619" y="4587712"/>
            <a:ext cx="335249" cy="222040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TextBox 1891"/>
          <p:cNvSpPr txBox="1"/>
          <p:nvPr/>
        </p:nvSpPr>
        <p:spPr>
          <a:xfrm>
            <a:off x="4682619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2.8M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4682619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6件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5035868" y="4587712"/>
            <a:ext cx="335249" cy="222040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TextBox 1894"/>
          <p:cNvSpPr txBox="1"/>
          <p:nvPr/>
        </p:nvSpPr>
        <p:spPr>
          <a:xfrm>
            <a:off x="5029868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0.3M</a:t>
            </a:r>
          </a:p>
        </p:txBody>
      </p:sp>
      <p:sp>
        <p:nvSpPr>
          <p:cNvPr id="1896" name="TextBox 1895"/>
          <p:cNvSpPr txBox="1"/>
          <p:nvPr/>
        </p:nvSpPr>
        <p:spPr>
          <a:xfrm>
            <a:off x="5029868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897" name="Rectangle 1896"/>
          <p:cNvSpPr/>
          <p:nvPr/>
        </p:nvSpPr>
        <p:spPr>
          <a:xfrm>
            <a:off x="5383117" y="4587712"/>
            <a:ext cx="335249" cy="222040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TextBox 1897"/>
          <p:cNvSpPr txBox="1"/>
          <p:nvPr/>
        </p:nvSpPr>
        <p:spPr>
          <a:xfrm>
            <a:off x="5377117" y="45897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899" name="TextBox 1898"/>
          <p:cNvSpPr txBox="1"/>
          <p:nvPr/>
        </p:nvSpPr>
        <p:spPr>
          <a:xfrm>
            <a:off x="5377117" y="46907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900" name="TextBox 1899"/>
          <p:cNvSpPr txBox="1"/>
          <p:nvPr/>
        </p:nvSpPr>
        <p:spPr>
          <a:xfrm>
            <a:off x="202880" y="481575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901" name="Rectangle 1900"/>
          <p:cNvSpPr/>
          <p:nvPr/>
        </p:nvSpPr>
        <p:spPr>
          <a:xfrm>
            <a:off x="868880" y="4821752"/>
            <a:ext cx="335249" cy="222040"/>
          </a:xfrm>
          <a:prstGeom prst="rect">
            <a:avLst/>
          </a:prstGeom>
          <a:solidFill>
            <a:srgbClr val="E67E22">
              <a:alpha val="344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TextBox 1901"/>
          <p:cNvSpPr txBox="1"/>
          <p:nvPr/>
        </p:nvSpPr>
        <p:spPr>
          <a:xfrm>
            <a:off x="862880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1.2M</a:t>
            </a:r>
          </a:p>
        </p:txBody>
      </p:sp>
      <p:sp>
        <p:nvSpPr>
          <p:cNvPr id="1903" name="TextBox 1902"/>
          <p:cNvSpPr txBox="1"/>
          <p:nvPr/>
        </p:nvSpPr>
        <p:spPr>
          <a:xfrm>
            <a:off x="862880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904" name="Rectangle 1903"/>
          <p:cNvSpPr/>
          <p:nvPr/>
        </p:nvSpPr>
        <p:spPr>
          <a:xfrm>
            <a:off x="1216129" y="4821752"/>
            <a:ext cx="335249" cy="222040"/>
          </a:xfrm>
          <a:prstGeom prst="rect">
            <a:avLst/>
          </a:prstGeom>
          <a:solidFill>
            <a:srgbClr val="E67E22">
              <a:alpha val="456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TextBox 1904"/>
          <p:cNvSpPr txBox="1"/>
          <p:nvPr/>
        </p:nvSpPr>
        <p:spPr>
          <a:xfrm>
            <a:off x="1210129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2.7M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210129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907" name="Rectangle 1906"/>
          <p:cNvSpPr/>
          <p:nvPr/>
        </p:nvSpPr>
        <p:spPr>
          <a:xfrm>
            <a:off x="1563378" y="4821752"/>
            <a:ext cx="335249" cy="222040"/>
          </a:xfrm>
          <a:prstGeom prst="rect">
            <a:avLst/>
          </a:prstGeom>
          <a:solidFill>
            <a:srgbClr val="E67E22">
              <a:alpha val="5009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TextBox 1907"/>
          <p:cNvSpPr txBox="1"/>
          <p:nvPr/>
        </p:nvSpPr>
        <p:spPr>
          <a:xfrm>
            <a:off x="1557378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3.3M</a:t>
            </a:r>
          </a:p>
        </p:txBody>
      </p:sp>
      <p:sp>
        <p:nvSpPr>
          <p:cNvPr id="1909" name="TextBox 1908"/>
          <p:cNvSpPr txBox="1"/>
          <p:nvPr/>
        </p:nvSpPr>
        <p:spPr>
          <a:xfrm>
            <a:off x="1557378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910" name="Rectangle 1909"/>
          <p:cNvSpPr/>
          <p:nvPr/>
        </p:nvSpPr>
        <p:spPr>
          <a:xfrm>
            <a:off x="1910627" y="4821752"/>
            <a:ext cx="335249" cy="222040"/>
          </a:xfrm>
          <a:prstGeom prst="rect">
            <a:avLst/>
          </a:prstGeom>
          <a:solidFill>
            <a:srgbClr val="E67E22">
              <a:alpha val="496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TextBox 1910"/>
          <p:cNvSpPr txBox="1"/>
          <p:nvPr/>
        </p:nvSpPr>
        <p:spPr>
          <a:xfrm>
            <a:off x="1904627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3.3M</a:t>
            </a:r>
          </a:p>
        </p:txBody>
      </p:sp>
      <p:sp>
        <p:nvSpPr>
          <p:cNvPr id="1912" name="TextBox 1911"/>
          <p:cNvSpPr txBox="1"/>
          <p:nvPr/>
        </p:nvSpPr>
        <p:spPr>
          <a:xfrm>
            <a:off x="1904627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913" name="Rectangle 1912"/>
          <p:cNvSpPr/>
          <p:nvPr/>
        </p:nvSpPr>
        <p:spPr>
          <a:xfrm>
            <a:off x="2257876" y="4821752"/>
            <a:ext cx="335249" cy="222040"/>
          </a:xfrm>
          <a:prstGeom prst="rect">
            <a:avLst/>
          </a:prstGeom>
          <a:solidFill>
            <a:srgbClr val="E67E22">
              <a:alpha val="48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TextBox 1913"/>
          <p:cNvSpPr txBox="1"/>
          <p:nvPr/>
        </p:nvSpPr>
        <p:spPr>
          <a:xfrm>
            <a:off x="2251876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3.2M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2251876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916" name="Rectangle 1915"/>
          <p:cNvSpPr/>
          <p:nvPr/>
        </p:nvSpPr>
        <p:spPr>
          <a:xfrm>
            <a:off x="2605125" y="4821752"/>
            <a:ext cx="335249" cy="222040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TextBox 1916"/>
          <p:cNvSpPr txBox="1"/>
          <p:nvPr/>
        </p:nvSpPr>
        <p:spPr>
          <a:xfrm>
            <a:off x="2599125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918" name="TextBox 1917"/>
          <p:cNvSpPr txBox="1"/>
          <p:nvPr/>
        </p:nvSpPr>
        <p:spPr>
          <a:xfrm>
            <a:off x="2599125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919" name="Rectangle 1918"/>
          <p:cNvSpPr/>
          <p:nvPr/>
        </p:nvSpPr>
        <p:spPr>
          <a:xfrm>
            <a:off x="2952374" y="4821752"/>
            <a:ext cx="335249" cy="222040"/>
          </a:xfrm>
          <a:prstGeom prst="rect">
            <a:avLst/>
          </a:prstGeom>
          <a:solidFill>
            <a:srgbClr val="E67E22">
              <a:alpha val="444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TextBox 1919"/>
          <p:cNvSpPr txBox="1"/>
          <p:nvPr/>
        </p:nvSpPr>
        <p:spPr>
          <a:xfrm>
            <a:off x="2946374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2.6M</a:t>
            </a:r>
          </a:p>
        </p:txBody>
      </p:sp>
      <p:sp>
        <p:nvSpPr>
          <p:cNvPr id="1921" name="TextBox 1920"/>
          <p:cNvSpPr txBox="1"/>
          <p:nvPr/>
        </p:nvSpPr>
        <p:spPr>
          <a:xfrm>
            <a:off x="2946374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922" name="Rectangle 1921"/>
          <p:cNvSpPr/>
          <p:nvPr/>
        </p:nvSpPr>
        <p:spPr>
          <a:xfrm>
            <a:off x="3299623" y="4821752"/>
            <a:ext cx="335249" cy="222040"/>
          </a:xfrm>
          <a:prstGeom prst="rect">
            <a:avLst/>
          </a:prstGeom>
          <a:solidFill>
            <a:srgbClr val="E67E22">
              <a:alpha val="67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TextBox 1922"/>
          <p:cNvSpPr txBox="1"/>
          <p:nvPr/>
        </p:nvSpPr>
        <p:spPr>
          <a:xfrm>
            <a:off x="3293623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3293623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925" name="Rectangle 1924"/>
          <p:cNvSpPr/>
          <p:nvPr/>
        </p:nvSpPr>
        <p:spPr>
          <a:xfrm>
            <a:off x="3646872" y="4821752"/>
            <a:ext cx="335249" cy="222040"/>
          </a:xfrm>
          <a:prstGeom prst="rect">
            <a:avLst/>
          </a:prstGeom>
          <a:solidFill>
            <a:srgbClr val="E67E22">
              <a:alpha val="33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TextBox 1925"/>
          <p:cNvSpPr txBox="1"/>
          <p:nvPr/>
        </p:nvSpPr>
        <p:spPr>
          <a:xfrm>
            <a:off x="3640872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1.1M</a:t>
            </a:r>
          </a:p>
        </p:txBody>
      </p:sp>
      <p:sp>
        <p:nvSpPr>
          <p:cNvPr id="1927" name="TextBox 1926"/>
          <p:cNvSpPr txBox="1"/>
          <p:nvPr/>
        </p:nvSpPr>
        <p:spPr>
          <a:xfrm>
            <a:off x="3640872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928" name="Rectangle 1927"/>
          <p:cNvSpPr/>
          <p:nvPr/>
        </p:nvSpPr>
        <p:spPr>
          <a:xfrm>
            <a:off x="3994121" y="4821752"/>
            <a:ext cx="335249" cy="222040"/>
          </a:xfrm>
          <a:prstGeom prst="rect">
            <a:avLst/>
          </a:prstGeom>
          <a:solidFill>
            <a:srgbClr val="E67E22">
              <a:alpha val="54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TextBox 1928"/>
          <p:cNvSpPr txBox="1"/>
          <p:nvPr/>
        </p:nvSpPr>
        <p:spPr>
          <a:xfrm>
            <a:off x="3988121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3.9M</a:t>
            </a:r>
          </a:p>
        </p:txBody>
      </p:sp>
      <p:sp>
        <p:nvSpPr>
          <p:cNvPr id="1930" name="TextBox 1929"/>
          <p:cNvSpPr txBox="1"/>
          <p:nvPr/>
        </p:nvSpPr>
        <p:spPr>
          <a:xfrm>
            <a:off x="3988121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931" name="Rectangle 1930"/>
          <p:cNvSpPr/>
          <p:nvPr/>
        </p:nvSpPr>
        <p:spPr>
          <a:xfrm>
            <a:off x="4341370" y="4821752"/>
            <a:ext cx="335249" cy="222040"/>
          </a:xfrm>
          <a:prstGeom prst="rect">
            <a:avLst/>
          </a:prstGeom>
          <a:solidFill>
            <a:srgbClr val="E67E22">
              <a:alpha val="449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TextBox 1931"/>
          <p:cNvSpPr txBox="1"/>
          <p:nvPr/>
        </p:nvSpPr>
        <p:spPr>
          <a:xfrm>
            <a:off x="4335370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2.6M</a:t>
            </a:r>
          </a:p>
        </p:txBody>
      </p:sp>
      <p:sp>
        <p:nvSpPr>
          <p:cNvPr id="1933" name="TextBox 1932"/>
          <p:cNvSpPr txBox="1"/>
          <p:nvPr/>
        </p:nvSpPr>
        <p:spPr>
          <a:xfrm>
            <a:off x="4335370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934" name="Rectangle 1933"/>
          <p:cNvSpPr/>
          <p:nvPr/>
        </p:nvSpPr>
        <p:spPr>
          <a:xfrm>
            <a:off x="4688619" y="4821752"/>
            <a:ext cx="335249" cy="222040"/>
          </a:xfrm>
          <a:prstGeom prst="rect">
            <a:avLst/>
          </a:prstGeom>
          <a:solidFill>
            <a:srgbClr val="E67E22">
              <a:alpha val="913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TextBox 1934"/>
          <p:cNvSpPr txBox="1"/>
          <p:nvPr/>
        </p:nvSpPr>
        <p:spPr>
          <a:xfrm>
            <a:off x="4682619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8.8M</a:t>
            </a:r>
          </a:p>
        </p:txBody>
      </p:sp>
      <p:sp>
        <p:nvSpPr>
          <p:cNvPr id="1936" name="TextBox 1935"/>
          <p:cNvSpPr txBox="1"/>
          <p:nvPr/>
        </p:nvSpPr>
        <p:spPr>
          <a:xfrm>
            <a:off x="4682619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937" name="Rectangle 1936"/>
          <p:cNvSpPr/>
          <p:nvPr/>
        </p:nvSpPr>
        <p:spPr>
          <a:xfrm>
            <a:off x="5035868" y="4821752"/>
            <a:ext cx="335249" cy="222040"/>
          </a:xfrm>
          <a:prstGeom prst="rect">
            <a:avLst/>
          </a:prstGeom>
          <a:solidFill>
            <a:srgbClr val="E67E22">
              <a:alpha val="477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TextBox 1937"/>
          <p:cNvSpPr txBox="1"/>
          <p:nvPr/>
        </p:nvSpPr>
        <p:spPr>
          <a:xfrm>
            <a:off x="5029868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939" name="TextBox 1938"/>
          <p:cNvSpPr txBox="1"/>
          <p:nvPr/>
        </p:nvSpPr>
        <p:spPr>
          <a:xfrm>
            <a:off x="5029868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940" name="Rectangle 1939"/>
          <p:cNvSpPr/>
          <p:nvPr/>
        </p:nvSpPr>
        <p:spPr>
          <a:xfrm>
            <a:off x="5383117" y="4821752"/>
            <a:ext cx="335249" cy="222040"/>
          </a:xfrm>
          <a:prstGeom prst="rect">
            <a:avLst/>
          </a:prstGeom>
          <a:solidFill>
            <a:srgbClr val="E67E22">
              <a:alpha val="474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TextBox 1940"/>
          <p:cNvSpPr txBox="1"/>
          <p:nvPr/>
        </p:nvSpPr>
        <p:spPr>
          <a:xfrm>
            <a:off x="5377117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942" name="TextBox 1941"/>
          <p:cNvSpPr txBox="1"/>
          <p:nvPr/>
        </p:nvSpPr>
        <p:spPr>
          <a:xfrm>
            <a:off x="5377117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943" name="Rectangle 1942"/>
          <p:cNvSpPr/>
          <p:nvPr/>
        </p:nvSpPr>
        <p:spPr>
          <a:xfrm>
            <a:off x="5730366" y="4821752"/>
            <a:ext cx="335249" cy="222040"/>
          </a:xfrm>
          <a:prstGeom prst="rect">
            <a:avLst/>
          </a:prstGeom>
          <a:solidFill>
            <a:srgbClr val="E67E22">
              <a:alpha val="37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TextBox 1943"/>
          <p:cNvSpPr txBox="1"/>
          <p:nvPr/>
        </p:nvSpPr>
        <p:spPr>
          <a:xfrm>
            <a:off x="5724366" y="48237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1.6M</a:t>
            </a:r>
          </a:p>
        </p:txBody>
      </p:sp>
      <p:sp>
        <p:nvSpPr>
          <p:cNvPr id="1945" name="TextBox 1944"/>
          <p:cNvSpPr txBox="1"/>
          <p:nvPr/>
        </p:nvSpPr>
        <p:spPr>
          <a:xfrm>
            <a:off x="5724366" y="49247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7件</a:t>
            </a:r>
          </a:p>
        </p:txBody>
      </p:sp>
      <p:sp>
        <p:nvSpPr>
          <p:cNvPr id="1946" name="TextBox 1945"/>
          <p:cNvSpPr txBox="1"/>
          <p:nvPr/>
        </p:nvSpPr>
        <p:spPr>
          <a:xfrm>
            <a:off x="202880" y="504979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947" name="Rectangle 1946"/>
          <p:cNvSpPr/>
          <p:nvPr/>
        </p:nvSpPr>
        <p:spPr>
          <a:xfrm>
            <a:off x="868880" y="5055792"/>
            <a:ext cx="335249" cy="222040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TextBox 1947"/>
          <p:cNvSpPr txBox="1"/>
          <p:nvPr/>
        </p:nvSpPr>
        <p:spPr>
          <a:xfrm>
            <a:off x="862880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949" name="TextBox 1948"/>
          <p:cNvSpPr txBox="1"/>
          <p:nvPr/>
        </p:nvSpPr>
        <p:spPr>
          <a:xfrm>
            <a:off x="862880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950" name="Rectangle 1949"/>
          <p:cNvSpPr/>
          <p:nvPr/>
        </p:nvSpPr>
        <p:spPr>
          <a:xfrm>
            <a:off x="1216129" y="5055792"/>
            <a:ext cx="335249" cy="222040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TextBox 1950"/>
          <p:cNvSpPr txBox="1"/>
          <p:nvPr/>
        </p:nvSpPr>
        <p:spPr>
          <a:xfrm>
            <a:off x="1210129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12.4M</a:t>
            </a:r>
          </a:p>
        </p:txBody>
      </p:sp>
      <p:sp>
        <p:nvSpPr>
          <p:cNvPr id="1952" name="TextBox 1951"/>
          <p:cNvSpPr txBox="1"/>
          <p:nvPr/>
        </p:nvSpPr>
        <p:spPr>
          <a:xfrm>
            <a:off x="1210129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25件</a:t>
            </a:r>
          </a:p>
        </p:txBody>
      </p:sp>
      <p:sp>
        <p:nvSpPr>
          <p:cNvPr id="1953" name="Rectangle 1952"/>
          <p:cNvSpPr/>
          <p:nvPr/>
        </p:nvSpPr>
        <p:spPr>
          <a:xfrm>
            <a:off x="1563378" y="5055792"/>
            <a:ext cx="335249" cy="222040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TextBox 1953"/>
          <p:cNvSpPr txBox="1"/>
          <p:nvPr/>
        </p:nvSpPr>
        <p:spPr>
          <a:xfrm>
            <a:off x="1557378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4.6M</a:t>
            </a:r>
          </a:p>
        </p:txBody>
      </p:sp>
      <p:sp>
        <p:nvSpPr>
          <p:cNvPr id="1955" name="TextBox 1954"/>
          <p:cNvSpPr txBox="1"/>
          <p:nvPr/>
        </p:nvSpPr>
        <p:spPr>
          <a:xfrm>
            <a:off x="1557378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12件</a:t>
            </a:r>
          </a:p>
        </p:txBody>
      </p:sp>
      <p:sp>
        <p:nvSpPr>
          <p:cNvPr id="1956" name="Rectangle 1955"/>
          <p:cNvSpPr/>
          <p:nvPr/>
        </p:nvSpPr>
        <p:spPr>
          <a:xfrm>
            <a:off x="1910627" y="5055792"/>
            <a:ext cx="335249" cy="222040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TextBox 1956"/>
          <p:cNvSpPr txBox="1"/>
          <p:nvPr/>
        </p:nvSpPr>
        <p:spPr>
          <a:xfrm>
            <a:off x="1904627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958" name="TextBox 1957"/>
          <p:cNvSpPr txBox="1"/>
          <p:nvPr/>
        </p:nvSpPr>
        <p:spPr>
          <a:xfrm>
            <a:off x="1904627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959" name="Rectangle 1958"/>
          <p:cNvSpPr/>
          <p:nvPr/>
        </p:nvSpPr>
        <p:spPr>
          <a:xfrm>
            <a:off x="2257876" y="5055792"/>
            <a:ext cx="335249" cy="222040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TextBox 1959"/>
          <p:cNvSpPr txBox="1"/>
          <p:nvPr/>
        </p:nvSpPr>
        <p:spPr>
          <a:xfrm>
            <a:off x="2251876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1.1M</a:t>
            </a:r>
          </a:p>
        </p:txBody>
      </p:sp>
      <p:sp>
        <p:nvSpPr>
          <p:cNvPr id="1961" name="TextBox 1960"/>
          <p:cNvSpPr txBox="1"/>
          <p:nvPr/>
        </p:nvSpPr>
        <p:spPr>
          <a:xfrm>
            <a:off x="2251876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962" name="Rectangle 1961"/>
          <p:cNvSpPr/>
          <p:nvPr/>
        </p:nvSpPr>
        <p:spPr>
          <a:xfrm>
            <a:off x="2605125" y="5055792"/>
            <a:ext cx="335249" cy="222040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TextBox 1962"/>
          <p:cNvSpPr txBox="1"/>
          <p:nvPr/>
        </p:nvSpPr>
        <p:spPr>
          <a:xfrm>
            <a:off x="2599125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0.7M</a:t>
            </a:r>
          </a:p>
        </p:txBody>
      </p:sp>
      <p:sp>
        <p:nvSpPr>
          <p:cNvPr id="1964" name="TextBox 1963"/>
          <p:cNvSpPr txBox="1"/>
          <p:nvPr/>
        </p:nvSpPr>
        <p:spPr>
          <a:xfrm>
            <a:off x="2599125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965" name="Rectangle 1964"/>
          <p:cNvSpPr/>
          <p:nvPr/>
        </p:nvSpPr>
        <p:spPr>
          <a:xfrm>
            <a:off x="2952374" y="5055792"/>
            <a:ext cx="335249" cy="222040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TextBox 1965"/>
          <p:cNvSpPr txBox="1"/>
          <p:nvPr/>
        </p:nvSpPr>
        <p:spPr>
          <a:xfrm>
            <a:off x="2946374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967" name="TextBox 1966"/>
          <p:cNvSpPr txBox="1"/>
          <p:nvPr/>
        </p:nvSpPr>
        <p:spPr>
          <a:xfrm>
            <a:off x="2946374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968" name="Rectangle 1967"/>
          <p:cNvSpPr/>
          <p:nvPr/>
        </p:nvSpPr>
        <p:spPr>
          <a:xfrm>
            <a:off x="3299623" y="5055792"/>
            <a:ext cx="335249" cy="222040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TextBox 1968"/>
          <p:cNvSpPr txBox="1"/>
          <p:nvPr/>
        </p:nvSpPr>
        <p:spPr>
          <a:xfrm>
            <a:off x="3293623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2.5M</a:t>
            </a:r>
          </a:p>
        </p:txBody>
      </p:sp>
      <p:sp>
        <p:nvSpPr>
          <p:cNvPr id="1970" name="TextBox 1969"/>
          <p:cNvSpPr txBox="1"/>
          <p:nvPr/>
        </p:nvSpPr>
        <p:spPr>
          <a:xfrm>
            <a:off x="3293623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8件</a:t>
            </a:r>
          </a:p>
        </p:txBody>
      </p:sp>
      <p:sp>
        <p:nvSpPr>
          <p:cNvPr id="1971" name="Rectangle 1970"/>
          <p:cNvSpPr/>
          <p:nvPr/>
        </p:nvSpPr>
        <p:spPr>
          <a:xfrm>
            <a:off x="3646872" y="5055792"/>
            <a:ext cx="335249" cy="222040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TextBox 1971"/>
          <p:cNvSpPr txBox="1"/>
          <p:nvPr/>
        </p:nvSpPr>
        <p:spPr>
          <a:xfrm>
            <a:off x="3640872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973" name="TextBox 1972"/>
          <p:cNvSpPr txBox="1"/>
          <p:nvPr/>
        </p:nvSpPr>
        <p:spPr>
          <a:xfrm>
            <a:off x="3640872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7件</a:t>
            </a:r>
          </a:p>
        </p:txBody>
      </p:sp>
      <p:sp>
        <p:nvSpPr>
          <p:cNvPr id="1974" name="Rectangle 1973"/>
          <p:cNvSpPr/>
          <p:nvPr/>
        </p:nvSpPr>
        <p:spPr>
          <a:xfrm>
            <a:off x="3994121" y="5055792"/>
            <a:ext cx="335249" cy="222040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TextBox 1974"/>
          <p:cNvSpPr txBox="1"/>
          <p:nvPr/>
        </p:nvSpPr>
        <p:spPr>
          <a:xfrm>
            <a:off x="3988121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976" name="TextBox 1975"/>
          <p:cNvSpPr txBox="1"/>
          <p:nvPr/>
        </p:nvSpPr>
        <p:spPr>
          <a:xfrm>
            <a:off x="3988121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977" name="Rectangle 1976"/>
          <p:cNvSpPr/>
          <p:nvPr/>
        </p:nvSpPr>
        <p:spPr>
          <a:xfrm>
            <a:off x="4341370" y="5055792"/>
            <a:ext cx="335249" cy="222040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TextBox 1977"/>
          <p:cNvSpPr txBox="1"/>
          <p:nvPr/>
        </p:nvSpPr>
        <p:spPr>
          <a:xfrm>
            <a:off x="4335370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979" name="TextBox 1978"/>
          <p:cNvSpPr txBox="1"/>
          <p:nvPr/>
        </p:nvSpPr>
        <p:spPr>
          <a:xfrm>
            <a:off x="4335370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980" name="Rectangle 1979"/>
          <p:cNvSpPr/>
          <p:nvPr/>
        </p:nvSpPr>
        <p:spPr>
          <a:xfrm>
            <a:off x="4688619" y="5055792"/>
            <a:ext cx="335249" cy="222040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TextBox 1980"/>
          <p:cNvSpPr txBox="1"/>
          <p:nvPr/>
        </p:nvSpPr>
        <p:spPr>
          <a:xfrm>
            <a:off x="4682619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982" name="TextBox 1981"/>
          <p:cNvSpPr txBox="1"/>
          <p:nvPr/>
        </p:nvSpPr>
        <p:spPr>
          <a:xfrm>
            <a:off x="4682619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983" name="Rectangle 1982"/>
          <p:cNvSpPr/>
          <p:nvPr/>
        </p:nvSpPr>
        <p:spPr>
          <a:xfrm>
            <a:off x="5035868" y="5055792"/>
            <a:ext cx="335249" cy="222040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TextBox 1983"/>
          <p:cNvSpPr txBox="1"/>
          <p:nvPr/>
        </p:nvSpPr>
        <p:spPr>
          <a:xfrm>
            <a:off x="5029868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5.7M</a:t>
            </a:r>
          </a:p>
        </p:txBody>
      </p:sp>
      <p:sp>
        <p:nvSpPr>
          <p:cNvPr id="1985" name="TextBox 1984"/>
          <p:cNvSpPr txBox="1"/>
          <p:nvPr/>
        </p:nvSpPr>
        <p:spPr>
          <a:xfrm>
            <a:off x="5029868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986" name="Rectangle 1985"/>
          <p:cNvSpPr/>
          <p:nvPr/>
        </p:nvSpPr>
        <p:spPr>
          <a:xfrm>
            <a:off x="5383117" y="5055792"/>
            <a:ext cx="335249" cy="222040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TextBox 1986"/>
          <p:cNvSpPr txBox="1"/>
          <p:nvPr/>
        </p:nvSpPr>
        <p:spPr>
          <a:xfrm>
            <a:off x="5377117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988" name="TextBox 1987"/>
          <p:cNvSpPr txBox="1"/>
          <p:nvPr/>
        </p:nvSpPr>
        <p:spPr>
          <a:xfrm>
            <a:off x="5377117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989" name="Rectangle 1988"/>
          <p:cNvSpPr/>
          <p:nvPr/>
        </p:nvSpPr>
        <p:spPr>
          <a:xfrm>
            <a:off x="5730366" y="5055792"/>
            <a:ext cx="335249" cy="222040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TextBox 1989"/>
          <p:cNvSpPr txBox="1"/>
          <p:nvPr/>
        </p:nvSpPr>
        <p:spPr>
          <a:xfrm>
            <a:off x="5724366" y="505779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4.1M</a:t>
            </a:r>
          </a:p>
        </p:txBody>
      </p:sp>
      <p:sp>
        <p:nvSpPr>
          <p:cNvPr id="1991" name="TextBox 1990"/>
          <p:cNvSpPr txBox="1"/>
          <p:nvPr/>
        </p:nvSpPr>
        <p:spPr>
          <a:xfrm>
            <a:off x="5724366" y="515883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992" name="TextBox 1991"/>
          <p:cNvSpPr txBox="1"/>
          <p:nvPr/>
        </p:nvSpPr>
        <p:spPr>
          <a:xfrm>
            <a:off x="202880" y="528383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993" name="Rectangle 1992"/>
          <p:cNvSpPr/>
          <p:nvPr/>
        </p:nvSpPr>
        <p:spPr>
          <a:xfrm>
            <a:off x="1216129" y="5289832"/>
            <a:ext cx="335249" cy="222040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TextBox 1993"/>
          <p:cNvSpPr txBox="1"/>
          <p:nvPr/>
        </p:nvSpPr>
        <p:spPr>
          <a:xfrm>
            <a:off x="1210129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995" name="TextBox 1994"/>
          <p:cNvSpPr txBox="1"/>
          <p:nvPr/>
        </p:nvSpPr>
        <p:spPr>
          <a:xfrm>
            <a:off x="1210129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996" name="Rectangle 1995"/>
          <p:cNvSpPr/>
          <p:nvPr/>
        </p:nvSpPr>
        <p:spPr>
          <a:xfrm>
            <a:off x="1563378" y="5289832"/>
            <a:ext cx="335249" cy="222040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TextBox 1996"/>
          <p:cNvSpPr txBox="1"/>
          <p:nvPr/>
        </p:nvSpPr>
        <p:spPr>
          <a:xfrm>
            <a:off x="1557378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998" name="TextBox 1997"/>
          <p:cNvSpPr txBox="1"/>
          <p:nvPr/>
        </p:nvSpPr>
        <p:spPr>
          <a:xfrm>
            <a:off x="1557378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999" name="Rectangle 1998"/>
          <p:cNvSpPr/>
          <p:nvPr/>
        </p:nvSpPr>
        <p:spPr>
          <a:xfrm>
            <a:off x="2257876" y="5289832"/>
            <a:ext cx="335249" cy="222040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TextBox 1999"/>
          <p:cNvSpPr txBox="1"/>
          <p:nvPr/>
        </p:nvSpPr>
        <p:spPr>
          <a:xfrm>
            <a:off x="2251876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2001" name="TextBox 2000"/>
          <p:cNvSpPr txBox="1"/>
          <p:nvPr/>
        </p:nvSpPr>
        <p:spPr>
          <a:xfrm>
            <a:off x="2251876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2002" name="Rectangle 2001"/>
          <p:cNvSpPr/>
          <p:nvPr/>
        </p:nvSpPr>
        <p:spPr>
          <a:xfrm>
            <a:off x="2605125" y="5289832"/>
            <a:ext cx="335249" cy="222040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TextBox 2002"/>
          <p:cNvSpPr txBox="1"/>
          <p:nvPr/>
        </p:nvSpPr>
        <p:spPr>
          <a:xfrm>
            <a:off x="2599125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2004" name="TextBox 2003"/>
          <p:cNvSpPr txBox="1"/>
          <p:nvPr/>
        </p:nvSpPr>
        <p:spPr>
          <a:xfrm>
            <a:off x="2599125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2005" name="Rectangle 2004"/>
          <p:cNvSpPr/>
          <p:nvPr/>
        </p:nvSpPr>
        <p:spPr>
          <a:xfrm>
            <a:off x="3299623" y="5289832"/>
            <a:ext cx="335249" cy="222040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TextBox 2005"/>
          <p:cNvSpPr txBox="1"/>
          <p:nvPr/>
        </p:nvSpPr>
        <p:spPr>
          <a:xfrm>
            <a:off x="3293623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2007" name="TextBox 2006"/>
          <p:cNvSpPr txBox="1"/>
          <p:nvPr/>
        </p:nvSpPr>
        <p:spPr>
          <a:xfrm>
            <a:off x="3293623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2008" name="Rectangle 2007"/>
          <p:cNvSpPr/>
          <p:nvPr/>
        </p:nvSpPr>
        <p:spPr>
          <a:xfrm>
            <a:off x="5035868" y="5289832"/>
            <a:ext cx="335249" cy="222040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TextBox 2008"/>
          <p:cNvSpPr txBox="1"/>
          <p:nvPr/>
        </p:nvSpPr>
        <p:spPr>
          <a:xfrm>
            <a:off x="5029868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2010" name="TextBox 2009"/>
          <p:cNvSpPr txBox="1"/>
          <p:nvPr/>
        </p:nvSpPr>
        <p:spPr>
          <a:xfrm>
            <a:off x="5029868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2011" name="Rectangle 2010"/>
          <p:cNvSpPr/>
          <p:nvPr/>
        </p:nvSpPr>
        <p:spPr>
          <a:xfrm>
            <a:off x="5730366" y="5289832"/>
            <a:ext cx="335249" cy="222040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TextBox 2011"/>
          <p:cNvSpPr txBox="1"/>
          <p:nvPr/>
        </p:nvSpPr>
        <p:spPr>
          <a:xfrm>
            <a:off x="5724366" y="52918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0.2M</a:t>
            </a:r>
          </a:p>
        </p:txBody>
      </p:sp>
      <p:sp>
        <p:nvSpPr>
          <p:cNvPr id="2013" name="TextBox 2012"/>
          <p:cNvSpPr txBox="1"/>
          <p:nvPr/>
        </p:nvSpPr>
        <p:spPr>
          <a:xfrm>
            <a:off x="5724366" y="539287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2014" name="TextBox 2013"/>
          <p:cNvSpPr txBox="1"/>
          <p:nvPr/>
        </p:nvSpPr>
        <p:spPr>
          <a:xfrm>
            <a:off x="202880" y="551787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2015" name="Rectangle 2014"/>
          <p:cNvSpPr/>
          <p:nvPr/>
        </p:nvSpPr>
        <p:spPr>
          <a:xfrm>
            <a:off x="2605125" y="5523872"/>
            <a:ext cx="335249" cy="222040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TextBox 2015"/>
          <p:cNvSpPr txBox="1"/>
          <p:nvPr/>
        </p:nvSpPr>
        <p:spPr>
          <a:xfrm>
            <a:off x="2599125" y="55258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2017" name="TextBox 2016"/>
          <p:cNvSpPr txBox="1"/>
          <p:nvPr/>
        </p:nvSpPr>
        <p:spPr>
          <a:xfrm>
            <a:off x="2599125" y="56269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2018" name="Rectangle 2017"/>
          <p:cNvSpPr/>
          <p:nvPr/>
        </p:nvSpPr>
        <p:spPr>
          <a:xfrm>
            <a:off x="2952374" y="5523872"/>
            <a:ext cx="335249" cy="222040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TextBox 2018"/>
          <p:cNvSpPr txBox="1"/>
          <p:nvPr/>
        </p:nvSpPr>
        <p:spPr>
          <a:xfrm>
            <a:off x="2946374" y="55258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2020" name="TextBox 2019"/>
          <p:cNvSpPr txBox="1"/>
          <p:nvPr/>
        </p:nvSpPr>
        <p:spPr>
          <a:xfrm>
            <a:off x="2946374" y="56269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2021" name="Rectangle 2020"/>
          <p:cNvSpPr/>
          <p:nvPr/>
        </p:nvSpPr>
        <p:spPr>
          <a:xfrm>
            <a:off x="3299623" y="5523872"/>
            <a:ext cx="335249" cy="222040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TextBox 2021"/>
          <p:cNvSpPr txBox="1"/>
          <p:nvPr/>
        </p:nvSpPr>
        <p:spPr>
          <a:xfrm>
            <a:off x="3293623" y="552587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1.8M</a:t>
            </a:r>
          </a:p>
        </p:txBody>
      </p:sp>
      <p:sp>
        <p:nvSpPr>
          <p:cNvPr id="2023" name="TextBox 2022"/>
          <p:cNvSpPr txBox="1"/>
          <p:nvPr/>
        </p:nvSpPr>
        <p:spPr>
          <a:xfrm>
            <a:off x="3293623" y="56269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2024" name="TextBox 2023"/>
          <p:cNvSpPr txBox="1"/>
          <p:nvPr/>
        </p:nvSpPr>
        <p:spPr>
          <a:xfrm>
            <a:off x="202880" y="575191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MGA业务</a:t>
            </a:r>
          </a:p>
        </p:txBody>
      </p:sp>
      <p:sp>
        <p:nvSpPr>
          <p:cNvPr id="2025" name="Rectangle 2024"/>
          <p:cNvSpPr/>
          <p:nvPr/>
        </p:nvSpPr>
        <p:spPr>
          <a:xfrm>
            <a:off x="868880" y="5757912"/>
            <a:ext cx="335249" cy="222040"/>
          </a:xfrm>
          <a:prstGeom prst="rect">
            <a:avLst/>
          </a:prstGeom>
          <a:solidFill>
            <a:srgbClr val="C0392B">
              <a:alpha val="319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TextBox 2025"/>
          <p:cNvSpPr txBox="1"/>
          <p:nvPr/>
        </p:nvSpPr>
        <p:spPr>
          <a:xfrm>
            <a:off x="862880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0.4M</a:t>
            </a:r>
          </a:p>
        </p:txBody>
      </p:sp>
      <p:sp>
        <p:nvSpPr>
          <p:cNvPr id="2027" name="TextBox 2026"/>
          <p:cNvSpPr txBox="1"/>
          <p:nvPr/>
        </p:nvSpPr>
        <p:spPr>
          <a:xfrm>
            <a:off x="862880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1件</a:t>
            </a:r>
          </a:p>
        </p:txBody>
      </p:sp>
      <p:sp>
        <p:nvSpPr>
          <p:cNvPr id="2028" name="Rectangle 2027"/>
          <p:cNvSpPr/>
          <p:nvPr/>
        </p:nvSpPr>
        <p:spPr>
          <a:xfrm>
            <a:off x="1216129" y="5757912"/>
            <a:ext cx="335249" cy="222040"/>
          </a:xfrm>
          <a:prstGeom prst="rect">
            <a:avLst/>
          </a:prstGeom>
          <a:solidFill>
            <a:srgbClr val="C0392B">
              <a:alpha val="326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TextBox 2028"/>
          <p:cNvSpPr txBox="1"/>
          <p:nvPr/>
        </p:nvSpPr>
        <p:spPr>
          <a:xfrm>
            <a:off x="1210129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0.4M</a:t>
            </a:r>
          </a:p>
        </p:txBody>
      </p:sp>
      <p:sp>
        <p:nvSpPr>
          <p:cNvPr id="2030" name="TextBox 2029"/>
          <p:cNvSpPr txBox="1"/>
          <p:nvPr/>
        </p:nvSpPr>
        <p:spPr>
          <a:xfrm>
            <a:off x="1210129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1件</a:t>
            </a:r>
          </a:p>
        </p:txBody>
      </p:sp>
      <p:sp>
        <p:nvSpPr>
          <p:cNvPr id="2031" name="Rectangle 2030"/>
          <p:cNvSpPr/>
          <p:nvPr/>
        </p:nvSpPr>
        <p:spPr>
          <a:xfrm>
            <a:off x="1563378" y="5757912"/>
            <a:ext cx="335249" cy="222040"/>
          </a:xfrm>
          <a:prstGeom prst="rect">
            <a:avLst/>
          </a:prstGeom>
          <a:solidFill>
            <a:srgbClr val="C0392B">
              <a:alpha val="261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TextBox 2031"/>
          <p:cNvSpPr txBox="1"/>
          <p:nvPr/>
        </p:nvSpPr>
        <p:spPr>
          <a:xfrm>
            <a:off x="1557378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0.1M</a:t>
            </a:r>
          </a:p>
        </p:txBody>
      </p:sp>
      <p:sp>
        <p:nvSpPr>
          <p:cNvPr id="2033" name="TextBox 2032"/>
          <p:cNvSpPr txBox="1"/>
          <p:nvPr/>
        </p:nvSpPr>
        <p:spPr>
          <a:xfrm>
            <a:off x="1557378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2件</a:t>
            </a:r>
          </a:p>
        </p:txBody>
      </p:sp>
      <p:sp>
        <p:nvSpPr>
          <p:cNvPr id="2034" name="Rectangle 2033"/>
          <p:cNvSpPr/>
          <p:nvPr/>
        </p:nvSpPr>
        <p:spPr>
          <a:xfrm>
            <a:off x="1910627" y="5757912"/>
            <a:ext cx="335249" cy="222040"/>
          </a:xfrm>
          <a:prstGeom prst="rect">
            <a:avLst/>
          </a:prstGeom>
          <a:solidFill>
            <a:srgbClr val="C0392B">
              <a:alpha val="531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TextBox 2034"/>
          <p:cNvSpPr txBox="1"/>
          <p:nvPr/>
        </p:nvSpPr>
        <p:spPr>
          <a:xfrm>
            <a:off x="1904627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1.4M</a:t>
            </a:r>
          </a:p>
        </p:txBody>
      </p:sp>
      <p:sp>
        <p:nvSpPr>
          <p:cNvPr id="2036" name="TextBox 2035"/>
          <p:cNvSpPr txBox="1"/>
          <p:nvPr/>
        </p:nvSpPr>
        <p:spPr>
          <a:xfrm>
            <a:off x="1904627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3件</a:t>
            </a:r>
          </a:p>
        </p:txBody>
      </p:sp>
      <p:sp>
        <p:nvSpPr>
          <p:cNvPr id="2037" name="Rectangle 2036"/>
          <p:cNvSpPr/>
          <p:nvPr/>
        </p:nvSpPr>
        <p:spPr>
          <a:xfrm>
            <a:off x="2257876" y="5757912"/>
            <a:ext cx="335249" cy="222040"/>
          </a:xfrm>
          <a:prstGeom prst="rect">
            <a:avLst/>
          </a:prstGeom>
          <a:solidFill>
            <a:srgbClr val="C0392B">
              <a:alpha val="41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TextBox 2037"/>
          <p:cNvSpPr txBox="1"/>
          <p:nvPr/>
        </p:nvSpPr>
        <p:spPr>
          <a:xfrm>
            <a:off x="2251876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0.8M</a:t>
            </a:r>
          </a:p>
        </p:txBody>
      </p:sp>
      <p:sp>
        <p:nvSpPr>
          <p:cNvPr id="2039" name="TextBox 2038"/>
          <p:cNvSpPr txBox="1"/>
          <p:nvPr/>
        </p:nvSpPr>
        <p:spPr>
          <a:xfrm>
            <a:off x="2251876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6件</a:t>
            </a:r>
          </a:p>
        </p:txBody>
      </p:sp>
      <p:sp>
        <p:nvSpPr>
          <p:cNvPr id="2040" name="Rectangle 2039"/>
          <p:cNvSpPr/>
          <p:nvPr/>
        </p:nvSpPr>
        <p:spPr>
          <a:xfrm>
            <a:off x="2605125" y="5757912"/>
            <a:ext cx="335249" cy="222040"/>
          </a:xfrm>
          <a:prstGeom prst="rect">
            <a:avLst/>
          </a:prstGeom>
          <a:solidFill>
            <a:srgbClr val="C0392B">
              <a:alpha val="316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TextBox 2040"/>
          <p:cNvSpPr txBox="1"/>
          <p:nvPr/>
        </p:nvSpPr>
        <p:spPr>
          <a:xfrm>
            <a:off x="2599125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0.3M</a:t>
            </a:r>
          </a:p>
        </p:txBody>
      </p:sp>
      <p:sp>
        <p:nvSpPr>
          <p:cNvPr id="2042" name="TextBox 2041"/>
          <p:cNvSpPr txBox="1"/>
          <p:nvPr/>
        </p:nvSpPr>
        <p:spPr>
          <a:xfrm>
            <a:off x="2599125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2043" name="Rectangle 2042"/>
          <p:cNvSpPr/>
          <p:nvPr/>
        </p:nvSpPr>
        <p:spPr>
          <a:xfrm>
            <a:off x="2952374" y="5757912"/>
            <a:ext cx="335249" cy="222040"/>
          </a:xfrm>
          <a:prstGeom prst="rect">
            <a:avLst/>
          </a:prstGeom>
          <a:solidFill>
            <a:srgbClr val="C0392B">
              <a:alpha val="503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TextBox 2043"/>
          <p:cNvSpPr txBox="1"/>
          <p:nvPr/>
        </p:nvSpPr>
        <p:spPr>
          <a:xfrm>
            <a:off x="2946374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1.3M</a:t>
            </a:r>
          </a:p>
        </p:txBody>
      </p:sp>
      <p:sp>
        <p:nvSpPr>
          <p:cNvPr id="2045" name="TextBox 2044"/>
          <p:cNvSpPr txBox="1"/>
          <p:nvPr/>
        </p:nvSpPr>
        <p:spPr>
          <a:xfrm>
            <a:off x="2946374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3件</a:t>
            </a:r>
          </a:p>
        </p:txBody>
      </p:sp>
      <p:sp>
        <p:nvSpPr>
          <p:cNvPr id="2046" name="Rectangle 2045"/>
          <p:cNvSpPr/>
          <p:nvPr/>
        </p:nvSpPr>
        <p:spPr>
          <a:xfrm>
            <a:off x="3299623" y="5757912"/>
            <a:ext cx="335249" cy="222040"/>
          </a:xfrm>
          <a:prstGeom prst="rect">
            <a:avLst/>
          </a:prstGeom>
          <a:solidFill>
            <a:srgbClr val="C0392B">
              <a:alpha val="557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TextBox 2046"/>
          <p:cNvSpPr txBox="1"/>
          <p:nvPr/>
        </p:nvSpPr>
        <p:spPr>
          <a:xfrm>
            <a:off x="3293623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1.6M</a:t>
            </a:r>
          </a:p>
        </p:txBody>
      </p:sp>
      <p:sp>
        <p:nvSpPr>
          <p:cNvPr id="2048" name="TextBox 2047"/>
          <p:cNvSpPr txBox="1"/>
          <p:nvPr/>
        </p:nvSpPr>
        <p:spPr>
          <a:xfrm>
            <a:off x="3293623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2049" name="Rectangle 2048"/>
          <p:cNvSpPr/>
          <p:nvPr/>
        </p:nvSpPr>
        <p:spPr>
          <a:xfrm>
            <a:off x="3646872" y="5757912"/>
            <a:ext cx="335249" cy="222040"/>
          </a:xfrm>
          <a:prstGeom prst="rect">
            <a:avLst/>
          </a:prstGeom>
          <a:solidFill>
            <a:srgbClr val="C0392B">
              <a:alpha val="70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TextBox 2049"/>
          <p:cNvSpPr txBox="1"/>
          <p:nvPr/>
        </p:nvSpPr>
        <p:spPr>
          <a:xfrm>
            <a:off x="3640872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2051" name="TextBox 2050"/>
          <p:cNvSpPr txBox="1"/>
          <p:nvPr/>
        </p:nvSpPr>
        <p:spPr>
          <a:xfrm>
            <a:off x="3640872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2052" name="Rectangle 2051"/>
          <p:cNvSpPr/>
          <p:nvPr/>
        </p:nvSpPr>
        <p:spPr>
          <a:xfrm>
            <a:off x="3994121" y="5757912"/>
            <a:ext cx="335249" cy="222040"/>
          </a:xfrm>
          <a:prstGeom prst="rect">
            <a:avLst/>
          </a:prstGeom>
          <a:solidFill>
            <a:srgbClr val="C0392B">
              <a:alpha val="528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TextBox 2052"/>
          <p:cNvSpPr txBox="1"/>
          <p:nvPr/>
        </p:nvSpPr>
        <p:spPr>
          <a:xfrm>
            <a:off x="3988121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1.4M</a:t>
            </a:r>
          </a:p>
        </p:txBody>
      </p:sp>
      <p:sp>
        <p:nvSpPr>
          <p:cNvPr id="2054" name="TextBox 2053"/>
          <p:cNvSpPr txBox="1"/>
          <p:nvPr/>
        </p:nvSpPr>
        <p:spPr>
          <a:xfrm>
            <a:off x="3988121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2055" name="Rectangle 2054"/>
          <p:cNvSpPr/>
          <p:nvPr/>
        </p:nvSpPr>
        <p:spPr>
          <a:xfrm>
            <a:off x="4341370" y="5757912"/>
            <a:ext cx="335249" cy="222040"/>
          </a:xfrm>
          <a:prstGeom prst="rect">
            <a:avLst/>
          </a:prstGeom>
          <a:solidFill>
            <a:srgbClr val="C0392B">
              <a:alpha val="26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TextBox 2055"/>
          <p:cNvSpPr txBox="1"/>
          <p:nvPr/>
        </p:nvSpPr>
        <p:spPr>
          <a:xfrm>
            <a:off x="4335370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0.1M</a:t>
            </a:r>
          </a:p>
        </p:txBody>
      </p:sp>
      <p:sp>
        <p:nvSpPr>
          <p:cNvPr id="2057" name="TextBox 2056"/>
          <p:cNvSpPr txBox="1"/>
          <p:nvPr/>
        </p:nvSpPr>
        <p:spPr>
          <a:xfrm>
            <a:off x="4335370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1件</a:t>
            </a:r>
          </a:p>
        </p:txBody>
      </p:sp>
      <p:sp>
        <p:nvSpPr>
          <p:cNvPr id="2058" name="Rectangle 2057"/>
          <p:cNvSpPr/>
          <p:nvPr/>
        </p:nvSpPr>
        <p:spPr>
          <a:xfrm>
            <a:off x="4688619" y="5757912"/>
            <a:ext cx="335249" cy="222040"/>
          </a:xfrm>
          <a:prstGeom prst="rect">
            <a:avLst/>
          </a:prstGeom>
          <a:solidFill>
            <a:srgbClr val="C0392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TextBox 2058"/>
          <p:cNvSpPr txBox="1"/>
          <p:nvPr/>
        </p:nvSpPr>
        <p:spPr>
          <a:xfrm>
            <a:off x="4682619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3.8M</a:t>
            </a:r>
          </a:p>
        </p:txBody>
      </p:sp>
      <p:sp>
        <p:nvSpPr>
          <p:cNvPr id="2060" name="TextBox 2059"/>
          <p:cNvSpPr txBox="1"/>
          <p:nvPr/>
        </p:nvSpPr>
        <p:spPr>
          <a:xfrm>
            <a:off x="4682619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2061" name="Rectangle 2060"/>
          <p:cNvSpPr/>
          <p:nvPr/>
        </p:nvSpPr>
        <p:spPr>
          <a:xfrm>
            <a:off x="5035868" y="5757912"/>
            <a:ext cx="335249" cy="222040"/>
          </a:xfrm>
          <a:prstGeom prst="rect">
            <a:avLst/>
          </a:prstGeom>
          <a:solidFill>
            <a:srgbClr val="C0392B">
              <a:alpha val="484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TextBox 2061"/>
          <p:cNvSpPr txBox="1"/>
          <p:nvPr/>
        </p:nvSpPr>
        <p:spPr>
          <a:xfrm>
            <a:off x="5029868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1.2M</a:t>
            </a:r>
          </a:p>
        </p:txBody>
      </p:sp>
      <p:sp>
        <p:nvSpPr>
          <p:cNvPr id="2063" name="TextBox 2062"/>
          <p:cNvSpPr txBox="1"/>
          <p:nvPr/>
        </p:nvSpPr>
        <p:spPr>
          <a:xfrm>
            <a:off x="5029868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7件</a:t>
            </a:r>
          </a:p>
        </p:txBody>
      </p:sp>
      <p:sp>
        <p:nvSpPr>
          <p:cNvPr id="2064" name="Rectangle 2063"/>
          <p:cNvSpPr/>
          <p:nvPr/>
        </p:nvSpPr>
        <p:spPr>
          <a:xfrm>
            <a:off x="5383117" y="5757912"/>
            <a:ext cx="335249" cy="222040"/>
          </a:xfrm>
          <a:prstGeom prst="rect">
            <a:avLst/>
          </a:prstGeom>
          <a:solidFill>
            <a:srgbClr val="C0392B">
              <a:alpha val="717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TextBox 2064"/>
          <p:cNvSpPr txBox="1"/>
          <p:nvPr/>
        </p:nvSpPr>
        <p:spPr>
          <a:xfrm>
            <a:off x="5377117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2.4M</a:t>
            </a:r>
          </a:p>
        </p:txBody>
      </p:sp>
      <p:sp>
        <p:nvSpPr>
          <p:cNvPr id="2066" name="TextBox 2065"/>
          <p:cNvSpPr txBox="1"/>
          <p:nvPr/>
        </p:nvSpPr>
        <p:spPr>
          <a:xfrm>
            <a:off x="5377117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2067" name="Rectangle 2066"/>
          <p:cNvSpPr/>
          <p:nvPr/>
        </p:nvSpPr>
        <p:spPr>
          <a:xfrm>
            <a:off x="5730366" y="5757912"/>
            <a:ext cx="335249" cy="222040"/>
          </a:xfrm>
          <a:prstGeom prst="rect">
            <a:avLst/>
          </a:prstGeom>
          <a:solidFill>
            <a:srgbClr val="C0392B">
              <a:alpha val="337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TextBox 2067"/>
          <p:cNvSpPr txBox="1"/>
          <p:nvPr/>
        </p:nvSpPr>
        <p:spPr>
          <a:xfrm>
            <a:off x="5724366" y="57599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alibri"/>
              </a:rPr>
              <a:t>0.4M</a:t>
            </a:r>
          </a:p>
        </p:txBody>
      </p:sp>
      <p:sp>
        <p:nvSpPr>
          <p:cNvPr id="2069" name="TextBox 2068"/>
          <p:cNvSpPr txBox="1"/>
          <p:nvPr/>
        </p:nvSpPr>
        <p:spPr>
          <a:xfrm>
            <a:off x="5724366" y="586095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C0392B"/>
                </a:solidFill>
                <a:latin typeface="Calibri"/>
              </a:rPr>
              <a:t>5件</a:t>
            </a:r>
          </a:p>
        </p:txBody>
      </p:sp>
      <p:sp>
        <p:nvSpPr>
          <p:cNvPr id="2070" name="TextBox 2069"/>
          <p:cNvSpPr txBox="1"/>
          <p:nvPr/>
        </p:nvSpPr>
        <p:spPr>
          <a:xfrm>
            <a:off x="202880" y="5985952"/>
            <a:ext cx="650000" cy="234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2071" name="Rectangle 2070"/>
          <p:cNvSpPr/>
          <p:nvPr/>
        </p:nvSpPr>
        <p:spPr>
          <a:xfrm>
            <a:off x="868880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TextBox 2071"/>
          <p:cNvSpPr txBox="1"/>
          <p:nvPr/>
        </p:nvSpPr>
        <p:spPr>
          <a:xfrm>
            <a:off x="862880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12.4M</a:t>
            </a:r>
          </a:p>
        </p:txBody>
      </p:sp>
      <p:sp>
        <p:nvSpPr>
          <p:cNvPr id="2073" name="TextBox 2072"/>
          <p:cNvSpPr txBox="1"/>
          <p:nvPr/>
        </p:nvSpPr>
        <p:spPr>
          <a:xfrm>
            <a:off x="862880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24件</a:t>
            </a:r>
          </a:p>
        </p:txBody>
      </p:sp>
      <p:sp>
        <p:nvSpPr>
          <p:cNvPr id="2074" name="Rectangle 2073"/>
          <p:cNvSpPr/>
          <p:nvPr/>
        </p:nvSpPr>
        <p:spPr>
          <a:xfrm>
            <a:off x="1216129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TextBox 2074"/>
          <p:cNvSpPr txBox="1"/>
          <p:nvPr/>
        </p:nvSpPr>
        <p:spPr>
          <a:xfrm>
            <a:off x="1210129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24.3M</a:t>
            </a:r>
          </a:p>
        </p:txBody>
      </p:sp>
      <p:sp>
        <p:nvSpPr>
          <p:cNvPr id="2076" name="TextBox 2075"/>
          <p:cNvSpPr txBox="1"/>
          <p:nvPr/>
        </p:nvSpPr>
        <p:spPr>
          <a:xfrm>
            <a:off x="1210129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59件</a:t>
            </a:r>
          </a:p>
        </p:txBody>
      </p:sp>
      <p:sp>
        <p:nvSpPr>
          <p:cNvPr id="2077" name="Rectangle 2076"/>
          <p:cNvSpPr/>
          <p:nvPr/>
        </p:nvSpPr>
        <p:spPr>
          <a:xfrm>
            <a:off x="1563378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TextBox 2077"/>
          <p:cNvSpPr txBox="1"/>
          <p:nvPr/>
        </p:nvSpPr>
        <p:spPr>
          <a:xfrm>
            <a:off x="1557378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24.6M</a:t>
            </a:r>
          </a:p>
        </p:txBody>
      </p:sp>
      <p:sp>
        <p:nvSpPr>
          <p:cNvPr id="2079" name="TextBox 2078"/>
          <p:cNvSpPr txBox="1"/>
          <p:nvPr/>
        </p:nvSpPr>
        <p:spPr>
          <a:xfrm>
            <a:off x="1557378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2080" name="Rectangle 2079"/>
          <p:cNvSpPr/>
          <p:nvPr/>
        </p:nvSpPr>
        <p:spPr>
          <a:xfrm>
            <a:off x="1910627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TextBox 2080"/>
          <p:cNvSpPr txBox="1"/>
          <p:nvPr/>
        </p:nvSpPr>
        <p:spPr>
          <a:xfrm>
            <a:off x="1904627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23.5M</a:t>
            </a:r>
          </a:p>
        </p:txBody>
      </p:sp>
      <p:sp>
        <p:nvSpPr>
          <p:cNvPr id="2082" name="TextBox 2081"/>
          <p:cNvSpPr txBox="1"/>
          <p:nvPr/>
        </p:nvSpPr>
        <p:spPr>
          <a:xfrm>
            <a:off x="1904627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2083" name="Rectangle 2082"/>
          <p:cNvSpPr/>
          <p:nvPr/>
        </p:nvSpPr>
        <p:spPr>
          <a:xfrm>
            <a:off x="2257876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TextBox 2083"/>
          <p:cNvSpPr txBox="1"/>
          <p:nvPr/>
        </p:nvSpPr>
        <p:spPr>
          <a:xfrm>
            <a:off x="2251876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8.4M</a:t>
            </a:r>
          </a:p>
        </p:txBody>
      </p:sp>
      <p:sp>
        <p:nvSpPr>
          <p:cNvPr id="2085" name="TextBox 2084"/>
          <p:cNvSpPr txBox="1"/>
          <p:nvPr/>
        </p:nvSpPr>
        <p:spPr>
          <a:xfrm>
            <a:off x="2251876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2086" name="Rectangle 2085"/>
          <p:cNvSpPr/>
          <p:nvPr/>
        </p:nvSpPr>
        <p:spPr>
          <a:xfrm>
            <a:off x="2605125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TextBox 2086"/>
          <p:cNvSpPr txBox="1"/>
          <p:nvPr/>
        </p:nvSpPr>
        <p:spPr>
          <a:xfrm>
            <a:off x="2599125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15.9M</a:t>
            </a:r>
          </a:p>
        </p:txBody>
      </p:sp>
      <p:sp>
        <p:nvSpPr>
          <p:cNvPr id="2088" name="TextBox 2087"/>
          <p:cNvSpPr txBox="1"/>
          <p:nvPr/>
        </p:nvSpPr>
        <p:spPr>
          <a:xfrm>
            <a:off x="2599125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42件</a:t>
            </a:r>
          </a:p>
        </p:txBody>
      </p:sp>
      <p:sp>
        <p:nvSpPr>
          <p:cNvPr id="2089" name="Rectangle 2088"/>
          <p:cNvSpPr/>
          <p:nvPr/>
        </p:nvSpPr>
        <p:spPr>
          <a:xfrm>
            <a:off x="2952374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TextBox 2089"/>
          <p:cNvSpPr txBox="1"/>
          <p:nvPr/>
        </p:nvSpPr>
        <p:spPr>
          <a:xfrm>
            <a:off x="2946374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20.4M</a:t>
            </a:r>
          </a:p>
        </p:txBody>
      </p:sp>
      <p:sp>
        <p:nvSpPr>
          <p:cNvPr id="2091" name="TextBox 2090"/>
          <p:cNvSpPr txBox="1"/>
          <p:nvPr/>
        </p:nvSpPr>
        <p:spPr>
          <a:xfrm>
            <a:off x="2946374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46件</a:t>
            </a:r>
          </a:p>
        </p:txBody>
      </p:sp>
      <p:sp>
        <p:nvSpPr>
          <p:cNvPr id="2092" name="Rectangle 2091"/>
          <p:cNvSpPr/>
          <p:nvPr/>
        </p:nvSpPr>
        <p:spPr>
          <a:xfrm>
            <a:off x="3299623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TextBox 2092"/>
          <p:cNvSpPr txBox="1"/>
          <p:nvPr/>
        </p:nvSpPr>
        <p:spPr>
          <a:xfrm>
            <a:off x="3293623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28.1M</a:t>
            </a:r>
          </a:p>
        </p:txBody>
      </p:sp>
      <p:sp>
        <p:nvSpPr>
          <p:cNvPr id="2094" name="TextBox 2093"/>
          <p:cNvSpPr txBox="1"/>
          <p:nvPr/>
        </p:nvSpPr>
        <p:spPr>
          <a:xfrm>
            <a:off x="3293623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2095" name="Rectangle 2094"/>
          <p:cNvSpPr/>
          <p:nvPr/>
        </p:nvSpPr>
        <p:spPr>
          <a:xfrm>
            <a:off x="3646872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TextBox 2095"/>
          <p:cNvSpPr txBox="1"/>
          <p:nvPr/>
        </p:nvSpPr>
        <p:spPr>
          <a:xfrm>
            <a:off x="3640872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12.5M</a:t>
            </a:r>
          </a:p>
        </p:txBody>
      </p:sp>
      <p:sp>
        <p:nvSpPr>
          <p:cNvPr id="2097" name="TextBox 2096"/>
          <p:cNvSpPr txBox="1"/>
          <p:nvPr/>
        </p:nvSpPr>
        <p:spPr>
          <a:xfrm>
            <a:off x="3640872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2098" name="Rectangle 2097"/>
          <p:cNvSpPr/>
          <p:nvPr/>
        </p:nvSpPr>
        <p:spPr>
          <a:xfrm>
            <a:off x="3994121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TextBox 2098"/>
          <p:cNvSpPr txBox="1"/>
          <p:nvPr/>
        </p:nvSpPr>
        <p:spPr>
          <a:xfrm>
            <a:off x="3988121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12.0M</a:t>
            </a:r>
          </a:p>
        </p:txBody>
      </p:sp>
      <p:sp>
        <p:nvSpPr>
          <p:cNvPr id="2100" name="TextBox 2099"/>
          <p:cNvSpPr txBox="1"/>
          <p:nvPr/>
        </p:nvSpPr>
        <p:spPr>
          <a:xfrm>
            <a:off x="3988121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2101" name="Rectangle 2100"/>
          <p:cNvSpPr/>
          <p:nvPr/>
        </p:nvSpPr>
        <p:spPr>
          <a:xfrm>
            <a:off x="4341370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TextBox 2101"/>
          <p:cNvSpPr txBox="1"/>
          <p:nvPr/>
        </p:nvSpPr>
        <p:spPr>
          <a:xfrm>
            <a:off x="4335370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15.4M</a:t>
            </a:r>
          </a:p>
        </p:txBody>
      </p:sp>
      <p:sp>
        <p:nvSpPr>
          <p:cNvPr id="2103" name="TextBox 2102"/>
          <p:cNvSpPr txBox="1"/>
          <p:nvPr/>
        </p:nvSpPr>
        <p:spPr>
          <a:xfrm>
            <a:off x="4335370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2104" name="Rectangle 2103"/>
          <p:cNvSpPr/>
          <p:nvPr/>
        </p:nvSpPr>
        <p:spPr>
          <a:xfrm>
            <a:off x="4688619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TextBox 2104"/>
          <p:cNvSpPr txBox="1"/>
          <p:nvPr/>
        </p:nvSpPr>
        <p:spPr>
          <a:xfrm>
            <a:off x="4682619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19.3M</a:t>
            </a:r>
          </a:p>
        </p:txBody>
      </p:sp>
      <p:sp>
        <p:nvSpPr>
          <p:cNvPr id="2106" name="TextBox 2105"/>
          <p:cNvSpPr txBox="1"/>
          <p:nvPr/>
        </p:nvSpPr>
        <p:spPr>
          <a:xfrm>
            <a:off x="4682619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50件</a:t>
            </a:r>
          </a:p>
        </p:txBody>
      </p:sp>
      <p:sp>
        <p:nvSpPr>
          <p:cNvPr id="2107" name="Rectangle 2106"/>
          <p:cNvSpPr/>
          <p:nvPr/>
        </p:nvSpPr>
        <p:spPr>
          <a:xfrm>
            <a:off x="5035868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TextBox 2107"/>
          <p:cNvSpPr txBox="1"/>
          <p:nvPr/>
        </p:nvSpPr>
        <p:spPr>
          <a:xfrm>
            <a:off x="5029868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11.2M</a:t>
            </a:r>
          </a:p>
        </p:txBody>
      </p:sp>
      <p:sp>
        <p:nvSpPr>
          <p:cNvPr id="2109" name="TextBox 2108"/>
          <p:cNvSpPr txBox="1"/>
          <p:nvPr/>
        </p:nvSpPr>
        <p:spPr>
          <a:xfrm>
            <a:off x="5029868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2110" name="Rectangle 2109"/>
          <p:cNvSpPr/>
          <p:nvPr/>
        </p:nvSpPr>
        <p:spPr>
          <a:xfrm>
            <a:off x="5383117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TextBox 2110"/>
          <p:cNvSpPr txBox="1"/>
          <p:nvPr/>
        </p:nvSpPr>
        <p:spPr>
          <a:xfrm>
            <a:off x="5377117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17.6M</a:t>
            </a:r>
          </a:p>
        </p:txBody>
      </p:sp>
      <p:sp>
        <p:nvSpPr>
          <p:cNvPr id="2112" name="TextBox 2111"/>
          <p:cNvSpPr txBox="1"/>
          <p:nvPr/>
        </p:nvSpPr>
        <p:spPr>
          <a:xfrm>
            <a:off x="5377117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2113" name="Rectangle 2112"/>
          <p:cNvSpPr/>
          <p:nvPr/>
        </p:nvSpPr>
        <p:spPr>
          <a:xfrm>
            <a:off x="5730366" y="5991952"/>
            <a:ext cx="335249" cy="222040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TextBox 2113"/>
          <p:cNvSpPr txBox="1"/>
          <p:nvPr/>
        </p:nvSpPr>
        <p:spPr>
          <a:xfrm>
            <a:off x="5724366" y="599395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6.9M</a:t>
            </a:r>
          </a:p>
        </p:txBody>
      </p:sp>
      <p:sp>
        <p:nvSpPr>
          <p:cNvPr id="2115" name="TextBox 2114"/>
          <p:cNvSpPr txBox="1"/>
          <p:nvPr/>
        </p:nvSpPr>
        <p:spPr>
          <a:xfrm>
            <a:off x="5724366" y="609499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29件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1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 + 战略合作合计贡献批核 APE 74.5%，但模式迥异：姜通件均 APE≈36万 为「大单驱动型」；战略合作 119件 为「流量驱动型」。头部集中度高，需差异化管理策略。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2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>
            <p:custDataLst>
              <p:tags r:id="rId13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4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5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Mark批核率 100%（批核 13.3M，未批核 0.0M），件质量最高。姜通未批核量最大（37.3M），批核率 76%，需优先排查件质量问题。头部推荐人质量差异显著，需差异化对接策略。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6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7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18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19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0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1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2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3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/>
              </a:rPr>
              <a:t>159件  |  件均37.0万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4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5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6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7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/>
              </a:rPr>
              <a:t>38件  |  件均41.2万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28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8.93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0.57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280.49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699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58.89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159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15.66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38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355.03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896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0"/>
          <p:cNvGraphicFramePr/>
          <p:nvPr>
            <p:custDataLst>
              <p:tags r:id="rId2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7" name="Chart 1"/>
          <p:cNvGraphicFramePr/>
          <p:nvPr>
            <p:custDataLst>
              <p:tags r:id="rId30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16.73M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43件| 件均38.9W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29件| 件均36.4W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6.17M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23件| 件均26.8W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8.54M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5.01M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0.45M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2.46M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2.40M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0.82M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1.90M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0.70M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1.31M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0.29M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0.96M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裕承资产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0.55M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16.73M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10.55M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6.17M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同行批核 6.17M，签单 10.55M，预约 16.73M。签单前端尚在蓄力，预约 16.7M 为节后水平，需密切跟踪后续周次是否回升。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21.06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22.76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40.20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126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43.43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129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39.30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97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37.71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91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265.14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753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249.79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717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280.49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699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3 月同行预约 4020 万，环比 +90.9%，前端显著回暖。3 月签单 4343 万，预约-签单缺口反映大量前端件仍处「待结」状态，需密切跟进 4 月转化节奏。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/>
        </p:txBody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预约：Q1 民生 21.3M，平安 14.8M。签单：4 月民生 5.77M，平安 2.73M，3 月末积压件持续转化，Q2 批核弹药充足。需关注 4 月预约动能的及时修复。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/>
          <a:p/>
        </p:txBody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BK 业务 YTD 批核 227.6M 达成 113.8%；未批核 28.6M 构成 Q2 储量；待签 0.0M。目标 200M 已完成大半，需修复前端预约动能。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 113.8%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-27.6M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W28预约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/>
              </a:rPr>
              <a:t>2.73M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4件 | 件均68.2W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W28签单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/>
              </a:rPr>
              <a:t>4.29M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7件 | 件均61.3W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W28批核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0件 | 件均0W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W01–W28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银行 W28：民生 + 平安合计 签单 4.29M/7件、批核 0.00M/0件、预约 2.73M/4件。未批核 28.6M（37件）是 Q2 批核的核心储量。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W08 批核峰值 46.9M 为全年迄今最高单周，由民生大额集中放款驱动，非可持续常态。W11 批核 36.0M 为第二峰，显示积压件的波动性清转模式。近期批核节奏已回落至正常区间。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民生广州分行 以 44.1M 居榜首，民生南京分行 37.1M 紧随。前四行合计 130.1M，占 BK 总批核 57%，头部集中度显著，大额单效率突出。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3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古月唯歌</cp:lastModifiedBy>
  <cp:revision>67</cp:revision>
  <dcterms:created xsi:type="dcterms:W3CDTF">2026-03-26T15:42:00Z</dcterms:created>
  <dcterms:modified xsi:type="dcterms:W3CDTF">2026-07-27T09:48:24Z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2052-12.1.0.26895</vt:lpwstr>
  </property>
</Properties>
</file>