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9"/>
    <p:sldId id="277" r:id="rId20"/>
    <p:sldId id="278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10.64</c:v>
                </c:pt>
                <c:pt idx="1">
                  <c:v>6.65</c:v>
                </c:pt>
                <c:pt idx="2">
                  <c:v>0.03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0.00</c:v>
                </c:pt>
                <c:pt idx="13">
                  <c:v>0.00</c:v>
                </c:pt>
                <c:pt idx="14">
                  <c:v>0.00</c:v>
                </c:pt>
                <c:pt idx="15">
                  <c:v>0.00</c:v>
                </c:pt>
                <c:pt idx="16">
                  <c:v>0.00</c:v>
                </c:pt>
                <c:pt idx="17">
                  <c:v>0.47</c:v>
                </c:pt>
                <c:pt idx="18">
                  <c:v>22.67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0.00</c:v>
                </c:pt>
                <c:pt idx="13">
                  <c:v>0.00</c:v>
                </c:pt>
                <c:pt idx="14">
                  <c:v>0.00</c:v>
                </c:pt>
                <c:pt idx="15">
                  <c:v>0.00</c:v>
                </c:pt>
                <c:pt idx="16">
                  <c:v>0.00</c:v>
                </c:pt>
                <c:pt idx="17">
                  <c:v>0.00</c:v>
                </c:pt>
                <c:pt idx="18">
                  <c:v>23.14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0.00</c:v>
                </c:pt>
                <c:pt idx="13">
                  <c:v>0.00</c:v>
                </c:pt>
                <c:pt idx="14">
                  <c:v>0.00</c:v>
                </c:pt>
                <c:pt idx="15">
                  <c:v>0.00</c:v>
                </c:pt>
                <c:pt idx="16">
                  <c:v>0.00</c:v>
                </c:pt>
                <c:pt idx="17">
                  <c:v>0.00</c:v>
                </c:pt>
                <c:pt idx="18">
                  <c:v>0.00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0.00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0.5M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22.7M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0.47</c:v>
                </c:pt>
                <c:pt idx="6">
                  <c:v>22.67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0.0M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23.1M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23.14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0.0M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0.00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0.47</c:v>
                </c:pt>
                <c:pt idx="6">
                  <c:v>12.82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13.29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0.00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0.4680</c:v>
                </c:pt>
                <c:pt idx="6">
                  <c:v>5.9500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6.4180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5.0700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5.0700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1.5210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1.5210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4.0472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4.0472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0.0278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0.0278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17.32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5.0700</c:v>
                </c:pt>
                <c:pt idx="1">
                  <c:v>4.0500</c:v>
                </c:pt>
                <c:pt idx="2">
                  <c:v>1.5200</c:v>
                </c:pt>
                <c:pt idx="3">
                  <c:v>6.4200</c:v>
                </c:pt>
                <c:pt idx="4">
                  <c:v>0.0000</c:v>
                </c:pt>
                <c:pt idx="5">
                  <c:v>0.2300</c:v>
                </c:pt>
                <c:pt idx="6">
                  <c:v>0.0300</c:v>
                </c:pt>
                <c:pt idx="7">
                  <c:v>0.0000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194.9300</c:v>
                </c:pt>
                <c:pt idx="1">
                  <c:v>335.9500</c:v>
                </c:pt>
                <c:pt idx="2">
                  <c:v>158.4800</c:v>
                </c:pt>
                <c:pt idx="3">
                  <c:v>186.5800</c:v>
                </c:pt>
                <c:pt idx="4">
                  <c:v>52.0000</c:v>
                </c:pt>
                <c:pt idx="5">
                  <c:v>69.7700</c:v>
                </c:pt>
                <c:pt idx="6">
                  <c:v>72.9700</c:v>
                </c:pt>
                <c:pt idx="7">
                  <c:v>25.0000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2.61</c:v>
                </c:pt>
                <c:pt idx="26">
                  <c:v>12.32</c:v>
                </c:pt>
                <c:pt idx="27">
                  <c:v>8.21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2.12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0.43</c:v>
                </c:pt>
                <c:pt idx="27">
                  <c:v>11.65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战略合作</c:v>
                </c:pt>
                <c:pt idx="1">
                  <c:v>Mark</c:v>
                </c:pt>
                <c:pt idx="2">
                  <c:v>姜通</c:v>
                </c:pt>
                <c:pt idx="3">
                  <c:v>高瑶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战略合作</c:v>
                </c:pt>
                <c:pt idx="1">
                  <c:v>Mark</c:v>
                </c:pt>
                <c:pt idx="2">
                  <c:v>姜通</c:v>
                </c:pt>
                <c:pt idx="3">
                  <c:v>高瑶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</c:v>
                </c:pt>
                <c:pt idx="1">
                  <c:v>0.0</c:v>
                </c:pt>
                <c:pt idx="2">
                  <c:v>7.1</c:v>
                </c:pt>
                <c:pt idx="3">
                  <c:v>0.0</c:v>
                </c:pt>
                <c:pt idx="4">
                  <c:v>3.47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战略合作</c:v>
                </c:pt>
                <c:pt idx="1">
                  <c:v>Mark</c:v>
                </c:pt>
                <c:pt idx="2">
                  <c:v>姜通</c:v>
                </c:pt>
                <c:pt idx="3">
                  <c:v>高瑶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唯思</c:v>
                </c:pt>
                <c:pt idx="1">
                  <c:v>卓樾会</c:v>
                </c:pt>
                <c:pt idx="2">
                  <c:v>动力势能</c:v>
                </c:pt>
                <c:pt idx="3">
                  <c:v>利泰丰</c:v>
                </c:pt>
                <c:pt idx="4">
                  <c:v>共享经纪</c:v>
                </c:pt>
                <c:pt idx="5">
                  <c:v>众安国际</c:v>
                </c:pt>
                <c:pt idx="6">
                  <c:v>企鹅保险</c:v>
                </c:pt>
                <c:pt idx="7">
                  <c:v>中天家办</c:v>
                </c:pt>
                <c:pt idx="8">
                  <c:v>万森保险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唯思</c:v>
                </c:pt>
                <c:pt idx="1">
                  <c:v>卓樾会</c:v>
                </c:pt>
                <c:pt idx="2">
                  <c:v>动力势能</c:v>
                </c:pt>
                <c:pt idx="3">
                  <c:v>利泰丰</c:v>
                </c:pt>
                <c:pt idx="4">
                  <c:v>共享经纪</c:v>
                </c:pt>
                <c:pt idx="5">
                  <c:v>众安国际</c:v>
                </c:pt>
                <c:pt idx="6">
                  <c:v>企鹅保险</c:v>
                </c:pt>
                <c:pt idx="7">
                  <c:v>中天家办</c:v>
                </c:pt>
                <c:pt idx="8">
                  <c:v>万森保险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0.7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0.23</c:v>
                </c:pt>
                <c:pt idx="7">
                  <c:v>2.42</c:v>
                </c:pt>
                <c:pt idx="8">
                  <c:v>0.0</c:v>
                </c:pt>
                <c:pt idx="9">
                  <c:v>0.23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唯思</c:v>
                </c:pt>
                <c:pt idx="1">
                  <c:v>卓樾会</c:v>
                </c:pt>
                <c:pt idx="2">
                  <c:v>动力势能</c:v>
                </c:pt>
                <c:pt idx="3">
                  <c:v>利泰丰</c:v>
                </c:pt>
                <c:pt idx="4">
                  <c:v>共享经纪</c:v>
                </c:pt>
                <c:pt idx="5">
                  <c:v>众安国际</c:v>
                </c:pt>
                <c:pt idx="6">
                  <c:v>企鹅保险</c:v>
                </c:pt>
                <c:pt idx="7">
                  <c:v>中天家办</c:v>
                </c:pt>
                <c:pt idx="8">
                  <c:v>万森保险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2.83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0.02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0.78M/7件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0.78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0.78M/7件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0.78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1.79M/3件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0.78M/1件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4.29</c:v>
                </c:pt>
                <c:pt idx="1">
                  <c:v>0.78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0.0</c:v>
                </c:pt>
                <c:pt idx="1">
                  <c:v>200.0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chart" Target="../charts/chart21.xml"/><Relationship Id="rId33" Type="http://schemas.openxmlformats.org/officeDocument/2006/relationships/chart" Target="../charts/chart22.xml"/><Relationship Id="rId34" Type="http://schemas.openxmlformats.org/officeDocument/2006/relationships/chart" Target="../charts/chart23.xml"/><Relationship Id="rId35" Type="http://schemas.openxmlformats.org/officeDocument/2006/relationships/tags" Target="../tags/tag84.xml"/><Relationship Id="rId36" Type="http://schemas.openxmlformats.org/officeDocument/2006/relationships/chart" Target="../charts/chart24.xml"/><Relationship Id="rId37" Type="http://schemas.openxmlformats.org/officeDocument/2006/relationships/chart" Target="../charts/chart25.xml"/><Relationship Id="rId38" Type="http://schemas.openxmlformats.org/officeDocument/2006/relationships/tags" Target="../tags/tag85.xml"/><Relationship Id="rId39" Type="http://schemas.openxmlformats.org/officeDocument/2006/relationships/tags" Target="../tags/tag86.xml"/><Relationship Id="rId40" Type="http://schemas.openxmlformats.org/officeDocument/2006/relationships/tags" Target="../tags/tag87.xml"/><Relationship Id="rId41" Type="http://schemas.openxmlformats.org/officeDocument/2006/relationships/tags" Target="../tags/tag88.xml"/><Relationship Id="rId42" Type="http://schemas.openxmlformats.org/officeDocument/2006/relationships/tags" Target="../tags/tag89.xml"/><Relationship Id="rId43" Type="http://schemas.openxmlformats.org/officeDocument/2006/relationships/tags" Target="../tags/tag90.xml"/><Relationship Id="rId44" Type="http://schemas.openxmlformats.org/officeDocument/2006/relationships/tags" Target="../tags/tag91.xml"/><Relationship Id="rId45" Type="http://schemas.openxmlformats.org/officeDocument/2006/relationships/tags" Target="../tags/tag92.xml"/><Relationship Id="rId46" Type="http://schemas.openxmlformats.org/officeDocument/2006/relationships/tags" Target="../tags/tag93.xml"/><Relationship Id="rId47" Type="http://schemas.openxmlformats.org/officeDocument/2006/relationships/tags" Target="../tags/tag94.xml"/><Relationship Id="rId48" Type="http://schemas.openxmlformats.org/officeDocument/2006/relationships/tags" Target="../tags/tag95.xml"/><Relationship Id="rId49" Type="http://schemas.openxmlformats.org/officeDocument/2006/relationships/tags" Target="../tags/tag96.xml"/><Relationship Id="rId50" Type="http://schemas.openxmlformats.org/officeDocument/2006/relationships/tags" Target="../tags/tag97.xml"/><Relationship Id="rId51" Type="http://schemas.openxmlformats.org/officeDocument/2006/relationships/tags" Target="../tags/tag98.xml"/><Relationship Id="rId52" Type="http://schemas.openxmlformats.org/officeDocument/2006/relationships/tags" Target="../tags/tag99.xml"/><Relationship Id="rId53" Type="http://schemas.openxmlformats.org/officeDocument/2006/relationships/tags" Target="../tags/tag100.xml"/><Relationship Id="rId54" Type="http://schemas.openxmlformats.org/officeDocument/2006/relationships/tags" Target="../tags/tag101.xml"/><Relationship Id="rId55" Type="http://schemas.openxmlformats.org/officeDocument/2006/relationships/tags" Target="../tags/tag102.xml"/><Relationship Id="rId56" Type="http://schemas.openxmlformats.org/officeDocument/2006/relationships/tags" Target="../tags/tag103.xml"/><Relationship Id="rId57" Type="http://schemas.openxmlformats.org/officeDocument/2006/relationships/image" Target="../media/image13.png"/><Relationship Id="rId58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-1113M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0M / 剩余缺口 1113M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0M / 剩余缺口 976M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0.0M，达成率 0.0%，全年目标 1113M 缺口约 1113M。3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0.0%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100.0%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0.0%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0.0%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未批核（17.3M，170 件）与待签（0.0M，21 件）合计 17.3M 在管道中，占批核 APE 的 0%。若能快速推进至生效，可直接拉升达成率逾 2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307.7M 占全渠道 87.8%，是唯一业绩主力；未批核 145.9M 融资率较高，是最大转化机会。代理人（批核 25.9M）与 KA（批核 16.9M）体量极小，需明确各渠道扩量优先级</a:t>
            </a: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呈现存量驱动特征，1月批核峰值 0.0M 为全年迄今最高。3 月预约/签单同步走强，前端动能复苏。7月初已批核 0.0M，节后启动正常，后续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22.7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0.0 万低于 2 月 0.0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-8319108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185.5M/月（剩余 1113M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100.0%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185.5M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0.0M（达成率 0.0%），完成全年目标 1113M 还需约 1113M，剩余 9 个月月均需 123.7M。若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407299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+4744.6%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349625" y="1534795"/>
            <a:ext cx="1145540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b="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▲ 环比 +4.1%</a:t>
            </a:r>
            <a:endParaRPr lang="zh-CN" sz="1000" b="0" dirty="0">
              <a:solidFill>
                <a:srgbClr val="922B2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4450715" y="3264535"/>
            <a:ext cx="1146175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▼ 环比 −96.2%</a:t>
            </a:r>
            <a:endParaRPr lang="zh-CN" sz="1000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08" name="Ann_QD"/>
          <p:cNvSpPr/>
          <p:nvPr/>
        </p:nvSpPr>
        <p:spPr>
          <a:xfrm>
            <a:off x="3520440" y="3264535"/>
            <a:ext cx="1151255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▲ 环比 +27.0%</a:t>
            </a:r>
            <a:endParaRPr lang="zh-CN" sz="1000" b="0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2872740" y="4720590"/>
            <a:ext cx="1263650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▼ 环比 −95.2%</a:t>
            </a:r>
            <a:endParaRPr lang="zh-CN" sz="1000" b="0" dirty="0">
              <a:solidFill>
                <a:srgbClr val="1A6B3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17" name="Ann_PH"/>
          <p:cNvSpPr/>
          <p:nvPr/>
        </p:nvSpPr>
        <p:spPr>
          <a:xfrm>
            <a:off x="4264025" y="5303520"/>
            <a:ext cx="1276985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▲ 环比 +23.1%</a:t>
            </a:r>
            <a:endParaRPr lang="zh-CN" sz="1000" b="0" dirty="0">
              <a:solidFill>
                <a:srgbClr val="1A6B3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4424680" y="1374775"/>
            <a:ext cx="1066800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</a:t>
            </a: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▲</a:t>
            </a: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环比 </a:t>
            </a:r>
            <a:r>
              <a:rPr lang="en-US" alt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42.5</a:t>
            </a: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%</a:t>
            </a:r>
            <a:endParaRPr lang="zh-CN" sz="1000" dirty="0">
              <a:solidFill>
                <a:srgbClr val="922B2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4478020" y="3264535"/>
            <a:ext cx="106299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▲ 环比 +</a:t>
            </a:r>
            <a:r>
              <a:rPr lang="en-US" alt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32.5</a:t>
            </a:r>
            <a:r>
              <a:rPr 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%</a:t>
            </a:r>
            <a:endParaRPr lang="zh-CN" sz="1000" b="0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1" name="Ann_PH"/>
          <p:cNvSpPr/>
          <p:nvPr/>
        </p:nvSpPr>
        <p:spPr>
          <a:xfrm>
            <a:off x="4227830" y="4941570"/>
            <a:ext cx="1263650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▼ 环比 −</a:t>
            </a:r>
            <a:r>
              <a:rPr lang="en-US" alt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40</a:t>
            </a: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.</a:t>
            </a:r>
            <a:r>
              <a:rPr lang="en-US" alt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3</a:t>
            </a: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%</a:t>
            </a:r>
            <a:endParaRPr lang="zh-CN" sz="1000" b="0" dirty="0">
              <a:solidFill>
                <a:srgbClr val="1A6B3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达成率0.0%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976M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|  缺口679M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13.3M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件均8.3万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件均0.0万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7.5M（162 件），集中度高。头部产品「万年青·卓金保险计划II」贡献 1.9M/45 件，件均 4.3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1.95M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0.78M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4.9万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0.78M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39.0万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0.55M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3.2万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0.47M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0.23M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7.5M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7.8万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3.53M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2.13M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4.69M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8.22M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5.02M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5.07M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0.00M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0.00M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5688940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550934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151762" y="5551258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537166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647817" y="5670614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5413044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1945706" y="5693064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5513472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41381" y="5934092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575450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968896" y="587639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69680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03353" y="5893190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71359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109855" y="6300470"/>
            <a:ext cx="3776345" cy="39624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天领业务达成率 0.0% 领跑全渠道，是唯一接近达标的渠道。IFA业务规模较大（批核 0.0M）但达成率仅 0.0%，是最大战略风险点。IFA业务达成率仅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0.0%  |  剩余缺口 1113M  |  需 6 个月完成 100.0%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天领业务贡献最大批核（0.0M）。已批核 + 在途合计 17.3M，距目标 1113M 仍差 1096M。若未批核 17.3M 与待签 0.0M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−0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1554480"/>
            <a:ext cx="241200" cy="80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−0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1554480"/>
            <a:ext cx="241200" cy="800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1554480"/>
            <a:ext cx="244475" cy="846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−23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1639110"/>
            <a:ext cx="241300" cy="8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1416230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−0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1639110"/>
            <a:ext cx="238760" cy="3985973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141623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1090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1331600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1554480"/>
            <a:ext cx="241200" cy="800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1331600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−0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1554480"/>
            <a:ext cx="241300" cy="800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1331600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1554480"/>
            <a:ext cx="241300" cy="8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1331600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−0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1554480"/>
            <a:ext cx="241300" cy="800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1331600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−0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天领业务：3 月签单 0.0M 居首，前端动能最强。天领业务：2 月批核峰 0.0M 为存量集中放款。各业务线节奏分化明显，需按渠道特征差异化管理。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5.1M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0.0▌5.1▌0.0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4.0M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0.0▌4.0▌0.0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1.5M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0.0▌1.5▌0.0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6.4M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0.0▌6.4▌0.0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0.2M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0.0▌0.2▌0.0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天领业务未批核占比最高（100%），金额达 6.4M，催核优先级最高。其余业务线管道分布相对均衡，需按未批核规模排序推进。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0.0%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23.1M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100.0%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100.0%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23.1M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100.0%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0.0%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23.1M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17.3M 中，批核占 0.0%（0.0M）。剩余 17.3M（未批 17.3M + 待签 0.0M）若转化可直接推高达成率 2+。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天领业务批核 0.0M 已达目标 193M 的 0.0%，是唯一接近达标的业务线。永明经代目标最大（340M）但实际仅 0.0M，缺口 340M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12.1M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0.0M 显著高于预约 17.3M，反映跨周积压存量消化效应。签单累计 17.3M，递交→批核转化效率较高。W26 预约低点 0.5M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签单峰 16.0M 为阶段高点；W01 批核峰 0.0M 为存量集中消化；W27 预约峰 10.8M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环比-33.4%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环比+894.0%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环比+0.0%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6.0M/29件；签单 16.0M/30件；批核 0.0M/24件。未批核 17.3M（170件）是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Molly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丁洁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万城保险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个人转介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ICLUB业务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个人转介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中天家办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企鹅保险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73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众安国际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保险师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198件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2.9M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2.9M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226件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0.0M（占全业务 0.0%），高度集中。Molly 以 0.0M 独占 0.0%，是最核心的单一客户，亦是最大集中风险点。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最高（0万）且平均时效 71.8 天（P90=145 天），是唯一超 SLA=60 天渠道，大额件审核慢是主要风险。天领业务均值 19.7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17.3M/948件。天领业务领跑，累计 6.4M/191件，占比 37%。W27 单周峰值 10.8M/39件，是本季度最高单周贡献。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17.3M/932件。天领业务领跑，累计 6.4M/189件，占比 37%。W28 单周峰值 16.0M/30件，是本季度最高单周贡献。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批核数据暂缺。</a:t>
            </a:r>
            <a:endParaRPr lang="en-US" sz="550" dirty="0"/>
          </a:p>
        </p:txBody>
      </p:sp>
      <p:sp>
        <p:nvSpPr>
          <p:cNvPr id="64" name="R7068"/>
          <p:cNvSpPr/>
          <p:nvPr/>
        </p:nvSpPr>
        <p:spPr>
          <a:xfrm>
            <a:off x="3031168" y="1332670"/>
            <a:ext cx="390000" cy="290000"/>
          </a:xfrm>
          <a:prstGeom prst="rect">
            <a:avLst/>
          </a:prstGeom>
          <a:solidFill>
            <a:srgbClr val="1A7A3F">
              <a:alpha val="2530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2" name="R8050"/>
          <p:cNvSpPr/>
          <p:nvPr/>
        </p:nvSpPr>
        <p:spPr>
          <a:xfrm>
            <a:off x="11446941" y="1072134"/>
            <a:ext cx="390000" cy="290000"/>
          </a:xfrm>
          <a:prstGeom prst="rect">
            <a:avLst/>
          </a:prstGeom>
          <a:solidFill>
            <a:srgbClr val="9BC5AB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395" name="T8053"/>
          <p:cNvSpPr/>
          <p:nvPr/>
        </p:nvSpPr>
        <p:spPr>
          <a:xfrm>
            <a:off x="6254496" y="1362134"/>
            <a:ext cx="502445" cy="29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sz="68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zh-CN" sz="680" dirty="0"/>
          </a:p>
        </p:txBody>
      </p:sp>
      <p:sp>
        <p:nvSpPr>
          <p:cNvPr id="657" name="T6048"/>
          <p:cNvSpPr/>
          <p:nvPr/>
        </p:nvSpPr>
        <p:spPr>
          <a:xfrm>
            <a:off x="494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zh-CN" sz="570" dirty="0"/>
          </a:p>
        </p:txBody>
      </p:sp>
      <p:sp>
        <p:nvSpPr>
          <p:cNvPr id="660" name="T6051"/>
          <p:cNvSpPr/>
          <p:nvPr/>
        </p:nvSpPr>
        <p:spPr>
          <a:xfrm>
            <a:off x="5322239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1.8M</a:t>
            </a:r>
            <a:endParaRPr lang="zh-CN" sz="570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3" name="R6054"/>
          <p:cNvSpPr/>
          <p:nvPr/>
        </p:nvSpPr>
        <p:spPr>
          <a:xfrm>
            <a:off x="659384" y="4441376"/>
            <a:ext cx="390000" cy="290000"/>
          </a:xfrm>
          <a:prstGeom prst="rect">
            <a:avLst/>
          </a:prstGeom>
          <a:solidFill>
            <a:srgbClr val="1A7A3F">
              <a:alpha val="6272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4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5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34" name="Rectangle 933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TextBox 934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0.2M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38" name="Rectangle 93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>
              <a:alpha val="892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TextBox 93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940" name="TextBox 93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1" name="Rectangle 94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TextBox 94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943" name="TextBox 94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951" name="TextBox 950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952" name="Rectangle 951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862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TextBox 952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954" name="TextBox 953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955" name="Rectangle 954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TextBox 955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57" name="TextBox 956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58" name="TextBox 957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959" name="Rectangle 958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TextBox 959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0.0M</a:t>
            </a:r>
          </a:p>
        </p:txBody>
      </p:sp>
      <p:sp>
        <p:nvSpPr>
          <p:cNvPr id="961" name="TextBox 960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963" name="TextBox 962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964" name="Rectangle 963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TextBox 964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0.5M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10.8M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6.0M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76" name="TextBox 975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80" name="TextBox 979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82" name="TextBox 981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83" name="TextBox 982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86" name="TextBox 985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91" name="Rectangle 990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308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TextBox 991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994" name="Rectangle 993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TextBox 994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996" name="TextBox 995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002" name="Rectangle 1001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386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TextBox 1002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005" name="Rectangle 1004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TextBox 1005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007" name="TextBox 1006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08" name="TextBox 1007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09" name="Rectangle 1008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1.5M</a:t>
            </a:r>
          </a:p>
        </p:txBody>
      </p:sp>
      <p:sp>
        <p:nvSpPr>
          <p:cNvPr id="1011" name="TextBox 1010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254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0.0M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020" name="Rectangle 1019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TextBox 1020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0.0M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1.3M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16.0M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30件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推荐人数据待更新。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战略合作批核率 0%（批核 0.0M，未批核 0.7M），件质量最高。姜通未批核量最大（7.1M），批核率 0%，需优先排查件质量问题。头部推荐人质量差异显著，需差异化对接策略。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94件  |  件均5.9万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17件  |  件均0.0万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2.42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0.23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0.70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0.82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0.48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619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5.57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94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5.57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730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件均13.0W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1.68M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万城保险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/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/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/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/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/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/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/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/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0.00M，签单 5.54M，预约 2.73M。签单前端尚在蓄力，预约 2.7M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5.57M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41件 | 件均13.6W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5.57M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 | 件均16.9W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5.57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5.57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5.57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436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5.57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422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0 万，环比 +0.0%，前端显著回暖。3 月签单 0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达成率0.0%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5.1M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|件均13.7W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5.07M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件均36W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5.07M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件均36W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1" name="Shape 19"/>
          <p:cNvSpPr/>
          <p:nvPr>
            <p:custDataLst>
              <p:tags r:id="rId4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4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4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4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4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4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4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4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5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5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5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5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5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5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5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5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件均0.0W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6.65M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件均21.5W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件均0.0W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代理人1月预约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0.00M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件均0.0W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代理人1月签单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0.00M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29件 | 件均0.0W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代理人1月批核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0.00M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34件 | 件均0.0W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0.55M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0.00M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356000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0.55M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0.00M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件均0.0W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0.03M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件均0.3W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96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960000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60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