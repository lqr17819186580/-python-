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9041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media/image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70" r:id="rId8"/>
    <p:sldId id="260" r:id="rId9"/>
    <p:sldId id="271" r:id="rId10"/>
    <p:sldId id="263" r:id="rId11"/>
    <p:sldId id="272" r:id="rId12"/>
    <p:sldId id="274" r:id="rId13"/>
    <p:sldId id="275" r:id="rId14"/>
  </p:sldIdLst>
  <p:sldSz cx="12192000" cy="6858000"/>
  <p:notesSz cx="6858000" cy="12192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B2737"/>
    <a:srgbClr val="6C3483"/>
    <a:srgbClr val="CC4E3F"/>
    <a:srgbClr val="9B2335"/>
    <a:srgbClr val="0D594A"/>
    <a:srgbClr val="0F6957"/>
    <a:srgbClr val="117A65"/>
    <a:srgbClr val="7B241C"/>
    <a:srgbClr val="8B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tags" Target="tags/tag10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3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1"/>
              <c:layout>
                <c:manualLayout>
                  <c:x val="-0.0076754385964912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315789473684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4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  <c:pt idx="3">
                  <c:v>MGA业务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4"/>
                <c:pt idx="0">
                  <c:v>488.74</c:v>
                </c:pt>
                <c:pt idx="1">
                  <c:v>72.17</c:v>
                </c:pt>
                <c:pt idx="2">
                  <c:v>24.87</c:v>
                </c:pt>
                <c:pt idx="3">
                  <c:v>19.38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Lbl>
              <c:idx val="2"/>
              <c:layout>
                <c:manualLayout>
                  <c:x val="0.0043859649122807"/>
                  <c:y val="-0.001937984496124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28947368421053"/>
                      <c:h val="0.0697674418604651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4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  <c:pt idx="3">
                  <c:v>MGA业务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4"/>
                <c:pt idx="0">
                  <c:v>63.54</c:v>
                </c:pt>
                <c:pt idx="1">
                  <c:v>15.45</c:v>
                </c:pt>
                <c:pt idx="2">
                  <c:v>4.39</c:v>
                </c:pt>
                <c:pt idx="3">
                  <c:v>23.97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1"/>
              <c:layout>
                <c:manualLayout>
                  <c:x val="0.0164473684210526"/>
                  <c:y val="-0.0038759689922480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81432748538012"/>
                  <c:y val="0.0012919896640826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08040935672515"/>
                      <c:h val="0.0752583979328165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4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  <c:pt idx="3">
                  <c:v>MGA业务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4"/>
                <c:pt idx="0">
                  <c:v>6.42</c:v>
                </c:pt>
                <c:pt idx="1">
                  <c:v>0.39</c:v>
                </c:pt>
                <c:pt idx="2">
                  <c:v>0.0</c:v>
                </c:pt>
                <c:pt idx="3">
                  <c:v>9.24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6a8ab36-1a2b-4a65-a8dc-7db2cf40693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2794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22.6</c:v>
                </c:pt>
                <c:pt idx="1">
                  <c:v>38.9</c:v>
                </c:pt>
                <c:pt idx="2">
                  <c:v>34.3</c:v>
                </c:pt>
                <c:pt idx="3">
                  <c:v>29.1</c:v>
                </c:pt>
                <c:pt idx="4">
                  <c:v>45.5</c:v>
                </c:pt>
                <c:pt idx="5">
                  <c:v>178.8</c:v>
                </c:pt>
                <c:pt idx="6">
                  <c:v>41.3</c:v>
                </c:pt>
                <c:pt idx="7">
                  <c:v>62.4</c:v>
                </c:pt>
                <c:pt idx="8">
                  <c:v>155.8</c:v>
                </c:pt>
                <c:pt idx="9">
                  <c:v>87.7</c:v>
                </c:pt>
                <c:pt idx="10">
                  <c:v>199.2</c:v>
                </c:pt>
                <c:pt idx="11">
                  <c:v>145.8</c:v>
                </c:pt>
                <c:pt idx="12">
                  <c:v>53.90</c:v>
                </c:pt>
                <c:pt idx="13">
                  <c:v>56.37</c:v>
                </c:pt>
                <c:pt idx="14">
                  <c:v>81.48</c:v>
                </c:pt>
                <c:pt idx="15">
                  <c:v>67.38</c:v>
                </c:pt>
                <c:pt idx="16">
                  <c:v>81.87</c:v>
                </c:pt>
                <c:pt idx="17">
                  <c:v>84.35</c:v>
                </c:pt>
                <c:pt idx="18">
                  <c:v>49.51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2794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25.1</c:v>
                </c:pt>
                <c:pt idx="1">
                  <c:v>37.8</c:v>
                </c:pt>
                <c:pt idx="2">
                  <c:v>36</c:v>
                </c:pt>
                <c:pt idx="3">
                  <c:v>21.1</c:v>
                </c:pt>
                <c:pt idx="4">
                  <c:v>39.6</c:v>
                </c:pt>
                <c:pt idx="5">
                  <c:v>188.7</c:v>
                </c:pt>
                <c:pt idx="6">
                  <c:v>34.3</c:v>
                </c:pt>
                <c:pt idx="7">
                  <c:v>67.7</c:v>
                </c:pt>
                <c:pt idx="8">
                  <c:v>156.2</c:v>
                </c:pt>
                <c:pt idx="9">
                  <c:v>88</c:v>
                </c:pt>
                <c:pt idx="10">
                  <c:v>188.4</c:v>
                </c:pt>
                <c:pt idx="11">
                  <c:v>153.1</c:v>
                </c:pt>
                <c:pt idx="12">
                  <c:v>47.90</c:v>
                </c:pt>
                <c:pt idx="13">
                  <c:v>61.13</c:v>
                </c:pt>
                <c:pt idx="14">
                  <c:v>82.15</c:v>
                </c:pt>
                <c:pt idx="15">
                  <c:v>62.10</c:v>
                </c:pt>
                <c:pt idx="16">
                  <c:v>86.14</c:v>
                </c:pt>
                <c:pt idx="17">
                  <c:v>85.69</c:v>
                </c:pt>
                <c:pt idx="18">
                  <c:v>39.17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27940" cap="flat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41.4</c:v>
                </c:pt>
                <c:pt idx="1">
                  <c:v>21.7</c:v>
                </c:pt>
                <c:pt idx="2">
                  <c:v>35.5</c:v>
                </c:pt>
                <c:pt idx="3">
                  <c:v>27.5</c:v>
                </c:pt>
                <c:pt idx="4">
                  <c:v>28.6</c:v>
                </c:pt>
                <c:pt idx="5">
                  <c:v>77</c:v>
                </c:pt>
                <c:pt idx="6">
                  <c:v>102.9</c:v>
                </c:pt>
                <c:pt idx="7">
                  <c:v>44.9</c:v>
                </c:pt>
                <c:pt idx="8">
                  <c:v>61.4</c:v>
                </c:pt>
                <c:pt idx="9">
                  <c:v>93.4</c:v>
                </c:pt>
                <c:pt idx="10">
                  <c:v>38.7</c:v>
                </c:pt>
                <c:pt idx="11">
                  <c:v>43.7</c:v>
                </c:pt>
                <c:pt idx="12">
                  <c:v>116.78</c:v>
                </c:pt>
                <c:pt idx="13">
                  <c:v>143.73</c:v>
                </c:pt>
                <c:pt idx="14">
                  <c:v>85.76</c:v>
                </c:pt>
                <c:pt idx="15">
                  <c:v>91.15</c:v>
                </c:pt>
                <c:pt idx="16">
                  <c:v>72.81</c:v>
                </c:pt>
                <c:pt idx="17">
                  <c:v>62.05</c:v>
                </c:pt>
                <c:pt idx="18">
                  <c:v>32.87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279d99-b91a-40d8-99bc-af3f7ab8993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8598512621766"/>
          <c:y val="0.104184170727609"/>
          <c:w val="0.923096260605426"/>
          <c:h val="0.8123676692992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实际批核 APE(M)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62.05</c:v>
                </c:pt>
                <c:pt idx="6">
                  <c:v>32.87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APE(M)</c:v>
                </c:pt>
              </c:strCache>
            </c:strRef>
          </c:tx>
          <c:spPr>
            <a:solidFill>
              <a:srgbClr val="BDC7D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96.0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9491398-6801-4b1c-8b75-0873e5e58d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预约 APE(M)</c:v>
                </c:pt>
              </c:strCache>
            </c:strRef>
          </c:tx>
          <c:spPr>
            <a:solidFill>
              <a:srgbClr val="8B451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53.9M / 132件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56.4M / 110件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81.5M / 216件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67.4M / 173件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81.9M / 223件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84.3M / 231件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49.5M / 124件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53.90</c:v>
                </c:pt>
                <c:pt idx="1">
                  <c:v>56.37</c:v>
                </c:pt>
                <c:pt idx="2">
                  <c:v>81.48</c:v>
                </c:pt>
                <c:pt idx="3">
                  <c:v>67.38</c:v>
                </c:pt>
                <c:pt idx="4">
                  <c:v>81.87</c:v>
                </c:pt>
                <c:pt idx="5">
                  <c:v>84.35</c:v>
                </c:pt>
                <c:pt idx="6">
                  <c:v>49.51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251b26-8693-4ab6-8b63-0920fe5d477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签单 APE(M)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47.9M / 114件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61.1M / 121件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82.2M / 212件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62.1M / 162件</a:t>
                    </a:r>
                    <a:r>
                      <a:rPr lang="en-US" altLang="zh-CN"/>
                      <a:t/>
                    </a:r>
                    <a:r>
                      <a:rPr altLang="en-US"/>
                      <a:t/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86.1M / 225件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85.7M / 239件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39.2M / 99件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47.90</c:v>
                </c:pt>
                <c:pt idx="1">
                  <c:v>61.13</c:v>
                </c:pt>
                <c:pt idx="2">
                  <c:v>82.15</c:v>
                </c:pt>
                <c:pt idx="3">
                  <c:v>62.10</c:v>
                </c:pt>
                <c:pt idx="4">
                  <c:v>86.14</c:v>
                </c:pt>
                <c:pt idx="5">
                  <c:v>85.69</c:v>
                </c:pt>
                <c:pt idx="6">
                  <c:v>39.17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dec645-e600-4d9a-8260-22cba13a246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116.8M / 203件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143.7M / 180件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85.8M / 143件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91.2M / 192件</a:t>
                    </a:r>
                    <a:r>
                      <a:rPr lang="en-US" altLang="zh-CN"/>
                      <a:t/>
                    </a:r>
                    <a:r>
                      <a:rPr altLang="en-US"/>
                      <a:t/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72.8M / 163件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62.0M / 172件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32.9M / 104件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62.05</c:v>
                </c:pt>
                <c:pt idx="6">
                  <c:v>32.87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5dc3024-979f-4d4f-afef-84b7f5517e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3175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42.32</c:v>
                </c:pt>
                <c:pt idx="1">
                  <c:v>29.72</c:v>
                </c:pt>
                <c:pt idx="2">
                  <c:v>67.26</c:v>
                </c:pt>
                <c:pt idx="3">
                  <c:v>46.32</c:v>
                </c:pt>
                <c:pt idx="4">
                  <c:v>61.63</c:v>
                </c:pt>
                <c:pt idx="5">
                  <c:v>62.73</c:v>
                </c:pt>
                <c:pt idx="6">
                  <c:v>27.03</c:v>
                </c:pt>
                <c:pt idx="7">
                  <c:v>0.00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3175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8"/>
                <c:pt idx="0">
                  <c:v>36.68</c:v>
                </c:pt>
                <c:pt idx="1">
                  <c:v>34.27</c:v>
                </c:pt>
                <c:pt idx="2">
                  <c:v>67.78</c:v>
                </c:pt>
                <c:pt idx="3">
                  <c:v>47.25</c:v>
                </c:pt>
                <c:pt idx="4">
                  <c:v>61.27</c:v>
                </c:pt>
                <c:pt idx="5">
                  <c:v>64.36</c:v>
                </c:pt>
                <c:pt idx="6">
                  <c:v>24.22</c:v>
                </c:pt>
                <c:pt idx="7">
                  <c:v>0.00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8"/>
                <c:pt idx="0">
                  <c:v>86.18</c:v>
                </c:pt>
                <c:pt idx="1">
                  <c:v>124.06</c:v>
                </c:pt>
                <c:pt idx="2">
                  <c:v>81.03</c:v>
                </c:pt>
                <c:pt idx="3">
                  <c:v>85.90</c:v>
                </c:pt>
                <c:pt idx="4">
                  <c:v>56.85</c:v>
                </c:pt>
                <c:pt idx="5">
                  <c:v>48.49</c:v>
                </c:pt>
                <c:pt idx="6">
                  <c:v>29.10</c:v>
                </c:pt>
                <c:pt idx="7">
                  <c:v>0.00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0b552af-4141-4fc5-9f8d-3ff1cddacd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6.6740</c:v>
                </c:pt>
                <c:pt idx="1">
                  <c:v>9.7305</c:v>
                </c:pt>
                <c:pt idx="2">
                  <c:v>13.3508</c:v>
                </c:pt>
                <c:pt idx="3">
                  <c:v>8.8521</c:v>
                </c:pt>
                <c:pt idx="4">
                  <c:v>20.9667</c:v>
                </c:pt>
                <c:pt idx="5">
                  <c:v>6.4338</c:v>
                </c:pt>
                <c:pt idx="6">
                  <c:v>6.3400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4.9580</c:v>
                </c:pt>
                <c:pt idx="1">
                  <c:v>11.2125</c:v>
                </c:pt>
                <c:pt idx="2">
                  <c:v>12.1301</c:v>
                </c:pt>
                <c:pt idx="3">
                  <c:v>9.9324</c:v>
                </c:pt>
                <c:pt idx="4">
                  <c:v>19.8732</c:v>
                </c:pt>
                <c:pt idx="5">
                  <c:v>7.2777</c:v>
                </c:pt>
                <c:pt idx="6">
                  <c:v>6.5740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6.7618</c:v>
                </c:pt>
                <c:pt idx="1">
                  <c:v>10.5184</c:v>
                </c:pt>
                <c:pt idx="2">
                  <c:v>6.2942</c:v>
                </c:pt>
                <c:pt idx="3">
                  <c:v>16.6020</c:v>
                </c:pt>
                <c:pt idx="4">
                  <c:v>6.0226</c:v>
                </c:pt>
                <c:pt idx="5">
                  <c:v>17.1128</c:v>
                </c:pt>
                <c:pt idx="6">
                  <c:v>1.1415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282501"/>
        <c:axId val="82282502"/>
      </c:lineChart>
      <c:catAx>
        <c:axId val="822825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2"/>
        <c:crosses val="autoZero"/>
        <c:auto val="1"/>
        <c:lblAlgn val="ctr"/>
        <c:lblOffset val="100"/>
        <c:noMultiLvlLbl val="1"/>
      </c:catAx>
      <c:valAx>
        <c:axId val="822825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43087c-415b-4fc4-a17e-53adbba72ec9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1.0230</c:v>
                </c:pt>
                <c:pt idx="1">
                  <c:v>0.3900</c:v>
                </c:pt>
                <c:pt idx="2">
                  <c:v>0.3120</c:v>
                </c:pt>
                <c:pt idx="3">
                  <c:v>2.6315</c:v>
                </c:pt>
                <c:pt idx="4">
                  <c:v>2.2350</c:v>
                </c:pt>
                <c:pt idx="5">
                  <c:v>0.8190</c:v>
                </c:pt>
                <c:pt idx="6">
                  <c:v>0.2340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1.0230</c:v>
                </c:pt>
                <c:pt idx="1">
                  <c:v>0.3900</c:v>
                </c:pt>
                <c:pt idx="2">
                  <c:v>0.3120</c:v>
                </c:pt>
                <c:pt idx="3">
                  <c:v>1.8935</c:v>
                </c:pt>
                <c:pt idx="4">
                  <c:v>2.9730</c:v>
                </c:pt>
                <c:pt idx="5">
                  <c:v>0.8190</c:v>
                </c:pt>
                <c:pt idx="6">
                  <c:v>0.2340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1.3447</c:v>
                </c:pt>
                <c:pt idx="1">
                  <c:v>0.3900</c:v>
                </c:pt>
                <c:pt idx="2">
                  <c:v>0.4680</c:v>
                </c:pt>
                <c:pt idx="3">
                  <c:v>1.6926</c:v>
                </c:pt>
                <c:pt idx="4">
                  <c:v>2.6070</c:v>
                </c:pt>
                <c:pt idx="5">
                  <c:v>0.4770</c:v>
                </c:pt>
                <c:pt idx="6">
                  <c:v>0.7410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510401"/>
        <c:axId val="82510402"/>
      </c:lineChart>
      <c:catAx>
        <c:axId val="8251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2"/>
        <c:crosses val="autoZero"/>
        <c:auto val="1"/>
        <c:lblAlgn val="ctr"/>
        <c:lblOffset val="100"/>
        <c:noMultiLvlLbl val="1"/>
      </c:catAx>
      <c:valAx>
        <c:axId val="8251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914a25b-3f80-4275-962b-bd972c75c97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13.8622</c:v>
                </c:pt>
                <c:pt idx="1">
                  <c:v>7.3632</c:v>
                </c:pt>
                <c:pt idx="2">
                  <c:v>14.8200</c:v>
                </c:pt>
                <c:pt idx="3">
                  <c:v>7.3320</c:v>
                </c:pt>
                <c:pt idx="4">
                  <c:v>6.8640</c:v>
                </c:pt>
                <c:pt idx="5">
                  <c:v>9.2742</c:v>
                </c:pt>
                <c:pt idx="6">
                  <c:v>8.9700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17.1382</c:v>
                </c:pt>
                <c:pt idx="1">
                  <c:v>8.3772</c:v>
                </c:pt>
                <c:pt idx="2">
                  <c:v>13.2600</c:v>
                </c:pt>
                <c:pt idx="3">
                  <c:v>8.5020</c:v>
                </c:pt>
                <c:pt idx="4">
                  <c:v>6.8640</c:v>
                </c:pt>
                <c:pt idx="5">
                  <c:v>10.4442</c:v>
                </c:pt>
                <c:pt idx="6">
                  <c:v>8.9700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18.2598</c:v>
                </c:pt>
                <c:pt idx="1">
                  <c:v>93.9401</c:v>
                </c:pt>
                <c:pt idx="2">
                  <c:v>58.6997</c:v>
                </c:pt>
                <c:pt idx="3">
                  <c:v>27.2220</c:v>
                </c:pt>
                <c:pt idx="4">
                  <c:v>21.7036</c:v>
                </c:pt>
                <c:pt idx="5">
                  <c:v>6.2400</c:v>
                </c:pt>
                <c:pt idx="6">
                  <c:v>1.5600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6601"/>
        <c:axId val="86602"/>
      </c:lineChart>
      <c:catAx>
        <c:axId val="86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2"/>
        <c:crosses val="autoZero"/>
        <c:auto val="1"/>
        <c:lblAlgn val="ctr"/>
        <c:lblOffset val="100"/>
        <c:noMultiLvlLbl val="1"/>
      </c:catAx>
      <c:valAx>
        <c:axId val="86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5b30b2d-c004-4cc1-a046-98d8cdcaee1c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6.1763</c:v>
                </c:pt>
                <c:pt idx="1">
                  <c:v>3.9852</c:v>
                </c:pt>
                <c:pt idx="2">
                  <c:v>13.5372</c:v>
                </c:pt>
                <c:pt idx="3">
                  <c:v>16.8389</c:v>
                </c:pt>
                <c:pt idx="4">
                  <c:v>16.8841</c:v>
                </c:pt>
                <c:pt idx="5">
                  <c:v>23.3036</c:v>
                </c:pt>
                <c:pt idx="6">
                  <c:v>6.5540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2.5883</c:v>
                </c:pt>
                <c:pt idx="1">
                  <c:v>6.5592</c:v>
                </c:pt>
                <c:pt idx="2">
                  <c:v>13.9272</c:v>
                </c:pt>
                <c:pt idx="3">
                  <c:v>16.1215</c:v>
                </c:pt>
                <c:pt idx="4">
                  <c:v>17.2306</c:v>
                </c:pt>
                <c:pt idx="5">
                  <c:v>21.9951</c:v>
                </c:pt>
                <c:pt idx="6">
                  <c:v>5.3989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41.7944</c:v>
                </c:pt>
                <c:pt idx="1">
                  <c:v>5.6723</c:v>
                </c:pt>
                <c:pt idx="2">
                  <c:v>4.4310</c:v>
                </c:pt>
                <c:pt idx="3">
                  <c:v>12.8148</c:v>
                </c:pt>
                <c:pt idx="4">
                  <c:v>21.1993</c:v>
                </c:pt>
                <c:pt idx="5">
                  <c:v>17.4175</c:v>
                </c:pt>
                <c:pt idx="6">
                  <c:v>6.5766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601"/>
        <c:axId val="82151602"/>
      </c:lineChart>
      <c:catAx>
        <c:axId val="82151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2"/>
        <c:crosses val="autoZero"/>
        <c:auto val="1"/>
        <c:lblAlgn val="ctr"/>
        <c:lblOffset val="100"/>
        <c:noMultiLvlLbl val="1"/>
      </c:catAx>
      <c:valAx>
        <c:axId val="82151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3516c40-ccd4-4b1d-8f3c-fe1cd0f34671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17.0096</c:v>
                </c:pt>
                <c:pt idx="1">
                  <c:v>16.0597</c:v>
                </c:pt>
                <c:pt idx="2">
                  <c:v>24.7618</c:v>
                </c:pt>
                <c:pt idx="3">
                  <c:v>15.6775</c:v>
                </c:pt>
                <c:pt idx="4">
                  <c:v>19.7349</c:v>
                </c:pt>
                <c:pt idx="5">
                  <c:v>22.9566</c:v>
                </c:pt>
                <c:pt idx="6">
                  <c:v>9.0844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13.7444</c:v>
                </c:pt>
                <c:pt idx="1">
                  <c:v>15.1831</c:v>
                </c:pt>
                <c:pt idx="2">
                  <c:v>27.6061</c:v>
                </c:pt>
                <c:pt idx="3">
                  <c:v>14.7969</c:v>
                </c:pt>
                <c:pt idx="4">
                  <c:v>20.3780</c:v>
                </c:pt>
                <c:pt idx="5">
                  <c:v>23.8791</c:v>
                </c:pt>
                <c:pt idx="6">
                  <c:v>7.0402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45.9626</c:v>
                </c:pt>
                <c:pt idx="1">
                  <c:v>20.3124</c:v>
                </c:pt>
                <c:pt idx="2">
                  <c:v>13.5305</c:v>
                </c:pt>
                <c:pt idx="3">
                  <c:v>28.8356</c:v>
                </c:pt>
                <c:pt idx="4">
                  <c:v>10.8491</c:v>
                </c:pt>
                <c:pt idx="5">
                  <c:v>12.4729</c:v>
                </c:pt>
                <c:pt idx="6">
                  <c:v>19.2417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770401"/>
        <c:axId val="82770402"/>
      </c:lineChart>
      <c:catAx>
        <c:axId val="8277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2"/>
        <c:crosses val="autoZero"/>
        <c:auto val="1"/>
        <c:lblAlgn val="ctr"/>
        <c:lblOffset val="100"/>
        <c:noMultiLvlLbl val="1"/>
      </c:catAx>
      <c:valAx>
        <c:axId val="8277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810f2af-9c7c-41f8-a26d-4e4109e73045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0.4368</c:v>
                </c:pt>
                <c:pt idx="1">
                  <c:v>0.0798</c:v>
                </c:pt>
                <c:pt idx="2">
                  <c:v>1.9639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0.0898</c:v>
                </c:pt>
                <c:pt idx="1">
                  <c:v>0.4368</c:v>
                </c:pt>
                <c:pt idx="2">
                  <c:v>2.0437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0.5802</c:v>
                </c:pt>
                <c:pt idx="1">
                  <c:v>0.8970</c:v>
                </c:pt>
                <c:pt idx="2">
                  <c:v>0.3355</c:v>
                </c:pt>
                <c:pt idx="3">
                  <c:v>1.7550</c:v>
                </c:pt>
                <c:pt idx="4">
                  <c:v>0.5743</c:v>
                </c:pt>
                <c:pt idx="5">
                  <c:v>0.0000</c:v>
                </c:pt>
                <c:pt idx="6">
                  <c:v>0.3239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201"/>
        <c:axId val="82151202"/>
      </c:lineChart>
      <c:catAx>
        <c:axId val="82151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2"/>
        <c:crosses val="autoZero"/>
        <c:auto val="1"/>
        <c:lblAlgn val="ctr"/>
        <c:lblOffset val="100"/>
        <c:noMultiLvlLbl val="1"/>
      </c:catAx>
      <c:valAx>
        <c:axId val="821512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da179a0-edd7-4fc5-8553-973b2140e5e7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0.0000</c:v>
                </c:pt>
                <c:pt idx="1">
                  <c:v>1.0140</c:v>
                </c:pt>
                <c:pt idx="2">
                  <c:v>1.9005</c:v>
                </c:pt>
                <c:pt idx="3">
                  <c:v>6.7885</c:v>
                </c:pt>
                <c:pt idx="4">
                  <c:v>11.2611</c:v>
                </c:pt>
                <c:pt idx="5">
                  <c:v>13.8249</c:v>
                </c:pt>
                <c:pt idx="6">
                  <c:v>17.7919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0.0000</c:v>
                </c:pt>
                <c:pt idx="1">
                  <c:v>1.0140</c:v>
                </c:pt>
                <c:pt idx="2">
                  <c:v>1.9005</c:v>
                </c:pt>
                <c:pt idx="3">
                  <c:v>6.7885</c:v>
                </c:pt>
                <c:pt idx="4">
                  <c:v>10.2861</c:v>
                </c:pt>
                <c:pt idx="5">
                  <c:v>12.9396</c:v>
                </c:pt>
                <c:pt idx="6">
                  <c:v>10.4164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1.4980</c:v>
                </c:pt>
                <c:pt idx="3">
                  <c:v>2.2294</c:v>
                </c:pt>
                <c:pt idx="4">
                  <c:v>4.0297</c:v>
                </c:pt>
                <c:pt idx="5">
                  <c:v>8.3324</c:v>
                </c:pt>
                <c:pt idx="6">
                  <c:v>3.2884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Pos val="outEnd"/>
          </c:dLbls>
          <c:cat>
            <c:strRef>
              <c:f>Sheet1!$A$2:$A$4</c:f>
              <c:strCache>
                <c:ptCount val="3"/>
                <c:pt idx="0">
                  <c:v>已批核</c:v>
                </c:pt>
                <c:pt idx="1">
                  <c:v>未批核</c:v>
                </c:pt>
                <c:pt idx="2">
                  <c:v>待签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605.16</c:v>
                </c:pt>
                <c:pt idx="1">
                  <c:v>107.35</c:v>
                </c:pt>
                <c:pt idx="2">
                  <c:v>16.05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926430517711"/>
          <c:y val="0.0733187040144572"/>
          <c:w val="0.838709128065395"/>
          <c:h val="0.8662449980637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已批核 APE(M)</c:v>
                </c:pt>
              </c:strCache>
            </c:strRef>
          </c:tx>
          <c:spPr>
            <a:solidFill>
              <a:srgbClr val="1A7A3F"/>
            </a:solidFill>
            <a:effectLst/>
          </c:spPr>
          <c:invertIfNegative val="0"/>
          <c:dLbls>
            <c:dLbl>
              <c:idx val="3"/>
              <c:layout>
                <c:manualLayout>
                  <c:x val="-0.00728079874685725"/>
                  <c:y val="0.003713338130547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36444141689373"/>
                      <c:h val="0.0300761585129728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683525516987192"/>
                  <c:y val="-0.001701434735410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14816076294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358636417486077"/>
                  <c:y val="0.001745950342546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79710144927536"/>
                      <c:h val="0.0585710679121434"/>
                    </c:manualLayout>
                  </c15:layout>
                </c:ext>
              </c:extLst>
            </c:dLbl>
            <c:dLbl>
              <c:idx val="7"/>
              <c:layout>
                <c:manualLayout>
                  <c:x val="-0.00809047411918225"/>
                  <c:y val="-0.004037045832343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9"/>
                <c:pt idx="0">
                  <c:v>227.6300</c:v>
                </c:pt>
                <c:pt idx="1">
                  <c:v>151.2100</c:v>
                </c:pt>
                <c:pt idx="2">
                  <c:v>109.9100</c:v>
                </c:pt>
                <c:pt idx="3">
                  <c:v>64.4500</c:v>
                </c:pt>
                <c:pt idx="4">
                  <c:v>20.4000</c:v>
                </c:pt>
                <c:pt idx="5">
                  <c:v>7.7200</c:v>
                </c:pt>
                <c:pt idx="6">
                  <c:v>4.4700</c:v>
                </c:pt>
                <c:pt idx="7">
                  <c:v>0.0000</c:v>
                </c:pt>
                <c:pt idx="8">
                  <c:v>19.3800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EB954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9"/>
                <c:pt idx="0">
                  <c:v>28.6200</c:v>
                </c:pt>
                <c:pt idx="1">
                  <c:v>19.2100</c:v>
                </c:pt>
                <c:pt idx="2">
                  <c:v>15.7100</c:v>
                </c:pt>
                <c:pt idx="3">
                  <c:v>14.5100</c:v>
                </c:pt>
                <c:pt idx="4">
                  <c:v>0.0000</c:v>
                </c:pt>
                <c:pt idx="5">
                  <c:v>0.9400</c:v>
                </c:pt>
                <c:pt idx="6">
                  <c:v>4.3900</c:v>
                </c:pt>
                <c:pt idx="7">
                  <c:v>0.0000</c:v>
                </c:pt>
                <c:pt idx="8">
                  <c:v>23.9700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9"/>
                <c:pt idx="0">
                  <c:v>0.0000</c:v>
                </c:pt>
                <c:pt idx="1">
                  <c:v>2.8100</c:v>
                </c:pt>
                <c:pt idx="2">
                  <c:v>3.6100</c:v>
                </c:pt>
                <c:pt idx="3">
                  <c:v>0.3900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  <c:pt idx="8">
                  <c:v>9.2400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目标缺口 APE(M)</c:v>
                </c:pt>
              </c:strCache>
            </c:strRef>
          </c:tx>
          <c:spPr>
            <a:solidFill>
              <a:srgbClr val="C8C8C8"/>
            </a:solidFill>
            <a:ln w="9525">
              <a:solidFill>
                <a:srgbClr val="999999"/>
              </a:solidFill>
              <a:prstDash val="dash"/>
            </a:ln>
            <a:effectLst/>
          </c:spPr>
          <c:invertIfNegative val="0"/>
          <c:dLbls>
            <c:dLbl>
              <c:idx val="3"/>
              <c:layout>
                <c:manualLayout>
                  <c:x val="-0.000119306107500867"/>
                  <c:y val="0.00648960811451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122805437265101"/>
                  <c:y val="0.001865239689384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699732616834952"/>
                  <c:y val="-0.005198785860741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41887777294476"/>
                      <c:h val="0.0508192828306816"/>
                    </c:manualLayout>
                  </c15:layout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9"/>
                <c:pt idx="0">
                  <c:v>0.0000</c:v>
                </c:pt>
                <c:pt idx="1">
                  <c:v>166.7700</c:v>
                </c:pt>
                <c:pt idx="2">
                  <c:v>30.7700</c:v>
                </c:pt>
                <c:pt idx="3">
                  <c:v>113.6500</c:v>
                </c:pt>
                <c:pt idx="4">
                  <c:v>31.6000</c:v>
                </c:pt>
                <c:pt idx="5">
                  <c:v>61.3400</c:v>
                </c:pt>
                <c:pt idx="6">
                  <c:v>64.1400</c:v>
                </c:pt>
                <c:pt idx="7">
                  <c:v>25.0000</c:v>
                </c:pt>
                <c:pt idx="8">
                  <c:v>0.0000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chemeClr val="tx1">
                      <a:lumMod val="95000"/>
                      <a:lumOff val="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161406025825"/>
          <c:y val="0.012712941774726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f7c81c-81d3-4615-8274-f7afca748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>
              <a:lumMod val="95000"/>
              <a:lumOff val="5000"/>
            </a:schemeClr>
          </a:solidFill>
        </a:defRPr>
      </a:pPr>
    </a:p>
  </c:tx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</c:v>
                </c:pt>
              </c:strCache>
            </c:strRef>
          </c:tx>
          <c:spPr>
            <a:ln w="22860" cap="flat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6.52</c:v>
                </c:pt>
                <c:pt idx="1">
                  <c:v>13.64</c:v>
                </c:pt>
                <c:pt idx="2">
                  <c:v>17.19</c:v>
                </c:pt>
                <c:pt idx="3">
                  <c:v>9.87</c:v>
                </c:pt>
                <c:pt idx="4">
                  <c:v>28.2</c:v>
                </c:pt>
                <c:pt idx="5">
                  <c:v>12.72</c:v>
                </c:pt>
                <c:pt idx="6">
                  <c:v>2.73</c:v>
                </c:pt>
                <c:pt idx="7">
                  <c:v>7.08</c:v>
                </c:pt>
                <c:pt idx="8">
                  <c:v>5.88</c:v>
                </c:pt>
                <c:pt idx="9">
                  <c:v>17.21</c:v>
                </c:pt>
                <c:pt idx="10">
                  <c:v>19.81</c:v>
                </c:pt>
                <c:pt idx="11">
                  <c:v>25.2</c:v>
                </c:pt>
                <c:pt idx="12">
                  <c:v>5.37</c:v>
                </c:pt>
                <c:pt idx="13">
                  <c:v>12.71</c:v>
                </c:pt>
                <c:pt idx="14">
                  <c:v>13.44</c:v>
                </c:pt>
                <c:pt idx="15">
                  <c:v>26.75</c:v>
                </c:pt>
                <c:pt idx="16">
                  <c:v>9.88</c:v>
                </c:pt>
                <c:pt idx="17">
                  <c:v>11.77</c:v>
                </c:pt>
                <c:pt idx="18">
                  <c:v>22.15</c:v>
                </c:pt>
                <c:pt idx="19">
                  <c:v>21.04</c:v>
                </c:pt>
                <c:pt idx="20">
                  <c:v>20.93</c:v>
                </c:pt>
                <c:pt idx="21">
                  <c:v>10.9</c:v>
                </c:pt>
                <c:pt idx="22">
                  <c:v>19.58</c:v>
                </c:pt>
                <c:pt idx="23">
                  <c:v>16.79</c:v>
                </c:pt>
                <c:pt idx="24">
                  <c:v>26.21</c:v>
                </c:pt>
                <c:pt idx="25">
                  <c:v>14.14</c:v>
                </c:pt>
                <c:pt idx="26">
                  <c:v>22.83</c:v>
                </c:pt>
                <c:pt idx="27">
                  <c:v>20.32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</c:v>
                </c:pt>
              </c:strCache>
            </c:strRef>
          </c:tx>
          <c:spPr>
            <a:ln w="2286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2.63</c:v>
                </c:pt>
                <c:pt idx="1">
                  <c:v>10.23</c:v>
                </c:pt>
                <c:pt idx="2">
                  <c:v>12.7</c:v>
                </c:pt>
                <c:pt idx="3">
                  <c:v>11.54</c:v>
                </c:pt>
                <c:pt idx="4">
                  <c:v>31.28</c:v>
                </c:pt>
                <c:pt idx="5">
                  <c:v>12.85</c:v>
                </c:pt>
                <c:pt idx="6">
                  <c:v>3.77</c:v>
                </c:pt>
                <c:pt idx="7">
                  <c:v>7.38</c:v>
                </c:pt>
                <c:pt idx="8">
                  <c:v>4.23</c:v>
                </c:pt>
                <c:pt idx="9">
                  <c:v>11.08</c:v>
                </c:pt>
                <c:pt idx="10">
                  <c:v>18.48</c:v>
                </c:pt>
                <c:pt idx="11">
                  <c:v>26.24</c:v>
                </c:pt>
                <c:pt idx="12">
                  <c:v>15.83</c:v>
                </c:pt>
                <c:pt idx="13">
                  <c:v>6.6</c:v>
                </c:pt>
                <c:pt idx="14">
                  <c:v>14.41</c:v>
                </c:pt>
                <c:pt idx="15">
                  <c:v>18.13</c:v>
                </c:pt>
                <c:pt idx="16">
                  <c:v>16.86</c:v>
                </c:pt>
                <c:pt idx="17">
                  <c:v>13.24</c:v>
                </c:pt>
                <c:pt idx="18">
                  <c:v>20.33</c:v>
                </c:pt>
                <c:pt idx="19">
                  <c:v>14.82</c:v>
                </c:pt>
                <c:pt idx="20">
                  <c:v>32.85</c:v>
                </c:pt>
                <c:pt idx="21">
                  <c:v>11.54</c:v>
                </c:pt>
                <c:pt idx="22">
                  <c:v>12.29</c:v>
                </c:pt>
                <c:pt idx="23">
                  <c:v>18.96</c:v>
                </c:pt>
                <c:pt idx="24">
                  <c:v>26.14</c:v>
                </c:pt>
                <c:pt idx="25">
                  <c:v>19.48</c:v>
                </c:pt>
                <c:pt idx="26">
                  <c:v>10.88</c:v>
                </c:pt>
                <c:pt idx="27">
                  <c:v>21.03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递交</c:v>
                </c:pt>
              </c:strCache>
            </c:strRef>
          </c:tx>
          <c:spPr>
            <a:ln w="22860" cap="flat" cmpd="sng" algn="ctr">
              <a:solidFill>
                <a:srgbClr val="C889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890A"/>
              </a:solidFill>
              <a:ln w="9525" cap="flat" cmpd="sng" algn="ctr">
                <a:solidFill>
                  <a:srgbClr val="C8890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9.96</c:v>
                </c:pt>
                <c:pt idx="1">
                  <c:v>7.8</c:v>
                </c:pt>
                <c:pt idx="2">
                  <c:v>10.95</c:v>
                </c:pt>
                <c:pt idx="3">
                  <c:v>16.19</c:v>
                </c:pt>
                <c:pt idx="4">
                  <c:v>31.58</c:v>
                </c:pt>
                <c:pt idx="5">
                  <c:v>14.36</c:v>
                </c:pt>
                <c:pt idx="6">
                  <c:v>0.0</c:v>
                </c:pt>
                <c:pt idx="7">
                  <c:v>4.01</c:v>
                </c:pt>
                <c:pt idx="8">
                  <c:v>10.9</c:v>
                </c:pt>
                <c:pt idx="9">
                  <c:v>9.83</c:v>
                </c:pt>
                <c:pt idx="10">
                  <c:v>11.17</c:v>
                </c:pt>
                <c:pt idx="11">
                  <c:v>14.23</c:v>
                </c:pt>
                <c:pt idx="12">
                  <c:v>35.99</c:v>
                </c:pt>
                <c:pt idx="13">
                  <c:v>4.16</c:v>
                </c:pt>
                <c:pt idx="14">
                  <c:v>12.33</c:v>
                </c:pt>
                <c:pt idx="15">
                  <c:v>15.45</c:v>
                </c:pt>
                <c:pt idx="16">
                  <c:v>22.93</c:v>
                </c:pt>
                <c:pt idx="17">
                  <c:v>6.79</c:v>
                </c:pt>
                <c:pt idx="18">
                  <c:v>6.94</c:v>
                </c:pt>
                <c:pt idx="19">
                  <c:v>17.48</c:v>
                </c:pt>
                <c:pt idx="20">
                  <c:v>25.31</c:v>
                </c:pt>
                <c:pt idx="21">
                  <c:v>34.41</c:v>
                </c:pt>
                <c:pt idx="22">
                  <c:v>11.12</c:v>
                </c:pt>
                <c:pt idx="23">
                  <c:v>10.26</c:v>
                </c:pt>
                <c:pt idx="24">
                  <c:v>22.82</c:v>
                </c:pt>
                <c:pt idx="25">
                  <c:v>24.51</c:v>
                </c:pt>
                <c:pt idx="26">
                  <c:v>15.42</c:v>
                </c:pt>
                <c:pt idx="27">
                  <c:v>17.65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批核</c:v>
                </c:pt>
              </c:strCache>
            </c:strRef>
          </c:tx>
          <c:spPr>
            <a:ln w="2286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28"/>
                <c:pt idx="0">
                  <c:v>18.04</c:v>
                </c:pt>
                <c:pt idx="1">
                  <c:v>46.35</c:v>
                </c:pt>
                <c:pt idx="2">
                  <c:v>29.21</c:v>
                </c:pt>
                <c:pt idx="3">
                  <c:v>20.07</c:v>
                </c:pt>
                <c:pt idx="4">
                  <c:v>29.97</c:v>
                </c:pt>
                <c:pt idx="5">
                  <c:v>39.45</c:v>
                </c:pt>
                <c:pt idx="6">
                  <c:v>7.26</c:v>
                </c:pt>
                <c:pt idx="7">
                  <c:v>67.05</c:v>
                </c:pt>
                <c:pt idx="8">
                  <c:v>15.84</c:v>
                </c:pt>
                <c:pt idx="9">
                  <c:v>11.12</c:v>
                </c:pt>
                <c:pt idx="10">
                  <c:v>41.56</c:v>
                </c:pt>
                <c:pt idx="11">
                  <c:v>7.94</c:v>
                </c:pt>
                <c:pt idx="12">
                  <c:v>15.72</c:v>
                </c:pt>
                <c:pt idx="13">
                  <c:v>12.38</c:v>
                </c:pt>
                <c:pt idx="14">
                  <c:v>24.32</c:v>
                </c:pt>
                <c:pt idx="15">
                  <c:v>24.57</c:v>
                </c:pt>
                <c:pt idx="16">
                  <c:v>23.49</c:v>
                </c:pt>
                <c:pt idx="17">
                  <c:v>8.41</c:v>
                </c:pt>
                <c:pt idx="18">
                  <c:v>15.89</c:v>
                </c:pt>
                <c:pt idx="19">
                  <c:v>20.39</c:v>
                </c:pt>
                <c:pt idx="20">
                  <c:v>28.09</c:v>
                </c:pt>
                <c:pt idx="21">
                  <c:v>12.47</c:v>
                </c:pt>
                <c:pt idx="22">
                  <c:v>12.0</c:v>
                </c:pt>
                <c:pt idx="23">
                  <c:v>15.44</c:v>
                </c:pt>
                <c:pt idx="24">
                  <c:v>19.28</c:v>
                </c:pt>
                <c:pt idx="25">
                  <c:v>11.19</c:v>
                </c:pt>
                <c:pt idx="26">
                  <c:v>17.62</c:v>
                </c:pt>
                <c:pt idx="27">
                  <c:v>6.92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502c51-a1de-4bca-bfdc-f4099c23b2f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11865.65</c:v>
                </c:pt>
                <c:pt idx="1">
                  <c:v>3938.94</c:v>
                </c:pt>
                <c:pt idx="2">
                  <c:v>2609.91</c:v>
                </c:pt>
                <c:pt idx="3">
                  <c:v>1327.8</c:v>
                </c:pt>
                <c:pt idx="4">
                  <c:v>1287.52</c:v>
                </c:pt>
                <c:pt idx="5">
                  <c:v>188.05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未批核APE(万)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750" b="0" i="0" u="none" strike="noStrike" kern="1200" baseline="0">
                        <a:solidFill>
                          <a:schemeClr val="tx1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rPr lang="en-US" altLang="zh-CN">
                        <a:solidFill>
                          <a:schemeClr val="tx1"/>
                        </a:solidFill>
                      </a:rPr>
                      <a:t>32.2</a:t>
                    </a:r>
                    <a:r>
                      <a:rPr>
                        <a:solidFill>
                          <a:schemeClr val="tx1"/>
                        </a:solidFill>
                      </a:rPr>
                      <a:t>.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.864583333333333"/>
                  <c:y val="0.6540088200494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3732.53</c:v>
                </c:pt>
                <c:pt idx="1">
                  <c:v>576.59</c:v>
                </c:pt>
                <c:pt idx="2">
                  <c:v>301.8</c:v>
                </c:pt>
                <c:pt idx="3">
                  <c:v>0.0</c:v>
                </c:pt>
                <c:pt idx="4">
                  <c:v>685.91</c:v>
                </c:pt>
                <c:pt idx="5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待签APE(万)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3"/>
              <c:layout>
                <c:manualLayout>
                  <c:x val="0.890467171717172"/>
                  <c:y val="0.65367860600193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66203703703704"/>
                  <c:y val="0.003888888888888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534722222222222"/>
                  <c:y val="0.5326419812842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1204.1</c:v>
                </c:pt>
                <c:pt idx="1">
                  <c:v>187.42</c:v>
                </c:pt>
                <c:pt idx="2">
                  <c:v>0.0</c:v>
                </c:pt>
                <c:pt idx="3">
                  <c:v>0.0</c:v>
                </c:pt>
                <c:pt idx="4">
                  <c:v>78.0</c:v>
                </c:pt>
                <c:pt idx="5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572650486475"/>
          <c:y val="0.0500227376080036"/>
          <c:w val="0.8376777504544"/>
          <c:h val="0.7552978626648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利泰丰</c:v>
                </c:pt>
                <c:pt idx="4">
                  <c:v>堡盛国际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万城保险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4269.8</c:v>
                </c:pt>
                <c:pt idx="1">
                  <c:v>3938.94</c:v>
                </c:pt>
                <c:pt idx="2">
                  <c:v>3490.59</c:v>
                </c:pt>
                <c:pt idx="3">
                  <c:v>2781.85</c:v>
                </c:pt>
                <c:pt idx="4">
                  <c:v>2718.31</c:v>
                </c:pt>
                <c:pt idx="5">
                  <c:v>2591.81</c:v>
                </c:pt>
                <c:pt idx="6">
                  <c:v>1937.79</c:v>
                </c:pt>
                <c:pt idx="7">
                  <c:v>1885.7</c:v>
                </c:pt>
                <c:pt idx="8">
                  <c:v>1248.0</c:v>
                </c:pt>
                <c:pt idx="9">
                  <c:v>834.66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未批核APE(万)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8"/>
              <c:layout>
                <c:manualLayout>
                  <c:x val="-0.0075863678804855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利泰丰</c:v>
                </c:pt>
                <c:pt idx="4">
                  <c:v>堡盛国际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万城保险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893.28</c:v>
                </c:pt>
                <c:pt idx="1">
                  <c:v>576.59</c:v>
                </c:pt>
                <c:pt idx="2">
                  <c:v>453.66</c:v>
                </c:pt>
                <c:pt idx="3">
                  <c:v>101.07</c:v>
                </c:pt>
                <c:pt idx="4">
                  <c:v>237.69</c:v>
                </c:pt>
                <c:pt idx="5">
                  <c:v>301.8</c:v>
                </c:pt>
                <c:pt idx="6">
                  <c:v>2396.71</c:v>
                </c:pt>
                <c:pt idx="7">
                  <c:v>77.94</c:v>
                </c:pt>
                <c:pt idx="8">
                  <c:v>0.0</c:v>
                </c:pt>
                <c:pt idx="9">
                  <c:v>126.91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待签APE(万)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8"/>
              <c:layout>
                <c:manualLayout>
                  <c:x val="0.003734827264239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6218487394958"/>
                      <c:h val="0.0406144781144781"/>
                    </c:manualLayout>
                  </c15:layout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利泰丰</c:v>
                </c:pt>
                <c:pt idx="4">
                  <c:v>堡盛国际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万城保险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174.02</c:v>
                </c:pt>
                <c:pt idx="1">
                  <c:v>187.42</c:v>
                </c:pt>
                <c:pt idx="2">
                  <c:v>96.0</c:v>
                </c:pt>
                <c:pt idx="3">
                  <c:v>0.0</c:v>
                </c:pt>
                <c:pt idx="4">
                  <c:v>28.5</c:v>
                </c:pt>
                <c:pt idx="5">
                  <c:v>0.0</c:v>
                </c:pt>
                <c:pt idx="6">
                  <c:v>923.58</c:v>
                </c:pt>
                <c:pt idx="7">
                  <c:v>78.0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2088285229202"/>
          <c:y val="0.0662225705329154"/>
          <c:w val="0.954340690435767"/>
          <c:h val="0.531818181818182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同行预约(M)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3.15</c:v>
                </c:pt>
                <c:pt idx="1">
                  <c:v>6.39</c:v>
                </c:pt>
                <c:pt idx="2">
                  <c:v>8.3</c:v>
                </c:pt>
                <c:pt idx="3">
                  <c:v>5.34</c:v>
                </c:pt>
                <c:pt idx="4">
                  <c:v>6.19</c:v>
                </c:pt>
                <c:pt idx="5">
                  <c:v>5.76</c:v>
                </c:pt>
                <c:pt idx="6">
                  <c:v>2.11</c:v>
                </c:pt>
                <c:pt idx="7">
                  <c:v>5.99</c:v>
                </c:pt>
                <c:pt idx="8">
                  <c:v>2.93</c:v>
                </c:pt>
                <c:pt idx="9">
                  <c:v>9.72</c:v>
                </c:pt>
                <c:pt idx="10">
                  <c:v>11.0</c:v>
                </c:pt>
                <c:pt idx="11">
                  <c:v>11.96</c:v>
                </c:pt>
                <c:pt idx="12">
                  <c:v>3.0</c:v>
                </c:pt>
                <c:pt idx="13">
                  <c:v>6.31</c:v>
                </c:pt>
                <c:pt idx="14">
                  <c:v>5.65</c:v>
                </c:pt>
                <c:pt idx="15">
                  <c:v>16.81</c:v>
                </c:pt>
                <c:pt idx="16">
                  <c:v>3.52</c:v>
                </c:pt>
                <c:pt idx="17">
                  <c:v>9.24</c:v>
                </c:pt>
                <c:pt idx="18">
                  <c:v>8.99</c:v>
                </c:pt>
                <c:pt idx="19">
                  <c:v>10.09</c:v>
                </c:pt>
                <c:pt idx="20">
                  <c:v>8.22</c:v>
                </c:pt>
                <c:pt idx="21">
                  <c:v>6.73</c:v>
                </c:pt>
                <c:pt idx="22">
                  <c:v>11.55</c:v>
                </c:pt>
                <c:pt idx="23">
                  <c:v>12.74</c:v>
                </c:pt>
                <c:pt idx="24">
                  <c:v>11.17</c:v>
                </c:pt>
                <c:pt idx="25">
                  <c:v>6.14</c:v>
                </c:pt>
                <c:pt idx="26">
                  <c:v>5.39</c:v>
                </c:pt>
                <c:pt idx="27">
                  <c:v>8.19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同行签单(M)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1.17</c:v>
                </c:pt>
                <c:pt idx="1">
                  <c:v>3.68</c:v>
                </c:pt>
                <c:pt idx="2">
                  <c:v>5.34</c:v>
                </c:pt>
                <c:pt idx="3">
                  <c:v>5.99</c:v>
                </c:pt>
                <c:pt idx="4">
                  <c:v>11.38</c:v>
                </c:pt>
                <c:pt idx="5">
                  <c:v>4.21</c:v>
                </c:pt>
                <c:pt idx="6">
                  <c:v>2.65</c:v>
                </c:pt>
                <c:pt idx="7">
                  <c:v>3.51</c:v>
                </c:pt>
                <c:pt idx="8">
                  <c:v>2.03</c:v>
                </c:pt>
                <c:pt idx="9">
                  <c:v>7.76</c:v>
                </c:pt>
                <c:pt idx="10">
                  <c:v>8.79</c:v>
                </c:pt>
                <c:pt idx="11">
                  <c:v>17.9</c:v>
                </c:pt>
                <c:pt idx="12">
                  <c:v>5.91</c:v>
                </c:pt>
                <c:pt idx="13">
                  <c:v>4.34</c:v>
                </c:pt>
                <c:pt idx="14">
                  <c:v>5.12</c:v>
                </c:pt>
                <c:pt idx="15">
                  <c:v>7.78</c:v>
                </c:pt>
                <c:pt idx="16">
                  <c:v>13.07</c:v>
                </c:pt>
                <c:pt idx="17">
                  <c:v>6.0</c:v>
                </c:pt>
                <c:pt idx="18">
                  <c:v>10.54</c:v>
                </c:pt>
                <c:pt idx="19">
                  <c:v>7.29</c:v>
                </c:pt>
                <c:pt idx="20">
                  <c:v>13.52</c:v>
                </c:pt>
                <c:pt idx="21">
                  <c:v>7.22</c:v>
                </c:pt>
                <c:pt idx="22">
                  <c:v>6.98</c:v>
                </c:pt>
                <c:pt idx="23">
                  <c:v>12.53</c:v>
                </c:pt>
                <c:pt idx="24">
                  <c:v>16.25</c:v>
                </c:pt>
                <c:pt idx="25">
                  <c:v>6.45</c:v>
                </c:pt>
                <c:pt idx="26">
                  <c:v>3.35</c:v>
                </c:pt>
                <c:pt idx="27">
                  <c:v>5.54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同行批核(M)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13.66</c:v>
                </c:pt>
                <c:pt idx="1">
                  <c:v>40.4</c:v>
                </c:pt>
                <c:pt idx="2">
                  <c:v>17.31</c:v>
                </c:pt>
                <c:pt idx="3">
                  <c:v>16.39</c:v>
                </c:pt>
                <c:pt idx="4">
                  <c:v>8.47</c:v>
                </c:pt>
                <c:pt idx="5">
                  <c:v>5.19</c:v>
                </c:pt>
                <c:pt idx="6">
                  <c:v>5.3</c:v>
                </c:pt>
                <c:pt idx="7">
                  <c:v>7.02</c:v>
                </c:pt>
                <c:pt idx="8">
                  <c:v>3.17</c:v>
                </c:pt>
                <c:pt idx="9">
                  <c:v>4.41</c:v>
                </c:pt>
                <c:pt idx="10">
                  <c:v>2.61</c:v>
                </c:pt>
                <c:pt idx="11">
                  <c:v>2.01</c:v>
                </c:pt>
                <c:pt idx="12">
                  <c:v>11.05</c:v>
                </c:pt>
                <c:pt idx="13">
                  <c:v>4.44</c:v>
                </c:pt>
                <c:pt idx="14">
                  <c:v>15.15</c:v>
                </c:pt>
                <c:pt idx="15">
                  <c:v>7.93</c:v>
                </c:pt>
                <c:pt idx="16">
                  <c:v>8.84</c:v>
                </c:pt>
                <c:pt idx="17">
                  <c:v>4.27</c:v>
                </c:pt>
                <c:pt idx="18">
                  <c:v>10.55</c:v>
                </c:pt>
                <c:pt idx="19">
                  <c:v>9.19</c:v>
                </c:pt>
                <c:pt idx="20">
                  <c:v>8.04</c:v>
                </c:pt>
                <c:pt idx="21">
                  <c:v>3.37</c:v>
                </c:pt>
                <c:pt idx="22">
                  <c:v>7.21</c:v>
                </c:pt>
                <c:pt idx="23">
                  <c:v>5.9</c:v>
                </c:pt>
                <c:pt idx="24">
                  <c:v>11.92</c:v>
                </c:pt>
                <c:pt idx="25">
                  <c:v>8.73</c:v>
                </c:pt>
                <c:pt idx="26">
                  <c:v>12.86</c:v>
                </c:pt>
                <c:pt idx="27">
                  <c:v>5.72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1465761177136"/>
          <c:y val="0.8718652037617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7977ba-dfe8-49e2-a067-6da98031b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2861522057844"/>
          <c:y val="0.101338432122371"/>
          <c:w val="0.919392243102759"/>
          <c:h val="0.52399617590822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922B21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6.86M/11件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3.90M/6件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10.53M/19件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0.0365187258429961"/>
                  <c:y val="-0.045889101338432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4.21M/9件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4.13M/7件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3.42M/10件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6.86</c:v>
                </c:pt>
                <c:pt idx="1">
                  <c:v>3.9</c:v>
                </c:pt>
                <c:pt idx="2">
                  <c:v>10.53</c:v>
                </c:pt>
                <c:pt idx="3">
                  <c:v>4.21</c:v>
                </c:pt>
                <c:pt idx="4">
                  <c:v>4.13</c:v>
                </c:pt>
                <c:pt idx="5">
                  <c:v>3.42</c:v>
                </c:pt>
                <c:pt idx="6">
                  <c:v>4.29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E8A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7.00M/6件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4.29M/3件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453518592562976"/>
                  <c:y val="-0.056405353728489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3.12M/3件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2.73M/3件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5.85M/7件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4.68M/7件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7.0</c:v>
                </c:pt>
                <c:pt idx="1">
                  <c:v>3.46</c:v>
                </c:pt>
                <c:pt idx="2">
                  <c:v>4.29</c:v>
                </c:pt>
                <c:pt idx="3">
                  <c:v>3.12</c:v>
                </c:pt>
                <c:pt idx="4">
                  <c:v>2.73</c:v>
                </c:pt>
                <c:pt idx="5">
                  <c:v>5.85</c:v>
                </c:pt>
                <c:pt idx="6">
                  <c:v>4.68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7005763-4f22-4efc-bf15-1e3cf181811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4644911060586"/>
          <c:y val="0.0476398601398601"/>
          <c:w val="0.919111943292764"/>
          <c:h val="0.7304195804195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6.24M/10件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4.91M/8件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8.19M/14件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5.77M/12件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3.74M/6件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4.59M/13件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6.24</c:v>
                </c:pt>
                <c:pt idx="1">
                  <c:v>4.91</c:v>
                </c:pt>
                <c:pt idx="2">
                  <c:v>8.19</c:v>
                </c:pt>
                <c:pt idx="3">
                  <c:v>5.77</c:v>
                </c:pt>
                <c:pt idx="4">
                  <c:v>3.74</c:v>
                </c:pt>
                <c:pt idx="5">
                  <c:v>4.59</c:v>
                </c:pt>
                <c:pt idx="6">
                  <c:v>4.29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F5D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10.90M/6件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5.07M/4件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2.73M/2件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3.12M/4件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5.85M/7件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4.68M/7件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10.9</c:v>
                </c:pt>
                <c:pt idx="1">
                  <c:v>3.46</c:v>
                </c:pt>
                <c:pt idx="2">
                  <c:v>5.07</c:v>
                </c:pt>
                <c:pt idx="3">
                  <c:v>2.73</c:v>
                </c:pt>
                <c:pt idx="4">
                  <c:v>3.12</c:v>
                </c:pt>
                <c:pt idx="5">
                  <c:v>5.85</c:v>
                </c:pt>
                <c:pt idx="6">
                  <c:v>4.68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991f72a-4d5a-403a-a640-30fd215da8a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600"/>
      </a:pPr>
    </a:p>
  </c:tx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12.80M/23件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84.79M/61件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44.52M/37件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25.66M/28件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14.68M/11件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3.51M/9件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1.56M/3件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12.8</c:v>
                </c:pt>
                <c:pt idx="1">
                  <c:v>84.79</c:v>
                </c:pt>
                <c:pt idx="2">
                  <c:v>44.52</c:v>
                </c:pt>
                <c:pt idx="3">
                  <c:v>25.66</c:v>
                </c:pt>
                <c:pt idx="4">
                  <c:v>14.68</c:v>
                </c:pt>
                <c:pt idx="5">
                  <c:v>3.51</c:v>
                </c:pt>
                <c:pt idx="6">
                  <c:v>1.56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82C89A"/>
            </a:solidFill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9.15M/6件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14.18M/5件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0199893390191898"/>
                  <c:y val="-0.091004277695757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1.56M/2件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7.02M/5件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2.73M/4件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5.46</c:v>
                </c:pt>
                <c:pt idx="1">
                  <c:v>9.15</c:v>
                </c:pt>
                <c:pt idx="2">
                  <c:v>14.18</c:v>
                </c:pt>
                <c:pt idx="3">
                  <c:v>1.56</c:v>
                </c:pt>
                <c:pt idx="4">
                  <c:v>7.02</c:v>
                </c:pt>
                <c:pt idx="5">
                  <c:v>2.73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f6b1759-8741-4a5a-8d20-0511a974491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80619488062"/>
          <c:y val="0.05"/>
          <c:w val="0.837631748763175"/>
          <c:h val="0.65935064935064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Sheet1!$B$2:$B$3</c:f>
              <c:numCache>
                <c:formatCode>0.00_ </c:formatCode>
                <c:ptCount val="2"/>
                <c:pt idx="0">
                  <c:v>187.52</c:v>
                </c:pt>
                <c:pt idx="1">
                  <c:v>40.1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Sheet1!$C$2:$C$3</c:f>
              <c:numCache>
                <c:formatCode>0.00_ </c:formatCode>
                <c:ptCount val="2"/>
                <c:pt idx="0">
                  <c:v>16.92</c:v>
                </c:pt>
                <c:pt idx="1">
                  <c:v>11.7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Sheet1!$D$2:$D$3</c:f>
              <c:numCache>
                <c:formatCode>0.00_ 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22614801604993"/>
          <c:y val="0.876466275659824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Pos val="outEnd"/>
          </c:dLbls>
          <c:cat>
            <c:strRef>
              <c:f>Sheet1!$A$2:$A$3</c:f>
              <c:strCache>
                <c:ptCount val="2"/>
                <c:pt idx="0">
                  <c:v>已批核</c:v>
                </c:pt>
                <c:pt idx="1">
                  <c:v>目标剩余</c:v>
                </c:pt>
              </c:strCache>
            </c:strRef>
          </c:cat>
          <c:val>
            <c:numRef>
              <c:f>Sheet1!$B$2:$B$3</c:f>
              <c:numCache>
                <c:formatCode>_ * #,##0_ ;_ * \-#,##0_ ;_ * "-"??_ ;_ @_ </c:formatCode>
                <c:ptCount val="2"/>
                <c:pt idx="0">
                  <c:v>227.63</c:v>
                </c:pt>
                <c:pt idx="1">
                  <c:v>-27.629999999999995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银行预约(M)</c:v>
                </c:pt>
              </c:strCache>
            </c:strRef>
          </c:tx>
          <c:spPr>
            <a:ln w="25400" cap="flat" cmpd="sng" algn="ctr">
              <a:solidFill>
                <a:srgbClr val="9B23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2335"/>
              </a:solidFill>
              <a:ln w="9525" cap="flat" cmpd="sng" algn="ctr">
                <a:solidFill>
                  <a:srgbClr val="9B2335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2.34</c:v>
                </c:pt>
                <c:pt idx="1">
                  <c:v>3.69</c:v>
                </c:pt>
                <c:pt idx="2">
                  <c:v>6.03</c:v>
                </c:pt>
                <c:pt idx="3">
                  <c:v>1.79</c:v>
                </c:pt>
                <c:pt idx="4">
                  <c:v>4.29</c:v>
                </c:pt>
                <c:pt idx="5">
                  <c:v>3.07</c:v>
                </c:pt>
                <c:pt idx="6">
                  <c:v>0.0</c:v>
                </c:pt>
                <c:pt idx="7">
                  <c:v>0.0</c:v>
                </c:pt>
                <c:pt idx="8">
                  <c:v>2.34</c:v>
                </c:pt>
                <c:pt idx="9">
                  <c:v>5.46</c:v>
                </c:pt>
                <c:pt idx="10">
                  <c:v>4.29</c:v>
                </c:pt>
                <c:pt idx="11">
                  <c:v>2.73</c:v>
                </c:pt>
                <c:pt idx="12">
                  <c:v>0.0</c:v>
                </c:pt>
                <c:pt idx="13">
                  <c:v>5.23</c:v>
                </c:pt>
                <c:pt idx="14">
                  <c:v>0.39</c:v>
                </c:pt>
                <c:pt idx="15">
                  <c:v>1.72</c:v>
                </c:pt>
                <c:pt idx="16">
                  <c:v>1.17</c:v>
                </c:pt>
                <c:pt idx="17">
                  <c:v>0.39</c:v>
                </c:pt>
                <c:pt idx="18">
                  <c:v>1.01</c:v>
                </c:pt>
                <c:pt idx="19">
                  <c:v>0.78</c:v>
                </c:pt>
                <c:pt idx="20">
                  <c:v>3.51</c:v>
                </c:pt>
                <c:pt idx="21">
                  <c:v>1.17</c:v>
                </c:pt>
                <c:pt idx="22">
                  <c:v>3.35</c:v>
                </c:pt>
                <c:pt idx="23">
                  <c:v>0.78</c:v>
                </c:pt>
                <c:pt idx="24">
                  <c:v>3.97</c:v>
                </c:pt>
                <c:pt idx="25">
                  <c:v>0.78</c:v>
                </c:pt>
                <c:pt idx="26">
                  <c:v>5.46</c:v>
                </c:pt>
                <c:pt idx="27">
                  <c:v>2.73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银行签单(M)</c:v>
                </c:pt>
              </c:strCache>
            </c:strRef>
          </c:tx>
          <c:spPr>
            <a:ln w="25400" cap="flat" cmpd="sng" algn="ctr">
              <a:solidFill>
                <a:srgbClr val="6B273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2737"/>
              </a:solidFill>
              <a:ln w="9525" cap="flat" cmpd="sng" algn="ctr">
                <a:solidFill>
                  <a:srgbClr val="6B2737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0.78</c:v>
                </c:pt>
                <c:pt idx="1">
                  <c:v>3.69</c:v>
                </c:pt>
                <c:pt idx="2">
                  <c:v>5.25</c:v>
                </c:pt>
                <c:pt idx="3">
                  <c:v>2.73</c:v>
                </c:pt>
                <c:pt idx="4">
                  <c:v>2.18</c:v>
                </c:pt>
                <c:pt idx="5">
                  <c:v>5.8</c:v>
                </c:pt>
                <c:pt idx="6">
                  <c:v>0.39</c:v>
                </c:pt>
                <c:pt idx="7">
                  <c:v>0.0</c:v>
                </c:pt>
                <c:pt idx="8">
                  <c:v>1.95</c:v>
                </c:pt>
                <c:pt idx="9">
                  <c:v>1.95</c:v>
                </c:pt>
                <c:pt idx="10">
                  <c:v>4.68</c:v>
                </c:pt>
                <c:pt idx="11">
                  <c:v>2.73</c:v>
                </c:pt>
                <c:pt idx="12">
                  <c:v>3.51</c:v>
                </c:pt>
                <c:pt idx="13">
                  <c:v>0.16</c:v>
                </c:pt>
                <c:pt idx="14">
                  <c:v>4.29</c:v>
                </c:pt>
                <c:pt idx="15">
                  <c:v>1.95</c:v>
                </c:pt>
                <c:pt idx="16">
                  <c:v>0.55</c:v>
                </c:pt>
                <c:pt idx="17">
                  <c:v>2.34</c:v>
                </c:pt>
                <c:pt idx="18">
                  <c:v>1.17</c:v>
                </c:pt>
                <c:pt idx="19">
                  <c:v>1.01</c:v>
                </c:pt>
                <c:pt idx="20">
                  <c:v>2.34</c:v>
                </c:pt>
                <c:pt idx="21">
                  <c:v>1.17</c:v>
                </c:pt>
                <c:pt idx="22">
                  <c:v>2.96</c:v>
                </c:pt>
                <c:pt idx="23">
                  <c:v>2.34</c:v>
                </c:pt>
                <c:pt idx="24">
                  <c:v>3.19</c:v>
                </c:pt>
                <c:pt idx="25">
                  <c:v>3.12</c:v>
                </c:pt>
                <c:pt idx="26">
                  <c:v>2.34</c:v>
                </c:pt>
                <c:pt idx="27">
                  <c:v>4.29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银行批核(M)</c:v>
                </c:pt>
              </c:strCache>
            </c:strRef>
          </c:tx>
          <c:spPr>
            <a:ln w="25400" cap="flat" cmpd="sng" algn="ctr">
              <a:solidFill>
                <a:srgbClr val="6C348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3483"/>
              </a:solidFill>
              <a:ln w="9525" cap="flat" cmpd="sng" algn="ctr">
                <a:solidFill>
                  <a:srgbClr val="6C3483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1.95</c:v>
                </c:pt>
                <c:pt idx="1">
                  <c:v>3.36</c:v>
                </c:pt>
                <c:pt idx="2">
                  <c:v>8.03</c:v>
                </c:pt>
                <c:pt idx="3">
                  <c:v>1.79</c:v>
                </c:pt>
                <c:pt idx="4">
                  <c:v>17.16</c:v>
                </c:pt>
                <c:pt idx="5">
                  <c:v>27.95</c:v>
                </c:pt>
                <c:pt idx="6">
                  <c:v>1.95</c:v>
                </c:pt>
                <c:pt idx="7">
                  <c:v>46.88</c:v>
                </c:pt>
                <c:pt idx="8">
                  <c:v>10.42</c:v>
                </c:pt>
                <c:pt idx="9">
                  <c:v>4.68</c:v>
                </c:pt>
                <c:pt idx="10">
                  <c:v>35.96</c:v>
                </c:pt>
                <c:pt idx="11">
                  <c:v>5.85</c:v>
                </c:pt>
                <c:pt idx="12">
                  <c:v>2.18</c:v>
                </c:pt>
                <c:pt idx="13">
                  <c:v>4.29</c:v>
                </c:pt>
                <c:pt idx="14">
                  <c:v>7.64</c:v>
                </c:pt>
                <c:pt idx="15">
                  <c:v>11.78</c:v>
                </c:pt>
                <c:pt idx="16">
                  <c:v>3.12</c:v>
                </c:pt>
                <c:pt idx="17">
                  <c:v>1.95</c:v>
                </c:pt>
                <c:pt idx="18">
                  <c:v>3.3</c:v>
                </c:pt>
                <c:pt idx="19">
                  <c:v>2.34</c:v>
                </c:pt>
                <c:pt idx="20">
                  <c:v>14.12</c:v>
                </c:pt>
                <c:pt idx="21">
                  <c:v>1.56</c:v>
                </c:pt>
                <c:pt idx="22">
                  <c:v>0.78</c:v>
                </c:pt>
                <c:pt idx="23">
                  <c:v>0.78</c:v>
                </c:pt>
                <c:pt idx="24">
                  <c:v>2.81</c:v>
                </c:pt>
                <c:pt idx="25">
                  <c:v>0.31</c:v>
                </c:pt>
                <c:pt idx="26">
                  <c:v>1.56</c:v>
                </c:pt>
                <c:pt idx="27">
                  <c:v>0.0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8d0edca-b3ca-4875-b8a4-188427696a7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批核APE(M)</c:v>
                </c:pt>
              </c:strCache>
            </c:strRef>
          </c:tx>
          <c:spPr>
            <a:solidFill>
              <a:srgbClr val="6B2737"/>
            </a:solidFill>
            <a:ln>
              <a:noFill/>
            </a:ln>
            <a:effectLst/>
            <a:sp3d>
              <a:extrusionClr>
                <a:srgbClr val="FFFFFF"/>
              </a:extrusionClr>
              <a:contourClr>
                <a:srgbClr val="FFFFFF"/>
              </a:contourClr>
            </a:sp3d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cap="none" spc="0" normalizeH="0" baseline="0">
                    <a:solidFill>
                      <a:schemeClr val="bg1"/>
                    </a:solidFill>
                    <a:uFill>
                      <a:solidFill>
                        <a:schemeClr val="tx1"/>
                      </a:solidFill>
                    </a:u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Sheet1!$A$2:$A$18</c:f>
              <c:strCache>
                <c:ptCount val="26"/>
                <c:pt idx="0">
                  <c:v>民生广州分行</c:v>
                </c:pt>
                <c:pt idx="1">
                  <c:v>民生南京分行</c:v>
                </c:pt>
                <c:pt idx="2">
                  <c:v>民生上海分行</c:v>
                </c:pt>
                <c:pt idx="3">
                  <c:v>民生深圳分行</c:v>
                </c:pt>
                <c:pt idx="4">
                  <c:v>民生北京分行</c:v>
                </c:pt>
                <c:pt idx="5">
                  <c:v>平安香港分行徐艳</c:v>
                </c:pt>
                <c:pt idx="6">
                  <c:v>平安香港分行许菁</c:v>
                </c:pt>
                <c:pt idx="7">
                  <c:v>民生重庆分行</c:v>
                </c:pt>
                <c:pt idx="8">
                  <c:v>民生杭州分行</c:v>
                </c:pt>
                <c:pt idx="9">
                  <c:v>平安香港分行钟丽丽</c:v>
                </c:pt>
                <c:pt idx="10">
                  <c:v>民生香港分行梁驹团队</c:v>
                </c:pt>
                <c:pt idx="11">
                  <c:v>平安香港分行高凯</c:v>
                </c:pt>
                <c:pt idx="12">
                  <c:v>民生嘉兴分行</c:v>
                </c:pt>
                <c:pt idx="13">
                  <c:v>民生温州分行</c:v>
                </c:pt>
                <c:pt idx="14">
                  <c:v>民生合肥分行</c:v>
                </c:pt>
                <c:pt idx="15">
                  <c:v>民生武汉分行</c:v>
                </c:pt>
                <c:pt idx="16">
                  <c:v>民生贵阳分行</c:v>
                </c:pt>
                <c:pt idx="17">
                  <c:v>民生厦门分行</c:v>
                </c:pt>
                <c:pt idx="18">
                  <c:v>民生沈阳分行</c:v>
                </c:pt>
                <c:pt idx="19">
                  <c:v>民生泉州分行</c:v>
                </c:pt>
                <c:pt idx="20">
                  <c:v>平安香港分行朱慧娟</c:v>
                </c:pt>
                <c:pt idx="21">
                  <c:v>平安香港分行王慧娟</c:v>
                </c:pt>
                <c:pt idx="22">
                  <c:v>民生上海分行张江支行</c:v>
                </c:pt>
                <c:pt idx="23">
                  <c:v>平安香港分行高原</c:v>
                </c:pt>
                <c:pt idx="24">
                  <c:v>民生呼和浩特分行</c:v>
                </c:pt>
                <c:pt idx="25">
                  <c:v>民生昆明分行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26"/>
                <c:pt idx="0">
                  <c:v>44.09</c:v>
                </c:pt>
                <c:pt idx="1">
                  <c:v>37.09</c:v>
                </c:pt>
                <c:pt idx="2">
                  <c:v>30.08</c:v>
                </c:pt>
                <c:pt idx="3">
                  <c:v>18.88</c:v>
                </c:pt>
                <c:pt idx="4">
                  <c:v>17.38</c:v>
                </c:pt>
                <c:pt idx="5">
                  <c:v>14.04</c:v>
                </c:pt>
                <c:pt idx="6">
                  <c:v>12.87</c:v>
                </c:pt>
                <c:pt idx="7">
                  <c:v>10.14</c:v>
                </c:pt>
                <c:pt idx="8">
                  <c:v>7.02</c:v>
                </c:pt>
                <c:pt idx="9">
                  <c:v>6.95</c:v>
                </c:pt>
                <c:pt idx="10">
                  <c:v>4.13</c:v>
                </c:pt>
                <c:pt idx="11">
                  <c:v>3.9</c:v>
                </c:pt>
                <c:pt idx="12">
                  <c:v>3.12</c:v>
                </c:pt>
                <c:pt idx="13">
                  <c:v>2.81</c:v>
                </c:pt>
                <c:pt idx="14">
                  <c:v>2.57</c:v>
                </c:pt>
                <c:pt idx="15">
                  <c:v>2.34</c:v>
                </c:pt>
                <c:pt idx="16">
                  <c:v>1.95</c:v>
                </c:pt>
                <c:pt idx="17">
                  <c:v>1.56</c:v>
                </c:pt>
                <c:pt idx="18">
                  <c:v>1.56</c:v>
                </c:pt>
                <c:pt idx="19">
                  <c:v>1.56</c:v>
                </c:pt>
                <c:pt idx="20">
                  <c:v>1.17</c:v>
                </c:pt>
                <c:pt idx="21">
                  <c:v>0.78</c:v>
                </c:pt>
                <c:pt idx="22">
                  <c:v>0.78</c:v>
                </c:pt>
                <c:pt idx="23">
                  <c:v>0.39</c:v>
                </c:pt>
                <c:pt idx="24">
                  <c:v>0.31</c:v>
                </c:pt>
                <c:pt idx="25">
                  <c:v>0.16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0" spcFirstLastPara="0" vertOverflow="ellipsis" vert="wordArtVertRtl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0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2.3900</c:v>
                </c:pt>
                <c:pt idx="1">
                  <c:v>12.1092</c:v>
                </c:pt>
                <c:pt idx="2">
                  <c:v>1.8188</c:v>
                </c:pt>
                <c:pt idx="3">
                  <c:v>4.0000</c:v>
                </c:pt>
                <c:pt idx="4">
                  <c:v>0.0088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2.3900</c:v>
                </c:pt>
                <c:pt idx="1">
                  <c:v>12.1092</c:v>
                </c:pt>
                <c:pt idx="2">
                  <c:v>1.8000</c:v>
                </c:pt>
                <c:pt idx="3">
                  <c:v>0.0188</c:v>
                </c:pt>
                <c:pt idx="4">
                  <c:v>4.0088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2.0780</c:v>
                </c:pt>
                <c:pt idx="1">
                  <c:v>12.0000</c:v>
                </c:pt>
                <c:pt idx="2">
                  <c:v>0.4992</c:v>
                </c:pt>
                <c:pt idx="3">
                  <c:v>0.0000</c:v>
                </c:pt>
                <c:pt idx="4">
                  <c:v>5.8276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tags" Target="../tags/tag1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tags" Target="../tags/tag2.xml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tags" Target="../tags/tag3.xml"/><Relationship Id="rId12" Type="http://schemas.openxmlformats.org/officeDocument/2006/relationships/image" Target="../media/image5.svg"/><Relationship Id="rId13" Type="http://schemas.openxmlformats.org/officeDocument/2006/relationships/tags" Target="../tags/tag4.xml"/><Relationship Id="rId14" Type="http://schemas.openxmlformats.org/officeDocument/2006/relationships/image" Target="../media/image6.png"/><Relationship Id="rId15" Type="http://schemas.openxmlformats.org/officeDocument/2006/relationships/image" Target="../media/image7.svg"/><Relationship Id="rId16" Type="http://schemas.openxmlformats.org/officeDocument/2006/relationships/tags" Target="../tags/tag5.xml"/><Relationship Id="rId17" Type="http://schemas.openxmlformats.org/officeDocument/2006/relationships/image" Target="../media/image8.svg"/><Relationship Id="rId18" Type="http://schemas.openxmlformats.org/officeDocument/2006/relationships/tags" Target="../tags/tag6.xml"/><Relationship Id="rId19" Type="http://schemas.openxmlformats.org/officeDocument/2006/relationships/image" Target="../media/image9.svg"/><Relationship Id="rId20" Type="http://schemas.openxmlformats.org/officeDocument/2006/relationships/tags" Target="../tags/tag7.xml"/><Relationship Id="rId21" Type="http://schemas.openxmlformats.org/officeDocument/2006/relationships/image" Target="../media/image10.png"/><Relationship Id="rId22" Type="http://schemas.openxmlformats.org/officeDocument/2006/relationships/tags" Target="../tags/tag8.xml"/><Relationship Id="rId23" Type="http://schemas.openxmlformats.org/officeDocument/2006/relationships/image" Target="../media/image11.png"/><Relationship Id="rId24" Type="http://schemas.openxmlformats.org/officeDocument/2006/relationships/tags" Target="../tags/tag9.xml"/><Relationship Id="rId25" Type="http://schemas.openxmlformats.org/officeDocument/2006/relationships/image" Target="../media/image12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Relationship Id="rId6" Type="http://schemas.openxmlformats.org/officeDocument/2006/relationships/chart" Target="../charts/chart13.xml"/><Relationship Id="rId7" Type="http://schemas.openxmlformats.org/officeDocument/2006/relationships/chart" Target="../charts/chart14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Relationship Id="rId10" Type="http://schemas.openxmlformats.org/officeDocument/2006/relationships/chart" Target="../charts/chart904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chart" Target="..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chart" Target="../charts/chart1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tags" Target="../tags/tag16.xml"/><Relationship Id="rId10" Type="http://schemas.openxmlformats.org/officeDocument/2006/relationships/tags" Target="../tags/tag17.xml"/><Relationship Id="rId11" Type="http://schemas.openxmlformats.org/officeDocument/2006/relationships/tags" Target="../tags/tag18.xml"/><Relationship Id="rId12" Type="http://schemas.openxmlformats.org/officeDocument/2006/relationships/tags" Target="../tags/tag19.xml"/><Relationship Id="rId13" Type="http://schemas.openxmlformats.org/officeDocument/2006/relationships/tags" Target="../tags/tag20.xml"/><Relationship Id="rId14" Type="http://schemas.openxmlformats.org/officeDocument/2006/relationships/tags" Target="../tags/tag21.xml"/><Relationship Id="rId15" Type="http://schemas.openxmlformats.org/officeDocument/2006/relationships/tags" Target="../tags/tag22.xml"/><Relationship Id="rId16" Type="http://schemas.openxmlformats.org/officeDocument/2006/relationships/tags" Target="../tags/tag23.xml"/><Relationship Id="rId17" Type="http://schemas.openxmlformats.org/officeDocument/2006/relationships/tags" Target="../tags/tag24.xml"/><Relationship Id="rId18" Type="http://schemas.openxmlformats.org/officeDocument/2006/relationships/tags" Target="../tags/tag25.xml"/><Relationship Id="rId19" Type="http://schemas.openxmlformats.org/officeDocument/2006/relationships/tags" Target="../tags/tag26.xml"/><Relationship Id="rId20" Type="http://schemas.openxmlformats.org/officeDocument/2006/relationships/tags" Target="../tags/tag27.xml"/><Relationship Id="rId21" Type="http://schemas.openxmlformats.org/officeDocument/2006/relationships/tags" Target="../tags/tag28.xml"/><Relationship Id="rId22" Type="http://schemas.openxmlformats.org/officeDocument/2006/relationships/tags" Target="../tags/tag29.xml"/><Relationship Id="rId23" Type="http://schemas.openxmlformats.org/officeDocument/2006/relationships/tags" Target="../tags/tag30.xml"/><Relationship Id="rId24" Type="http://schemas.openxmlformats.org/officeDocument/2006/relationships/tags" Target="../tags/tag31.xml"/><Relationship Id="rId25" Type="http://schemas.openxmlformats.org/officeDocument/2006/relationships/tags" Target="../tags/tag32.xml"/><Relationship Id="rId26" Type="http://schemas.openxmlformats.org/officeDocument/2006/relationships/tags" Target="../tags/tag33.xml"/><Relationship Id="rId27" Type="http://schemas.openxmlformats.org/officeDocument/2006/relationships/tags" Target="../tags/tag34.xml"/><Relationship Id="rId28" Type="http://schemas.openxmlformats.org/officeDocument/2006/relationships/tags" Target="../tags/tag35.xml"/><Relationship Id="rId29" Type="http://schemas.openxmlformats.org/officeDocument/2006/relationships/tags" Target="../tags/tag36.xml"/><Relationship Id="rId30" Type="http://schemas.openxmlformats.org/officeDocument/2006/relationships/tags" Target="../tags/tag37.xml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0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Relationship Id="rId10" Type="http://schemas.openxmlformats.org/officeDocument/2006/relationships/tags" Target="../tags/tag46.xml"/><Relationship Id="rId11" Type="http://schemas.openxmlformats.org/officeDocument/2006/relationships/tags" Target="../tags/tag47.xml"/><Relationship Id="rId12" Type="http://schemas.openxmlformats.org/officeDocument/2006/relationships/tags" Target="../tags/tag48.xml"/><Relationship Id="rId13" Type="http://schemas.openxmlformats.org/officeDocument/2006/relationships/tags" Target="../tags/tag49.xml"/><Relationship Id="rId14" Type="http://schemas.openxmlformats.org/officeDocument/2006/relationships/tags" Target="../tags/tag50.xml"/><Relationship Id="rId15" Type="http://schemas.openxmlformats.org/officeDocument/2006/relationships/tags" Target="../tags/tag51.xml"/><Relationship Id="rId16" Type="http://schemas.openxmlformats.org/officeDocument/2006/relationships/tags" Target="../tags/tag52.xml"/><Relationship Id="rId17" Type="http://schemas.openxmlformats.org/officeDocument/2006/relationships/tags" Target="../tags/tag53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1.xml"/><Relationship Id="rId2" Type="http://schemas.openxmlformats.org/officeDocument/2006/relationships/chart" Target="../charts/chart22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Relationship Id="rId5" Type="http://schemas.openxmlformats.org/officeDocument/2006/relationships/chart" Target="../charts/chart25.xml"/><Relationship Id="rId6" Type="http://schemas.openxmlformats.org/officeDocument/2006/relationships/tags" Target="../tags/tag54.xml"/><Relationship Id="rId7" Type="http://schemas.openxmlformats.org/officeDocument/2006/relationships/tags" Target="../tags/tag55.xml"/><Relationship Id="rId8" Type="http://schemas.openxmlformats.org/officeDocument/2006/relationships/tags" Target="../tags/tag56.xml"/><Relationship Id="rId9" Type="http://schemas.openxmlformats.org/officeDocument/2006/relationships/tags" Target="../tags/tag57.xml"/><Relationship Id="rId10" Type="http://schemas.openxmlformats.org/officeDocument/2006/relationships/tags" Target="../tags/tag58.xml"/><Relationship Id="rId11" Type="http://schemas.openxmlformats.org/officeDocument/2006/relationships/tags" Target="../tags/tag59.xml"/><Relationship Id="rId12" Type="http://schemas.openxmlformats.org/officeDocument/2006/relationships/tags" Target="../tags/tag60.xml"/><Relationship Id="rId13" Type="http://schemas.openxmlformats.org/officeDocument/2006/relationships/tags" Target="../tags/tag61.xml"/><Relationship Id="rId14" Type="http://schemas.openxmlformats.org/officeDocument/2006/relationships/tags" Target="../tags/tag62.xml"/><Relationship Id="rId15" Type="http://schemas.openxmlformats.org/officeDocument/2006/relationships/tags" Target="../tags/tag63.xml"/><Relationship Id="rId16" Type="http://schemas.openxmlformats.org/officeDocument/2006/relationships/tags" Target="../tags/tag64.xml"/><Relationship Id="rId17" Type="http://schemas.openxmlformats.org/officeDocument/2006/relationships/tags" Target="../tags/tag65.xml"/><Relationship Id="rId18" Type="http://schemas.openxmlformats.org/officeDocument/2006/relationships/tags" Target="../tags/tag66.xml"/><Relationship Id="rId19" Type="http://schemas.openxmlformats.org/officeDocument/2006/relationships/tags" Target="../tags/tag67.xml"/><Relationship Id="rId20" Type="http://schemas.openxmlformats.org/officeDocument/2006/relationships/tags" Target="../tags/tag68.xml"/><Relationship Id="rId21" Type="http://schemas.openxmlformats.org/officeDocument/2006/relationships/tags" Target="../tags/tag69.xml"/><Relationship Id="rId22" Type="http://schemas.openxmlformats.org/officeDocument/2006/relationships/tags" Target="../tags/tag70.xml"/><Relationship Id="rId23" Type="http://schemas.openxmlformats.org/officeDocument/2006/relationships/tags" Target="../tags/tag71.xml"/><Relationship Id="rId24" Type="http://schemas.openxmlformats.org/officeDocument/2006/relationships/tags" Target="../tags/tag72.xml"/><Relationship Id="rId25" Type="http://schemas.openxmlformats.org/officeDocument/2006/relationships/tags" Target="../tags/tag73.xml"/><Relationship Id="rId26" Type="http://schemas.openxmlformats.org/officeDocument/2006/relationships/tags" Target="../tags/tag74.xml"/><Relationship Id="rId27" Type="http://schemas.openxmlformats.org/officeDocument/2006/relationships/tags" Target="../tags/tag75.xml"/><Relationship Id="rId28" Type="http://schemas.openxmlformats.org/officeDocument/2006/relationships/tags" Target="../tags/tag76.xml"/><Relationship Id="rId29" Type="http://schemas.openxmlformats.org/officeDocument/2006/relationships/tags" Target="../tags/tag77.xml"/><Relationship Id="rId30" Type="http://schemas.openxmlformats.org/officeDocument/2006/relationships/tags" Target="../tags/tag78.xml"/><Relationship Id="rId31" Type="http://schemas.openxmlformats.org/officeDocument/2006/relationships/tags" Target="../tags/tag79.xml"/><Relationship Id="rId32" Type="http://schemas.openxmlformats.org/officeDocument/2006/relationships/tags" Target="../tags/tag80.xml"/><Relationship Id="rId33" Type="http://schemas.openxmlformats.org/officeDocument/2006/relationships/tags" Target="../tags/tag81.xml"/><Relationship Id="rId34" Type="http://schemas.openxmlformats.org/officeDocument/2006/relationships/tags" Target="../tags/tag82.xml"/><Relationship Id="rId35" Type="http://schemas.openxmlformats.org/officeDocument/2006/relationships/tags" Target="../tags/tag83.xml"/><Relationship Id="rId36" Type="http://schemas.openxmlformats.org/officeDocument/2006/relationships/tags" Target="../tags/tag84.xml"/><Relationship Id="rId37" Type="http://schemas.openxmlformats.org/officeDocument/2006/relationships/tags" Target="../tags/tag85.xml"/><Relationship Id="rId38" Type="http://schemas.openxmlformats.org/officeDocument/2006/relationships/tags" Target="../tags/tag86.xml"/><Relationship Id="rId39" Type="http://schemas.openxmlformats.org/officeDocument/2006/relationships/tags" Target="../tags/tag87.xml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6.xml"/><Relationship Id="rId2" Type="http://schemas.openxmlformats.org/officeDocument/2006/relationships/chart" Target="../charts/chart27.xml"/><Relationship Id="rId3" Type="http://schemas.openxmlformats.org/officeDocument/2006/relationships/tags" Target="../tags/tag88.xml"/><Relationship Id="rId4" Type="http://schemas.openxmlformats.org/officeDocument/2006/relationships/tags" Target="../tags/tag89.xml"/><Relationship Id="rId5" Type="http://schemas.openxmlformats.org/officeDocument/2006/relationships/tags" Target="../tags/tag90.xml"/><Relationship Id="rId6" Type="http://schemas.openxmlformats.org/officeDocument/2006/relationships/tags" Target="../tags/tag91.xml"/><Relationship Id="rId7" Type="http://schemas.openxmlformats.org/officeDocument/2006/relationships/tags" Target="../tags/tag92.xml"/><Relationship Id="rId8" Type="http://schemas.openxmlformats.org/officeDocument/2006/relationships/tags" Target="../tags/tag93.xml"/><Relationship Id="rId9" Type="http://schemas.openxmlformats.org/officeDocument/2006/relationships/tags" Target="../tags/tag94.xml"/><Relationship Id="rId10" Type="http://schemas.openxmlformats.org/officeDocument/2006/relationships/tags" Target="../tags/tag95.xml"/><Relationship Id="rId11" Type="http://schemas.openxmlformats.org/officeDocument/2006/relationships/tags" Target="../tags/tag96.xml"/><Relationship Id="rId12" Type="http://schemas.openxmlformats.org/officeDocument/2006/relationships/tags" Target="../tags/tag97.xml"/><Relationship Id="rId13" Type="http://schemas.openxmlformats.org/officeDocument/2006/relationships/tags" Target="../tags/tag98.xml"/><Relationship Id="rId14" Type="http://schemas.openxmlformats.org/officeDocument/2006/relationships/tags" Target="../tags/tag99.xml"/><Relationship Id="rId15" Type="http://schemas.openxmlformats.org/officeDocument/2006/relationships/tags" Target="../tags/tag100.xml"/><Relationship Id="rId16" Type="http://schemas.openxmlformats.org/officeDocument/2006/relationships/tags" Target="../tags/tag101.xml"/><Relationship Id="rId17" Type="http://schemas.openxmlformats.org/officeDocument/2006/relationships/tags" Target="../tags/tag102.xml"/><Relationship Id="rId18" Type="http://schemas.openxmlformats.org/officeDocument/2006/relationships/tags" Target="../tags/tag103.xml"/><Relationship Id="rId19" Type="http://schemas.openxmlformats.org/officeDocument/2006/relationships/tags" Target="../tags/tag104.xml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全维度业绩分析仪表盘  |   生成日期：2026-07-31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38404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38404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36758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年度目标达成率 — 2026 全业务 &amp; 永明业务 APE 达成状况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54864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69080" y="548640"/>
            <a:ext cx="420624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60520" y="585216"/>
            <a:ext cx="404164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保单阶段分布 — 2026 批核 / 未批核 / 待签 APE 构成分析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0" y="548640"/>
            <a:ext cx="363931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0" y="548640"/>
            <a:ext cx="36393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03920" y="58521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业务类型业绩 — 渠道批核 / 未批核 / 待签（APE in M）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" y="3429000"/>
            <a:ext cx="119603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" y="3429000"/>
            <a:ext cx="1196035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2880" y="3465576"/>
            <a:ext cx="117957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 预约 / 签单 / 批核月度趋势三线图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" y="8778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" y="143560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全业务目标达成率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6816" y="87782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956816" y="87782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48256" y="896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48256" y="106984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 APE（2026）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56816" y="124358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956816" y="124358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48256" y="12618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48256" y="143560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批核件数（2026）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956816" y="160934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56816" y="16093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48256" y="16276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-508M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8256" y="180136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剩余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9456" y="19842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全业务目标（1,113M）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" y="21488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19456" y="2148840"/>
            <a:ext cx="69718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06040" y="21122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9456" y="23042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605M / 剩余缺口 508M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456" y="24414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永明业务目标（976M）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456" y="26060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9456" y="2606040"/>
            <a:ext cx="666872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06040" y="25694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9456" y="27614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512M / 剩余缺口 464M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1440" y="2971800"/>
            <a:ext cx="384048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1440" y="2944495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5095" y="2952115"/>
            <a:ext cx="477520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190" y="3056255"/>
            <a:ext cx="377825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全业务批核 APE 达 605.2M，达成率 54.4%，全年目标 1113M 缺口约 508M。3 月预约件数 216 件，环比 +96.4%，前端动能延续，Q2 转化批核可期。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97096" y="877824"/>
            <a:ext cx="2573763" cy="21945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770859" y="877824"/>
            <a:ext cx="11728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943703" y="877824"/>
            <a:ext cx="178594" cy="21945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122297" y="877824"/>
            <a:ext cx="43295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19709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197096" y="1207008"/>
            <a:ext cx="1901952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8853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批核（生效）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8853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8853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  |  占比 79.4%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009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5340096" y="1463040"/>
            <a:ext cx="426984" cy="23774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20877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208776" y="1207008"/>
            <a:ext cx="190195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30021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0021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30021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 件  |  占比 14.1%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5177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351776" y="1463040"/>
            <a:ext cx="1945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19709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97096" y="2084832"/>
            <a:ext cx="1901952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28853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28853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8853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 件  |  占比 2.1%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009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5340096" y="2340864"/>
            <a:ext cx="29628" cy="23774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620877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208776" y="2084832"/>
            <a:ext cx="19019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30021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流失（2026）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33.6M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30021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 件  |  占比 4.4%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5177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7351776" y="2340864"/>
            <a:ext cx="7183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4069080" y="2971800"/>
            <a:ext cx="42062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069080" y="2944495"/>
            <a:ext cx="4206240" cy="274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110355" y="2967355"/>
            <a:ext cx="78168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97020" y="3041015"/>
            <a:ext cx="4105275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未批核（107.3M，235 件）与待签（16.0M，42 件）合计 123.4M 在管道中，占批核 APE 的 20%。若能快速推进至生效，可直接拉升达成率逾 11 个百分点。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8503920" y="859536"/>
          <a:ext cx="3474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Shape 79"/>
          <p:cNvSpPr/>
          <p:nvPr/>
        </p:nvSpPr>
        <p:spPr>
          <a:xfrm>
            <a:off x="8412480" y="2971800"/>
            <a:ext cx="3639185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3" name="Shape 80"/>
          <p:cNvSpPr/>
          <p:nvPr/>
        </p:nvSpPr>
        <p:spPr>
          <a:xfrm>
            <a:off x="8412480" y="2944495"/>
            <a:ext cx="3639312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8446135" y="2952115"/>
            <a:ext cx="70548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53120" y="3141345"/>
            <a:ext cx="3507105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经代业务批核 488.7M 占全渠道 80.8%，是唯一业绩主力；未批核 63.5M 是最大转化机会。其余渠道：代理人业务（批核 72.2M）、KA业务（批核 24.9M）、MGA业务（批核 19.4M），体量较小，需明确各渠道扩量优先级。</a:t>
            </a:r>
            <a:endParaRPr lang="en-US" sz="750" dirty="0"/>
          </a:p>
        </p:txBody>
      </p:sp>
      <p:graphicFrame>
        <p:nvGraphicFramePr>
          <p:cNvPr id="86" name="Chart 1"/>
          <p:cNvGraphicFramePr/>
          <p:nvPr/>
        </p:nvGraphicFramePr>
        <p:xfrm>
          <a:off x="219583" y="3804158"/>
          <a:ext cx="7680960" cy="2404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5187952" y="3977640"/>
            <a:ext cx="2674186" cy="2148840"/>
          </a:xfrm>
          <a:prstGeom prst="rect">
            <a:avLst/>
          </a:prstGeom>
          <a:solidFill>
            <a:srgbClr val="1F3864">
              <a:alpha val="10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8" name="Text 84"/>
          <p:cNvSpPr/>
          <p:nvPr/>
        </p:nvSpPr>
        <p:spPr>
          <a:xfrm>
            <a:off x="5187952" y="3995928"/>
            <a:ext cx="267418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</a:t>
            </a:r>
            <a:endParaRPr lang="en-US" sz="750" dirty="0"/>
          </a:p>
        </p:txBody>
      </p:sp>
      <p:sp>
        <p:nvSpPr>
          <p:cNvPr id="89" name="Text 85"/>
          <p:cNvSpPr/>
          <p:nvPr/>
        </p:nvSpPr>
        <p:spPr>
          <a:xfrm>
            <a:off x="8028432" y="372160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年月度明细</a:t>
            </a:r>
            <a:r>
              <a:rPr lang="zh-CN" alt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（包含流失单）</a:t>
            </a:r>
            <a:endParaRPr lang="zh-CN" altLang="en-US" sz="900" b="1" dirty="0">
              <a:solidFill>
                <a:srgbClr val="1A1A2E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0" name="Shape 86"/>
          <p:cNvSpPr/>
          <p:nvPr/>
        </p:nvSpPr>
        <p:spPr>
          <a:xfrm>
            <a:off x="8028432" y="3959352"/>
            <a:ext cx="393192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91" name="Text 87"/>
          <p:cNvSpPr/>
          <p:nvPr/>
        </p:nvSpPr>
        <p:spPr>
          <a:xfrm>
            <a:off x="8065008" y="399592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月份</a:t>
            </a:r>
            <a:endParaRPr lang="en-US" sz="750" dirty="0"/>
          </a:p>
        </p:txBody>
      </p:sp>
      <p:sp>
        <p:nvSpPr>
          <p:cNvPr id="92" name="Text 88"/>
          <p:cNvSpPr/>
          <p:nvPr/>
        </p:nvSpPr>
        <p:spPr>
          <a:xfrm>
            <a:off x="8487918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26-Jan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9054846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26-Feb</a:t>
            </a:r>
            <a:endParaRPr lang="en-US" sz="750" dirty="0"/>
          </a:p>
        </p:txBody>
      </p:sp>
      <p:sp>
        <p:nvSpPr>
          <p:cNvPr id="94" name="Text 90"/>
          <p:cNvSpPr/>
          <p:nvPr/>
        </p:nvSpPr>
        <p:spPr>
          <a:xfrm>
            <a:off x="962177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26-Mar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028432" y="4197096"/>
            <a:ext cx="3931920" cy="256032"/>
          </a:xfrm>
          <a:prstGeom prst="rect">
            <a:avLst/>
          </a:prstGeom>
          <a:solidFill>
            <a:srgbClr val="1F3864">
              <a:alpha val="12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6" name="Shape 92"/>
          <p:cNvSpPr/>
          <p:nvPr/>
        </p:nvSpPr>
        <p:spPr>
          <a:xfrm>
            <a:off x="8028432" y="4197096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7" name="Text 93"/>
          <p:cNvSpPr/>
          <p:nvPr/>
        </p:nvSpPr>
        <p:spPr>
          <a:xfrm>
            <a:off x="8072628" y="42519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APE</a:t>
            </a:r>
            <a:endParaRPr lang="en-US" sz="750" dirty="0"/>
          </a:p>
        </p:txBody>
      </p:sp>
      <p:sp>
        <p:nvSpPr>
          <p:cNvPr id="98" name="Text 94"/>
          <p:cNvSpPr/>
          <p:nvPr/>
        </p:nvSpPr>
        <p:spPr>
          <a:xfrm>
            <a:off x="8487918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53.9</a:t>
            </a:r>
            <a:endParaRPr lang="en-US" sz="900" dirty="0"/>
          </a:p>
        </p:txBody>
      </p:sp>
      <p:sp>
        <p:nvSpPr>
          <p:cNvPr id="99" name="Text 95"/>
          <p:cNvSpPr/>
          <p:nvPr/>
        </p:nvSpPr>
        <p:spPr>
          <a:xfrm>
            <a:off x="9054846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56.4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962177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81.5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028432" y="4453128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8"/>
          <p:cNvSpPr/>
          <p:nvPr/>
        </p:nvSpPr>
        <p:spPr>
          <a:xfrm>
            <a:off x="8028432" y="4453128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3" name="Text 99"/>
          <p:cNvSpPr/>
          <p:nvPr/>
        </p:nvSpPr>
        <p:spPr>
          <a:xfrm>
            <a:off x="8073898" y="45079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件数</a:t>
            </a:r>
            <a:endParaRPr lang="en-US" sz="750" dirty="0"/>
          </a:p>
        </p:txBody>
      </p:sp>
      <p:sp>
        <p:nvSpPr>
          <p:cNvPr id="104" name="Text 100"/>
          <p:cNvSpPr/>
          <p:nvPr/>
        </p:nvSpPr>
        <p:spPr>
          <a:xfrm>
            <a:off x="8487918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132件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9054846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110件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962177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216件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8028432" y="4709160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8" name="Shape 104"/>
          <p:cNvSpPr/>
          <p:nvPr/>
        </p:nvSpPr>
        <p:spPr>
          <a:xfrm>
            <a:off x="8028432" y="4764024"/>
            <a:ext cx="3931920" cy="256032"/>
          </a:xfrm>
          <a:prstGeom prst="rect">
            <a:avLst/>
          </a:prstGeom>
          <a:solidFill>
            <a:srgbClr val="00796B">
              <a:alpha val="12000"/>
            </a:srgbClr>
          </a:solidFill>
          <a:ln w="635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9" name="Shape 105"/>
          <p:cNvSpPr/>
          <p:nvPr/>
        </p:nvSpPr>
        <p:spPr>
          <a:xfrm>
            <a:off x="8028432" y="4764024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0" name="Text 106"/>
          <p:cNvSpPr/>
          <p:nvPr/>
        </p:nvSpPr>
        <p:spPr>
          <a:xfrm>
            <a:off x="8072628" y="4818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APE</a:t>
            </a:r>
            <a:endParaRPr lang="en-US" sz="750" dirty="0"/>
          </a:p>
        </p:txBody>
      </p:sp>
      <p:sp>
        <p:nvSpPr>
          <p:cNvPr id="111" name="Text 107"/>
          <p:cNvSpPr/>
          <p:nvPr/>
        </p:nvSpPr>
        <p:spPr>
          <a:xfrm>
            <a:off x="8487918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47.9</a:t>
            </a:r>
            <a:endParaRPr lang="en-US" sz="900" dirty="0"/>
          </a:p>
        </p:txBody>
      </p:sp>
      <p:sp>
        <p:nvSpPr>
          <p:cNvPr id="112" name="Text 108"/>
          <p:cNvSpPr/>
          <p:nvPr/>
        </p:nvSpPr>
        <p:spPr>
          <a:xfrm>
            <a:off x="9054846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61.1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962177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82.2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8028432" y="5020056"/>
            <a:ext cx="3931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5" name="Shape 111"/>
          <p:cNvSpPr/>
          <p:nvPr/>
        </p:nvSpPr>
        <p:spPr>
          <a:xfrm>
            <a:off x="8028432" y="5020056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6" name="Text 112"/>
          <p:cNvSpPr/>
          <p:nvPr/>
        </p:nvSpPr>
        <p:spPr>
          <a:xfrm>
            <a:off x="8073898" y="50749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件数</a:t>
            </a:r>
            <a:endParaRPr lang="en-US" sz="750" dirty="0"/>
          </a:p>
        </p:txBody>
      </p:sp>
      <p:sp>
        <p:nvSpPr>
          <p:cNvPr id="117" name="Text 113"/>
          <p:cNvSpPr/>
          <p:nvPr/>
        </p:nvSpPr>
        <p:spPr>
          <a:xfrm>
            <a:off x="8487918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114件</a:t>
            </a:r>
            <a:endParaRPr lang="en-US" sz="900" dirty="0"/>
          </a:p>
        </p:txBody>
      </p:sp>
      <p:sp>
        <p:nvSpPr>
          <p:cNvPr id="118" name="Text 114"/>
          <p:cNvSpPr/>
          <p:nvPr/>
        </p:nvSpPr>
        <p:spPr>
          <a:xfrm>
            <a:off x="9054846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962177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212件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8028432" y="5276088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1" name="Shape 117"/>
          <p:cNvSpPr/>
          <p:nvPr/>
        </p:nvSpPr>
        <p:spPr>
          <a:xfrm>
            <a:off x="8028432" y="5330952"/>
            <a:ext cx="3931920" cy="256032"/>
          </a:xfrm>
          <a:prstGeom prst="rect">
            <a:avLst/>
          </a:prstGeom>
          <a:solidFill>
            <a:srgbClr val="1A7A3F">
              <a:alpha val="12000"/>
            </a:srgbClr>
          </a:solidFill>
          <a:ln w="635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2" name="Shape 118"/>
          <p:cNvSpPr/>
          <p:nvPr/>
        </p:nvSpPr>
        <p:spPr>
          <a:xfrm>
            <a:off x="8028432" y="5330952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3" name="Text 119"/>
          <p:cNvSpPr/>
          <p:nvPr/>
        </p:nvSpPr>
        <p:spPr>
          <a:xfrm>
            <a:off x="8072628" y="538581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</a:t>
            </a:r>
            <a:endParaRPr lang="en-US" sz="750" dirty="0"/>
          </a:p>
        </p:txBody>
      </p:sp>
      <p:sp>
        <p:nvSpPr>
          <p:cNvPr id="124" name="Text 120"/>
          <p:cNvSpPr/>
          <p:nvPr/>
        </p:nvSpPr>
        <p:spPr>
          <a:xfrm>
            <a:off x="8487918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116.8</a:t>
            </a:r>
            <a:endParaRPr lang="en-US" sz="900" dirty="0"/>
          </a:p>
        </p:txBody>
      </p:sp>
      <p:sp>
        <p:nvSpPr>
          <p:cNvPr id="125" name="Text 121"/>
          <p:cNvSpPr/>
          <p:nvPr/>
        </p:nvSpPr>
        <p:spPr>
          <a:xfrm>
            <a:off x="9054846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143.7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962177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85.8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8028432" y="5586984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8" name="Shape 124"/>
          <p:cNvSpPr/>
          <p:nvPr/>
        </p:nvSpPr>
        <p:spPr>
          <a:xfrm>
            <a:off x="8028432" y="5586984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9" name="Text 125"/>
          <p:cNvSpPr/>
          <p:nvPr/>
        </p:nvSpPr>
        <p:spPr>
          <a:xfrm>
            <a:off x="8073898" y="56418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件数</a:t>
            </a:r>
            <a:endParaRPr lang="en-US" sz="750" dirty="0"/>
          </a:p>
        </p:txBody>
      </p:sp>
      <p:sp>
        <p:nvSpPr>
          <p:cNvPr id="130" name="Text 126"/>
          <p:cNvSpPr/>
          <p:nvPr/>
        </p:nvSpPr>
        <p:spPr>
          <a:xfrm>
            <a:off x="8487918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203件</a:t>
            </a:r>
            <a:endParaRPr lang="en-US" sz="900" dirty="0"/>
          </a:p>
        </p:txBody>
      </p:sp>
      <p:sp>
        <p:nvSpPr>
          <p:cNvPr id="131" name="Text 127"/>
          <p:cNvSpPr/>
          <p:nvPr/>
        </p:nvSpPr>
        <p:spPr>
          <a:xfrm>
            <a:off x="9054846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180件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62177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143件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91440" y="6181344"/>
            <a:ext cx="11960352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4" name="Shape 130"/>
          <p:cNvSpPr/>
          <p:nvPr/>
        </p:nvSpPr>
        <p:spPr>
          <a:xfrm>
            <a:off x="91440" y="6181344"/>
            <a:ext cx="11960352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1"/>
          <p:cNvSpPr/>
          <p:nvPr/>
        </p:nvSpPr>
        <p:spPr>
          <a:xfrm>
            <a:off x="165735" y="6245225"/>
            <a:ext cx="64960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124968" y="6419088"/>
            <a:ext cx="1175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 Q1 呈现存量驱动特征，2月批核峰值 143.7M 为全年迄今最高。3 月预约/签单同步走强，前端动能复苏。7月初已批核 32.9M，节后启动正常，后续 9 个月需月均 83.8M 以达成年度目标。</a:t>
            </a:r>
            <a:endParaRPr lang="en-US" sz="750" dirty="0"/>
          </a:p>
        </p:txBody>
      </p:sp>
      <p:sp>
        <p:nvSpPr>
          <p:cNvPr id="137" name="Shape 133"/>
          <p:cNvSpPr/>
          <p:nvPr/>
        </p:nvSpPr>
        <p:spPr>
          <a:xfrm>
            <a:off x="91440" y="6729984"/>
            <a:ext cx="119786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8" name="Text 90"/>
          <p:cNvSpPr/>
          <p:nvPr/>
        </p:nvSpPr>
        <p:spPr>
          <a:xfrm>
            <a:off x="10129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26-Apr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0129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67.4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0129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0129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0129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162件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0129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91.2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0129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0696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26-May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0696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81.9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0696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0696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0696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225件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0696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72.8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0696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1263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26-Jun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1263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84.3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1263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1263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85.7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1263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1263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62.0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1263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1830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26-Jul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1830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49.5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1830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124件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1830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39.2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1830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1830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32.9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1830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/>
          <p:nvPr/>
        </p:nvSpPr>
        <p:spPr>
          <a:xfrm>
            <a:off x="190500" y="538480"/>
            <a:ext cx="5432425" cy="60998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月度效能深析  |  预约 / 签单 / 批核 三维 YoY 对比 &amp; 2026 达标路径管控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548640"/>
            <a:ext cx="5532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6"/>
          <p:cNvSpPr/>
          <p:nvPr/>
        </p:nvSpPr>
        <p:spPr>
          <a:xfrm>
            <a:off x="91440" y="6071616"/>
            <a:ext cx="55321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91440" y="6071616"/>
            <a:ext cx="553212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153670" y="6154420"/>
            <a:ext cx="63881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55575" y="6333490"/>
            <a:ext cx="5367020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750" dirty="0"/>
              <a:t>2026 年 3 月预约件数从 2 月 110 件增至 216 件（环比 +96.4%），前端明显回暖。但 3 月件均 APE 3.8 万低于 2 月 5.1 万，显示新增单偏中小额，需关注单均下滑趋势。</a:t>
            </a:r>
            <a:endParaRPr lang="zh-CN" alt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0" y="538480"/>
            <a:ext cx="6305550" cy="61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4" name="Shape 61"/>
          <p:cNvSpPr/>
          <p:nvPr/>
        </p:nvSpPr>
        <p:spPr>
          <a:xfrm>
            <a:off x="5760720" y="548640"/>
            <a:ext cx="6291072" cy="2743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5852160" y="585216"/>
            <a:ext cx="6126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 2026 年批核 APE 月度走势与目标达标路径管控</a:t>
            </a:r>
            <a:endParaRPr lang="en-US" sz="85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897880" y="868680"/>
          <a:ext cx="6062345" cy="377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Shape 63"/>
          <p:cNvSpPr/>
          <p:nvPr/>
        </p:nvSpPr>
        <p:spPr>
          <a:xfrm>
            <a:off x="9592430" y="1137285"/>
            <a:ext cx="2473840" cy="3203575"/>
          </a:xfrm>
          <a:prstGeom prst="rect">
            <a:avLst/>
          </a:prstGeom>
          <a:solidFill>
            <a:srgbClr val="D6E8FF">
              <a:alpha val="60000"/>
            </a:srgbClr>
          </a:solidFill>
          <a:ln w="10160">
            <a:solidFill>
              <a:srgbClr val="9BBDE8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68" name="Text 64"/>
          <p:cNvSpPr/>
          <p:nvPr/>
        </p:nvSpPr>
        <p:spPr>
          <a:xfrm>
            <a:off x="9592430" y="1197610"/>
            <a:ext cx="2184460" cy="243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7F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预测区间（5–12 月）→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925185" y="3042285"/>
            <a:ext cx="6035040" cy="635"/>
          </a:xfrm>
          <a:prstGeom prst="line">
            <a:avLst/>
          </a:prstGeom>
          <a:noFill/>
          <a:ln w="12700">
            <a:solidFill>
              <a:srgbClr val="C8890A"/>
            </a:solidFill>
            <a:prstDash val="sysDot"/>
          </a:ln>
        </p:spPr>
        <p:txBody>
          <a:bodyPr/>
          <a:p/>
        </p:txBody>
      </p:sp>
      <p:sp>
        <p:nvSpPr>
          <p:cNvPr id="70" name="Text 66"/>
          <p:cNvSpPr/>
          <p:nvPr/>
        </p:nvSpPr>
        <p:spPr>
          <a:xfrm>
            <a:off x="8313420" y="1756664"/>
            <a:ext cx="301752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达标节奏线  84.6M/月（剩余 508M ÷ 6mo）</a:t>
            </a:r>
            <a:endParaRPr lang="en-US" sz="85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5925185" y="3263900"/>
            <a:ext cx="6035040" cy="635"/>
          </a:xfrm>
          <a:prstGeom prst="line">
            <a:avLst/>
          </a:prstGeom>
          <a:noFill/>
          <a:ln w="12700">
            <a:solidFill>
              <a:srgbClr val="C0392B"/>
            </a:solidFill>
            <a:prstDash val="sysDot"/>
          </a:ln>
        </p:spPr>
        <p:txBody>
          <a:bodyPr/>
          <a:p/>
        </p:txBody>
      </p:sp>
      <p:sp>
        <p:nvSpPr>
          <p:cNvPr id="72" name="Text 68"/>
          <p:cNvSpPr/>
          <p:nvPr/>
        </p:nvSpPr>
        <p:spPr>
          <a:xfrm>
            <a:off x="8787130" y="3264535"/>
            <a:ext cx="159956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  69.5M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5897880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" name="Shape 70"/>
          <p:cNvSpPr/>
          <p:nvPr/>
        </p:nvSpPr>
        <p:spPr>
          <a:xfrm>
            <a:off x="5897880" y="5127879"/>
            <a:ext cx="1444752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5" name="Text 71"/>
          <p:cNvSpPr/>
          <p:nvPr/>
        </p:nvSpPr>
        <p:spPr>
          <a:xfrm>
            <a:off x="5989320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000" dirty="0"/>
          </a:p>
        </p:txBody>
      </p:sp>
      <p:sp>
        <p:nvSpPr>
          <p:cNvPr id="76" name="Text 72"/>
          <p:cNvSpPr/>
          <p:nvPr/>
        </p:nvSpPr>
        <p:spPr>
          <a:xfrm>
            <a:off x="5989320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1–4 月已批核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989320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 达成率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7434072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" name="Shape 75"/>
          <p:cNvSpPr/>
          <p:nvPr/>
        </p:nvSpPr>
        <p:spPr>
          <a:xfrm>
            <a:off x="7434072" y="5127879"/>
            <a:ext cx="14447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0" name="Text 76"/>
          <p:cNvSpPr/>
          <p:nvPr/>
        </p:nvSpPr>
        <p:spPr>
          <a:xfrm>
            <a:off x="7525512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2000" dirty="0"/>
          </a:p>
        </p:txBody>
      </p:sp>
      <p:sp>
        <p:nvSpPr>
          <p:cNvPr id="81" name="Text 77"/>
          <p:cNvSpPr/>
          <p:nvPr/>
        </p:nvSpPr>
        <p:spPr>
          <a:xfrm>
            <a:off x="7525512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剩余目标缺口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525512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45.6% 目标剩余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8970264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4" name="Shape 80"/>
          <p:cNvSpPr/>
          <p:nvPr/>
        </p:nvSpPr>
        <p:spPr>
          <a:xfrm>
            <a:off x="8970264" y="5127879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85" name="Text 81"/>
          <p:cNvSpPr/>
          <p:nvPr/>
        </p:nvSpPr>
        <p:spPr>
          <a:xfrm>
            <a:off x="9061704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84.6M</a:t>
            </a:r>
            <a:endParaRPr lang="en-US" sz="2000" dirty="0"/>
          </a:p>
        </p:txBody>
      </p:sp>
      <p:sp>
        <p:nvSpPr>
          <p:cNvPr id="86" name="Text 82"/>
          <p:cNvSpPr/>
          <p:nvPr/>
        </p:nvSpPr>
        <p:spPr>
          <a:xfrm>
            <a:off x="9061704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月均需达成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9061704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剩余缺口÷剩余月份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10506456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9" name="Shape 85"/>
          <p:cNvSpPr/>
          <p:nvPr/>
        </p:nvSpPr>
        <p:spPr>
          <a:xfrm>
            <a:off x="10506456" y="5127879"/>
            <a:ext cx="1444752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p/>
        </p:txBody>
      </p:sp>
      <p:sp>
        <p:nvSpPr>
          <p:cNvPr id="90" name="Text 86"/>
          <p:cNvSpPr/>
          <p:nvPr/>
        </p:nvSpPr>
        <p:spPr>
          <a:xfrm>
            <a:off x="10597896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69.5M</a:t>
            </a:r>
            <a:endParaRPr lang="en-US" sz="2000" dirty="0"/>
          </a:p>
        </p:txBody>
      </p:sp>
      <p:sp>
        <p:nvSpPr>
          <p:cNvPr id="91" name="Text 87"/>
          <p:cNvSpPr/>
          <p:nvPr/>
        </p:nvSpPr>
        <p:spPr>
          <a:xfrm>
            <a:off x="10597896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10597896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最低月度目标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5760720" y="6066155"/>
            <a:ext cx="6290945" cy="626745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94" name="Shape 90"/>
          <p:cNvSpPr/>
          <p:nvPr/>
        </p:nvSpPr>
        <p:spPr>
          <a:xfrm>
            <a:off x="5760720" y="6065139"/>
            <a:ext cx="6291072" cy="274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95" name="Text 91"/>
          <p:cNvSpPr/>
          <p:nvPr/>
        </p:nvSpPr>
        <p:spPr>
          <a:xfrm>
            <a:off x="5870575" y="6109970"/>
            <a:ext cx="51498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852160" y="625538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截至 W28，已批核 605.2M（达成率 54.4%），完成全年目标 1113M 还需约 508M，剩余 9 个月月均需 56.4M。若 4–12 月维持 80–100M 节奏，全年可达标。</a:t>
            </a:r>
            <a:endParaRPr lang="en-US" sz="750" dirty="0"/>
          </a:p>
        </p:txBody>
      </p:sp>
      <p:sp>
        <p:nvSpPr>
          <p:cNvPr id="98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97" name="Label_YY"/>
          <p:cNvSpPr/>
          <p:nvPr/>
        </p:nvSpPr>
        <p:spPr>
          <a:xfrm>
            <a:off x="190500" y="556895"/>
            <a:ext cx="5421630" cy="26543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预约 Appointment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99" name="Chart_YY"/>
          <p:cNvGraphicFramePr/>
          <p:nvPr/>
        </p:nvGraphicFramePr>
        <p:xfrm>
          <a:off x="198755" y="828675"/>
          <a:ext cx="4764405" cy="132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Ann_YY"/>
          <p:cNvSpPr/>
          <p:nvPr/>
        </p:nvSpPr>
        <p:spPr>
          <a:xfrm>
            <a:off x="3629126" y="1013517"/>
            <a:ext cx="1334033" cy="2641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-41.3%</a:t>
            </a:r>
          </a:p>
        </p:txBody>
      </p:sp>
      <p:pic>
        <p:nvPicPr>
          <p:cNvPr id="101" name="图片 100" descr="中括号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4845" y="1517650"/>
            <a:ext cx="235585" cy="293370"/>
          </a:xfrm>
          <a:prstGeom prst="rect">
            <a:avLst/>
          </a:prstGeom>
        </p:spPr>
      </p:pic>
      <p:sp>
        <p:nvSpPr>
          <p:cNvPr id="102" name="Ann_YY"/>
          <p:cNvSpPr/>
          <p:nvPr/>
        </p:nvSpPr>
        <p:spPr>
          <a:xfrm>
            <a:off x="3629126" y="1818544"/>
            <a:ext cx="1334033" cy="2292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+4.6%</a:t>
            </a:r>
          </a:p>
        </p:txBody>
      </p:sp>
      <p:sp>
        <p:nvSpPr>
          <p:cNvPr id="104" name="Label_QD"/>
          <p:cNvSpPr/>
          <p:nvPr/>
        </p:nvSpPr>
        <p:spPr>
          <a:xfrm>
            <a:off x="190500" y="2213763"/>
            <a:ext cx="5432425" cy="29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Signed  |  APE(M)  件数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105" name="Chart_QD"/>
          <p:cNvGraphicFramePr/>
          <p:nvPr/>
        </p:nvGraphicFramePr>
        <p:xfrm>
          <a:off x="190500" y="2666365"/>
          <a:ext cx="4747895" cy="145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Ann_QD"/>
          <p:cNvSpPr/>
          <p:nvPr/>
        </p:nvSpPr>
        <p:spPr>
          <a:xfrm>
            <a:off x="3608984" y="2879313"/>
            <a:ext cx="1329410" cy="2673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-54.3%</a:t>
            </a:r>
          </a:p>
        </p:txBody>
      </p:sp>
      <p:sp>
        <p:nvSpPr>
          <p:cNvPr id="108" name="Ann_QD"/>
          <p:cNvSpPr/>
          <p:nvPr/>
        </p:nvSpPr>
        <p:spPr>
          <a:xfrm>
            <a:off x="3608984" y="303888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-0.5%</a:t>
            </a:r>
          </a:p>
        </p:txBody>
      </p:sp>
      <p:pic>
        <p:nvPicPr>
          <p:cNvPr id="111" name="图片 110" descr="中括号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1380" y="3525520"/>
            <a:ext cx="224155" cy="200025"/>
          </a:xfrm>
          <a:prstGeom prst="rect">
            <a:avLst/>
          </a:prstGeom>
        </p:spPr>
      </p:pic>
      <p:pic>
        <p:nvPicPr>
          <p:cNvPr id="112" name="图片 111" descr="中括号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8475" y="2931795"/>
            <a:ext cx="226060" cy="284480"/>
          </a:xfrm>
          <a:prstGeom prst="rect">
            <a:avLst/>
          </a:prstGeom>
        </p:spPr>
      </p:pic>
      <p:sp>
        <p:nvSpPr>
          <p:cNvPr id="113" name="Label_PH"/>
          <p:cNvSpPr/>
          <p:nvPr/>
        </p:nvSpPr>
        <p:spPr>
          <a:xfrm>
            <a:off x="190500" y="4175913"/>
            <a:ext cx="5432425" cy="266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批核 Approved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114" name="Chart_PH"/>
          <p:cNvGraphicFramePr/>
          <p:nvPr/>
        </p:nvGraphicFramePr>
        <p:xfrm>
          <a:off x="229235" y="4499281"/>
          <a:ext cx="4522470" cy="1346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Ann_PH"/>
          <p:cNvSpPr/>
          <p:nvPr/>
        </p:nvSpPr>
        <p:spPr>
          <a:xfrm>
            <a:off x="3485413" y="4691704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-47.0%</a:t>
            </a:r>
          </a:p>
        </p:txBody>
      </p:sp>
      <p:sp>
        <p:nvSpPr>
          <p:cNvPr id="117" name="Ann_PH"/>
          <p:cNvSpPr/>
          <p:nvPr/>
        </p:nvSpPr>
        <p:spPr>
          <a:xfrm>
            <a:off x="3485413" y="5550191"/>
            <a:ext cx="1266291" cy="1397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+23.1%</a:t>
            </a:r>
          </a:p>
        </p:txBody>
      </p:sp>
      <p:pic>
        <p:nvPicPr>
          <p:cNvPr id="119" name="图片 118" descr="中括号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6380" y="4711700"/>
            <a:ext cx="229235" cy="265430"/>
          </a:xfrm>
          <a:prstGeom prst="rect">
            <a:avLst/>
          </a:prstGeom>
        </p:spPr>
      </p:pic>
      <p:pic>
        <p:nvPicPr>
          <p:cNvPr id="120" name="图片 119" descr="中括号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6390" y="5232400"/>
            <a:ext cx="229235" cy="210820"/>
          </a:xfrm>
          <a:prstGeom prst="rect">
            <a:avLst/>
          </a:prstGeom>
        </p:spPr>
      </p:pic>
      <p:pic>
        <p:nvPicPr>
          <p:cNvPr id="121" name="图片 120" descr="中括号右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4345" y="1062990"/>
            <a:ext cx="235585" cy="281305"/>
          </a:xfrm>
          <a:prstGeom prst="rect">
            <a:avLst/>
          </a:prstGeom>
        </p:spPr>
      </p:pic>
      <p:sp>
        <p:nvSpPr>
          <p:cNvPr id="6" name="Ann_YY"/>
          <p:cNvSpPr/>
          <p:nvPr/>
        </p:nvSpPr>
        <p:spPr>
          <a:xfrm>
            <a:off x="3629126" y="1177380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+3.0%</a:t>
            </a:r>
          </a:p>
        </p:txBody>
      </p:sp>
      <p:pic>
        <p:nvPicPr>
          <p:cNvPr id="7" name="图片 6" descr="中括号右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045" y="1350010"/>
            <a:ext cx="235585" cy="276225"/>
          </a:xfrm>
          <a:prstGeom prst="rect">
            <a:avLst/>
          </a:prstGeom>
        </p:spPr>
      </p:pic>
      <p:pic>
        <p:nvPicPr>
          <p:cNvPr id="8" name="图片 7" descr="中括号右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1650" y="3249295"/>
            <a:ext cx="226060" cy="264160"/>
          </a:xfrm>
          <a:prstGeom prst="rect">
            <a:avLst/>
          </a:prstGeom>
        </p:spPr>
      </p:pic>
      <p:sp>
        <p:nvSpPr>
          <p:cNvPr id="10" name="Ann_QD"/>
          <p:cNvSpPr/>
          <p:nvPr/>
        </p:nvSpPr>
        <p:spPr>
          <a:xfrm>
            <a:off x="3608984" y="321115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+38.7%</a:t>
            </a:r>
          </a:p>
        </p:txBody>
      </p:sp>
      <p:sp>
        <p:nvSpPr>
          <p:cNvPr id="11" name="Ann_PH"/>
          <p:cNvSpPr/>
          <p:nvPr/>
        </p:nvSpPr>
        <p:spPr>
          <a:xfrm>
            <a:off x="3485413" y="4851400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-14.8%</a:t>
            </a:r>
          </a:p>
        </p:txBody>
      </p:sp>
      <p:pic>
        <p:nvPicPr>
          <p:cNvPr id="12" name="图片 11" descr="中括号右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36390" y="4935855"/>
            <a:ext cx="229235" cy="265430"/>
          </a:xfrm>
          <a:prstGeom prst="rect">
            <a:avLst/>
          </a:prstGeom>
        </p:spPr>
      </p:pic>
      <p:sp>
        <p:nvSpPr>
          <p:cNvPr id="122" name="Ann_YY"/>
          <p:cNvSpPr/>
          <p:nvPr/>
        </p:nvSpPr>
        <p:spPr>
          <a:xfrm>
            <a:off x="3629126" y="1334893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+21.5%</a:t>
            </a:r>
          </a:p>
        </p:txBody>
      </p:sp>
      <p:sp>
        <p:nvSpPr>
          <p:cNvPr id="123" name="Ann_YY"/>
          <p:cNvSpPr/>
          <p:nvPr/>
        </p:nvSpPr>
        <p:spPr>
          <a:xfrm>
            <a:off x="3629126" y="1492405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-17.3%</a:t>
            </a:r>
          </a:p>
        </p:txBody>
      </p:sp>
      <p:sp>
        <p:nvSpPr>
          <p:cNvPr id="124" name="Ann_YY"/>
          <p:cNvSpPr/>
          <p:nvPr/>
        </p:nvSpPr>
        <p:spPr>
          <a:xfrm>
            <a:off x="3629126" y="1649918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+44.5%</a:t>
            </a:r>
          </a:p>
        </p:txBody>
      </p:sp>
      <p:sp>
        <p:nvSpPr>
          <p:cNvPr id="125" name="Ann_QD"/>
          <p:cNvSpPr/>
          <p:nvPr/>
        </p:nvSpPr>
        <p:spPr>
          <a:xfrm>
            <a:off x="3608984" y="338342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-24.4%</a:t>
            </a:r>
          </a:p>
        </p:txBody>
      </p:sp>
      <p:sp>
        <p:nvSpPr>
          <p:cNvPr id="126" name="Ann_QD"/>
          <p:cNvSpPr/>
          <p:nvPr/>
        </p:nvSpPr>
        <p:spPr>
          <a:xfrm>
            <a:off x="3608984" y="355569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+34.4%</a:t>
            </a:r>
          </a:p>
        </p:txBody>
      </p:sp>
      <p:sp>
        <p:nvSpPr>
          <p:cNvPr id="127" name="Ann_QD"/>
          <p:cNvSpPr/>
          <p:nvPr/>
        </p:nvSpPr>
        <p:spPr>
          <a:xfrm>
            <a:off x="3608984" y="372796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+27.6%</a:t>
            </a:r>
          </a:p>
        </p:txBody>
      </p:sp>
      <p:sp>
        <p:nvSpPr>
          <p:cNvPr id="128" name="Ann_PH"/>
          <p:cNvSpPr/>
          <p:nvPr/>
        </p:nvSpPr>
        <p:spPr>
          <a:xfrm>
            <a:off x="3485413" y="5011096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-20.1%</a:t>
            </a:r>
          </a:p>
        </p:txBody>
      </p:sp>
      <p:sp>
        <p:nvSpPr>
          <p:cNvPr id="129" name="Ann_PH"/>
          <p:cNvSpPr/>
          <p:nvPr/>
        </p:nvSpPr>
        <p:spPr>
          <a:xfrm>
            <a:off x="3485413" y="5170792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+6.3%</a:t>
            </a:r>
          </a:p>
        </p:txBody>
      </p:sp>
      <p:sp>
        <p:nvSpPr>
          <p:cNvPr id="130" name="Ann_PH"/>
          <p:cNvSpPr/>
          <p:nvPr/>
        </p:nvSpPr>
        <p:spPr>
          <a:xfrm>
            <a:off x="3485413" y="5330488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-40.3%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4592" y="64008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永明业绩汇报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Sun Life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1585" y="501015"/>
            <a:ext cx="2071370" cy="675005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21585" y="501015"/>
            <a:ext cx="2071370" cy="76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31440" y="574040"/>
            <a:ext cx="195453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永明批核APE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31440" y="700405"/>
            <a:ext cx="1954530" cy="342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511.6M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40" y="1027430"/>
            <a:ext cx="1173480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1012件  |  达成率52.4%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780" y="508635"/>
            <a:ext cx="2187575" cy="678815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4780" y="508635"/>
            <a:ext cx="218757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4635" y="581660"/>
            <a:ext cx="2063750" cy="165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永明年度达成率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635" y="698500"/>
            <a:ext cx="206375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24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635" y="1030605"/>
            <a:ext cx="1320800" cy="16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目标976M  |  缺口464M</a:t>
            </a: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18380" y="510540"/>
            <a:ext cx="2206625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18380" y="510540"/>
            <a:ext cx="2206625" cy="762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28235" y="583565"/>
            <a:ext cx="2082165" cy="15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永明未批核APE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235" y="709930"/>
            <a:ext cx="2082165" cy="332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78.0M</a:t>
            </a:r>
            <a:endParaRPr lang="en-US" sz="240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5" y="1085850"/>
            <a:ext cx="185547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未批核160件|  件均48.8万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52970" y="51054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52970" y="510540"/>
            <a:ext cx="2232660" cy="762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62825" y="58356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永明待签APE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2825" y="70993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9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6.7M</a:t>
            </a:r>
            <a:endParaRPr lang="en-US" sz="2400" b="1" dirty="0">
              <a:solidFill>
                <a:srgbClr val="B795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2825" y="103187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待签19件  |  件均35.0万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7640" y="3905250"/>
            <a:ext cx="5803265" cy="28168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7640" y="3898265"/>
            <a:ext cx="5803265" cy="226695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9080" y="3932555"/>
            <a:ext cx="236220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永明月度预约/签单/批核 APE 趋势</a:t>
            </a:r>
            <a:endParaRPr lang="en-US" sz="7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40030" y="4187825"/>
          <a:ext cx="5572125" cy="20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167640" y="6337935"/>
            <a:ext cx="5803265" cy="367665"/>
          </a:xfrm>
          <a:prstGeom prst="rect">
            <a:avLst/>
          </a:prstGeom>
          <a:solidFill>
            <a:srgbClr val="EEF2FF"/>
          </a:solidFill>
          <a:ln w="508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67640" y="6308090"/>
            <a:ext cx="5803265" cy="28800"/>
          </a:xfrm>
          <a:prstGeom prst="rect">
            <a:avLst/>
          </a:prstGeom>
          <a:solidFill>
            <a:srgbClr val="1A7A3F"/>
          </a:solidFill>
          <a:ln w="3175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50190" y="6374765"/>
            <a:ext cx="635635" cy="119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6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456" y="6502273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 TOP10 产品累计签单 130.8M（163 件），集中度高。头部产品「万年青·卓金保险计划II」贡献 27.2M/45 件，件均 60.4 万。中小额产品虽件数占比大，但单均偏低，需关注大单产品的持续性供给。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144780" y="1240790"/>
            <a:ext cx="11828145" cy="25247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44780" y="1278890"/>
            <a:ext cx="11828145" cy="2413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36220" y="1306830"/>
            <a:ext cx="11683365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  永明业绩汇报数据-2026  |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6243320" y="3890645"/>
            <a:ext cx="5667375" cy="283845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9" name="Shape 96"/>
          <p:cNvSpPr/>
          <p:nvPr/>
        </p:nvSpPr>
        <p:spPr>
          <a:xfrm>
            <a:off x="6244590" y="3896995"/>
            <a:ext cx="5674360" cy="2082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0" name="Text 97"/>
          <p:cNvSpPr/>
          <p:nvPr/>
        </p:nvSpPr>
        <p:spPr>
          <a:xfrm>
            <a:off x="6386195" y="3903980"/>
            <a:ext cx="1629410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 永明 2026年签单产品排名  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6271895" y="4171315"/>
            <a:ext cx="5600065" cy="21971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6496812" y="42080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752844" y="4208018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保司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7137400" y="4226560"/>
            <a:ext cx="1285875" cy="127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产品名称（签单期）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9606534" y="4217543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签单件数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0264902" y="4217543"/>
            <a:ext cx="8595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签单APE(M)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11161014" y="4217543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件均(万)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270625" y="4407535"/>
            <a:ext cx="5601335" cy="201295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09" name="Shape 106"/>
          <p:cNvSpPr/>
          <p:nvPr/>
        </p:nvSpPr>
        <p:spPr>
          <a:xfrm>
            <a:off x="6460236" y="4409186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0" name="Text 107"/>
          <p:cNvSpPr/>
          <p:nvPr/>
        </p:nvSpPr>
        <p:spPr>
          <a:xfrm>
            <a:off x="6515100" y="443661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771132" y="443661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228205" y="44354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9624822" y="444614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10283190" y="444614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27.18M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11179302" y="444614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60.4万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6270625" y="4608830"/>
            <a:ext cx="5601335" cy="20828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18" name="Shape 115"/>
          <p:cNvSpPr/>
          <p:nvPr/>
        </p:nvSpPr>
        <p:spPr>
          <a:xfrm>
            <a:off x="6460236" y="4617669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9" name="Text 116"/>
          <p:cNvSpPr/>
          <p:nvPr/>
        </p:nvSpPr>
        <p:spPr>
          <a:xfrm>
            <a:off x="6515100" y="464510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6771132" y="464510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228332" y="464510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9624822" y="465462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283190" y="465462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18.19M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1179302" y="465462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101.0万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6272530" y="4826000"/>
            <a:ext cx="5599430" cy="19939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27" name="Shape 124"/>
          <p:cNvSpPr/>
          <p:nvPr/>
        </p:nvSpPr>
        <p:spPr>
          <a:xfrm>
            <a:off x="6460236" y="4826152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6515100" y="48535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6771132" y="48535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7228332" y="4853584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24822" y="48631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10283190" y="48631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16.77M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11179302" y="48631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129.0万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6270625" y="5034280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6" name="Shape 133"/>
          <p:cNvSpPr/>
          <p:nvPr/>
        </p:nvSpPr>
        <p:spPr>
          <a:xfrm>
            <a:off x="6460236" y="5034636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7" name="Text 134"/>
          <p:cNvSpPr/>
          <p:nvPr/>
        </p:nvSpPr>
        <p:spPr>
          <a:xfrm>
            <a:off x="6515100" y="506206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6771132" y="506206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7228332" y="5062068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9624822" y="50715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10283190" y="507159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15.24M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11179302" y="507159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46.2万</a:t>
            </a:r>
            <a:endParaRPr lang="en-US" sz="800" dirty="0"/>
          </a:p>
        </p:txBody>
      </p:sp>
      <p:sp>
        <p:nvSpPr>
          <p:cNvPr id="144" name="Shape 141"/>
          <p:cNvSpPr/>
          <p:nvPr/>
        </p:nvSpPr>
        <p:spPr>
          <a:xfrm>
            <a:off x="6270625" y="5239385"/>
            <a:ext cx="5601335" cy="2032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5" name="Shape 142"/>
          <p:cNvSpPr/>
          <p:nvPr/>
        </p:nvSpPr>
        <p:spPr>
          <a:xfrm>
            <a:off x="6460236" y="5243119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46" name="Text 143"/>
          <p:cNvSpPr/>
          <p:nvPr/>
        </p:nvSpPr>
        <p:spPr>
          <a:xfrm>
            <a:off x="6515100" y="527055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6771132" y="527055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228332" y="527055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149" name="Text 146"/>
          <p:cNvSpPr/>
          <p:nvPr/>
        </p:nvSpPr>
        <p:spPr>
          <a:xfrm>
            <a:off x="9624822" y="528007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10283190" y="528007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11.70M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11179302" y="528007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146.2万</a:t>
            </a:r>
            <a:endParaRPr lang="en-US" sz="800" dirty="0"/>
          </a:p>
        </p:txBody>
      </p:sp>
      <p:sp>
        <p:nvSpPr>
          <p:cNvPr id="153" name="Shape 150"/>
          <p:cNvSpPr/>
          <p:nvPr/>
        </p:nvSpPr>
        <p:spPr>
          <a:xfrm>
            <a:off x="6270625" y="5456555"/>
            <a:ext cx="5601335" cy="194310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4" name="Shape 151"/>
          <p:cNvSpPr/>
          <p:nvPr/>
        </p:nvSpPr>
        <p:spPr>
          <a:xfrm>
            <a:off x="6460236" y="545160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55" name="Text 152"/>
          <p:cNvSpPr/>
          <p:nvPr/>
        </p:nvSpPr>
        <p:spPr>
          <a:xfrm>
            <a:off x="6515100" y="547903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6771132" y="547903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58" name="Text 155"/>
          <p:cNvSpPr/>
          <p:nvPr/>
        </p:nvSpPr>
        <p:spPr>
          <a:xfrm>
            <a:off x="9615297" y="5479034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10283190" y="548855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11.68M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11179302" y="548855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146.0万</a:t>
            </a:r>
            <a:endParaRPr lang="en-US" sz="800" dirty="0"/>
          </a:p>
        </p:txBody>
      </p:sp>
      <p:sp>
        <p:nvSpPr>
          <p:cNvPr id="162" name="Shape 159"/>
          <p:cNvSpPr/>
          <p:nvPr/>
        </p:nvSpPr>
        <p:spPr>
          <a:xfrm>
            <a:off x="6270625" y="5660390"/>
            <a:ext cx="5601335" cy="19939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3" name="Shape 160"/>
          <p:cNvSpPr/>
          <p:nvPr/>
        </p:nvSpPr>
        <p:spPr>
          <a:xfrm>
            <a:off x="6460236" y="566008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64" name="Text 161"/>
          <p:cNvSpPr/>
          <p:nvPr/>
        </p:nvSpPr>
        <p:spPr>
          <a:xfrm>
            <a:off x="6515100" y="568751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6771132" y="568751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24822" y="569704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283190" y="569704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9.75M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6270625" y="5868035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2" name="Shape 169"/>
          <p:cNvSpPr/>
          <p:nvPr/>
        </p:nvSpPr>
        <p:spPr>
          <a:xfrm>
            <a:off x="6460236" y="5868568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73" name="Text 170"/>
          <p:cNvSpPr/>
          <p:nvPr/>
        </p:nvSpPr>
        <p:spPr>
          <a:xfrm>
            <a:off x="6515100" y="5896000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6771132" y="5896000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624822" y="5905525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10283190" y="5905525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7.04M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6270625" y="6085840"/>
            <a:ext cx="5601335" cy="1905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6460236" y="607705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6515100" y="61044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6771132" y="61044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9624822" y="61140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10283190" y="61140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11179302" y="61140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43.9万</a:t>
            </a:r>
            <a:endParaRPr lang="en-US" sz="800" dirty="0"/>
          </a:p>
        </p:txBody>
      </p:sp>
      <p:sp>
        <p:nvSpPr>
          <p:cNvPr id="190" name="Shape 187"/>
          <p:cNvSpPr/>
          <p:nvPr/>
        </p:nvSpPr>
        <p:spPr>
          <a:xfrm>
            <a:off x="6460236" y="628553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91" name="Text 188"/>
          <p:cNvSpPr/>
          <p:nvPr/>
        </p:nvSpPr>
        <p:spPr>
          <a:xfrm>
            <a:off x="6515100" y="631296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6771132" y="631296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7228332" y="6312967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万年青·星河传承保险计划II（2年）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9624822" y="632249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10283190" y="632249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6.24M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11179302" y="63224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312.0万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6242685" y="6502400"/>
            <a:ext cx="5658485" cy="216535"/>
          </a:xfrm>
          <a:prstGeom prst="rect">
            <a:avLst/>
          </a:prstGeom>
          <a:solidFill>
            <a:srgbClr val="EDE7F6"/>
          </a:solidFill>
          <a:ln w="635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00" name="Text 197"/>
          <p:cNvSpPr/>
          <p:nvPr/>
        </p:nvSpPr>
        <p:spPr>
          <a:xfrm>
            <a:off x="6501130" y="6539865"/>
            <a:ext cx="25774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(TOP10产品)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9606534" y="6540119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10246614" y="6540119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130.8M</a:t>
            </a:r>
            <a:endParaRPr lang="en-US" sz="900" dirty="0"/>
          </a:p>
        </p:txBody>
      </p:sp>
      <p:sp>
        <p:nvSpPr>
          <p:cNvPr id="3" name="Shape 19"/>
          <p:cNvSpPr/>
          <p:nvPr/>
        </p:nvSpPr>
        <p:spPr>
          <a:xfrm>
            <a:off x="9718040" y="50419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88" name="Shape 20"/>
          <p:cNvSpPr/>
          <p:nvPr/>
        </p:nvSpPr>
        <p:spPr>
          <a:xfrm>
            <a:off x="9718040" y="504190"/>
            <a:ext cx="2232660" cy="76200"/>
          </a:xfrm>
          <a:prstGeom prst="rect">
            <a:avLst/>
          </a:prstGeom>
          <a:solidFill>
            <a:srgbClr val="6D4C41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90" name="Text 21"/>
          <p:cNvSpPr/>
          <p:nvPr/>
        </p:nvSpPr>
        <p:spPr>
          <a:xfrm>
            <a:off x="9827895" y="57721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合计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91" name="Text 22"/>
          <p:cNvSpPr/>
          <p:nvPr/>
        </p:nvSpPr>
        <p:spPr>
          <a:xfrm>
            <a:off x="9827895" y="70358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4C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667.2M</a:t>
            </a:r>
            <a:endParaRPr lang="en-US" sz="2400" b="1" dirty="0">
              <a:solidFill>
                <a:srgbClr val="6D4C4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9827895" y="101663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中台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+TA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（批核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待签）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9" name="Text 102"/>
          <p:cNvSpPr/>
          <p:nvPr/>
        </p:nvSpPr>
        <p:spPr>
          <a:xfrm>
            <a:off x="8812530" y="4226560"/>
            <a:ext cx="621665" cy="14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折扣</a:t>
            </a:r>
            <a:endParaRPr lang="zh-CN" sz="650" dirty="0"/>
          </a:p>
        </p:txBody>
      </p:sp>
      <p:sp>
        <p:nvSpPr>
          <p:cNvPr id="188" name="Text 110"/>
          <p:cNvSpPr/>
          <p:nvPr/>
        </p:nvSpPr>
        <p:spPr>
          <a:xfrm>
            <a:off x="8834882" y="44353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21%</a:t>
            </a:r>
            <a:endParaRPr lang="en-US" sz="800" dirty="0"/>
          </a:p>
        </p:txBody>
      </p:sp>
      <p:sp>
        <p:nvSpPr>
          <p:cNvPr id="197" name="Text 110"/>
          <p:cNvSpPr/>
          <p:nvPr/>
        </p:nvSpPr>
        <p:spPr>
          <a:xfrm>
            <a:off x="8847582" y="46385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198" name="Text 110"/>
          <p:cNvSpPr/>
          <p:nvPr/>
        </p:nvSpPr>
        <p:spPr>
          <a:xfrm>
            <a:off x="8869807" y="48417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2%</a:t>
            </a:r>
            <a:endParaRPr lang="en-US" sz="800" dirty="0"/>
          </a:p>
        </p:txBody>
      </p:sp>
      <p:sp>
        <p:nvSpPr>
          <p:cNvPr id="203" name="Text 110"/>
          <p:cNvSpPr/>
          <p:nvPr/>
        </p:nvSpPr>
        <p:spPr>
          <a:xfrm>
            <a:off x="8871712" y="50620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800" dirty="0"/>
          </a:p>
        </p:txBody>
      </p:sp>
      <p:sp>
        <p:nvSpPr>
          <p:cNvPr id="204" name="Text 110"/>
          <p:cNvSpPr/>
          <p:nvPr/>
        </p:nvSpPr>
        <p:spPr>
          <a:xfrm>
            <a:off x="8864727" y="527989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05" name="Text 110"/>
          <p:cNvSpPr/>
          <p:nvPr/>
        </p:nvSpPr>
        <p:spPr>
          <a:xfrm>
            <a:off x="8867902" y="54545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4%</a:t>
            </a:r>
            <a:endParaRPr lang="en-US" sz="800" dirty="0"/>
          </a:p>
        </p:txBody>
      </p:sp>
      <p:sp>
        <p:nvSpPr>
          <p:cNvPr id="206" name="Text 109"/>
          <p:cNvSpPr/>
          <p:nvPr/>
        </p:nvSpPr>
        <p:spPr>
          <a:xfrm>
            <a:off x="7243445" y="54641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207" name="Text 109"/>
          <p:cNvSpPr/>
          <p:nvPr/>
        </p:nvSpPr>
        <p:spPr>
          <a:xfrm>
            <a:off x="7237095" y="568642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万年青·星河传承保险计划II（5年）</a:t>
            </a:r>
            <a:endParaRPr lang="en-US" sz="750" dirty="0"/>
          </a:p>
        </p:txBody>
      </p:sp>
      <p:sp>
        <p:nvSpPr>
          <p:cNvPr id="245" name="Text 110"/>
          <p:cNvSpPr/>
          <p:nvPr/>
        </p:nvSpPr>
        <p:spPr>
          <a:xfrm>
            <a:off x="8861552" y="5676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47" name="Text 110"/>
          <p:cNvSpPr/>
          <p:nvPr/>
        </p:nvSpPr>
        <p:spPr>
          <a:xfrm>
            <a:off x="8883777" y="61276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59%</a:t>
            </a:r>
            <a:endParaRPr lang="en-US" sz="800" dirty="0"/>
          </a:p>
        </p:txBody>
      </p:sp>
      <p:sp>
        <p:nvSpPr>
          <p:cNvPr id="248" name="Text 136"/>
          <p:cNvSpPr/>
          <p:nvPr/>
        </p:nvSpPr>
        <p:spPr>
          <a:xfrm>
            <a:off x="7228205" y="5901690"/>
            <a:ext cx="1417320" cy="156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249" name="Text 110"/>
          <p:cNvSpPr/>
          <p:nvPr/>
        </p:nvSpPr>
        <p:spPr>
          <a:xfrm>
            <a:off x="8884412" y="59053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800" dirty="0"/>
          </a:p>
        </p:txBody>
      </p:sp>
      <p:sp>
        <p:nvSpPr>
          <p:cNvPr id="255" name="Text 166"/>
          <p:cNvSpPr/>
          <p:nvPr/>
        </p:nvSpPr>
        <p:spPr>
          <a:xfrm>
            <a:off x="11182477" y="58811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41.4万</a:t>
            </a:r>
            <a:endParaRPr lang="en-US" sz="800" dirty="0"/>
          </a:p>
        </p:txBody>
      </p:sp>
      <p:sp>
        <p:nvSpPr>
          <p:cNvPr id="256" name="Text 157"/>
          <p:cNvSpPr/>
          <p:nvPr/>
        </p:nvSpPr>
        <p:spPr>
          <a:xfrm>
            <a:off x="11182477" y="5682234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325.0万</a:t>
            </a:r>
            <a:endParaRPr lang="en-US" sz="800" dirty="0"/>
          </a:p>
        </p:txBody>
      </p:sp>
      <p:sp>
        <p:nvSpPr>
          <p:cNvPr id="257" name="Text 118"/>
          <p:cNvSpPr/>
          <p:nvPr/>
        </p:nvSpPr>
        <p:spPr>
          <a:xfrm>
            <a:off x="7228205" y="6130290"/>
            <a:ext cx="1569720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258" name="Text 110"/>
          <p:cNvSpPr/>
          <p:nvPr/>
        </p:nvSpPr>
        <p:spPr>
          <a:xfrm>
            <a:off x="8886952" y="6311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89" name="Shape 34"/>
          <p:cNvSpPr/>
          <p:nvPr/>
        </p:nvSpPr>
        <p:spPr>
          <a:xfrm>
            <a:off x="236220" y="1553845"/>
            <a:ext cx="11664950" cy="2044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28" name="Text 35"/>
          <p:cNvSpPr/>
          <p:nvPr/>
        </p:nvSpPr>
        <p:spPr>
          <a:xfrm>
            <a:off x="273050" y="1591945"/>
            <a:ext cx="113919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牌照</a:t>
            </a:r>
            <a:endParaRPr lang="en-US" sz="700" dirty="0"/>
          </a:p>
        </p:txBody>
      </p:sp>
      <p:sp>
        <p:nvSpPr>
          <p:cNvPr id="229" name="Text 36"/>
          <p:cNvSpPr/>
          <p:nvPr/>
        </p:nvSpPr>
        <p:spPr>
          <a:xfrm>
            <a:off x="78486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Apr-26 批核APE（M）</a:t>
            </a:r>
          </a:p>
        </p:txBody>
      </p:sp>
      <p:sp>
        <p:nvSpPr>
          <p:cNvPr id="230" name="Text 37"/>
          <p:cNvSpPr/>
          <p:nvPr/>
        </p:nvSpPr>
        <p:spPr>
          <a:xfrm>
            <a:off x="243078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May-26 批核APE（M）</a:t>
            </a:r>
          </a:p>
        </p:txBody>
      </p:sp>
      <p:sp>
        <p:nvSpPr>
          <p:cNvPr id="231" name="Text 38"/>
          <p:cNvSpPr/>
          <p:nvPr/>
        </p:nvSpPr>
        <p:spPr>
          <a:xfrm>
            <a:off x="422275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Jun-26 批核APE（M）</a:t>
            </a:r>
          </a:p>
        </p:txBody>
      </p:sp>
      <p:sp>
        <p:nvSpPr>
          <p:cNvPr id="232" name="Text 39"/>
          <p:cNvSpPr/>
          <p:nvPr/>
        </p:nvSpPr>
        <p:spPr>
          <a:xfrm>
            <a:off x="7697470" y="157289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APE（M）</a:t>
            </a:r>
            <a:endParaRPr lang="en-US" sz="700" dirty="0"/>
          </a:p>
        </p:txBody>
      </p:sp>
      <p:sp>
        <p:nvSpPr>
          <p:cNvPr id="233" name="Text 40"/>
          <p:cNvSpPr/>
          <p:nvPr/>
        </p:nvSpPr>
        <p:spPr>
          <a:xfrm>
            <a:off x="9560560" y="1572895"/>
            <a:ext cx="171831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本月已递交 APE（M）</a:t>
            </a:r>
            <a:endParaRPr lang="en-US" sz="700" dirty="0"/>
          </a:p>
        </p:txBody>
      </p:sp>
      <p:sp>
        <p:nvSpPr>
          <p:cNvPr id="234" name="Shape 41"/>
          <p:cNvSpPr/>
          <p:nvPr/>
        </p:nvSpPr>
        <p:spPr>
          <a:xfrm>
            <a:off x="236220" y="177292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5" name="Shape 42"/>
          <p:cNvSpPr/>
          <p:nvPr/>
        </p:nvSpPr>
        <p:spPr>
          <a:xfrm>
            <a:off x="236220" y="177292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39.50M</a:t>
            </a:r>
          </a:p>
        </p:txBody>
      </p:sp>
      <p:sp>
        <p:nvSpPr>
          <p:cNvPr id="236" name="Text 43"/>
          <p:cNvSpPr/>
          <p:nvPr/>
        </p:nvSpPr>
        <p:spPr>
          <a:xfrm>
            <a:off x="326390" y="180975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</a:t>
            </a:r>
            <a:endParaRPr lang="en-US" sz="800" dirty="0"/>
          </a:p>
        </p:txBody>
      </p:sp>
      <p:sp>
        <p:nvSpPr>
          <p:cNvPr id="237" name="Text 44"/>
          <p:cNvSpPr/>
          <p:nvPr/>
        </p:nvSpPr>
        <p:spPr>
          <a:xfrm>
            <a:off x="740410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39.50M</a:t>
            </a:r>
          </a:p>
        </p:txBody>
      </p:sp>
      <p:sp>
        <p:nvSpPr>
          <p:cNvPr id="238" name="Text 45"/>
          <p:cNvSpPr/>
          <p:nvPr/>
        </p:nvSpPr>
        <p:spPr>
          <a:xfrm>
            <a:off x="244919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22.24M</a:t>
            </a:r>
          </a:p>
        </p:txBody>
      </p:sp>
      <p:sp>
        <p:nvSpPr>
          <p:cNvPr id="239" name="Text 46"/>
          <p:cNvSpPr/>
          <p:nvPr/>
        </p:nvSpPr>
        <p:spPr>
          <a:xfrm>
            <a:off x="424116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27.30M</a:t>
            </a:r>
          </a:p>
        </p:txBody>
      </p:sp>
      <p:sp>
        <p:nvSpPr>
          <p:cNvPr id="240" name="Text 47"/>
          <p:cNvSpPr/>
          <p:nvPr/>
        </p:nvSpPr>
        <p:spPr>
          <a:xfrm>
            <a:off x="7715885" y="179070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26.16M</a:t>
            </a:r>
          </a:p>
        </p:txBody>
      </p:sp>
      <p:sp>
        <p:nvSpPr>
          <p:cNvPr id="241" name="Text 48"/>
          <p:cNvSpPr/>
          <p:nvPr/>
        </p:nvSpPr>
        <p:spPr>
          <a:xfrm>
            <a:off x="9578975" y="179070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11.33M</a:t>
            </a:r>
            <a:endParaRPr lang="en-US" sz="850" dirty="0"/>
          </a:p>
        </p:txBody>
      </p:sp>
      <p:sp>
        <p:nvSpPr>
          <p:cNvPr id="253" name="Shape 49"/>
          <p:cNvSpPr/>
          <p:nvPr/>
        </p:nvSpPr>
        <p:spPr>
          <a:xfrm>
            <a:off x="236220" y="2019935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Shape 50"/>
          <p:cNvSpPr/>
          <p:nvPr/>
        </p:nvSpPr>
        <p:spPr>
          <a:xfrm>
            <a:off x="236220" y="201993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15.18M</a:t>
            </a:r>
          </a:p>
        </p:txBody>
      </p:sp>
      <p:sp>
        <p:nvSpPr>
          <p:cNvPr id="273" name="Text 51"/>
          <p:cNvSpPr/>
          <p:nvPr/>
        </p:nvSpPr>
        <p:spPr>
          <a:xfrm>
            <a:off x="326390" y="20567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UNINWIN</a:t>
            </a:r>
            <a:endParaRPr lang="en-US" sz="800" dirty="0"/>
          </a:p>
        </p:txBody>
      </p:sp>
      <p:sp>
        <p:nvSpPr>
          <p:cNvPr id="274" name="Text 52"/>
          <p:cNvSpPr/>
          <p:nvPr/>
        </p:nvSpPr>
        <p:spPr>
          <a:xfrm>
            <a:off x="740410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</a:p>
        </p:txBody>
      </p:sp>
      <p:sp>
        <p:nvSpPr>
          <p:cNvPr id="275" name="Text 53"/>
          <p:cNvSpPr/>
          <p:nvPr/>
        </p:nvSpPr>
        <p:spPr>
          <a:xfrm>
            <a:off x="244919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12.81M</a:t>
            </a:r>
          </a:p>
        </p:txBody>
      </p:sp>
      <p:sp>
        <p:nvSpPr>
          <p:cNvPr id="276" name="Text 54"/>
          <p:cNvSpPr/>
          <p:nvPr/>
        </p:nvSpPr>
        <p:spPr>
          <a:xfrm>
            <a:off x="424116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14.96M</a:t>
            </a:r>
          </a:p>
        </p:txBody>
      </p:sp>
      <p:sp>
        <p:nvSpPr>
          <p:cNvPr id="277" name="Text 55"/>
          <p:cNvSpPr/>
          <p:nvPr/>
        </p:nvSpPr>
        <p:spPr>
          <a:xfrm>
            <a:off x="7715885" y="203771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23.49M</a:t>
            </a:r>
          </a:p>
        </p:txBody>
      </p:sp>
      <p:sp>
        <p:nvSpPr>
          <p:cNvPr id="278" name="Text 56"/>
          <p:cNvSpPr/>
          <p:nvPr/>
        </p:nvSpPr>
        <p:spPr>
          <a:xfrm>
            <a:off x="9578975" y="203771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14.89M</a:t>
            </a:r>
            <a:endParaRPr lang="en-US" sz="850" dirty="0"/>
          </a:p>
        </p:txBody>
      </p:sp>
      <p:sp>
        <p:nvSpPr>
          <p:cNvPr id="279" name="Shape 57"/>
          <p:cNvSpPr/>
          <p:nvPr/>
        </p:nvSpPr>
        <p:spPr>
          <a:xfrm>
            <a:off x="236220" y="2266315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Shape 58"/>
          <p:cNvSpPr/>
          <p:nvPr/>
        </p:nvSpPr>
        <p:spPr>
          <a:xfrm>
            <a:off x="236220" y="226631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0.48M</a:t>
            </a:r>
          </a:p>
        </p:txBody>
      </p:sp>
      <p:sp>
        <p:nvSpPr>
          <p:cNvPr id="281" name="Text 59"/>
          <p:cNvSpPr/>
          <p:nvPr/>
        </p:nvSpPr>
        <p:spPr>
          <a:xfrm>
            <a:off x="335280" y="230378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DW-Non-Bank</a:t>
            </a:r>
            <a:endParaRPr lang="en-US" sz="800" dirty="0"/>
          </a:p>
        </p:txBody>
      </p:sp>
      <p:sp>
        <p:nvSpPr>
          <p:cNvPr id="282" name="Text 60"/>
          <p:cNvSpPr/>
          <p:nvPr/>
        </p:nvSpPr>
        <p:spPr>
          <a:xfrm>
            <a:off x="749300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0.48M</a:t>
            </a:r>
          </a:p>
        </p:txBody>
      </p:sp>
      <p:sp>
        <p:nvSpPr>
          <p:cNvPr id="283" name="Text 61"/>
          <p:cNvSpPr/>
          <p:nvPr/>
        </p:nvSpPr>
        <p:spPr>
          <a:xfrm>
            <a:off x="244919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0.09M</a:t>
            </a:r>
          </a:p>
        </p:txBody>
      </p:sp>
      <p:sp>
        <p:nvSpPr>
          <p:cNvPr id="284" name="Text 62"/>
          <p:cNvSpPr/>
          <p:nvPr/>
        </p:nvSpPr>
        <p:spPr>
          <a:xfrm>
            <a:off x="424116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85" name="Text 63"/>
          <p:cNvSpPr/>
          <p:nvPr/>
        </p:nvSpPr>
        <p:spPr>
          <a:xfrm>
            <a:off x="7715885" y="228473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1.01M</a:t>
            </a:r>
          </a:p>
        </p:txBody>
      </p:sp>
      <p:sp>
        <p:nvSpPr>
          <p:cNvPr id="286" name="Text 64"/>
          <p:cNvSpPr/>
          <p:nvPr/>
        </p:nvSpPr>
        <p:spPr>
          <a:xfrm>
            <a:off x="9578975" y="228473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/>
          </a:p>
        </p:txBody>
      </p:sp>
      <p:sp>
        <p:nvSpPr>
          <p:cNvPr id="287" name="Shape 65"/>
          <p:cNvSpPr/>
          <p:nvPr/>
        </p:nvSpPr>
        <p:spPr>
          <a:xfrm>
            <a:off x="236220" y="2770505"/>
            <a:ext cx="11664950" cy="241300"/>
          </a:xfrm>
          <a:prstGeom prst="rect">
            <a:avLst/>
          </a:prstGeom>
          <a:solidFill>
            <a:srgbClr val="EBF5FB"/>
          </a:solidFill>
          <a:ln w="889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8" name="Shape 66"/>
          <p:cNvSpPr/>
          <p:nvPr/>
        </p:nvSpPr>
        <p:spPr>
          <a:xfrm>
            <a:off x="236220" y="2770505"/>
            <a:ext cx="76200" cy="2413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r>
              <a:rPr lang="en-US" sz="850" dirty="0"/>
              <a:t>55.16M</a:t>
            </a:r>
          </a:p>
        </p:txBody>
      </p:sp>
      <p:sp>
        <p:nvSpPr>
          <p:cNvPr id="289" name="Text 67"/>
          <p:cNvSpPr/>
          <p:nvPr/>
        </p:nvSpPr>
        <p:spPr>
          <a:xfrm>
            <a:off x="344170" y="280797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Total</a:t>
            </a:r>
            <a:endParaRPr lang="en-US" sz="800" dirty="0"/>
          </a:p>
        </p:txBody>
      </p:sp>
      <p:sp>
        <p:nvSpPr>
          <p:cNvPr id="290" name="Text 68"/>
          <p:cNvSpPr/>
          <p:nvPr/>
        </p:nvSpPr>
        <p:spPr>
          <a:xfrm>
            <a:off x="740410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55.16M</a:t>
            </a:r>
          </a:p>
        </p:txBody>
      </p:sp>
      <p:sp>
        <p:nvSpPr>
          <p:cNvPr id="291" name="Text 69"/>
          <p:cNvSpPr/>
          <p:nvPr/>
        </p:nvSpPr>
        <p:spPr>
          <a:xfrm>
            <a:off x="2449195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35.15M</a:t>
            </a:r>
          </a:p>
        </p:txBody>
      </p:sp>
      <p:sp>
        <p:nvSpPr>
          <p:cNvPr id="292" name="Text 70"/>
          <p:cNvSpPr/>
          <p:nvPr/>
        </p:nvSpPr>
        <p:spPr>
          <a:xfrm>
            <a:off x="4551045" y="278511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42.25M</a:t>
            </a:r>
          </a:p>
        </p:txBody>
      </p:sp>
      <p:sp>
        <p:nvSpPr>
          <p:cNvPr id="293" name="Text 71"/>
          <p:cNvSpPr/>
          <p:nvPr/>
        </p:nvSpPr>
        <p:spPr>
          <a:xfrm>
            <a:off x="7715885" y="278892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50.66M</a:t>
            </a:r>
          </a:p>
        </p:txBody>
      </p:sp>
      <p:sp>
        <p:nvSpPr>
          <p:cNvPr id="294" name="Text 72"/>
          <p:cNvSpPr/>
          <p:nvPr/>
        </p:nvSpPr>
        <p:spPr>
          <a:xfrm>
            <a:off x="9578975" y="278892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26.23M</a:t>
            </a:r>
          </a:p>
        </p:txBody>
      </p:sp>
      <p:sp>
        <p:nvSpPr>
          <p:cNvPr id="295" name="Shape 73"/>
          <p:cNvSpPr/>
          <p:nvPr/>
        </p:nvSpPr>
        <p:spPr>
          <a:xfrm>
            <a:off x="236220" y="3017520"/>
            <a:ext cx="11664950" cy="241300"/>
          </a:xfrm>
          <a:prstGeom prst="rect">
            <a:avLst/>
          </a:prstGeom>
          <a:solidFill>
            <a:srgbClr val="FFF8E1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Shape 74"/>
          <p:cNvSpPr/>
          <p:nvPr/>
        </p:nvSpPr>
        <p:spPr>
          <a:xfrm>
            <a:off x="236220" y="3017520"/>
            <a:ext cx="76200" cy="2413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>
            <a:r>
              <a:rPr lang="en-US" sz="850" dirty="0"/>
              <a:t>27.22M</a:t>
            </a:r>
          </a:p>
        </p:txBody>
      </p:sp>
      <p:sp>
        <p:nvSpPr>
          <p:cNvPr id="297" name="Text 75"/>
          <p:cNvSpPr/>
          <p:nvPr/>
        </p:nvSpPr>
        <p:spPr>
          <a:xfrm>
            <a:off x="335280" y="305498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Bank</a:t>
            </a:r>
            <a:endParaRPr lang="en-US" sz="800" dirty="0"/>
          </a:p>
        </p:txBody>
      </p:sp>
      <p:sp>
        <p:nvSpPr>
          <p:cNvPr id="298" name="Text 76"/>
          <p:cNvSpPr/>
          <p:nvPr/>
        </p:nvSpPr>
        <p:spPr>
          <a:xfrm>
            <a:off x="722630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27.22M</a:t>
            </a:r>
          </a:p>
        </p:txBody>
      </p:sp>
      <p:sp>
        <p:nvSpPr>
          <p:cNvPr id="299" name="Text 77"/>
          <p:cNvSpPr/>
          <p:nvPr/>
        </p:nvSpPr>
        <p:spPr>
          <a:xfrm>
            <a:off x="244919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21.70M</a:t>
            </a:r>
          </a:p>
        </p:txBody>
      </p:sp>
      <p:sp>
        <p:nvSpPr>
          <p:cNvPr id="300" name="Text 78"/>
          <p:cNvSpPr/>
          <p:nvPr/>
        </p:nvSpPr>
        <p:spPr>
          <a:xfrm>
            <a:off x="424116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6.24M</a:t>
            </a:r>
          </a:p>
        </p:txBody>
      </p:sp>
      <p:sp>
        <p:nvSpPr>
          <p:cNvPr id="301" name="Text 79"/>
          <p:cNvSpPr/>
          <p:nvPr/>
        </p:nvSpPr>
        <p:spPr>
          <a:xfrm>
            <a:off x="7715885" y="303593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27.38M</a:t>
            </a:r>
          </a:p>
        </p:txBody>
      </p:sp>
      <p:sp>
        <p:nvSpPr>
          <p:cNvPr id="302" name="Text 80"/>
          <p:cNvSpPr/>
          <p:nvPr/>
        </p:nvSpPr>
        <p:spPr>
          <a:xfrm>
            <a:off x="9578975" y="303593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50" dirty="0"/>
          </a:p>
        </p:txBody>
      </p:sp>
      <p:sp>
        <p:nvSpPr>
          <p:cNvPr id="303" name="Shape 81"/>
          <p:cNvSpPr/>
          <p:nvPr/>
        </p:nvSpPr>
        <p:spPr>
          <a:xfrm>
            <a:off x="236220" y="3264535"/>
            <a:ext cx="11664950" cy="241300"/>
          </a:xfrm>
          <a:prstGeom prst="rect">
            <a:avLst/>
          </a:prstGeom>
          <a:solidFill>
            <a:srgbClr val="EDE7F6"/>
          </a:solidFill>
          <a:ln w="889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304" name="Shape 82"/>
          <p:cNvSpPr/>
          <p:nvPr/>
        </p:nvSpPr>
        <p:spPr>
          <a:xfrm>
            <a:off x="236220" y="3264535"/>
            <a:ext cx="76200" cy="2413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305" name="Text 83"/>
          <p:cNvSpPr/>
          <p:nvPr/>
        </p:nvSpPr>
        <p:spPr>
          <a:xfrm>
            <a:off x="353060" y="33013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</a:t>
            </a:r>
            <a:endParaRPr lang="en-US" sz="800" dirty="0"/>
          </a:p>
        </p:txBody>
      </p:sp>
      <p:sp>
        <p:nvSpPr>
          <p:cNvPr id="306" name="Text 84"/>
          <p:cNvSpPr/>
          <p:nvPr/>
        </p:nvSpPr>
        <p:spPr>
          <a:xfrm>
            <a:off x="2191385" y="329946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48.43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7" name="Text 44"/>
          <p:cNvSpPr/>
          <p:nvPr/>
        </p:nvSpPr>
        <p:spPr>
          <a:xfrm>
            <a:off x="2115820" y="180911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14.67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8" name="Text 36"/>
          <p:cNvSpPr/>
          <p:nvPr/>
        </p:nvSpPr>
        <p:spPr>
          <a:xfrm>
            <a:off x="2058670" y="160210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09" name="Text 76"/>
          <p:cNvSpPr/>
          <p:nvPr/>
        </p:nvSpPr>
        <p:spPr>
          <a:xfrm>
            <a:off x="2138680" y="305879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94.72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0" name="Text 60"/>
          <p:cNvSpPr/>
          <p:nvPr/>
        </p:nvSpPr>
        <p:spPr>
          <a:xfrm>
            <a:off x="2118995" y="231330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0.08M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1" name="Text 52"/>
          <p:cNvSpPr/>
          <p:nvPr/>
        </p:nvSpPr>
        <p:spPr>
          <a:xfrm>
            <a:off x="2115820" y="2056765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15.02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2" name="Text 68"/>
          <p:cNvSpPr/>
          <p:nvPr/>
        </p:nvSpPr>
        <p:spPr>
          <a:xfrm>
            <a:off x="2141855" y="27965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29.77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3" name="Text 84"/>
          <p:cNvSpPr/>
          <p:nvPr/>
        </p:nvSpPr>
        <p:spPr>
          <a:xfrm>
            <a:off x="3871595" y="33020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31.37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3804920" y="1811655"/>
            <a:ext cx="6311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13.81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3747770" y="16046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16" name="Text 76"/>
          <p:cNvSpPr/>
          <p:nvPr/>
        </p:nvSpPr>
        <p:spPr>
          <a:xfrm>
            <a:off x="3827780" y="306133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6.24M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7" name="Text 60"/>
          <p:cNvSpPr/>
          <p:nvPr/>
        </p:nvSpPr>
        <p:spPr>
          <a:xfrm>
            <a:off x="3808095" y="23158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8" name="Text 52"/>
          <p:cNvSpPr/>
          <p:nvPr/>
        </p:nvSpPr>
        <p:spPr>
          <a:xfrm>
            <a:off x="3804920" y="20593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9" name="Text 68"/>
          <p:cNvSpPr/>
          <p:nvPr/>
        </p:nvSpPr>
        <p:spPr>
          <a:xfrm>
            <a:off x="3830955" y="279908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22.48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0" name="Text 84"/>
          <p:cNvSpPr/>
          <p:nvPr/>
        </p:nvSpPr>
        <p:spPr>
          <a:xfrm>
            <a:off x="572262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53.92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565594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39.50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2" name="Text 36"/>
          <p:cNvSpPr/>
          <p:nvPr/>
        </p:nvSpPr>
        <p:spPr>
          <a:xfrm>
            <a:off x="559879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( 17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567880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27.22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4" name="Text 60"/>
          <p:cNvSpPr/>
          <p:nvPr/>
        </p:nvSpPr>
        <p:spPr>
          <a:xfrm>
            <a:off x="565912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5" name="Text 52"/>
          <p:cNvSpPr/>
          <p:nvPr/>
        </p:nvSpPr>
        <p:spPr>
          <a:xfrm>
            <a:off x="565594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5681980" y="278320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59.18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7" name="Shape 57"/>
          <p:cNvSpPr/>
          <p:nvPr/>
        </p:nvSpPr>
        <p:spPr>
          <a:xfrm>
            <a:off x="240030" y="351409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8" name="Shape 58"/>
          <p:cNvSpPr/>
          <p:nvPr/>
        </p:nvSpPr>
        <p:spPr>
          <a:xfrm>
            <a:off x="240030" y="351409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9" name="Text 59"/>
          <p:cNvSpPr/>
          <p:nvPr/>
        </p:nvSpPr>
        <p:spPr>
          <a:xfrm>
            <a:off x="347980" y="3551555"/>
            <a:ext cx="112204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800" b="1" dirty="0"/>
              <a:t>3 Items Total</a:t>
            </a:r>
            <a:endParaRPr lang="en-US" altLang="zh-CN" sz="800" b="1" dirty="0"/>
          </a:p>
        </p:txBody>
      </p:sp>
      <p:sp>
        <p:nvSpPr>
          <p:cNvPr id="330" name="Text 60"/>
          <p:cNvSpPr/>
          <p:nvPr/>
        </p:nvSpPr>
        <p:spPr>
          <a:xfrm>
            <a:off x="2122805" y="356108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172.92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3811905" y="35636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112.55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2" name="Text 60"/>
          <p:cNvSpPr/>
          <p:nvPr/>
        </p:nvSpPr>
        <p:spPr>
          <a:xfrm>
            <a:off x="566293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140.32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6478905" y="1582420"/>
            <a:ext cx="984250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Jul-26 批核APE（M）</a:t>
            </a:r>
          </a:p>
        </p:txBody>
      </p:sp>
      <p:sp>
        <p:nvSpPr>
          <p:cNvPr id="334" name="Text 46"/>
          <p:cNvSpPr/>
          <p:nvPr/>
        </p:nvSpPr>
        <p:spPr>
          <a:xfrm>
            <a:off x="6057265" y="1793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12.29M</a:t>
            </a:r>
          </a:p>
        </p:txBody>
      </p:sp>
      <p:sp>
        <p:nvSpPr>
          <p:cNvPr id="335" name="Text 54"/>
          <p:cNvSpPr/>
          <p:nvPr/>
        </p:nvSpPr>
        <p:spPr>
          <a:xfrm>
            <a:off x="6057265" y="2040255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</a:p>
        </p:txBody>
      </p:sp>
      <p:sp>
        <p:nvSpPr>
          <p:cNvPr id="336" name="Text 62"/>
          <p:cNvSpPr/>
          <p:nvPr/>
        </p:nvSpPr>
        <p:spPr>
          <a:xfrm>
            <a:off x="6057265" y="22872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0.08M</a:t>
            </a:r>
          </a:p>
        </p:txBody>
      </p:sp>
      <p:sp>
        <p:nvSpPr>
          <p:cNvPr id="337" name="Text 70"/>
          <p:cNvSpPr/>
          <p:nvPr/>
        </p:nvSpPr>
        <p:spPr>
          <a:xfrm>
            <a:off x="6367145" y="276860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27.54M</a:t>
            </a:r>
          </a:p>
        </p:txBody>
      </p:sp>
      <p:sp>
        <p:nvSpPr>
          <p:cNvPr id="338" name="Text 78"/>
          <p:cNvSpPr/>
          <p:nvPr/>
        </p:nvSpPr>
        <p:spPr>
          <a:xfrm>
            <a:off x="6057265" y="303847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1.56M</a:t>
            </a:r>
          </a:p>
        </p:txBody>
      </p:sp>
      <p:sp>
        <p:nvSpPr>
          <p:cNvPr id="339" name="Text 36"/>
          <p:cNvSpPr/>
          <p:nvPr/>
        </p:nvSpPr>
        <p:spPr>
          <a:xfrm>
            <a:off x="7355205" y="157289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( 28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40" name="Text 84"/>
          <p:cNvSpPr/>
          <p:nvPr/>
        </p:nvSpPr>
        <p:spPr>
          <a:xfrm>
            <a:off x="7479030" y="32893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7412355" y="17989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2" name="Text 76"/>
          <p:cNvSpPr/>
          <p:nvPr/>
        </p:nvSpPr>
        <p:spPr>
          <a:xfrm>
            <a:off x="7435215" y="30480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1.117M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3" name="Text 60"/>
          <p:cNvSpPr/>
          <p:nvPr/>
        </p:nvSpPr>
        <p:spPr>
          <a:xfrm>
            <a:off x="7415530" y="23031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4" name="Text 52"/>
          <p:cNvSpPr/>
          <p:nvPr/>
        </p:nvSpPr>
        <p:spPr>
          <a:xfrm>
            <a:off x="7412355" y="2046605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5" name="Text 68"/>
          <p:cNvSpPr/>
          <p:nvPr/>
        </p:nvSpPr>
        <p:spPr>
          <a:xfrm>
            <a:off x="7438390" y="278066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5.25M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419340" y="35509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7" name="Text 84"/>
          <p:cNvSpPr/>
          <p:nvPr/>
        </p:nvSpPr>
        <p:spPr>
          <a:xfrm>
            <a:off x="9183370" y="328168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41.09M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9116695" y="1791335"/>
            <a:ext cx="63119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9059545" y="158432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17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0" name="Text 76"/>
          <p:cNvSpPr/>
          <p:nvPr/>
        </p:nvSpPr>
        <p:spPr>
          <a:xfrm>
            <a:off x="9139555" y="304038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1" name="Text 60"/>
          <p:cNvSpPr/>
          <p:nvPr/>
        </p:nvSpPr>
        <p:spPr>
          <a:xfrm>
            <a:off x="9119870" y="229552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9116695" y="203898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3" name="Text 68"/>
          <p:cNvSpPr/>
          <p:nvPr/>
        </p:nvSpPr>
        <p:spPr>
          <a:xfrm>
            <a:off x="9142730" y="276923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9123680" y="354330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163.49M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1106805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1100137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1094422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16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1102423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9" name="Text 60"/>
          <p:cNvSpPr/>
          <p:nvPr/>
        </p:nvSpPr>
        <p:spPr>
          <a:xfrm>
            <a:off x="1100455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1100137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11027410" y="27838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2" name="Text 60"/>
          <p:cNvSpPr/>
          <p:nvPr/>
        </p:nvSpPr>
        <p:spPr>
          <a:xfrm>
            <a:off x="1100836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229870" y="2518410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4" name="Shape 50"/>
          <p:cNvSpPr/>
          <p:nvPr/>
        </p:nvSpPr>
        <p:spPr>
          <a:xfrm>
            <a:off x="239395" y="251841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</a:p>
        </p:txBody>
      </p:sp>
      <p:sp>
        <p:nvSpPr>
          <p:cNvPr id="365" name="Text 51"/>
          <p:cNvSpPr/>
          <p:nvPr/>
        </p:nvSpPr>
        <p:spPr>
          <a:xfrm>
            <a:off x="320040" y="255524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</a:t>
            </a:r>
            <a:endParaRPr lang="en-US" sz="800" dirty="0"/>
          </a:p>
        </p:txBody>
      </p:sp>
      <p:sp>
        <p:nvSpPr>
          <p:cNvPr id="366" name="Text 52"/>
          <p:cNvSpPr/>
          <p:nvPr/>
        </p:nvSpPr>
        <p:spPr>
          <a:xfrm>
            <a:off x="734060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7" name="Text 53"/>
          <p:cNvSpPr/>
          <p:nvPr/>
        </p:nvSpPr>
        <p:spPr>
          <a:xfrm>
            <a:off x="244284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8" name="Text 54"/>
          <p:cNvSpPr/>
          <p:nvPr/>
        </p:nvSpPr>
        <p:spPr>
          <a:xfrm>
            <a:off x="423481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9" name="Text 55"/>
          <p:cNvSpPr/>
          <p:nvPr/>
        </p:nvSpPr>
        <p:spPr>
          <a:xfrm>
            <a:off x="7709535" y="253619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0" name="Text 56"/>
          <p:cNvSpPr/>
          <p:nvPr/>
        </p:nvSpPr>
        <p:spPr>
          <a:xfrm>
            <a:off x="9572625" y="253619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1" name="Text 52"/>
          <p:cNvSpPr/>
          <p:nvPr/>
        </p:nvSpPr>
        <p:spPr>
          <a:xfrm>
            <a:off x="2109470" y="2555240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2" name="Text 52"/>
          <p:cNvSpPr/>
          <p:nvPr/>
        </p:nvSpPr>
        <p:spPr>
          <a:xfrm>
            <a:off x="3798570" y="25577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3" name="Text 52"/>
          <p:cNvSpPr/>
          <p:nvPr/>
        </p:nvSpPr>
        <p:spPr>
          <a:xfrm>
            <a:off x="564959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4" name="Text 54"/>
          <p:cNvSpPr/>
          <p:nvPr/>
        </p:nvSpPr>
        <p:spPr>
          <a:xfrm>
            <a:off x="6050915" y="2538730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5" name="Text 52"/>
          <p:cNvSpPr/>
          <p:nvPr/>
        </p:nvSpPr>
        <p:spPr>
          <a:xfrm>
            <a:off x="7406005" y="2545080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6" name="Text 52"/>
          <p:cNvSpPr/>
          <p:nvPr/>
        </p:nvSpPr>
        <p:spPr>
          <a:xfrm>
            <a:off x="9110345" y="253746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1099502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85"/>
          <p:cNvSpPr/>
          <p:nvPr/>
        </p:nvSpPr>
        <p:spPr>
          <a:xfrm>
            <a:off x="2111781" y="4872019"/>
            <a:ext cx="432371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r>
              <a:t>MGA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" y="530352"/>
            <a:ext cx="2231136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116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全业务达成率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8716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8716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7860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已批核APE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6460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64608" y="530352"/>
            <a:ext cx="2231136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5604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年度目标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24204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42048" y="530352"/>
            <a:ext cx="2231136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3348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1948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1948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1092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已批核件数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09855" y="996950"/>
            <a:ext cx="378269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9855" y="996950"/>
            <a:ext cx="3793490" cy="2559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01041" y="1033526"/>
            <a:ext cx="37673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 达成率 × 目标规模 × 件数 — 业务线战略象限气泡图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856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1889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35724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8757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222592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05625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09460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292493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3615817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446145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360M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8569" y="613689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-78359" y="606374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88569" y="505993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-78359" y="498678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88569" y="398297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-78359" y="390982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8569" y="290601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-78359" y="283286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88569" y="182905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-78359" y="175590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88569" y="4359910"/>
            <a:ext cx="3127248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525145" y="422275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时间基准33%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057273" y="633704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目标APE →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35001" y="3269742"/>
            <a:ext cx="2011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率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88569" y="1290574"/>
            <a:ext cx="1563624" cy="3069336"/>
          </a:xfrm>
          <a:prstGeom prst="rect">
            <a:avLst/>
          </a:prstGeom>
          <a:solidFill>
            <a:srgbClr val="FEF9C3">
              <a:alpha val="50000"/>
            </a:srgbClr>
          </a:solidFill>
          <a:ln w="381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052193" y="1290574"/>
            <a:ext cx="1563624" cy="3069336"/>
          </a:xfrm>
          <a:prstGeom prst="rect">
            <a:avLst/>
          </a:prstGeom>
          <a:solidFill>
            <a:srgbClr val="DCFCE7">
              <a:alpha val="50000"/>
            </a:srgbClr>
          </a:solidFill>
          <a:ln w="381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488569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52193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543433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107057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543433" y="441477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待激活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107057" y="441477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落后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2004452" y="1295574"/>
            <a:ext cx="442955" cy="442955"/>
          </a:xfrm>
          <a:prstGeom prst="ellipse">
            <a:avLst/>
          </a:prstGeom>
          <a:solidFill>
            <a:srgbClr val="1F3864">
              <a:alpha val="80000"/>
            </a:srgbClr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1883029" y="175352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BK</a:t>
            </a:r>
          </a:p>
        </p:txBody>
      </p:sp>
      <p:sp>
        <p:nvSpPr>
          <p:cNvPr id="70" name="Shape 67"/>
          <p:cNvSpPr/>
          <p:nvPr/>
        </p:nvSpPr>
        <p:spPr>
          <a:xfrm>
            <a:off x="3151762" y="3797499"/>
            <a:ext cx="580637" cy="580637"/>
          </a:xfrm>
          <a:prstGeom prst="ellipse">
            <a:avLst/>
          </a:prstGeom>
          <a:solidFill>
            <a:srgbClr val="1A7A3F">
              <a:alpha val="80000"/>
            </a:srgbClr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3099180" y="4393135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永明经代</a:t>
            </a:r>
          </a:p>
        </p:txBody>
      </p:sp>
      <p:sp>
        <p:nvSpPr>
          <p:cNvPr id="72" name="Shape 69"/>
          <p:cNvSpPr/>
          <p:nvPr/>
        </p:nvSpPr>
        <p:spPr>
          <a:xfrm>
            <a:off x="1647817" y="2658541"/>
            <a:ext cx="461281" cy="461281"/>
          </a:xfrm>
          <a:prstGeom prst="ellipse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1535557" y="3134821"/>
            <a:ext cx="685800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同行经代</a:t>
            </a:r>
          </a:p>
        </p:txBody>
      </p:sp>
      <p:sp>
        <p:nvSpPr>
          <p:cNvPr id="74" name="Shape 71"/>
          <p:cNvSpPr/>
          <p:nvPr/>
        </p:nvSpPr>
        <p:spPr>
          <a:xfrm>
            <a:off x="1945706" y="4418189"/>
            <a:ext cx="438830" cy="438830"/>
          </a:xfrm>
          <a:prstGeom prst="ellipse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1822221" y="487201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天领</a:t>
            </a:r>
          </a:p>
        </p:txBody>
      </p:sp>
      <p:sp>
        <p:nvSpPr>
          <p:cNvPr id="76" name="Shape 73"/>
          <p:cNvSpPr/>
          <p:nvPr/>
        </p:nvSpPr>
        <p:spPr>
          <a:xfrm>
            <a:off x="841381" y="4251427"/>
            <a:ext cx="197803" cy="197803"/>
          </a:xfrm>
          <a:prstGeom prst="ellipse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597382" y="446422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ICLUB</a:t>
            </a:r>
          </a:p>
        </p:txBody>
      </p:sp>
      <p:sp>
        <p:nvSpPr>
          <p:cNvPr id="78" name="Shape 75"/>
          <p:cNvSpPr/>
          <p:nvPr/>
        </p:nvSpPr>
        <p:spPr>
          <a:xfrm>
            <a:off x="968896" y="5619336"/>
            <a:ext cx="255499" cy="255499"/>
          </a:xfrm>
          <a:prstGeom prst="ellipse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753745" y="588983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成事家办</a:t>
            </a:r>
          </a:p>
        </p:txBody>
      </p:sp>
      <p:sp>
        <p:nvSpPr>
          <p:cNvPr id="80" name="Shape 77"/>
          <p:cNvSpPr/>
          <p:nvPr/>
        </p:nvSpPr>
        <p:spPr>
          <a:xfrm>
            <a:off x="1003353" y="5870432"/>
            <a:ext cx="238704" cy="238704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779805" y="569084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合伙转介</a:t>
            </a:r>
          </a:p>
        </p:txBody>
      </p:sp>
      <p:sp>
        <p:nvSpPr>
          <p:cNvPr id="82" name="Shape 79"/>
          <p:cNvSpPr/>
          <p:nvPr/>
        </p:nvSpPr>
        <p:spPr>
          <a:xfrm>
            <a:off x="644891" y="6010198"/>
            <a:ext cx="121697" cy="121697"/>
          </a:xfrm>
          <a:prstGeom prst="ellipse">
            <a:avLst/>
          </a:prstGeom>
          <a:solidFill>
            <a:srgbClr val="B0B0B0">
              <a:alpha val="80000"/>
            </a:srgbClr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362839" y="583060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IFA</a:t>
            </a:r>
          </a:p>
        </p:txBody>
      </p:sp>
      <p:sp>
        <p:nvSpPr>
          <p:cNvPr id="84" name="Shape 81"/>
          <p:cNvSpPr/>
          <p:nvPr/>
        </p:nvSpPr>
        <p:spPr>
          <a:xfrm>
            <a:off x="493449" y="1295574"/>
            <a:ext cx="326941" cy="326941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 flipV="1">
            <a:off x="114935" y="6297295"/>
            <a:ext cx="378333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201041" y="6337046"/>
            <a:ext cx="37673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7" name="Text 84"/>
          <p:cNvSpPr/>
          <p:nvPr/>
        </p:nvSpPr>
        <p:spPr>
          <a:xfrm>
            <a:off x="186055" y="6456045"/>
            <a:ext cx="360680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BK业务达成率 113.8% 领跑全渠道，是唯一接近达标的渠道。天领业务规模较大（批核 64.5M）但达成率仅 33.4%，是最大战略风险点。IFA业务达成率仅 0.0%，需重点关注。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3952875" y="996950"/>
            <a:ext cx="370268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9" name="Shape 86"/>
          <p:cNvSpPr/>
          <p:nvPr/>
        </p:nvSpPr>
        <p:spPr>
          <a:xfrm>
            <a:off x="3964305" y="993140"/>
            <a:ext cx="3691255" cy="25971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4055745" y="1038225"/>
            <a:ext cx="338010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全业务目标缺口分解 — Gap Waterfall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4074160" y="5974715"/>
            <a:ext cx="3467100" cy="285115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4110736" y="604443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已达成仅 54.4%  |  剩余缺口 508M  |  需 6 个月完成 45.6%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3964305" y="6300470"/>
            <a:ext cx="3690620" cy="41021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0" name="Shape 127"/>
          <p:cNvSpPr/>
          <p:nvPr/>
        </p:nvSpPr>
        <p:spPr>
          <a:xfrm>
            <a:off x="3964305" y="6308725"/>
            <a:ext cx="368640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1" name="Text 128"/>
          <p:cNvSpPr/>
          <p:nvPr/>
        </p:nvSpPr>
        <p:spPr>
          <a:xfrm>
            <a:off x="4055745" y="6327775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055745" y="6438900"/>
            <a:ext cx="340106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BK业务贡献最大批核（227.6M）。已批核 + 在途合计 728.5M，距目标 1113M 仍差 384M。若未批核 107.3M 与待签 16.0M 快速推进，可直接拉升年度达成。</a:t>
            </a:r>
            <a:endParaRPr lang="en-US" sz="550" dirty="0"/>
          </a:p>
        </p:txBody>
      </p:sp>
      <p:sp>
        <p:nvSpPr>
          <p:cNvPr id="28" name="Shape 88"/>
          <p:cNvSpPr/>
          <p:nvPr/>
        </p:nvSpPr>
        <p:spPr>
          <a:xfrm>
            <a:off x="4402455" y="562508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3" name="Text 89"/>
          <p:cNvSpPr/>
          <p:nvPr/>
        </p:nvSpPr>
        <p:spPr>
          <a:xfrm>
            <a:off x="3868039" y="555193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50" dirty="0"/>
          </a:p>
        </p:txBody>
      </p:sp>
      <p:sp>
        <p:nvSpPr>
          <p:cNvPr id="134" name="Shape 90"/>
          <p:cNvSpPr/>
          <p:nvPr/>
        </p:nvSpPr>
        <p:spPr>
          <a:xfrm>
            <a:off x="4407535" y="452780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5" name="Text 91"/>
          <p:cNvSpPr/>
          <p:nvPr/>
        </p:nvSpPr>
        <p:spPr>
          <a:xfrm>
            <a:off x="3868039" y="4454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50" dirty="0"/>
          </a:p>
        </p:txBody>
      </p:sp>
      <p:sp>
        <p:nvSpPr>
          <p:cNvPr id="136" name="Shape 92"/>
          <p:cNvSpPr/>
          <p:nvPr/>
        </p:nvSpPr>
        <p:spPr>
          <a:xfrm>
            <a:off x="4407535" y="343052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7" name="Text 93"/>
          <p:cNvSpPr/>
          <p:nvPr/>
        </p:nvSpPr>
        <p:spPr>
          <a:xfrm>
            <a:off x="3868039" y="335737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600M</a:t>
            </a:r>
            <a:endParaRPr lang="en-US" sz="650" dirty="0"/>
          </a:p>
        </p:txBody>
      </p:sp>
      <p:sp>
        <p:nvSpPr>
          <p:cNvPr id="138" name="Shape 94"/>
          <p:cNvSpPr/>
          <p:nvPr/>
        </p:nvSpPr>
        <p:spPr>
          <a:xfrm>
            <a:off x="4407535" y="233324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9" name="Text 95"/>
          <p:cNvSpPr/>
          <p:nvPr/>
        </p:nvSpPr>
        <p:spPr>
          <a:xfrm>
            <a:off x="3868039" y="226009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900M</a:t>
            </a:r>
            <a:endParaRPr lang="en-US" sz="650" dirty="0"/>
          </a:p>
        </p:txBody>
      </p:sp>
      <p:sp>
        <p:nvSpPr>
          <p:cNvPr id="140" name="Shape 96"/>
          <p:cNvSpPr/>
          <p:nvPr/>
        </p:nvSpPr>
        <p:spPr>
          <a:xfrm>
            <a:off x="4407535" y="1554175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1" name="Text 97"/>
          <p:cNvSpPr/>
          <p:nvPr/>
        </p:nvSpPr>
        <p:spPr>
          <a:xfrm>
            <a:off x="3868039" y="1481023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650" dirty="0"/>
          </a:p>
        </p:txBody>
      </p:sp>
      <p:sp>
        <p:nvSpPr>
          <p:cNvPr id="142" name="Shape 98"/>
          <p:cNvSpPr/>
          <p:nvPr/>
        </p:nvSpPr>
        <p:spPr>
          <a:xfrm>
            <a:off x="4270375" y="1554480"/>
            <a:ext cx="241300" cy="407098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143" name="Text 99"/>
          <p:cNvSpPr/>
          <p:nvPr/>
        </p:nvSpPr>
        <p:spPr>
          <a:xfrm>
            <a:off x="4194175" y="349819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</a:t>
            </a:r>
            <a:endParaRPr lang="en-US" sz="750" dirty="0"/>
          </a:p>
        </p:txBody>
      </p:sp>
      <p:sp>
        <p:nvSpPr>
          <p:cNvPr id="144" name="Text 100"/>
          <p:cNvSpPr/>
          <p:nvPr/>
        </p:nvSpPr>
        <p:spPr>
          <a:xfrm>
            <a:off x="4177919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endParaRPr lang="en-US" sz="650" dirty="0"/>
          </a:p>
        </p:txBody>
      </p:sp>
      <p:sp>
        <p:nvSpPr>
          <p:cNvPr id="145" name="Shape 101"/>
          <p:cNvSpPr/>
          <p:nvPr/>
        </p:nvSpPr>
        <p:spPr>
          <a:xfrm>
            <a:off x="4654423" y="5625084"/>
            <a:ext cx="91440" cy="0"/>
          </a:xfrm>
          <a:prstGeom prst="line">
            <a:avLst/>
          </a:prstGeom>
          <a:noFill/>
          <a:ln w="5080">
            <a:solidFill>
              <a:srgbClr val="94A3B8"/>
            </a:solidFill>
            <a:prstDash val="sysDot"/>
          </a:ln>
        </p:spPr>
        <p:txBody>
          <a:bodyPr/>
          <a:p/>
        </p:txBody>
      </p:sp>
      <p:sp>
        <p:nvSpPr>
          <p:cNvPr id="146" name="Shape 102"/>
          <p:cNvSpPr/>
          <p:nvPr/>
        </p:nvSpPr>
        <p:spPr>
          <a:xfrm>
            <a:off x="4563110" y="1554480"/>
            <a:ext cx="241200" cy="83251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47" name="Text 103"/>
          <p:cNvSpPr/>
          <p:nvPr/>
        </p:nvSpPr>
        <p:spPr>
          <a:xfrm>
            <a:off x="4480433" y="13316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−228</a:t>
            </a:r>
            <a:endParaRPr lang="en-US" sz="75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Text 104"/>
          <p:cNvSpPr/>
          <p:nvPr/>
        </p:nvSpPr>
        <p:spPr>
          <a:xfrm>
            <a:off x="4495165" y="5658485"/>
            <a:ext cx="33845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业务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0" name="Shape 106"/>
          <p:cNvSpPr/>
          <p:nvPr/>
        </p:nvSpPr>
        <p:spPr>
          <a:xfrm>
            <a:off x="4860925" y="2386997"/>
            <a:ext cx="241200" cy="553024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1" name="Text 107"/>
          <p:cNvSpPr/>
          <p:nvPr/>
        </p:nvSpPr>
        <p:spPr>
          <a:xfrm>
            <a:off x="4785106" y="2164117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−151</a:t>
            </a:r>
            <a:endParaRPr lang="en-US" sz="7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2" name="Text 108"/>
          <p:cNvSpPr/>
          <p:nvPr/>
        </p:nvSpPr>
        <p:spPr>
          <a:xfrm>
            <a:off x="4789805" y="5657850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313" name="Shape_313"/>
          <p:cNvSpPr/>
          <p:nvPr/>
        </p:nvSpPr>
        <p:spPr>
          <a:xfrm>
            <a:off x="5178425" y="2940021"/>
            <a:ext cx="241200" cy="401976"/>
          </a:xfrm>
          <a:prstGeom prst="rect">
            <a:avLst/>
          </a:prstGeom>
          <a:solidFill>
            <a:srgbClr val="EB954B"/>
          </a:solidFill>
          <a:ln w="9525">
            <a:solidFill>
              <a:srgbClr val="EB954B"/>
            </a:solidFill>
          </a:ln>
        </p:spPr>
        <p:txBody>
          <a:bodyPr/>
          <a:p/>
        </p:txBody>
      </p:sp>
      <p:sp>
        <p:nvSpPr>
          <p:cNvPr id="155" name="Shape 114"/>
          <p:cNvSpPr/>
          <p:nvPr/>
        </p:nvSpPr>
        <p:spPr>
          <a:xfrm>
            <a:off x="6605905" y="3767784"/>
            <a:ext cx="244475" cy="392613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6" name="Text 115"/>
          <p:cNvSpPr/>
          <p:nvPr/>
        </p:nvSpPr>
        <p:spPr>
          <a:xfrm>
            <a:off x="6517767" y="2627579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−107</a:t>
            </a:r>
            <a:endParaRPr lang="en-US" sz="75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7" name="Text 116"/>
          <p:cNvSpPr/>
          <p:nvPr/>
        </p:nvSpPr>
        <p:spPr>
          <a:xfrm>
            <a:off x="6577711" y="56606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9" name="Shape 118"/>
          <p:cNvSpPr/>
          <p:nvPr/>
        </p:nvSpPr>
        <p:spPr>
          <a:xfrm>
            <a:off x="6917055" y="4160398"/>
            <a:ext cx="241300" cy="587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0" name="Text 119"/>
          <p:cNvSpPr/>
          <p:nvPr/>
        </p:nvSpPr>
        <p:spPr>
          <a:xfrm>
            <a:off x="6850380" y="3273425"/>
            <a:ext cx="34988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−4</a:t>
            </a:r>
            <a:endParaRPr lang="en-US" sz="700" dirty="0"/>
          </a:p>
        </p:txBody>
      </p:sp>
      <p:sp>
        <p:nvSpPr>
          <p:cNvPr id="161" name="Text 120"/>
          <p:cNvSpPr/>
          <p:nvPr/>
        </p:nvSpPr>
        <p:spPr>
          <a:xfrm>
            <a:off x="6943090" y="5668010"/>
            <a:ext cx="27813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</a:t>
            </a:r>
            <a:endParaRPr lang="en-US" sz="650" dirty="0"/>
          </a:p>
        </p:txBody>
      </p:sp>
      <p:sp>
        <p:nvSpPr>
          <p:cNvPr id="162" name="Shape 121"/>
          <p:cNvSpPr/>
          <p:nvPr/>
        </p:nvSpPr>
        <p:spPr>
          <a:xfrm>
            <a:off x="7194550" y="4219098"/>
            <a:ext cx="238760" cy="1405985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63" name="Text 122"/>
          <p:cNvSpPr/>
          <p:nvPr/>
        </p:nvSpPr>
        <p:spPr>
          <a:xfrm>
            <a:off x="7118223" y="4426671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384</a:t>
            </a:r>
            <a:endParaRPr lang="en-US" sz="750" dirty="0"/>
          </a:p>
        </p:txBody>
      </p:sp>
      <p:sp>
        <p:nvSpPr>
          <p:cNvPr id="164" name="Text 123"/>
          <p:cNvSpPr/>
          <p:nvPr/>
        </p:nvSpPr>
        <p:spPr>
          <a:xfrm>
            <a:off x="7081647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预估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650" dirty="0"/>
          </a:p>
        </p:txBody>
      </p:sp>
      <p:sp>
        <p:nvSpPr>
          <p:cNvPr id="165" name="Text 108"/>
          <p:cNvSpPr/>
          <p:nvPr/>
        </p:nvSpPr>
        <p:spPr>
          <a:xfrm>
            <a:off x="5117465" y="5671185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8" name="Text 104"/>
          <p:cNvSpPr/>
          <p:nvPr/>
        </p:nvSpPr>
        <p:spPr>
          <a:xfrm>
            <a:off x="5420995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9" name="Text 107"/>
          <p:cNvSpPr/>
          <p:nvPr/>
        </p:nvSpPr>
        <p:spPr>
          <a:xfrm>
            <a:off x="5104765" y="2717141"/>
            <a:ext cx="384175" cy="97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−110</a:t>
            </a:r>
            <a:endParaRPr lang="en-US" sz="7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0" name="Shape_315"/>
          <p:cNvSpPr/>
          <p:nvPr/>
        </p:nvSpPr>
        <p:spPr>
          <a:xfrm>
            <a:off x="5488940" y="3341998"/>
            <a:ext cx="241200" cy="235714"/>
          </a:xfrm>
          <a:prstGeom prst="rect">
            <a:avLst/>
          </a:prstGeom>
          <a:solidFill>
            <a:srgbClr val="5295C3"/>
          </a:solidFill>
          <a:ln w="9525">
            <a:solidFill>
              <a:srgbClr val="2980B9"/>
            </a:solidFill>
          </a:ln>
        </p:spPr>
        <p:txBody>
          <a:bodyPr/>
          <a:p/>
        </p:txBody>
      </p:sp>
      <p:sp>
        <p:nvSpPr>
          <p:cNvPr id="171" name="Text_314"/>
          <p:cNvSpPr/>
          <p:nvPr/>
        </p:nvSpPr>
        <p:spPr>
          <a:xfrm>
            <a:off x="5525135" y="3119118"/>
            <a:ext cx="2495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5295C3"/>
                </a:solidFill>
                <a:cs typeface="+mn-lt"/>
              </a:rPr>
              <a:t>−64</a:t>
            </a:r>
            <a:r>
              <a:rPr lang="en-US" altLang="zh-CN" sz="750" b="1" dirty="0">
                <a:solidFill>
                  <a:srgbClr val="5295C3"/>
                </a:solidFill>
                <a:cs typeface="+mn-lt"/>
              </a:rPr>
              <a:t/>
            </a:r>
            <a:endParaRPr lang="en-US" altLang="zh-CN" sz="750" b="1" dirty="0">
              <a:solidFill>
                <a:srgbClr val="5295C3"/>
              </a:solidFill>
              <a:cs typeface="+mn-lt"/>
            </a:endParaRPr>
          </a:p>
        </p:txBody>
      </p:sp>
      <p:sp>
        <p:nvSpPr>
          <p:cNvPr id="172" name="Shape_315"/>
          <p:cNvSpPr/>
          <p:nvPr/>
        </p:nvSpPr>
        <p:spPr>
          <a:xfrm>
            <a:off x="5778500" y="3577712"/>
            <a:ext cx="241300" cy="74609"/>
          </a:xfrm>
          <a:prstGeom prst="rect">
            <a:avLst/>
          </a:prstGeom>
          <a:solidFill>
            <a:srgbClr val="7030A0"/>
          </a:solidFill>
          <a:ln w="9525">
            <a:solidFill>
              <a:srgbClr val="7030A0"/>
            </a:solidFill>
          </a:ln>
        </p:spPr>
        <p:txBody>
          <a:bodyPr/>
          <a:p/>
        </p:txBody>
      </p:sp>
      <p:sp>
        <p:nvSpPr>
          <p:cNvPr id="173" name="Text_314"/>
          <p:cNvSpPr/>
          <p:nvPr/>
        </p:nvSpPr>
        <p:spPr>
          <a:xfrm>
            <a:off x="5805805" y="3354832"/>
            <a:ext cx="24955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7030A0"/>
                </a:solidFill>
                <a:cs typeface="+mn-lt"/>
              </a:rPr>
              <a:t>−20</a:t>
            </a:r>
            <a:r>
              <a:rPr lang="en-US" altLang="zh-CN" sz="750" b="1" dirty="0">
                <a:solidFill>
                  <a:srgbClr val="7030A0"/>
                </a:solidFill>
                <a:cs typeface="+mn-lt"/>
              </a:rPr>
              <a:t/>
            </a:r>
            <a:endParaRPr lang="en-US" altLang="zh-CN" sz="750" b="1" dirty="0">
              <a:solidFill>
                <a:srgbClr val="7030A0"/>
              </a:solidFill>
              <a:cs typeface="+mn-lt"/>
            </a:endParaRPr>
          </a:p>
        </p:txBody>
      </p:sp>
      <p:sp>
        <p:nvSpPr>
          <p:cNvPr id="175" name="Text 104"/>
          <p:cNvSpPr/>
          <p:nvPr/>
        </p:nvSpPr>
        <p:spPr>
          <a:xfrm>
            <a:off x="5738495" y="566801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altLang="zh-CN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76" name="Text 104"/>
          <p:cNvSpPr/>
          <p:nvPr/>
        </p:nvSpPr>
        <p:spPr>
          <a:xfrm>
            <a:off x="5946775" y="568325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7" name="Shape_315"/>
          <p:cNvSpPr/>
          <p:nvPr/>
        </p:nvSpPr>
        <p:spPr>
          <a:xfrm>
            <a:off x="6337300" y="3680556"/>
            <a:ext cx="241300" cy="163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356985" y="3457676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−4</a:t>
            </a:r>
            <a:r>
              <a:rPr lang="en-US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/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180" name="Text 104"/>
          <p:cNvSpPr/>
          <p:nvPr/>
        </p:nvSpPr>
        <p:spPr>
          <a:xfrm>
            <a:off x="6311900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成事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家办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82" name="Shape_315"/>
          <p:cNvSpPr/>
          <p:nvPr/>
        </p:nvSpPr>
        <p:spPr>
          <a:xfrm flipV="1">
            <a:off x="6057900" y="3652322"/>
            <a:ext cx="241300" cy="28234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</p:spPr>
        <p:txBody>
          <a:bodyPr/>
          <a:p/>
        </p:txBody>
      </p:sp>
      <p:sp>
        <p:nvSpPr>
          <p:cNvPr id="183" name="Text_314"/>
          <p:cNvSpPr/>
          <p:nvPr/>
        </p:nvSpPr>
        <p:spPr>
          <a:xfrm>
            <a:off x="6128385" y="3429442"/>
            <a:ext cx="249555" cy="139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C00000"/>
                </a:solidFill>
                <a:cs typeface="+mn-lt"/>
              </a:rPr>
              <a:t>−8</a:t>
            </a:r>
            <a:r>
              <a:rPr lang="en-US" sz="750" b="1" dirty="0">
                <a:solidFill>
                  <a:srgbClr val="C00000"/>
                </a:solidFill>
                <a:cs typeface="+mn-lt"/>
              </a:rPr>
              <a:t/>
            </a:r>
            <a:endParaRPr lang="en-US" sz="750" b="1" dirty="0">
              <a:solidFill>
                <a:srgbClr val="C00000"/>
              </a:solidFill>
              <a:cs typeface="+mn-lt"/>
            </a:endParaRP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9002" name="s9002"/>
          <p:cNvSpPr/>
          <p:nvPr/>
        </p:nvSpPr>
        <p:spPr>
          <a:xfrm>
            <a:off x="7700450" y="992604"/>
            <a:ext cx="4323220" cy="25500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p/>
        </p:txBody>
      </p:sp>
      <p:sp>
        <p:nvSpPr>
          <p:cNvPr id="9003" name="s9003"/>
          <p:cNvSpPr/>
          <p:nvPr/>
        </p:nvSpPr>
        <p:spPr>
          <a:xfrm>
            <a:off x="7700450" y="992604"/>
            <a:ext cx="5484" cy="25500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04" name="s9004"/>
          <p:cNvSpPr/>
          <p:nvPr/>
        </p:nvSpPr>
        <p:spPr>
          <a:xfrm>
            <a:off x="7774052" y="992604"/>
            <a:ext cx="4295800" cy="25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  业务线月度三线趋势 — 预约 / 签单 / 批核（APE in M，Jan–Jul 2026）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/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0" name="ld0"/>
          <p:cNvSpPr/>
          <p:nvPr/>
        </p:nvSpPr>
        <p:spPr>
          <a:xfrm>
            <a:off x="10232480" y="6143402"/>
            <a:ext cx="36560" cy="365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/>
          <a:p/>
        </p:txBody>
      </p:sp>
      <p:sp>
        <p:nvSpPr>
          <p:cNvPr id="9093" name="lt0"/>
          <p:cNvSpPr/>
          <p:nvPr/>
        </p:nvSpPr>
        <p:spPr>
          <a:xfrm>
            <a:off x="102877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endParaRPr lang="zh-CN" sz="80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1" name="ld1"/>
          <p:cNvSpPr/>
          <p:nvPr/>
        </p:nvSpPr>
        <p:spPr>
          <a:xfrm>
            <a:off x="10780880" y="6143402"/>
            <a:ext cx="36560" cy="36560"/>
          </a:xfrm>
          <a:prstGeom prst="ellipse">
            <a:avLst/>
          </a:prstGeom>
          <a:solidFill>
            <a:srgbClr val="1A7A3F"/>
          </a:solidFill>
          <a:ln>
            <a:noFill/>
          </a:ln>
        </p:spPr>
        <p:txBody>
          <a:bodyPr/>
          <a:p/>
        </p:txBody>
      </p:sp>
      <p:sp>
        <p:nvSpPr>
          <p:cNvPr id="9094" name="lt1"/>
          <p:cNvSpPr/>
          <p:nvPr/>
        </p:nvSpPr>
        <p:spPr>
          <a:xfrm>
            <a:off x="108361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endParaRPr lang="zh-CN" sz="80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2" name="ld2"/>
          <p:cNvSpPr/>
          <p:nvPr/>
        </p:nvSpPr>
        <p:spPr>
          <a:xfrm>
            <a:off x="11329280" y="6143402"/>
            <a:ext cx="36560" cy="365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95" name="lt2"/>
          <p:cNvSpPr/>
          <p:nvPr/>
        </p:nvSpPr>
        <p:spPr>
          <a:xfrm>
            <a:off x="113845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批核</a:t>
            </a:r>
            <a:endParaRPr lang="zh-CN" sz="8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10" name="s9010"/>
          <p:cNvSpPr/>
          <p:nvPr/>
        </p:nvSpPr>
        <p:spPr>
          <a:xfrm>
            <a:off x="7750335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2" name="s9012"/>
          <p:cNvSpPr/>
          <p:nvPr/>
        </p:nvSpPr>
        <p:spPr>
          <a:xfrm>
            <a:off x="7759475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5295C3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天领业务</a:t>
            </a:r>
            <a:endParaRPr lang="zh-CN" sz="850" b="1" dirty="0">
              <a:solidFill>
                <a:srgbClr val="5295C3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3" name="C9013"/>
          <p:cNvGraphicFramePr>
            <a:graphicFrameLocks noGrp="1"/>
          </p:cNvGraphicFramePr>
          <p:nvPr/>
        </p:nvGraphicFramePr>
        <p:xfrm>
          <a:off x="7750175" y="1447800"/>
          <a:ext cx="2072005" cy="96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14" name="s9014"/>
          <p:cNvSpPr/>
          <p:nvPr/>
        </p:nvSpPr>
        <p:spPr>
          <a:xfrm>
            <a:off x="9881783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6" name="s9016"/>
          <p:cNvSpPr/>
          <p:nvPr/>
        </p:nvSpPr>
        <p:spPr>
          <a:xfrm>
            <a:off x="9890923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成事家办</a:t>
            </a:r>
            <a:endParaRPr lang="zh-CN" sz="850" b="1" dirty="0">
              <a:solidFill>
                <a:srgbClr val="16A085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7" name="C9017"/>
          <p:cNvGraphicFramePr>
            <a:graphicFrameLocks noGrp="1"/>
          </p:cNvGraphicFramePr>
          <p:nvPr/>
        </p:nvGraphicFramePr>
        <p:xfrm>
          <a:off x="9881870" y="1447800"/>
          <a:ext cx="2072005" cy="102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8" name="s9018"/>
          <p:cNvSpPr/>
          <p:nvPr/>
        </p:nvSpPr>
        <p:spPr>
          <a:xfrm>
            <a:off x="7759860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0" name="s9020"/>
          <p:cNvSpPr/>
          <p:nvPr/>
        </p:nvSpPr>
        <p:spPr>
          <a:xfrm>
            <a:off x="7769000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BK业务</a:t>
            </a:r>
            <a:endParaRPr lang="zh-CN" sz="8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1" name="C9021"/>
          <p:cNvGraphicFramePr>
            <a:graphicFrameLocks noGrp="1"/>
          </p:cNvGraphicFramePr>
          <p:nvPr/>
        </p:nvGraphicFramePr>
        <p:xfrm>
          <a:off x="7759700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2" name="s9022"/>
          <p:cNvSpPr/>
          <p:nvPr/>
        </p:nvSpPr>
        <p:spPr>
          <a:xfrm>
            <a:off x="9891308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4" name="s9024"/>
          <p:cNvSpPr/>
          <p:nvPr/>
        </p:nvSpPr>
        <p:spPr>
          <a:xfrm>
            <a:off x="9900448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同行经代</a:t>
            </a:r>
            <a:endParaRPr lang="zh-CN" sz="850" b="1" dirty="0">
              <a:solidFill>
                <a:srgbClr val="E67E22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5" name="C9025"/>
          <p:cNvGraphicFramePr>
            <a:graphicFrameLocks noGrp="1"/>
          </p:cNvGraphicFramePr>
          <p:nvPr/>
        </p:nvGraphicFramePr>
        <p:xfrm>
          <a:off x="9891395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26" name="s9026"/>
          <p:cNvSpPr/>
          <p:nvPr/>
        </p:nvSpPr>
        <p:spPr>
          <a:xfrm>
            <a:off x="7759860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8" name="s9028"/>
          <p:cNvSpPr/>
          <p:nvPr/>
        </p:nvSpPr>
        <p:spPr>
          <a:xfrm>
            <a:off x="7769000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永明经代</a:t>
            </a:r>
            <a:endParaRPr lang="zh-CN" sz="85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9" name="C9029"/>
          <p:cNvGraphicFramePr>
            <a:graphicFrameLocks noGrp="1"/>
          </p:cNvGraphicFramePr>
          <p:nvPr/>
        </p:nvGraphicFramePr>
        <p:xfrm>
          <a:off x="7759860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030" name="s9030"/>
          <p:cNvSpPr/>
          <p:nvPr/>
        </p:nvSpPr>
        <p:spPr>
          <a:xfrm>
            <a:off x="9891308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2" name="s9032"/>
          <p:cNvSpPr/>
          <p:nvPr/>
        </p:nvSpPr>
        <p:spPr>
          <a:xfrm>
            <a:off x="9900448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合伙转介</a:t>
            </a:r>
            <a:endParaRPr lang="zh-CN" sz="8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3" name="C9033"/>
          <p:cNvGraphicFramePr>
            <a:graphicFrameLocks noGrp="1"/>
          </p:cNvGraphicFramePr>
          <p:nvPr/>
        </p:nvGraphicFramePr>
        <p:xfrm>
          <a:off x="9891308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34" name="s9034"/>
          <p:cNvSpPr/>
          <p:nvPr/>
        </p:nvSpPr>
        <p:spPr>
          <a:xfrm>
            <a:off x="7759860" y="5027914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6" name="s9040"/>
          <p:cNvSpPr/>
          <p:nvPr/>
        </p:nvSpPr>
        <p:spPr>
          <a:xfrm>
            <a:off x="9900448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MGA业务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7" name="C9041"/>
          <p:cNvGraphicFramePr>
            <a:graphicFrameLocks noGrp="1"/>
          </p:cNvGraphicFramePr>
          <p:nvPr/>
        </p:nvGraphicFramePr>
        <p:xfrm>
          <a:off x="9891308" y="5187864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26"/>
          <p:cNvSpPr/>
          <p:nvPr/>
        </p:nvSpPr>
        <p:spPr>
          <a:xfrm>
            <a:off x="7700010" y="6308725"/>
            <a:ext cx="4323715" cy="37592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27"/>
          <p:cNvSpPr/>
          <p:nvPr/>
        </p:nvSpPr>
        <p:spPr>
          <a:xfrm flipV="1">
            <a:off x="7709535" y="6313805"/>
            <a:ext cx="4298315" cy="32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9" name="Text 128"/>
          <p:cNvSpPr/>
          <p:nvPr/>
        </p:nvSpPr>
        <p:spPr>
          <a:xfrm>
            <a:off x="7820025" y="6336030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0" name="Text 129"/>
          <p:cNvSpPr/>
          <p:nvPr/>
        </p:nvSpPr>
        <p:spPr>
          <a:xfrm>
            <a:off x="7802880" y="6452235"/>
            <a:ext cx="4047490" cy="202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永明经代：3 月签单 27.6M 居首，前端动能最强。BK业务：2 月批核峰 93.9M 为存量集中放款。各业务线节奏分化明显，需按渠道特征差异化管理。</a:t>
            </a:r>
            <a:endParaRPr lang="en-US" sz="550" dirty="0"/>
          </a:p>
        </p:txBody>
      </p:sp>
      <p:graphicFrame>
        <p:nvGraphicFramePr>
          <p:cNvPr id="9037" name="C9037"/>
          <p:cNvGraphicFramePr>
            <a:graphicFrameLocks noGrp="1"/>
          </p:cNvGraphicFramePr>
          <p:nvPr/>
        </p:nvGraphicFramePr>
        <p:xfrm>
          <a:off x="7759860" y="5187864"/>
          <a:ext cx="2072038" cy="104653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9036" name="s9036"/>
          <p:cNvSpPr/>
          <p:nvPr/>
        </p:nvSpPr>
        <p:spPr>
          <a:xfrm>
            <a:off x="7769000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ICLUB业务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83" name="Text 82"/>
          <p:cNvSpPr/>
          <p:nvPr/>
        </p:nvSpPr>
        <p:spPr>
          <a:xfrm>
            <a:off x="314019" y="163751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MGA</a:t>
            </a:r>
          </a:p>
        </p:txBody>
      </p:sp>
      <p:sp>
        <p:nvSpPr>
          <p:cNvPr id="177" name="Shape_315"/>
          <p:cNvSpPr/>
          <p:nvPr/>
        </p:nvSpPr>
        <p:spPr>
          <a:xfrm>
            <a:off x="6626860" y="3696905"/>
            <a:ext cx="241300" cy="7087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646545" y="3474025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−19</a:t>
            </a:r>
            <a:r>
              <a:rPr lang="en-US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/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1822221" y="487201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天领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0"/>
          <p:cNvSpPr/>
          <p:nvPr/>
        </p:nvSpPr>
        <p:spPr>
          <a:xfrm>
            <a:off x="4608830" y="3111581"/>
            <a:ext cx="746125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558800"/>
            <a:ext cx="4389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48640"/>
            <a:ext cx="438912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42245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 保单阶段构成（100%堆叠）— 各业务线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109728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877824"/>
            <a:ext cx="109728" cy="10972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64792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73120" y="886714"/>
            <a:ext cx="109728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93135" y="896239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568" y="3800000"/>
            <a:ext cx="3657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9720" y="380000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720" y="398288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256.2M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79880" y="380000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579880" y="3800000"/>
            <a:ext cx="103746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16456" y="3891440"/>
            <a:ext cx="9825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17340" y="3800000"/>
            <a:ext cx="50352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53916" y="3891440"/>
            <a:ext cx="448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20859" y="3800000"/>
            <a:ext cx="31789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198368" y="388229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227.6▌28.6▌0.0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6568" y="5300000"/>
            <a:ext cx="36576" cy="34747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99720" y="530000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720" y="548288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173.2M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579880" y="530000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579880" y="5300000"/>
            <a:ext cx="97623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16456" y="5391440"/>
            <a:ext cx="9213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56116" y="5300000"/>
            <a:ext cx="49460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92692" y="5391440"/>
            <a:ext cx="439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0723" y="5300000"/>
            <a:ext cx="101925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98368" y="538229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151.2▌19.2▌2.8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568" y="2300000"/>
            <a:ext cx="3657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99720" y="230000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720" y="248288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129.2M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79880" y="230000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579880" y="2300000"/>
            <a:ext cx="107195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616456" y="2391440"/>
            <a:ext cx="10170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51830" y="2300000"/>
            <a:ext cx="40485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688406" y="2391440"/>
            <a:ext cx="349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6685" y="2300000"/>
            <a:ext cx="95963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198368" y="238229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109.9▌15.7▌3.6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6568" y="4300000"/>
            <a:ext cx="365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9720" y="430000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720" y="448288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79.4M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579880" y="430000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579880" y="4300000"/>
            <a:ext cx="97945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616456" y="4391440"/>
            <a:ext cx="92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59336" y="4300000"/>
            <a:ext cx="365641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595912" y="4391440"/>
            <a:ext cx="31077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924977" y="4300000"/>
            <a:ext cx="227671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198368" y="438229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64.5▌14.5▌0.4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6568" y="1800000"/>
            <a:ext cx="3657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99720" y="180000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720" y="198288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20.4M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79880" y="180000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579880" y="1800000"/>
            <a:ext cx="1530698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616456" y="1891440"/>
            <a:ext cx="147583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10578" y="1800000"/>
            <a:ext cx="42070" cy="347472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98368" y="188229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20.4▌0.0▌0.0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6568" y="2800000"/>
            <a:ext cx="3657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99720" y="280000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9720" y="298288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8.7M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579880" y="280000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579880" y="2800000"/>
            <a:ext cx="1051699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616456" y="2891440"/>
            <a:ext cx="99683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31579" y="2800000"/>
            <a:ext cx="411119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668155" y="2891440"/>
            <a:ext cx="3562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42698" y="2800000"/>
            <a:ext cx="10995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198368" y="288229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7.7▌0.9▌0.0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697990" y="1056640"/>
            <a:ext cx="14217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绿=批核 M  |  橙=未批核 M  |  蓝=待签 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91440" y="6309360"/>
            <a:ext cx="43891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91440" y="6309360"/>
            <a:ext cx="438912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182880" y="6345936"/>
            <a:ext cx="42245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82880" y="6474333"/>
            <a:ext cx="422452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合伙转介业务未批核占比最高（50%），金额达 4.4M，催核优先级最高。其余业务线管道分布相对均衡，需按未批核规模排序推进。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608830" y="548640"/>
            <a:ext cx="7461250" cy="273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608576" y="548640"/>
            <a:ext cx="7461504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700016" y="585216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 保单总量构成 — 甜甜圈 &amp; 阶段 KPI</a:t>
            </a:r>
            <a:endParaRPr lang="en-US" sz="850" dirty="0"/>
          </a:p>
        </p:txBody>
      </p:sp>
      <p:graphicFrame>
        <p:nvGraphicFramePr>
          <p:cNvPr id="95" name="Chart 0"/>
          <p:cNvGraphicFramePr/>
          <p:nvPr/>
        </p:nvGraphicFramePr>
        <p:xfrm>
          <a:off x="4700270" y="84137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Shape 93"/>
          <p:cNvSpPr/>
          <p:nvPr/>
        </p:nvSpPr>
        <p:spPr>
          <a:xfrm>
            <a:off x="7242175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7242048" y="85267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7333488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7333488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7333488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  83.1%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333488" y="1672551"/>
            <a:ext cx="1280160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9"/>
          <p:cNvSpPr/>
          <p:nvPr/>
        </p:nvSpPr>
        <p:spPr>
          <a:xfrm>
            <a:off x="7333488" y="1672551"/>
            <a:ext cx="839785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3" name="Text 100"/>
          <p:cNvSpPr/>
          <p:nvPr/>
        </p:nvSpPr>
        <p:spPr>
          <a:xfrm>
            <a:off x="7333488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  占管道总量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333488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333488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7333488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815070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8814816" y="85267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8906256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906256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8906256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  14.7%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06256" y="1672551"/>
            <a:ext cx="1280160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8906256" y="1672551"/>
            <a:ext cx="38276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4" name="Text 111"/>
          <p:cNvSpPr/>
          <p:nvPr/>
        </p:nvSpPr>
        <p:spPr>
          <a:xfrm>
            <a:off x="8906256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  占管道总量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906256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906256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17" name="Text 114"/>
          <p:cNvSpPr/>
          <p:nvPr/>
        </p:nvSpPr>
        <p:spPr>
          <a:xfrm>
            <a:off x="8906256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</a:t>
            </a:r>
            <a:endParaRPr lang="en-US" sz="1600" dirty="0"/>
          </a:p>
        </p:txBody>
      </p:sp>
      <p:sp>
        <p:nvSpPr>
          <p:cNvPr id="118" name="Shape 115"/>
          <p:cNvSpPr/>
          <p:nvPr/>
        </p:nvSpPr>
        <p:spPr>
          <a:xfrm>
            <a:off x="10387330" y="852805"/>
            <a:ext cx="1444625" cy="1990725"/>
          </a:xfrm>
          <a:prstGeom prst="rect">
            <a:avLst/>
          </a:prstGeom>
          <a:solidFill>
            <a:srgbClr val="F5F7FA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19" name="Shape 116"/>
          <p:cNvSpPr/>
          <p:nvPr/>
        </p:nvSpPr>
        <p:spPr>
          <a:xfrm>
            <a:off x="10387584" y="852678"/>
            <a:ext cx="1444752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0" name="Text 117"/>
          <p:cNvSpPr/>
          <p:nvPr/>
        </p:nvSpPr>
        <p:spPr>
          <a:xfrm>
            <a:off x="10479024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10479024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10479024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   2.2%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1672551"/>
            <a:ext cx="1280160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4" name="Shape 121"/>
          <p:cNvSpPr/>
          <p:nvPr/>
        </p:nvSpPr>
        <p:spPr>
          <a:xfrm>
            <a:off x="10479024" y="1672551"/>
            <a:ext cx="57607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5" name="Text 122"/>
          <p:cNvSpPr/>
          <p:nvPr/>
        </p:nvSpPr>
        <p:spPr>
          <a:xfrm>
            <a:off x="10479024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  占管道总量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479024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0479024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10479024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608576" y="2902077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0" name="Shape 127"/>
          <p:cNvSpPr/>
          <p:nvPr/>
        </p:nvSpPr>
        <p:spPr>
          <a:xfrm>
            <a:off x="4608576" y="2902077"/>
            <a:ext cx="7461504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31" name="Text 128"/>
          <p:cNvSpPr/>
          <p:nvPr/>
        </p:nvSpPr>
        <p:spPr>
          <a:xfrm>
            <a:off x="4700016" y="2938653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700016" y="3057525"/>
            <a:ext cx="72969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管道总值 728.5M 中，批核占 83.1%（605.2M）。剩余 123.4M（未批 107.3M + 待签 16.0M）若转化可直接推高达成率 11+。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4608576" y="3362706"/>
            <a:ext cx="7461504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2"/>
          <p:cNvSpPr/>
          <p:nvPr/>
        </p:nvSpPr>
        <p:spPr>
          <a:xfrm>
            <a:off x="4700016" y="3399282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目标 vs 已批核/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未批核</a:t>
            </a:r>
            <a:r>
              <a:rPr lang="en-US" altLang="zh-CN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待签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APE — 各业务线对比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4608576" y="6309360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8" name="Shape 134"/>
          <p:cNvSpPr/>
          <p:nvPr/>
        </p:nvSpPr>
        <p:spPr>
          <a:xfrm>
            <a:off x="4608576" y="6309360"/>
            <a:ext cx="7461504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9" name="Text 135"/>
          <p:cNvSpPr/>
          <p:nvPr/>
        </p:nvSpPr>
        <p:spPr>
          <a:xfrm>
            <a:off x="4700016" y="6345936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4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400" name="Chart_JM"/>
          <p:cNvGraphicFramePr/>
          <p:nvPr/>
        </p:nvGraphicFramePr>
        <p:xfrm>
          <a:off x="4698365" y="3629660"/>
          <a:ext cx="7299325" cy="267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9"/>
          <p:cNvSpPr/>
          <p:nvPr/>
        </p:nvSpPr>
        <p:spPr>
          <a:xfrm>
            <a:off x="4700270" y="6467475"/>
            <a:ext cx="645922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BK业务批核 227.6M 已达目标 200M 的 113.8%，是唯一接近达标的业务线。永明经代目标最大（340M）但实际仅 151.2M，缺口 189M 为最大绝对值，是最大战略风险点。</a:t>
            </a:r>
            <a:endParaRPr lang="en-US" sz="550" dirty="0"/>
          </a:p>
        </p:txBody>
      </p:sp>
      <p:sp>
        <p:nvSpPr>
          <p:cNvPr id="143" name="Shape 70"/>
          <p:cNvSpPr/>
          <p:nvPr/>
        </p:nvSpPr>
        <p:spPr>
          <a:xfrm>
            <a:off x="226568" y="3300000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4" name="Text 71"/>
          <p:cNvSpPr/>
          <p:nvPr/>
        </p:nvSpPr>
        <p:spPr>
          <a:xfrm>
            <a:off x="299720" y="330000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50" dirty="0"/>
          </a:p>
        </p:txBody>
      </p:sp>
      <p:sp>
        <p:nvSpPr>
          <p:cNvPr id="145" name="Text 72"/>
          <p:cNvSpPr/>
          <p:nvPr/>
        </p:nvSpPr>
        <p:spPr>
          <a:xfrm>
            <a:off x="299720" y="348288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8.9M</a:t>
            </a:r>
            <a:endParaRPr lang="en-US" sz="650" dirty="0"/>
          </a:p>
        </p:txBody>
      </p:sp>
      <p:sp>
        <p:nvSpPr>
          <p:cNvPr id="146" name="Shape 73"/>
          <p:cNvSpPr/>
          <p:nvPr/>
        </p:nvSpPr>
        <p:spPr>
          <a:xfrm>
            <a:off x="1579880" y="330000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7" name="Shape 74"/>
          <p:cNvSpPr/>
          <p:nvPr/>
        </p:nvSpPr>
        <p:spPr>
          <a:xfrm>
            <a:off x="1579880" y="3300000"/>
            <a:ext cx="459202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48" name="Text 75"/>
          <p:cNvSpPr/>
          <p:nvPr/>
        </p:nvSpPr>
        <p:spPr>
          <a:xfrm>
            <a:off x="1616456" y="3391440"/>
            <a:ext cx="40433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29%</a:t>
            </a:r>
            <a:endParaRPr lang="en-US" sz="750" dirty="0"/>
          </a:p>
        </p:txBody>
      </p:sp>
      <p:sp>
        <p:nvSpPr>
          <p:cNvPr id="149" name="Shape 76"/>
          <p:cNvSpPr/>
          <p:nvPr/>
        </p:nvSpPr>
        <p:spPr>
          <a:xfrm>
            <a:off x="2039082" y="3300000"/>
            <a:ext cx="109347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0" name="Text 77"/>
          <p:cNvSpPr/>
          <p:nvPr/>
        </p:nvSpPr>
        <p:spPr>
          <a:xfrm>
            <a:off x="2075658" y="3391440"/>
            <a:ext cx="10386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750" dirty="0"/>
          </a:p>
        </p:txBody>
      </p:sp>
      <p:sp>
        <p:nvSpPr>
          <p:cNvPr id="151" name="Shape 78"/>
          <p:cNvSpPr/>
          <p:nvPr/>
        </p:nvSpPr>
        <p:spPr>
          <a:xfrm>
            <a:off x="3132558" y="3300000"/>
            <a:ext cx="2009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52" name="Text 79"/>
          <p:cNvSpPr/>
          <p:nvPr/>
        </p:nvSpPr>
        <p:spPr>
          <a:xfrm>
            <a:off x="3198368" y="338229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4.5▌4.4▌0.0</a:t>
            </a:r>
            <a:endParaRPr lang="en-US" sz="700" dirty="0"/>
          </a:p>
        </p:txBody>
      </p:sp>
      <p:sp>
        <p:nvSpPr>
          <p:cNvPr id="154" name="Shape 80"/>
          <p:cNvSpPr/>
          <p:nvPr/>
        </p:nvSpPr>
        <p:spPr>
          <a:xfrm>
            <a:off x="226568" y="1300000"/>
            <a:ext cx="36576" cy="347472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155" name="Text 81"/>
          <p:cNvSpPr/>
          <p:nvPr/>
        </p:nvSpPr>
        <p:spPr>
          <a:xfrm>
            <a:off x="299720" y="130000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50" dirty="0"/>
          </a:p>
        </p:txBody>
      </p:sp>
      <p:sp>
        <p:nvSpPr>
          <p:cNvPr id="156" name="Text 82"/>
          <p:cNvSpPr/>
          <p:nvPr/>
        </p:nvSpPr>
        <p:spPr>
          <a:xfrm>
            <a:off x="299720" y="148288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57" name="Shape 83"/>
          <p:cNvSpPr/>
          <p:nvPr/>
        </p:nvSpPr>
        <p:spPr>
          <a:xfrm>
            <a:off x="1579880" y="130000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8" name="Text 84"/>
          <p:cNvSpPr/>
          <p:nvPr/>
        </p:nvSpPr>
        <p:spPr>
          <a:xfrm>
            <a:off x="3198368" y="138229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  <p:sp>
        <p:nvSpPr>
          <p:cNvPr id="401" name="Text_MGA"/>
          <p:cNvSpPr txBox="1"/>
          <p:nvPr/>
        </p:nvSpPr>
        <p:spPr>
          <a:xfrm>
            <a:off x="299720" y="4800000"/>
            <a:ext cx="12435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MGA业务</a:t>
            </a:r>
          </a:p>
        </p:txBody>
      </p:sp>
      <p:sp>
        <p:nvSpPr>
          <p:cNvPr id="402" name="Text_MGA_total"/>
          <p:cNvSpPr txBox="1"/>
          <p:nvPr/>
        </p:nvSpPr>
        <p:spPr>
          <a:xfrm>
            <a:off x="299720" y="4982880"/>
            <a:ext cx="1243584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合计 52.6M</a:t>
            </a:r>
          </a:p>
        </p:txBody>
      </p:sp>
      <p:sp>
        <p:nvSpPr>
          <p:cNvPr id="403" name="Text_MGA_pct1"/>
          <p:cNvSpPr txBox="1"/>
          <p:nvPr/>
        </p:nvSpPr>
        <p:spPr>
          <a:xfrm>
            <a:off x="1616456" y="4891440"/>
            <a:ext cx="500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6B3A"/>
                </a:solidFill>
                <a:latin typeface="Calibri"/>
              </a:rPr>
              <a:t>81%</a:t>
            </a:r>
          </a:p>
        </p:txBody>
      </p:sp>
      <p:sp>
        <p:nvSpPr>
          <p:cNvPr id="404" name="Text_MGA_pct2"/>
          <p:cNvSpPr txBox="1"/>
          <p:nvPr/>
        </p:nvSpPr>
        <p:spPr>
          <a:xfrm>
            <a:off x="2653916" y="4891440"/>
            <a:ext cx="500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C8890A"/>
                </a:solidFill>
                <a:latin typeface="Calibri"/>
              </a:rPr>
              <a:t>18%</a:t>
            </a:r>
          </a:p>
        </p:txBody>
      </p:sp>
      <p:sp>
        <p:nvSpPr>
          <p:cNvPr id="405" name="Text_MGA_stack"/>
          <p:cNvSpPr txBox="1"/>
          <p:nvPr/>
        </p:nvSpPr>
        <p:spPr>
          <a:xfrm>
            <a:off x="3198368" y="4882296"/>
            <a:ext cx="1500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19.4▌24.0▌9.2</a:t>
            </a:r>
          </a:p>
        </p:txBody>
      </p:sp>
      <p:sp>
        <p:nvSpPr>
          <p:cNvPr id="406" name="Shape_MGA_0"/>
          <p:cNvSpPr/>
          <p:nvPr/>
        </p:nvSpPr>
        <p:spPr>
          <a:xfrm>
            <a:off x="226568" y="4800000"/>
            <a:ext cx="36576" cy="347472"/>
          </a:xfrm>
          <a:prstGeom prst="rect">
            <a:avLst/>
          </a:prstGeom>
          <a:solidFill>
            <a:srgbClr val="1A6B3A"/>
          </a:solidFill>
          <a:ln>
            <a:solidFill>
              <a:srgbClr val="1A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Shape_MGA_1"/>
          <p:cNvSpPr/>
          <p:nvPr/>
        </p:nvSpPr>
        <p:spPr>
          <a:xfrm>
            <a:off x="1579880" y="4800000"/>
            <a:ext cx="579692" cy="274320"/>
          </a:xfrm>
          <a:prstGeom prst="rect">
            <a:avLst/>
          </a:prstGeom>
          <a:solidFill>
            <a:srgbClr val="1A6B3A"/>
          </a:solidFill>
          <a:ln>
            <a:solidFill>
              <a:srgbClr val="1A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Shape_MGA_2"/>
          <p:cNvSpPr/>
          <p:nvPr/>
        </p:nvSpPr>
        <p:spPr>
          <a:xfrm>
            <a:off x="2159572" y="4800000"/>
            <a:ext cx="716988" cy="274320"/>
          </a:xfrm>
          <a:prstGeom prst="rect">
            <a:avLst/>
          </a:prstGeom>
          <a:solidFill>
            <a:srgbClr val="C8890A"/>
          </a:solidFill>
          <a:ln>
            <a:solidFill>
              <a:srgbClr val="C88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Shape_MGA_3"/>
          <p:cNvSpPr/>
          <p:nvPr/>
        </p:nvSpPr>
        <p:spPr>
          <a:xfrm>
            <a:off x="2876560" y="4800000"/>
            <a:ext cx="27638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85470"/>
            <a:ext cx="5943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 全流程转化漏斗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250" y="10502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250" y="1050290"/>
            <a:ext cx="2277110" cy="27051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1295" y="1121410"/>
            <a:ext cx="348615" cy="114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495" y="1094105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440.9M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1175" y="1094105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1114件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250" y="14820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250" y="1482090"/>
            <a:ext cx="1980565" cy="27051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1295" y="152654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495" y="153543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425.8M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39390" y="152654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1077件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250" y="194119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250" y="1941195"/>
            <a:ext cx="1568450" cy="27051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1295" y="196723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递交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495" y="197612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424.6M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6320" y="198501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1064件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250" y="235521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3250" y="2355215"/>
            <a:ext cx="4426585" cy="27051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1295" y="2435225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495" y="242570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602.0M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8899" y="24196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1156件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980944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1440" y="2980944"/>
            <a:ext cx="594360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82880" y="3017520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82880" y="3136392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 累计 602.0M 显著高于预约 440.9M，反映跨周积压存量消化效应。签单累计 425.8M，递交→批核转化效率较高。W07 预约低点 2.7M 需关注执行节奏。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6163056" y="548640"/>
            <a:ext cx="58887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 周度APE波动趋势（预约/签单/递交/批核）</a:t>
            </a:r>
            <a:endParaRPr lang="en-US" sz="8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72784" y="841248"/>
          <a:ext cx="5687568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163056" y="2980944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6163056" y="2980944"/>
            <a:ext cx="5888736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6254496" y="3017520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6254496" y="3136392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W21 签单峰 32.8M 为阶段高点；W08 批核峰 67.0M 为存量集中消化；W05 预约峰 28.2M 显示前端动能。周度节奏呈脉冲式特征，需关注执行连续性。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91440" y="3493008"/>
            <a:ext cx="384048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91440" y="3493008"/>
            <a:ext cx="384048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82880" y="3529584"/>
            <a:ext cx="367588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本周业绩快报 — W28（2026）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3803904"/>
            <a:ext cx="3639312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256032" y="3840480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1832" y="384048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APE（M）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01952" y="3840480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96312" y="3840480"/>
            <a:ext cx="1389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01168" y="4023360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201168" y="4023360"/>
            <a:ext cx="36576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274320" y="4114800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" y="4096512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20.3M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01952" y="4114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51件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96312" y="4114800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环比-11.0%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01168" y="4443984"/>
            <a:ext cx="363931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201168" y="4443984"/>
            <a:ext cx="36576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274320" y="4535424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1832" y="4517136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21.0M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901952" y="4535424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96312" y="4535424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环比+93.3%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01168" y="4864608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1168" y="4864608"/>
            <a:ext cx="3657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274320" y="495604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41832" y="4937760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6.9M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901952" y="495604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496312" y="495604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环比-60.7%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168" y="5285232"/>
            <a:ext cx="3639312" cy="402336"/>
          </a:xfrm>
          <a:prstGeom prst="rect">
            <a:avLst/>
          </a:prstGeom>
          <a:solidFill>
            <a:srgbClr val="FFF8E1"/>
          </a:solidFill>
          <a:ln w="1016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201168" y="5285232"/>
            <a:ext cx="36576" cy="40233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274320" y="537667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1352" y="5358384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901952" y="53766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2496312" y="5376672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待转化优先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01168" y="5705856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" name="Shape 72"/>
          <p:cNvSpPr/>
          <p:nvPr/>
        </p:nvSpPr>
        <p:spPr>
          <a:xfrm>
            <a:off x="201168" y="5705856"/>
            <a:ext cx="3657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274320" y="5797296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41832" y="5779008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1901952" y="5797296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2496312" y="579729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尽快推进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1440" y="6254496"/>
            <a:ext cx="384048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>
            <a:off x="91440" y="6254496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2" name="Text 79"/>
          <p:cNvSpPr/>
          <p:nvPr/>
        </p:nvSpPr>
        <p:spPr>
          <a:xfrm>
            <a:off x="182880" y="6291072"/>
            <a:ext cx="3675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182880" y="6409944"/>
            <a:ext cx="36758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 预约 20.3M/51件；签单 21.0M/43件；批核 6.9M/29件。未批核 107.3M（235件）是 Q2 批核的核心转化储量。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4059936" y="3493008"/>
            <a:ext cx="7991856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>
            <a:off x="4059936" y="3493008"/>
            <a:ext cx="799185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4151376" y="3529584"/>
            <a:ext cx="782726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 KEY ACCOUNT TOP10 排名 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169664" y="3803904"/>
            <a:ext cx="7790688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8" name="Text 85"/>
          <p:cNvSpPr/>
          <p:nvPr/>
        </p:nvSpPr>
        <p:spPr>
          <a:xfrm>
            <a:off x="4206240" y="3840480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517136" y="3840480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ACCOUNT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5431536" y="3840480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业务细分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6217920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7059168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7626096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未批核APE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467344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未批核件数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9034272" y="384048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待签APE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9729216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待签件数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10296144" y="384048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合计APE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11173968" y="3840480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合计件数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4169664" y="4078224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00" name="Shape 97"/>
          <p:cNvSpPr/>
          <p:nvPr/>
        </p:nvSpPr>
        <p:spPr>
          <a:xfrm>
            <a:off x="4169664" y="4078224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1" name="Shape 98"/>
          <p:cNvSpPr/>
          <p:nvPr/>
        </p:nvSpPr>
        <p:spPr>
          <a:xfrm>
            <a:off x="4279392" y="413308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4242816" y="4114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4553712" y="411480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民生银行</a:t>
            </a:r>
            <a:endParaRPr lang="en-US" sz="850" dirty="0"/>
          </a:p>
        </p:txBody>
      </p:sp>
      <p:sp>
        <p:nvSpPr>
          <p:cNvPr id="104" name="Text 101"/>
          <p:cNvSpPr/>
          <p:nvPr/>
        </p:nvSpPr>
        <p:spPr>
          <a:xfrm>
            <a:off x="5468112" y="411480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6254496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187.5M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7095744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7662672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16.9M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8503920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9070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9765792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10332720" y="411480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204.4M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11210544" y="411480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194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169664" y="4279392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14" name="Shape 111"/>
          <p:cNvSpPr/>
          <p:nvPr/>
        </p:nvSpPr>
        <p:spPr>
          <a:xfrm>
            <a:off x="4169664" y="4279392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5" name="Shape 112"/>
          <p:cNvSpPr/>
          <p:nvPr/>
        </p:nvSpPr>
        <p:spPr>
          <a:xfrm>
            <a:off x="4279392" y="4334256"/>
            <a:ext cx="128016" cy="12801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116" name="Text 113"/>
          <p:cNvSpPr/>
          <p:nvPr/>
        </p:nvSpPr>
        <p:spPr>
          <a:xfrm>
            <a:off x="4242816" y="43159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4553712" y="431596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5468112" y="431596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6254496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42.7M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095744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662672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8.9M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8503920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070848" y="431596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1.7M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9765792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10332720" y="431596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53.4M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11210544" y="431596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4169664" y="4480560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28" name="Shape 125"/>
          <p:cNvSpPr/>
          <p:nvPr/>
        </p:nvSpPr>
        <p:spPr>
          <a:xfrm>
            <a:off x="4169664" y="4480560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29" name="Shape 126"/>
          <p:cNvSpPr/>
          <p:nvPr/>
        </p:nvSpPr>
        <p:spPr>
          <a:xfrm>
            <a:off x="4279392" y="4535424"/>
            <a:ext cx="128016" cy="1280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p/>
        </p:txBody>
      </p:sp>
      <p:sp>
        <p:nvSpPr>
          <p:cNvPr id="130" name="Text 127"/>
          <p:cNvSpPr/>
          <p:nvPr/>
        </p:nvSpPr>
        <p:spPr>
          <a:xfrm>
            <a:off x="4242816" y="45171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553712" y="451713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平安银行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468112" y="451713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254496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40.1M</a:t>
            </a:r>
            <a:endParaRPr lang="en-US" sz="800" dirty="0"/>
          </a:p>
        </p:txBody>
      </p:sp>
      <p:sp>
        <p:nvSpPr>
          <p:cNvPr id="134" name="Text 131"/>
          <p:cNvSpPr/>
          <p:nvPr/>
        </p:nvSpPr>
        <p:spPr>
          <a:xfrm>
            <a:off x="7095744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7662672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11.7M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8503920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9070848" y="45171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9765792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10332720" y="45171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51.8M</a:t>
            </a:r>
            <a:endParaRPr lang="en-US" sz="800" dirty="0"/>
          </a:p>
        </p:txBody>
      </p:sp>
      <p:sp>
        <p:nvSpPr>
          <p:cNvPr id="140" name="Text 137"/>
          <p:cNvSpPr/>
          <p:nvPr/>
        </p:nvSpPr>
        <p:spPr>
          <a:xfrm>
            <a:off x="11210544" y="451713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4169664" y="4681728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2" name="Shape 139"/>
          <p:cNvSpPr/>
          <p:nvPr/>
        </p:nvSpPr>
        <p:spPr>
          <a:xfrm>
            <a:off x="4169664" y="4681728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43" name="Text 140"/>
          <p:cNvSpPr/>
          <p:nvPr/>
        </p:nvSpPr>
        <p:spPr>
          <a:xfrm>
            <a:off x="4242816" y="47183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44" name="Text 141"/>
          <p:cNvSpPr/>
          <p:nvPr/>
        </p:nvSpPr>
        <p:spPr>
          <a:xfrm>
            <a:off x="4553712" y="471830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唯思</a:t>
            </a:r>
            <a:endParaRPr lang="en-US" sz="850" dirty="0"/>
          </a:p>
        </p:txBody>
      </p:sp>
      <p:sp>
        <p:nvSpPr>
          <p:cNvPr id="145" name="Text 142"/>
          <p:cNvSpPr/>
          <p:nvPr/>
        </p:nvSpPr>
        <p:spPr>
          <a:xfrm>
            <a:off x="5468112" y="471830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46" name="Text 143"/>
          <p:cNvSpPr/>
          <p:nvPr/>
        </p:nvSpPr>
        <p:spPr>
          <a:xfrm>
            <a:off x="6254496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39.4M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095744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662672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8503920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9070848" y="471830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9765792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52" name="Text 149"/>
          <p:cNvSpPr/>
          <p:nvPr/>
        </p:nvSpPr>
        <p:spPr>
          <a:xfrm>
            <a:off x="10332720" y="471830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47.0M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1210544" y="471830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4169664" y="4882896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5" name="Shape 152"/>
          <p:cNvSpPr/>
          <p:nvPr/>
        </p:nvSpPr>
        <p:spPr>
          <a:xfrm>
            <a:off x="4169664" y="488289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6" name="Text 153"/>
          <p:cNvSpPr/>
          <p:nvPr/>
        </p:nvSpPr>
        <p:spPr>
          <a:xfrm>
            <a:off x="4242816" y="49194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7" name="Text 154"/>
          <p:cNvSpPr/>
          <p:nvPr/>
        </p:nvSpPr>
        <p:spPr>
          <a:xfrm>
            <a:off x="4553712" y="491947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紫荆保险</a:t>
            </a:r>
            <a:endParaRPr lang="en-US" sz="850" dirty="0"/>
          </a:p>
        </p:txBody>
      </p:sp>
      <p:sp>
        <p:nvSpPr>
          <p:cNvPr id="158" name="Text 155"/>
          <p:cNvSpPr/>
          <p:nvPr/>
        </p:nvSpPr>
        <p:spPr>
          <a:xfrm>
            <a:off x="5468112" y="49194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6254496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34.9M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7095744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</a:t>
            </a:r>
            <a:endParaRPr lang="en-US" sz="800" dirty="0"/>
          </a:p>
        </p:txBody>
      </p:sp>
      <p:sp>
        <p:nvSpPr>
          <p:cNvPr id="161" name="Text 158"/>
          <p:cNvSpPr/>
          <p:nvPr/>
        </p:nvSpPr>
        <p:spPr>
          <a:xfrm>
            <a:off x="7662672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62" name="Text 159"/>
          <p:cNvSpPr/>
          <p:nvPr/>
        </p:nvSpPr>
        <p:spPr>
          <a:xfrm>
            <a:off x="8503920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  <p:sp>
        <p:nvSpPr>
          <p:cNvPr id="163" name="Text 160"/>
          <p:cNvSpPr/>
          <p:nvPr/>
        </p:nvSpPr>
        <p:spPr>
          <a:xfrm>
            <a:off x="9070848" y="49194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64" name="Text 161"/>
          <p:cNvSpPr/>
          <p:nvPr/>
        </p:nvSpPr>
        <p:spPr>
          <a:xfrm>
            <a:off x="9765792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10332720" y="4919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40.4M</a:t>
            </a:r>
            <a:endParaRPr lang="en-US" sz="800" dirty="0"/>
          </a:p>
        </p:txBody>
      </p:sp>
      <p:sp>
        <p:nvSpPr>
          <p:cNvPr id="166" name="Text 163"/>
          <p:cNvSpPr/>
          <p:nvPr/>
        </p:nvSpPr>
        <p:spPr>
          <a:xfrm>
            <a:off x="11210544" y="491947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69664" y="5084064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8" name="Shape 165"/>
          <p:cNvSpPr/>
          <p:nvPr/>
        </p:nvSpPr>
        <p:spPr>
          <a:xfrm>
            <a:off x="4169664" y="5084064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69" name="Text 166"/>
          <p:cNvSpPr/>
          <p:nvPr/>
        </p:nvSpPr>
        <p:spPr>
          <a:xfrm>
            <a:off x="4242816" y="51206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70" name="Text 167"/>
          <p:cNvSpPr/>
          <p:nvPr/>
        </p:nvSpPr>
        <p:spPr>
          <a:xfrm>
            <a:off x="4553712" y="51206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天领重庆</a:t>
            </a:r>
            <a:endParaRPr lang="en-US" sz="850" dirty="0"/>
          </a:p>
        </p:txBody>
      </p:sp>
      <p:sp>
        <p:nvSpPr>
          <p:cNvPr id="171" name="Text 168"/>
          <p:cNvSpPr/>
          <p:nvPr/>
        </p:nvSpPr>
        <p:spPr>
          <a:xfrm>
            <a:off x="5468112" y="512064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172" name="Text 169"/>
          <p:cNvSpPr/>
          <p:nvPr/>
        </p:nvSpPr>
        <p:spPr>
          <a:xfrm>
            <a:off x="6254496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28.3M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7095744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7662672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8503920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070848" y="51206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9765792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10332720" y="51206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33.1M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1210544" y="5120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4169664" y="5285232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4169664" y="5285232"/>
            <a:ext cx="36576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4242816" y="53218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4553712" y="532180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利泰丰</a:t>
            </a:r>
            <a:endParaRPr lang="en-US" sz="850" dirty="0"/>
          </a:p>
        </p:txBody>
      </p:sp>
      <p:sp>
        <p:nvSpPr>
          <p:cNvPr id="184" name="Text 181"/>
          <p:cNvSpPr/>
          <p:nvPr/>
        </p:nvSpPr>
        <p:spPr>
          <a:xfrm>
            <a:off x="5468112" y="532180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6254496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27.8M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7095744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7662672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88" name="Text 185"/>
          <p:cNvSpPr/>
          <p:nvPr/>
        </p:nvSpPr>
        <p:spPr>
          <a:xfrm>
            <a:off x="8503920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90" name="Text 187"/>
          <p:cNvSpPr/>
          <p:nvPr/>
        </p:nvSpPr>
        <p:spPr>
          <a:xfrm>
            <a:off x="9765792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10332720" y="532180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28.8M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11210544" y="532180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4169664" y="5486400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4" name="Shape 191"/>
          <p:cNvSpPr/>
          <p:nvPr/>
        </p:nvSpPr>
        <p:spPr>
          <a:xfrm>
            <a:off x="4169664" y="5486400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95" name="Text 192"/>
          <p:cNvSpPr/>
          <p:nvPr/>
        </p:nvSpPr>
        <p:spPr>
          <a:xfrm>
            <a:off x="4242816" y="55229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4553712" y="5522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堡盛国际</a:t>
            </a:r>
            <a:endParaRPr lang="en-US" sz="850" dirty="0"/>
          </a:p>
        </p:txBody>
      </p:sp>
      <p:sp>
        <p:nvSpPr>
          <p:cNvPr id="197" name="Text 194"/>
          <p:cNvSpPr/>
          <p:nvPr/>
        </p:nvSpPr>
        <p:spPr>
          <a:xfrm>
            <a:off x="5468112" y="552297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98" name="Text 195"/>
          <p:cNvSpPr/>
          <p:nvPr/>
        </p:nvSpPr>
        <p:spPr>
          <a:xfrm>
            <a:off x="6254496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27.2M</a:t>
            </a:r>
            <a:endParaRPr lang="en-US" sz="800" dirty="0"/>
          </a:p>
        </p:txBody>
      </p:sp>
      <p:sp>
        <p:nvSpPr>
          <p:cNvPr id="199" name="Text 196"/>
          <p:cNvSpPr/>
          <p:nvPr/>
        </p:nvSpPr>
        <p:spPr>
          <a:xfrm>
            <a:off x="7095744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</a:t>
            </a:r>
            <a:endParaRPr lang="en-US" sz="800" dirty="0"/>
          </a:p>
        </p:txBody>
      </p:sp>
      <p:sp>
        <p:nvSpPr>
          <p:cNvPr id="200" name="Text 197"/>
          <p:cNvSpPr/>
          <p:nvPr/>
        </p:nvSpPr>
        <p:spPr>
          <a:xfrm>
            <a:off x="7662672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8503920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9070848" y="552297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9765792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04" name="Text 201"/>
          <p:cNvSpPr/>
          <p:nvPr/>
        </p:nvSpPr>
        <p:spPr>
          <a:xfrm>
            <a:off x="10332720" y="5522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29.8M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210544" y="55229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06" name="Shape 203"/>
          <p:cNvSpPr/>
          <p:nvPr/>
        </p:nvSpPr>
        <p:spPr>
          <a:xfrm>
            <a:off x="4169664" y="5687568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7" name="Shape 204"/>
          <p:cNvSpPr/>
          <p:nvPr/>
        </p:nvSpPr>
        <p:spPr>
          <a:xfrm>
            <a:off x="4169664" y="5687568"/>
            <a:ext cx="36576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208" name="Text 205"/>
          <p:cNvSpPr/>
          <p:nvPr/>
        </p:nvSpPr>
        <p:spPr>
          <a:xfrm>
            <a:off x="4242816" y="572414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4553712" y="572414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万森保险</a:t>
            </a:r>
            <a:endParaRPr lang="en-US" sz="850" dirty="0"/>
          </a:p>
        </p:txBody>
      </p:sp>
      <p:sp>
        <p:nvSpPr>
          <p:cNvPr id="210" name="Text 207"/>
          <p:cNvSpPr/>
          <p:nvPr/>
        </p:nvSpPr>
        <p:spPr>
          <a:xfrm>
            <a:off x="5468112" y="572414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6254496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25.9M</a:t>
            </a:r>
            <a:endParaRPr lang="en-US" sz="800" dirty="0"/>
          </a:p>
        </p:txBody>
      </p:sp>
      <p:sp>
        <p:nvSpPr>
          <p:cNvPr id="212" name="Text 209"/>
          <p:cNvSpPr/>
          <p:nvPr/>
        </p:nvSpPr>
        <p:spPr>
          <a:xfrm>
            <a:off x="7095744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</a:t>
            </a:r>
            <a:endParaRPr lang="en-US" sz="800" dirty="0"/>
          </a:p>
        </p:txBody>
      </p:sp>
      <p:sp>
        <p:nvSpPr>
          <p:cNvPr id="213" name="Text 210"/>
          <p:cNvSpPr/>
          <p:nvPr/>
        </p:nvSpPr>
        <p:spPr>
          <a:xfrm>
            <a:off x="7662672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en-US" sz="800" dirty="0"/>
          </a:p>
        </p:txBody>
      </p:sp>
      <p:sp>
        <p:nvSpPr>
          <p:cNvPr id="214" name="Text 211"/>
          <p:cNvSpPr/>
          <p:nvPr/>
        </p:nvSpPr>
        <p:spPr>
          <a:xfrm>
            <a:off x="8503920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9070848" y="572414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16" name="Text 213"/>
          <p:cNvSpPr/>
          <p:nvPr/>
        </p:nvSpPr>
        <p:spPr>
          <a:xfrm>
            <a:off x="9765792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0332720" y="572414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28.9M</a:t>
            </a:r>
            <a:endParaRPr lang="en-US" sz="800" dirty="0"/>
          </a:p>
        </p:txBody>
      </p:sp>
      <p:sp>
        <p:nvSpPr>
          <p:cNvPr id="218" name="Text 215"/>
          <p:cNvSpPr/>
          <p:nvPr/>
        </p:nvSpPr>
        <p:spPr>
          <a:xfrm>
            <a:off x="11210544" y="572414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00" dirty="0"/>
          </a:p>
        </p:txBody>
      </p:sp>
      <p:sp>
        <p:nvSpPr>
          <p:cNvPr id="219" name="Shape 216"/>
          <p:cNvSpPr/>
          <p:nvPr/>
        </p:nvSpPr>
        <p:spPr>
          <a:xfrm>
            <a:off x="4169664" y="5888736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0" name="Shape 217"/>
          <p:cNvSpPr/>
          <p:nvPr/>
        </p:nvSpPr>
        <p:spPr>
          <a:xfrm>
            <a:off x="4169664" y="588873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21" name="Text 218"/>
          <p:cNvSpPr/>
          <p:nvPr/>
        </p:nvSpPr>
        <p:spPr>
          <a:xfrm>
            <a:off x="4242816" y="59253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2" name="Text 219"/>
          <p:cNvSpPr/>
          <p:nvPr/>
        </p:nvSpPr>
        <p:spPr>
          <a:xfrm>
            <a:off x="4553712" y="592531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天誉国际(MGA)</a:t>
            </a:r>
            <a:endParaRPr lang="en-US" sz="850" dirty="0"/>
          </a:p>
        </p:txBody>
      </p:sp>
      <p:sp>
        <p:nvSpPr>
          <p:cNvPr id="223" name="Text 220"/>
          <p:cNvSpPr/>
          <p:nvPr/>
        </p:nvSpPr>
        <p:spPr>
          <a:xfrm>
            <a:off x="5468112" y="592531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MGA业务</a:t>
            </a:r>
            <a:endParaRPr lang="en-US" sz="800" dirty="0"/>
          </a:p>
        </p:txBody>
      </p:sp>
      <p:sp>
        <p:nvSpPr>
          <p:cNvPr id="224" name="Text 221"/>
          <p:cNvSpPr/>
          <p:nvPr/>
        </p:nvSpPr>
        <p:spPr>
          <a:xfrm>
            <a:off x="6254496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19.4M</a:t>
            </a:r>
            <a:endParaRPr lang="en-US" sz="800" dirty="0"/>
          </a:p>
        </p:txBody>
      </p:sp>
      <p:sp>
        <p:nvSpPr>
          <p:cNvPr id="225" name="Text 222"/>
          <p:cNvSpPr/>
          <p:nvPr/>
        </p:nvSpPr>
        <p:spPr>
          <a:xfrm>
            <a:off x="7095744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26" name="Text 223"/>
          <p:cNvSpPr/>
          <p:nvPr/>
        </p:nvSpPr>
        <p:spPr>
          <a:xfrm>
            <a:off x="7662672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24.0M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8503920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800" dirty="0"/>
          </a:p>
        </p:txBody>
      </p:sp>
      <p:sp>
        <p:nvSpPr>
          <p:cNvPr id="228" name="Text 225"/>
          <p:cNvSpPr/>
          <p:nvPr/>
        </p:nvSpPr>
        <p:spPr>
          <a:xfrm>
            <a:off x="9070975" y="5925185"/>
            <a:ext cx="65849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9.2M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9765792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230" name="Text 227"/>
          <p:cNvSpPr/>
          <p:nvPr/>
        </p:nvSpPr>
        <p:spPr>
          <a:xfrm>
            <a:off x="10332720" y="5925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52.6M</a:t>
            </a:r>
            <a:endParaRPr lang="en-US" sz="800" dirty="0"/>
          </a:p>
        </p:txBody>
      </p:sp>
      <p:sp>
        <p:nvSpPr>
          <p:cNvPr id="231" name="Text 228"/>
          <p:cNvSpPr/>
          <p:nvPr/>
        </p:nvSpPr>
        <p:spPr>
          <a:xfrm>
            <a:off x="11210544" y="592531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00" dirty="0"/>
          </a:p>
        </p:txBody>
      </p:sp>
      <p:sp>
        <p:nvSpPr>
          <p:cNvPr id="232" name="Shape 229"/>
          <p:cNvSpPr/>
          <p:nvPr/>
        </p:nvSpPr>
        <p:spPr>
          <a:xfrm>
            <a:off x="4169664" y="6089904"/>
            <a:ext cx="7790688" cy="201168"/>
          </a:xfrm>
          <a:prstGeom prst="rect">
            <a:avLst/>
          </a:prstGeom>
          <a:solidFill>
            <a:srgbClr val="EDE7F6"/>
          </a:solidFill>
          <a:ln w="9525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33" name="Text 230"/>
          <p:cNvSpPr/>
          <p:nvPr/>
        </p:nvSpPr>
        <p:spPr>
          <a:xfrm>
            <a:off x="4553712" y="609981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TOP10合计</a:t>
            </a:r>
            <a:endParaRPr lang="en-US" sz="800" dirty="0"/>
          </a:p>
        </p:txBody>
      </p:sp>
      <p:sp>
        <p:nvSpPr>
          <p:cNvPr id="234" name="Text 231"/>
          <p:cNvSpPr/>
          <p:nvPr/>
        </p:nvSpPr>
        <p:spPr>
          <a:xfrm>
            <a:off x="6254496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473.2M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7095744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845件</a:t>
            </a:r>
            <a:endParaRPr lang="en-US" sz="800" dirty="0"/>
          </a:p>
        </p:txBody>
      </p:sp>
      <p:sp>
        <p:nvSpPr>
          <p:cNvPr id="236" name="Text 233"/>
          <p:cNvSpPr/>
          <p:nvPr/>
        </p:nvSpPr>
        <p:spPr>
          <a:xfrm>
            <a:off x="7662672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82.7M</a:t>
            </a:r>
            <a:endParaRPr lang="en-US" sz="800" dirty="0"/>
          </a:p>
        </p:txBody>
      </p:sp>
      <p:sp>
        <p:nvSpPr>
          <p:cNvPr id="237" name="Text 234"/>
          <p:cNvSpPr/>
          <p:nvPr/>
        </p:nvSpPr>
        <p:spPr>
          <a:xfrm>
            <a:off x="8503920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181件</a:t>
            </a:r>
            <a:endParaRPr lang="en-US" sz="800" dirty="0"/>
          </a:p>
        </p:txBody>
      </p:sp>
      <p:sp>
        <p:nvSpPr>
          <p:cNvPr id="238" name="Text 235"/>
          <p:cNvSpPr/>
          <p:nvPr/>
        </p:nvSpPr>
        <p:spPr>
          <a:xfrm>
            <a:off x="9070848" y="609981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14.5M</a:t>
            </a:r>
            <a:endParaRPr lang="en-US" sz="800" dirty="0"/>
          </a:p>
        </p:txBody>
      </p:sp>
      <p:sp>
        <p:nvSpPr>
          <p:cNvPr id="239" name="Text 236"/>
          <p:cNvSpPr/>
          <p:nvPr/>
        </p:nvSpPr>
        <p:spPr>
          <a:xfrm>
            <a:off x="9765792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39件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10332720" y="609981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570.4M</a:t>
            </a:r>
            <a:endParaRPr lang="en-US" sz="800" dirty="0"/>
          </a:p>
        </p:txBody>
      </p:sp>
      <p:sp>
        <p:nvSpPr>
          <p:cNvPr id="241" name="Text 238"/>
          <p:cNvSpPr/>
          <p:nvPr/>
        </p:nvSpPr>
        <p:spPr>
          <a:xfrm>
            <a:off x="11210544" y="609981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1065件</a:t>
            </a:r>
            <a:endParaRPr lang="en-US" sz="800" dirty="0"/>
          </a:p>
        </p:txBody>
      </p:sp>
      <p:sp>
        <p:nvSpPr>
          <p:cNvPr id="242" name="Shape 239"/>
          <p:cNvSpPr/>
          <p:nvPr/>
        </p:nvSpPr>
        <p:spPr>
          <a:xfrm>
            <a:off x="4059936" y="6254496"/>
            <a:ext cx="799185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43" name="Shape 240"/>
          <p:cNvSpPr/>
          <p:nvPr/>
        </p:nvSpPr>
        <p:spPr>
          <a:xfrm>
            <a:off x="4059936" y="6254496"/>
            <a:ext cx="799185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44" name="Text 241"/>
          <p:cNvSpPr/>
          <p:nvPr/>
        </p:nvSpPr>
        <p:spPr>
          <a:xfrm>
            <a:off x="4151376" y="6291072"/>
            <a:ext cx="78272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4151376" y="6409944"/>
            <a:ext cx="7827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 KA 累计批核 1030.6M（占全业务 170.3%），高度集中。 以 576.8M 独占 95.3%，是最核心的单一客户，亦是最大集中风险点。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/>
          <p:cNvSpPr/>
          <p:nvPr/>
        </p:nvSpPr>
        <p:spPr>
          <a:xfrm>
            <a:off x="91440" y="3657600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内部文件 · 仅供使用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6163056" y="365760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2" name="Shape 190"/>
          <p:cNvSpPr/>
          <p:nvPr/>
        </p:nvSpPr>
        <p:spPr>
          <a:xfrm>
            <a:off x="6163056" y="3657600"/>
            <a:ext cx="588873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93" name="Text 191"/>
          <p:cNvSpPr/>
          <p:nvPr/>
        </p:nvSpPr>
        <p:spPr>
          <a:xfrm>
            <a:off x="6254496" y="369417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 签批时效综合分析 — 业务线时效 &amp; 分档分布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54750" y="3959225"/>
            <a:ext cx="5659755" cy="254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195" name="Text 193"/>
          <p:cNvSpPr/>
          <p:nvPr/>
        </p:nvSpPr>
        <p:spPr>
          <a:xfrm>
            <a:off x="6351270" y="3996055"/>
            <a:ext cx="469900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业务线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7059360" y="3996055"/>
            <a:ext cx="6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7687770" y="3996055"/>
            <a:ext cx="95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件均APE(万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857093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平均时效(天)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946952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P90时效(天)</a:t>
            </a:r>
            <a:endParaRPr lang="en-US" sz="800" dirty="0"/>
          </a:p>
        </p:txBody>
      </p:sp>
      <p:sp>
        <p:nvSpPr>
          <p:cNvPr id="700" name="Text 698"/>
          <p:cNvSpPr/>
          <p:nvPr/>
        </p:nvSpPr>
        <p:spPr>
          <a:xfrm>
            <a:off x="10303340" y="3996055"/>
            <a:ext cx="66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中位时效(天)</a:t>
            </a:r>
            <a:endParaRPr lang="en-US" sz="800" dirty="0"/>
          </a:p>
        </p:txBody>
      </p:sp>
      <p:sp>
        <p:nvSpPr>
          <p:cNvPr id="701" name="Text 699"/>
          <p:cNvSpPr/>
          <p:nvPr/>
        </p:nvSpPr>
        <p:spPr>
          <a:xfrm>
            <a:off x="11234420" y="3987800"/>
            <a:ext cx="631825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最大时效(天)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6254750" y="4178935"/>
            <a:ext cx="5659755" cy="299720"/>
          </a:xfrm>
          <a:prstGeom prst="rect">
            <a:avLst/>
          </a:prstGeom>
          <a:solidFill>
            <a:srgbClr val="FEF2F2"/>
          </a:solidFill>
          <a:ln w="762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01" name="Shape 199"/>
          <p:cNvSpPr/>
          <p:nvPr/>
        </p:nvSpPr>
        <p:spPr>
          <a:xfrm>
            <a:off x="6254750" y="4178935"/>
            <a:ext cx="76200" cy="299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02" name="Text 200"/>
          <p:cNvSpPr/>
          <p:nvPr/>
        </p:nvSpPr>
        <p:spPr>
          <a:xfrm>
            <a:off x="6327775" y="422465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7110160" y="422465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191</a:t>
            </a:r>
            <a:endParaRPr lang="en-US" sz="850" dirty="0"/>
          </a:p>
        </p:txBody>
      </p:sp>
      <p:sp>
        <p:nvSpPr>
          <p:cNvPr id="204" name="Text 202"/>
          <p:cNvSpPr/>
          <p:nvPr/>
        </p:nvSpPr>
        <p:spPr>
          <a:xfrm>
            <a:off x="7821120" y="422465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205" name="Text 203"/>
          <p:cNvSpPr/>
          <p:nvPr/>
        </p:nvSpPr>
        <p:spPr>
          <a:xfrm>
            <a:off x="876778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960160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02" name="Text 700"/>
          <p:cNvSpPr/>
          <p:nvPr/>
        </p:nvSpPr>
        <p:spPr>
          <a:xfrm>
            <a:off x="10516700" y="422465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03" name="Text 701"/>
          <p:cNvSpPr/>
          <p:nvPr/>
        </p:nvSpPr>
        <p:spPr>
          <a:xfrm>
            <a:off x="11431170" y="422465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850" dirty="0"/>
          </a:p>
        </p:txBody>
      </p:sp>
      <p:sp>
        <p:nvSpPr>
          <p:cNvPr id="209" name="Text 207"/>
          <p:cNvSpPr/>
          <p:nvPr/>
        </p:nvSpPr>
        <p:spPr>
          <a:xfrm>
            <a:off x="6327775" y="44805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7110160" y="44805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7821120" y="44805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876778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960160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850" dirty="0"/>
          </a:p>
        </p:txBody>
      </p:sp>
      <p:sp>
        <p:nvSpPr>
          <p:cNvPr id="704" name="Text 702"/>
          <p:cNvSpPr/>
          <p:nvPr/>
        </p:nvSpPr>
        <p:spPr>
          <a:xfrm>
            <a:off x="10516700" y="44805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05" name="Text 703"/>
          <p:cNvSpPr/>
          <p:nvPr/>
        </p:nvSpPr>
        <p:spPr>
          <a:xfrm>
            <a:off x="11431170" y="44805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50" dirty="0"/>
          </a:p>
        </p:txBody>
      </p:sp>
      <p:sp>
        <p:nvSpPr>
          <p:cNvPr id="216" name="Text 214"/>
          <p:cNvSpPr/>
          <p:nvPr/>
        </p:nvSpPr>
        <p:spPr>
          <a:xfrm>
            <a:off x="6327775" y="473646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7110160" y="473646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</a:t>
            </a:r>
            <a:endParaRPr lang="en-US" sz="850" dirty="0"/>
          </a:p>
        </p:txBody>
      </p:sp>
      <p:sp>
        <p:nvSpPr>
          <p:cNvPr id="218" name="Text 216"/>
          <p:cNvSpPr/>
          <p:nvPr/>
        </p:nvSpPr>
        <p:spPr>
          <a:xfrm>
            <a:off x="7821120" y="473646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876778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220" name="Text 218"/>
          <p:cNvSpPr/>
          <p:nvPr/>
        </p:nvSpPr>
        <p:spPr>
          <a:xfrm>
            <a:off x="960160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145</a:t>
            </a:r>
            <a:endParaRPr lang="en-US" sz="850" dirty="0"/>
          </a:p>
        </p:txBody>
      </p:sp>
      <p:sp>
        <p:nvSpPr>
          <p:cNvPr id="706" name="Text 704"/>
          <p:cNvSpPr/>
          <p:nvPr/>
        </p:nvSpPr>
        <p:spPr>
          <a:xfrm>
            <a:off x="10516700" y="473646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74</a:t>
            </a:r>
            <a:endParaRPr lang="en-US" sz="850" dirty="0"/>
          </a:p>
        </p:txBody>
      </p:sp>
      <p:sp>
        <p:nvSpPr>
          <p:cNvPr id="707" name="Text 705"/>
          <p:cNvSpPr/>
          <p:nvPr/>
        </p:nvSpPr>
        <p:spPr>
          <a:xfrm>
            <a:off x="11431170" y="473646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220</a:t>
            </a:r>
            <a:endParaRPr lang="en-US" sz="850" dirty="0"/>
          </a:p>
        </p:txBody>
      </p:sp>
      <p:sp>
        <p:nvSpPr>
          <p:cNvPr id="223" name="Text 221"/>
          <p:cNvSpPr/>
          <p:nvPr/>
        </p:nvSpPr>
        <p:spPr>
          <a:xfrm>
            <a:off x="6327775" y="499237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24" name="Text 222"/>
          <p:cNvSpPr/>
          <p:nvPr/>
        </p:nvSpPr>
        <p:spPr>
          <a:xfrm>
            <a:off x="7110160" y="499237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219</a:t>
            </a:r>
            <a:endParaRPr lang="en-US" sz="850" dirty="0"/>
          </a:p>
        </p:txBody>
      </p:sp>
      <p:sp>
        <p:nvSpPr>
          <p:cNvPr id="225" name="Text 223"/>
          <p:cNvSpPr/>
          <p:nvPr/>
        </p:nvSpPr>
        <p:spPr>
          <a:xfrm>
            <a:off x="7821120" y="499237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</a:t>
            </a:r>
            <a:endParaRPr lang="en-US" sz="850" dirty="0"/>
          </a:p>
        </p:txBody>
      </p:sp>
      <p:sp>
        <p:nvSpPr>
          <p:cNvPr id="226" name="Text 224"/>
          <p:cNvSpPr/>
          <p:nvPr/>
        </p:nvSpPr>
        <p:spPr>
          <a:xfrm>
            <a:off x="876778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27" name="Text 225"/>
          <p:cNvSpPr/>
          <p:nvPr/>
        </p:nvSpPr>
        <p:spPr>
          <a:xfrm>
            <a:off x="960160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850" dirty="0"/>
          </a:p>
        </p:txBody>
      </p:sp>
      <p:sp>
        <p:nvSpPr>
          <p:cNvPr id="708" name="Text 706"/>
          <p:cNvSpPr/>
          <p:nvPr/>
        </p:nvSpPr>
        <p:spPr>
          <a:xfrm>
            <a:off x="10516700" y="499237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709" name="Text 707"/>
          <p:cNvSpPr/>
          <p:nvPr/>
        </p:nvSpPr>
        <p:spPr>
          <a:xfrm>
            <a:off x="11431170" y="499237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</a:t>
            </a:r>
            <a:endParaRPr lang="en-US" sz="850" dirty="0"/>
          </a:p>
        </p:txBody>
      </p:sp>
      <p:sp>
        <p:nvSpPr>
          <p:cNvPr id="230" name="Text 228"/>
          <p:cNvSpPr/>
          <p:nvPr/>
        </p:nvSpPr>
        <p:spPr>
          <a:xfrm>
            <a:off x="6327775" y="524891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7110160" y="524891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400</a:t>
            </a:r>
            <a:endParaRPr lang="en-US" sz="850" dirty="0"/>
          </a:p>
        </p:txBody>
      </p:sp>
      <p:sp>
        <p:nvSpPr>
          <p:cNvPr id="232" name="Text 230"/>
          <p:cNvSpPr/>
          <p:nvPr/>
        </p:nvSpPr>
        <p:spPr>
          <a:xfrm>
            <a:off x="7821120" y="524891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233" name="Text 231"/>
          <p:cNvSpPr/>
          <p:nvPr/>
        </p:nvSpPr>
        <p:spPr>
          <a:xfrm>
            <a:off x="876778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34" name="Text 232"/>
          <p:cNvSpPr/>
          <p:nvPr/>
        </p:nvSpPr>
        <p:spPr>
          <a:xfrm>
            <a:off x="960160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10" name="Text 708"/>
          <p:cNvSpPr/>
          <p:nvPr/>
        </p:nvSpPr>
        <p:spPr>
          <a:xfrm>
            <a:off x="10516700" y="524891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11" name="Text 709"/>
          <p:cNvSpPr/>
          <p:nvPr/>
        </p:nvSpPr>
        <p:spPr>
          <a:xfrm>
            <a:off x="11431170" y="524891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</a:t>
            </a:r>
            <a:endParaRPr lang="en-US" sz="850" dirty="0"/>
          </a:p>
        </p:txBody>
      </p:sp>
      <p:sp>
        <p:nvSpPr>
          <p:cNvPr id="237" name="Text 235"/>
          <p:cNvSpPr/>
          <p:nvPr/>
        </p:nvSpPr>
        <p:spPr>
          <a:xfrm>
            <a:off x="6327775" y="550481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7110160" y="550481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50" dirty="0"/>
          </a:p>
        </p:txBody>
      </p:sp>
      <p:sp>
        <p:nvSpPr>
          <p:cNvPr id="239" name="Text 237"/>
          <p:cNvSpPr/>
          <p:nvPr/>
        </p:nvSpPr>
        <p:spPr>
          <a:xfrm>
            <a:off x="7821120" y="550481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850" dirty="0"/>
          </a:p>
        </p:txBody>
      </p:sp>
      <p:sp>
        <p:nvSpPr>
          <p:cNvPr id="240" name="Text 238"/>
          <p:cNvSpPr/>
          <p:nvPr/>
        </p:nvSpPr>
        <p:spPr>
          <a:xfrm>
            <a:off x="876778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850" dirty="0"/>
          </a:p>
        </p:txBody>
      </p:sp>
      <p:sp>
        <p:nvSpPr>
          <p:cNvPr id="241" name="Text 239"/>
          <p:cNvSpPr/>
          <p:nvPr/>
        </p:nvSpPr>
        <p:spPr>
          <a:xfrm>
            <a:off x="960160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850" dirty="0"/>
          </a:p>
        </p:txBody>
      </p:sp>
      <p:sp>
        <p:nvSpPr>
          <p:cNvPr id="712" name="Text 710"/>
          <p:cNvSpPr/>
          <p:nvPr/>
        </p:nvSpPr>
        <p:spPr>
          <a:xfrm>
            <a:off x="10516700" y="550481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13" name="Text 711"/>
          <p:cNvSpPr/>
          <p:nvPr/>
        </p:nvSpPr>
        <p:spPr>
          <a:xfrm>
            <a:off x="11431170" y="550481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</a:t>
            </a:r>
            <a:endParaRPr lang="en-US" sz="850" dirty="0"/>
          </a:p>
        </p:txBody>
      </p:sp>
      <p:sp>
        <p:nvSpPr>
          <p:cNvPr id="244" name="Text 242"/>
          <p:cNvSpPr/>
          <p:nvPr/>
        </p:nvSpPr>
        <p:spPr>
          <a:xfrm>
            <a:off x="6327775" y="576072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00" dirty="0"/>
          </a:p>
        </p:txBody>
      </p:sp>
      <p:sp>
        <p:nvSpPr>
          <p:cNvPr id="245" name="Text 243"/>
          <p:cNvSpPr/>
          <p:nvPr/>
        </p:nvSpPr>
        <p:spPr>
          <a:xfrm>
            <a:off x="7110160" y="576072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7821120" y="576072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247" name="Text 245"/>
          <p:cNvSpPr/>
          <p:nvPr/>
        </p:nvSpPr>
        <p:spPr>
          <a:xfrm>
            <a:off x="876778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248" name="Text 246"/>
          <p:cNvSpPr/>
          <p:nvPr/>
        </p:nvSpPr>
        <p:spPr>
          <a:xfrm>
            <a:off x="960160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850" dirty="0"/>
          </a:p>
        </p:txBody>
      </p:sp>
      <p:sp>
        <p:nvSpPr>
          <p:cNvPr id="714" name="Text 712"/>
          <p:cNvSpPr/>
          <p:nvPr/>
        </p:nvSpPr>
        <p:spPr>
          <a:xfrm>
            <a:off x="10516700" y="576072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715" name="Text 713"/>
          <p:cNvSpPr/>
          <p:nvPr/>
        </p:nvSpPr>
        <p:spPr>
          <a:xfrm>
            <a:off x="11431170" y="576072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850" dirty="0"/>
          </a:p>
        </p:txBody>
      </p:sp>
      <p:sp>
        <p:nvSpPr>
          <p:cNvPr id="718" name="Text 716"/>
          <p:cNvSpPr/>
          <p:nvPr/>
        </p:nvSpPr>
        <p:spPr>
          <a:xfrm>
            <a:off x="6327775" y="606044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MGA业务</a:t>
            </a:r>
            <a:endParaRPr lang="en-US" sz="800" dirty="0"/>
          </a:p>
        </p:txBody>
      </p:sp>
      <p:sp>
        <p:nvSpPr>
          <p:cNvPr id="719" name="Text 717"/>
          <p:cNvSpPr/>
          <p:nvPr/>
        </p:nvSpPr>
        <p:spPr>
          <a:xfrm>
            <a:off x="7130480" y="606044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50" dirty="0"/>
          </a:p>
        </p:txBody>
      </p:sp>
      <p:sp>
        <p:nvSpPr>
          <p:cNvPr id="720" name="Text 718"/>
          <p:cNvSpPr/>
          <p:nvPr/>
        </p:nvSpPr>
        <p:spPr>
          <a:xfrm>
            <a:off x="7841440" y="606044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50" dirty="0"/>
          </a:p>
        </p:txBody>
      </p:sp>
      <p:sp>
        <p:nvSpPr>
          <p:cNvPr id="721" name="Text 719"/>
          <p:cNvSpPr/>
          <p:nvPr/>
        </p:nvSpPr>
        <p:spPr>
          <a:xfrm>
            <a:off x="878810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722" name="Text 720"/>
          <p:cNvSpPr/>
          <p:nvPr/>
        </p:nvSpPr>
        <p:spPr>
          <a:xfrm>
            <a:off x="962192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723" name="Text 721"/>
          <p:cNvSpPr/>
          <p:nvPr/>
        </p:nvSpPr>
        <p:spPr>
          <a:xfrm>
            <a:off x="10537020" y="606044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24" name="Text 722"/>
          <p:cNvSpPr/>
          <p:nvPr/>
        </p:nvSpPr>
        <p:spPr>
          <a:xfrm>
            <a:off x="11487050" y="606044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850" dirty="0"/>
          </a:p>
        </p:txBody>
      </p:sp>
      <p:sp>
        <p:nvSpPr>
          <p:cNvPr id="727" name="Text 725"/>
          <p:cNvSpPr/>
          <p:nvPr/>
        </p:nvSpPr>
        <p:spPr>
          <a:xfrm>
            <a:off x="6327775" y="63601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en-US" sz="800" dirty="0"/>
          </a:p>
        </p:txBody>
      </p:sp>
      <p:sp>
        <p:nvSpPr>
          <p:cNvPr id="728" name="Text 726"/>
          <p:cNvSpPr/>
          <p:nvPr/>
        </p:nvSpPr>
        <p:spPr>
          <a:xfrm>
            <a:off x="7110160" y="63601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</a:t>
            </a:r>
            <a:endParaRPr lang="en-US" sz="850" dirty="0"/>
          </a:p>
        </p:txBody>
      </p:sp>
      <p:sp>
        <p:nvSpPr>
          <p:cNvPr id="729" name="Text 727"/>
          <p:cNvSpPr/>
          <p:nvPr/>
        </p:nvSpPr>
        <p:spPr>
          <a:xfrm>
            <a:off x="7821120" y="63601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</a:t>
            </a:r>
            <a:endParaRPr lang="en-US" sz="850" dirty="0"/>
          </a:p>
        </p:txBody>
      </p:sp>
      <p:sp>
        <p:nvSpPr>
          <p:cNvPr id="730" name="Text 728"/>
          <p:cNvSpPr/>
          <p:nvPr/>
        </p:nvSpPr>
        <p:spPr>
          <a:xfrm>
            <a:off x="876778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850" dirty="0"/>
          </a:p>
        </p:txBody>
      </p:sp>
      <p:sp>
        <p:nvSpPr>
          <p:cNvPr id="731" name="Text 729"/>
          <p:cNvSpPr/>
          <p:nvPr/>
        </p:nvSpPr>
        <p:spPr>
          <a:xfrm>
            <a:off x="960160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732" name="Text 730"/>
          <p:cNvSpPr/>
          <p:nvPr/>
        </p:nvSpPr>
        <p:spPr>
          <a:xfrm>
            <a:off x="10516700" y="63601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33" name="Text 731"/>
          <p:cNvSpPr/>
          <p:nvPr/>
        </p:nvSpPr>
        <p:spPr>
          <a:xfrm>
            <a:off x="11431170" y="63601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50" name="Shape 247"/>
          <p:cNvSpPr/>
          <p:nvPr/>
        </p:nvSpPr>
        <p:spPr>
          <a:xfrm>
            <a:off x="6163056" y="625449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1" name="Shape 248"/>
          <p:cNvSpPr/>
          <p:nvPr/>
        </p:nvSpPr>
        <p:spPr>
          <a:xfrm>
            <a:off x="6163056" y="6254496"/>
            <a:ext cx="588873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52" name="Text 249"/>
          <p:cNvSpPr/>
          <p:nvPr/>
        </p:nvSpPr>
        <p:spPr>
          <a:xfrm>
            <a:off x="6254496" y="6291072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53" name="Text 250"/>
          <p:cNvSpPr/>
          <p:nvPr/>
        </p:nvSpPr>
        <p:spPr>
          <a:xfrm>
            <a:off x="6254496" y="6409944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BK业务件均 APE 最高（116万）且平均时效 71.8 天（P90=145 天），是唯一超 SLA=60 天渠道，大额件审核慢是主要风险。MGA业务均值 18.3 天效率最优。整体均值 30 天，P90=72 天。BK业务 平均时效超 60 天 SLA。</a:t>
            </a:r>
            <a:endParaRPr lang="en-US" sz="550" dirty="0"/>
          </a:p>
        </p:txBody>
      </p:sp>
      <p:sp>
        <p:nvSpPr>
          <p:cNvPr id="258" name="Shape 254"/>
          <p:cNvSpPr/>
          <p:nvPr/>
        </p:nvSpPr>
        <p:spPr>
          <a:xfrm>
            <a:off x="91440" y="3196971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9" name="Shape 255"/>
          <p:cNvSpPr/>
          <p:nvPr/>
        </p:nvSpPr>
        <p:spPr>
          <a:xfrm>
            <a:off x="73660" y="3161411"/>
            <a:ext cx="59436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260" name="Text 256"/>
          <p:cNvSpPr/>
          <p:nvPr/>
        </p:nvSpPr>
        <p:spPr>
          <a:xfrm>
            <a:off x="165100" y="3197987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" name="Text 257"/>
          <p:cNvSpPr/>
          <p:nvPr/>
        </p:nvSpPr>
        <p:spPr>
          <a:xfrm>
            <a:off x="165100" y="3316859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预约总量 388.3M/948件。永明经代领跑，累计 125.3M/355件，占比 32%。W05 单周峰值 28.2M/32件，是本季度最高单周贡献。</a:t>
            </a:r>
            <a:endParaRPr lang="en-US" sz="550" dirty="0"/>
          </a:p>
        </p:txBody>
      </p:sp>
      <p:sp>
        <p:nvSpPr>
          <p:cNvPr id="470" name="Shape 448"/>
          <p:cNvSpPr/>
          <p:nvPr/>
        </p:nvSpPr>
        <p:spPr>
          <a:xfrm>
            <a:off x="6144006" y="318871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72" name="Text 450"/>
          <p:cNvSpPr/>
          <p:nvPr/>
        </p:nvSpPr>
        <p:spPr>
          <a:xfrm>
            <a:off x="6236716" y="3197987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" name="Text 451"/>
          <p:cNvSpPr/>
          <p:nvPr/>
        </p:nvSpPr>
        <p:spPr>
          <a:xfrm>
            <a:off x="6236716" y="3316859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签单总量 382.5M/932件。永明经代领跑，累计 122.5M/349件，占比 32%。W05 单周峰值 31.3M/36件，是本季度最高单周贡献。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1440" y="6254496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88" name="Shape 186"/>
          <p:cNvSpPr/>
          <p:nvPr/>
        </p:nvSpPr>
        <p:spPr>
          <a:xfrm>
            <a:off x="91440" y="6254496"/>
            <a:ext cx="594360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89" name="Text 187"/>
          <p:cNvSpPr/>
          <p:nvPr/>
        </p:nvSpPr>
        <p:spPr>
          <a:xfrm>
            <a:off x="182880" y="6291072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0" name="Text 188"/>
          <p:cNvSpPr/>
          <p:nvPr/>
        </p:nvSpPr>
        <p:spPr>
          <a:xfrm>
            <a:off x="182880" y="6409944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批核总量 582.7M/1076件。BK业务领跑，累计 224.5M/195件，占比 39%。W08 单周峰值 67.0M/61件，是本季度最高单周贡献。</a:t>
            </a:r>
            <a:endParaRPr lang="en-US" sz="550" dirty="0"/>
          </a:p>
        </p:txBody>
      </p:sp>
      <p:sp>
        <p:nvSpPr>
          <p:cNvPr id="106" name="T7110"/>
          <p:cNvSpPr/>
          <p:nvPr/>
        </p:nvSpPr>
        <p:spPr>
          <a:xfrm>
            <a:off x="303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07" name="R7111"/>
          <p:cNvSpPr/>
          <p:nvPr/>
        </p:nvSpPr>
        <p:spPr>
          <a:xfrm>
            <a:off x="3421168" y="1622670"/>
            <a:ext cx="390000" cy="290000"/>
          </a:xfrm>
          <a:prstGeom prst="rect">
            <a:avLst/>
          </a:prstGeom>
          <a:solidFill>
            <a:srgbClr val="2980B9">
              <a:alpha val="1881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4" name="R8092"/>
          <p:cNvSpPr/>
          <p:nvPr/>
        </p:nvSpPr>
        <p:spPr>
          <a:xfrm>
            <a:off x="6766941" y="1652134"/>
            <a:ext cx="390000" cy="290000"/>
          </a:xfrm>
          <a:prstGeom prst="rect">
            <a:avLst/>
          </a:prstGeom>
          <a:solidFill>
            <a:srgbClr val="2980B9">
              <a:alpha val="1733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5" name="T8093"/>
          <p:cNvSpPr/>
          <p:nvPr/>
        </p:nvSpPr>
        <p:spPr>
          <a:xfrm>
            <a:off x="676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699" name="R6090"/>
          <p:cNvSpPr/>
          <p:nvPr/>
        </p:nvSpPr>
        <p:spPr>
          <a:xfrm>
            <a:off x="5339384" y="4441376"/>
            <a:ext cx="390000" cy="290000"/>
          </a:xfrm>
          <a:prstGeom prst="rect">
            <a:avLst/>
          </a:prstGeom>
          <a:solidFill>
            <a:srgbClr val="83B797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34" name="T6091"/>
          <p:cNvSpPr/>
          <p:nvPr/>
        </p:nvSpPr>
        <p:spPr>
          <a:xfrm>
            <a:off x="5345099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zh-CN" sz="570" dirty="0"/>
          </a:p>
        </p:txBody>
      </p:sp>
      <p:sp>
        <p:nvSpPr>
          <p:cNvPr id="741" name="T6098"/>
          <p:cNvSpPr/>
          <p:nvPr/>
        </p:nvSpPr>
        <p:spPr>
          <a:xfrm>
            <a:off x="104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30.9M</a:t>
            </a:r>
            <a:endParaRPr lang="zh-CN" sz="570" dirty="0"/>
          </a:p>
        </p:txBody>
      </p:sp>
      <p:sp>
        <p:nvSpPr>
          <p:cNvPr id="906" name="TextBox 905"/>
          <p:cNvSpPr txBox="1"/>
          <p:nvPr/>
        </p:nvSpPr>
        <p:spPr>
          <a:xfrm>
            <a:off x="6327775" y="5395355"/>
            <a:ext cx="72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合伙转介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7130480" y="5395355"/>
            <a:ext cx="63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26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7841440" y="53953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17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788100" y="53953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29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9621920" y="53953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36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10537020" y="53953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20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1451490" y="53953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244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327775" y="5629495"/>
            <a:ext cx="72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ICLUB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7130480" y="5629495"/>
            <a:ext cx="63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11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841440" y="562949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185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8788100" y="562949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24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9621920" y="562949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59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10537020" y="562949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14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11451490" y="562949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76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327775" y="5863635"/>
            <a:ext cx="72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IFA业务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7130480" y="5863635"/>
            <a:ext cx="63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41440" y="586363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8788100" y="586363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9621920" y="586363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10537020" y="586363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11451490" y="586363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27" name="Rectangle 926"/>
          <p:cNvSpPr/>
          <p:nvPr/>
        </p:nvSpPr>
        <p:spPr>
          <a:xfrm>
            <a:off x="182880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262880" y="560000"/>
            <a:ext cx="58887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Q  周度预约业绩热力矩阵（APE in M）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862880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W14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1210129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W15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1557378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W16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1904627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W17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225187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W18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2599125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W19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2946374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W20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3293623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W21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3640872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W22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3988121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W23</a:t>
            </a:r>
          </a:p>
        </p:txBody>
      </p:sp>
      <p:sp>
        <p:nvSpPr>
          <p:cNvPr id="939" name="TextBox 938"/>
          <p:cNvSpPr txBox="1"/>
          <p:nvPr/>
        </p:nvSpPr>
        <p:spPr>
          <a:xfrm>
            <a:off x="4335370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W24</a:t>
            </a:r>
          </a:p>
        </p:txBody>
      </p:sp>
      <p:sp>
        <p:nvSpPr>
          <p:cNvPr id="940" name="TextBox 939"/>
          <p:cNvSpPr txBox="1"/>
          <p:nvPr/>
        </p:nvSpPr>
        <p:spPr>
          <a:xfrm>
            <a:off x="4682619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W25</a:t>
            </a:r>
          </a:p>
        </p:txBody>
      </p:sp>
      <p:sp>
        <p:nvSpPr>
          <p:cNvPr id="941" name="TextBox 940"/>
          <p:cNvSpPr txBox="1"/>
          <p:nvPr/>
        </p:nvSpPr>
        <p:spPr>
          <a:xfrm>
            <a:off x="5029868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W26</a:t>
            </a:r>
          </a:p>
        </p:txBody>
      </p:sp>
      <p:sp>
        <p:nvSpPr>
          <p:cNvPr id="942" name="TextBox 941"/>
          <p:cNvSpPr txBox="1"/>
          <p:nvPr/>
        </p:nvSpPr>
        <p:spPr>
          <a:xfrm>
            <a:off x="5377117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W27</a:t>
            </a:r>
          </a:p>
        </p:txBody>
      </p:sp>
      <p:sp>
        <p:nvSpPr>
          <p:cNvPr id="943" name="TextBox 942"/>
          <p:cNvSpPr txBox="1"/>
          <p:nvPr/>
        </p:nvSpPr>
        <p:spPr>
          <a:xfrm>
            <a:off x="572436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W28</a:t>
            </a:r>
          </a:p>
        </p:txBody>
      </p:sp>
      <p:sp>
        <p:nvSpPr>
          <p:cNvPr id="944" name="TextBox 943"/>
          <p:cNvSpPr txBox="1"/>
          <p:nvPr/>
        </p:nvSpPr>
        <p:spPr>
          <a:xfrm>
            <a:off x="202880" y="1016032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天领业务</a:t>
            </a:r>
          </a:p>
        </p:txBody>
      </p:sp>
      <p:sp>
        <p:nvSpPr>
          <p:cNvPr id="945" name="Rectangle 944"/>
          <p:cNvSpPr/>
          <p:nvPr/>
        </p:nvSpPr>
        <p:spPr>
          <a:xfrm>
            <a:off x="1216129" y="1022032"/>
            <a:ext cx="335249" cy="221774"/>
          </a:xfrm>
          <a:prstGeom prst="rect">
            <a:avLst/>
          </a:prstGeom>
          <a:solidFill>
            <a:srgbClr val="2980B9">
              <a:alpha val="512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1210129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3.2M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1210129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12件</a:t>
            </a:r>
          </a:p>
        </p:txBody>
      </p:sp>
      <p:sp>
        <p:nvSpPr>
          <p:cNvPr id="948" name="Rectangle 947"/>
          <p:cNvSpPr/>
          <p:nvPr/>
        </p:nvSpPr>
        <p:spPr>
          <a:xfrm>
            <a:off x="1563378" y="1022032"/>
            <a:ext cx="335249" cy="221774"/>
          </a:xfrm>
          <a:prstGeom prst="rect">
            <a:avLst/>
          </a:prstGeom>
          <a:solidFill>
            <a:srgbClr val="2980B9">
              <a:alpha val="608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TextBox 948"/>
          <p:cNvSpPr txBox="1"/>
          <p:nvPr/>
        </p:nvSpPr>
        <p:spPr>
          <a:xfrm>
            <a:off x="1557378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4.4M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1557378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951" name="Rectangle 950"/>
          <p:cNvSpPr/>
          <p:nvPr/>
        </p:nvSpPr>
        <p:spPr>
          <a:xfrm>
            <a:off x="1910627" y="1022032"/>
            <a:ext cx="335249" cy="221774"/>
          </a:xfrm>
          <a:prstGeom prst="rect">
            <a:avLst/>
          </a:prstGeom>
          <a:solidFill>
            <a:srgbClr val="2980B9">
              <a:alpha val="307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TextBox 951"/>
          <p:cNvSpPr txBox="1"/>
          <p:nvPr/>
        </p:nvSpPr>
        <p:spPr>
          <a:xfrm>
            <a:off x="1904627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0.7M</a:t>
            </a:r>
          </a:p>
        </p:txBody>
      </p:sp>
      <p:sp>
        <p:nvSpPr>
          <p:cNvPr id="953" name="TextBox 952"/>
          <p:cNvSpPr txBox="1"/>
          <p:nvPr/>
        </p:nvSpPr>
        <p:spPr>
          <a:xfrm>
            <a:off x="1904627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954" name="Rectangle 953"/>
          <p:cNvSpPr/>
          <p:nvPr/>
        </p:nvSpPr>
        <p:spPr>
          <a:xfrm>
            <a:off x="2257876" y="1022032"/>
            <a:ext cx="335249" cy="221774"/>
          </a:xfrm>
          <a:prstGeom prst="rect">
            <a:avLst/>
          </a:prstGeom>
          <a:solidFill>
            <a:srgbClr val="2980B9">
              <a:alpha val="372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225187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1.5M</a:t>
            </a:r>
          </a:p>
        </p:txBody>
      </p:sp>
      <p:sp>
        <p:nvSpPr>
          <p:cNvPr id="956" name="TextBox 955"/>
          <p:cNvSpPr txBox="1"/>
          <p:nvPr/>
        </p:nvSpPr>
        <p:spPr>
          <a:xfrm>
            <a:off x="2251876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19件</a:t>
            </a:r>
          </a:p>
        </p:txBody>
      </p:sp>
      <p:sp>
        <p:nvSpPr>
          <p:cNvPr id="957" name="Rectangle 956"/>
          <p:cNvSpPr/>
          <p:nvPr/>
        </p:nvSpPr>
        <p:spPr>
          <a:xfrm>
            <a:off x="2605125" y="1022032"/>
            <a:ext cx="335249" cy="221774"/>
          </a:xfrm>
          <a:prstGeom prst="rect">
            <a:avLst/>
          </a:prstGeom>
          <a:solidFill>
            <a:srgbClr val="2980B9">
              <a:alpha val="8306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TextBox 957"/>
          <p:cNvSpPr txBox="1"/>
          <p:nvPr/>
        </p:nvSpPr>
        <p:spPr>
          <a:xfrm>
            <a:off x="2599125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7.0M</a:t>
            </a:r>
          </a:p>
        </p:txBody>
      </p:sp>
      <p:sp>
        <p:nvSpPr>
          <p:cNvPr id="959" name="TextBox 958"/>
          <p:cNvSpPr txBox="1"/>
          <p:nvPr/>
        </p:nvSpPr>
        <p:spPr>
          <a:xfrm>
            <a:off x="2599125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960" name="Rectangle 959"/>
          <p:cNvSpPr/>
          <p:nvPr/>
        </p:nvSpPr>
        <p:spPr>
          <a:xfrm>
            <a:off x="2952374" y="1022032"/>
            <a:ext cx="335249" cy="221774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2946374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9.1M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2946374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963" name="Rectangle 962"/>
          <p:cNvSpPr/>
          <p:nvPr/>
        </p:nvSpPr>
        <p:spPr>
          <a:xfrm>
            <a:off x="3299623" y="1022032"/>
            <a:ext cx="335249" cy="221774"/>
          </a:xfrm>
          <a:prstGeom prst="rect">
            <a:avLst/>
          </a:prstGeom>
          <a:solidFill>
            <a:srgbClr val="2980B9">
              <a:alpha val="461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TextBox 963"/>
          <p:cNvSpPr txBox="1"/>
          <p:nvPr/>
        </p:nvSpPr>
        <p:spPr>
          <a:xfrm>
            <a:off x="3293623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2.6M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3293623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12件</a:t>
            </a:r>
          </a:p>
        </p:txBody>
      </p:sp>
      <p:sp>
        <p:nvSpPr>
          <p:cNvPr id="966" name="Rectangle 965"/>
          <p:cNvSpPr/>
          <p:nvPr/>
        </p:nvSpPr>
        <p:spPr>
          <a:xfrm>
            <a:off x="3646872" y="1022032"/>
            <a:ext cx="335249" cy="221774"/>
          </a:xfrm>
          <a:prstGeom prst="rect">
            <a:avLst/>
          </a:prstGeom>
          <a:solidFill>
            <a:srgbClr val="2980B9">
              <a:alpha val="355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TextBox 966"/>
          <p:cNvSpPr txBox="1"/>
          <p:nvPr/>
        </p:nvSpPr>
        <p:spPr>
          <a:xfrm>
            <a:off x="3640872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1.3M</a:t>
            </a:r>
          </a:p>
        </p:txBody>
      </p:sp>
      <p:sp>
        <p:nvSpPr>
          <p:cNvPr id="968" name="TextBox 967"/>
          <p:cNvSpPr txBox="1"/>
          <p:nvPr/>
        </p:nvSpPr>
        <p:spPr>
          <a:xfrm>
            <a:off x="3640872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969" name="Rectangle 968"/>
          <p:cNvSpPr/>
          <p:nvPr/>
        </p:nvSpPr>
        <p:spPr>
          <a:xfrm>
            <a:off x="3994121" y="1022032"/>
            <a:ext cx="335249" cy="221774"/>
          </a:xfrm>
          <a:prstGeom prst="rect">
            <a:avLst/>
          </a:prstGeom>
          <a:solidFill>
            <a:srgbClr val="2980B9">
              <a:alpha val="346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TextBox 969"/>
          <p:cNvSpPr txBox="1"/>
          <p:nvPr/>
        </p:nvSpPr>
        <p:spPr>
          <a:xfrm>
            <a:off x="3988121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1.2M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3988121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972" name="Rectangle 971"/>
          <p:cNvSpPr/>
          <p:nvPr/>
        </p:nvSpPr>
        <p:spPr>
          <a:xfrm>
            <a:off x="4341370" y="1022032"/>
            <a:ext cx="335249" cy="221774"/>
          </a:xfrm>
          <a:prstGeom prst="rect">
            <a:avLst/>
          </a:prstGeom>
          <a:solidFill>
            <a:srgbClr val="2980B9">
              <a:alpha val="311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4335370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0.7M</a:t>
            </a:r>
          </a:p>
        </p:txBody>
      </p:sp>
      <p:sp>
        <p:nvSpPr>
          <p:cNvPr id="974" name="TextBox 973"/>
          <p:cNvSpPr txBox="1"/>
          <p:nvPr/>
        </p:nvSpPr>
        <p:spPr>
          <a:xfrm>
            <a:off x="4335370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3件</a:t>
            </a:r>
          </a:p>
        </p:txBody>
      </p:sp>
      <p:sp>
        <p:nvSpPr>
          <p:cNvPr id="975" name="Rectangle 974"/>
          <p:cNvSpPr/>
          <p:nvPr/>
        </p:nvSpPr>
        <p:spPr>
          <a:xfrm>
            <a:off x="4688619" y="1022032"/>
            <a:ext cx="335249" cy="221774"/>
          </a:xfrm>
          <a:prstGeom prst="rect">
            <a:avLst/>
          </a:prstGeom>
          <a:solidFill>
            <a:srgbClr val="2980B9">
              <a:alpha val="518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TextBox 975"/>
          <p:cNvSpPr txBox="1"/>
          <p:nvPr/>
        </p:nvSpPr>
        <p:spPr>
          <a:xfrm>
            <a:off x="4682619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3.3M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4682619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9件</a:t>
            </a:r>
          </a:p>
        </p:txBody>
      </p:sp>
      <p:sp>
        <p:nvSpPr>
          <p:cNvPr id="978" name="Rectangle 977"/>
          <p:cNvSpPr/>
          <p:nvPr/>
        </p:nvSpPr>
        <p:spPr>
          <a:xfrm>
            <a:off x="5035868" y="1022032"/>
            <a:ext cx="335249" cy="221774"/>
          </a:xfrm>
          <a:prstGeom prst="rect">
            <a:avLst/>
          </a:prstGeom>
          <a:solidFill>
            <a:srgbClr val="2980B9">
              <a:alpha val="313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TextBox 978"/>
          <p:cNvSpPr txBox="1"/>
          <p:nvPr/>
        </p:nvSpPr>
        <p:spPr>
          <a:xfrm>
            <a:off x="5029868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0.8M</a:t>
            </a:r>
          </a:p>
        </p:txBody>
      </p:sp>
      <p:sp>
        <p:nvSpPr>
          <p:cNvPr id="980" name="TextBox 979"/>
          <p:cNvSpPr txBox="1"/>
          <p:nvPr/>
        </p:nvSpPr>
        <p:spPr>
          <a:xfrm>
            <a:off x="5029868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981" name="Rectangle 980"/>
          <p:cNvSpPr/>
          <p:nvPr/>
        </p:nvSpPr>
        <p:spPr>
          <a:xfrm>
            <a:off x="5383117" y="1022032"/>
            <a:ext cx="335249" cy="221774"/>
          </a:xfrm>
          <a:prstGeom prst="rect">
            <a:avLst/>
          </a:prstGeom>
          <a:solidFill>
            <a:srgbClr val="2980B9">
              <a:alpha val="701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TextBox 981"/>
          <p:cNvSpPr txBox="1"/>
          <p:nvPr/>
        </p:nvSpPr>
        <p:spPr>
          <a:xfrm>
            <a:off x="5377117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5.5M</a:t>
            </a:r>
          </a:p>
        </p:txBody>
      </p:sp>
      <p:sp>
        <p:nvSpPr>
          <p:cNvPr id="983" name="TextBox 982"/>
          <p:cNvSpPr txBox="1"/>
          <p:nvPr/>
        </p:nvSpPr>
        <p:spPr>
          <a:xfrm>
            <a:off x="5377117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984" name="Rectangle 983"/>
          <p:cNvSpPr/>
          <p:nvPr/>
        </p:nvSpPr>
        <p:spPr>
          <a:xfrm>
            <a:off x="5730366" y="1022032"/>
            <a:ext cx="335249" cy="221774"/>
          </a:xfrm>
          <a:prstGeom prst="rect">
            <a:avLst/>
          </a:prstGeom>
          <a:solidFill>
            <a:srgbClr val="2980B9">
              <a:alpha val="3207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572436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0.9M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5724366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202880" y="1249806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成事家办</a:t>
            </a:r>
          </a:p>
        </p:txBody>
      </p:sp>
      <p:sp>
        <p:nvSpPr>
          <p:cNvPr id="988" name="Rectangle 987"/>
          <p:cNvSpPr/>
          <p:nvPr/>
        </p:nvSpPr>
        <p:spPr>
          <a:xfrm>
            <a:off x="868880" y="1255806"/>
            <a:ext cx="335249" cy="221774"/>
          </a:xfrm>
          <a:prstGeom prst="rect">
            <a:avLst/>
          </a:prstGeom>
          <a:solidFill>
            <a:srgbClr val="374151">
              <a:alpha val="4495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TextBox 988"/>
          <p:cNvSpPr txBox="1"/>
          <p:nvPr/>
        </p:nvSpPr>
        <p:spPr>
          <a:xfrm>
            <a:off x="862880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0.6M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862880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3件</a:t>
            </a:r>
          </a:p>
        </p:txBody>
      </p:sp>
      <p:sp>
        <p:nvSpPr>
          <p:cNvPr id="991" name="Rectangle 990"/>
          <p:cNvSpPr/>
          <p:nvPr/>
        </p:nvSpPr>
        <p:spPr>
          <a:xfrm>
            <a:off x="1216129" y="1255806"/>
            <a:ext cx="335249" cy="221774"/>
          </a:xfrm>
          <a:prstGeom prst="rect">
            <a:avLst/>
          </a:prstGeom>
          <a:solidFill>
            <a:srgbClr val="374151">
              <a:alpha val="659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TextBox 991"/>
          <p:cNvSpPr txBox="1"/>
          <p:nvPr/>
        </p:nvSpPr>
        <p:spPr>
          <a:xfrm>
            <a:off x="1210129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1.2M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1210129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994" name="Rectangle 993"/>
          <p:cNvSpPr/>
          <p:nvPr/>
        </p:nvSpPr>
        <p:spPr>
          <a:xfrm>
            <a:off x="1563378" y="1255806"/>
            <a:ext cx="335249" cy="221774"/>
          </a:xfrm>
          <a:prstGeom prst="rect">
            <a:avLst/>
          </a:prstGeom>
          <a:solidFill>
            <a:srgbClr val="374151">
              <a:alpha val="523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TextBox 994"/>
          <p:cNvSpPr txBox="1"/>
          <p:nvPr/>
        </p:nvSpPr>
        <p:spPr>
          <a:xfrm>
            <a:off x="1557378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0.8M</a:t>
            </a:r>
          </a:p>
        </p:txBody>
      </p:sp>
      <p:sp>
        <p:nvSpPr>
          <p:cNvPr id="996" name="TextBox 995"/>
          <p:cNvSpPr txBox="1"/>
          <p:nvPr/>
        </p:nvSpPr>
        <p:spPr>
          <a:xfrm>
            <a:off x="1557378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7件</a:t>
            </a:r>
          </a:p>
        </p:txBody>
      </p:sp>
      <p:sp>
        <p:nvSpPr>
          <p:cNvPr id="997" name="Rectangle 996"/>
          <p:cNvSpPr/>
          <p:nvPr/>
        </p:nvSpPr>
        <p:spPr>
          <a:xfrm>
            <a:off x="2605125" y="1255806"/>
            <a:ext cx="335249" cy="221774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TextBox 997"/>
          <p:cNvSpPr txBox="1"/>
          <p:nvPr/>
        </p:nvSpPr>
        <p:spPr>
          <a:xfrm>
            <a:off x="2599125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2.2M</a:t>
            </a:r>
          </a:p>
        </p:txBody>
      </p:sp>
      <p:sp>
        <p:nvSpPr>
          <p:cNvPr id="999" name="TextBox 998"/>
          <p:cNvSpPr txBox="1"/>
          <p:nvPr/>
        </p:nvSpPr>
        <p:spPr>
          <a:xfrm>
            <a:off x="2599125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000" name="Rectangle 999"/>
          <p:cNvSpPr/>
          <p:nvPr/>
        </p:nvSpPr>
        <p:spPr>
          <a:xfrm>
            <a:off x="3646872" y="1255806"/>
            <a:ext cx="335249" cy="221774"/>
          </a:xfrm>
          <a:prstGeom prst="rect">
            <a:avLst/>
          </a:prstGeom>
          <a:solidFill>
            <a:srgbClr val="374151">
              <a:alpha val="393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TextBox 1000"/>
          <p:cNvSpPr txBox="1"/>
          <p:nvPr/>
        </p:nvSpPr>
        <p:spPr>
          <a:xfrm>
            <a:off x="3640872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002" name="TextBox 1001"/>
          <p:cNvSpPr txBox="1"/>
          <p:nvPr/>
        </p:nvSpPr>
        <p:spPr>
          <a:xfrm>
            <a:off x="3640872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3件</a:t>
            </a:r>
          </a:p>
        </p:txBody>
      </p:sp>
      <p:sp>
        <p:nvSpPr>
          <p:cNvPr id="1003" name="Rectangle 1002"/>
          <p:cNvSpPr/>
          <p:nvPr/>
        </p:nvSpPr>
        <p:spPr>
          <a:xfrm>
            <a:off x="4688619" y="1255806"/>
            <a:ext cx="335249" cy="221774"/>
          </a:xfrm>
          <a:prstGeom prst="rect">
            <a:avLst/>
          </a:prstGeom>
          <a:solidFill>
            <a:srgbClr val="374151">
              <a:alpha val="380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TextBox 1003"/>
          <p:cNvSpPr txBox="1"/>
          <p:nvPr/>
        </p:nvSpPr>
        <p:spPr>
          <a:xfrm>
            <a:off x="4682619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4682619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006" name="Rectangle 1005"/>
          <p:cNvSpPr/>
          <p:nvPr/>
        </p:nvSpPr>
        <p:spPr>
          <a:xfrm>
            <a:off x="5383117" y="1255806"/>
            <a:ext cx="335249" cy="221774"/>
          </a:xfrm>
          <a:prstGeom prst="rect">
            <a:avLst/>
          </a:prstGeom>
          <a:solidFill>
            <a:srgbClr val="374151">
              <a:alpha val="32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TextBox 1006"/>
          <p:cNvSpPr txBox="1"/>
          <p:nvPr/>
        </p:nvSpPr>
        <p:spPr>
          <a:xfrm>
            <a:off x="5377117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5377117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202880" y="1483580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BK业务</a:t>
            </a:r>
          </a:p>
        </p:txBody>
      </p:sp>
      <p:sp>
        <p:nvSpPr>
          <p:cNvPr id="1010" name="Rectangle 1009"/>
          <p:cNvSpPr/>
          <p:nvPr/>
        </p:nvSpPr>
        <p:spPr>
          <a:xfrm>
            <a:off x="868880" y="1489580"/>
            <a:ext cx="335249" cy="221774"/>
          </a:xfrm>
          <a:prstGeom prst="rect">
            <a:avLst/>
          </a:prstGeom>
          <a:solidFill>
            <a:srgbClr val="1F3864">
              <a:alpha val="967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TextBox 1010"/>
          <p:cNvSpPr txBox="1"/>
          <p:nvPr/>
        </p:nvSpPr>
        <p:spPr>
          <a:xfrm>
            <a:off x="862880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5.2M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862880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013" name="Rectangle 1012"/>
          <p:cNvSpPr/>
          <p:nvPr/>
        </p:nvSpPr>
        <p:spPr>
          <a:xfrm>
            <a:off x="1216129" y="1489580"/>
            <a:ext cx="335249" cy="221774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TextBox 1013"/>
          <p:cNvSpPr txBox="1"/>
          <p:nvPr/>
        </p:nvSpPr>
        <p:spPr>
          <a:xfrm>
            <a:off x="1210129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0.4M</a:t>
            </a:r>
          </a:p>
        </p:txBody>
      </p:sp>
      <p:sp>
        <p:nvSpPr>
          <p:cNvPr id="1015" name="TextBox 1014"/>
          <p:cNvSpPr txBox="1"/>
          <p:nvPr/>
        </p:nvSpPr>
        <p:spPr>
          <a:xfrm>
            <a:off x="1210129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16" name="Rectangle 1015"/>
          <p:cNvSpPr/>
          <p:nvPr/>
        </p:nvSpPr>
        <p:spPr>
          <a:xfrm>
            <a:off x="1563378" y="1489580"/>
            <a:ext cx="335249" cy="221774"/>
          </a:xfrm>
          <a:prstGeom prst="rect">
            <a:avLst/>
          </a:prstGeom>
          <a:solidFill>
            <a:srgbClr val="1F3864">
              <a:alpha val="485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TextBox 1016"/>
          <p:cNvSpPr txBox="1"/>
          <p:nvPr/>
        </p:nvSpPr>
        <p:spPr>
          <a:xfrm>
            <a:off x="1557378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1.7M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1557378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4件</a:t>
            </a:r>
          </a:p>
        </p:txBody>
      </p:sp>
      <p:sp>
        <p:nvSpPr>
          <p:cNvPr id="1019" name="Rectangle 1018"/>
          <p:cNvSpPr/>
          <p:nvPr/>
        </p:nvSpPr>
        <p:spPr>
          <a:xfrm>
            <a:off x="1910627" y="1489580"/>
            <a:ext cx="335249" cy="221774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1904627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1904627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22" name="Rectangle 1021"/>
          <p:cNvSpPr/>
          <p:nvPr/>
        </p:nvSpPr>
        <p:spPr>
          <a:xfrm>
            <a:off x="2257876" y="1489580"/>
            <a:ext cx="335249" cy="221774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TextBox 1022"/>
          <p:cNvSpPr txBox="1"/>
          <p:nvPr/>
        </p:nvSpPr>
        <p:spPr>
          <a:xfrm>
            <a:off x="2251876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0.4M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2251876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25" name="Rectangle 1024"/>
          <p:cNvSpPr/>
          <p:nvPr/>
        </p:nvSpPr>
        <p:spPr>
          <a:xfrm>
            <a:off x="2605125" y="1489580"/>
            <a:ext cx="335249" cy="221774"/>
          </a:xfrm>
          <a:prstGeom prst="rect">
            <a:avLst/>
          </a:prstGeom>
          <a:solidFill>
            <a:srgbClr val="1F3864">
              <a:alpha val="3892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TextBox 1025"/>
          <p:cNvSpPr txBox="1"/>
          <p:nvPr/>
        </p:nvSpPr>
        <p:spPr>
          <a:xfrm>
            <a:off x="2599125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1.0M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2599125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028" name="Rectangle 1027"/>
          <p:cNvSpPr/>
          <p:nvPr/>
        </p:nvSpPr>
        <p:spPr>
          <a:xfrm>
            <a:off x="2952374" y="1489580"/>
            <a:ext cx="335249" cy="221774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TextBox 1028"/>
          <p:cNvSpPr txBox="1"/>
          <p:nvPr/>
        </p:nvSpPr>
        <p:spPr>
          <a:xfrm>
            <a:off x="2946374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2946374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31" name="Rectangle 1030"/>
          <p:cNvSpPr/>
          <p:nvPr/>
        </p:nvSpPr>
        <p:spPr>
          <a:xfrm>
            <a:off x="3299623" y="1489580"/>
            <a:ext cx="335249" cy="221774"/>
          </a:xfrm>
          <a:prstGeom prst="rect">
            <a:avLst/>
          </a:prstGeom>
          <a:solidFill>
            <a:srgbClr val="1F3864">
              <a:alpha val="732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TextBox 1031"/>
          <p:cNvSpPr txBox="1"/>
          <p:nvPr/>
        </p:nvSpPr>
        <p:spPr>
          <a:xfrm>
            <a:off x="3293623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3.5M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3293623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5件</a:t>
            </a:r>
          </a:p>
        </p:txBody>
      </p:sp>
      <p:sp>
        <p:nvSpPr>
          <p:cNvPr id="1034" name="Rectangle 1033"/>
          <p:cNvSpPr/>
          <p:nvPr/>
        </p:nvSpPr>
        <p:spPr>
          <a:xfrm>
            <a:off x="3646872" y="1489580"/>
            <a:ext cx="335249" cy="221774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TextBox 1034"/>
          <p:cNvSpPr txBox="1"/>
          <p:nvPr/>
        </p:nvSpPr>
        <p:spPr>
          <a:xfrm>
            <a:off x="3640872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3640872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37" name="Rectangle 1036"/>
          <p:cNvSpPr/>
          <p:nvPr/>
        </p:nvSpPr>
        <p:spPr>
          <a:xfrm>
            <a:off x="3994121" y="1489580"/>
            <a:ext cx="335249" cy="221774"/>
          </a:xfrm>
          <a:prstGeom prst="rect">
            <a:avLst/>
          </a:prstGeom>
          <a:solidFill>
            <a:srgbClr val="1F3864">
              <a:alpha val="7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3988121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3.4M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3988121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040" name="Rectangle 1039"/>
          <p:cNvSpPr/>
          <p:nvPr/>
        </p:nvSpPr>
        <p:spPr>
          <a:xfrm>
            <a:off x="4341370" y="1489580"/>
            <a:ext cx="335249" cy="221774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4335370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4335370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043" name="Rectangle 1042"/>
          <p:cNvSpPr/>
          <p:nvPr/>
        </p:nvSpPr>
        <p:spPr>
          <a:xfrm>
            <a:off x="4688619" y="1489580"/>
            <a:ext cx="335249" cy="221774"/>
          </a:xfrm>
          <a:prstGeom prst="rect">
            <a:avLst/>
          </a:prstGeom>
          <a:solidFill>
            <a:srgbClr val="1F3864">
              <a:alpha val="795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4682619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682619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046" name="Rectangle 1045"/>
          <p:cNvSpPr/>
          <p:nvPr/>
        </p:nvSpPr>
        <p:spPr>
          <a:xfrm>
            <a:off x="5035868" y="1489580"/>
            <a:ext cx="335249" cy="221774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TextBox 1046"/>
          <p:cNvSpPr txBox="1"/>
          <p:nvPr/>
        </p:nvSpPr>
        <p:spPr>
          <a:xfrm>
            <a:off x="5029868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5029868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49" name="Rectangle 1048"/>
          <p:cNvSpPr/>
          <p:nvPr/>
        </p:nvSpPr>
        <p:spPr>
          <a:xfrm>
            <a:off x="5383117" y="1489580"/>
            <a:ext cx="335249" cy="221774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TextBox 1049"/>
          <p:cNvSpPr txBox="1"/>
          <p:nvPr/>
        </p:nvSpPr>
        <p:spPr>
          <a:xfrm>
            <a:off x="5377117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5.5M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5377117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052" name="Rectangle 1051"/>
          <p:cNvSpPr/>
          <p:nvPr/>
        </p:nvSpPr>
        <p:spPr>
          <a:xfrm>
            <a:off x="5730366" y="1489580"/>
            <a:ext cx="335249" cy="221774"/>
          </a:xfrm>
          <a:prstGeom prst="rect">
            <a:avLst/>
          </a:prstGeom>
          <a:solidFill>
            <a:srgbClr val="1F3864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TextBox 1052"/>
          <p:cNvSpPr txBox="1"/>
          <p:nvPr/>
        </p:nvSpPr>
        <p:spPr>
          <a:xfrm>
            <a:off x="5724366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2.7M</a:t>
            </a:r>
          </a:p>
        </p:txBody>
      </p:sp>
      <p:sp>
        <p:nvSpPr>
          <p:cNvPr id="1054" name="TextBox 1053"/>
          <p:cNvSpPr txBox="1"/>
          <p:nvPr/>
        </p:nvSpPr>
        <p:spPr>
          <a:xfrm>
            <a:off x="5724366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055" name="TextBox 1054"/>
          <p:cNvSpPr txBox="1"/>
          <p:nvPr/>
        </p:nvSpPr>
        <p:spPr>
          <a:xfrm>
            <a:off x="202880" y="1717354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同行经代</a:t>
            </a:r>
          </a:p>
        </p:txBody>
      </p:sp>
      <p:sp>
        <p:nvSpPr>
          <p:cNvPr id="1056" name="Rectangle 1055"/>
          <p:cNvSpPr/>
          <p:nvPr/>
        </p:nvSpPr>
        <p:spPr>
          <a:xfrm>
            <a:off x="868880" y="1723354"/>
            <a:ext cx="335249" cy="221774"/>
          </a:xfrm>
          <a:prstGeom prst="rect">
            <a:avLst/>
          </a:prstGeom>
          <a:solidFill>
            <a:srgbClr val="E67E22">
              <a:alpha val="343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TextBox 1056"/>
          <p:cNvSpPr txBox="1"/>
          <p:nvPr/>
        </p:nvSpPr>
        <p:spPr>
          <a:xfrm>
            <a:off x="862880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1.4M</a:t>
            </a:r>
          </a:p>
        </p:txBody>
      </p:sp>
      <p:sp>
        <p:nvSpPr>
          <p:cNvPr id="1058" name="TextBox 1057"/>
          <p:cNvSpPr txBox="1"/>
          <p:nvPr/>
        </p:nvSpPr>
        <p:spPr>
          <a:xfrm>
            <a:off x="862880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7件</a:t>
            </a:r>
          </a:p>
        </p:txBody>
      </p:sp>
      <p:sp>
        <p:nvSpPr>
          <p:cNvPr id="1059" name="Rectangle 1058"/>
          <p:cNvSpPr/>
          <p:nvPr/>
        </p:nvSpPr>
        <p:spPr>
          <a:xfrm>
            <a:off x="1216129" y="1723354"/>
            <a:ext cx="335249" cy="221774"/>
          </a:xfrm>
          <a:prstGeom prst="rect">
            <a:avLst/>
          </a:prstGeom>
          <a:solidFill>
            <a:srgbClr val="E67E22">
              <a:alpha val="393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TextBox 1059"/>
          <p:cNvSpPr txBox="1"/>
          <p:nvPr/>
        </p:nvSpPr>
        <p:spPr>
          <a:xfrm>
            <a:off x="1210129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2.1M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1210129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14件</a:t>
            </a:r>
          </a:p>
        </p:txBody>
      </p:sp>
      <p:sp>
        <p:nvSpPr>
          <p:cNvPr id="1062" name="Rectangle 1061"/>
          <p:cNvSpPr/>
          <p:nvPr/>
        </p:nvSpPr>
        <p:spPr>
          <a:xfrm>
            <a:off x="1563378" y="1723354"/>
            <a:ext cx="335249" cy="221774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TextBox 1062"/>
          <p:cNvSpPr txBox="1"/>
          <p:nvPr/>
        </p:nvSpPr>
        <p:spPr>
          <a:xfrm>
            <a:off x="1557378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11.2M</a:t>
            </a:r>
          </a:p>
        </p:txBody>
      </p:sp>
      <p:sp>
        <p:nvSpPr>
          <p:cNvPr id="1064" name="TextBox 1063"/>
          <p:cNvSpPr txBox="1"/>
          <p:nvPr/>
        </p:nvSpPr>
        <p:spPr>
          <a:xfrm>
            <a:off x="1557378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065" name="Rectangle 1064"/>
          <p:cNvSpPr/>
          <p:nvPr/>
        </p:nvSpPr>
        <p:spPr>
          <a:xfrm>
            <a:off x="1910627" y="1723354"/>
            <a:ext cx="335249" cy="221774"/>
          </a:xfrm>
          <a:prstGeom prst="rect">
            <a:avLst/>
          </a:prstGeom>
          <a:solidFill>
            <a:srgbClr val="E67E22">
              <a:alpha val="387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TextBox 1065"/>
          <p:cNvSpPr txBox="1"/>
          <p:nvPr/>
        </p:nvSpPr>
        <p:spPr>
          <a:xfrm>
            <a:off x="1904627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2.1M</a:t>
            </a:r>
          </a:p>
        </p:txBody>
      </p:sp>
      <p:sp>
        <p:nvSpPr>
          <p:cNvPr id="1067" name="TextBox 1066"/>
          <p:cNvSpPr txBox="1"/>
          <p:nvPr/>
        </p:nvSpPr>
        <p:spPr>
          <a:xfrm>
            <a:off x="1904627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6件</a:t>
            </a:r>
          </a:p>
        </p:txBody>
      </p:sp>
      <p:sp>
        <p:nvSpPr>
          <p:cNvPr id="1068" name="Rectangle 1067"/>
          <p:cNvSpPr/>
          <p:nvPr/>
        </p:nvSpPr>
        <p:spPr>
          <a:xfrm>
            <a:off x="2257876" y="1723354"/>
            <a:ext cx="335249" cy="221774"/>
          </a:xfrm>
          <a:prstGeom prst="rect">
            <a:avLst/>
          </a:prstGeom>
          <a:solidFill>
            <a:srgbClr val="E67E22">
              <a:alpha val="547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2251876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4.5M</a:t>
            </a:r>
          </a:p>
        </p:txBody>
      </p:sp>
      <p:sp>
        <p:nvSpPr>
          <p:cNvPr id="1070" name="TextBox 1069"/>
          <p:cNvSpPr txBox="1"/>
          <p:nvPr/>
        </p:nvSpPr>
        <p:spPr>
          <a:xfrm>
            <a:off x="2251876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9件</a:t>
            </a:r>
          </a:p>
        </p:txBody>
      </p:sp>
      <p:sp>
        <p:nvSpPr>
          <p:cNvPr id="1071" name="Rectangle 1070"/>
          <p:cNvSpPr/>
          <p:nvPr/>
        </p:nvSpPr>
        <p:spPr>
          <a:xfrm>
            <a:off x="2605125" y="1723354"/>
            <a:ext cx="335249" cy="221774"/>
          </a:xfrm>
          <a:prstGeom prst="rect">
            <a:avLst/>
          </a:prstGeom>
          <a:solidFill>
            <a:srgbClr val="E67E22">
              <a:alpha val="525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TextBox 1071"/>
          <p:cNvSpPr txBox="1"/>
          <p:nvPr/>
        </p:nvSpPr>
        <p:spPr>
          <a:xfrm>
            <a:off x="2599125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4.1M</a:t>
            </a:r>
          </a:p>
        </p:txBody>
      </p:sp>
      <p:sp>
        <p:nvSpPr>
          <p:cNvPr id="1073" name="TextBox 1072"/>
          <p:cNvSpPr txBox="1"/>
          <p:nvPr/>
        </p:nvSpPr>
        <p:spPr>
          <a:xfrm>
            <a:off x="2599125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15件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2952374" y="1723354"/>
            <a:ext cx="335249" cy="221774"/>
          </a:xfrm>
          <a:prstGeom prst="rect">
            <a:avLst/>
          </a:prstGeom>
          <a:solidFill>
            <a:srgbClr val="E67E22">
              <a:alpha val="532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2946374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4.2M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2946374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15件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3299623" y="1723354"/>
            <a:ext cx="335249" cy="221774"/>
          </a:xfrm>
          <a:prstGeom prst="rect">
            <a:avLst/>
          </a:prstGeom>
          <a:solidFill>
            <a:srgbClr val="E67E22">
              <a:alpha val="522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3293623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4.1M</a:t>
            </a:r>
          </a:p>
        </p:txBody>
      </p:sp>
      <p:sp>
        <p:nvSpPr>
          <p:cNvPr id="1079" name="TextBox 1078"/>
          <p:cNvSpPr txBox="1"/>
          <p:nvPr/>
        </p:nvSpPr>
        <p:spPr>
          <a:xfrm>
            <a:off x="3293623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080" name="Rectangle 1079"/>
          <p:cNvSpPr/>
          <p:nvPr/>
        </p:nvSpPr>
        <p:spPr>
          <a:xfrm>
            <a:off x="3646872" y="1723354"/>
            <a:ext cx="335249" cy="221774"/>
          </a:xfrm>
          <a:prstGeom prst="rect">
            <a:avLst/>
          </a:prstGeom>
          <a:solidFill>
            <a:srgbClr val="E67E22">
              <a:alpha val="496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TextBox 1080"/>
          <p:cNvSpPr txBox="1"/>
          <p:nvPr/>
        </p:nvSpPr>
        <p:spPr>
          <a:xfrm>
            <a:off x="3640872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3.7M</a:t>
            </a:r>
          </a:p>
        </p:txBody>
      </p:sp>
      <p:sp>
        <p:nvSpPr>
          <p:cNvPr id="1082" name="TextBox 1081"/>
          <p:cNvSpPr txBox="1"/>
          <p:nvPr/>
        </p:nvSpPr>
        <p:spPr>
          <a:xfrm>
            <a:off x="3640872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083" name="Rectangle 1082"/>
          <p:cNvSpPr/>
          <p:nvPr/>
        </p:nvSpPr>
        <p:spPr>
          <a:xfrm>
            <a:off x="3994121" y="1723354"/>
            <a:ext cx="335249" cy="221774"/>
          </a:xfrm>
          <a:prstGeom prst="rect">
            <a:avLst/>
          </a:prstGeom>
          <a:solidFill>
            <a:srgbClr val="E67E22">
              <a:alpha val="680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TextBox 1083"/>
          <p:cNvSpPr txBox="1"/>
          <p:nvPr/>
        </p:nvSpPr>
        <p:spPr>
          <a:xfrm>
            <a:off x="3988121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6.4M</a:t>
            </a:r>
          </a:p>
        </p:txBody>
      </p:sp>
      <p:sp>
        <p:nvSpPr>
          <p:cNvPr id="1085" name="TextBox 1084"/>
          <p:cNvSpPr txBox="1"/>
          <p:nvPr/>
        </p:nvSpPr>
        <p:spPr>
          <a:xfrm>
            <a:off x="3988121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11件</a:t>
            </a:r>
          </a:p>
        </p:txBody>
      </p:sp>
      <p:sp>
        <p:nvSpPr>
          <p:cNvPr id="1086" name="Rectangle 1085"/>
          <p:cNvSpPr/>
          <p:nvPr/>
        </p:nvSpPr>
        <p:spPr>
          <a:xfrm>
            <a:off x="4341370" y="1723354"/>
            <a:ext cx="335249" cy="221774"/>
          </a:xfrm>
          <a:prstGeom prst="rect">
            <a:avLst/>
          </a:prstGeom>
          <a:solidFill>
            <a:srgbClr val="E67E22">
              <a:alpha val="705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TextBox 1086"/>
          <p:cNvSpPr txBox="1"/>
          <p:nvPr/>
        </p:nvSpPr>
        <p:spPr>
          <a:xfrm>
            <a:off x="4335370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6.8M</a:t>
            </a:r>
          </a:p>
        </p:txBody>
      </p:sp>
      <p:sp>
        <p:nvSpPr>
          <p:cNvPr id="1088" name="TextBox 1087"/>
          <p:cNvSpPr txBox="1"/>
          <p:nvPr/>
        </p:nvSpPr>
        <p:spPr>
          <a:xfrm>
            <a:off x="4335370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089" name="Rectangle 1088"/>
          <p:cNvSpPr/>
          <p:nvPr/>
        </p:nvSpPr>
        <p:spPr>
          <a:xfrm>
            <a:off x="4688619" y="1723354"/>
            <a:ext cx="335249" cy="221774"/>
          </a:xfrm>
          <a:prstGeom prst="rect">
            <a:avLst/>
          </a:prstGeom>
          <a:solidFill>
            <a:srgbClr val="E67E22">
              <a:alpha val="490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TextBox 1089"/>
          <p:cNvSpPr txBox="1"/>
          <p:nvPr/>
        </p:nvSpPr>
        <p:spPr>
          <a:xfrm>
            <a:off x="4682619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3.6M</a:t>
            </a:r>
          </a:p>
        </p:txBody>
      </p:sp>
      <p:sp>
        <p:nvSpPr>
          <p:cNvPr id="1091" name="TextBox 1090"/>
          <p:cNvSpPr txBox="1"/>
          <p:nvPr/>
        </p:nvSpPr>
        <p:spPr>
          <a:xfrm>
            <a:off x="4682619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14件</a:t>
            </a:r>
          </a:p>
        </p:txBody>
      </p:sp>
      <p:sp>
        <p:nvSpPr>
          <p:cNvPr id="1092" name="Rectangle 1091"/>
          <p:cNvSpPr/>
          <p:nvPr/>
        </p:nvSpPr>
        <p:spPr>
          <a:xfrm>
            <a:off x="5035868" y="1723354"/>
            <a:ext cx="335249" cy="221774"/>
          </a:xfrm>
          <a:prstGeom prst="rect">
            <a:avLst/>
          </a:prstGeom>
          <a:solidFill>
            <a:srgbClr val="E67E22">
              <a:alpha val="4841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TextBox 1092"/>
          <p:cNvSpPr txBox="1"/>
          <p:nvPr/>
        </p:nvSpPr>
        <p:spPr>
          <a:xfrm>
            <a:off x="5029868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3.5M</a:t>
            </a:r>
          </a:p>
        </p:txBody>
      </p:sp>
      <p:sp>
        <p:nvSpPr>
          <p:cNvPr id="1094" name="TextBox 1093"/>
          <p:cNvSpPr txBox="1"/>
          <p:nvPr/>
        </p:nvSpPr>
        <p:spPr>
          <a:xfrm>
            <a:off x="5029868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10件</a:t>
            </a:r>
          </a:p>
        </p:txBody>
      </p:sp>
      <p:sp>
        <p:nvSpPr>
          <p:cNvPr id="1095" name="Rectangle 1094"/>
          <p:cNvSpPr/>
          <p:nvPr/>
        </p:nvSpPr>
        <p:spPr>
          <a:xfrm>
            <a:off x="5383117" y="1723354"/>
            <a:ext cx="335249" cy="221774"/>
          </a:xfrm>
          <a:prstGeom prst="rect">
            <a:avLst/>
          </a:prstGeom>
          <a:solidFill>
            <a:srgbClr val="E67E22">
              <a:alpha val="407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TextBox 1095"/>
          <p:cNvSpPr txBox="1"/>
          <p:nvPr/>
        </p:nvSpPr>
        <p:spPr>
          <a:xfrm>
            <a:off x="5377117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2.4M</a:t>
            </a:r>
          </a:p>
        </p:txBody>
      </p:sp>
      <p:sp>
        <p:nvSpPr>
          <p:cNvPr id="1097" name="TextBox 1096"/>
          <p:cNvSpPr txBox="1"/>
          <p:nvPr/>
        </p:nvSpPr>
        <p:spPr>
          <a:xfrm>
            <a:off x="5377117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8件</a:t>
            </a:r>
          </a:p>
        </p:txBody>
      </p:sp>
      <p:sp>
        <p:nvSpPr>
          <p:cNvPr id="1098" name="Rectangle 1097"/>
          <p:cNvSpPr/>
          <p:nvPr/>
        </p:nvSpPr>
        <p:spPr>
          <a:xfrm>
            <a:off x="5730366" y="1723354"/>
            <a:ext cx="335249" cy="221774"/>
          </a:xfrm>
          <a:prstGeom prst="rect">
            <a:avLst/>
          </a:prstGeom>
          <a:solidFill>
            <a:srgbClr val="E67E22">
              <a:alpha val="4796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TextBox 1098"/>
          <p:cNvSpPr txBox="1"/>
          <p:nvPr/>
        </p:nvSpPr>
        <p:spPr>
          <a:xfrm>
            <a:off x="5724366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3.4M</a:t>
            </a:r>
          </a:p>
        </p:txBody>
      </p:sp>
      <p:sp>
        <p:nvSpPr>
          <p:cNvPr id="1100" name="TextBox 1099"/>
          <p:cNvSpPr txBox="1"/>
          <p:nvPr/>
        </p:nvSpPr>
        <p:spPr>
          <a:xfrm>
            <a:off x="5724366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11件</a:t>
            </a:r>
          </a:p>
        </p:txBody>
      </p:sp>
      <p:sp>
        <p:nvSpPr>
          <p:cNvPr id="1101" name="TextBox 1100"/>
          <p:cNvSpPr txBox="1"/>
          <p:nvPr/>
        </p:nvSpPr>
        <p:spPr>
          <a:xfrm>
            <a:off x="202880" y="1951128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永明经代</a:t>
            </a:r>
          </a:p>
        </p:txBody>
      </p:sp>
      <p:sp>
        <p:nvSpPr>
          <p:cNvPr id="1102" name="Rectangle 1101"/>
          <p:cNvSpPr/>
          <p:nvPr/>
        </p:nvSpPr>
        <p:spPr>
          <a:xfrm>
            <a:off x="868880" y="1957128"/>
            <a:ext cx="335249" cy="221774"/>
          </a:xfrm>
          <a:prstGeom prst="rect">
            <a:avLst/>
          </a:prstGeom>
          <a:solidFill>
            <a:srgbClr val="1A7A3F">
              <a:alpha val="736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TextBox 1102"/>
          <p:cNvSpPr txBox="1"/>
          <p:nvPr/>
        </p:nvSpPr>
        <p:spPr>
          <a:xfrm>
            <a:off x="862880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4.9M</a:t>
            </a:r>
          </a:p>
        </p:txBody>
      </p:sp>
      <p:sp>
        <p:nvSpPr>
          <p:cNvPr id="1104" name="TextBox 1103"/>
          <p:cNvSpPr txBox="1"/>
          <p:nvPr/>
        </p:nvSpPr>
        <p:spPr>
          <a:xfrm>
            <a:off x="862880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105" name="Rectangle 1104"/>
          <p:cNvSpPr/>
          <p:nvPr/>
        </p:nvSpPr>
        <p:spPr>
          <a:xfrm>
            <a:off x="1216129" y="1957128"/>
            <a:ext cx="335249" cy="221774"/>
          </a:xfrm>
          <a:prstGeom prst="rect">
            <a:avLst/>
          </a:prstGeom>
          <a:solidFill>
            <a:srgbClr val="1A7A3F">
              <a:alpha val="5971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TextBox 1105"/>
          <p:cNvSpPr txBox="1"/>
          <p:nvPr/>
        </p:nvSpPr>
        <p:spPr>
          <a:xfrm>
            <a:off x="1210129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3.5M</a:t>
            </a:r>
          </a:p>
        </p:txBody>
      </p:sp>
      <p:sp>
        <p:nvSpPr>
          <p:cNvPr id="1107" name="TextBox 1106"/>
          <p:cNvSpPr txBox="1"/>
          <p:nvPr/>
        </p:nvSpPr>
        <p:spPr>
          <a:xfrm>
            <a:off x="1210129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108" name="Rectangle 1107"/>
          <p:cNvSpPr/>
          <p:nvPr/>
        </p:nvSpPr>
        <p:spPr>
          <a:xfrm>
            <a:off x="1563378" y="1957128"/>
            <a:ext cx="335249" cy="221774"/>
          </a:xfrm>
          <a:prstGeom prst="rect">
            <a:avLst/>
          </a:prstGeom>
          <a:solidFill>
            <a:srgbClr val="1A7A3F">
              <a:alpha val="803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TextBox 1108"/>
          <p:cNvSpPr txBox="1"/>
          <p:nvPr/>
        </p:nvSpPr>
        <p:spPr>
          <a:xfrm>
            <a:off x="1557378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5.6M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1557378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111" name="Rectangle 1110"/>
          <p:cNvSpPr/>
          <p:nvPr/>
        </p:nvSpPr>
        <p:spPr>
          <a:xfrm>
            <a:off x="1910627" y="1957128"/>
            <a:ext cx="335249" cy="221774"/>
          </a:xfrm>
          <a:prstGeom prst="rect">
            <a:avLst/>
          </a:prstGeom>
          <a:solidFill>
            <a:srgbClr val="1A7A3F">
              <a:alpha val="39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1904627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1.5M</a:t>
            </a:r>
          </a:p>
        </p:txBody>
      </p:sp>
      <p:sp>
        <p:nvSpPr>
          <p:cNvPr id="1113" name="TextBox 1112"/>
          <p:cNvSpPr txBox="1"/>
          <p:nvPr/>
        </p:nvSpPr>
        <p:spPr>
          <a:xfrm>
            <a:off x="1904627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5件</a:t>
            </a:r>
          </a:p>
        </p:txBody>
      </p:sp>
      <p:sp>
        <p:nvSpPr>
          <p:cNvPr id="1114" name="Rectangle 1113"/>
          <p:cNvSpPr/>
          <p:nvPr/>
        </p:nvSpPr>
        <p:spPr>
          <a:xfrm>
            <a:off x="2257876" y="1957128"/>
            <a:ext cx="335249" cy="221774"/>
          </a:xfrm>
          <a:prstGeom prst="rect">
            <a:avLst/>
          </a:prstGeom>
          <a:solidFill>
            <a:srgbClr val="1A7A3F">
              <a:alpha val="72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TextBox 1114"/>
          <p:cNvSpPr txBox="1"/>
          <p:nvPr/>
        </p:nvSpPr>
        <p:spPr>
          <a:xfrm>
            <a:off x="2251876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4.8M</a:t>
            </a:r>
          </a:p>
        </p:txBody>
      </p:sp>
      <p:sp>
        <p:nvSpPr>
          <p:cNvPr id="1116" name="TextBox 1115"/>
          <p:cNvSpPr txBox="1"/>
          <p:nvPr/>
        </p:nvSpPr>
        <p:spPr>
          <a:xfrm>
            <a:off x="2251876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117" name="Rectangle 1116"/>
          <p:cNvSpPr/>
          <p:nvPr/>
        </p:nvSpPr>
        <p:spPr>
          <a:xfrm>
            <a:off x="2605125" y="1957128"/>
            <a:ext cx="335249" cy="221774"/>
          </a:xfrm>
          <a:prstGeom prst="rect">
            <a:avLst/>
          </a:prstGeom>
          <a:solidFill>
            <a:srgbClr val="1A7A3F">
              <a:alpha val="732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TextBox 1117"/>
          <p:cNvSpPr txBox="1"/>
          <p:nvPr/>
        </p:nvSpPr>
        <p:spPr>
          <a:xfrm>
            <a:off x="2599125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4.9M</a:t>
            </a:r>
          </a:p>
        </p:txBody>
      </p:sp>
      <p:sp>
        <p:nvSpPr>
          <p:cNvPr id="1119" name="TextBox 1118"/>
          <p:cNvSpPr txBox="1"/>
          <p:nvPr/>
        </p:nvSpPr>
        <p:spPr>
          <a:xfrm>
            <a:off x="2599125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120" name="Rectangle 1119"/>
          <p:cNvSpPr/>
          <p:nvPr/>
        </p:nvSpPr>
        <p:spPr>
          <a:xfrm>
            <a:off x="2952374" y="1957128"/>
            <a:ext cx="335249" cy="221774"/>
          </a:xfrm>
          <a:prstGeom prst="rect">
            <a:avLst/>
          </a:prstGeom>
          <a:solidFill>
            <a:srgbClr val="1A7A3F">
              <a:alpha val="83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TextBox 1120"/>
          <p:cNvSpPr txBox="1"/>
          <p:nvPr/>
        </p:nvSpPr>
        <p:spPr>
          <a:xfrm>
            <a:off x="2946374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5.9M</a:t>
            </a:r>
          </a:p>
        </p:txBody>
      </p:sp>
      <p:sp>
        <p:nvSpPr>
          <p:cNvPr id="1122" name="TextBox 1121"/>
          <p:cNvSpPr txBox="1"/>
          <p:nvPr/>
        </p:nvSpPr>
        <p:spPr>
          <a:xfrm>
            <a:off x="2946374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123" name="Rectangle 1122"/>
          <p:cNvSpPr/>
          <p:nvPr/>
        </p:nvSpPr>
        <p:spPr>
          <a:xfrm>
            <a:off x="3299623" y="1957128"/>
            <a:ext cx="335249" cy="221774"/>
          </a:xfrm>
          <a:prstGeom prst="rect">
            <a:avLst/>
          </a:prstGeom>
          <a:solidFill>
            <a:srgbClr val="1A7A3F">
              <a:alpha val="660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TextBox 1123"/>
          <p:cNvSpPr txBox="1"/>
          <p:nvPr/>
        </p:nvSpPr>
        <p:spPr>
          <a:xfrm>
            <a:off x="3293623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4.1M</a:t>
            </a:r>
          </a:p>
        </p:txBody>
      </p:sp>
      <p:sp>
        <p:nvSpPr>
          <p:cNvPr id="1125" name="TextBox 1124"/>
          <p:cNvSpPr txBox="1"/>
          <p:nvPr/>
        </p:nvSpPr>
        <p:spPr>
          <a:xfrm>
            <a:off x="3293623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11件</a:t>
            </a:r>
          </a:p>
        </p:txBody>
      </p:sp>
      <p:sp>
        <p:nvSpPr>
          <p:cNvPr id="1126" name="Rectangle 1125"/>
          <p:cNvSpPr/>
          <p:nvPr/>
        </p:nvSpPr>
        <p:spPr>
          <a:xfrm>
            <a:off x="3646872" y="1957128"/>
            <a:ext cx="335249" cy="221774"/>
          </a:xfrm>
          <a:prstGeom prst="rect">
            <a:avLst/>
          </a:prstGeom>
          <a:solidFill>
            <a:srgbClr val="1A7A3F">
              <a:alpha val="551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TextBox 1126"/>
          <p:cNvSpPr txBox="1"/>
          <p:nvPr/>
        </p:nvSpPr>
        <p:spPr>
          <a:xfrm>
            <a:off x="3640872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3.0M</a:t>
            </a:r>
          </a:p>
        </p:txBody>
      </p:sp>
      <p:sp>
        <p:nvSpPr>
          <p:cNvPr id="1128" name="TextBox 1127"/>
          <p:cNvSpPr txBox="1"/>
          <p:nvPr/>
        </p:nvSpPr>
        <p:spPr>
          <a:xfrm>
            <a:off x="3640872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129" name="Rectangle 1128"/>
          <p:cNvSpPr/>
          <p:nvPr/>
        </p:nvSpPr>
        <p:spPr>
          <a:xfrm>
            <a:off x="3994121" y="1957128"/>
            <a:ext cx="335249" cy="221774"/>
          </a:xfrm>
          <a:prstGeom prst="rect">
            <a:avLst/>
          </a:prstGeom>
          <a:solidFill>
            <a:srgbClr val="1A7A3F">
              <a:alpha val="756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TextBox 1129"/>
          <p:cNvSpPr txBox="1"/>
          <p:nvPr/>
        </p:nvSpPr>
        <p:spPr>
          <a:xfrm>
            <a:off x="3988121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5.1M</a:t>
            </a:r>
          </a:p>
        </p:txBody>
      </p:sp>
      <p:sp>
        <p:nvSpPr>
          <p:cNvPr id="1131" name="TextBox 1130"/>
          <p:cNvSpPr txBox="1"/>
          <p:nvPr/>
        </p:nvSpPr>
        <p:spPr>
          <a:xfrm>
            <a:off x="3988121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15件</a:t>
            </a:r>
          </a:p>
        </p:txBody>
      </p:sp>
      <p:sp>
        <p:nvSpPr>
          <p:cNvPr id="1132" name="Rectangle 1131"/>
          <p:cNvSpPr/>
          <p:nvPr/>
        </p:nvSpPr>
        <p:spPr>
          <a:xfrm>
            <a:off x="4341370" y="1957128"/>
            <a:ext cx="335249" cy="221774"/>
          </a:xfrm>
          <a:prstGeom prst="rect">
            <a:avLst/>
          </a:prstGeom>
          <a:solidFill>
            <a:srgbClr val="1A7A3F">
              <a:alpha val="836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TextBox 1132"/>
          <p:cNvSpPr txBox="1"/>
          <p:nvPr/>
        </p:nvSpPr>
        <p:spPr>
          <a:xfrm>
            <a:off x="4335370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5.9M</a:t>
            </a:r>
          </a:p>
        </p:txBody>
      </p:sp>
      <p:sp>
        <p:nvSpPr>
          <p:cNvPr id="1134" name="TextBox 1133"/>
          <p:cNvSpPr txBox="1"/>
          <p:nvPr/>
        </p:nvSpPr>
        <p:spPr>
          <a:xfrm>
            <a:off x="4335370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19件</a:t>
            </a:r>
          </a:p>
        </p:txBody>
      </p:sp>
      <p:sp>
        <p:nvSpPr>
          <p:cNvPr id="1135" name="Rectangle 1134"/>
          <p:cNvSpPr/>
          <p:nvPr/>
        </p:nvSpPr>
        <p:spPr>
          <a:xfrm>
            <a:off x="4688619" y="1957128"/>
            <a:ext cx="335249" cy="221774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TextBox 1135"/>
          <p:cNvSpPr txBox="1"/>
          <p:nvPr/>
        </p:nvSpPr>
        <p:spPr>
          <a:xfrm>
            <a:off x="4682619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7.6M</a:t>
            </a:r>
          </a:p>
        </p:txBody>
      </p:sp>
      <p:sp>
        <p:nvSpPr>
          <p:cNvPr id="1137" name="TextBox 1136"/>
          <p:cNvSpPr txBox="1"/>
          <p:nvPr/>
        </p:nvSpPr>
        <p:spPr>
          <a:xfrm>
            <a:off x="4682619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23件</a:t>
            </a:r>
          </a:p>
        </p:txBody>
      </p:sp>
      <p:sp>
        <p:nvSpPr>
          <p:cNvPr id="1138" name="Rectangle 1137"/>
          <p:cNvSpPr/>
          <p:nvPr/>
        </p:nvSpPr>
        <p:spPr>
          <a:xfrm>
            <a:off x="5035868" y="1957128"/>
            <a:ext cx="335249" cy="221774"/>
          </a:xfrm>
          <a:prstGeom prst="rect">
            <a:avLst/>
          </a:prstGeom>
          <a:solidFill>
            <a:srgbClr val="1A7A3F">
              <a:alpha val="510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TextBox 1138"/>
          <p:cNvSpPr txBox="1"/>
          <p:nvPr/>
        </p:nvSpPr>
        <p:spPr>
          <a:xfrm>
            <a:off x="5029868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2.6M</a:t>
            </a:r>
          </a:p>
        </p:txBody>
      </p:sp>
      <p:sp>
        <p:nvSpPr>
          <p:cNvPr id="1140" name="TextBox 1139"/>
          <p:cNvSpPr txBox="1"/>
          <p:nvPr/>
        </p:nvSpPr>
        <p:spPr>
          <a:xfrm>
            <a:off x="5029868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141" name="Rectangle 1140"/>
          <p:cNvSpPr/>
          <p:nvPr/>
        </p:nvSpPr>
        <p:spPr>
          <a:xfrm>
            <a:off x="5383117" y="1957128"/>
            <a:ext cx="335249" cy="221774"/>
          </a:xfrm>
          <a:prstGeom prst="rect">
            <a:avLst/>
          </a:prstGeom>
          <a:solidFill>
            <a:srgbClr val="1A7A3F">
              <a:alpha val="550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TextBox 1141"/>
          <p:cNvSpPr txBox="1"/>
          <p:nvPr/>
        </p:nvSpPr>
        <p:spPr>
          <a:xfrm>
            <a:off x="5377117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3.0M</a:t>
            </a:r>
          </a:p>
        </p:txBody>
      </p:sp>
      <p:sp>
        <p:nvSpPr>
          <p:cNvPr id="1143" name="TextBox 1142"/>
          <p:cNvSpPr txBox="1"/>
          <p:nvPr/>
        </p:nvSpPr>
        <p:spPr>
          <a:xfrm>
            <a:off x="5377117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144" name="Rectangle 1143"/>
          <p:cNvSpPr/>
          <p:nvPr/>
        </p:nvSpPr>
        <p:spPr>
          <a:xfrm>
            <a:off x="5730366" y="1957128"/>
            <a:ext cx="335249" cy="221774"/>
          </a:xfrm>
          <a:prstGeom prst="rect">
            <a:avLst/>
          </a:prstGeom>
          <a:solidFill>
            <a:srgbClr val="1A7A3F">
              <a:alpha val="720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TextBox 1144"/>
          <p:cNvSpPr txBox="1"/>
          <p:nvPr/>
        </p:nvSpPr>
        <p:spPr>
          <a:xfrm>
            <a:off x="5724366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4.7M</a:t>
            </a:r>
          </a:p>
        </p:txBody>
      </p:sp>
      <p:sp>
        <p:nvSpPr>
          <p:cNvPr id="1146" name="TextBox 1145"/>
          <p:cNvSpPr txBox="1"/>
          <p:nvPr/>
        </p:nvSpPr>
        <p:spPr>
          <a:xfrm>
            <a:off x="5724366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147" name="TextBox 1146"/>
          <p:cNvSpPr txBox="1"/>
          <p:nvPr/>
        </p:nvSpPr>
        <p:spPr>
          <a:xfrm>
            <a:off x="202880" y="2184902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合伙转介</a:t>
            </a:r>
          </a:p>
        </p:txBody>
      </p:sp>
      <p:sp>
        <p:nvSpPr>
          <p:cNvPr id="1148" name="Rectangle 1147"/>
          <p:cNvSpPr/>
          <p:nvPr/>
        </p:nvSpPr>
        <p:spPr>
          <a:xfrm>
            <a:off x="868880" y="2190902"/>
            <a:ext cx="335249" cy="221774"/>
          </a:xfrm>
          <a:prstGeom prst="rect">
            <a:avLst/>
          </a:prstGeom>
          <a:solidFill>
            <a:srgbClr val="94A3B8">
              <a:alpha val="255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TextBox 1148"/>
          <p:cNvSpPr txBox="1"/>
          <p:nvPr/>
        </p:nvSpPr>
        <p:spPr>
          <a:xfrm>
            <a:off x="862880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150" name="TextBox 1149"/>
          <p:cNvSpPr txBox="1"/>
          <p:nvPr/>
        </p:nvSpPr>
        <p:spPr>
          <a:xfrm>
            <a:off x="862880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2件</a:t>
            </a:r>
          </a:p>
        </p:txBody>
      </p:sp>
      <p:sp>
        <p:nvSpPr>
          <p:cNvPr id="1151" name="Rectangle 1150"/>
          <p:cNvSpPr/>
          <p:nvPr/>
        </p:nvSpPr>
        <p:spPr>
          <a:xfrm>
            <a:off x="1910627" y="2190902"/>
            <a:ext cx="335249" cy="221774"/>
          </a:xfrm>
          <a:prstGeom prst="rect">
            <a:avLst/>
          </a:prstGeom>
          <a:solidFill>
            <a:srgbClr val="94A3B8">
              <a:alpha val="323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TextBox 1151"/>
          <p:cNvSpPr txBox="1"/>
          <p:nvPr/>
        </p:nvSpPr>
        <p:spPr>
          <a:xfrm>
            <a:off x="1904627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0.4M</a:t>
            </a:r>
          </a:p>
        </p:txBody>
      </p:sp>
      <p:sp>
        <p:nvSpPr>
          <p:cNvPr id="1153" name="TextBox 1152"/>
          <p:cNvSpPr txBox="1"/>
          <p:nvPr/>
        </p:nvSpPr>
        <p:spPr>
          <a:xfrm>
            <a:off x="1904627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154" name="Rectangle 1153"/>
          <p:cNvSpPr/>
          <p:nvPr/>
        </p:nvSpPr>
        <p:spPr>
          <a:xfrm>
            <a:off x="2605125" y="2190902"/>
            <a:ext cx="335249" cy="221774"/>
          </a:xfrm>
          <a:prstGeom prst="rect">
            <a:avLst/>
          </a:prstGeom>
          <a:solidFill>
            <a:srgbClr val="94A3B8">
              <a:alpha val="258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TextBox 1154"/>
          <p:cNvSpPr txBox="1"/>
          <p:nvPr/>
        </p:nvSpPr>
        <p:spPr>
          <a:xfrm>
            <a:off x="2599125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156" name="TextBox 1155"/>
          <p:cNvSpPr txBox="1"/>
          <p:nvPr/>
        </p:nvSpPr>
        <p:spPr>
          <a:xfrm>
            <a:off x="2599125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2件</a:t>
            </a:r>
          </a:p>
        </p:txBody>
      </p:sp>
      <p:sp>
        <p:nvSpPr>
          <p:cNvPr id="1157" name="Rectangle 1156"/>
          <p:cNvSpPr/>
          <p:nvPr/>
        </p:nvSpPr>
        <p:spPr>
          <a:xfrm>
            <a:off x="3994121" y="2190902"/>
            <a:ext cx="335249" cy="221774"/>
          </a:xfrm>
          <a:prstGeom prst="rect">
            <a:avLst/>
          </a:prstGeom>
          <a:solidFill>
            <a:srgbClr val="94A3B8">
              <a:alpha val="264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TextBox 1157"/>
          <p:cNvSpPr txBox="1"/>
          <p:nvPr/>
        </p:nvSpPr>
        <p:spPr>
          <a:xfrm>
            <a:off x="3988121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159" name="TextBox 1158"/>
          <p:cNvSpPr txBox="1"/>
          <p:nvPr/>
        </p:nvSpPr>
        <p:spPr>
          <a:xfrm>
            <a:off x="3988121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160" name="Rectangle 1159"/>
          <p:cNvSpPr/>
          <p:nvPr/>
        </p:nvSpPr>
        <p:spPr>
          <a:xfrm>
            <a:off x="4688619" y="2190902"/>
            <a:ext cx="335249" cy="221774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TextBox 1160"/>
          <p:cNvSpPr txBox="1"/>
          <p:nvPr/>
        </p:nvSpPr>
        <p:spPr>
          <a:xfrm>
            <a:off x="4682619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162" name="TextBox 1161"/>
          <p:cNvSpPr txBox="1"/>
          <p:nvPr/>
        </p:nvSpPr>
        <p:spPr>
          <a:xfrm>
            <a:off x="4682619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163" name="Rectangle 1162"/>
          <p:cNvSpPr/>
          <p:nvPr/>
        </p:nvSpPr>
        <p:spPr>
          <a:xfrm>
            <a:off x="5383117" y="2190902"/>
            <a:ext cx="335249" cy="221774"/>
          </a:xfrm>
          <a:prstGeom prst="rect">
            <a:avLst/>
          </a:prstGeom>
          <a:solidFill>
            <a:srgbClr val="94A3B8">
              <a:alpha val="297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TextBox 1163"/>
          <p:cNvSpPr txBox="1"/>
          <p:nvPr/>
        </p:nvSpPr>
        <p:spPr>
          <a:xfrm>
            <a:off x="5377117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0.3M</a:t>
            </a:r>
          </a:p>
        </p:txBody>
      </p:sp>
      <p:sp>
        <p:nvSpPr>
          <p:cNvPr id="1165" name="TextBox 1164"/>
          <p:cNvSpPr txBox="1"/>
          <p:nvPr/>
        </p:nvSpPr>
        <p:spPr>
          <a:xfrm>
            <a:off x="5377117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1166" name="TextBox 1165"/>
          <p:cNvSpPr txBox="1"/>
          <p:nvPr/>
        </p:nvSpPr>
        <p:spPr>
          <a:xfrm>
            <a:off x="202880" y="2418676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ICLUB业务</a:t>
            </a:r>
          </a:p>
        </p:txBody>
      </p:sp>
      <p:sp>
        <p:nvSpPr>
          <p:cNvPr id="1167" name="Rectangle 1166"/>
          <p:cNvSpPr/>
          <p:nvPr/>
        </p:nvSpPr>
        <p:spPr>
          <a:xfrm>
            <a:off x="1910627" y="2424676"/>
            <a:ext cx="335249" cy="221774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TextBox 1167"/>
          <p:cNvSpPr txBox="1"/>
          <p:nvPr/>
        </p:nvSpPr>
        <p:spPr>
          <a:xfrm>
            <a:off x="1904627" y="242667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169" name="TextBox 1168"/>
          <p:cNvSpPr txBox="1"/>
          <p:nvPr/>
        </p:nvSpPr>
        <p:spPr>
          <a:xfrm>
            <a:off x="1904627" y="252745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170" name="Rectangle 1169"/>
          <p:cNvSpPr/>
          <p:nvPr/>
        </p:nvSpPr>
        <p:spPr>
          <a:xfrm>
            <a:off x="2605125" y="2424676"/>
            <a:ext cx="335249" cy="221774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TextBox 1170"/>
          <p:cNvSpPr txBox="1"/>
          <p:nvPr/>
        </p:nvSpPr>
        <p:spPr>
          <a:xfrm>
            <a:off x="2599125" y="242667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1172" name="TextBox 1171"/>
          <p:cNvSpPr txBox="1"/>
          <p:nvPr/>
        </p:nvSpPr>
        <p:spPr>
          <a:xfrm>
            <a:off x="2599125" y="252745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1173" name="TextBox 1172"/>
          <p:cNvSpPr txBox="1"/>
          <p:nvPr/>
        </p:nvSpPr>
        <p:spPr>
          <a:xfrm>
            <a:off x="202880" y="2652450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MGA业务</a:t>
            </a:r>
          </a:p>
        </p:txBody>
      </p:sp>
      <p:sp>
        <p:nvSpPr>
          <p:cNvPr id="1174" name="Rectangle 1173"/>
          <p:cNvSpPr/>
          <p:nvPr/>
        </p:nvSpPr>
        <p:spPr>
          <a:xfrm>
            <a:off x="868880" y="2658450"/>
            <a:ext cx="335249" cy="221774"/>
          </a:xfrm>
          <a:prstGeom prst="rect">
            <a:avLst/>
          </a:prstGeom>
          <a:solidFill>
            <a:srgbClr val="C0392B">
              <a:alpha val="297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TextBox 1174"/>
          <p:cNvSpPr txBox="1"/>
          <p:nvPr/>
        </p:nvSpPr>
        <p:spPr>
          <a:xfrm>
            <a:off x="862880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0.5M</a:t>
            </a:r>
          </a:p>
        </p:txBody>
      </p:sp>
      <p:sp>
        <p:nvSpPr>
          <p:cNvPr id="1176" name="TextBox 1175"/>
          <p:cNvSpPr txBox="1"/>
          <p:nvPr/>
        </p:nvSpPr>
        <p:spPr>
          <a:xfrm>
            <a:off x="862880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5件</a:t>
            </a:r>
          </a:p>
        </p:txBody>
      </p:sp>
      <p:sp>
        <p:nvSpPr>
          <p:cNvPr id="1177" name="Rectangle 1176"/>
          <p:cNvSpPr/>
          <p:nvPr/>
        </p:nvSpPr>
        <p:spPr>
          <a:xfrm>
            <a:off x="1216129" y="2658450"/>
            <a:ext cx="335249" cy="221774"/>
          </a:xfrm>
          <a:prstGeom prst="rect">
            <a:avLst/>
          </a:prstGeom>
          <a:solidFill>
            <a:srgbClr val="C0392B">
              <a:alpha val="5131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TextBox 1177"/>
          <p:cNvSpPr txBox="1"/>
          <p:nvPr/>
        </p:nvSpPr>
        <p:spPr>
          <a:xfrm>
            <a:off x="1210129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3.0M</a:t>
            </a:r>
          </a:p>
        </p:txBody>
      </p:sp>
      <p:sp>
        <p:nvSpPr>
          <p:cNvPr id="1179" name="TextBox 1178"/>
          <p:cNvSpPr txBox="1"/>
          <p:nvPr/>
        </p:nvSpPr>
        <p:spPr>
          <a:xfrm>
            <a:off x="1210129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7件</a:t>
            </a:r>
          </a:p>
        </p:txBody>
      </p:sp>
      <p:sp>
        <p:nvSpPr>
          <p:cNvPr id="1180" name="Rectangle 1179"/>
          <p:cNvSpPr/>
          <p:nvPr/>
        </p:nvSpPr>
        <p:spPr>
          <a:xfrm>
            <a:off x="1563378" y="2658450"/>
            <a:ext cx="335249" cy="221774"/>
          </a:xfrm>
          <a:prstGeom prst="rect">
            <a:avLst/>
          </a:prstGeom>
          <a:solidFill>
            <a:srgbClr val="C0392B">
              <a:alpha val="5182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TextBox 1180"/>
          <p:cNvSpPr txBox="1"/>
          <p:nvPr/>
        </p:nvSpPr>
        <p:spPr>
          <a:xfrm>
            <a:off x="1557378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3.1M</a:t>
            </a:r>
          </a:p>
        </p:txBody>
      </p:sp>
      <p:sp>
        <p:nvSpPr>
          <p:cNvPr id="1182" name="TextBox 1181"/>
          <p:cNvSpPr txBox="1"/>
          <p:nvPr/>
        </p:nvSpPr>
        <p:spPr>
          <a:xfrm>
            <a:off x="1557378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6件</a:t>
            </a:r>
          </a:p>
        </p:txBody>
      </p:sp>
      <p:sp>
        <p:nvSpPr>
          <p:cNvPr id="1183" name="Rectangle 1182"/>
          <p:cNvSpPr/>
          <p:nvPr/>
        </p:nvSpPr>
        <p:spPr>
          <a:xfrm>
            <a:off x="1910627" y="2658450"/>
            <a:ext cx="335249" cy="221774"/>
          </a:xfrm>
          <a:prstGeom prst="rect">
            <a:avLst/>
          </a:prstGeom>
          <a:solidFill>
            <a:srgbClr val="C0392B">
              <a:alpha val="2596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TextBox 1183"/>
          <p:cNvSpPr txBox="1"/>
          <p:nvPr/>
        </p:nvSpPr>
        <p:spPr>
          <a:xfrm>
            <a:off x="1904627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0.1M</a:t>
            </a:r>
          </a:p>
        </p:txBody>
      </p:sp>
      <p:sp>
        <p:nvSpPr>
          <p:cNvPr id="1185" name="TextBox 1184"/>
          <p:cNvSpPr txBox="1"/>
          <p:nvPr/>
        </p:nvSpPr>
        <p:spPr>
          <a:xfrm>
            <a:off x="1904627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3件</a:t>
            </a:r>
          </a:p>
        </p:txBody>
      </p:sp>
      <p:sp>
        <p:nvSpPr>
          <p:cNvPr id="1186" name="Rectangle 1185"/>
          <p:cNvSpPr/>
          <p:nvPr/>
        </p:nvSpPr>
        <p:spPr>
          <a:xfrm>
            <a:off x="2257876" y="2658450"/>
            <a:ext cx="335249" cy="221774"/>
          </a:xfrm>
          <a:prstGeom prst="rect">
            <a:avLst/>
          </a:prstGeom>
          <a:solidFill>
            <a:srgbClr val="C0392B">
              <a:alpha val="3081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2251876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0.7M</a:t>
            </a:r>
          </a:p>
        </p:txBody>
      </p:sp>
      <p:sp>
        <p:nvSpPr>
          <p:cNvPr id="1188" name="TextBox 1187"/>
          <p:cNvSpPr txBox="1"/>
          <p:nvPr/>
        </p:nvSpPr>
        <p:spPr>
          <a:xfrm>
            <a:off x="2251876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4件</a:t>
            </a:r>
          </a:p>
        </p:txBody>
      </p:sp>
      <p:sp>
        <p:nvSpPr>
          <p:cNvPr id="1189" name="Rectangle 1188"/>
          <p:cNvSpPr/>
          <p:nvPr/>
        </p:nvSpPr>
        <p:spPr>
          <a:xfrm>
            <a:off x="2605125" y="2658450"/>
            <a:ext cx="335249" cy="221774"/>
          </a:xfrm>
          <a:prstGeom prst="rect">
            <a:avLst/>
          </a:prstGeom>
          <a:solidFill>
            <a:srgbClr val="C0392B">
              <a:alpha val="497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TextBox 1189"/>
          <p:cNvSpPr txBox="1"/>
          <p:nvPr/>
        </p:nvSpPr>
        <p:spPr>
          <a:xfrm>
            <a:off x="2599125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2.8M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2599125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11件</a:t>
            </a:r>
          </a:p>
        </p:txBody>
      </p:sp>
      <p:sp>
        <p:nvSpPr>
          <p:cNvPr id="1192" name="Rectangle 1191"/>
          <p:cNvSpPr/>
          <p:nvPr/>
        </p:nvSpPr>
        <p:spPr>
          <a:xfrm>
            <a:off x="2952374" y="2658450"/>
            <a:ext cx="335249" cy="221774"/>
          </a:xfrm>
          <a:prstGeom prst="rect">
            <a:avLst/>
          </a:prstGeom>
          <a:solidFill>
            <a:srgbClr val="C0392B">
              <a:alpha val="344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TextBox 1192"/>
          <p:cNvSpPr txBox="1"/>
          <p:nvPr/>
        </p:nvSpPr>
        <p:spPr>
          <a:xfrm>
            <a:off x="2946374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1.1M</a:t>
            </a:r>
          </a:p>
        </p:txBody>
      </p:sp>
      <p:sp>
        <p:nvSpPr>
          <p:cNvPr id="1194" name="TextBox 1193"/>
          <p:cNvSpPr txBox="1"/>
          <p:nvPr/>
        </p:nvSpPr>
        <p:spPr>
          <a:xfrm>
            <a:off x="2946374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6件</a:t>
            </a:r>
          </a:p>
        </p:txBody>
      </p:sp>
      <p:sp>
        <p:nvSpPr>
          <p:cNvPr id="1195" name="Rectangle 1194"/>
          <p:cNvSpPr/>
          <p:nvPr/>
        </p:nvSpPr>
        <p:spPr>
          <a:xfrm>
            <a:off x="3299623" y="2658450"/>
            <a:ext cx="335249" cy="221774"/>
          </a:xfrm>
          <a:prstGeom prst="rect">
            <a:avLst/>
          </a:prstGeom>
          <a:solidFill>
            <a:srgbClr val="C0392B">
              <a:alpha val="832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TextBox 1195"/>
          <p:cNvSpPr txBox="1"/>
          <p:nvPr/>
        </p:nvSpPr>
        <p:spPr>
          <a:xfrm>
            <a:off x="3293623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6.6M</a:t>
            </a:r>
          </a:p>
        </p:txBody>
      </p:sp>
      <p:sp>
        <p:nvSpPr>
          <p:cNvPr id="1197" name="TextBox 1196"/>
          <p:cNvSpPr txBox="1"/>
          <p:nvPr/>
        </p:nvSpPr>
        <p:spPr>
          <a:xfrm>
            <a:off x="3293623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198" name="Rectangle 1197"/>
          <p:cNvSpPr/>
          <p:nvPr/>
        </p:nvSpPr>
        <p:spPr>
          <a:xfrm>
            <a:off x="3646872" y="2658450"/>
            <a:ext cx="335249" cy="221774"/>
          </a:xfrm>
          <a:prstGeom prst="rect">
            <a:avLst/>
          </a:prstGeom>
          <a:solidFill>
            <a:srgbClr val="C0392B">
              <a:alpha val="363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TextBox 1198"/>
          <p:cNvSpPr txBox="1"/>
          <p:nvPr/>
        </p:nvSpPr>
        <p:spPr>
          <a:xfrm>
            <a:off x="3640872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1.3M</a:t>
            </a:r>
          </a:p>
        </p:txBody>
      </p:sp>
      <p:sp>
        <p:nvSpPr>
          <p:cNvPr id="1200" name="TextBox 1199"/>
          <p:cNvSpPr txBox="1"/>
          <p:nvPr/>
        </p:nvSpPr>
        <p:spPr>
          <a:xfrm>
            <a:off x="3640872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6件</a:t>
            </a:r>
          </a:p>
        </p:txBody>
      </p:sp>
      <p:sp>
        <p:nvSpPr>
          <p:cNvPr id="1201" name="Rectangle 1200"/>
          <p:cNvSpPr/>
          <p:nvPr/>
        </p:nvSpPr>
        <p:spPr>
          <a:xfrm>
            <a:off x="3994121" y="2658450"/>
            <a:ext cx="335249" cy="221774"/>
          </a:xfrm>
          <a:prstGeom prst="rect">
            <a:avLst/>
          </a:prstGeom>
          <a:solidFill>
            <a:srgbClr val="C0392B">
              <a:alpha val="5504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TextBox 1201"/>
          <p:cNvSpPr txBox="1"/>
          <p:nvPr/>
        </p:nvSpPr>
        <p:spPr>
          <a:xfrm>
            <a:off x="3988121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3.4M</a:t>
            </a:r>
          </a:p>
        </p:txBody>
      </p:sp>
      <p:sp>
        <p:nvSpPr>
          <p:cNvPr id="1203" name="TextBox 1202"/>
          <p:cNvSpPr txBox="1"/>
          <p:nvPr/>
        </p:nvSpPr>
        <p:spPr>
          <a:xfrm>
            <a:off x="3988121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11件</a:t>
            </a:r>
          </a:p>
        </p:txBody>
      </p:sp>
      <p:sp>
        <p:nvSpPr>
          <p:cNvPr id="1204" name="Rectangle 1203"/>
          <p:cNvSpPr/>
          <p:nvPr/>
        </p:nvSpPr>
        <p:spPr>
          <a:xfrm>
            <a:off x="4341370" y="2658450"/>
            <a:ext cx="335249" cy="221774"/>
          </a:xfrm>
          <a:prstGeom prst="rect">
            <a:avLst/>
          </a:prstGeom>
          <a:solidFill>
            <a:srgbClr val="C0392B">
              <a:alpha val="4725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TextBox 1204"/>
          <p:cNvSpPr txBox="1"/>
          <p:nvPr/>
        </p:nvSpPr>
        <p:spPr>
          <a:xfrm>
            <a:off x="4335370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2.5M</a:t>
            </a:r>
          </a:p>
        </p:txBody>
      </p:sp>
      <p:sp>
        <p:nvSpPr>
          <p:cNvPr id="1206" name="TextBox 1205"/>
          <p:cNvSpPr txBox="1"/>
          <p:nvPr/>
        </p:nvSpPr>
        <p:spPr>
          <a:xfrm>
            <a:off x="4335370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7件</a:t>
            </a:r>
          </a:p>
        </p:txBody>
      </p:sp>
      <p:sp>
        <p:nvSpPr>
          <p:cNvPr id="1207" name="Rectangle 1206"/>
          <p:cNvSpPr/>
          <p:nvPr/>
        </p:nvSpPr>
        <p:spPr>
          <a:xfrm>
            <a:off x="4688619" y="2658450"/>
            <a:ext cx="335249" cy="221774"/>
          </a:xfrm>
          <a:prstGeom prst="rect">
            <a:avLst/>
          </a:prstGeom>
          <a:solidFill>
            <a:srgbClr val="C0392B">
              <a:alpha val="550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TextBox 1207"/>
          <p:cNvSpPr txBox="1"/>
          <p:nvPr/>
        </p:nvSpPr>
        <p:spPr>
          <a:xfrm>
            <a:off x="4682619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3.4M</a:t>
            </a:r>
          </a:p>
        </p:txBody>
      </p:sp>
      <p:sp>
        <p:nvSpPr>
          <p:cNvPr id="1209" name="TextBox 1208"/>
          <p:cNvSpPr txBox="1"/>
          <p:nvPr/>
        </p:nvSpPr>
        <p:spPr>
          <a:xfrm>
            <a:off x="4682619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210" name="Rectangle 1209"/>
          <p:cNvSpPr/>
          <p:nvPr/>
        </p:nvSpPr>
        <p:spPr>
          <a:xfrm>
            <a:off x="5035868" y="2658450"/>
            <a:ext cx="335249" cy="221774"/>
          </a:xfrm>
          <a:prstGeom prst="rect">
            <a:avLst/>
          </a:prstGeom>
          <a:solidFill>
            <a:srgbClr val="C0392B">
              <a:alpha val="817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TextBox 1210"/>
          <p:cNvSpPr txBox="1"/>
          <p:nvPr/>
        </p:nvSpPr>
        <p:spPr>
          <a:xfrm>
            <a:off x="5029868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6.5M</a:t>
            </a:r>
          </a:p>
        </p:txBody>
      </p:sp>
      <p:sp>
        <p:nvSpPr>
          <p:cNvPr id="1212" name="TextBox 1211"/>
          <p:cNvSpPr txBox="1"/>
          <p:nvPr/>
        </p:nvSpPr>
        <p:spPr>
          <a:xfrm>
            <a:off x="5029868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15件</a:t>
            </a:r>
          </a:p>
        </p:txBody>
      </p:sp>
      <p:sp>
        <p:nvSpPr>
          <p:cNvPr id="1213" name="Rectangle 1212"/>
          <p:cNvSpPr/>
          <p:nvPr/>
        </p:nvSpPr>
        <p:spPr>
          <a:xfrm>
            <a:off x="5383117" y="2658450"/>
            <a:ext cx="335249" cy="221774"/>
          </a:xfrm>
          <a:prstGeom prst="rect">
            <a:avLst/>
          </a:prstGeom>
          <a:solidFill>
            <a:srgbClr val="C0392B">
              <a:alpha val="7778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TextBox 1213"/>
          <p:cNvSpPr txBox="1"/>
          <p:nvPr/>
        </p:nvSpPr>
        <p:spPr>
          <a:xfrm>
            <a:off x="5377117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6.0M</a:t>
            </a:r>
          </a:p>
        </p:txBody>
      </p:sp>
      <p:sp>
        <p:nvSpPr>
          <p:cNvPr id="1215" name="TextBox 1214"/>
          <p:cNvSpPr txBox="1"/>
          <p:nvPr/>
        </p:nvSpPr>
        <p:spPr>
          <a:xfrm>
            <a:off x="5377117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17件</a:t>
            </a:r>
          </a:p>
        </p:txBody>
      </p:sp>
      <p:sp>
        <p:nvSpPr>
          <p:cNvPr id="1216" name="Rectangle 1215"/>
          <p:cNvSpPr/>
          <p:nvPr/>
        </p:nvSpPr>
        <p:spPr>
          <a:xfrm>
            <a:off x="5730366" y="2658450"/>
            <a:ext cx="335249" cy="221774"/>
          </a:xfrm>
          <a:prstGeom prst="rect">
            <a:avLst/>
          </a:prstGeom>
          <a:solidFill>
            <a:srgbClr val="C0392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TextBox 1216"/>
          <p:cNvSpPr txBox="1"/>
          <p:nvPr/>
        </p:nvSpPr>
        <p:spPr>
          <a:xfrm>
            <a:off x="5724366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8.5M</a:t>
            </a:r>
          </a:p>
        </p:txBody>
      </p:sp>
      <p:sp>
        <p:nvSpPr>
          <p:cNvPr id="1218" name="TextBox 1217"/>
          <p:cNvSpPr txBox="1"/>
          <p:nvPr/>
        </p:nvSpPr>
        <p:spPr>
          <a:xfrm>
            <a:off x="5724366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22件</a:t>
            </a:r>
          </a:p>
        </p:txBody>
      </p:sp>
      <p:sp>
        <p:nvSpPr>
          <p:cNvPr id="1219" name="TextBox 1218"/>
          <p:cNvSpPr txBox="1"/>
          <p:nvPr/>
        </p:nvSpPr>
        <p:spPr>
          <a:xfrm>
            <a:off x="202880" y="2886224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1220" name="Rectangle 1219"/>
          <p:cNvSpPr/>
          <p:nvPr/>
        </p:nvSpPr>
        <p:spPr>
          <a:xfrm>
            <a:off x="868880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TextBox 1220"/>
          <p:cNvSpPr txBox="1"/>
          <p:nvPr/>
        </p:nvSpPr>
        <p:spPr>
          <a:xfrm>
            <a:off x="862880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12.7M</a:t>
            </a:r>
          </a:p>
        </p:txBody>
      </p:sp>
      <p:sp>
        <p:nvSpPr>
          <p:cNvPr id="1222" name="TextBox 1221"/>
          <p:cNvSpPr txBox="1"/>
          <p:nvPr/>
        </p:nvSpPr>
        <p:spPr>
          <a:xfrm>
            <a:off x="862880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34件</a:t>
            </a:r>
          </a:p>
        </p:txBody>
      </p:sp>
      <p:sp>
        <p:nvSpPr>
          <p:cNvPr id="1223" name="Rectangle 1222"/>
          <p:cNvSpPr/>
          <p:nvPr/>
        </p:nvSpPr>
        <p:spPr>
          <a:xfrm>
            <a:off x="1216129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TextBox 1223"/>
          <p:cNvSpPr txBox="1"/>
          <p:nvPr/>
        </p:nvSpPr>
        <p:spPr>
          <a:xfrm>
            <a:off x="1210129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13.4M</a:t>
            </a:r>
          </a:p>
        </p:txBody>
      </p:sp>
      <p:sp>
        <p:nvSpPr>
          <p:cNvPr id="1225" name="TextBox 1224"/>
          <p:cNvSpPr txBox="1"/>
          <p:nvPr/>
        </p:nvSpPr>
        <p:spPr>
          <a:xfrm>
            <a:off x="1210129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45件</a:t>
            </a:r>
          </a:p>
        </p:txBody>
      </p:sp>
      <p:sp>
        <p:nvSpPr>
          <p:cNvPr id="1226" name="Rectangle 1225"/>
          <p:cNvSpPr/>
          <p:nvPr/>
        </p:nvSpPr>
        <p:spPr>
          <a:xfrm>
            <a:off x="1563378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TextBox 1226"/>
          <p:cNvSpPr txBox="1"/>
          <p:nvPr/>
        </p:nvSpPr>
        <p:spPr>
          <a:xfrm>
            <a:off x="1557378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26.8M</a:t>
            </a:r>
          </a:p>
        </p:txBody>
      </p:sp>
      <p:sp>
        <p:nvSpPr>
          <p:cNvPr id="1228" name="TextBox 1227"/>
          <p:cNvSpPr txBox="1"/>
          <p:nvPr/>
        </p:nvSpPr>
        <p:spPr>
          <a:xfrm>
            <a:off x="1557378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52件</a:t>
            </a:r>
          </a:p>
        </p:txBody>
      </p:sp>
      <p:sp>
        <p:nvSpPr>
          <p:cNvPr id="1229" name="Rectangle 1228"/>
          <p:cNvSpPr/>
          <p:nvPr/>
        </p:nvSpPr>
        <p:spPr>
          <a:xfrm>
            <a:off x="1910627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TextBox 1229"/>
          <p:cNvSpPr txBox="1"/>
          <p:nvPr/>
        </p:nvSpPr>
        <p:spPr>
          <a:xfrm>
            <a:off x="1904627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9.9M</a:t>
            </a:r>
          </a:p>
        </p:txBody>
      </p:sp>
      <p:sp>
        <p:nvSpPr>
          <p:cNvPr id="1231" name="TextBox 1230"/>
          <p:cNvSpPr txBox="1"/>
          <p:nvPr/>
        </p:nvSpPr>
        <p:spPr>
          <a:xfrm>
            <a:off x="1904627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22件</a:t>
            </a:r>
          </a:p>
        </p:txBody>
      </p:sp>
      <p:sp>
        <p:nvSpPr>
          <p:cNvPr id="1232" name="Rectangle 1231"/>
          <p:cNvSpPr/>
          <p:nvPr/>
        </p:nvSpPr>
        <p:spPr>
          <a:xfrm>
            <a:off x="2257876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TextBox 1232"/>
          <p:cNvSpPr txBox="1"/>
          <p:nvPr/>
        </p:nvSpPr>
        <p:spPr>
          <a:xfrm>
            <a:off x="2251876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11.8M</a:t>
            </a:r>
          </a:p>
        </p:txBody>
      </p:sp>
      <p:sp>
        <p:nvSpPr>
          <p:cNvPr id="1234" name="TextBox 1233"/>
          <p:cNvSpPr txBox="1"/>
          <p:nvPr/>
        </p:nvSpPr>
        <p:spPr>
          <a:xfrm>
            <a:off x="2251876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43件</a:t>
            </a:r>
          </a:p>
        </p:txBody>
      </p:sp>
      <p:sp>
        <p:nvSpPr>
          <p:cNvPr id="1235" name="Rectangle 1234"/>
          <p:cNvSpPr/>
          <p:nvPr/>
        </p:nvSpPr>
        <p:spPr>
          <a:xfrm>
            <a:off x="2605125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TextBox 1235"/>
          <p:cNvSpPr txBox="1"/>
          <p:nvPr/>
        </p:nvSpPr>
        <p:spPr>
          <a:xfrm>
            <a:off x="2599125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22.2M</a:t>
            </a:r>
          </a:p>
        </p:txBody>
      </p:sp>
      <p:sp>
        <p:nvSpPr>
          <p:cNvPr id="1237" name="TextBox 1236"/>
          <p:cNvSpPr txBox="1"/>
          <p:nvPr/>
        </p:nvSpPr>
        <p:spPr>
          <a:xfrm>
            <a:off x="2599125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61件</a:t>
            </a:r>
          </a:p>
        </p:txBody>
      </p:sp>
      <p:sp>
        <p:nvSpPr>
          <p:cNvPr id="1238" name="Rectangle 1237"/>
          <p:cNvSpPr/>
          <p:nvPr/>
        </p:nvSpPr>
        <p:spPr>
          <a:xfrm>
            <a:off x="2952374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TextBox 1238"/>
          <p:cNvSpPr txBox="1"/>
          <p:nvPr/>
        </p:nvSpPr>
        <p:spPr>
          <a:xfrm>
            <a:off x="2946374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21.0M</a:t>
            </a:r>
          </a:p>
        </p:txBody>
      </p:sp>
      <p:sp>
        <p:nvSpPr>
          <p:cNvPr id="1240" name="TextBox 1239"/>
          <p:cNvSpPr txBox="1"/>
          <p:nvPr/>
        </p:nvSpPr>
        <p:spPr>
          <a:xfrm>
            <a:off x="2946374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47件</a:t>
            </a:r>
          </a:p>
        </p:txBody>
      </p:sp>
      <p:sp>
        <p:nvSpPr>
          <p:cNvPr id="1241" name="Rectangle 1240"/>
          <p:cNvSpPr/>
          <p:nvPr/>
        </p:nvSpPr>
        <p:spPr>
          <a:xfrm>
            <a:off x="3299623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TextBox 1241"/>
          <p:cNvSpPr txBox="1"/>
          <p:nvPr/>
        </p:nvSpPr>
        <p:spPr>
          <a:xfrm>
            <a:off x="3293623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20.9M</a:t>
            </a:r>
          </a:p>
        </p:txBody>
      </p:sp>
      <p:sp>
        <p:nvSpPr>
          <p:cNvPr id="1243" name="TextBox 1242"/>
          <p:cNvSpPr txBox="1"/>
          <p:nvPr/>
        </p:nvSpPr>
        <p:spPr>
          <a:xfrm>
            <a:off x="3293623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57件</a:t>
            </a:r>
          </a:p>
        </p:txBody>
      </p:sp>
      <p:sp>
        <p:nvSpPr>
          <p:cNvPr id="1244" name="Rectangle 1243"/>
          <p:cNvSpPr/>
          <p:nvPr/>
        </p:nvSpPr>
        <p:spPr>
          <a:xfrm>
            <a:off x="3646872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TextBox 1244"/>
          <p:cNvSpPr txBox="1"/>
          <p:nvPr/>
        </p:nvSpPr>
        <p:spPr>
          <a:xfrm>
            <a:off x="3640872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10.9M</a:t>
            </a:r>
          </a:p>
        </p:txBody>
      </p:sp>
      <p:sp>
        <p:nvSpPr>
          <p:cNvPr id="1246" name="TextBox 1245"/>
          <p:cNvSpPr txBox="1"/>
          <p:nvPr/>
        </p:nvSpPr>
        <p:spPr>
          <a:xfrm>
            <a:off x="3640872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39件</a:t>
            </a:r>
          </a:p>
        </p:txBody>
      </p:sp>
      <p:sp>
        <p:nvSpPr>
          <p:cNvPr id="1247" name="Rectangle 1246"/>
          <p:cNvSpPr/>
          <p:nvPr/>
        </p:nvSpPr>
        <p:spPr>
          <a:xfrm>
            <a:off x="3994121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TextBox 1247"/>
          <p:cNvSpPr txBox="1"/>
          <p:nvPr/>
        </p:nvSpPr>
        <p:spPr>
          <a:xfrm>
            <a:off x="3988121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19.6M</a:t>
            </a:r>
          </a:p>
        </p:txBody>
      </p:sp>
      <p:sp>
        <p:nvSpPr>
          <p:cNvPr id="1249" name="TextBox 1248"/>
          <p:cNvSpPr txBox="1"/>
          <p:nvPr/>
        </p:nvSpPr>
        <p:spPr>
          <a:xfrm>
            <a:off x="3988121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49件</a:t>
            </a:r>
          </a:p>
        </p:txBody>
      </p:sp>
      <p:sp>
        <p:nvSpPr>
          <p:cNvPr id="1250" name="Rectangle 1249"/>
          <p:cNvSpPr/>
          <p:nvPr/>
        </p:nvSpPr>
        <p:spPr>
          <a:xfrm>
            <a:off x="4341370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TextBox 1250"/>
          <p:cNvSpPr txBox="1"/>
          <p:nvPr/>
        </p:nvSpPr>
        <p:spPr>
          <a:xfrm>
            <a:off x="4335370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16.8M</a:t>
            </a:r>
          </a:p>
        </p:txBody>
      </p:sp>
      <p:sp>
        <p:nvSpPr>
          <p:cNvPr id="1252" name="TextBox 1251"/>
          <p:cNvSpPr txBox="1"/>
          <p:nvPr/>
        </p:nvSpPr>
        <p:spPr>
          <a:xfrm>
            <a:off x="4335370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38件</a:t>
            </a:r>
          </a:p>
        </p:txBody>
      </p:sp>
      <p:sp>
        <p:nvSpPr>
          <p:cNvPr id="1253" name="Rectangle 1252"/>
          <p:cNvSpPr/>
          <p:nvPr/>
        </p:nvSpPr>
        <p:spPr>
          <a:xfrm>
            <a:off x="4688619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TextBox 1253"/>
          <p:cNvSpPr txBox="1"/>
          <p:nvPr/>
        </p:nvSpPr>
        <p:spPr>
          <a:xfrm>
            <a:off x="4682619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26.2M</a:t>
            </a:r>
          </a:p>
        </p:txBody>
      </p:sp>
      <p:sp>
        <p:nvSpPr>
          <p:cNvPr id="1255" name="TextBox 1254"/>
          <p:cNvSpPr txBox="1"/>
          <p:nvPr/>
        </p:nvSpPr>
        <p:spPr>
          <a:xfrm>
            <a:off x="4682619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71件</a:t>
            </a:r>
          </a:p>
        </p:txBody>
      </p:sp>
      <p:sp>
        <p:nvSpPr>
          <p:cNvPr id="1256" name="Rectangle 1255"/>
          <p:cNvSpPr/>
          <p:nvPr/>
        </p:nvSpPr>
        <p:spPr>
          <a:xfrm>
            <a:off x="5035868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TextBox 1256"/>
          <p:cNvSpPr txBox="1"/>
          <p:nvPr/>
        </p:nvSpPr>
        <p:spPr>
          <a:xfrm>
            <a:off x="5029868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14.1M</a:t>
            </a:r>
          </a:p>
        </p:txBody>
      </p:sp>
      <p:sp>
        <p:nvSpPr>
          <p:cNvPr id="1258" name="TextBox 1257"/>
          <p:cNvSpPr txBox="1"/>
          <p:nvPr/>
        </p:nvSpPr>
        <p:spPr>
          <a:xfrm>
            <a:off x="5029868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43件</a:t>
            </a:r>
          </a:p>
        </p:txBody>
      </p:sp>
      <p:sp>
        <p:nvSpPr>
          <p:cNvPr id="1259" name="Rectangle 1258"/>
          <p:cNvSpPr/>
          <p:nvPr/>
        </p:nvSpPr>
        <p:spPr>
          <a:xfrm>
            <a:off x="5383117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TextBox 1259"/>
          <p:cNvSpPr txBox="1"/>
          <p:nvPr/>
        </p:nvSpPr>
        <p:spPr>
          <a:xfrm>
            <a:off x="5377117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22.8M</a:t>
            </a:r>
          </a:p>
        </p:txBody>
      </p:sp>
      <p:sp>
        <p:nvSpPr>
          <p:cNvPr id="1261" name="TextBox 1260"/>
          <p:cNvSpPr txBox="1"/>
          <p:nvPr/>
        </p:nvSpPr>
        <p:spPr>
          <a:xfrm>
            <a:off x="5377117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56件</a:t>
            </a:r>
          </a:p>
        </p:txBody>
      </p:sp>
      <p:sp>
        <p:nvSpPr>
          <p:cNvPr id="1262" name="Rectangle 1261"/>
          <p:cNvSpPr/>
          <p:nvPr/>
        </p:nvSpPr>
        <p:spPr>
          <a:xfrm>
            <a:off x="5730366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TextBox 1262"/>
          <p:cNvSpPr txBox="1"/>
          <p:nvPr/>
        </p:nvSpPr>
        <p:spPr>
          <a:xfrm>
            <a:off x="5724366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20.3M</a:t>
            </a:r>
          </a:p>
        </p:txBody>
      </p:sp>
      <p:sp>
        <p:nvSpPr>
          <p:cNvPr id="1264" name="TextBox 1263"/>
          <p:cNvSpPr txBox="1"/>
          <p:nvPr/>
        </p:nvSpPr>
        <p:spPr>
          <a:xfrm>
            <a:off x="5724366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51件</a:t>
            </a:r>
          </a:p>
        </p:txBody>
      </p:sp>
      <p:sp>
        <p:nvSpPr>
          <p:cNvPr id="1265" name="Rectangle 1264"/>
          <p:cNvSpPr/>
          <p:nvPr/>
        </p:nvSpPr>
        <p:spPr>
          <a:xfrm>
            <a:off x="6163056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TextBox 1265"/>
          <p:cNvSpPr txBox="1"/>
          <p:nvPr/>
        </p:nvSpPr>
        <p:spPr>
          <a:xfrm>
            <a:off x="6243056" y="560000"/>
            <a:ext cx="58887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  周度签单业绩热力矩阵（APE in M）</a:t>
            </a:r>
          </a:p>
        </p:txBody>
      </p:sp>
      <p:sp>
        <p:nvSpPr>
          <p:cNvPr id="1267" name="TextBox 1266"/>
          <p:cNvSpPr txBox="1"/>
          <p:nvPr/>
        </p:nvSpPr>
        <p:spPr>
          <a:xfrm>
            <a:off x="684305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W14</a:t>
            </a:r>
          </a:p>
        </p:txBody>
      </p:sp>
      <p:sp>
        <p:nvSpPr>
          <p:cNvPr id="1268" name="TextBox 1267"/>
          <p:cNvSpPr txBox="1"/>
          <p:nvPr/>
        </p:nvSpPr>
        <p:spPr>
          <a:xfrm>
            <a:off x="7190305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W15</a:t>
            </a:r>
          </a:p>
        </p:txBody>
      </p:sp>
      <p:sp>
        <p:nvSpPr>
          <p:cNvPr id="1269" name="TextBox 1268"/>
          <p:cNvSpPr txBox="1"/>
          <p:nvPr/>
        </p:nvSpPr>
        <p:spPr>
          <a:xfrm>
            <a:off x="7537554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W16</a:t>
            </a:r>
          </a:p>
        </p:txBody>
      </p:sp>
      <p:sp>
        <p:nvSpPr>
          <p:cNvPr id="1270" name="TextBox 1269"/>
          <p:cNvSpPr txBox="1"/>
          <p:nvPr/>
        </p:nvSpPr>
        <p:spPr>
          <a:xfrm>
            <a:off x="7884803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W17</a:t>
            </a:r>
          </a:p>
        </p:txBody>
      </p:sp>
      <p:sp>
        <p:nvSpPr>
          <p:cNvPr id="1271" name="TextBox 1270"/>
          <p:cNvSpPr txBox="1"/>
          <p:nvPr/>
        </p:nvSpPr>
        <p:spPr>
          <a:xfrm>
            <a:off x="8232052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W18</a:t>
            </a:r>
          </a:p>
        </p:txBody>
      </p:sp>
      <p:sp>
        <p:nvSpPr>
          <p:cNvPr id="1272" name="TextBox 1271"/>
          <p:cNvSpPr txBox="1"/>
          <p:nvPr/>
        </p:nvSpPr>
        <p:spPr>
          <a:xfrm>
            <a:off x="8579301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W19</a:t>
            </a:r>
          </a:p>
        </p:txBody>
      </p:sp>
      <p:sp>
        <p:nvSpPr>
          <p:cNvPr id="1273" name="TextBox 1272"/>
          <p:cNvSpPr txBox="1"/>
          <p:nvPr/>
        </p:nvSpPr>
        <p:spPr>
          <a:xfrm>
            <a:off x="8926550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W20</a:t>
            </a:r>
          </a:p>
        </p:txBody>
      </p:sp>
      <p:sp>
        <p:nvSpPr>
          <p:cNvPr id="1274" name="TextBox 1273"/>
          <p:cNvSpPr txBox="1"/>
          <p:nvPr/>
        </p:nvSpPr>
        <p:spPr>
          <a:xfrm>
            <a:off x="9273799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W21</a:t>
            </a:r>
          </a:p>
        </p:txBody>
      </p:sp>
      <p:sp>
        <p:nvSpPr>
          <p:cNvPr id="1275" name="TextBox 1274"/>
          <p:cNvSpPr txBox="1"/>
          <p:nvPr/>
        </p:nvSpPr>
        <p:spPr>
          <a:xfrm>
            <a:off x="9621048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W22</a:t>
            </a:r>
          </a:p>
        </p:txBody>
      </p:sp>
      <p:sp>
        <p:nvSpPr>
          <p:cNvPr id="1276" name="TextBox 1275"/>
          <p:cNvSpPr txBox="1"/>
          <p:nvPr/>
        </p:nvSpPr>
        <p:spPr>
          <a:xfrm>
            <a:off x="9968297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W23</a:t>
            </a:r>
          </a:p>
        </p:txBody>
      </p:sp>
      <p:sp>
        <p:nvSpPr>
          <p:cNvPr id="1277" name="TextBox 1276"/>
          <p:cNvSpPr txBox="1"/>
          <p:nvPr/>
        </p:nvSpPr>
        <p:spPr>
          <a:xfrm>
            <a:off x="1031554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W24</a:t>
            </a:r>
          </a:p>
        </p:txBody>
      </p:sp>
      <p:sp>
        <p:nvSpPr>
          <p:cNvPr id="1278" name="TextBox 1277"/>
          <p:cNvSpPr txBox="1"/>
          <p:nvPr/>
        </p:nvSpPr>
        <p:spPr>
          <a:xfrm>
            <a:off x="10662795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W25</a:t>
            </a:r>
          </a:p>
        </p:txBody>
      </p:sp>
      <p:sp>
        <p:nvSpPr>
          <p:cNvPr id="1279" name="TextBox 1278"/>
          <p:cNvSpPr txBox="1"/>
          <p:nvPr/>
        </p:nvSpPr>
        <p:spPr>
          <a:xfrm>
            <a:off x="11010044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W26</a:t>
            </a:r>
          </a:p>
        </p:txBody>
      </p:sp>
      <p:sp>
        <p:nvSpPr>
          <p:cNvPr id="1280" name="TextBox 1279"/>
          <p:cNvSpPr txBox="1"/>
          <p:nvPr/>
        </p:nvSpPr>
        <p:spPr>
          <a:xfrm>
            <a:off x="11357293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W27</a:t>
            </a:r>
          </a:p>
        </p:txBody>
      </p:sp>
      <p:sp>
        <p:nvSpPr>
          <p:cNvPr id="1281" name="TextBox 1280"/>
          <p:cNvSpPr txBox="1"/>
          <p:nvPr/>
        </p:nvSpPr>
        <p:spPr>
          <a:xfrm>
            <a:off x="11704542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W28</a:t>
            </a:r>
          </a:p>
        </p:txBody>
      </p:sp>
      <p:sp>
        <p:nvSpPr>
          <p:cNvPr id="1282" name="TextBox 1281"/>
          <p:cNvSpPr txBox="1"/>
          <p:nvPr/>
        </p:nvSpPr>
        <p:spPr>
          <a:xfrm>
            <a:off x="6183056" y="1016032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天领业务</a:t>
            </a:r>
          </a:p>
        </p:txBody>
      </p:sp>
      <p:sp>
        <p:nvSpPr>
          <p:cNvPr id="1283" name="Rectangle 1282"/>
          <p:cNvSpPr/>
          <p:nvPr/>
        </p:nvSpPr>
        <p:spPr>
          <a:xfrm>
            <a:off x="6849056" y="1022032"/>
            <a:ext cx="335249" cy="221774"/>
          </a:xfrm>
          <a:prstGeom prst="rect">
            <a:avLst/>
          </a:prstGeom>
          <a:solidFill>
            <a:srgbClr val="2980B9">
              <a:alpha val="345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TextBox 1283"/>
          <p:cNvSpPr txBox="1"/>
          <p:nvPr/>
        </p:nvSpPr>
        <p:spPr>
          <a:xfrm>
            <a:off x="684305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1.3M</a:t>
            </a:r>
          </a:p>
        </p:txBody>
      </p:sp>
      <p:sp>
        <p:nvSpPr>
          <p:cNvPr id="1285" name="TextBox 1284"/>
          <p:cNvSpPr txBox="1"/>
          <p:nvPr/>
        </p:nvSpPr>
        <p:spPr>
          <a:xfrm>
            <a:off x="6843056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2件</a:t>
            </a:r>
          </a:p>
        </p:txBody>
      </p:sp>
      <p:sp>
        <p:nvSpPr>
          <p:cNvPr id="1286" name="Rectangle 1285"/>
          <p:cNvSpPr/>
          <p:nvPr/>
        </p:nvSpPr>
        <p:spPr>
          <a:xfrm>
            <a:off x="7196305" y="1022032"/>
            <a:ext cx="335249" cy="221774"/>
          </a:xfrm>
          <a:prstGeom prst="rect">
            <a:avLst/>
          </a:prstGeom>
          <a:solidFill>
            <a:srgbClr val="2980B9">
              <a:alpha val="38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TextBox 1286"/>
          <p:cNvSpPr txBox="1"/>
          <p:nvPr/>
        </p:nvSpPr>
        <p:spPr>
          <a:xfrm>
            <a:off x="7190305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1.9M</a:t>
            </a:r>
          </a:p>
        </p:txBody>
      </p:sp>
      <p:sp>
        <p:nvSpPr>
          <p:cNvPr id="1288" name="TextBox 1287"/>
          <p:cNvSpPr txBox="1"/>
          <p:nvPr/>
        </p:nvSpPr>
        <p:spPr>
          <a:xfrm>
            <a:off x="7190305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8件</a:t>
            </a:r>
          </a:p>
        </p:txBody>
      </p:sp>
      <p:sp>
        <p:nvSpPr>
          <p:cNvPr id="1289" name="Rectangle 1288"/>
          <p:cNvSpPr/>
          <p:nvPr/>
        </p:nvSpPr>
        <p:spPr>
          <a:xfrm>
            <a:off x="7543554" y="1022032"/>
            <a:ext cx="335249" cy="221774"/>
          </a:xfrm>
          <a:prstGeom prst="rect">
            <a:avLst/>
          </a:prstGeom>
          <a:solidFill>
            <a:srgbClr val="2980B9">
              <a:alpha val="632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TextBox 1289"/>
          <p:cNvSpPr txBox="1"/>
          <p:nvPr/>
        </p:nvSpPr>
        <p:spPr>
          <a:xfrm>
            <a:off x="7537554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5.3M</a:t>
            </a:r>
          </a:p>
        </p:txBody>
      </p:sp>
      <p:sp>
        <p:nvSpPr>
          <p:cNvPr id="1291" name="TextBox 1290"/>
          <p:cNvSpPr txBox="1"/>
          <p:nvPr/>
        </p:nvSpPr>
        <p:spPr>
          <a:xfrm>
            <a:off x="7537554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292" name="Rectangle 1291"/>
          <p:cNvSpPr/>
          <p:nvPr/>
        </p:nvSpPr>
        <p:spPr>
          <a:xfrm>
            <a:off x="7890803" y="1022032"/>
            <a:ext cx="335249" cy="221774"/>
          </a:xfrm>
          <a:prstGeom prst="rect">
            <a:avLst/>
          </a:prstGeom>
          <a:solidFill>
            <a:srgbClr val="2980B9">
              <a:alpha val="317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TextBox 1292"/>
          <p:cNvSpPr txBox="1"/>
          <p:nvPr/>
        </p:nvSpPr>
        <p:spPr>
          <a:xfrm>
            <a:off x="7884803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0.9M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7884803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295" name="Rectangle 1294"/>
          <p:cNvSpPr/>
          <p:nvPr/>
        </p:nvSpPr>
        <p:spPr>
          <a:xfrm>
            <a:off x="8238052" y="1022032"/>
            <a:ext cx="335249" cy="221774"/>
          </a:xfrm>
          <a:prstGeom prst="rect">
            <a:avLst/>
          </a:prstGeom>
          <a:solidFill>
            <a:srgbClr val="2980B9">
              <a:alpha val="273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8232052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297" name="TextBox 1296"/>
          <p:cNvSpPr txBox="1"/>
          <p:nvPr/>
        </p:nvSpPr>
        <p:spPr>
          <a:xfrm>
            <a:off x="8232052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298" name="Rectangle 1297"/>
          <p:cNvSpPr/>
          <p:nvPr/>
        </p:nvSpPr>
        <p:spPr>
          <a:xfrm>
            <a:off x="8585301" y="1022032"/>
            <a:ext cx="335249" cy="221774"/>
          </a:xfrm>
          <a:prstGeom prst="rect">
            <a:avLst/>
          </a:prstGeom>
          <a:solidFill>
            <a:srgbClr val="2980B9">
              <a:alpha val="689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TextBox 1298"/>
          <p:cNvSpPr txBox="1"/>
          <p:nvPr/>
        </p:nvSpPr>
        <p:spPr>
          <a:xfrm>
            <a:off x="8579301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6.1M</a:t>
            </a:r>
          </a:p>
        </p:txBody>
      </p:sp>
      <p:sp>
        <p:nvSpPr>
          <p:cNvPr id="1300" name="TextBox 1299"/>
          <p:cNvSpPr txBox="1"/>
          <p:nvPr/>
        </p:nvSpPr>
        <p:spPr>
          <a:xfrm>
            <a:off x="8579301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21件</a:t>
            </a:r>
          </a:p>
        </p:txBody>
      </p:sp>
      <p:sp>
        <p:nvSpPr>
          <p:cNvPr id="1301" name="Rectangle 1300"/>
          <p:cNvSpPr/>
          <p:nvPr/>
        </p:nvSpPr>
        <p:spPr>
          <a:xfrm>
            <a:off x="8932550" y="1022032"/>
            <a:ext cx="335249" cy="221774"/>
          </a:xfrm>
          <a:prstGeom prst="rect">
            <a:avLst/>
          </a:prstGeom>
          <a:solidFill>
            <a:srgbClr val="2980B9">
              <a:alpha val="467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TextBox 1301"/>
          <p:cNvSpPr txBox="1"/>
          <p:nvPr/>
        </p:nvSpPr>
        <p:spPr>
          <a:xfrm>
            <a:off x="8926550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3.0M</a:t>
            </a:r>
          </a:p>
        </p:txBody>
      </p:sp>
      <p:sp>
        <p:nvSpPr>
          <p:cNvPr id="1303" name="TextBox 1302"/>
          <p:cNvSpPr txBox="1"/>
          <p:nvPr/>
        </p:nvSpPr>
        <p:spPr>
          <a:xfrm>
            <a:off x="8926550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13件</a:t>
            </a:r>
          </a:p>
        </p:txBody>
      </p:sp>
      <p:sp>
        <p:nvSpPr>
          <p:cNvPr id="1304" name="Rectangle 1303"/>
          <p:cNvSpPr/>
          <p:nvPr/>
        </p:nvSpPr>
        <p:spPr>
          <a:xfrm>
            <a:off x="9279799" y="1022032"/>
            <a:ext cx="335249" cy="221774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TextBox 1304"/>
          <p:cNvSpPr txBox="1"/>
          <p:nvPr/>
        </p:nvSpPr>
        <p:spPr>
          <a:xfrm>
            <a:off x="9273799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10.4M</a:t>
            </a:r>
          </a:p>
        </p:txBody>
      </p:sp>
      <p:sp>
        <p:nvSpPr>
          <p:cNvPr id="1306" name="TextBox 1305"/>
          <p:cNvSpPr txBox="1"/>
          <p:nvPr/>
        </p:nvSpPr>
        <p:spPr>
          <a:xfrm>
            <a:off x="9273799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307" name="Rectangle 1306"/>
          <p:cNvSpPr/>
          <p:nvPr/>
        </p:nvSpPr>
        <p:spPr>
          <a:xfrm>
            <a:off x="9627048" y="1022032"/>
            <a:ext cx="335249" cy="221774"/>
          </a:xfrm>
          <a:prstGeom prst="rect">
            <a:avLst/>
          </a:prstGeom>
          <a:solidFill>
            <a:srgbClr val="2980B9">
              <a:alpha val="380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TextBox 1307"/>
          <p:cNvSpPr txBox="1"/>
          <p:nvPr/>
        </p:nvSpPr>
        <p:spPr>
          <a:xfrm>
            <a:off x="9621048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1.8M</a:t>
            </a:r>
          </a:p>
        </p:txBody>
      </p:sp>
      <p:sp>
        <p:nvSpPr>
          <p:cNvPr id="1309" name="TextBox 1308"/>
          <p:cNvSpPr txBox="1"/>
          <p:nvPr/>
        </p:nvSpPr>
        <p:spPr>
          <a:xfrm>
            <a:off x="9621048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16件</a:t>
            </a:r>
          </a:p>
        </p:txBody>
      </p:sp>
      <p:sp>
        <p:nvSpPr>
          <p:cNvPr id="1310" name="Rectangle 1309"/>
          <p:cNvSpPr/>
          <p:nvPr/>
        </p:nvSpPr>
        <p:spPr>
          <a:xfrm>
            <a:off x="9974297" y="1022032"/>
            <a:ext cx="335249" cy="221774"/>
          </a:xfrm>
          <a:prstGeom prst="rect">
            <a:avLst/>
          </a:prstGeom>
          <a:solidFill>
            <a:srgbClr val="2980B9">
              <a:alpha val="283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TextBox 1310"/>
          <p:cNvSpPr txBox="1"/>
          <p:nvPr/>
        </p:nvSpPr>
        <p:spPr>
          <a:xfrm>
            <a:off x="9968297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0.5M</a:t>
            </a:r>
          </a:p>
        </p:txBody>
      </p:sp>
      <p:sp>
        <p:nvSpPr>
          <p:cNvPr id="1312" name="TextBox 1311"/>
          <p:cNvSpPr txBox="1"/>
          <p:nvPr/>
        </p:nvSpPr>
        <p:spPr>
          <a:xfrm>
            <a:off x="9968297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1件</a:t>
            </a:r>
          </a:p>
        </p:txBody>
      </p:sp>
      <p:sp>
        <p:nvSpPr>
          <p:cNvPr id="1313" name="Rectangle 1312"/>
          <p:cNvSpPr/>
          <p:nvPr/>
        </p:nvSpPr>
        <p:spPr>
          <a:xfrm>
            <a:off x="10321546" y="1022032"/>
            <a:ext cx="335249" cy="221774"/>
          </a:xfrm>
          <a:prstGeom prst="rect">
            <a:avLst/>
          </a:prstGeom>
          <a:solidFill>
            <a:srgbClr val="2980B9">
              <a:alpha val="32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TextBox 1313"/>
          <p:cNvSpPr txBox="1"/>
          <p:nvPr/>
        </p:nvSpPr>
        <p:spPr>
          <a:xfrm>
            <a:off x="1031554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1.0M</a:t>
            </a:r>
          </a:p>
        </p:txBody>
      </p:sp>
      <p:sp>
        <p:nvSpPr>
          <p:cNvPr id="1315" name="TextBox 1314"/>
          <p:cNvSpPr txBox="1"/>
          <p:nvPr/>
        </p:nvSpPr>
        <p:spPr>
          <a:xfrm>
            <a:off x="10315546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316" name="Rectangle 1315"/>
          <p:cNvSpPr/>
          <p:nvPr/>
        </p:nvSpPr>
        <p:spPr>
          <a:xfrm>
            <a:off x="10668795" y="1022032"/>
            <a:ext cx="335249" cy="221774"/>
          </a:xfrm>
          <a:prstGeom prst="rect">
            <a:avLst/>
          </a:prstGeom>
          <a:solidFill>
            <a:srgbClr val="2980B9">
              <a:alpha val="411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TextBox 1316"/>
          <p:cNvSpPr txBox="1"/>
          <p:nvPr/>
        </p:nvSpPr>
        <p:spPr>
          <a:xfrm>
            <a:off x="10662795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2.2M</a:t>
            </a:r>
          </a:p>
        </p:txBody>
      </p:sp>
      <p:sp>
        <p:nvSpPr>
          <p:cNvPr id="1318" name="TextBox 1317"/>
          <p:cNvSpPr txBox="1"/>
          <p:nvPr/>
        </p:nvSpPr>
        <p:spPr>
          <a:xfrm>
            <a:off x="10662795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319" name="Rectangle 1318"/>
          <p:cNvSpPr/>
          <p:nvPr/>
        </p:nvSpPr>
        <p:spPr>
          <a:xfrm>
            <a:off x="11016044" y="1022032"/>
            <a:ext cx="335249" cy="221774"/>
          </a:xfrm>
          <a:prstGeom prst="rect">
            <a:avLst/>
          </a:prstGeom>
          <a:solidFill>
            <a:srgbClr val="2980B9">
              <a:alpha val="375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TextBox 1319"/>
          <p:cNvSpPr txBox="1"/>
          <p:nvPr/>
        </p:nvSpPr>
        <p:spPr>
          <a:xfrm>
            <a:off x="11010044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1.7M</a:t>
            </a:r>
          </a:p>
        </p:txBody>
      </p:sp>
      <p:sp>
        <p:nvSpPr>
          <p:cNvPr id="1321" name="TextBox 1320"/>
          <p:cNvSpPr txBox="1"/>
          <p:nvPr/>
        </p:nvSpPr>
        <p:spPr>
          <a:xfrm>
            <a:off x="11010044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11件</a:t>
            </a:r>
          </a:p>
        </p:txBody>
      </p:sp>
      <p:sp>
        <p:nvSpPr>
          <p:cNvPr id="1322" name="Rectangle 1321"/>
          <p:cNvSpPr/>
          <p:nvPr/>
        </p:nvSpPr>
        <p:spPr>
          <a:xfrm>
            <a:off x="11363293" y="1022032"/>
            <a:ext cx="335249" cy="221774"/>
          </a:xfrm>
          <a:prstGeom prst="rect">
            <a:avLst/>
          </a:prstGeom>
          <a:solidFill>
            <a:srgbClr val="2980B9">
              <a:alpha val="294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TextBox 1322"/>
          <p:cNvSpPr txBox="1"/>
          <p:nvPr/>
        </p:nvSpPr>
        <p:spPr>
          <a:xfrm>
            <a:off x="11357293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0.6M</a:t>
            </a:r>
          </a:p>
        </p:txBody>
      </p:sp>
      <p:sp>
        <p:nvSpPr>
          <p:cNvPr id="1324" name="TextBox 1323"/>
          <p:cNvSpPr txBox="1"/>
          <p:nvPr/>
        </p:nvSpPr>
        <p:spPr>
          <a:xfrm>
            <a:off x="11357293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2件</a:t>
            </a:r>
          </a:p>
        </p:txBody>
      </p:sp>
      <p:sp>
        <p:nvSpPr>
          <p:cNvPr id="1325" name="Rectangle 1324"/>
          <p:cNvSpPr/>
          <p:nvPr/>
        </p:nvSpPr>
        <p:spPr>
          <a:xfrm>
            <a:off x="11710542" y="1022032"/>
            <a:ext cx="335249" cy="221774"/>
          </a:xfrm>
          <a:prstGeom prst="rect">
            <a:avLst/>
          </a:prstGeom>
          <a:solidFill>
            <a:srgbClr val="2980B9">
              <a:alpha val="677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TextBox 1325"/>
          <p:cNvSpPr txBox="1"/>
          <p:nvPr/>
        </p:nvSpPr>
        <p:spPr>
          <a:xfrm>
            <a:off x="11704542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6.0M</a:t>
            </a:r>
          </a:p>
        </p:txBody>
      </p:sp>
      <p:sp>
        <p:nvSpPr>
          <p:cNvPr id="1327" name="TextBox 1326"/>
          <p:cNvSpPr txBox="1"/>
          <p:nvPr/>
        </p:nvSpPr>
        <p:spPr>
          <a:xfrm>
            <a:off x="11704542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328" name="TextBox 1327"/>
          <p:cNvSpPr txBox="1"/>
          <p:nvPr/>
        </p:nvSpPr>
        <p:spPr>
          <a:xfrm>
            <a:off x="6183056" y="1249806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成事家办</a:t>
            </a:r>
          </a:p>
        </p:txBody>
      </p:sp>
      <p:sp>
        <p:nvSpPr>
          <p:cNvPr id="1329" name="Rectangle 1328"/>
          <p:cNvSpPr/>
          <p:nvPr/>
        </p:nvSpPr>
        <p:spPr>
          <a:xfrm>
            <a:off x="6849056" y="1255806"/>
            <a:ext cx="335249" cy="221774"/>
          </a:xfrm>
          <a:prstGeom prst="rect">
            <a:avLst/>
          </a:prstGeom>
          <a:solidFill>
            <a:srgbClr val="374151">
              <a:alpha val="3192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Box 1329"/>
          <p:cNvSpPr txBox="1"/>
          <p:nvPr/>
        </p:nvSpPr>
        <p:spPr>
          <a:xfrm>
            <a:off x="6843056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331" name="TextBox 1330"/>
          <p:cNvSpPr txBox="1"/>
          <p:nvPr/>
        </p:nvSpPr>
        <p:spPr>
          <a:xfrm>
            <a:off x="6843056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332" name="Rectangle 1331"/>
          <p:cNvSpPr/>
          <p:nvPr/>
        </p:nvSpPr>
        <p:spPr>
          <a:xfrm>
            <a:off x="7196305" y="1255806"/>
            <a:ext cx="335249" cy="221774"/>
          </a:xfrm>
          <a:prstGeom prst="rect">
            <a:avLst/>
          </a:prstGeom>
          <a:solidFill>
            <a:srgbClr val="374151">
              <a:alpha val="378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7190305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334" name="TextBox 1333"/>
          <p:cNvSpPr txBox="1"/>
          <p:nvPr/>
        </p:nvSpPr>
        <p:spPr>
          <a:xfrm>
            <a:off x="7190305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335" name="Rectangle 1334"/>
          <p:cNvSpPr/>
          <p:nvPr/>
        </p:nvSpPr>
        <p:spPr>
          <a:xfrm>
            <a:off x="7543554" y="1255806"/>
            <a:ext cx="335249" cy="221774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7537554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1.4M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7537554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38" name="Rectangle 1337"/>
          <p:cNvSpPr/>
          <p:nvPr/>
        </p:nvSpPr>
        <p:spPr>
          <a:xfrm>
            <a:off x="7890803" y="1255806"/>
            <a:ext cx="335249" cy="221774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TextBox 1338"/>
          <p:cNvSpPr txBox="1"/>
          <p:nvPr/>
        </p:nvSpPr>
        <p:spPr>
          <a:xfrm>
            <a:off x="7884803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340" name="TextBox 1339"/>
          <p:cNvSpPr txBox="1"/>
          <p:nvPr/>
        </p:nvSpPr>
        <p:spPr>
          <a:xfrm>
            <a:off x="7884803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3件</a:t>
            </a:r>
          </a:p>
        </p:txBody>
      </p:sp>
      <p:sp>
        <p:nvSpPr>
          <p:cNvPr id="1341" name="Rectangle 1340"/>
          <p:cNvSpPr/>
          <p:nvPr/>
        </p:nvSpPr>
        <p:spPr>
          <a:xfrm>
            <a:off x="8238052" y="1255806"/>
            <a:ext cx="335249" cy="221774"/>
          </a:xfrm>
          <a:prstGeom prst="rect">
            <a:avLst/>
          </a:prstGeom>
          <a:solidFill>
            <a:srgbClr val="374151">
              <a:alpha val="55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TextBox 1341"/>
          <p:cNvSpPr txBox="1"/>
          <p:nvPr/>
        </p:nvSpPr>
        <p:spPr>
          <a:xfrm>
            <a:off x="8232052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0.6M</a:t>
            </a:r>
          </a:p>
        </p:txBody>
      </p:sp>
      <p:sp>
        <p:nvSpPr>
          <p:cNvPr id="1343" name="TextBox 1342"/>
          <p:cNvSpPr txBox="1"/>
          <p:nvPr/>
        </p:nvSpPr>
        <p:spPr>
          <a:xfrm>
            <a:off x="8232052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44" name="Rectangle 1343"/>
          <p:cNvSpPr/>
          <p:nvPr/>
        </p:nvSpPr>
        <p:spPr>
          <a:xfrm>
            <a:off x="8585301" y="1255806"/>
            <a:ext cx="335249" cy="221774"/>
          </a:xfrm>
          <a:prstGeom prst="rect">
            <a:avLst/>
          </a:prstGeom>
          <a:solidFill>
            <a:srgbClr val="374151">
              <a:alpha val="901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TextBox 1344"/>
          <p:cNvSpPr txBox="1"/>
          <p:nvPr/>
        </p:nvSpPr>
        <p:spPr>
          <a:xfrm>
            <a:off x="8579301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1.2M</a:t>
            </a:r>
          </a:p>
        </p:txBody>
      </p:sp>
      <p:sp>
        <p:nvSpPr>
          <p:cNvPr id="1346" name="TextBox 1345"/>
          <p:cNvSpPr txBox="1"/>
          <p:nvPr/>
        </p:nvSpPr>
        <p:spPr>
          <a:xfrm>
            <a:off x="8579301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47" name="Rectangle 1346"/>
          <p:cNvSpPr/>
          <p:nvPr/>
        </p:nvSpPr>
        <p:spPr>
          <a:xfrm>
            <a:off x="8932550" y="1255806"/>
            <a:ext cx="335249" cy="221774"/>
          </a:xfrm>
          <a:prstGeom prst="rect">
            <a:avLst/>
          </a:prstGeom>
          <a:solidFill>
            <a:srgbClr val="374151">
              <a:alpha val="556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TextBox 1347"/>
          <p:cNvSpPr txBox="1"/>
          <p:nvPr/>
        </p:nvSpPr>
        <p:spPr>
          <a:xfrm>
            <a:off x="8926550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0.6M</a:t>
            </a:r>
          </a:p>
        </p:txBody>
      </p:sp>
      <p:sp>
        <p:nvSpPr>
          <p:cNvPr id="1349" name="TextBox 1348"/>
          <p:cNvSpPr txBox="1"/>
          <p:nvPr/>
        </p:nvSpPr>
        <p:spPr>
          <a:xfrm>
            <a:off x="8926550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350" name="Rectangle 1349"/>
          <p:cNvSpPr/>
          <p:nvPr/>
        </p:nvSpPr>
        <p:spPr>
          <a:xfrm>
            <a:off x="9279799" y="1255806"/>
            <a:ext cx="335249" cy="221774"/>
          </a:xfrm>
          <a:prstGeom prst="rect">
            <a:avLst/>
          </a:prstGeom>
          <a:solidFill>
            <a:srgbClr val="374151">
              <a:alpha val="45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TextBox 1350"/>
          <p:cNvSpPr txBox="1"/>
          <p:nvPr/>
        </p:nvSpPr>
        <p:spPr>
          <a:xfrm>
            <a:off x="9273799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352" name="TextBox 1351"/>
          <p:cNvSpPr txBox="1"/>
          <p:nvPr/>
        </p:nvSpPr>
        <p:spPr>
          <a:xfrm>
            <a:off x="9273799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353" name="Rectangle 1352"/>
          <p:cNvSpPr/>
          <p:nvPr/>
        </p:nvSpPr>
        <p:spPr>
          <a:xfrm>
            <a:off x="9627048" y="1255806"/>
            <a:ext cx="335249" cy="221774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TextBox 1353"/>
          <p:cNvSpPr txBox="1"/>
          <p:nvPr/>
        </p:nvSpPr>
        <p:spPr>
          <a:xfrm>
            <a:off x="9621048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355" name="TextBox 1354"/>
          <p:cNvSpPr txBox="1"/>
          <p:nvPr/>
        </p:nvSpPr>
        <p:spPr>
          <a:xfrm>
            <a:off x="9621048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356" name="Rectangle 1355"/>
          <p:cNvSpPr/>
          <p:nvPr/>
        </p:nvSpPr>
        <p:spPr>
          <a:xfrm>
            <a:off x="9974297" y="1255806"/>
            <a:ext cx="335249" cy="221774"/>
          </a:xfrm>
          <a:prstGeom prst="rect">
            <a:avLst/>
          </a:prstGeom>
          <a:solidFill>
            <a:srgbClr val="374151">
              <a:alpha val="290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TextBox 1356"/>
          <p:cNvSpPr txBox="1"/>
          <p:nvPr/>
        </p:nvSpPr>
        <p:spPr>
          <a:xfrm>
            <a:off x="9968297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358" name="TextBox 1357"/>
          <p:cNvSpPr txBox="1"/>
          <p:nvPr/>
        </p:nvSpPr>
        <p:spPr>
          <a:xfrm>
            <a:off x="9968297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359" name="Rectangle 1358"/>
          <p:cNvSpPr/>
          <p:nvPr/>
        </p:nvSpPr>
        <p:spPr>
          <a:xfrm>
            <a:off x="10321546" y="1255806"/>
            <a:ext cx="335249" cy="221774"/>
          </a:xfrm>
          <a:prstGeom prst="rect">
            <a:avLst/>
          </a:prstGeom>
          <a:solidFill>
            <a:srgbClr val="374151">
              <a:alpha val="311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TextBox 1359"/>
          <p:cNvSpPr txBox="1"/>
          <p:nvPr/>
        </p:nvSpPr>
        <p:spPr>
          <a:xfrm>
            <a:off x="10315546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361" name="TextBox 1360"/>
          <p:cNvSpPr txBox="1"/>
          <p:nvPr/>
        </p:nvSpPr>
        <p:spPr>
          <a:xfrm>
            <a:off x="10315546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362" name="Rectangle 1361"/>
          <p:cNvSpPr/>
          <p:nvPr/>
        </p:nvSpPr>
        <p:spPr>
          <a:xfrm>
            <a:off x="10668795" y="1255806"/>
            <a:ext cx="335249" cy="221774"/>
          </a:xfrm>
          <a:prstGeom prst="rect">
            <a:avLst/>
          </a:prstGeom>
          <a:solidFill>
            <a:srgbClr val="374151">
              <a:alpha val="453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TextBox 1362"/>
          <p:cNvSpPr txBox="1"/>
          <p:nvPr/>
        </p:nvSpPr>
        <p:spPr>
          <a:xfrm>
            <a:off x="10662795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364" name="TextBox 1363"/>
          <p:cNvSpPr txBox="1"/>
          <p:nvPr/>
        </p:nvSpPr>
        <p:spPr>
          <a:xfrm>
            <a:off x="10662795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365" name="Rectangle 1364"/>
          <p:cNvSpPr/>
          <p:nvPr/>
        </p:nvSpPr>
        <p:spPr>
          <a:xfrm>
            <a:off x="11710542" y="1255806"/>
            <a:ext cx="335249" cy="221774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TextBox 1365"/>
          <p:cNvSpPr txBox="1"/>
          <p:nvPr/>
        </p:nvSpPr>
        <p:spPr>
          <a:xfrm>
            <a:off x="11704542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367" name="TextBox 1366"/>
          <p:cNvSpPr txBox="1"/>
          <p:nvPr/>
        </p:nvSpPr>
        <p:spPr>
          <a:xfrm>
            <a:off x="11704542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368" name="TextBox 1367"/>
          <p:cNvSpPr txBox="1"/>
          <p:nvPr/>
        </p:nvSpPr>
        <p:spPr>
          <a:xfrm>
            <a:off x="6183056" y="1483580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BK业务</a:t>
            </a:r>
          </a:p>
        </p:txBody>
      </p:sp>
      <p:sp>
        <p:nvSpPr>
          <p:cNvPr id="1369" name="Rectangle 1368"/>
          <p:cNvSpPr/>
          <p:nvPr/>
        </p:nvSpPr>
        <p:spPr>
          <a:xfrm>
            <a:off x="6849056" y="1489580"/>
            <a:ext cx="335249" cy="221774"/>
          </a:xfrm>
          <a:prstGeom prst="rect">
            <a:avLst/>
          </a:prstGeom>
          <a:solidFill>
            <a:srgbClr val="1F3864">
              <a:alpha val="27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6843056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0.2M</a:t>
            </a:r>
          </a:p>
        </p:txBody>
      </p:sp>
      <p:sp>
        <p:nvSpPr>
          <p:cNvPr id="1371" name="TextBox 1370"/>
          <p:cNvSpPr txBox="1"/>
          <p:nvPr/>
        </p:nvSpPr>
        <p:spPr>
          <a:xfrm>
            <a:off x="6843056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372" name="Rectangle 1371"/>
          <p:cNvSpPr/>
          <p:nvPr/>
        </p:nvSpPr>
        <p:spPr>
          <a:xfrm>
            <a:off x="7196305" y="1489580"/>
            <a:ext cx="335249" cy="221774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7190305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374" name="TextBox 1373"/>
          <p:cNvSpPr txBox="1"/>
          <p:nvPr/>
        </p:nvSpPr>
        <p:spPr>
          <a:xfrm>
            <a:off x="7190305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75" name="Rectangle 1374"/>
          <p:cNvSpPr/>
          <p:nvPr/>
        </p:nvSpPr>
        <p:spPr>
          <a:xfrm>
            <a:off x="7543554" y="1489580"/>
            <a:ext cx="335249" cy="221774"/>
          </a:xfrm>
          <a:prstGeom prst="rect">
            <a:avLst/>
          </a:prstGeom>
          <a:solidFill>
            <a:srgbClr val="1F3864">
              <a:alpha val="590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TextBox 1375"/>
          <p:cNvSpPr txBox="1"/>
          <p:nvPr/>
        </p:nvSpPr>
        <p:spPr>
          <a:xfrm>
            <a:off x="7537554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1.9M</a:t>
            </a:r>
          </a:p>
        </p:txBody>
      </p:sp>
      <p:sp>
        <p:nvSpPr>
          <p:cNvPr id="1377" name="TextBox 1376"/>
          <p:cNvSpPr txBox="1"/>
          <p:nvPr/>
        </p:nvSpPr>
        <p:spPr>
          <a:xfrm>
            <a:off x="7537554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78" name="Rectangle 1377"/>
          <p:cNvSpPr/>
          <p:nvPr/>
        </p:nvSpPr>
        <p:spPr>
          <a:xfrm>
            <a:off x="7890803" y="1489580"/>
            <a:ext cx="335249" cy="221774"/>
          </a:xfrm>
          <a:prstGeom prst="rect">
            <a:avLst/>
          </a:prstGeom>
          <a:solidFill>
            <a:srgbClr val="1F3864">
              <a:alpha val="34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TextBox 1378"/>
          <p:cNvSpPr txBox="1"/>
          <p:nvPr/>
        </p:nvSpPr>
        <p:spPr>
          <a:xfrm>
            <a:off x="7884803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0.5M</a:t>
            </a:r>
          </a:p>
        </p:txBody>
      </p:sp>
      <p:sp>
        <p:nvSpPr>
          <p:cNvPr id="1380" name="TextBox 1379"/>
          <p:cNvSpPr txBox="1"/>
          <p:nvPr/>
        </p:nvSpPr>
        <p:spPr>
          <a:xfrm>
            <a:off x="7884803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381" name="Rectangle 1380"/>
          <p:cNvSpPr/>
          <p:nvPr/>
        </p:nvSpPr>
        <p:spPr>
          <a:xfrm>
            <a:off x="8238052" y="1489580"/>
            <a:ext cx="335249" cy="221774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TextBox 1381"/>
          <p:cNvSpPr txBox="1"/>
          <p:nvPr/>
        </p:nvSpPr>
        <p:spPr>
          <a:xfrm>
            <a:off x="8232052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383" name="TextBox 1382"/>
          <p:cNvSpPr txBox="1"/>
          <p:nvPr/>
        </p:nvSpPr>
        <p:spPr>
          <a:xfrm>
            <a:off x="8232052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84" name="Rectangle 1383"/>
          <p:cNvSpPr/>
          <p:nvPr/>
        </p:nvSpPr>
        <p:spPr>
          <a:xfrm>
            <a:off x="8585301" y="1489580"/>
            <a:ext cx="335249" cy="221774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TextBox 1384"/>
          <p:cNvSpPr txBox="1"/>
          <p:nvPr/>
        </p:nvSpPr>
        <p:spPr>
          <a:xfrm>
            <a:off x="8579301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386" name="TextBox 1385"/>
          <p:cNvSpPr txBox="1"/>
          <p:nvPr/>
        </p:nvSpPr>
        <p:spPr>
          <a:xfrm>
            <a:off x="8579301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387" name="Rectangle 1386"/>
          <p:cNvSpPr/>
          <p:nvPr/>
        </p:nvSpPr>
        <p:spPr>
          <a:xfrm>
            <a:off x="8932550" y="1489580"/>
            <a:ext cx="335249" cy="221774"/>
          </a:xfrm>
          <a:prstGeom prst="rect">
            <a:avLst/>
          </a:prstGeom>
          <a:solidFill>
            <a:srgbClr val="1F3864">
              <a:alpha val="42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TextBox 1387"/>
          <p:cNvSpPr txBox="1"/>
          <p:nvPr/>
        </p:nvSpPr>
        <p:spPr>
          <a:xfrm>
            <a:off x="8926550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1.0M</a:t>
            </a:r>
          </a:p>
        </p:txBody>
      </p:sp>
      <p:sp>
        <p:nvSpPr>
          <p:cNvPr id="1389" name="TextBox 1388"/>
          <p:cNvSpPr txBox="1"/>
          <p:nvPr/>
        </p:nvSpPr>
        <p:spPr>
          <a:xfrm>
            <a:off x="8926550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390" name="Rectangle 1389"/>
          <p:cNvSpPr/>
          <p:nvPr/>
        </p:nvSpPr>
        <p:spPr>
          <a:xfrm>
            <a:off x="9279799" y="1489580"/>
            <a:ext cx="335249" cy="221774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TextBox 1390"/>
          <p:cNvSpPr txBox="1"/>
          <p:nvPr/>
        </p:nvSpPr>
        <p:spPr>
          <a:xfrm>
            <a:off x="9273799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392" name="TextBox 1391"/>
          <p:cNvSpPr txBox="1"/>
          <p:nvPr/>
        </p:nvSpPr>
        <p:spPr>
          <a:xfrm>
            <a:off x="9273799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393" name="Rectangle 1392"/>
          <p:cNvSpPr/>
          <p:nvPr/>
        </p:nvSpPr>
        <p:spPr>
          <a:xfrm>
            <a:off x="9627048" y="1489580"/>
            <a:ext cx="335249" cy="221774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TextBox 1393"/>
          <p:cNvSpPr txBox="1"/>
          <p:nvPr/>
        </p:nvSpPr>
        <p:spPr>
          <a:xfrm>
            <a:off x="9621048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395" name="TextBox 1394"/>
          <p:cNvSpPr txBox="1"/>
          <p:nvPr/>
        </p:nvSpPr>
        <p:spPr>
          <a:xfrm>
            <a:off x="9621048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396" name="Rectangle 1395"/>
          <p:cNvSpPr/>
          <p:nvPr/>
        </p:nvSpPr>
        <p:spPr>
          <a:xfrm>
            <a:off x="9974297" y="1489580"/>
            <a:ext cx="335249" cy="221774"/>
          </a:xfrm>
          <a:prstGeom prst="rect">
            <a:avLst/>
          </a:prstGeom>
          <a:solidFill>
            <a:srgbClr val="1F3864">
              <a:alpha val="768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TextBox 1396"/>
          <p:cNvSpPr txBox="1"/>
          <p:nvPr/>
        </p:nvSpPr>
        <p:spPr>
          <a:xfrm>
            <a:off x="9968297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3.0M</a:t>
            </a:r>
          </a:p>
        </p:txBody>
      </p:sp>
      <p:sp>
        <p:nvSpPr>
          <p:cNvPr id="1398" name="TextBox 1397"/>
          <p:cNvSpPr txBox="1"/>
          <p:nvPr/>
        </p:nvSpPr>
        <p:spPr>
          <a:xfrm>
            <a:off x="9968297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399" name="Rectangle 1398"/>
          <p:cNvSpPr/>
          <p:nvPr/>
        </p:nvSpPr>
        <p:spPr>
          <a:xfrm>
            <a:off x="10321546" y="1489580"/>
            <a:ext cx="335249" cy="221774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TextBox 1399"/>
          <p:cNvSpPr txBox="1"/>
          <p:nvPr/>
        </p:nvSpPr>
        <p:spPr>
          <a:xfrm>
            <a:off x="10315546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401" name="TextBox 1400"/>
          <p:cNvSpPr txBox="1"/>
          <p:nvPr/>
        </p:nvSpPr>
        <p:spPr>
          <a:xfrm>
            <a:off x="10315546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402" name="Rectangle 1401"/>
          <p:cNvSpPr/>
          <p:nvPr/>
        </p:nvSpPr>
        <p:spPr>
          <a:xfrm>
            <a:off x="10668795" y="1489580"/>
            <a:ext cx="335249" cy="221774"/>
          </a:xfrm>
          <a:prstGeom prst="rect">
            <a:avLst/>
          </a:prstGeom>
          <a:solidFill>
            <a:srgbClr val="1F3864">
              <a:alpha val="807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TextBox 1402"/>
          <p:cNvSpPr txBox="1"/>
          <p:nvPr/>
        </p:nvSpPr>
        <p:spPr>
          <a:xfrm>
            <a:off x="10662795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3.2M</a:t>
            </a:r>
          </a:p>
        </p:txBody>
      </p:sp>
      <p:sp>
        <p:nvSpPr>
          <p:cNvPr id="1404" name="TextBox 1403"/>
          <p:cNvSpPr txBox="1"/>
          <p:nvPr/>
        </p:nvSpPr>
        <p:spPr>
          <a:xfrm>
            <a:off x="10662795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5件</a:t>
            </a:r>
          </a:p>
        </p:txBody>
      </p:sp>
      <p:sp>
        <p:nvSpPr>
          <p:cNvPr id="1405" name="Rectangle 1404"/>
          <p:cNvSpPr/>
          <p:nvPr/>
        </p:nvSpPr>
        <p:spPr>
          <a:xfrm>
            <a:off x="11016044" y="1489580"/>
            <a:ext cx="335249" cy="221774"/>
          </a:xfrm>
          <a:prstGeom prst="rect">
            <a:avLst/>
          </a:prstGeom>
          <a:solidFill>
            <a:srgbClr val="1F3864">
              <a:alpha val="7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TextBox 1405"/>
          <p:cNvSpPr txBox="1"/>
          <p:nvPr/>
        </p:nvSpPr>
        <p:spPr>
          <a:xfrm>
            <a:off x="11010044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3.1M</a:t>
            </a:r>
          </a:p>
        </p:txBody>
      </p:sp>
      <p:sp>
        <p:nvSpPr>
          <p:cNvPr id="1407" name="TextBox 1406"/>
          <p:cNvSpPr txBox="1"/>
          <p:nvPr/>
        </p:nvSpPr>
        <p:spPr>
          <a:xfrm>
            <a:off x="11010044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408" name="Rectangle 1407"/>
          <p:cNvSpPr/>
          <p:nvPr/>
        </p:nvSpPr>
        <p:spPr>
          <a:xfrm>
            <a:off x="11363293" y="1489580"/>
            <a:ext cx="335249" cy="221774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TextBox 1408"/>
          <p:cNvSpPr txBox="1"/>
          <p:nvPr/>
        </p:nvSpPr>
        <p:spPr>
          <a:xfrm>
            <a:off x="11357293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410" name="TextBox 1409"/>
          <p:cNvSpPr txBox="1"/>
          <p:nvPr/>
        </p:nvSpPr>
        <p:spPr>
          <a:xfrm>
            <a:off x="11357293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3件</a:t>
            </a:r>
          </a:p>
        </p:txBody>
      </p:sp>
      <p:sp>
        <p:nvSpPr>
          <p:cNvPr id="1411" name="Rectangle 1410"/>
          <p:cNvSpPr/>
          <p:nvPr/>
        </p:nvSpPr>
        <p:spPr>
          <a:xfrm>
            <a:off x="11710542" y="1489580"/>
            <a:ext cx="335249" cy="221774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TextBox 1411"/>
          <p:cNvSpPr txBox="1"/>
          <p:nvPr/>
        </p:nvSpPr>
        <p:spPr>
          <a:xfrm>
            <a:off x="11704542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413" name="TextBox 1412"/>
          <p:cNvSpPr txBox="1"/>
          <p:nvPr/>
        </p:nvSpPr>
        <p:spPr>
          <a:xfrm>
            <a:off x="11704542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414" name="TextBox 1413"/>
          <p:cNvSpPr txBox="1"/>
          <p:nvPr/>
        </p:nvSpPr>
        <p:spPr>
          <a:xfrm>
            <a:off x="6183056" y="1717354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同行经代</a:t>
            </a:r>
          </a:p>
        </p:txBody>
      </p:sp>
      <p:sp>
        <p:nvSpPr>
          <p:cNvPr id="1415" name="Rectangle 1414"/>
          <p:cNvSpPr/>
          <p:nvPr/>
        </p:nvSpPr>
        <p:spPr>
          <a:xfrm>
            <a:off x="6849056" y="1723354"/>
            <a:ext cx="335249" cy="221774"/>
          </a:xfrm>
          <a:prstGeom prst="rect">
            <a:avLst/>
          </a:prstGeom>
          <a:solidFill>
            <a:srgbClr val="E67E22">
              <a:alpha val="276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TextBox 1415"/>
          <p:cNvSpPr txBox="1"/>
          <p:nvPr/>
        </p:nvSpPr>
        <p:spPr>
          <a:xfrm>
            <a:off x="6843056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0.4M</a:t>
            </a:r>
          </a:p>
        </p:txBody>
      </p:sp>
      <p:sp>
        <p:nvSpPr>
          <p:cNvPr id="1417" name="TextBox 1416"/>
          <p:cNvSpPr txBox="1"/>
          <p:nvPr/>
        </p:nvSpPr>
        <p:spPr>
          <a:xfrm>
            <a:off x="6843056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2件</a:t>
            </a:r>
          </a:p>
        </p:txBody>
      </p:sp>
      <p:sp>
        <p:nvSpPr>
          <p:cNvPr id="1418" name="Rectangle 1417"/>
          <p:cNvSpPr/>
          <p:nvPr/>
        </p:nvSpPr>
        <p:spPr>
          <a:xfrm>
            <a:off x="7196305" y="1723354"/>
            <a:ext cx="335249" cy="221774"/>
          </a:xfrm>
          <a:prstGeom prst="rect">
            <a:avLst/>
          </a:prstGeom>
          <a:solidFill>
            <a:srgbClr val="E67E22">
              <a:alpha val="4127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TextBox 1418"/>
          <p:cNvSpPr txBox="1"/>
          <p:nvPr/>
        </p:nvSpPr>
        <p:spPr>
          <a:xfrm>
            <a:off x="7190305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2.4M</a:t>
            </a:r>
          </a:p>
        </p:txBody>
      </p:sp>
      <p:sp>
        <p:nvSpPr>
          <p:cNvPr id="1420" name="TextBox 1419"/>
          <p:cNvSpPr txBox="1"/>
          <p:nvPr/>
        </p:nvSpPr>
        <p:spPr>
          <a:xfrm>
            <a:off x="7190305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9件</a:t>
            </a:r>
          </a:p>
        </p:txBody>
      </p:sp>
      <p:sp>
        <p:nvSpPr>
          <p:cNvPr id="1421" name="Rectangle 1420"/>
          <p:cNvSpPr/>
          <p:nvPr/>
        </p:nvSpPr>
        <p:spPr>
          <a:xfrm>
            <a:off x="7543554" y="1723354"/>
            <a:ext cx="335249" cy="221774"/>
          </a:xfrm>
          <a:prstGeom prst="rect">
            <a:avLst/>
          </a:prstGeom>
          <a:solidFill>
            <a:srgbClr val="E67E22">
              <a:alpha val="3895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TextBox 1421"/>
          <p:cNvSpPr txBox="1"/>
          <p:nvPr/>
        </p:nvSpPr>
        <p:spPr>
          <a:xfrm>
            <a:off x="7537554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2.0M</a:t>
            </a:r>
          </a:p>
        </p:txBody>
      </p:sp>
      <p:sp>
        <p:nvSpPr>
          <p:cNvPr id="1423" name="TextBox 1422"/>
          <p:cNvSpPr txBox="1"/>
          <p:nvPr/>
        </p:nvSpPr>
        <p:spPr>
          <a:xfrm>
            <a:off x="7537554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424" name="Rectangle 1423"/>
          <p:cNvSpPr/>
          <p:nvPr/>
        </p:nvSpPr>
        <p:spPr>
          <a:xfrm>
            <a:off x="7890803" y="1723354"/>
            <a:ext cx="335249" cy="221774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TextBox 1424"/>
          <p:cNvSpPr txBox="1"/>
          <p:nvPr/>
        </p:nvSpPr>
        <p:spPr>
          <a:xfrm>
            <a:off x="7884803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10.8M</a:t>
            </a:r>
          </a:p>
        </p:txBody>
      </p:sp>
      <p:sp>
        <p:nvSpPr>
          <p:cNvPr id="1426" name="TextBox 1425"/>
          <p:cNvSpPr txBox="1"/>
          <p:nvPr/>
        </p:nvSpPr>
        <p:spPr>
          <a:xfrm>
            <a:off x="7884803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1427" name="Rectangle 1426"/>
          <p:cNvSpPr/>
          <p:nvPr/>
        </p:nvSpPr>
        <p:spPr>
          <a:xfrm>
            <a:off x="8238052" y="1723354"/>
            <a:ext cx="335249" cy="221774"/>
          </a:xfrm>
          <a:prstGeom prst="rect">
            <a:avLst/>
          </a:prstGeom>
          <a:solidFill>
            <a:srgbClr val="E67E22">
              <a:alpha val="3755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TextBox 1427"/>
          <p:cNvSpPr txBox="1"/>
          <p:nvPr/>
        </p:nvSpPr>
        <p:spPr>
          <a:xfrm>
            <a:off x="8232052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1.8M</a:t>
            </a:r>
          </a:p>
        </p:txBody>
      </p:sp>
      <p:sp>
        <p:nvSpPr>
          <p:cNvPr id="1429" name="TextBox 1428"/>
          <p:cNvSpPr txBox="1"/>
          <p:nvPr/>
        </p:nvSpPr>
        <p:spPr>
          <a:xfrm>
            <a:off x="8232052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4件</a:t>
            </a:r>
          </a:p>
        </p:txBody>
      </p:sp>
      <p:sp>
        <p:nvSpPr>
          <p:cNvPr id="1430" name="Rectangle 1429"/>
          <p:cNvSpPr/>
          <p:nvPr/>
        </p:nvSpPr>
        <p:spPr>
          <a:xfrm>
            <a:off x="8585301" y="1723354"/>
            <a:ext cx="335249" cy="221774"/>
          </a:xfrm>
          <a:prstGeom prst="rect">
            <a:avLst/>
          </a:prstGeom>
          <a:solidFill>
            <a:srgbClr val="E67E22">
              <a:alpha val="631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TextBox 1430"/>
          <p:cNvSpPr txBox="1"/>
          <p:nvPr/>
        </p:nvSpPr>
        <p:spPr>
          <a:xfrm>
            <a:off x="8579301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5.5M</a:t>
            </a:r>
          </a:p>
        </p:txBody>
      </p:sp>
      <p:sp>
        <p:nvSpPr>
          <p:cNvPr id="1432" name="TextBox 1431"/>
          <p:cNvSpPr txBox="1"/>
          <p:nvPr/>
        </p:nvSpPr>
        <p:spPr>
          <a:xfrm>
            <a:off x="8579301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433" name="Rectangle 1432"/>
          <p:cNvSpPr/>
          <p:nvPr/>
        </p:nvSpPr>
        <p:spPr>
          <a:xfrm>
            <a:off x="8932550" y="1723354"/>
            <a:ext cx="335249" cy="221774"/>
          </a:xfrm>
          <a:prstGeom prst="rect">
            <a:avLst/>
          </a:prstGeom>
          <a:solidFill>
            <a:srgbClr val="E67E22">
              <a:alpha val="455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TextBox 1433"/>
          <p:cNvSpPr txBox="1"/>
          <p:nvPr/>
        </p:nvSpPr>
        <p:spPr>
          <a:xfrm>
            <a:off x="8926550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3.0M</a:t>
            </a:r>
          </a:p>
        </p:txBody>
      </p:sp>
      <p:sp>
        <p:nvSpPr>
          <p:cNvPr id="1435" name="TextBox 1434"/>
          <p:cNvSpPr txBox="1"/>
          <p:nvPr/>
        </p:nvSpPr>
        <p:spPr>
          <a:xfrm>
            <a:off x="8926550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11件</a:t>
            </a:r>
          </a:p>
        </p:txBody>
      </p:sp>
      <p:sp>
        <p:nvSpPr>
          <p:cNvPr id="1436" name="Rectangle 1435"/>
          <p:cNvSpPr/>
          <p:nvPr/>
        </p:nvSpPr>
        <p:spPr>
          <a:xfrm>
            <a:off x="9279799" y="1723354"/>
            <a:ext cx="335249" cy="221774"/>
          </a:xfrm>
          <a:prstGeom prst="rect">
            <a:avLst/>
          </a:prstGeom>
          <a:solidFill>
            <a:srgbClr val="E67E22">
              <a:alpha val="7118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TextBox 1436"/>
          <p:cNvSpPr txBox="1"/>
          <p:nvPr/>
        </p:nvSpPr>
        <p:spPr>
          <a:xfrm>
            <a:off x="9273799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6.7M</a:t>
            </a:r>
          </a:p>
        </p:txBody>
      </p:sp>
      <p:sp>
        <p:nvSpPr>
          <p:cNvPr id="1438" name="TextBox 1437"/>
          <p:cNvSpPr txBox="1"/>
          <p:nvPr/>
        </p:nvSpPr>
        <p:spPr>
          <a:xfrm>
            <a:off x="9273799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20件</a:t>
            </a:r>
          </a:p>
        </p:txBody>
      </p:sp>
      <p:sp>
        <p:nvSpPr>
          <p:cNvPr id="1439" name="Rectangle 1438"/>
          <p:cNvSpPr/>
          <p:nvPr/>
        </p:nvSpPr>
        <p:spPr>
          <a:xfrm>
            <a:off x="9627048" y="1723354"/>
            <a:ext cx="335249" cy="221774"/>
          </a:xfrm>
          <a:prstGeom prst="rect">
            <a:avLst/>
          </a:prstGeom>
          <a:solidFill>
            <a:srgbClr val="E67E22">
              <a:alpha val="529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TextBox 1439"/>
          <p:cNvSpPr txBox="1"/>
          <p:nvPr/>
        </p:nvSpPr>
        <p:spPr>
          <a:xfrm>
            <a:off x="9621048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4.0M</a:t>
            </a:r>
          </a:p>
        </p:txBody>
      </p:sp>
      <p:sp>
        <p:nvSpPr>
          <p:cNvPr id="1441" name="TextBox 1440"/>
          <p:cNvSpPr txBox="1"/>
          <p:nvPr/>
        </p:nvSpPr>
        <p:spPr>
          <a:xfrm>
            <a:off x="9621048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12件</a:t>
            </a:r>
          </a:p>
        </p:txBody>
      </p:sp>
      <p:sp>
        <p:nvSpPr>
          <p:cNvPr id="1442" name="Rectangle 1441"/>
          <p:cNvSpPr/>
          <p:nvPr/>
        </p:nvSpPr>
        <p:spPr>
          <a:xfrm>
            <a:off x="9974297" y="1723354"/>
            <a:ext cx="335249" cy="221774"/>
          </a:xfrm>
          <a:prstGeom prst="rect">
            <a:avLst/>
          </a:prstGeom>
          <a:solidFill>
            <a:srgbClr val="E67E22">
              <a:alpha val="379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TextBox 1442"/>
          <p:cNvSpPr txBox="1"/>
          <p:nvPr/>
        </p:nvSpPr>
        <p:spPr>
          <a:xfrm>
            <a:off x="9968297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1.9M</a:t>
            </a:r>
          </a:p>
        </p:txBody>
      </p:sp>
      <p:sp>
        <p:nvSpPr>
          <p:cNvPr id="1444" name="TextBox 1443"/>
          <p:cNvSpPr txBox="1"/>
          <p:nvPr/>
        </p:nvSpPr>
        <p:spPr>
          <a:xfrm>
            <a:off x="9968297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5件</a:t>
            </a:r>
          </a:p>
        </p:txBody>
      </p:sp>
      <p:sp>
        <p:nvSpPr>
          <p:cNvPr id="1445" name="Rectangle 1444"/>
          <p:cNvSpPr/>
          <p:nvPr/>
        </p:nvSpPr>
        <p:spPr>
          <a:xfrm>
            <a:off x="10321546" y="1723354"/>
            <a:ext cx="335249" cy="221774"/>
          </a:xfrm>
          <a:prstGeom prst="rect">
            <a:avLst/>
          </a:prstGeom>
          <a:solidFill>
            <a:srgbClr val="E67E22">
              <a:alpha val="808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TextBox 1445"/>
          <p:cNvSpPr txBox="1"/>
          <p:nvPr/>
        </p:nvSpPr>
        <p:spPr>
          <a:xfrm>
            <a:off x="10315546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8.1M</a:t>
            </a:r>
          </a:p>
        </p:txBody>
      </p:sp>
      <p:sp>
        <p:nvSpPr>
          <p:cNvPr id="1447" name="TextBox 1446"/>
          <p:cNvSpPr txBox="1"/>
          <p:nvPr/>
        </p:nvSpPr>
        <p:spPr>
          <a:xfrm>
            <a:off x="10315546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448" name="Rectangle 1447"/>
          <p:cNvSpPr/>
          <p:nvPr/>
        </p:nvSpPr>
        <p:spPr>
          <a:xfrm>
            <a:off x="10668795" y="1723354"/>
            <a:ext cx="335249" cy="221774"/>
          </a:xfrm>
          <a:prstGeom prst="rect">
            <a:avLst/>
          </a:prstGeom>
          <a:solidFill>
            <a:srgbClr val="E67E22">
              <a:alpha val="7053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TextBox 1448"/>
          <p:cNvSpPr txBox="1"/>
          <p:nvPr/>
        </p:nvSpPr>
        <p:spPr>
          <a:xfrm>
            <a:off x="10662795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6.6M</a:t>
            </a:r>
          </a:p>
        </p:txBody>
      </p:sp>
      <p:sp>
        <p:nvSpPr>
          <p:cNvPr id="1450" name="TextBox 1449"/>
          <p:cNvSpPr txBox="1"/>
          <p:nvPr/>
        </p:nvSpPr>
        <p:spPr>
          <a:xfrm>
            <a:off x="10662795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451" name="Rectangle 1450"/>
          <p:cNvSpPr/>
          <p:nvPr/>
        </p:nvSpPr>
        <p:spPr>
          <a:xfrm>
            <a:off x="11016044" y="1723354"/>
            <a:ext cx="335249" cy="221774"/>
          </a:xfrm>
          <a:prstGeom prst="rect">
            <a:avLst/>
          </a:prstGeom>
          <a:solidFill>
            <a:srgbClr val="E67E22">
              <a:alpha val="5404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TextBox 1451"/>
          <p:cNvSpPr txBox="1"/>
          <p:nvPr/>
        </p:nvSpPr>
        <p:spPr>
          <a:xfrm>
            <a:off x="11010044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4.2M</a:t>
            </a:r>
          </a:p>
        </p:txBody>
      </p:sp>
      <p:sp>
        <p:nvSpPr>
          <p:cNvPr id="1453" name="TextBox 1452"/>
          <p:cNvSpPr txBox="1"/>
          <p:nvPr/>
        </p:nvSpPr>
        <p:spPr>
          <a:xfrm>
            <a:off x="11010044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454" name="Rectangle 1453"/>
          <p:cNvSpPr/>
          <p:nvPr/>
        </p:nvSpPr>
        <p:spPr>
          <a:xfrm>
            <a:off x="11363293" y="1723354"/>
            <a:ext cx="335249" cy="221774"/>
          </a:xfrm>
          <a:prstGeom prst="rect">
            <a:avLst/>
          </a:prstGeom>
          <a:solidFill>
            <a:srgbClr val="E67E22">
              <a:alpha val="327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TextBox 1454"/>
          <p:cNvSpPr txBox="1"/>
          <p:nvPr/>
        </p:nvSpPr>
        <p:spPr>
          <a:xfrm>
            <a:off x="11357293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1.1M</a:t>
            </a:r>
          </a:p>
        </p:txBody>
      </p:sp>
      <p:sp>
        <p:nvSpPr>
          <p:cNvPr id="1456" name="TextBox 1455"/>
          <p:cNvSpPr txBox="1"/>
          <p:nvPr/>
        </p:nvSpPr>
        <p:spPr>
          <a:xfrm>
            <a:off x="11357293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5件</a:t>
            </a:r>
          </a:p>
        </p:txBody>
      </p:sp>
      <p:sp>
        <p:nvSpPr>
          <p:cNvPr id="1457" name="Rectangle 1456"/>
          <p:cNvSpPr/>
          <p:nvPr/>
        </p:nvSpPr>
        <p:spPr>
          <a:xfrm>
            <a:off x="11710542" y="1723354"/>
            <a:ext cx="335249" cy="221774"/>
          </a:xfrm>
          <a:prstGeom prst="rect">
            <a:avLst/>
          </a:prstGeom>
          <a:solidFill>
            <a:srgbClr val="E67E22">
              <a:alpha val="3552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TextBox 1457"/>
          <p:cNvSpPr txBox="1"/>
          <p:nvPr/>
        </p:nvSpPr>
        <p:spPr>
          <a:xfrm>
            <a:off x="11704542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1.5M</a:t>
            </a:r>
          </a:p>
        </p:txBody>
      </p:sp>
      <p:sp>
        <p:nvSpPr>
          <p:cNvPr id="1459" name="TextBox 1458"/>
          <p:cNvSpPr txBox="1"/>
          <p:nvPr/>
        </p:nvSpPr>
        <p:spPr>
          <a:xfrm>
            <a:off x="11704542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6件</a:t>
            </a:r>
          </a:p>
        </p:txBody>
      </p:sp>
      <p:sp>
        <p:nvSpPr>
          <p:cNvPr id="1460" name="TextBox 1459"/>
          <p:cNvSpPr txBox="1"/>
          <p:nvPr/>
        </p:nvSpPr>
        <p:spPr>
          <a:xfrm>
            <a:off x="6183056" y="1951128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永明经代</a:t>
            </a:r>
          </a:p>
        </p:txBody>
      </p:sp>
      <p:sp>
        <p:nvSpPr>
          <p:cNvPr id="1461" name="Rectangle 1460"/>
          <p:cNvSpPr/>
          <p:nvPr/>
        </p:nvSpPr>
        <p:spPr>
          <a:xfrm>
            <a:off x="6849056" y="1957128"/>
            <a:ext cx="335249" cy="221774"/>
          </a:xfrm>
          <a:prstGeom prst="rect">
            <a:avLst/>
          </a:prstGeom>
          <a:solidFill>
            <a:srgbClr val="1A7A3F">
              <a:alpha val="5568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TextBox 1461"/>
          <p:cNvSpPr txBox="1"/>
          <p:nvPr/>
        </p:nvSpPr>
        <p:spPr>
          <a:xfrm>
            <a:off x="6843056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463" name="TextBox 1462"/>
          <p:cNvSpPr txBox="1"/>
          <p:nvPr/>
        </p:nvSpPr>
        <p:spPr>
          <a:xfrm>
            <a:off x="6843056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464" name="Rectangle 1463"/>
          <p:cNvSpPr/>
          <p:nvPr/>
        </p:nvSpPr>
        <p:spPr>
          <a:xfrm>
            <a:off x="7196305" y="1957128"/>
            <a:ext cx="335249" cy="221774"/>
          </a:xfrm>
          <a:prstGeom prst="rect">
            <a:avLst/>
          </a:prstGeom>
          <a:solidFill>
            <a:srgbClr val="1A7A3F">
              <a:alpha val="464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TextBox 1464"/>
          <p:cNvSpPr txBox="1"/>
          <p:nvPr/>
        </p:nvSpPr>
        <p:spPr>
          <a:xfrm>
            <a:off x="7190305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2.8M</a:t>
            </a:r>
          </a:p>
        </p:txBody>
      </p:sp>
      <p:sp>
        <p:nvSpPr>
          <p:cNvPr id="1466" name="TextBox 1465"/>
          <p:cNvSpPr txBox="1"/>
          <p:nvPr/>
        </p:nvSpPr>
        <p:spPr>
          <a:xfrm>
            <a:off x="7190305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467" name="Rectangle 1466"/>
          <p:cNvSpPr/>
          <p:nvPr/>
        </p:nvSpPr>
        <p:spPr>
          <a:xfrm>
            <a:off x="7543554" y="1957128"/>
            <a:ext cx="335249" cy="221774"/>
          </a:xfrm>
          <a:prstGeom prst="rect">
            <a:avLst/>
          </a:prstGeom>
          <a:solidFill>
            <a:srgbClr val="1A7A3F">
              <a:alpha val="697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TextBox 1467"/>
          <p:cNvSpPr txBox="1"/>
          <p:nvPr/>
        </p:nvSpPr>
        <p:spPr>
          <a:xfrm>
            <a:off x="7537554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5.8M</a:t>
            </a:r>
          </a:p>
        </p:txBody>
      </p:sp>
      <p:sp>
        <p:nvSpPr>
          <p:cNvPr id="1469" name="TextBox 1468"/>
          <p:cNvSpPr txBox="1"/>
          <p:nvPr/>
        </p:nvSpPr>
        <p:spPr>
          <a:xfrm>
            <a:off x="7537554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470" name="Rectangle 1469"/>
          <p:cNvSpPr/>
          <p:nvPr/>
        </p:nvSpPr>
        <p:spPr>
          <a:xfrm>
            <a:off x="7890803" y="1957128"/>
            <a:ext cx="335249" cy="221774"/>
          </a:xfrm>
          <a:prstGeom prst="rect">
            <a:avLst/>
          </a:prstGeom>
          <a:solidFill>
            <a:srgbClr val="1A7A3F">
              <a:alpha val="423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TextBox 1470"/>
          <p:cNvSpPr txBox="1"/>
          <p:nvPr/>
        </p:nvSpPr>
        <p:spPr>
          <a:xfrm>
            <a:off x="7884803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472" name="TextBox 1471"/>
          <p:cNvSpPr txBox="1"/>
          <p:nvPr/>
        </p:nvSpPr>
        <p:spPr>
          <a:xfrm>
            <a:off x="7884803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4件</a:t>
            </a:r>
          </a:p>
        </p:txBody>
      </p:sp>
      <p:sp>
        <p:nvSpPr>
          <p:cNvPr id="1473" name="Rectangle 1472"/>
          <p:cNvSpPr/>
          <p:nvPr/>
        </p:nvSpPr>
        <p:spPr>
          <a:xfrm>
            <a:off x="8238052" y="1957128"/>
            <a:ext cx="335249" cy="221774"/>
          </a:xfrm>
          <a:prstGeom prst="rect">
            <a:avLst/>
          </a:prstGeom>
          <a:solidFill>
            <a:srgbClr val="1A7A3F">
              <a:alpha val="57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TextBox 1473"/>
          <p:cNvSpPr txBox="1"/>
          <p:nvPr/>
        </p:nvSpPr>
        <p:spPr>
          <a:xfrm>
            <a:off x="8232052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4.2M</a:t>
            </a:r>
          </a:p>
        </p:txBody>
      </p:sp>
      <p:sp>
        <p:nvSpPr>
          <p:cNvPr id="1475" name="TextBox 1474"/>
          <p:cNvSpPr txBox="1"/>
          <p:nvPr/>
        </p:nvSpPr>
        <p:spPr>
          <a:xfrm>
            <a:off x="8232052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8件</a:t>
            </a:r>
          </a:p>
        </p:txBody>
      </p:sp>
      <p:sp>
        <p:nvSpPr>
          <p:cNvPr id="1476" name="Rectangle 1475"/>
          <p:cNvSpPr/>
          <p:nvPr/>
        </p:nvSpPr>
        <p:spPr>
          <a:xfrm>
            <a:off x="8585301" y="1957128"/>
            <a:ext cx="335249" cy="221774"/>
          </a:xfrm>
          <a:prstGeom prst="rect">
            <a:avLst/>
          </a:prstGeom>
          <a:solidFill>
            <a:srgbClr val="1A7A3F">
              <a:alpha val="639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TextBox 1476"/>
          <p:cNvSpPr txBox="1"/>
          <p:nvPr/>
        </p:nvSpPr>
        <p:spPr>
          <a:xfrm>
            <a:off x="8579301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5.0M</a:t>
            </a:r>
          </a:p>
        </p:txBody>
      </p:sp>
      <p:sp>
        <p:nvSpPr>
          <p:cNvPr id="1478" name="TextBox 1477"/>
          <p:cNvSpPr txBox="1"/>
          <p:nvPr/>
        </p:nvSpPr>
        <p:spPr>
          <a:xfrm>
            <a:off x="8579301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479" name="Rectangle 1478"/>
          <p:cNvSpPr/>
          <p:nvPr/>
        </p:nvSpPr>
        <p:spPr>
          <a:xfrm>
            <a:off x="8932550" y="1957128"/>
            <a:ext cx="335249" cy="221774"/>
          </a:xfrm>
          <a:prstGeom prst="rect">
            <a:avLst/>
          </a:prstGeom>
          <a:solidFill>
            <a:srgbClr val="1A7A3F">
              <a:alpha val="585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TextBox 1479"/>
          <p:cNvSpPr txBox="1"/>
          <p:nvPr/>
        </p:nvSpPr>
        <p:spPr>
          <a:xfrm>
            <a:off x="8926550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481" name="TextBox 1480"/>
          <p:cNvSpPr txBox="1"/>
          <p:nvPr/>
        </p:nvSpPr>
        <p:spPr>
          <a:xfrm>
            <a:off x="8926550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482" name="Rectangle 1481"/>
          <p:cNvSpPr/>
          <p:nvPr/>
        </p:nvSpPr>
        <p:spPr>
          <a:xfrm>
            <a:off x="9279799" y="1957128"/>
            <a:ext cx="335249" cy="221774"/>
          </a:xfrm>
          <a:prstGeom prst="rect">
            <a:avLst/>
          </a:prstGeom>
          <a:solidFill>
            <a:srgbClr val="1A7A3F">
              <a:alpha val="781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TextBox 1482"/>
          <p:cNvSpPr txBox="1"/>
          <p:nvPr/>
        </p:nvSpPr>
        <p:spPr>
          <a:xfrm>
            <a:off x="9273799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6.8M</a:t>
            </a:r>
          </a:p>
        </p:txBody>
      </p:sp>
      <p:sp>
        <p:nvSpPr>
          <p:cNvPr id="1484" name="TextBox 1483"/>
          <p:cNvSpPr txBox="1"/>
          <p:nvPr/>
        </p:nvSpPr>
        <p:spPr>
          <a:xfrm>
            <a:off x="9273799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17件</a:t>
            </a:r>
          </a:p>
        </p:txBody>
      </p:sp>
      <p:sp>
        <p:nvSpPr>
          <p:cNvPr id="1485" name="Rectangle 1484"/>
          <p:cNvSpPr/>
          <p:nvPr/>
        </p:nvSpPr>
        <p:spPr>
          <a:xfrm>
            <a:off x="9627048" y="1957128"/>
            <a:ext cx="335249" cy="221774"/>
          </a:xfrm>
          <a:prstGeom prst="rect">
            <a:avLst/>
          </a:prstGeom>
          <a:solidFill>
            <a:srgbClr val="1A7A3F">
              <a:alpha val="4974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TextBox 1485"/>
          <p:cNvSpPr txBox="1"/>
          <p:nvPr/>
        </p:nvSpPr>
        <p:spPr>
          <a:xfrm>
            <a:off x="9621048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3.2M</a:t>
            </a:r>
          </a:p>
        </p:txBody>
      </p:sp>
      <p:sp>
        <p:nvSpPr>
          <p:cNvPr id="1487" name="TextBox 1486"/>
          <p:cNvSpPr txBox="1"/>
          <p:nvPr/>
        </p:nvSpPr>
        <p:spPr>
          <a:xfrm>
            <a:off x="9621048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488" name="Rectangle 1487"/>
          <p:cNvSpPr/>
          <p:nvPr/>
        </p:nvSpPr>
        <p:spPr>
          <a:xfrm>
            <a:off x="9974297" y="1957128"/>
            <a:ext cx="335249" cy="221774"/>
          </a:xfrm>
          <a:prstGeom prst="rect">
            <a:avLst/>
          </a:prstGeom>
          <a:solidFill>
            <a:srgbClr val="1A7A3F">
              <a:alpha val="6462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TextBox 1488"/>
          <p:cNvSpPr txBox="1"/>
          <p:nvPr/>
        </p:nvSpPr>
        <p:spPr>
          <a:xfrm>
            <a:off x="9968297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5.1M</a:t>
            </a:r>
          </a:p>
        </p:txBody>
      </p:sp>
      <p:sp>
        <p:nvSpPr>
          <p:cNvPr id="1490" name="TextBox 1489"/>
          <p:cNvSpPr txBox="1"/>
          <p:nvPr/>
        </p:nvSpPr>
        <p:spPr>
          <a:xfrm>
            <a:off x="9968297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1491" name="Rectangle 1490"/>
          <p:cNvSpPr/>
          <p:nvPr/>
        </p:nvSpPr>
        <p:spPr>
          <a:xfrm>
            <a:off x="10321546" y="1957128"/>
            <a:ext cx="335249" cy="221774"/>
          </a:xfrm>
          <a:prstGeom prst="rect">
            <a:avLst/>
          </a:prstGeom>
          <a:solidFill>
            <a:srgbClr val="1A7A3F">
              <a:alpha val="5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TextBox 1491"/>
          <p:cNvSpPr txBox="1"/>
          <p:nvPr/>
        </p:nvSpPr>
        <p:spPr>
          <a:xfrm>
            <a:off x="10315546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4.5M</a:t>
            </a:r>
          </a:p>
        </p:txBody>
      </p:sp>
      <p:sp>
        <p:nvSpPr>
          <p:cNvPr id="1493" name="TextBox 1492"/>
          <p:cNvSpPr txBox="1"/>
          <p:nvPr/>
        </p:nvSpPr>
        <p:spPr>
          <a:xfrm>
            <a:off x="10315546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1494" name="Rectangle 1493"/>
          <p:cNvSpPr/>
          <p:nvPr/>
        </p:nvSpPr>
        <p:spPr>
          <a:xfrm>
            <a:off x="10668795" y="1957128"/>
            <a:ext cx="335249" cy="221774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TextBox 1494"/>
          <p:cNvSpPr txBox="1"/>
          <p:nvPr/>
        </p:nvSpPr>
        <p:spPr>
          <a:xfrm>
            <a:off x="10662795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9.7M</a:t>
            </a:r>
          </a:p>
        </p:txBody>
      </p:sp>
      <p:sp>
        <p:nvSpPr>
          <p:cNvPr id="1496" name="TextBox 1495"/>
          <p:cNvSpPr txBox="1"/>
          <p:nvPr/>
        </p:nvSpPr>
        <p:spPr>
          <a:xfrm>
            <a:off x="10662795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29件</a:t>
            </a:r>
          </a:p>
        </p:txBody>
      </p:sp>
      <p:sp>
        <p:nvSpPr>
          <p:cNvPr id="1497" name="Rectangle 1496"/>
          <p:cNvSpPr/>
          <p:nvPr/>
        </p:nvSpPr>
        <p:spPr>
          <a:xfrm>
            <a:off x="11016044" y="1957128"/>
            <a:ext cx="335249" cy="221774"/>
          </a:xfrm>
          <a:prstGeom prst="rect">
            <a:avLst/>
          </a:prstGeom>
          <a:solidFill>
            <a:srgbClr val="1A7A3F">
              <a:alpha val="42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TextBox 1497"/>
          <p:cNvSpPr txBox="1"/>
          <p:nvPr/>
        </p:nvSpPr>
        <p:spPr>
          <a:xfrm>
            <a:off x="11010044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499" name="TextBox 1498"/>
          <p:cNvSpPr txBox="1"/>
          <p:nvPr/>
        </p:nvSpPr>
        <p:spPr>
          <a:xfrm>
            <a:off x="11010044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11件</a:t>
            </a:r>
          </a:p>
        </p:txBody>
      </p:sp>
      <p:sp>
        <p:nvSpPr>
          <p:cNvPr id="1500" name="Rectangle 1499"/>
          <p:cNvSpPr/>
          <p:nvPr/>
        </p:nvSpPr>
        <p:spPr>
          <a:xfrm>
            <a:off x="11363293" y="1957128"/>
            <a:ext cx="335249" cy="221774"/>
          </a:xfrm>
          <a:prstGeom prst="rect">
            <a:avLst/>
          </a:prstGeom>
          <a:solidFill>
            <a:srgbClr val="1A7A3F">
              <a:alpha val="42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TextBox 1500"/>
          <p:cNvSpPr txBox="1"/>
          <p:nvPr/>
        </p:nvSpPr>
        <p:spPr>
          <a:xfrm>
            <a:off x="11357293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502" name="TextBox 1501"/>
          <p:cNvSpPr txBox="1"/>
          <p:nvPr/>
        </p:nvSpPr>
        <p:spPr>
          <a:xfrm>
            <a:off x="11357293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9件</a:t>
            </a:r>
          </a:p>
        </p:txBody>
      </p:sp>
      <p:sp>
        <p:nvSpPr>
          <p:cNvPr id="1503" name="Rectangle 1502"/>
          <p:cNvSpPr/>
          <p:nvPr/>
        </p:nvSpPr>
        <p:spPr>
          <a:xfrm>
            <a:off x="11710542" y="1957128"/>
            <a:ext cx="335249" cy="221774"/>
          </a:xfrm>
          <a:prstGeom prst="rect">
            <a:avLst/>
          </a:prstGeom>
          <a:solidFill>
            <a:srgbClr val="1A7A3F">
              <a:alpha val="562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TextBox 1503"/>
          <p:cNvSpPr txBox="1"/>
          <p:nvPr/>
        </p:nvSpPr>
        <p:spPr>
          <a:xfrm>
            <a:off x="11704542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505" name="TextBox 1504"/>
          <p:cNvSpPr txBox="1"/>
          <p:nvPr/>
        </p:nvSpPr>
        <p:spPr>
          <a:xfrm>
            <a:off x="11704542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506" name="TextBox 1505"/>
          <p:cNvSpPr txBox="1"/>
          <p:nvPr/>
        </p:nvSpPr>
        <p:spPr>
          <a:xfrm>
            <a:off x="6183056" y="2184902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合伙转介</a:t>
            </a:r>
          </a:p>
        </p:txBody>
      </p:sp>
      <p:sp>
        <p:nvSpPr>
          <p:cNvPr id="1507" name="Rectangle 1506"/>
          <p:cNvSpPr/>
          <p:nvPr/>
        </p:nvSpPr>
        <p:spPr>
          <a:xfrm>
            <a:off x="6849056" y="2190902"/>
            <a:ext cx="335249" cy="221774"/>
          </a:xfrm>
          <a:prstGeom prst="rect">
            <a:avLst/>
          </a:prstGeom>
          <a:solidFill>
            <a:srgbClr val="94A3B8">
              <a:alpha val="2528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TextBox 1507"/>
          <p:cNvSpPr txBox="1"/>
          <p:nvPr/>
        </p:nvSpPr>
        <p:spPr>
          <a:xfrm>
            <a:off x="6843056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509" name="TextBox 1508"/>
          <p:cNvSpPr txBox="1"/>
          <p:nvPr/>
        </p:nvSpPr>
        <p:spPr>
          <a:xfrm>
            <a:off x="6843056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510" name="Rectangle 1509"/>
          <p:cNvSpPr/>
          <p:nvPr/>
        </p:nvSpPr>
        <p:spPr>
          <a:xfrm>
            <a:off x="7196305" y="2190902"/>
            <a:ext cx="335249" cy="221774"/>
          </a:xfrm>
          <a:prstGeom prst="rect">
            <a:avLst/>
          </a:prstGeom>
          <a:solidFill>
            <a:srgbClr val="94A3B8">
              <a:alpha val="25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TextBox 1510"/>
          <p:cNvSpPr txBox="1"/>
          <p:nvPr/>
        </p:nvSpPr>
        <p:spPr>
          <a:xfrm>
            <a:off x="7190305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512" name="TextBox 1511"/>
          <p:cNvSpPr txBox="1"/>
          <p:nvPr/>
        </p:nvSpPr>
        <p:spPr>
          <a:xfrm>
            <a:off x="7190305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513" name="Rectangle 1512"/>
          <p:cNvSpPr/>
          <p:nvPr/>
        </p:nvSpPr>
        <p:spPr>
          <a:xfrm>
            <a:off x="7890803" y="2190902"/>
            <a:ext cx="335249" cy="221774"/>
          </a:xfrm>
          <a:prstGeom prst="rect">
            <a:avLst/>
          </a:prstGeom>
          <a:solidFill>
            <a:srgbClr val="94A3B8">
              <a:alpha val="3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TextBox 1513"/>
          <p:cNvSpPr txBox="1"/>
          <p:nvPr/>
        </p:nvSpPr>
        <p:spPr>
          <a:xfrm>
            <a:off x="7884803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0.4M</a:t>
            </a:r>
          </a:p>
        </p:txBody>
      </p:sp>
      <p:sp>
        <p:nvSpPr>
          <p:cNvPr id="1515" name="TextBox 1514"/>
          <p:cNvSpPr txBox="1"/>
          <p:nvPr/>
        </p:nvSpPr>
        <p:spPr>
          <a:xfrm>
            <a:off x="7884803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516" name="Rectangle 1515"/>
          <p:cNvSpPr/>
          <p:nvPr/>
        </p:nvSpPr>
        <p:spPr>
          <a:xfrm>
            <a:off x="8585301" y="2190902"/>
            <a:ext cx="335249" cy="221774"/>
          </a:xfrm>
          <a:prstGeom prst="rect">
            <a:avLst/>
          </a:prstGeom>
          <a:solidFill>
            <a:srgbClr val="94A3B8">
              <a:alpha val="258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TextBox 1516"/>
          <p:cNvSpPr txBox="1"/>
          <p:nvPr/>
        </p:nvSpPr>
        <p:spPr>
          <a:xfrm>
            <a:off x="8579301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518" name="TextBox 1517"/>
          <p:cNvSpPr txBox="1"/>
          <p:nvPr/>
        </p:nvSpPr>
        <p:spPr>
          <a:xfrm>
            <a:off x="8579301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2件</a:t>
            </a:r>
          </a:p>
        </p:txBody>
      </p:sp>
      <p:sp>
        <p:nvSpPr>
          <p:cNvPr id="1519" name="Rectangle 1518"/>
          <p:cNvSpPr/>
          <p:nvPr/>
        </p:nvSpPr>
        <p:spPr>
          <a:xfrm>
            <a:off x="9974297" y="2190902"/>
            <a:ext cx="335249" cy="221774"/>
          </a:xfrm>
          <a:prstGeom prst="rect">
            <a:avLst/>
          </a:prstGeom>
          <a:solidFill>
            <a:srgbClr val="94A3B8">
              <a:alpha val="26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TextBox 1519"/>
          <p:cNvSpPr txBox="1"/>
          <p:nvPr/>
        </p:nvSpPr>
        <p:spPr>
          <a:xfrm>
            <a:off x="9968297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521" name="TextBox 1520"/>
          <p:cNvSpPr txBox="1"/>
          <p:nvPr/>
        </p:nvSpPr>
        <p:spPr>
          <a:xfrm>
            <a:off x="9968297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522" name="Rectangle 1521"/>
          <p:cNvSpPr/>
          <p:nvPr/>
        </p:nvSpPr>
        <p:spPr>
          <a:xfrm>
            <a:off x="10668795" y="2190902"/>
            <a:ext cx="335249" cy="221774"/>
          </a:xfrm>
          <a:prstGeom prst="rect">
            <a:avLst/>
          </a:prstGeom>
          <a:solidFill>
            <a:srgbClr val="94A3B8">
              <a:alpha val="268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TextBox 1522"/>
          <p:cNvSpPr txBox="1"/>
          <p:nvPr/>
        </p:nvSpPr>
        <p:spPr>
          <a:xfrm>
            <a:off x="10662795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524" name="TextBox 1523"/>
          <p:cNvSpPr txBox="1"/>
          <p:nvPr/>
        </p:nvSpPr>
        <p:spPr>
          <a:xfrm>
            <a:off x="10662795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1525" name="Rectangle 1524"/>
          <p:cNvSpPr/>
          <p:nvPr/>
        </p:nvSpPr>
        <p:spPr>
          <a:xfrm>
            <a:off x="11016044" y="2190902"/>
            <a:ext cx="335249" cy="221774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TextBox 1525"/>
          <p:cNvSpPr txBox="1"/>
          <p:nvPr/>
        </p:nvSpPr>
        <p:spPr>
          <a:xfrm>
            <a:off x="11010044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3.9M</a:t>
            </a:r>
          </a:p>
        </p:txBody>
      </p:sp>
      <p:sp>
        <p:nvSpPr>
          <p:cNvPr id="1527" name="TextBox 1526"/>
          <p:cNvSpPr txBox="1"/>
          <p:nvPr/>
        </p:nvSpPr>
        <p:spPr>
          <a:xfrm>
            <a:off x="11010044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528" name="Rectangle 1527"/>
          <p:cNvSpPr/>
          <p:nvPr/>
        </p:nvSpPr>
        <p:spPr>
          <a:xfrm>
            <a:off x="11363293" y="2190902"/>
            <a:ext cx="335249" cy="221774"/>
          </a:xfrm>
          <a:prstGeom prst="rect">
            <a:avLst/>
          </a:prstGeom>
          <a:solidFill>
            <a:srgbClr val="94A3B8">
              <a:alpha val="298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TextBox 1528"/>
          <p:cNvSpPr txBox="1"/>
          <p:nvPr/>
        </p:nvSpPr>
        <p:spPr>
          <a:xfrm>
            <a:off x="11357293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0.3M</a:t>
            </a:r>
          </a:p>
        </p:txBody>
      </p:sp>
      <p:sp>
        <p:nvSpPr>
          <p:cNvPr id="1530" name="TextBox 1529"/>
          <p:cNvSpPr txBox="1"/>
          <p:nvPr/>
        </p:nvSpPr>
        <p:spPr>
          <a:xfrm>
            <a:off x="11357293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1531" name="TextBox 1530"/>
          <p:cNvSpPr txBox="1"/>
          <p:nvPr/>
        </p:nvSpPr>
        <p:spPr>
          <a:xfrm>
            <a:off x="6183056" y="2418676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ICLUB业务</a:t>
            </a:r>
          </a:p>
        </p:txBody>
      </p:sp>
      <p:sp>
        <p:nvSpPr>
          <p:cNvPr id="1532" name="Rectangle 1531"/>
          <p:cNvSpPr/>
          <p:nvPr/>
        </p:nvSpPr>
        <p:spPr>
          <a:xfrm>
            <a:off x="7543554" y="2424676"/>
            <a:ext cx="335249" cy="221774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TextBox 1532"/>
          <p:cNvSpPr txBox="1"/>
          <p:nvPr/>
        </p:nvSpPr>
        <p:spPr>
          <a:xfrm>
            <a:off x="7537554" y="242667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1534" name="TextBox 1533"/>
          <p:cNvSpPr txBox="1"/>
          <p:nvPr/>
        </p:nvSpPr>
        <p:spPr>
          <a:xfrm>
            <a:off x="7537554" y="252745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1535" name="Rectangle 1534"/>
          <p:cNvSpPr/>
          <p:nvPr/>
        </p:nvSpPr>
        <p:spPr>
          <a:xfrm>
            <a:off x="8238052" y="2424676"/>
            <a:ext cx="335249" cy="221774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TextBox 1535"/>
          <p:cNvSpPr txBox="1"/>
          <p:nvPr/>
        </p:nvSpPr>
        <p:spPr>
          <a:xfrm>
            <a:off x="8232052" y="242667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537" name="TextBox 1536"/>
          <p:cNvSpPr txBox="1"/>
          <p:nvPr/>
        </p:nvSpPr>
        <p:spPr>
          <a:xfrm>
            <a:off x="8232052" y="252745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538" name="Rectangle 1537"/>
          <p:cNvSpPr/>
          <p:nvPr/>
        </p:nvSpPr>
        <p:spPr>
          <a:xfrm>
            <a:off x="8585301" y="2424676"/>
            <a:ext cx="335249" cy="221774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TextBox 1538"/>
          <p:cNvSpPr txBox="1"/>
          <p:nvPr/>
        </p:nvSpPr>
        <p:spPr>
          <a:xfrm>
            <a:off x="8579301" y="242667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1540" name="TextBox 1539"/>
          <p:cNvSpPr txBox="1"/>
          <p:nvPr/>
        </p:nvSpPr>
        <p:spPr>
          <a:xfrm>
            <a:off x="8579301" y="252745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1541" name="TextBox 1540"/>
          <p:cNvSpPr txBox="1"/>
          <p:nvPr/>
        </p:nvSpPr>
        <p:spPr>
          <a:xfrm>
            <a:off x="6183056" y="2652450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MGA业务</a:t>
            </a:r>
          </a:p>
        </p:txBody>
      </p:sp>
      <p:sp>
        <p:nvSpPr>
          <p:cNvPr id="1542" name="Rectangle 1541"/>
          <p:cNvSpPr/>
          <p:nvPr/>
        </p:nvSpPr>
        <p:spPr>
          <a:xfrm>
            <a:off x="6849056" y="2658450"/>
            <a:ext cx="335249" cy="221774"/>
          </a:xfrm>
          <a:prstGeom prst="rect">
            <a:avLst/>
          </a:prstGeom>
          <a:solidFill>
            <a:srgbClr val="C0392B">
              <a:alpha val="325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TextBox 1542"/>
          <p:cNvSpPr txBox="1"/>
          <p:nvPr/>
        </p:nvSpPr>
        <p:spPr>
          <a:xfrm>
            <a:off x="6843056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0.6M</a:t>
            </a:r>
          </a:p>
        </p:txBody>
      </p:sp>
      <p:sp>
        <p:nvSpPr>
          <p:cNvPr id="1544" name="TextBox 1543"/>
          <p:cNvSpPr txBox="1"/>
          <p:nvPr/>
        </p:nvSpPr>
        <p:spPr>
          <a:xfrm>
            <a:off x="6843056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6件</a:t>
            </a:r>
          </a:p>
        </p:txBody>
      </p:sp>
      <p:sp>
        <p:nvSpPr>
          <p:cNvPr id="1545" name="Rectangle 1544"/>
          <p:cNvSpPr/>
          <p:nvPr/>
        </p:nvSpPr>
        <p:spPr>
          <a:xfrm>
            <a:off x="7196305" y="2658450"/>
            <a:ext cx="335249" cy="221774"/>
          </a:xfrm>
          <a:prstGeom prst="rect">
            <a:avLst/>
          </a:prstGeom>
          <a:solidFill>
            <a:srgbClr val="C0392B">
              <a:alpha val="599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TextBox 1545"/>
          <p:cNvSpPr txBox="1"/>
          <p:nvPr/>
        </p:nvSpPr>
        <p:spPr>
          <a:xfrm>
            <a:off x="7190305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2.9M</a:t>
            </a:r>
          </a:p>
        </p:txBody>
      </p:sp>
      <p:sp>
        <p:nvSpPr>
          <p:cNvPr id="1547" name="TextBox 1546"/>
          <p:cNvSpPr txBox="1"/>
          <p:nvPr/>
        </p:nvSpPr>
        <p:spPr>
          <a:xfrm>
            <a:off x="7190305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5件</a:t>
            </a:r>
          </a:p>
        </p:txBody>
      </p:sp>
      <p:sp>
        <p:nvSpPr>
          <p:cNvPr id="1548" name="Rectangle 1547"/>
          <p:cNvSpPr/>
          <p:nvPr/>
        </p:nvSpPr>
        <p:spPr>
          <a:xfrm>
            <a:off x="7543554" y="2658450"/>
            <a:ext cx="335249" cy="221774"/>
          </a:xfrm>
          <a:prstGeom prst="rect">
            <a:avLst/>
          </a:prstGeom>
          <a:solidFill>
            <a:srgbClr val="C0392B">
              <a:alpha val="447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TextBox 1548"/>
          <p:cNvSpPr txBox="1"/>
          <p:nvPr/>
        </p:nvSpPr>
        <p:spPr>
          <a:xfrm>
            <a:off x="7537554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1.6M</a:t>
            </a:r>
          </a:p>
        </p:txBody>
      </p:sp>
      <p:sp>
        <p:nvSpPr>
          <p:cNvPr id="1550" name="TextBox 1549"/>
          <p:cNvSpPr txBox="1"/>
          <p:nvPr/>
        </p:nvSpPr>
        <p:spPr>
          <a:xfrm>
            <a:off x="7537554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7件</a:t>
            </a:r>
          </a:p>
        </p:txBody>
      </p:sp>
      <p:sp>
        <p:nvSpPr>
          <p:cNvPr id="1551" name="Rectangle 1550"/>
          <p:cNvSpPr/>
          <p:nvPr/>
        </p:nvSpPr>
        <p:spPr>
          <a:xfrm>
            <a:off x="7890803" y="2658450"/>
            <a:ext cx="335249" cy="221774"/>
          </a:xfrm>
          <a:prstGeom prst="rect">
            <a:avLst/>
          </a:prstGeom>
          <a:solidFill>
            <a:srgbClr val="C0392B">
              <a:alpha val="453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TextBox 1551"/>
          <p:cNvSpPr txBox="1"/>
          <p:nvPr/>
        </p:nvSpPr>
        <p:spPr>
          <a:xfrm>
            <a:off x="7884803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1.7M</a:t>
            </a:r>
          </a:p>
        </p:txBody>
      </p:sp>
      <p:sp>
        <p:nvSpPr>
          <p:cNvPr id="1553" name="TextBox 1552"/>
          <p:cNvSpPr txBox="1"/>
          <p:nvPr/>
        </p:nvSpPr>
        <p:spPr>
          <a:xfrm>
            <a:off x="7884803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4件</a:t>
            </a:r>
          </a:p>
        </p:txBody>
      </p:sp>
      <p:sp>
        <p:nvSpPr>
          <p:cNvPr id="1554" name="Rectangle 1553"/>
          <p:cNvSpPr/>
          <p:nvPr/>
        </p:nvSpPr>
        <p:spPr>
          <a:xfrm>
            <a:off x="8585301" y="2658450"/>
            <a:ext cx="335249" cy="221774"/>
          </a:xfrm>
          <a:prstGeom prst="rect">
            <a:avLst/>
          </a:prstGeom>
          <a:solidFill>
            <a:srgbClr val="C0392B">
              <a:alpha val="398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TextBox 1554"/>
          <p:cNvSpPr txBox="1"/>
          <p:nvPr/>
        </p:nvSpPr>
        <p:spPr>
          <a:xfrm>
            <a:off x="8579301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1.2M</a:t>
            </a:r>
          </a:p>
        </p:txBody>
      </p:sp>
      <p:sp>
        <p:nvSpPr>
          <p:cNvPr id="1556" name="TextBox 1555"/>
          <p:cNvSpPr txBox="1"/>
          <p:nvPr/>
        </p:nvSpPr>
        <p:spPr>
          <a:xfrm>
            <a:off x="8579301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7件</a:t>
            </a:r>
          </a:p>
        </p:txBody>
      </p:sp>
      <p:sp>
        <p:nvSpPr>
          <p:cNvPr id="1557" name="Rectangle 1556"/>
          <p:cNvSpPr/>
          <p:nvPr/>
        </p:nvSpPr>
        <p:spPr>
          <a:xfrm>
            <a:off x="8932550" y="2658450"/>
            <a:ext cx="335249" cy="221774"/>
          </a:xfrm>
          <a:prstGeom prst="rect">
            <a:avLst/>
          </a:prstGeom>
          <a:solidFill>
            <a:srgbClr val="C0392B">
              <a:alpha val="603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TextBox 1557"/>
          <p:cNvSpPr txBox="1"/>
          <p:nvPr/>
        </p:nvSpPr>
        <p:spPr>
          <a:xfrm>
            <a:off x="8926550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2.9M</a:t>
            </a:r>
          </a:p>
        </p:txBody>
      </p:sp>
      <p:sp>
        <p:nvSpPr>
          <p:cNvPr id="1559" name="TextBox 1558"/>
          <p:cNvSpPr txBox="1"/>
          <p:nvPr/>
        </p:nvSpPr>
        <p:spPr>
          <a:xfrm>
            <a:off x="8926550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560" name="Rectangle 1559"/>
          <p:cNvSpPr/>
          <p:nvPr/>
        </p:nvSpPr>
        <p:spPr>
          <a:xfrm>
            <a:off x="9279799" y="2658450"/>
            <a:ext cx="335249" cy="221774"/>
          </a:xfrm>
          <a:prstGeom prst="rect">
            <a:avLst/>
          </a:prstGeom>
          <a:solidFill>
            <a:srgbClr val="C0392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TextBox 1560"/>
          <p:cNvSpPr txBox="1"/>
          <p:nvPr/>
        </p:nvSpPr>
        <p:spPr>
          <a:xfrm>
            <a:off x="9273799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6.2M</a:t>
            </a:r>
          </a:p>
        </p:txBody>
      </p:sp>
      <p:sp>
        <p:nvSpPr>
          <p:cNvPr id="1562" name="TextBox 1561"/>
          <p:cNvSpPr txBox="1"/>
          <p:nvPr/>
        </p:nvSpPr>
        <p:spPr>
          <a:xfrm>
            <a:off x="9273799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17件</a:t>
            </a:r>
          </a:p>
        </p:txBody>
      </p:sp>
      <p:sp>
        <p:nvSpPr>
          <p:cNvPr id="1563" name="Rectangle 1562"/>
          <p:cNvSpPr/>
          <p:nvPr/>
        </p:nvSpPr>
        <p:spPr>
          <a:xfrm>
            <a:off x="9627048" y="2658450"/>
            <a:ext cx="335249" cy="221774"/>
          </a:xfrm>
          <a:prstGeom prst="rect">
            <a:avLst/>
          </a:prstGeom>
          <a:solidFill>
            <a:srgbClr val="C0392B">
              <a:alpha val="384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TextBox 1563"/>
          <p:cNvSpPr txBox="1"/>
          <p:nvPr/>
        </p:nvSpPr>
        <p:spPr>
          <a:xfrm>
            <a:off x="9621048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1.1M</a:t>
            </a:r>
          </a:p>
        </p:txBody>
      </p:sp>
      <p:sp>
        <p:nvSpPr>
          <p:cNvPr id="1565" name="TextBox 1564"/>
          <p:cNvSpPr txBox="1"/>
          <p:nvPr/>
        </p:nvSpPr>
        <p:spPr>
          <a:xfrm>
            <a:off x="9621048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5件</a:t>
            </a:r>
          </a:p>
        </p:txBody>
      </p:sp>
      <p:sp>
        <p:nvSpPr>
          <p:cNvPr id="1566" name="Rectangle 1565"/>
          <p:cNvSpPr/>
          <p:nvPr/>
        </p:nvSpPr>
        <p:spPr>
          <a:xfrm>
            <a:off x="9974297" y="2658450"/>
            <a:ext cx="335249" cy="221774"/>
          </a:xfrm>
          <a:prstGeom prst="rect">
            <a:avLst/>
          </a:prstGeom>
          <a:solidFill>
            <a:srgbClr val="C0392B">
              <a:alpha val="460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TextBox 1566"/>
          <p:cNvSpPr txBox="1"/>
          <p:nvPr/>
        </p:nvSpPr>
        <p:spPr>
          <a:xfrm>
            <a:off x="9968297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1.7M</a:t>
            </a:r>
          </a:p>
        </p:txBody>
      </p:sp>
      <p:sp>
        <p:nvSpPr>
          <p:cNvPr id="1568" name="TextBox 1567"/>
          <p:cNvSpPr txBox="1"/>
          <p:nvPr/>
        </p:nvSpPr>
        <p:spPr>
          <a:xfrm>
            <a:off x="9968297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8件</a:t>
            </a:r>
          </a:p>
        </p:txBody>
      </p:sp>
      <p:sp>
        <p:nvSpPr>
          <p:cNvPr id="1569" name="Rectangle 1568"/>
          <p:cNvSpPr/>
          <p:nvPr/>
        </p:nvSpPr>
        <p:spPr>
          <a:xfrm>
            <a:off x="10321546" y="2658450"/>
            <a:ext cx="335249" cy="221774"/>
          </a:xfrm>
          <a:prstGeom prst="rect">
            <a:avLst/>
          </a:prstGeom>
          <a:solidFill>
            <a:srgbClr val="C0392B">
              <a:alpha val="6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TextBox 1569"/>
          <p:cNvSpPr txBox="1"/>
          <p:nvPr/>
        </p:nvSpPr>
        <p:spPr>
          <a:xfrm>
            <a:off x="10315546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3.0M</a:t>
            </a:r>
          </a:p>
        </p:txBody>
      </p:sp>
      <p:sp>
        <p:nvSpPr>
          <p:cNvPr id="1571" name="TextBox 1570"/>
          <p:cNvSpPr txBox="1"/>
          <p:nvPr/>
        </p:nvSpPr>
        <p:spPr>
          <a:xfrm>
            <a:off x="10315546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572" name="Rectangle 1571"/>
          <p:cNvSpPr/>
          <p:nvPr/>
        </p:nvSpPr>
        <p:spPr>
          <a:xfrm>
            <a:off x="10668795" y="2658450"/>
            <a:ext cx="335249" cy="221774"/>
          </a:xfrm>
          <a:prstGeom prst="rect">
            <a:avLst/>
          </a:prstGeom>
          <a:solidFill>
            <a:srgbClr val="C0392B">
              <a:alpha val="7330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TextBox 1572"/>
          <p:cNvSpPr txBox="1"/>
          <p:nvPr/>
        </p:nvSpPr>
        <p:spPr>
          <a:xfrm>
            <a:off x="10662795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574" name="TextBox 1573"/>
          <p:cNvSpPr txBox="1"/>
          <p:nvPr/>
        </p:nvSpPr>
        <p:spPr>
          <a:xfrm>
            <a:off x="10662795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575" name="Rectangle 1574"/>
          <p:cNvSpPr/>
          <p:nvPr/>
        </p:nvSpPr>
        <p:spPr>
          <a:xfrm>
            <a:off x="11016044" y="2658450"/>
            <a:ext cx="335249" cy="221774"/>
          </a:xfrm>
          <a:prstGeom prst="rect">
            <a:avLst/>
          </a:prstGeom>
          <a:solidFill>
            <a:srgbClr val="C0392B">
              <a:alpha val="770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TextBox 1575"/>
          <p:cNvSpPr txBox="1"/>
          <p:nvPr/>
        </p:nvSpPr>
        <p:spPr>
          <a:xfrm>
            <a:off x="11010044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577" name="TextBox 1576"/>
          <p:cNvSpPr txBox="1"/>
          <p:nvPr/>
        </p:nvSpPr>
        <p:spPr>
          <a:xfrm>
            <a:off x="11010044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578" name="Rectangle 1577"/>
          <p:cNvSpPr/>
          <p:nvPr/>
        </p:nvSpPr>
        <p:spPr>
          <a:xfrm>
            <a:off x="11363293" y="2658450"/>
            <a:ext cx="335249" cy="221774"/>
          </a:xfrm>
          <a:prstGeom prst="rect">
            <a:avLst/>
          </a:prstGeom>
          <a:solidFill>
            <a:srgbClr val="C0392B">
              <a:alpha val="7749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TextBox 1578"/>
          <p:cNvSpPr txBox="1"/>
          <p:nvPr/>
        </p:nvSpPr>
        <p:spPr>
          <a:xfrm>
            <a:off x="11357293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580" name="TextBox 1579"/>
          <p:cNvSpPr txBox="1"/>
          <p:nvPr/>
        </p:nvSpPr>
        <p:spPr>
          <a:xfrm>
            <a:off x="11357293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581" name="Rectangle 1580"/>
          <p:cNvSpPr/>
          <p:nvPr/>
        </p:nvSpPr>
        <p:spPr>
          <a:xfrm>
            <a:off x="11710542" y="2658450"/>
            <a:ext cx="335249" cy="221774"/>
          </a:xfrm>
          <a:prstGeom prst="rect">
            <a:avLst/>
          </a:prstGeom>
          <a:solidFill>
            <a:srgbClr val="C0392B">
              <a:alpha val="859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TextBox 1581"/>
          <p:cNvSpPr txBox="1"/>
          <p:nvPr/>
        </p:nvSpPr>
        <p:spPr>
          <a:xfrm>
            <a:off x="11704542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5.0M</a:t>
            </a:r>
          </a:p>
        </p:txBody>
      </p:sp>
      <p:sp>
        <p:nvSpPr>
          <p:cNvPr id="1583" name="TextBox 1582"/>
          <p:cNvSpPr txBox="1"/>
          <p:nvPr/>
        </p:nvSpPr>
        <p:spPr>
          <a:xfrm>
            <a:off x="11704542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584" name="TextBox 1583"/>
          <p:cNvSpPr txBox="1"/>
          <p:nvPr/>
        </p:nvSpPr>
        <p:spPr>
          <a:xfrm>
            <a:off x="6183056" y="2886224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1585" name="Rectangle 1584"/>
          <p:cNvSpPr/>
          <p:nvPr/>
        </p:nvSpPr>
        <p:spPr>
          <a:xfrm>
            <a:off x="6849056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TextBox 1585"/>
          <p:cNvSpPr txBox="1"/>
          <p:nvPr/>
        </p:nvSpPr>
        <p:spPr>
          <a:xfrm>
            <a:off x="6843056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6.6M</a:t>
            </a:r>
          </a:p>
        </p:txBody>
      </p:sp>
      <p:sp>
        <p:nvSpPr>
          <p:cNvPr id="1587" name="TextBox 1586"/>
          <p:cNvSpPr txBox="1"/>
          <p:nvPr/>
        </p:nvSpPr>
        <p:spPr>
          <a:xfrm>
            <a:off x="6843056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19件</a:t>
            </a:r>
          </a:p>
        </p:txBody>
      </p:sp>
      <p:sp>
        <p:nvSpPr>
          <p:cNvPr id="1588" name="Rectangle 1587"/>
          <p:cNvSpPr/>
          <p:nvPr/>
        </p:nvSpPr>
        <p:spPr>
          <a:xfrm>
            <a:off x="7196305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TextBox 1588"/>
          <p:cNvSpPr txBox="1"/>
          <p:nvPr/>
        </p:nvSpPr>
        <p:spPr>
          <a:xfrm>
            <a:off x="7190305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14.4M</a:t>
            </a:r>
          </a:p>
        </p:txBody>
      </p:sp>
      <p:sp>
        <p:nvSpPr>
          <p:cNvPr id="1590" name="TextBox 1589"/>
          <p:cNvSpPr txBox="1"/>
          <p:nvPr/>
        </p:nvSpPr>
        <p:spPr>
          <a:xfrm>
            <a:off x="7190305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39件</a:t>
            </a:r>
          </a:p>
        </p:txBody>
      </p:sp>
      <p:sp>
        <p:nvSpPr>
          <p:cNvPr id="1591" name="Rectangle 1590"/>
          <p:cNvSpPr/>
          <p:nvPr/>
        </p:nvSpPr>
        <p:spPr>
          <a:xfrm>
            <a:off x="7543554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TextBox 1591"/>
          <p:cNvSpPr txBox="1"/>
          <p:nvPr/>
        </p:nvSpPr>
        <p:spPr>
          <a:xfrm>
            <a:off x="7537554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18.1M</a:t>
            </a:r>
          </a:p>
        </p:txBody>
      </p:sp>
      <p:sp>
        <p:nvSpPr>
          <p:cNvPr id="1593" name="TextBox 1592"/>
          <p:cNvSpPr txBox="1"/>
          <p:nvPr/>
        </p:nvSpPr>
        <p:spPr>
          <a:xfrm>
            <a:off x="7537554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52件</a:t>
            </a:r>
          </a:p>
        </p:txBody>
      </p:sp>
      <p:sp>
        <p:nvSpPr>
          <p:cNvPr id="1594" name="Rectangle 1593"/>
          <p:cNvSpPr/>
          <p:nvPr/>
        </p:nvSpPr>
        <p:spPr>
          <a:xfrm>
            <a:off x="7890803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TextBox 1594"/>
          <p:cNvSpPr txBox="1"/>
          <p:nvPr/>
        </p:nvSpPr>
        <p:spPr>
          <a:xfrm>
            <a:off x="7884803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16.9M</a:t>
            </a:r>
          </a:p>
        </p:txBody>
      </p:sp>
      <p:sp>
        <p:nvSpPr>
          <p:cNvPr id="1596" name="TextBox 1595"/>
          <p:cNvSpPr txBox="1"/>
          <p:nvPr/>
        </p:nvSpPr>
        <p:spPr>
          <a:xfrm>
            <a:off x="7884803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32件</a:t>
            </a:r>
          </a:p>
        </p:txBody>
      </p:sp>
      <p:sp>
        <p:nvSpPr>
          <p:cNvPr id="1597" name="Rectangle 1596"/>
          <p:cNvSpPr/>
          <p:nvPr/>
        </p:nvSpPr>
        <p:spPr>
          <a:xfrm>
            <a:off x="8238052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TextBox 1597"/>
          <p:cNvSpPr txBox="1"/>
          <p:nvPr/>
        </p:nvSpPr>
        <p:spPr>
          <a:xfrm>
            <a:off x="8232052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13.2M</a:t>
            </a:r>
          </a:p>
        </p:txBody>
      </p:sp>
      <p:sp>
        <p:nvSpPr>
          <p:cNvPr id="1599" name="TextBox 1598"/>
          <p:cNvSpPr txBox="1"/>
          <p:nvPr/>
        </p:nvSpPr>
        <p:spPr>
          <a:xfrm>
            <a:off x="8232052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25件</a:t>
            </a:r>
          </a:p>
        </p:txBody>
      </p:sp>
      <p:sp>
        <p:nvSpPr>
          <p:cNvPr id="1600" name="Rectangle 1599"/>
          <p:cNvSpPr/>
          <p:nvPr/>
        </p:nvSpPr>
        <p:spPr>
          <a:xfrm>
            <a:off x="8585301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TextBox 1600"/>
          <p:cNvSpPr txBox="1"/>
          <p:nvPr/>
        </p:nvSpPr>
        <p:spPr>
          <a:xfrm>
            <a:off x="8579301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20.3M</a:t>
            </a:r>
          </a:p>
        </p:txBody>
      </p:sp>
      <p:sp>
        <p:nvSpPr>
          <p:cNvPr id="1602" name="TextBox 1601"/>
          <p:cNvSpPr txBox="1"/>
          <p:nvPr/>
        </p:nvSpPr>
        <p:spPr>
          <a:xfrm>
            <a:off x="8579301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62件</a:t>
            </a:r>
          </a:p>
        </p:txBody>
      </p:sp>
      <p:sp>
        <p:nvSpPr>
          <p:cNvPr id="1603" name="Rectangle 1602"/>
          <p:cNvSpPr/>
          <p:nvPr/>
        </p:nvSpPr>
        <p:spPr>
          <a:xfrm>
            <a:off x="8932550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TextBox 1603"/>
          <p:cNvSpPr txBox="1"/>
          <p:nvPr/>
        </p:nvSpPr>
        <p:spPr>
          <a:xfrm>
            <a:off x="8926550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14.8M</a:t>
            </a:r>
          </a:p>
        </p:txBody>
      </p:sp>
      <p:sp>
        <p:nvSpPr>
          <p:cNvPr id="1605" name="TextBox 1604"/>
          <p:cNvSpPr txBox="1"/>
          <p:nvPr/>
        </p:nvSpPr>
        <p:spPr>
          <a:xfrm>
            <a:off x="8926550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56件</a:t>
            </a:r>
          </a:p>
        </p:txBody>
      </p:sp>
      <p:sp>
        <p:nvSpPr>
          <p:cNvPr id="1606" name="Rectangle 1605"/>
          <p:cNvSpPr/>
          <p:nvPr/>
        </p:nvSpPr>
        <p:spPr>
          <a:xfrm>
            <a:off x="9279799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TextBox 1606"/>
          <p:cNvSpPr txBox="1"/>
          <p:nvPr/>
        </p:nvSpPr>
        <p:spPr>
          <a:xfrm>
            <a:off x="9273799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32.8M</a:t>
            </a:r>
          </a:p>
        </p:txBody>
      </p:sp>
      <p:sp>
        <p:nvSpPr>
          <p:cNvPr id="1608" name="TextBox 1607"/>
          <p:cNvSpPr txBox="1"/>
          <p:nvPr/>
        </p:nvSpPr>
        <p:spPr>
          <a:xfrm>
            <a:off x="9273799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66件</a:t>
            </a:r>
          </a:p>
        </p:txBody>
      </p:sp>
      <p:sp>
        <p:nvSpPr>
          <p:cNvPr id="1609" name="Rectangle 1608"/>
          <p:cNvSpPr/>
          <p:nvPr/>
        </p:nvSpPr>
        <p:spPr>
          <a:xfrm>
            <a:off x="9627048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TextBox 1609"/>
          <p:cNvSpPr txBox="1"/>
          <p:nvPr/>
        </p:nvSpPr>
        <p:spPr>
          <a:xfrm>
            <a:off x="9621048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11.5M</a:t>
            </a:r>
          </a:p>
        </p:txBody>
      </p:sp>
      <p:sp>
        <p:nvSpPr>
          <p:cNvPr id="1611" name="TextBox 1610"/>
          <p:cNvSpPr txBox="1"/>
          <p:nvPr/>
        </p:nvSpPr>
        <p:spPr>
          <a:xfrm>
            <a:off x="9621048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47件</a:t>
            </a:r>
          </a:p>
        </p:txBody>
      </p:sp>
      <p:sp>
        <p:nvSpPr>
          <p:cNvPr id="1612" name="Rectangle 1611"/>
          <p:cNvSpPr/>
          <p:nvPr/>
        </p:nvSpPr>
        <p:spPr>
          <a:xfrm>
            <a:off x="9974297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TextBox 1612"/>
          <p:cNvSpPr txBox="1"/>
          <p:nvPr/>
        </p:nvSpPr>
        <p:spPr>
          <a:xfrm>
            <a:off x="9968297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12.3M</a:t>
            </a:r>
          </a:p>
        </p:txBody>
      </p:sp>
      <p:sp>
        <p:nvSpPr>
          <p:cNvPr id="1614" name="TextBox 1613"/>
          <p:cNvSpPr txBox="1"/>
          <p:nvPr/>
        </p:nvSpPr>
        <p:spPr>
          <a:xfrm>
            <a:off x="9968297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36件</a:t>
            </a:r>
          </a:p>
        </p:txBody>
      </p:sp>
      <p:sp>
        <p:nvSpPr>
          <p:cNvPr id="1615" name="Rectangle 1614"/>
          <p:cNvSpPr/>
          <p:nvPr/>
        </p:nvSpPr>
        <p:spPr>
          <a:xfrm>
            <a:off x="10321546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TextBox 1615"/>
          <p:cNvSpPr txBox="1"/>
          <p:nvPr/>
        </p:nvSpPr>
        <p:spPr>
          <a:xfrm>
            <a:off x="10315546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19.0M</a:t>
            </a:r>
          </a:p>
        </p:txBody>
      </p:sp>
      <p:sp>
        <p:nvSpPr>
          <p:cNvPr id="1617" name="TextBox 1616"/>
          <p:cNvSpPr txBox="1"/>
          <p:nvPr/>
        </p:nvSpPr>
        <p:spPr>
          <a:xfrm>
            <a:off x="10315546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44件</a:t>
            </a:r>
          </a:p>
        </p:txBody>
      </p:sp>
      <p:sp>
        <p:nvSpPr>
          <p:cNvPr id="1618" name="Rectangle 1617"/>
          <p:cNvSpPr/>
          <p:nvPr/>
        </p:nvSpPr>
        <p:spPr>
          <a:xfrm>
            <a:off x="10668795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TextBox 1618"/>
          <p:cNvSpPr txBox="1"/>
          <p:nvPr/>
        </p:nvSpPr>
        <p:spPr>
          <a:xfrm>
            <a:off x="10662795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26.1M</a:t>
            </a:r>
          </a:p>
        </p:txBody>
      </p:sp>
      <p:sp>
        <p:nvSpPr>
          <p:cNvPr id="1620" name="TextBox 1619"/>
          <p:cNvSpPr txBox="1"/>
          <p:nvPr/>
        </p:nvSpPr>
        <p:spPr>
          <a:xfrm>
            <a:off x="10662795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67件</a:t>
            </a:r>
          </a:p>
        </p:txBody>
      </p:sp>
      <p:sp>
        <p:nvSpPr>
          <p:cNvPr id="1621" name="Rectangle 1620"/>
          <p:cNvSpPr/>
          <p:nvPr/>
        </p:nvSpPr>
        <p:spPr>
          <a:xfrm>
            <a:off x="11016044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TextBox 1621"/>
          <p:cNvSpPr txBox="1"/>
          <p:nvPr/>
        </p:nvSpPr>
        <p:spPr>
          <a:xfrm>
            <a:off x="11010044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19.5M</a:t>
            </a:r>
          </a:p>
        </p:txBody>
      </p:sp>
      <p:sp>
        <p:nvSpPr>
          <p:cNvPr id="1623" name="TextBox 1622"/>
          <p:cNvSpPr txBox="1"/>
          <p:nvPr/>
        </p:nvSpPr>
        <p:spPr>
          <a:xfrm>
            <a:off x="11010044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55件</a:t>
            </a:r>
          </a:p>
        </p:txBody>
      </p:sp>
      <p:sp>
        <p:nvSpPr>
          <p:cNvPr id="1624" name="Rectangle 1623"/>
          <p:cNvSpPr/>
          <p:nvPr/>
        </p:nvSpPr>
        <p:spPr>
          <a:xfrm>
            <a:off x="11363293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TextBox 1624"/>
          <p:cNvSpPr txBox="1"/>
          <p:nvPr/>
        </p:nvSpPr>
        <p:spPr>
          <a:xfrm>
            <a:off x="11357293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10.9M</a:t>
            </a:r>
          </a:p>
        </p:txBody>
      </p:sp>
      <p:sp>
        <p:nvSpPr>
          <p:cNvPr id="1626" name="TextBox 1625"/>
          <p:cNvSpPr txBox="1"/>
          <p:nvPr/>
        </p:nvSpPr>
        <p:spPr>
          <a:xfrm>
            <a:off x="11357293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35件</a:t>
            </a:r>
          </a:p>
        </p:txBody>
      </p:sp>
      <p:sp>
        <p:nvSpPr>
          <p:cNvPr id="1627" name="Rectangle 1626"/>
          <p:cNvSpPr/>
          <p:nvPr/>
        </p:nvSpPr>
        <p:spPr>
          <a:xfrm>
            <a:off x="11710542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TextBox 1627"/>
          <p:cNvSpPr txBox="1"/>
          <p:nvPr/>
        </p:nvSpPr>
        <p:spPr>
          <a:xfrm>
            <a:off x="11704542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21.0M</a:t>
            </a:r>
          </a:p>
        </p:txBody>
      </p:sp>
      <p:sp>
        <p:nvSpPr>
          <p:cNvPr id="1629" name="TextBox 1628"/>
          <p:cNvSpPr txBox="1"/>
          <p:nvPr/>
        </p:nvSpPr>
        <p:spPr>
          <a:xfrm>
            <a:off x="11704542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43件</a:t>
            </a:r>
          </a:p>
        </p:txBody>
      </p:sp>
      <p:sp>
        <p:nvSpPr>
          <p:cNvPr id="1630" name="Rectangle 1629"/>
          <p:cNvSpPr/>
          <p:nvPr/>
        </p:nvSpPr>
        <p:spPr>
          <a:xfrm>
            <a:off x="182880" y="36576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TextBox 1630"/>
          <p:cNvSpPr txBox="1"/>
          <p:nvPr/>
        </p:nvSpPr>
        <p:spPr>
          <a:xfrm>
            <a:off x="262880" y="3657600"/>
            <a:ext cx="58887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  周度批核业绩热力矩阵（APE in M）</a:t>
            </a:r>
          </a:p>
        </p:txBody>
      </p:sp>
      <p:sp>
        <p:nvSpPr>
          <p:cNvPr id="1632" name="TextBox 1631"/>
          <p:cNvSpPr txBox="1"/>
          <p:nvPr/>
        </p:nvSpPr>
        <p:spPr>
          <a:xfrm>
            <a:off x="862880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W14</a:t>
            </a:r>
          </a:p>
        </p:txBody>
      </p:sp>
      <p:sp>
        <p:nvSpPr>
          <p:cNvPr id="1633" name="TextBox 1632"/>
          <p:cNvSpPr txBox="1"/>
          <p:nvPr/>
        </p:nvSpPr>
        <p:spPr>
          <a:xfrm>
            <a:off x="1210129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W15</a:t>
            </a:r>
          </a:p>
        </p:txBody>
      </p:sp>
      <p:sp>
        <p:nvSpPr>
          <p:cNvPr id="1634" name="TextBox 1633"/>
          <p:cNvSpPr txBox="1"/>
          <p:nvPr/>
        </p:nvSpPr>
        <p:spPr>
          <a:xfrm>
            <a:off x="1557378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W16</a:t>
            </a:r>
          </a:p>
        </p:txBody>
      </p:sp>
      <p:sp>
        <p:nvSpPr>
          <p:cNvPr id="1635" name="TextBox 1634"/>
          <p:cNvSpPr txBox="1"/>
          <p:nvPr/>
        </p:nvSpPr>
        <p:spPr>
          <a:xfrm>
            <a:off x="1904627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W17</a:t>
            </a:r>
          </a:p>
        </p:txBody>
      </p:sp>
      <p:sp>
        <p:nvSpPr>
          <p:cNvPr id="1636" name="TextBox 1635"/>
          <p:cNvSpPr txBox="1"/>
          <p:nvPr/>
        </p:nvSpPr>
        <p:spPr>
          <a:xfrm>
            <a:off x="2251876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W18</a:t>
            </a:r>
          </a:p>
        </p:txBody>
      </p:sp>
      <p:sp>
        <p:nvSpPr>
          <p:cNvPr id="1637" name="TextBox 1636"/>
          <p:cNvSpPr txBox="1"/>
          <p:nvPr/>
        </p:nvSpPr>
        <p:spPr>
          <a:xfrm>
            <a:off x="2599125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W19</a:t>
            </a:r>
          </a:p>
        </p:txBody>
      </p:sp>
      <p:sp>
        <p:nvSpPr>
          <p:cNvPr id="1638" name="TextBox 1637"/>
          <p:cNvSpPr txBox="1"/>
          <p:nvPr/>
        </p:nvSpPr>
        <p:spPr>
          <a:xfrm>
            <a:off x="2946374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W20</a:t>
            </a:r>
          </a:p>
        </p:txBody>
      </p:sp>
      <p:sp>
        <p:nvSpPr>
          <p:cNvPr id="1639" name="TextBox 1638"/>
          <p:cNvSpPr txBox="1"/>
          <p:nvPr/>
        </p:nvSpPr>
        <p:spPr>
          <a:xfrm>
            <a:off x="3293623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W21</a:t>
            </a:r>
          </a:p>
        </p:txBody>
      </p:sp>
      <p:sp>
        <p:nvSpPr>
          <p:cNvPr id="1640" name="TextBox 1639"/>
          <p:cNvSpPr txBox="1"/>
          <p:nvPr/>
        </p:nvSpPr>
        <p:spPr>
          <a:xfrm>
            <a:off x="3640872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W22</a:t>
            </a:r>
          </a:p>
        </p:txBody>
      </p:sp>
      <p:sp>
        <p:nvSpPr>
          <p:cNvPr id="1641" name="TextBox 1640"/>
          <p:cNvSpPr txBox="1"/>
          <p:nvPr/>
        </p:nvSpPr>
        <p:spPr>
          <a:xfrm>
            <a:off x="3988121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W23</a:t>
            </a:r>
          </a:p>
        </p:txBody>
      </p:sp>
      <p:sp>
        <p:nvSpPr>
          <p:cNvPr id="1642" name="TextBox 1641"/>
          <p:cNvSpPr txBox="1"/>
          <p:nvPr/>
        </p:nvSpPr>
        <p:spPr>
          <a:xfrm>
            <a:off x="4335370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W24</a:t>
            </a:r>
          </a:p>
        </p:txBody>
      </p:sp>
      <p:sp>
        <p:nvSpPr>
          <p:cNvPr id="1643" name="TextBox 1642"/>
          <p:cNvSpPr txBox="1"/>
          <p:nvPr/>
        </p:nvSpPr>
        <p:spPr>
          <a:xfrm>
            <a:off x="4682619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W25</a:t>
            </a:r>
          </a:p>
        </p:txBody>
      </p:sp>
      <p:sp>
        <p:nvSpPr>
          <p:cNvPr id="1644" name="TextBox 1643"/>
          <p:cNvSpPr txBox="1"/>
          <p:nvPr/>
        </p:nvSpPr>
        <p:spPr>
          <a:xfrm>
            <a:off x="5029868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W26</a:t>
            </a:r>
          </a:p>
        </p:txBody>
      </p:sp>
      <p:sp>
        <p:nvSpPr>
          <p:cNvPr id="1645" name="TextBox 1644"/>
          <p:cNvSpPr txBox="1"/>
          <p:nvPr/>
        </p:nvSpPr>
        <p:spPr>
          <a:xfrm>
            <a:off x="5377117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W27</a:t>
            </a:r>
          </a:p>
        </p:txBody>
      </p:sp>
      <p:sp>
        <p:nvSpPr>
          <p:cNvPr id="1646" name="TextBox 1645"/>
          <p:cNvSpPr txBox="1"/>
          <p:nvPr/>
        </p:nvSpPr>
        <p:spPr>
          <a:xfrm>
            <a:off x="5724366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W28</a:t>
            </a:r>
          </a:p>
        </p:txBody>
      </p:sp>
      <p:sp>
        <p:nvSpPr>
          <p:cNvPr id="1647" name="TextBox 1646"/>
          <p:cNvSpPr txBox="1"/>
          <p:nvPr/>
        </p:nvSpPr>
        <p:spPr>
          <a:xfrm>
            <a:off x="202880" y="411363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天领业务</a:t>
            </a:r>
          </a:p>
        </p:txBody>
      </p:sp>
      <p:sp>
        <p:nvSpPr>
          <p:cNvPr id="1648" name="Rectangle 1647"/>
          <p:cNvSpPr/>
          <p:nvPr/>
        </p:nvSpPr>
        <p:spPr>
          <a:xfrm>
            <a:off x="868880" y="4119632"/>
            <a:ext cx="335249" cy="222040"/>
          </a:xfrm>
          <a:prstGeom prst="rect">
            <a:avLst/>
          </a:prstGeom>
          <a:solidFill>
            <a:srgbClr val="2980B9">
              <a:alpha val="5031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TextBox 1648"/>
          <p:cNvSpPr txBox="1"/>
          <p:nvPr/>
        </p:nvSpPr>
        <p:spPr>
          <a:xfrm>
            <a:off x="862880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3.1M</a:t>
            </a:r>
          </a:p>
        </p:txBody>
      </p:sp>
      <p:sp>
        <p:nvSpPr>
          <p:cNvPr id="1650" name="TextBox 1649"/>
          <p:cNvSpPr txBox="1"/>
          <p:nvPr/>
        </p:nvSpPr>
        <p:spPr>
          <a:xfrm>
            <a:off x="862880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3件</a:t>
            </a:r>
          </a:p>
        </p:txBody>
      </p:sp>
      <p:sp>
        <p:nvSpPr>
          <p:cNvPr id="1651" name="Rectangle 1650"/>
          <p:cNvSpPr/>
          <p:nvPr/>
        </p:nvSpPr>
        <p:spPr>
          <a:xfrm>
            <a:off x="1216129" y="4119632"/>
            <a:ext cx="335249" cy="222040"/>
          </a:xfrm>
          <a:prstGeom prst="rect">
            <a:avLst/>
          </a:prstGeom>
          <a:solidFill>
            <a:srgbClr val="2980B9">
              <a:alpha val="307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TextBox 1651"/>
          <p:cNvSpPr txBox="1"/>
          <p:nvPr/>
        </p:nvSpPr>
        <p:spPr>
          <a:xfrm>
            <a:off x="1210129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0.7M</a:t>
            </a:r>
          </a:p>
        </p:txBody>
      </p:sp>
      <p:sp>
        <p:nvSpPr>
          <p:cNvPr id="1653" name="TextBox 1652"/>
          <p:cNvSpPr txBox="1"/>
          <p:nvPr/>
        </p:nvSpPr>
        <p:spPr>
          <a:xfrm>
            <a:off x="1210129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8件</a:t>
            </a:r>
          </a:p>
        </p:txBody>
      </p:sp>
      <p:sp>
        <p:nvSpPr>
          <p:cNvPr id="1654" name="Rectangle 1653"/>
          <p:cNvSpPr/>
          <p:nvPr/>
        </p:nvSpPr>
        <p:spPr>
          <a:xfrm>
            <a:off x="1563378" y="4119632"/>
            <a:ext cx="335249" cy="222040"/>
          </a:xfrm>
          <a:prstGeom prst="rect">
            <a:avLst/>
          </a:prstGeom>
          <a:solidFill>
            <a:srgbClr val="2980B9">
              <a:alpha val="540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TextBox 1654"/>
          <p:cNvSpPr txBox="1"/>
          <p:nvPr/>
        </p:nvSpPr>
        <p:spPr>
          <a:xfrm>
            <a:off x="1557378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3.5M</a:t>
            </a:r>
          </a:p>
        </p:txBody>
      </p:sp>
      <p:sp>
        <p:nvSpPr>
          <p:cNvPr id="1656" name="TextBox 1655"/>
          <p:cNvSpPr txBox="1"/>
          <p:nvPr/>
        </p:nvSpPr>
        <p:spPr>
          <a:xfrm>
            <a:off x="1557378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1657" name="Rectangle 1656"/>
          <p:cNvSpPr/>
          <p:nvPr/>
        </p:nvSpPr>
        <p:spPr>
          <a:xfrm>
            <a:off x="1910627" y="4119632"/>
            <a:ext cx="335249" cy="222040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TextBox 1657"/>
          <p:cNvSpPr txBox="1"/>
          <p:nvPr/>
        </p:nvSpPr>
        <p:spPr>
          <a:xfrm>
            <a:off x="1904627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9.1M</a:t>
            </a:r>
          </a:p>
        </p:txBody>
      </p:sp>
      <p:sp>
        <p:nvSpPr>
          <p:cNvPr id="1659" name="TextBox 1658"/>
          <p:cNvSpPr txBox="1"/>
          <p:nvPr/>
        </p:nvSpPr>
        <p:spPr>
          <a:xfrm>
            <a:off x="1904627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660" name="Rectangle 1659"/>
          <p:cNvSpPr/>
          <p:nvPr/>
        </p:nvSpPr>
        <p:spPr>
          <a:xfrm>
            <a:off x="2257876" y="4119632"/>
            <a:ext cx="335249" cy="222040"/>
          </a:xfrm>
          <a:prstGeom prst="rect">
            <a:avLst/>
          </a:prstGeom>
          <a:solidFill>
            <a:srgbClr val="2980B9">
              <a:alpha val="3372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TextBox 1660"/>
          <p:cNvSpPr txBox="1"/>
          <p:nvPr/>
        </p:nvSpPr>
        <p:spPr>
          <a:xfrm>
            <a:off x="2251876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1.1M</a:t>
            </a:r>
          </a:p>
        </p:txBody>
      </p:sp>
      <p:sp>
        <p:nvSpPr>
          <p:cNvPr id="1662" name="TextBox 1661"/>
          <p:cNvSpPr txBox="1"/>
          <p:nvPr/>
        </p:nvSpPr>
        <p:spPr>
          <a:xfrm>
            <a:off x="2251876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1663" name="Rectangle 1662"/>
          <p:cNvSpPr/>
          <p:nvPr/>
        </p:nvSpPr>
        <p:spPr>
          <a:xfrm>
            <a:off x="2605125" y="4119632"/>
            <a:ext cx="335249" cy="222040"/>
          </a:xfrm>
          <a:prstGeom prst="rect">
            <a:avLst/>
          </a:prstGeom>
          <a:solidFill>
            <a:srgbClr val="2980B9">
              <a:alpha val="27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TextBox 1663"/>
          <p:cNvSpPr txBox="1"/>
          <p:nvPr/>
        </p:nvSpPr>
        <p:spPr>
          <a:xfrm>
            <a:off x="2599125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665" name="TextBox 1664"/>
          <p:cNvSpPr txBox="1"/>
          <p:nvPr/>
        </p:nvSpPr>
        <p:spPr>
          <a:xfrm>
            <a:off x="2599125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666" name="Rectangle 1665"/>
          <p:cNvSpPr/>
          <p:nvPr/>
        </p:nvSpPr>
        <p:spPr>
          <a:xfrm>
            <a:off x="2952374" y="4119632"/>
            <a:ext cx="335249" cy="222040"/>
          </a:xfrm>
          <a:prstGeom prst="rect">
            <a:avLst/>
          </a:prstGeom>
          <a:solidFill>
            <a:srgbClr val="2980B9">
              <a:alpha val="474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TextBox 1666"/>
          <p:cNvSpPr txBox="1"/>
          <p:nvPr/>
        </p:nvSpPr>
        <p:spPr>
          <a:xfrm>
            <a:off x="2946374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2.7M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2946374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13件</a:t>
            </a:r>
          </a:p>
        </p:txBody>
      </p:sp>
      <p:sp>
        <p:nvSpPr>
          <p:cNvPr id="1669" name="Rectangle 1668"/>
          <p:cNvSpPr/>
          <p:nvPr/>
        </p:nvSpPr>
        <p:spPr>
          <a:xfrm>
            <a:off x="3299623" y="4119632"/>
            <a:ext cx="335249" cy="222040"/>
          </a:xfrm>
          <a:prstGeom prst="rect">
            <a:avLst/>
          </a:prstGeom>
          <a:solidFill>
            <a:srgbClr val="2980B9">
              <a:alpha val="404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TextBox 1669"/>
          <p:cNvSpPr txBox="1"/>
          <p:nvPr/>
        </p:nvSpPr>
        <p:spPr>
          <a:xfrm>
            <a:off x="3293623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1.9M</a:t>
            </a:r>
          </a:p>
        </p:txBody>
      </p:sp>
      <p:sp>
        <p:nvSpPr>
          <p:cNvPr id="1671" name="TextBox 1670"/>
          <p:cNvSpPr txBox="1"/>
          <p:nvPr/>
        </p:nvSpPr>
        <p:spPr>
          <a:xfrm>
            <a:off x="3293623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11件</a:t>
            </a:r>
          </a:p>
        </p:txBody>
      </p:sp>
      <p:sp>
        <p:nvSpPr>
          <p:cNvPr id="1672" name="Rectangle 1671"/>
          <p:cNvSpPr/>
          <p:nvPr/>
        </p:nvSpPr>
        <p:spPr>
          <a:xfrm>
            <a:off x="3646872" y="4119632"/>
            <a:ext cx="335249" cy="222040"/>
          </a:xfrm>
          <a:prstGeom prst="rect">
            <a:avLst/>
          </a:prstGeom>
          <a:solidFill>
            <a:srgbClr val="2980B9">
              <a:alpha val="68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TextBox 1672"/>
          <p:cNvSpPr txBox="1"/>
          <p:nvPr/>
        </p:nvSpPr>
        <p:spPr>
          <a:xfrm>
            <a:off x="3640872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5.2M</a:t>
            </a:r>
          </a:p>
        </p:txBody>
      </p:sp>
      <p:sp>
        <p:nvSpPr>
          <p:cNvPr id="1674" name="TextBox 1673"/>
          <p:cNvSpPr txBox="1"/>
          <p:nvPr/>
        </p:nvSpPr>
        <p:spPr>
          <a:xfrm>
            <a:off x="3640872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675" name="Rectangle 1674"/>
          <p:cNvSpPr/>
          <p:nvPr/>
        </p:nvSpPr>
        <p:spPr>
          <a:xfrm>
            <a:off x="3994121" y="4119632"/>
            <a:ext cx="335249" cy="222040"/>
          </a:xfrm>
          <a:prstGeom prst="rect">
            <a:avLst/>
          </a:prstGeom>
          <a:solidFill>
            <a:srgbClr val="2980B9">
              <a:alpha val="46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TextBox 1675"/>
          <p:cNvSpPr txBox="1"/>
          <p:nvPr/>
        </p:nvSpPr>
        <p:spPr>
          <a:xfrm>
            <a:off x="3988121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2.6M</a:t>
            </a:r>
          </a:p>
        </p:txBody>
      </p:sp>
      <p:sp>
        <p:nvSpPr>
          <p:cNvPr id="1677" name="TextBox 1676"/>
          <p:cNvSpPr txBox="1"/>
          <p:nvPr/>
        </p:nvSpPr>
        <p:spPr>
          <a:xfrm>
            <a:off x="3988121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13件</a:t>
            </a:r>
          </a:p>
        </p:txBody>
      </p:sp>
      <p:sp>
        <p:nvSpPr>
          <p:cNvPr id="1678" name="Rectangle 1677"/>
          <p:cNvSpPr/>
          <p:nvPr/>
        </p:nvSpPr>
        <p:spPr>
          <a:xfrm>
            <a:off x="4341370" y="4119632"/>
            <a:ext cx="335249" cy="222040"/>
          </a:xfrm>
          <a:prstGeom prst="rect">
            <a:avLst/>
          </a:prstGeom>
          <a:solidFill>
            <a:srgbClr val="2980B9">
              <a:alpha val="966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TextBox 1678"/>
          <p:cNvSpPr txBox="1"/>
          <p:nvPr/>
        </p:nvSpPr>
        <p:spPr>
          <a:xfrm>
            <a:off x="4335370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8.7M</a:t>
            </a:r>
          </a:p>
        </p:txBody>
      </p:sp>
      <p:sp>
        <p:nvSpPr>
          <p:cNvPr id="1680" name="TextBox 1679"/>
          <p:cNvSpPr txBox="1"/>
          <p:nvPr/>
        </p:nvSpPr>
        <p:spPr>
          <a:xfrm>
            <a:off x="4335370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681" name="Rectangle 1680"/>
          <p:cNvSpPr/>
          <p:nvPr/>
        </p:nvSpPr>
        <p:spPr>
          <a:xfrm>
            <a:off x="4688619" y="4119632"/>
            <a:ext cx="335249" cy="222040"/>
          </a:xfrm>
          <a:prstGeom prst="rect">
            <a:avLst/>
          </a:prstGeom>
          <a:solidFill>
            <a:srgbClr val="2980B9">
              <a:alpha val="27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TextBox 1681"/>
          <p:cNvSpPr txBox="1"/>
          <p:nvPr/>
        </p:nvSpPr>
        <p:spPr>
          <a:xfrm>
            <a:off x="4682619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683" name="TextBox 1682"/>
          <p:cNvSpPr txBox="1"/>
          <p:nvPr/>
        </p:nvSpPr>
        <p:spPr>
          <a:xfrm>
            <a:off x="4682619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6件</a:t>
            </a:r>
          </a:p>
        </p:txBody>
      </p:sp>
      <p:sp>
        <p:nvSpPr>
          <p:cNvPr id="1684" name="Rectangle 1683"/>
          <p:cNvSpPr/>
          <p:nvPr/>
        </p:nvSpPr>
        <p:spPr>
          <a:xfrm>
            <a:off x="5035868" y="4119632"/>
            <a:ext cx="335249" cy="222040"/>
          </a:xfrm>
          <a:prstGeom prst="rect">
            <a:avLst/>
          </a:prstGeom>
          <a:solidFill>
            <a:srgbClr val="2980B9">
              <a:alpha val="297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TextBox 1684"/>
          <p:cNvSpPr txBox="1"/>
          <p:nvPr/>
        </p:nvSpPr>
        <p:spPr>
          <a:xfrm>
            <a:off x="5029868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0.6M</a:t>
            </a:r>
          </a:p>
        </p:txBody>
      </p:sp>
      <p:sp>
        <p:nvSpPr>
          <p:cNvPr id="1686" name="TextBox 1685"/>
          <p:cNvSpPr txBox="1"/>
          <p:nvPr/>
        </p:nvSpPr>
        <p:spPr>
          <a:xfrm>
            <a:off x="5029868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687" name="Rectangle 1686"/>
          <p:cNvSpPr/>
          <p:nvPr/>
        </p:nvSpPr>
        <p:spPr>
          <a:xfrm>
            <a:off x="5383117" y="4119632"/>
            <a:ext cx="335249" cy="222040"/>
          </a:xfrm>
          <a:prstGeom prst="rect">
            <a:avLst/>
          </a:prstGeom>
          <a:solidFill>
            <a:srgbClr val="2980B9">
              <a:alpha val="276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TextBox 1687"/>
          <p:cNvSpPr txBox="1"/>
          <p:nvPr/>
        </p:nvSpPr>
        <p:spPr>
          <a:xfrm>
            <a:off x="5377117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5377117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690" name="Rectangle 1689"/>
          <p:cNvSpPr/>
          <p:nvPr/>
        </p:nvSpPr>
        <p:spPr>
          <a:xfrm>
            <a:off x="5730366" y="4119632"/>
            <a:ext cx="335249" cy="222040"/>
          </a:xfrm>
          <a:prstGeom prst="rect">
            <a:avLst/>
          </a:prstGeom>
          <a:solidFill>
            <a:srgbClr val="2980B9">
              <a:alpha val="291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TextBox 1690"/>
          <p:cNvSpPr txBox="1"/>
          <p:nvPr/>
        </p:nvSpPr>
        <p:spPr>
          <a:xfrm>
            <a:off x="5724366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0.5M</a:t>
            </a:r>
          </a:p>
        </p:txBody>
      </p:sp>
      <p:sp>
        <p:nvSpPr>
          <p:cNvPr id="1692" name="TextBox 1691"/>
          <p:cNvSpPr txBox="1"/>
          <p:nvPr/>
        </p:nvSpPr>
        <p:spPr>
          <a:xfrm>
            <a:off x="5724366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3件</a:t>
            </a:r>
          </a:p>
        </p:txBody>
      </p:sp>
      <p:sp>
        <p:nvSpPr>
          <p:cNvPr id="1693" name="TextBox 1692"/>
          <p:cNvSpPr txBox="1"/>
          <p:nvPr/>
        </p:nvSpPr>
        <p:spPr>
          <a:xfrm>
            <a:off x="202880" y="434767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成事家办</a:t>
            </a:r>
          </a:p>
        </p:txBody>
      </p:sp>
      <p:sp>
        <p:nvSpPr>
          <p:cNvPr id="1694" name="Rectangle 1693"/>
          <p:cNvSpPr/>
          <p:nvPr/>
        </p:nvSpPr>
        <p:spPr>
          <a:xfrm>
            <a:off x="868880" y="4353672"/>
            <a:ext cx="335249" cy="222040"/>
          </a:xfrm>
          <a:prstGeom prst="rect">
            <a:avLst/>
          </a:prstGeom>
          <a:solidFill>
            <a:srgbClr val="374151">
              <a:alpha val="423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TextBox 1694"/>
          <p:cNvSpPr txBox="1"/>
          <p:nvPr/>
        </p:nvSpPr>
        <p:spPr>
          <a:xfrm>
            <a:off x="862880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696" name="TextBox 1695"/>
          <p:cNvSpPr txBox="1"/>
          <p:nvPr/>
        </p:nvSpPr>
        <p:spPr>
          <a:xfrm>
            <a:off x="862880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697" name="Rectangle 1696"/>
          <p:cNvSpPr/>
          <p:nvPr/>
        </p:nvSpPr>
        <p:spPr>
          <a:xfrm>
            <a:off x="1216129" y="4353672"/>
            <a:ext cx="335249" cy="222040"/>
          </a:xfrm>
          <a:prstGeom prst="rect">
            <a:avLst/>
          </a:prstGeom>
          <a:solidFill>
            <a:srgbClr val="374151">
              <a:alpha val="52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TextBox 1697"/>
          <p:cNvSpPr txBox="1"/>
          <p:nvPr/>
        </p:nvSpPr>
        <p:spPr>
          <a:xfrm>
            <a:off x="1210129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699" name="TextBox 1698"/>
          <p:cNvSpPr txBox="1"/>
          <p:nvPr/>
        </p:nvSpPr>
        <p:spPr>
          <a:xfrm>
            <a:off x="1210129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700" name="Rectangle 1699"/>
          <p:cNvSpPr/>
          <p:nvPr/>
        </p:nvSpPr>
        <p:spPr>
          <a:xfrm>
            <a:off x="1563378" y="4353672"/>
            <a:ext cx="335249" cy="222040"/>
          </a:xfrm>
          <a:prstGeom prst="rect">
            <a:avLst/>
          </a:prstGeom>
          <a:solidFill>
            <a:srgbClr val="374151">
              <a:alpha val="307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TextBox 1700"/>
          <p:cNvSpPr txBox="1"/>
          <p:nvPr/>
        </p:nvSpPr>
        <p:spPr>
          <a:xfrm>
            <a:off x="1557378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702" name="TextBox 1701"/>
          <p:cNvSpPr txBox="1"/>
          <p:nvPr/>
        </p:nvSpPr>
        <p:spPr>
          <a:xfrm>
            <a:off x="1557378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703" name="Rectangle 1702"/>
          <p:cNvSpPr/>
          <p:nvPr/>
        </p:nvSpPr>
        <p:spPr>
          <a:xfrm>
            <a:off x="1910627" y="4353672"/>
            <a:ext cx="335249" cy="222040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TextBox 1703"/>
          <p:cNvSpPr txBox="1"/>
          <p:nvPr/>
        </p:nvSpPr>
        <p:spPr>
          <a:xfrm>
            <a:off x="1904627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1.0M</a:t>
            </a:r>
          </a:p>
        </p:txBody>
      </p:sp>
      <p:sp>
        <p:nvSpPr>
          <p:cNvPr id="1705" name="TextBox 1704"/>
          <p:cNvSpPr txBox="1"/>
          <p:nvPr/>
        </p:nvSpPr>
        <p:spPr>
          <a:xfrm>
            <a:off x="1904627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706" name="Rectangle 1705"/>
          <p:cNvSpPr/>
          <p:nvPr/>
        </p:nvSpPr>
        <p:spPr>
          <a:xfrm>
            <a:off x="2257876" y="4353672"/>
            <a:ext cx="335249" cy="222040"/>
          </a:xfrm>
          <a:prstGeom prst="rect">
            <a:avLst/>
          </a:prstGeom>
          <a:solidFill>
            <a:srgbClr val="374151">
              <a:alpha val="451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TextBox 1706"/>
          <p:cNvSpPr txBox="1"/>
          <p:nvPr/>
        </p:nvSpPr>
        <p:spPr>
          <a:xfrm>
            <a:off x="2251876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0.3M</a:t>
            </a:r>
          </a:p>
        </p:txBody>
      </p:sp>
      <p:sp>
        <p:nvSpPr>
          <p:cNvPr id="1708" name="TextBox 1707"/>
          <p:cNvSpPr txBox="1"/>
          <p:nvPr/>
        </p:nvSpPr>
        <p:spPr>
          <a:xfrm>
            <a:off x="2251876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709" name="Rectangle 1708"/>
          <p:cNvSpPr/>
          <p:nvPr/>
        </p:nvSpPr>
        <p:spPr>
          <a:xfrm>
            <a:off x="2605125" y="4353672"/>
            <a:ext cx="335249" cy="222040"/>
          </a:xfrm>
          <a:prstGeom prst="rect">
            <a:avLst/>
          </a:prstGeom>
          <a:solidFill>
            <a:srgbClr val="374151">
              <a:alpha val="842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TextBox 1709"/>
          <p:cNvSpPr txBox="1"/>
          <p:nvPr/>
        </p:nvSpPr>
        <p:spPr>
          <a:xfrm>
            <a:off x="2599125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0.8M</a:t>
            </a:r>
          </a:p>
        </p:txBody>
      </p:sp>
      <p:sp>
        <p:nvSpPr>
          <p:cNvPr id="1711" name="TextBox 1710"/>
          <p:cNvSpPr txBox="1"/>
          <p:nvPr/>
        </p:nvSpPr>
        <p:spPr>
          <a:xfrm>
            <a:off x="2599125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712" name="Rectangle 1711"/>
          <p:cNvSpPr/>
          <p:nvPr/>
        </p:nvSpPr>
        <p:spPr>
          <a:xfrm>
            <a:off x="2952374" y="4353672"/>
            <a:ext cx="335249" cy="222040"/>
          </a:xfrm>
          <a:prstGeom prst="rect">
            <a:avLst/>
          </a:prstGeom>
          <a:solidFill>
            <a:srgbClr val="374151">
              <a:alpha val="880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TextBox 1712"/>
          <p:cNvSpPr txBox="1"/>
          <p:nvPr/>
        </p:nvSpPr>
        <p:spPr>
          <a:xfrm>
            <a:off x="2946374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0.9M</a:t>
            </a:r>
          </a:p>
        </p:txBody>
      </p:sp>
      <p:sp>
        <p:nvSpPr>
          <p:cNvPr id="1714" name="TextBox 1713"/>
          <p:cNvSpPr txBox="1"/>
          <p:nvPr/>
        </p:nvSpPr>
        <p:spPr>
          <a:xfrm>
            <a:off x="2946374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3件</a:t>
            </a:r>
          </a:p>
        </p:txBody>
      </p:sp>
      <p:sp>
        <p:nvSpPr>
          <p:cNvPr id="1715" name="Rectangle 1714"/>
          <p:cNvSpPr/>
          <p:nvPr/>
        </p:nvSpPr>
        <p:spPr>
          <a:xfrm>
            <a:off x="3299623" y="4353672"/>
            <a:ext cx="335249" cy="222040"/>
          </a:xfrm>
          <a:prstGeom prst="rect">
            <a:avLst/>
          </a:prstGeom>
          <a:solidFill>
            <a:srgbClr val="374151">
              <a:alpha val="753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TextBox 1715"/>
          <p:cNvSpPr txBox="1"/>
          <p:nvPr/>
        </p:nvSpPr>
        <p:spPr>
          <a:xfrm>
            <a:off x="3293623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0.7M</a:t>
            </a:r>
          </a:p>
        </p:txBody>
      </p:sp>
      <p:sp>
        <p:nvSpPr>
          <p:cNvPr id="1717" name="TextBox 1716"/>
          <p:cNvSpPr txBox="1"/>
          <p:nvPr/>
        </p:nvSpPr>
        <p:spPr>
          <a:xfrm>
            <a:off x="3293623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3件</a:t>
            </a:r>
          </a:p>
        </p:txBody>
      </p:sp>
      <p:sp>
        <p:nvSpPr>
          <p:cNvPr id="1718" name="Rectangle 1717"/>
          <p:cNvSpPr/>
          <p:nvPr/>
        </p:nvSpPr>
        <p:spPr>
          <a:xfrm>
            <a:off x="4688619" y="4353672"/>
            <a:ext cx="335249" cy="222040"/>
          </a:xfrm>
          <a:prstGeom prst="rect">
            <a:avLst/>
          </a:prstGeom>
          <a:solidFill>
            <a:srgbClr val="374151">
              <a:alpha val="545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TextBox 1718"/>
          <p:cNvSpPr txBox="1"/>
          <p:nvPr/>
        </p:nvSpPr>
        <p:spPr>
          <a:xfrm>
            <a:off x="4682619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720" name="TextBox 1719"/>
          <p:cNvSpPr txBox="1"/>
          <p:nvPr/>
        </p:nvSpPr>
        <p:spPr>
          <a:xfrm>
            <a:off x="4682619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721" name="Rectangle 1720"/>
          <p:cNvSpPr/>
          <p:nvPr/>
        </p:nvSpPr>
        <p:spPr>
          <a:xfrm>
            <a:off x="5035868" y="4353672"/>
            <a:ext cx="335249" cy="222040"/>
          </a:xfrm>
          <a:prstGeom prst="rect">
            <a:avLst/>
          </a:prstGeom>
          <a:solidFill>
            <a:srgbClr val="374151">
              <a:alpha val="4807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TextBox 1721"/>
          <p:cNvSpPr txBox="1"/>
          <p:nvPr/>
        </p:nvSpPr>
        <p:spPr>
          <a:xfrm>
            <a:off x="5029868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0.3M</a:t>
            </a:r>
          </a:p>
        </p:txBody>
      </p:sp>
      <p:sp>
        <p:nvSpPr>
          <p:cNvPr id="1723" name="TextBox 1722"/>
          <p:cNvSpPr txBox="1"/>
          <p:nvPr/>
        </p:nvSpPr>
        <p:spPr>
          <a:xfrm>
            <a:off x="5029868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724" name="Rectangle 1723"/>
          <p:cNvSpPr/>
          <p:nvPr/>
        </p:nvSpPr>
        <p:spPr>
          <a:xfrm>
            <a:off x="5383117" y="4353672"/>
            <a:ext cx="335249" cy="222040"/>
          </a:xfrm>
          <a:prstGeom prst="rect">
            <a:avLst/>
          </a:prstGeom>
          <a:solidFill>
            <a:srgbClr val="374151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TextBox 1724"/>
          <p:cNvSpPr txBox="1"/>
          <p:nvPr/>
        </p:nvSpPr>
        <p:spPr>
          <a:xfrm>
            <a:off x="5377117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0.5M</a:t>
            </a:r>
          </a:p>
        </p:txBody>
      </p:sp>
      <p:sp>
        <p:nvSpPr>
          <p:cNvPr id="1726" name="TextBox 1725"/>
          <p:cNvSpPr txBox="1"/>
          <p:nvPr/>
        </p:nvSpPr>
        <p:spPr>
          <a:xfrm>
            <a:off x="5377117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727" name="TextBox 1726"/>
          <p:cNvSpPr txBox="1"/>
          <p:nvPr/>
        </p:nvSpPr>
        <p:spPr>
          <a:xfrm>
            <a:off x="202880" y="458171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BK业务</a:t>
            </a:r>
          </a:p>
        </p:txBody>
      </p:sp>
      <p:sp>
        <p:nvSpPr>
          <p:cNvPr id="1728" name="Rectangle 1727"/>
          <p:cNvSpPr/>
          <p:nvPr/>
        </p:nvSpPr>
        <p:spPr>
          <a:xfrm>
            <a:off x="868880" y="4587712"/>
            <a:ext cx="335249" cy="222040"/>
          </a:xfrm>
          <a:prstGeom prst="rect">
            <a:avLst/>
          </a:prstGeom>
          <a:solidFill>
            <a:srgbClr val="1F3864">
              <a:alpha val="477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TextBox 1728"/>
          <p:cNvSpPr txBox="1"/>
          <p:nvPr/>
        </p:nvSpPr>
        <p:spPr>
          <a:xfrm>
            <a:off x="862880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4.3M</a:t>
            </a:r>
          </a:p>
        </p:txBody>
      </p:sp>
      <p:sp>
        <p:nvSpPr>
          <p:cNvPr id="1730" name="TextBox 1729"/>
          <p:cNvSpPr txBox="1"/>
          <p:nvPr/>
        </p:nvSpPr>
        <p:spPr>
          <a:xfrm>
            <a:off x="862880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4件</a:t>
            </a:r>
          </a:p>
        </p:txBody>
      </p:sp>
      <p:sp>
        <p:nvSpPr>
          <p:cNvPr id="1731" name="Rectangle 1730"/>
          <p:cNvSpPr/>
          <p:nvPr/>
        </p:nvSpPr>
        <p:spPr>
          <a:xfrm>
            <a:off x="1216129" y="4587712"/>
            <a:ext cx="335249" cy="222040"/>
          </a:xfrm>
          <a:prstGeom prst="rect">
            <a:avLst/>
          </a:prstGeom>
          <a:solidFill>
            <a:srgbClr val="1F3864">
              <a:alpha val="656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TextBox 1731"/>
          <p:cNvSpPr txBox="1"/>
          <p:nvPr/>
        </p:nvSpPr>
        <p:spPr>
          <a:xfrm>
            <a:off x="1210129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7.6M</a:t>
            </a:r>
          </a:p>
        </p:txBody>
      </p:sp>
      <p:sp>
        <p:nvSpPr>
          <p:cNvPr id="1733" name="TextBox 1732"/>
          <p:cNvSpPr txBox="1"/>
          <p:nvPr/>
        </p:nvSpPr>
        <p:spPr>
          <a:xfrm>
            <a:off x="1210129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734" name="Rectangle 1733"/>
          <p:cNvSpPr/>
          <p:nvPr/>
        </p:nvSpPr>
        <p:spPr>
          <a:xfrm>
            <a:off x="1563378" y="4587712"/>
            <a:ext cx="335249" cy="222040"/>
          </a:xfrm>
          <a:prstGeom prst="rect">
            <a:avLst/>
          </a:prstGeom>
          <a:solidFill>
            <a:srgbClr val="1F3864">
              <a:alpha val="875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TextBox 1734"/>
          <p:cNvSpPr txBox="1"/>
          <p:nvPr/>
        </p:nvSpPr>
        <p:spPr>
          <a:xfrm>
            <a:off x="1557378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11.8M</a:t>
            </a:r>
          </a:p>
        </p:txBody>
      </p:sp>
      <p:sp>
        <p:nvSpPr>
          <p:cNvPr id="1736" name="TextBox 1735"/>
          <p:cNvSpPr txBox="1"/>
          <p:nvPr/>
        </p:nvSpPr>
        <p:spPr>
          <a:xfrm>
            <a:off x="1557378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737" name="Rectangle 1736"/>
          <p:cNvSpPr/>
          <p:nvPr/>
        </p:nvSpPr>
        <p:spPr>
          <a:xfrm>
            <a:off x="1910627" y="4587712"/>
            <a:ext cx="335249" cy="222040"/>
          </a:xfrm>
          <a:prstGeom prst="rect">
            <a:avLst/>
          </a:prstGeom>
          <a:solidFill>
            <a:srgbClr val="1F3864">
              <a:alpha val="415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TextBox 1737"/>
          <p:cNvSpPr txBox="1"/>
          <p:nvPr/>
        </p:nvSpPr>
        <p:spPr>
          <a:xfrm>
            <a:off x="1904627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3.1M</a:t>
            </a:r>
          </a:p>
        </p:txBody>
      </p:sp>
      <p:sp>
        <p:nvSpPr>
          <p:cNvPr id="1739" name="TextBox 1738"/>
          <p:cNvSpPr txBox="1"/>
          <p:nvPr/>
        </p:nvSpPr>
        <p:spPr>
          <a:xfrm>
            <a:off x="1904627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740" name="Rectangle 1739"/>
          <p:cNvSpPr/>
          <p:nvPr/>
        </p:nvSpPr>
        <p:spPr>
          <a:xfrm>
            <a:off x="2257876" y="4587712"/>
            <a:ext cx="335249" cy="222040"/>
          </a:xfrm>
          <a:prstGeom prst="rect">
            <a:avLst/>
          </a:prstGeom>
          <a:solidFill>
            <a:srgbClr val="1F3864">
              <a:alpha val="35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TextBox 1740"/>
          <p:cNvSpPr txBox="1"/>
          <p:nvPr/>
        </p:nvSpPr>
        <p:spPr>
          <a:xfrm>
            <a:off x="2251876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1.9M</a:t>
            </a:r>
          </a:p>
        </p:txBody>
      </p:sp>
      <p:sp>
        <p:nvSpPr>
          <p:cNvPr id="1742" name="TextBox 1741"/>
          <p:cNvSpPr txBox="1"/>
          <p:nvPr/>
        </p:nvSpPr>
        <p:spPr>
          <a:xfrm>
            <a:off x="2251876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743" name="Rectangle 1742"/>
          <p:cNvSpPr/>
          <p:nvPr/>
        </p:nvSpPr>
        <p:spPr>
          <a:xfrm>
            <a:off x="2605125" y="4587712"/>
            <a:ext cx="335249" cy="222040"/>
          </a:xfrm>
          <a:prstGeom prst="rect">
            <a:avLst/>
          </a:prstGeom>
          <a:solidFill>
            <a:srgbClr val="1F3864">
              <a:alpha val="425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TextBox 1743"/>
          <p:cNvSpPr txBox="1"/>
          <p:nvPr/>
        </p:nvSpPr>
        <p:spPr>
          <a:xfrm>
            <a:off x="2599125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3.3M</a:t>
            </a:r>
          </a:p>
        </p:txBody>
      </p:sp>
      <p:sp>
        <p:nvSpPr>
          <p:cNvPr id="1745" name="TextBox 1744"/>
          <p:cNvSpPr txBox="1"/>
          <p:nvPr/>
        </p:nvSpPr>
        <p:spPr>
          <a:xfrm>
            <a:off x="2599125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5件</a:t>
            </a:r>
          </a:p>
        </p:txBody>
      </p:sp>
      <p:sp>
        <p:nvSpPr>
          <p:cNvPr id="1746" name="Rectangle 1745"/>
          <p:cNvSpPr/>
          <p:nvPr/>
        </p:nvSpPr>
        <p:spPr>
          <a:xfrm>
            <a:off x="2952374" y="4587712"/>
            <a:ext cx="335249" cy="222040"/>
          </a:xfrm>
          <a:prstGeom prst="rect">
            <a:avLst/>
          </a:prstGeom>
          <a:solidFill>
            <a:srgbClr val="1F3864">
              <a:alpha val="374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TextBox 1746"/>
          <p:cNvSpPr txBox="1"/>
          <p:nvPr/>
        </p:nvSpPr>
        <p:spPr>
          <a:xfrm>
            <a:off x="2946374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2.3M</a:t>
            </a:r>
          </a:p>
        </p:txBody>
      </p:sp>
      <p:sp>
        <p:nvSpPr>
          <p:cNvPr id="1748" name="TextBox 1747"/>
          <p:cNvSpPr txBox="1"/>
          <p:nvPr/>
        </p:nvSpPr>
        <p:spPr>
          <a:xfrm>
            <a:off x="2946374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749" name="Rectangle 1748"/>
          <p:cNvSpPr/>
          <p:nvPr/>
        </p:nvSpPr>
        <p:spPr>
          <a:xfrm>
            <a:off x="3299623" y="4587712"/>
            <a:ext cx="335249" cy="222040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TextBox 1749"/>
          <p:cNvSpPr txBox="1"/>
          <p:nvPr/>
        </p:nvSpPr>
        <p:spPr>
          <a:xfrm>
            <a:off x="3293623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14.1M</a:t>
            </a:r>
          </a:p>
        </p:txBody>
      </p:sp>
      <p:sp>
        <p:nvSpPr>
          <p:cNvPr id="1751" name="TextBox 1750"/>
          <p:cNvSpPr txBox="1"/>
          <p:nvPr/>
        </p:nvSpPr>
        <p:spPr>
          <a:xfrm>
            <a:off x="3293623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5件</a:t>
            </a:r>
          </a:p>
        </p:txBody>
      </p:sp>
      <p:sp>
        <p:nvSpPr>
          <p:cNvPr id="1752" name="Rectangle 1751"/>
          <p:cNvSpPr/>
          <p:nvPr/>
        </p:nvSpPr>
        <p:spPr>
          <a:xfrm>
            <a:off x="3646872" y="4587712"/>
            <a:ext cx="335249" cy="222040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TextBox 1752"/>
          <p:cNvSpPr txBox="1"/>
          <p:nvPr/>
        </p:nvSpPr>
        <p:spPr>
          <a:xfrm>
            <a:off x="3640872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1.6M</a:t>
            </a:r>
          </a:p>
        </p:txBody>
      </p:sp>
      <p:sp>
        <p:nvSpPr>
          <p:cNvPr id="1754" name="TextBox 1753"/>
          <p:cNvSpPr txBox="1"/>
          <p:nvPr/>
        </p:nvSpPr>
        <p:spPr>
          <a:xfrm>
            <a:off x="3640872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755" name="Rectangle 1754"/>
          <p:cNvSpPr/>
          <p:nvPr/>
        </p:nvSpPr>
        <p:spPr>
          <a:xfrm>
            <a:off x="3994121" y="4587712"/>
            <a:ext cx="335249" cy="222040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TextBox 1755"/>
          <p:cNvSpPr txBox="1"/>
          <p:nvPr/>
        </p:nvSpPr>
        <p:spPr>
          <a:xfrm>
            <a:off x="3988121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757" name="TextBox 1756"/>
          <p:cNvSpPr txBox="1"/>
          <p:nvPr/>
        </p:nvSpPr>
        <p:spPr>
          <a:xfrm>
            <a:off x="3988121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758" name="Rectangle 1757"/>
          <p:cNvSpPr/>
          <p:nvPr/>
        </p:nvSpPr>
        <p:spPr>
          <a:xfrm>
            <a:off x="4341370" y="4587712"/>
            <a:ext cx="335249" cy="222040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TextBox 1758"/>
          <p:cNvSpPr txBox="1"/>
          <p:nvPr/>
        </p:nvSpPr>
        <p:spPr>
          <a:xfrm>
            <a:off x="4335370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760" name="TextBox 1759"/>
          <p:cNvSpPr txBox="1"/>
          <p:nvPr/>
        </p:nvSpPr>
        <p:spPr>
          <a:xfrm>
            <a:off x="4335370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761" name="Rectangle 1760"/>
          <p:cNvSpPr/>
          <p:nvPr/>
        </p:nvSpPr>
        <p:spPr>
          <a:xfrm>
            <a:off x="4688619" y="4587712"/>
            <a:ext cx="335249" cy="222040"/>
          </a:xfrm>
          <a:prstGeom prst="rect">
            <a:avLst/>
          </a:prstGeom>
          <a:solidFill>
            <a:srgbClr val="1F3864">
              <a:alpha val="399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TextBox 1761"/>
          <p:cNvSpPr txBox="1"/>
          <p:nvPr/>
        </p:nvSpPr>
        <p:spPr>
          <a:xfrm>
            <a:off x="4682619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2.8M</a:t>
            </a:r>
          </a:p>
        </p:txBody>
      </p:sp>
      <p:sp>
        <p:nvSpPr>
          <p:cNvPr id="1763" name="TextBox 1762"/>
          <p:cNvSpPr txBox="1"/>
          <p:nvPr/>
        </p:nvSpPr>
        <p:spPr>
          <a:xfrm>
            <a:off x="4682619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6件</a:t>
            </a:r>
          </a:p>
        </p:txBody>
      </p:sp>
      <p:sp>
        <p:nvSpPr>
          <p:cNvPr id="1764" name="Rectangle 1763"/>
          <p:cNvSpPr/>
          <p:nvPr/>
        </p:nvSpPr>
        <p:spPr>
          <a:xfrm>
            <a:off x="5035868" y="4587712"/>
            <a:ext cx="335249" cy="222040"/>
          </a:xfrm>
          <a:prstGeom prst="rect">
            <a:avLst/>
          </a:prstGeom>
          <a:solidFill>
            <a:srgbClr val="1F3864">
              <a:alpha val="266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TextBox 1764"/>
          <p:cNvSpPr txBox="1"/>
          <p:nvPr/>
        </p:nvSpPr>
        <p:spPr>
          <a:xfrm>
            <a:off x="5029868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0.3M</a:t>
            </a:r>
          </a:p>
        </p:txBody>
      </p:sp>
      <p:sp>
        <p:nvSpPr>
          <p:cNvPr id="1766" name="TextBox 1765"/>
          <p:cNvSpPr txBox="1"/>
          <p:nvPr/>
        </p:nvSpPr>
        <p:spPr>
          <a:xfrm>
            <a:off x="5029868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767" name="Rectangle 1766"/>
          <p:cNvSpPr/>
          <p:nvPr/>
        </p:nvSpPr>
        <p:spPr>
          <a:xfrm>
            <a:off x="5383117" y="4587712"/>
            <a:ext cx="335249" cy="222040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TextBox 1767"/>
          <p:cNvSpPr txBox="1"/>
          <p:nvPr/>
        </p:nvSpPr>
        <p:spPr>
          <a:xfrm>
            <a:off x="5377117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1.6M</a:t>
            </a:r>
          </a:p>
        </p:txBody>
      </p:sp>
      <p:sp>
        <p:nvSpPr>
          <p:cNvPr id="1769" name="TextBox 1768"/>
          <p:cNvSpPr txBox="1"/>
          <p:nvPr/>
        </p:nvSpPr>
        <p:spPr>
          <a:xfrm>
            <a:off x="5377117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770" name="TextBox 1769"/>
          <p:cNvSpPr txBox="1"/>
          <p:nvPr/>
        </p:nvSpPr>
        <p:spPr>
          <a:xfrm>
            <a:off x="202880" y="481575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同行经代</a:t>
            </a:r>
          </a:p>
        </p:txBody>
      </p:sp>
      <p:sp>
        <p:nvSpPr>
          <p:cNvPr id="1771" name="Rectangle 1770"/>
          <p:cNvSpPr/>
          <p:nvPr/>
        </p:nvSpPr>
        <p:spPr>
          <a:xfrm>
            <a:off x="868880" y="4821752"/>
            <a:ext cx="335249" cy="222040"/>
          </a:xfrm>
          <a:prstGeom prst="rect">
            <a:avLst/>
          </a:prstGeom>
          <a:solidFill>
            <a:srgbClr val="E67E22">
              <a:alpha val="3447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TextBox 1771"/>
          <p:cNvSpPr txBox="1"/>
          <p:nvPr/>
        </p:nvSpPr>
        <p:spPr>
          <a:xfrm>
            <a:off x="862880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1.2M</a:t>
            </a:r>
          </a:p>
        </p:txBody>
      </p:sp>
      <p:sp>
        <p:nvSpPr>
          <p:cNvPr id="1773" name="TextBox 1772"/>
          <p:cNvSpPr txBox="1"/>
          <p:nvPr/>
        </p:nvSpPr>
        <p:spPr>
          <a:xfrm>
            <a:off x="862880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4件</a:t>
            </a:r>
          </a:p>
        </p:txBody>
      </p:sp>
      <p:sp>
        <p:nvSpPr>
          <p:cNvPr id="1774" name="Rectangle 1773"/>
          <p:cNvSpPr/>
          <p:nvPr/>
        </p:nvSpPr>
        <p:spPr>
          <a:xfrm>
            <a:off x="1216129" y="4821752"/>
            <a:ext cx="335249" cy="222040"/>
          </a:xfrm>
          <a:prstGeom prst="rect">
            <a:avLst/>
          </a:prstGeom>
          <a:solidFill>
            <a:srgbClr val="E67E22">
              <a:alpha val="456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TextBox 1774"/>
          <p:cNvSpPr txBox="1"/>
          <p:nvPr/>
        </p:nvSpPr>
        <p:spPr>
          <a:xfrm>
            <a:off x="1210129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2.7M</a:t>
            </a:r>
          </a:p>
        </p:txBody>
      </p:sp>
      <p:sp>
        <p:nvSpPr>
          <p:cNvPr id="1776" name="TextBox 1775"/>
          <p:cNvSpPr txBox="1"/>
          <p:nvPr/>
        </p:nvSpPr>
        <p:spPr>
          <a:xfrm>
            <a:off x="1210129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12件</a:t>
            </a:r>
          </a:p>
        </p:txBody>
      </p:sp>
      <p:sp>
        <p:nvSpPr>
          <p:cNvPr id="1777" name="Rectangle 1776"/>
          <p:cNvSpPr/>
          <p:nvPr/>
        </p:nvSpPr>
        <p:spPr>
          <a:xfrm>
            <a:off x="1563378" y="4821752"/>
            <a:ext cx="335249" cy="222040"/>
          </a:xfrm>
          <a:prstGeom prst="rect">
            <a:avLst/>
          </a:prstGeom>
          <a:solidFill>
            <a:srgbClr val="E67E22">
              <a:alpha val="5009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TextBox 1777"/>
          <p:cNvSpPr txBox="1"/>
          <p:nvPr/>
        </p:nvSpPr>
        <p:spPr>
          <a:xfrm>
            <a:off x="1557378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3.3M</a:t>
            </a:r>
          </a:p>
        </p:txBody>
      </p:sp>
      <p:sp>
        <p:nvSpPr>
          <p:cNvPr id="1779" name="TextBox 1778"/>
          <p:cNvSpPr txBox="1"/>
          <p:nvPr/>
        </p:nvSpPr>
        <p:spPr>
          <a:xfrm>
            <a:off x="1557378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9件</a:t>
            </a:r>
          </a:p>
        </p:txBody>
      </p:sp>
      <p:sp>
        <p:nvSpPr>
          <p:cNvPr id="1780" name="Rectangle 1779"/>
          <p:cNvSpPr/>
          <p:nvPr/>
        </p:nvSpPr>
        <p:spPr>
          <a:xfrm>
            <a:off x="1910627" y="4821752"/>
            <a:ext cx="335249" cy="222040"/>
          </a:xfrm>
          <a:prstGeom prst="rect">
            <a:avLst/>
          </a:prstGeom>
          <a:solidFill>
            <a:srgbClr val="E67E22">
              <a:alpha val="496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TextBox 1780"/>
          <p:cNvSpPr txBox="1"/>
          <p:nvPr/>
        </p:nvSpPr>
        <p:spPr>
          <a:xfrm>
            <a:off x="1904627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3.3M</a:t>
            </a:r>
          </a:p>
        </p:txBody>
      </p:sp>
      <p:sp>
        <p:nvSpPr>
          <p:cNvPr id="1782" name="TextBox 1781"/>
          <p:cNvSpPr txBox="1"/>
          <p:nvPr/>
        </p:nvSpPr>
        <p:spPr>
          <a:xfrm>
            <a:off x="1904627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8件</a:t>
            </a:r>
          </a:p>
        </p:txBody>
      </p:sp>
      <p:sp>
        <p:nvSpPr>
          <p:cNvPr id="1783" name="Rectangle 1782"/>
          <p:cNvSpPr/>
          <p:nvPr/>
        </p:nvSpPr>
        <p:spPr>
          <a:xfrm>
            <a:off x="2257876" y="4821752"/>
            <a:ext cx="335249" cy="222040"/>
          </a:xfrm>
          <a:prstGeom prst="rect">
            <a:avLst/>
          </a:prstGeom>
          <a:solidFill>
            <a:srgbClr val="E67E22">
              <a:alpha val="489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TextBox 1783"/>
          <p:cNvSpPr txBox="1"/>
          <p:nvPr/>
        </p:nvSpPr>
        <p:spPr>
          <a:xfrm>
            <a:off x="2251876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3.2M</a:t>
            </a:r>
          </a:p>
        </p:txBody>
      </p:sp>
      <p:sp>
        <p:nvSpPr>
          <p:cNvPr id="1785" name="TextBox 1784"/>
          <p:cNvSpPr txBox="1"/>
          <p:nvPr/>
        </p:nvSpPr>
        <p:spPr>
          <a:xfrm>
            <a:off x="2251876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8件</a:t>
            </a:r>
          </a:p>
        </p:txBody>
      </p:sp>
      <p:sp>
        <p:nvSpPr>
          <p:cNvPr id="1786" name="Rectangle 1785"/>
          <p:cNvSpPr/>
          <p:nvPr/>
        </p:nvSpPr>
        <p:spPr>
          <a:xfrm>
            <a:off x="2605125" y="4821752"/>
            <a:ext cx="335249" cy="222040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TextBox 1786"/>
          <p:cNvSpPr txBox="1"/>
          <p:nvPr/>
        </p:nvSpPr>
        <p:spPr>
          <a:xfrm>
            <a:off x="2599125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9.9M</a:t>
            </a:r>
          </a:p>
        </p:txBody>
      </p:sp>
      <p:sp>
        <p:nvSpPr>
          <p:cNvPr id="1788" name="TextBox 1787"/>
          <p:cNvSpPr txBox="1"/>
          <p:nvPr/>
        </p:nvSpPr>
        <p:spPr>
          <a:xfrm>
            <a:off x="2599125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789" name="Rectangle 1788"/>
          <p:cNvSpPr/>
          <p:nvPr/>
        </p:nvSpPr>
        <p:spPr>
          <a:xfrm>
            <a:off x="2952374" y="4821752"/>
            <a:ext cx="335249" cy="222040"/>
          </a:xfrm>
          <a:prstGeom prst="rect">
            <a:avLst/>
          </a:prstGeom>
          <a:solidFill>
            <a:srgbClr val="E67E22">
              <a:alpha val="444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TextBox 1789"/>
          <p:cNvSpPr txBox="1"/>
          <p:nvPr/>
        </p:nvSpPr>
        <p:spPr>
          <a:xfrm>
            <a:off x="2946374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2.6M</a:t>
            </a:r>
          </a:p>
        </p:txBody>
      </p:sp>
      <p:sp>
        <p:nvSpPr>
          <p:cNvPr id="1791" name="TextBox 1790"/>
          <p:cNvSpPr txBox="1"/>
          <p:nvPr/>
        </p:nvSpPr>
        <p:spPr>
          <a:xfrm>
            <a:off x="2946374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10件</a:t>
            </a:r>
          </a:p>
        </p:txBody>
      </p:sp>
      <p:sp>
        <p:nvSpPr>
          <p:cNvPr id="1792" name="Rectangle 1791"/>
          <p:cNvSpPr/>
          <p:nvPr/>
        </p:nvSpPr>
        <p:spPr>
          <a:xfrm>
            <a:off x="3299623" y="4821752"/>
            <a:ext cx="335249" cy="222040"/>
          </a:xfrm>
          <a:prstGeom prst="rect">
            <a:avLst/>
          </a:prstGeom>
          <a:solidFill>
            <a:srgbClr val="E67E22">
              <a:alpha val="673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TextBox 1792"/>
          <p:cNvSpPr txBox="1"/>
          <p:nvPr/>
        </p:nvSpPr>
        <p:spPr>
          <a:xfrm>
            <a:off x="3293623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5.6M</a:t>
            </a:r>
          </a:p>
        </p:txBody>
      </p:sp>
      <p:sp>
        <p:nvSpPr>
          <p:cNvPr id="1794" name="TextBox 1793"/>
          <p:cNvSpPr txBox="1"/>
          <p:nvPr/>
        </p:nvSpPr>
        <p:spPr>
          <a:xfrm>
            <a:off x="3293623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795" name="Rectangle 1794"/>
          <p:cNvSpPr/>
          <p:nvPr/>
        </p:nvSpPr>
        <p:spPr>
          <a:xfrm>
            <a:off x="3646872" y="4821752"/>
            <a:ext cx="335249" cy="222040"/>
          </a:xfrm>
          <a:prstGeom prst="rect">
            <a:avLst/>
          </a:prstGeom>
          <a:solidFill>
            <a:srgbClr val="E67E22">
              <a:alpha val="335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TextBox 1795"/>
          <p:cNvSpPr txBox="1"/>
          <p:nvPr/>
        </p:nvSpPr>
        <p:spPr>
          <a:xfrm>
            <a:off x="3640872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1.1M</a:t>
            </a:r>
          </a:p>
        </p:txBody>
      </p:sp>
      <p:sp>
        <p:nvSpPr>
          <p:cNvPr id="1797" name="TextBox 1796"/>
          <p:cNvSpPr txBox="1"/>
          <p:nvPr/>
        </p:nvSpPr>
        <p:spPr>
          <a:xfrm>
            <a:off x="3640872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5件</a:t>
            </a:r>
          </a:p>
        </p:txBody>
      </p:sp>
      <p:sp>
        <p:nvSpPr>
          <p:cNvPr id="1798" name="Rectangle 1797"/>
          <p:cNvSpPr/>
          <p:nvPr/>
        </p:nvSpPr>
        <p:spPr>
          <a:xfrm>
            <a:off x="3994121" y="4821752"/>
            <a:ext cx="335249" cy="222040"/>
          </a:xfrm>
          <a:prstGeom prst="rect">
            <a:avLst/>
          </a:prstGeom>
          <a:solidFill>
            <a:srgbClr val="E67E22">
              <a:alpha val="547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TextBox 1798"/>
          <p:cNvSpPr txBox="1"/>
          <p:nvPr/>
        </p:nvSpPr>
        <p:spPr>
          <a:xfrm>
            <a:off x="3988121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3.9M</a:t>
            </a:r>
          </a:p>
        </p:txBody>
      </p:sp>
      <p:sp>
        <p:nvSpPr>
          <p:cNvPr id="1800" name="TextBox 1799"/>
          <p:cNvSpPr txBox="1"/>
          <p:nvPr/>
        </p:nvSpPr>
        <p:spPr>
          <a:xfrm>
            <a:off x="3988121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801" name="Rectangle 1800"/>
          <p:cNvSpPr/>
          <p:nvPr/>
        </p:nvSpPr>
        <p:spPr>
          <a:xfrm>
            <a:off x="4341370" y="4821752"/>
            <a:ext cx="335249" cy="222040"/>
          </a:xfrm>
          <a:prstGeom prst="rect">
            <a:avLst/>
          </a:prstGeom>
          <a:solidFill>
            <a:srgbClr val="E67E22">
              <a:alpha val="449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TextBox 1801"/>
          <p:cNvSpPr txBox="1"/>
          <p:nvPr/>
        </p:nvSpPr>
        <p:spPr>
          <a:xfrm>
            <a:off x="4335370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2.6M</a:t>
            </a:r>
          </a:p>
        </p:txBody>
      </p:sp>
      <p:sp>
        <p:nvSpPr>
          <p:cNvPr id="1803" name="TextBox 1802"/>
          <p:cNvSpPr txBox="1"/>
          <p:nvPr/>
        </p:nvSpPr>
        <p:spPr>
          <a:xfrm>
            <a:off x="4335370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10件</a:t>
            </a:r>
          </a:p>
        </p:txBody>
      </p:sp>
      <p:sp>
        <p:nvSpPr>
          <p:cNvPr id="1804" name="Rectangle 1803"/>
          <p:cNvSpPr/>
          <p:nvPr/>
        </p:nvSpPr>
        <p:spPr>
          <a:xfrm>
            <a:off x="4688619" y="4821752"/>
            <a:ext cx="335249" cy="222040"/>
          </a:xfrm>
          <a:prstGeom prst="rect">
            <a:avLst/>
          </a:prstGeom>
          <a:solidFill>
            <a:srgbClr val="E67E22">
              <a:alpha val="9139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TextBox 1804"/>
          <p:cNvSpPr txBox="1"/>
          <p:nvPr/>
        </p:nvSpPr>
        <p:spPr>
          <a:xfrm>
            <a:off x="4682619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8.8M</a:t>
            </a:r>
          </a:p>
        </p:txBody>
      </p:sp>
      <p:sp>
        <p:nvSpPr>
          <p:cNvPr id="1806" name="TextBox 1805"/>
          <p:cNvSpPr txBox="1"/>
          <p:nvPr/>
        </p:nvSpPr>
        <p:spPr>
          <a:xfrm>
            <a:off x="4682619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17件</a:t>
            </a:r>
          </a:p>
        </p:txBody>
      </p:sp>
      <p:sp>
        <p:nvSpPr>
          <p:cNvPr id="1807" name="Rectangle 1806"/>
          <p:cNvSpPr/>
          <p:nvPr/>
        </p:nvSpPr>
        <p:spPr>
          <a:xfrm>
            <a:off x="5035868" y="4821752"/>
            <a:ext cx="335249" cy="222040"/>
          </a:xfrm>
          <a:prstGeom prst="rect">
            <a:avLst/>
          </a:prstGeom>
          <a:solidFill>
            <a:srgbClr val="E67E22">
              <a:alpha val="4772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TextBox 1807"/>
          <p:cNvSpPr txBox="1"/>
          <p:nvPr/>
        </p:nvSpPr>
        <p:spPr>
          <a:xfrm>
            <a:off x="5029868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3.0M</a:t>
            </a:r>
          </a:p>
        </p:txBody>
      </p:sp>
      <p:sp>
        <p:nvSpPr>
          <p:cNvPr id="1809" name="TextBox 1808"/>
          <p:cNvSpPr txBox="1"/>
          <p:nvPr/>
        </p:nvSpPr>
        <p:spPr>
          <a:xfrm>
            <a:off x="5029868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8件</a:t>
            </a:r>
          </a:p>
        </p:txBody>
      </p:sp>
      <p:sp>
        <p:nvSpPr>
          <p:cNvPr id="1810" name="Rectangle 1809"/>
          <p:cNvSpPr/>
          <p:nvPr/>
        </p:nvSpPr>
        <p:spPr>
          <a:xfrm>
            <a:off x="5383117" y="4821752"/>
            <a:ext cx="335249" cy="222040"/>
          </a:xfrm>
          <a:prstGeom prst="rect">
            <a:avLst/>
          </a:prstGeom>
          <a:solidFill>
            <a:srgbClr val="E67E22">
              <a:alpha val="474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1" name="TextBox 1810"/>
          <p:cNvSpPr txBox="1"/>
          <p:nvPr/>
        </p:nvSpPr>
        <p:spPr>
          <a:xfrm>
            <a:off x="5377117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3.0M</a:t>
            </a:r>
          </a:p>
        </p:txBody>
      </p:sp>
      <p:sp>
        <p:nvSpPr>
          <p:cNvPr id="1812" name="TextBox 1811"/>
          <p:cNvSpPr txBox="1"/>
          <p:nvPr/>
        </p:nvSpPr>
        <p:spPr>
          <a:xfrm>
            <a:off x="5377117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10件</a:t>
            </a:r>
          </a:p>
        </p:txBody>
      </p:sp>
      <p:sp>
        <p:nvSpPr>
          <p:cNvPr id="1813" name="Rectangle 1812"/>
          <p:cNvSpPr/>
          <p:nvPr/>
        </p:nvSpPr>
        <p:spPr>
          <a:xfrm>
            <a:off x="5730366" y="4821752"/>
            <a:ext cx="335249" cy="222040"/>
          </a:xfrm>
          <a:prstGeom prst="rect">
            <a:avLst/>
          </a:prstGeom>
          <a:solidFill>
            <a:srgbClr val="E67E22">
              <a:alpha val="371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4" name="TextBox 1813"/>
          <p:cNvSpPr txBox="1"/>
          <p:nvPr/>
        </p:nvSpPr>
        <p:spPr>
          <a:xfrm>
            <a:off x="5724366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1.6M</a:t>
            </a:r>
          </a:p>
        </p:txBody>
      </p:sp>
      <p:sp>
        <p:nvSpPr>
          <p:cNvPr id="1815" name="TextBox 1814"/>
          <p:cNvSpPr txBox="1"/>
          <p:nvPr/>
        </p:nvSpPr>
        <p:spPr>
          <a:xfrm>
            <a:off x="5724366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7件</a:t>
            </a:r>
          </a:p>
        </p:txBody>
      </p:sp>
      <p:sp>
        <p:nvSpPr>
          <p:cNvPr id="1816" name="TextBox 1815"/>
          <p:cNvSpPr txBox="1"/>
          <p:nvPr/>
        </p:nvSpPr>
        <p:spPr>
          <a:xfrm>
            <a:off x="202880" y="504979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永明经代</a:t>
            </a:r>
          </a:p>
        </p:txBody>
      </p:sp>
      <p:sp>
        <p:nvSpPr>
          <p:cNvPr id="1817" name="Rectangle 1816"/>
          <p:cNvSpPr/>
          <p:nvPr/>
        </p:nvSpPr>
        <p:spPr>
          <a:xfrm>
            <a:off x="868880" y="5055792"/>
            <a:ext cx="335249" cy="222040"/>
          </a:xfrm>
          <a:prstGeom prst="rect">
            <a:avLst/>
          </a:prstGeom>
          <a:solidFill>
            <a:srgbClr val="1A7A3F">
              <a:alpha val="442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TextBox 1817"/>
          <p:cNvSpPr txBox="1"/>
          <p:nvPr/>
        </p:nvSpPr>
        <p:spPr>
          <a:xfrm>
            <a:off x="862880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3.2M</a:t>
            </a:r>
          </a:p>
        </p:txBody>
      </p:sp>
      <p:sp>
        <p:nvSpPr>
          <p:cNvPr id="1819" name="TextBox 1818"/>
          <p:cNvSpPr txBox="1"/>
          <p:nvPr/>
        </p:nvSpPr>
        <p:spPr>
          <a:xfrm>
            <a:off x="862880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11件</a:t>
            </a:r>
          </a:p>
        </p:txBody>
      </p:sp>
      <p:sp>
        <p:nvSpPr>
          <p:cNvPr id="1820" name="Rectangle 1819"/>
          <p:cNvSpPr/>
          <p:nvPr/>
        </p:nvSpPr>
        <p:spPr>
          <a:xfrm>
            <a:off x="1216129" y="5055792"/>
            <a:ext cx="335249" cy="222040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TextBox 1820"/>
          <p:cNvSpPr txBox="1"/>
          <p:nvPr/>
        </p:nvSpPr>
        <p:spPr>
          <a:xfrm>
            <a:off x="1210129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12.4M</a:t>
            </a:r>
          </a:p>
        </p:txBody>
      </p:sp>
      <p:sp>
        <p:nvSpPr>
          <p:cNvPr id="1822" name="TextBox 1821"/>
          <p:cNvSpPr txBox="1"/>
          <p:nvPr/>
        </p:nvSpPr>
        <p:spPr>
          <a:xfrm>
            <a:off x="1210129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25件</a:t>
            </a:r>
          </a:p>
        </p:txBody>
      </p:sp>
      <p:sp>
        <p:nvSpPr>
          <p:cNvPr id="1823" name="Rectangle 1822"/>
          <p:cNvSpPr/>
          <p:nvPr/>
        </p:nvSpPr>
        <p:spPr>
          <a:xfrm>
            <a:off x="1563378" y="5055792"/>
            <a:ext cx="335249" cy="222040"/>
          </a:xfrm>
          <a:prstGeom prst="rect">
            <a:avLst/>
          </a:prstGeom>
          <a:solidFill>
            <a:srgbClr val="1A7A3F">
              <a:alpha val="529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TextBox 1823"/>
          <p:cNvSpPr txBox="1"/>
          <p:nvPr/>
        </p:nvSpPr>
        <p:spPr>
          <a:xfrm>
            <a:off x="1557378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4.6M</a:t>
            </a:r>
          </a:p>
        </p:txBody>
      </p:sp>
      <p:sp>
        <p:nvSpPr>
          <p:cNvPr id="1825" name="TextBox 1824"/>
          <p:cNvSpPr txBox="1"/>
          <p:nvPr/>
        </p:nvSpPr>
        <p:spPr>
          <a:xfrm>
            <a:off x="1557378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12件</a:t>
            </a:r>
          </a:p>
        </p:txBody>
      </p:sp>
      <p:sp>
        <p:nvSpPr>
          <p:cNvPr id="1826" name="Rectangle 1825"/>
          <p:cNvSpPr/>
          <p:nvPr/>
        </p:nvSpPr>
        <p:spPr>
          <a:xfrm>
            <a:off x="1910627" y="5055792"/>
            <a:ext cx="335249" cy="222040"/>
          </a:xfrm>
          <a:prstGeom prst="rect">
            <a:avLst/>
          </a:prstGeom>
          <a:solidFill>
            <a:srgbClr val="1A7A3F">
              <a:alpha val="587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TextBox 1826"/>
          <p:cNvSpPr txBox="1"/>
          <p:nvPr/>
        </p:nvSpPr>
        <p:spPr>
          <a:xfrm>
            <a:off x="1904627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5.6M</a:t>
            </a:r>
          </a:p>
        </p:txBody>
      </p:sp>
      <p:sp>
        <p:nvSpPr>
          <p:cNvPr id="1828" name="TextBox 1827"/>
          <p:cNvSpPr txBox="1"/>
          <p:nvPr/>
        </p:nvSpPr>
        <p:spPr>
          <a:xfrm>
            <a:off x="1904627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829" name="Rectangle 1828"/>
          <p:cNvSpPr/>
          <p:nvPr/>
        </p:nvSpPr>
        <p:spPr>
          <a:xfrm>
            <a:off x="2257876" y="5055792"/>
            <a:ext cx="335249" cy="222040"/>
          </a:xfrm>
          <a:prstGeom prst="rect">
            <a:avLst/>
          </a:prstGeom>
          <a:solidFill>
            <a:srgbClr val="1A7A3F">
              <a:alpha val="317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TextBox 1829"/>
          <p:cNvSpPr txBox="1"/>
          <p:nvPr/>
        </p:nvSpPr>
        <p:spPr>
          <a:xfrm>
            <a:off x="2251876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1.1M</a:t>
            </a:r>
          </a:p>
        </p:txBody>
      </p:sp>
      <p:sp>
        <p:nvSpPr>
          <p:cNvPr id="1831" name="TextBox 1830"/>
          <p:cNvSpPr txBox="1"/>
          <p:nvPr/>
        </p:nvSpPr>
        <p:spPr>
          <a:xfrm>
            <a:off x="2251876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4件</a:t>
            </a:r>
          </a:p>
        </p:txBody>
      </p:sp>
      <p:sp>
        <p:nvSpPr>
          <p:cNvPr id="1832" name="Rectangle 1831"/>
          <p:cNvSpPr/>
          <p:nvPr/>
        </p:nvSpPr>
        <p:spPr>
          <a:xfrm>
            <a:off x="2605125" y="5055792"/>
            <a:ext cx="335249" cy="222040"/>
          </a:xfrm>
          <a:prstGeom prst="rect">
            <a:avLst/>
          </a:prstGeom>
          <a:solidFill>
            <a:srgbClr val="1A7A3F">
              <a:alpha val="289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TextBox 1832"/>
          <p:cNvSpPr txBox="1"/>
          <p:nvPr/>
        </p:nvSpPr>
        <p:spPr>
          <a:xfrm>
            <a:off x="2599125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0.7M</a:t>
            </a:r>
          </a:p>
        </p:txBody>
      </p:sp>
      <p:sp>
        <p:nvSpPr>
          <p:cNvPr id="1834" name="TextBox 1833"/>
          <p:cNvSpPr txBox="1"/>
          <p:nvPr/>
        </p:nvSpPr>
        <p:spPr>
          <a:xfrm>
            <a:off x="2599125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4件</a:t>
            </a:r>
          </a:p>
        </p:txBody>
      </p:sp>
      <p:sp>
        <p:nvSpPr>
          <p:cNvPr id="1835" name="Rectangle 1834"/>
          <p:cNvSpPr/>
          <p:nvPr/>
        </p:nvSpPr>
        <p:spPr>
          <a:xfrm>
            <a:off x="2952374" y="5055792"/>
            <a:ext cx="335249" cy="222040"/>
          </a:xfrm>
          <a:prstGeom prst="rect">
            <a:avLst/>
          </a:prstGeom>
          <a:solidFill>
            <a:srgbClr val="1A7A3F">
              <a:alpha val="649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6" name="TextBox 1835"/>
          <p:cNvSpPr txBox="1"/>
          <p:nvPr/>
        </p:nvSpPr>
        <p:spPr>
          <a:xfrm>
            <a:off x="2946374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6.6M</a:t>
            </a:r>
          </a:p>
        </p:txBody>
      </p:sp>
      <p:sp>
        <p:nvSpPr>
          <p:cNvPr id="1837" name="TextBox 1836"/>
          <p:cNvSpPr txBox="1"/>
          <p:nvPr/>
        </p:nvSpPr>
        <p:spPr>
          <a:xfrm>
            <a:off x="2946374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838" name="Rectangle 1837"/>
          <p:cNvSpPr/>
          <p:nvPr/>
        </p:nvSpPr>
        <p:spPr>
          <a:xfrm>
            <a:off x="3299623" y="5055792"/>
            <a:ext cx="335249" cy="222040"/>
          </a:xfrm>
          <a:prstGeom prst="rect">
            <a:avLst/>
          </a:prstGeom>
          <a:solidFill>
            <a:srgbClr val="1A7A3F">
              <a:alpha val="398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9" name="TextBox 1838"/>
          <p:cNvSpPr txBox="1"/>
          <p:nvPr/>
        </p:nvSpPr>
        <p:spPr>
          <a:xfrm>
            <a:off x="3293623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2.5M</a:t>
            </a:r>
          </a:p>
        </p:txBody>
      </p:sp>
      <p:sp>
        <p:nvSpPr>
          <p:cNvPr id="1840" name="TextBox 1839"/>
          <p:cNvSpPr txBox="1"/>
          <p:nvPr/>
        </p:nvSpPr>
        <p:spPr>
          <a:xfrm>
            <a:off x="3293623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8件</a:t>
            </a:r>
          </a:p>
        </p:txBody>
      </p:sp>
      <p:sp>
        <p:nvSpPr>
          <p:cNvPr id="1841" name="Rectangle 1840"/>
          <p:cNvSpPr/>
          <p:nvPr/>
        </p:nvSpPr>
        <p:spPr>
          <a:xfrm>
            <a:off x="3646872" y="5055792"/>
            <a:ext cx="335249" cy="222040"/>
          </a:xfrm>
          <a:prstGeom prst="rect">
            <a:avLst/>
          </a:prstGeom>
          <a:solidFill>
            <a:srgbClr val="1A7A3F">
              <a:alpha val="385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2" name="TextBox 1841"/>
          <p:cNvSpPr txBox="1"/>
          <p:nvPr/>
        </p:nvSpPr>
        <p:spPr>
          <a:xfrm>
            <a:off x="3640872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843" name="TextBox 1842"/>
          <p:cNvSpPr txBox="1"/>
          <p:nvPr/>
        </p:nvSpPr>
        <p:spPr>
          <a:xfrm>
            <a:off x="3640872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7件</a:t>
            </a:r>
          </a:p>
        </p:txBody>
      </p:sp>
      <p:sp>
        <p:nvSpPr>
          <p:cNvPr id="1844" name="Rectangle 1843"/>
          <p:cNvSpPr/>
          <p:nvPr/>
        </p:nvSpPr>
        <p:spPr>
          <a:xfrm>
            <a:off x="3994121" y="5055792"/>
            <a:ext cx="335249" cy="222040"/>
          </a:xfrm>
          <a:prstGeom prst="rect">
            <a:avLst/>
          </a:prstGeom>
          <a:solidFill>
            <a:srgbClr val="1A7A3F">
              <a:alpha val="448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5" name="TextBox 1844"/>
          <p:cNvSpPr txBox="1"/>
          <p:nvPr/>
        </p:nvSpPr>
        <p:spPr>
          <a:xfrm>
            <a:off x="3988121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3.3M</a:t>
            </a:r>
          </a:p>
        </p:txBody>
      </p:sp>
      <p:sp>
        <p:nvSpPr>
          <p:cNvPr id="1846" name="TextBox 1845"/>
          <p:cNvSpPr txBox="1"/>
          <p:nvPr/>
        </p:nvSpPr>
        <p:spPr>
          <a:xfrm>
            <a:off x="3988121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847" name="Rectangle 1846"/>
          <p:cNvSpPr/>
          <p:nvPr/>
        </p:nvSpPr>
        <p:spPr>
          <a:xfrm>
            <a:off x="4341370" y="5055792"/>
            <a:ext cx="335249" cy="222040"/>
          </a:xfrm>
          <a:prstGeom prst="rect">
            <a:avLst/>
          </a:prstGeom>
          <a:solidFill>
            <a:srgbClr val="1A7A3F">
              <a:alpha val="447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8" name="TextBox 1847"/>
          <p:cNvSpPr txBox="1"/>
          <p:nvPr/>
        </p:nvSpPr>
        <p:spPr>
          <a:xfrm>
            <a:off x="4335370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3.3M</a:t>
            </a:r>
          </a:p>
        </p:txBody>
      </p:sp>
      <p:sp>
        <p:nvSpPr>
          <p:cNvPr id="1849" name="TextBox 1848"/>
          <p:cNvSpPr txBox="1"/>
          <p:nvPr/>
        </p:nvSpPr>
        <p:spPr>
          <a:xfrm>
            <a:off x="4335370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850" name="Rectangle 1849"/>
          <p:cNvSpPr/>
          <p:nvPr/>
        </p:nvSpPr>
        <p:spPr>
          <a:xfrm>
            <a:off x="4688619" y="5055792"/>
            <a:ext cx="335249" cy="222040"/>
          </a:xfrm>
          <a:prstGeom prst="rect">
            <a:avLst/>
          </a:prstGeom>
          <a:solidFill>
            <a:srgbClr val="1A7A3F">
              <a:alpha val="440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1" name="TextBox 1850"/>
          <p:cNvSpPr txBox="1"/>
          <p:nvPr/>
        </p:nvSpPr>
        <p:spPr>
          <a:xfrm>
            <a:off x="4682619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3.2M</a:t>
            </a:r>
          </a:p>
        </p:txBody>
      </p:sp>
      <p:sp>
        <p:nvSpPr>
          <p:cNvPr id="1852" name="TextBox 1851"/>
          <p:cNvSpPr txBox="1"/>
          <p:nvPr/>
        </p:nvSpPr>
        <p:spPr>
          <a:xfrm>
            <a:off x="4682619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9件</a:t>
            </a:r>
          </a:p>
        </p:txBody>
      </p:sp>
      <p:sp>
        <p:nvSpPr>
          <p:cNvPr id="1853" name="Rectangle 1852"/>
          <p:cNvSpPr/>
          <p:nvPr/>
        </p:nvSpPr>
        <p:spPr>
          <a:xfrm>
            <a:off x="5035868" y="5055792"/>
            <a:ext cx="335249" cy="222040"/>
          </a:xfrm>
          <a:prstGeom prst="rect">
            <a:avLst/>
          </a:prstGeom>
          <a:solidFill>
            <a:srgbClr val="1A7A3F">
              <a:alpha val="595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4" name="TextBox 1853"/>
          <p:cNvSpPr txBox="1"/>
          <p:nvPr/>
        </p:nvSpPr>
        <p:spPr>
          <a:xfrm>
            <a:off x="5029868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5.7M</a:t>
            </a:r>
          </a:p>
        </p:txBody>
      </p:sp>
      <p:sp>
        <p:nvSpPr>
          <p:cNvPr id="1855" name="TextBox 1854"/>
          <p:cNvSpPr txBox="1"/>
          <p:nvPr/>
        </p:nvSpPr>
        <p:spPr>
          <a:xfrm>
            <a:off x="5029868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856" name="Rectangle 1855"/>
          <p:cNvSpPr/>
          <p:nvPr/>
        </p:nvSpPr>
        <p:spPr>
          <a:xfrm>
            <a:off x="5383117" y="5055792"/>
            <a:ext cx="335249" cy="222040"/>
          </a:xfrm>
          <a:prstGeom prst="rect">
            <a:avLst/>
          </a:prstGeom>
          <a:solidFill>
            <a:srgbClr val="1A7A3F">
              <a:alpha val="847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7" name="TextBox 1856"/>
          <p:cNvSpPr txBox="1"/>
          <p:nvPr/>
        </p:nvSpPr>
        <p:spPr>
          <a:xfrm>
            <a:off x="5377117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9.9M</a:t>
            </a:r>
          </a:p>
        </p:txBody>
      </p:sp>
      <p:sp>
        <p:nvSpPr>
          <p:cNvPr id="1858" name="TextBox 1857"/>
          <p:cNvSpPr txBox="1"/>
          <p:nvPr/>
        </p:nvSpPr>
        <p:spPr>
          <a:xfrm>
            <a:off x="5377117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22件</a:t>
            </a:r>
          </a:p>
        </p:txBody>
      </p:sp>
      <p:sp>
        <p:nvSpPr>
          <p:cNvPr id="1859" name="Rectangle 1858"/>
          <p:cNvSpPr/>
          <p:nvPr/>
        </p:nvSpPr>
        <p:spPr>
          <a:xfrm>
            <a:off x="5730366" y="5055792"/>
            <a:ext cx="335249" cy="222040"/>
          </a:xfrm>
          <a:prstGeom prst="rect">
            <a:avLst/>
          </a:prstGeom>
          <a:solidFill>
            <a:srgbClr val="1A7A3F">
              <a:alpha val="498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0" name="TextBox 1859"/>
          <p:cNvSpPr txBox="1"/>
          <p:nvPr/>
        </p:nvSpPr>
        <p:spPr>
          <a:xfrm>
            <a:off x="5724366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4.1M</a:t>
            </a:r>
          </a:p>
        </p:txBody>
      </p:sp>
      <p:sp>
        <p:nvSpPr>
          <p:cNvPr id="1861" name="TextBox 1860"/>
          <p:cNvSpPr txBox="1"/>
          <p:nvPr/>
        </p:nvSpPr>
        <p:spPr>
          <a:xfrm>
            <a:off x="5724366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11件</a:t>
            </a:r>
          </a:p>
        </p:txBody>
      </p:sp>
      <p:sp>
        <p:nvSpPr>
          <p:cNvPr id="1862" name="TextBox 1861"/>
          <p:cNvSpPr txBox="1"/>
          <p:nvPr/>
        </p:nvSpPr>
        <p:spPr>
          <a:xfrm>
            <a:off x="202880" y="528383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合伙转介</a:t>
            </a:r>
          </a:p>
        </p:txBody>
      </p:sp>
      <p:sp>
        <p:nvSpPr>
          <p:cNvPr id="1863" name="Rectangle 1862"/>
          <p:cNvSpPr/>
          <p:nvPr/>
        </p:nvSpPr>
        <p:spPr>
          <a:xfrm>
            <a:off x="1216129" y="5289832"/>
            <a:ext cx="335249" cy="222040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TextBox 1863"/>
          <p:cNvSpPr txBox="1"/>
          <p:nvPr/>
        </p:nvSpPr>
        <p:spPr>
          <a:xfrm>
            <a:off x="1210129" y="52918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1210129" y="53928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866" name="Rectangle 1865"/>
          <p:cNvSpPr/>
          <p:nvPr/>
        </p:nvSpPr>
        <p:spPr>
          <a:xfrm>
            <a:off x="1563378" y="5289832"/>
            <a:ext cx="335249" cy="222040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TextBox 1866"/>
          <p:cNvSpPr txBox="1"/>
          <p:nvPr/>
        </p:nvSpPr>
        <p:spPr>
          <a:xfrm>
            <a:off x="1557378" y="52918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1.2M</a:t>
            </a:r>
          </a:p>
        </p:txBody>
      </p:sp>
      <p:sp>
        <p:nvSpPr>
          <p:cNvPr id="1868" name="TextBox 1867"/>
          <p:cNvSpPr txBox="1"/>
          <p:nvPr/>
        </p:nvSpPr>
        <p:spPr>
          <a:xfrm>
            <a:off x="1557378" y="53928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869" name="Rectangle 1868"/>
          <p:cNvSpPr/>
          <p:nvPr/>
        </p:nvSpPr>
        <p:spPr>
          <a:xfrm>
            <a:off x="2257876" y="5289832"/>
            <a:ext cx="335249" cy="222040"/>
          </a:xfrm>
          <a:prstGeom prst="rect">
            <a:avLst/>
          </a:prstGeom>
          <a:solidFill>
            <a:srgbClr val="94A3B8">
              <a:alpha val="259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TextBox 1869"/>
          <p:cNvSpPr txBox="1"/>
          <p:nvPr/>
        </p:nvSpPr>
        <p:spPr>
          <a:xfrm>
            <a:off x="2251876" y="52918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871" name="TextBox 1870"/>
          <p:cNvSpPr txBox="1"/>
          <p:nvPr/>
        </p:nvSpPr>
        <p:spPr>
          <a:xfrm>
            <a:off x="2251876" y="53928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872" name="Rectangle 1871"/>
          <p:cNvSpPr/>
          <p:nvPr/>
        </p:nvSpPr>
        <p:spPr>
          <a:xfrm>
            <a:off x="2605125" y="5289832"/>
            <a:ext cx="335249" cy="222040"/>
          </a:xfrm>
          <a:prstGeom prst="rect">
            <a:avLst/>
          </a:prstGeom>
          <a:solidFill>
            <a:srgbClr val="94A3B8">
              <a:alpha val="587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TextBox 1872"/>
          <p:cNvSpPr txBox="1"/>
          <p:nvPr/>
        </p:nvSpPr>
        <p:spPr>
          <a:xfrm>
            <a:off x="2599125" y="52918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0.5M</a:t>
            </a:r>
          </a:p>
        </p:txBody>
      </p:sp>
      <p:sp>
        <p:nvSpPr>
          <p:cNvPr id="1874" name="TextBox 1873"/>
          <p:cNvSpPr txBox="1"/>
          <p:nvPr/>
        </p:nvSpPr>
        <p:spPr>
          <a:xfrm>
            <a:off x="2599125" y="53928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875" name="Rectangle 1874"/>
          <p:cNvSpPr/>
          <p:nvPr/>
        </p:nvSpPr>
        <p:spPr>
          <a:xfrm>
            <a:off x="3299623" y="5289832"/>
            <a:ext cx="335249" cy="222040"/>
          </a:xfrm>
          <a:prstGeom prst="rect">
            <a:avLst/>
          </a:prstGeom>
          <a:solidFill>
            <a:srgbClr val="94A3B8">
              <a:alpha val="259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6" name="TextBox 1875"/>
          <p:cNvSpPr txBox="1"/>
          <p:nvPr/>
        </p:nvSpPr>
        <p:spPr>
          <a:xfrm>
            <a:off x="3293623" y="52918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877" name="TextBox 1876"/>
          <p:cNvSpPr txBox="1"/>
          <p:nvPr/>
        </p:nvSpPr>
        <p:spPr>
          <a:xfrm>
            <a:off x="3293623" y="53928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878" name="Rectangle 1877"/>
          <p:cNvSpPr/>
          <p:nvPr/>
        </p:nvSpPr>
        <p:spPr>
          <a:xfrm>
            <a:off x="5035868" y="5289832"/>
            <a:ext cx="335249" cy="222040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9" name="TextBox 1878"/>
          <p:cNvSpPr txBox="1"/>
          <p:nvPr/>
        </p:nvSpPr>
        <p:spPr>
          <a:xfrm>
            <a:off x="5029868" y="52918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880" name="TextBox 1879"/>
          <p:cNvSpPr txBox="1"/>
          <p:nvPr/>
        </p:nvSpPr>
        <p:spPr>
          <a:xfrm>
            <a:off x="5029868" y="53928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881" name="Rectangle 1880"/>
          <p:cNvSpPr/>
          <p:nvPr/>
        </p:nvSpPr>
        <p:spPr>
          <a:xfrm>
            <a:off x="5730366" y="5289832"/>
            <a:ext cx="335249" cy="222040"/>
          </a:xfrm>
          <a:prstGeom prst="rect">
            <a:avLst/>
          </a:prstGeom>
          <a:solidFill>
            <a:srgbClr val="94A3B8">
              <a:alpha val="402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2" name="TextBox 1881"/>
          <p:cNvSpPr txBox="1"/>
          <p:nvPr/>
        </p:nvSpPr>
        <p:spPr>
          <a:xfrm>
            <a:off x="5724366" y="52918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0.2M</a:t>
            </a:r>
          </a:p>
        </p:txBody>
      </p:sp>
      <p:sp>
        <p:nvSpPr>
          <p:cNvPr id="1883" name="TextBox 1882"/>
          <p:cNvSpPr txBox="1"/>
          <p:nvPr/>
        </p:nvSpPr>
        <p:spPr>
          <a:xfrm>
            <a:off x="5724366" y="53928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1884" name="TextBox 1883"/>
          <p:cNvSpPr txBox="1"/>
          <p:nvPr/>
        </p:nvSpPr>
        <p:spPr>
          <a:xfrm>
            <a:off x="202880" y="551787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ICLUB业务</a:t>
            </a:r>
          </a:p>
        </p:txBody>
      </p:sp>
      <p:sp>
        <p:nvSpPr>
          <p:cNvPr id="1885" name="Rectangle 1884"/>
          <p:cNvSpPr/>
          <p:nvPr/>
        </p:nvSpPr>
        <p:spPr>
          <a:xfrm>
            <a:off x="2605125" y="5523872"/>
            <a:ext cx="335249" cy="222040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6" name="TextBox 1885"/>
          <p:cNvSpPr txBox="1"/>
          <p:nvPr/>
        </p:nvSpPr>
        <p:spPr>
          <a:xfrm>
            <a:off x="2599125" y="55258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1887" name="TextBox 1886"/>
          <p:cNvSpPr txBox="1"/>
          <p:nvPr/>
        </p:nvSpPr>
        <p:spPr>
          <a:xfrm>
            <a:off x="2599125" y="56269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1888" name="Rectangle 1887"/>
          <p:cNvSpPr/>
          <p:nvPr/>
        </p:nvSpPr>
        <p:spPr>
          <a:xfrm>
            <a:off x="2952374" y="5523872"/>
            <a:ext cx="335249" cy="222040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9" name="TextBox 1888"/>
          <p:cNvSpPr txBox="1"/>
          <p:nvPr/>
        </p:nvSpPr>
        <p:spPr>
          <a:xfrm>
            <a:off x="2946374" y="55258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890" name="TextBox 1889"/>
          <p:cNvSpPr txBox="1"/>
          <p:nvPr/>
        </p:nvSpPr>
        <p:spPr>
          <a:xfrm>
            <a:off x="2946374" y="56269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891" name="Rectangle 1890"/>
          <p:cNvSpPr/>
          <p:nvPr/>
        </p:nvSpPr>
        <p:spPr>
          <a:xfrm>
            <a:off x="3299623" y="5523872"/>
            <a:ext cx="335249" cy="222040"/>
          </a:xfrm>
          <a:prstGeom prst="rect">
            <a:avLst/>
          </a:prstGeom>
          <a:solidFill>
            <a:srgbClr val="8E44AD">
              <a:alpha val="589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2" name="TextBox 1891"/>
          <p:cNvSpPr txBox="1"/>
          <p:nvPr/>
        </p:nvSpPr>
        <p:spPr>
          <a:xfrm>
            <a:off x="3293623" y="55258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1.8M</a:t>
            </a:r>
          </a:p>
        </p:txBody>
      </p:sp>
      <p:sp>
        <p:nvSpPr>
          <p:cNvPr id="1893" name="TextBox 1892"/>
          <p:cNvSpPr txBox="1"/>
          <p:nvPr/>
        </p:nvSpPr>
        <p:spPr>
          <a:xfrm>
            <a:off x="3293623" y="56269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894" name="TextBox 1893"/>
          <p:cNvSpPr txBox="1"/>
          <p:nvPr/>
        </p:nvSpPr>
        <p:spPr>
          <a:xfrm>
            <a:off x="202880" y="575191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MGA业务</a:t>
            </a:r>
          </a:p>
        </p:txBody>
      </p:sp>
      <p:sp>
        <p:nvSpPr>
          <p:cNvPr id="1895" name="Rectangle 1894"/>
          <p:cNvSpPr/>
          <p:nvPr/>
        </p:nvSpPr>
        <p:spPr>
          <a:xfrm>
            <a:off x="868880" y="5757912"/>
            <a:ext cx="335249" cy="222040"/>
          </a:xfrm>
          <a:prstGeom prst="rect">
            <a:avLst/>
          </a:prstGeom>
          <a:solidFill>
            <a:srgbClr val="C0392B">
              <a:alpha val="319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TextBox 1895"/>
          <p:cNvSpPr txBox="1"/>
          <p:nvPr/>
        </p:nvSpPr>
        <p:spPr>
          <a:xfrm>
            <a:off x="862880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0.4M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862880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1件</a:t>
            </a:r>
          </a:p>
        </p:txBody>
      </p:sp>
      <p:sp>
        <p:nvSpPr>
          <p:cNvPr id="1898" name="Rectangle 1897"/>
          <p:cNvSpPr/>
          <p:nvPr/>
        </p:nvSpPr>
        <p:spPr>
          <a:xfrm>
            <a:off x="1216129" y="5757912"/>
            <a:ext cx="335249" cy="222040"/>
          </a:xfrm>
          <a:prstGeom prst="rect">
            <a:avLst/>
          </a:prstGeom>
          <a:solidFill>
            <a:srgbClr val="C0392B">
              <a:alpha val="326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TextBox 1898"/>
          <p:cNvSpPr txBox="1"/>
          <p:nvPr/>
        </p:nvSpPr>
        <p:spPr>
          <a:xfrm>
            <a:off x="1210129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0.4M</a:t>
            </a:r>
          </a:p>
        </p:txBody>
      </p:sp>
      <p:sp>
        <p:nvSpPr>
          <p:cNvPr id="1900" name="TextBox 1899"/>
          <p:cNvSpPr txBox="1"/>
          <p:nvPr/>
        </p:nvSpPr>
        <p:spPr>
          <a:xfrm>
            <a:off x="1210129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1件</a:t>
            </a:r>
          </a:p>
        </p:txBody>
      </p:sp>
      <p:sp>
        <p:nvSpPr>
          <p:cNvPr id="1901" name="Rectangle 1900"/>
          <p:cNvSpPr/>
          <p:nvPr/>
        </p:nvSpPr>
        <p:spPr>
          <a:xfrm>
            <a:off x="1563378" y="5757912"/>
            <a:ext cx="335249" cy="222040"/>
          </a:xfrm>
          <a:prstGeom prst="rect">
            <a:avLst/>
          </a:prstGeom>
          <a:solidFill>
            <a:srgbClr val="C0392B">
              <a:alpha val="261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2" name="TextBox 1901"/>
          <p:cNvSpPr txBox="1"/>
          <p:nvPr/>
        </p:nvSpPr>
        <p:spPr>
          <a:xfrm>
            <a:off x="1557378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0.1M</a:t>
            </a:r>
          </a:p>
        </p:txBody>
      </p:sp>
      <p:sp>
        <p:nvSpPr>
          <p:cNvPr id="1903" name="TextBox 1902"/>
          <p:cNvSpPr txBox="1"/>
          <p:nvPr/>
        </p:nvSpPr>
        <p:spPr>
          <a:xfrm>
            <a:off x="1557378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2件</a:t>
            </a:r>
          </a:p>
        </p:txBody>
      </p:sp>
      <p:sp>
        <p:nvSpPr>
          <p:cNvPr id="1904" name="Rectangle 1903"/>
          <p:cNvSpPr/>
          <p:nvPr/>
        </p:nvSpPr>
        <p:spPr>
          <a:xfrm>
            <a:off x="1910627" y="5757912"/>
            <a:ext cx="335249" cy="222040"/>
          </a:xfrm>
          <a:prstGeom prst="rect">
            <a:avLst/>
          </a:prstGeom>
          <a:solidFill>
            <a:srgbClr val="C0392B">
              <a:alpha val="531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5" name="TextBox 1904"/>
          <p:cNvSpPr txBox="1"/>
          <p:nvPr/>
        </p:nvSpPr>
        <p:spPr>
          <a:xfrm>
            <a:off x="1904627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1.4M</a:t>
            </a:r>
          </a:p>
        </p:txBody>
      </p:sp>
      <p:sp>
        <p:nvSpPr>
          <p:cNvPr id="1906" name="TextBox 1905"/>
          <p:cNvSpPr txBox="1"/>
          <p:nvPr/>
        </p:nvSpPr>
        <p:spPr>
          <a:xfrm>
            <a:off x="1904627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3件</a:t>
            </a:r>
          </a:p>
        </p:txBody>
      </p:sp>
      <p:sp>
        <p:nvSpPr>
          <p:cNvPr id="1907" name="Rectangle 1906"/>
          <p:cNvSpPr/>
          <p:nvPr/>
        </p:nvSpPr>
        <p:spPr>
          <a:xfrm>
            <a:off x="2257876" y="5757912"/>
            <a:ext cx="335249" cy="222040"/>
          </a:xfrm>
          <a:prstGeom prst="rect">
            <a:avLst/>
          </a:prstGeom>
          <a:solidFill>
            <a:srgbClr val="C0392B">
              <a:alpha val="416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8" name="TextBox 1907"/>
          <p:cNvSpPr txBox="1"/>
          <p:nvPr/>
        </p:nvSpPr>
        <p:spPr>
          <a:xfrm>
            <a:off x="2251876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0.8M</a:t>
            </a:r>
          </a:p>
        </p:txBody>
      </p:sp>
      <p:sp>
        <p:nvSpPr>
          <p:cNvPr id="1909" name="TextBox 1908"/>
          <p:cNvSpPr txBox="1"/>
          <p:nvPr/>
        </p:nvSpPr>
        <p:spPr>
          <a:xfrm>
            <a:off x="2251876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6件</a:t>
            </a:r>
          </a:p>
        </p:txBody>
      </p:sp>
      <p:sp>
        <p:nvSpPr>
          <p:cNvPr id="1910" name="Rectangle 1909"/>
          <p:cNvSpPr/>
          <p:nvPr/>
        </p:nvSpPr>
        <p:spPr>
          <a:xfrm>
            <a:off x="2605125" y="5757912"/>
            <a:ext cx="335249" cy="222040"/>
          </a:xfrm>
          <a:prstGeom prst="rect">
            <a:avLst/>
          </a:prstGeom>
          <a:solidFill>
            <a:srgbClr val="C0392B">
              <a:alpha val="3166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1" name="TextBox 1910"/>
          <p:cNvSpPr txBox="1"/>
          <p:nvPr/>
        </p:nvSpPr>
        <p:spPr>
          <a:xfrm>
            <a:off x="2599125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0.3M</a:t>
            </a:r>
          </a:p>
        </p:txBody>
      </p:sp>
      <p:sp>
        <p:nvSpPr>
          <p:cNvPr id="1912" name="TextBox 1911"/>
          <p:cNvSpPr txBox="1"/>
          <p:nvPr/>
        </p:nvSpPr>
        <p:spPr>
          <a:xfrm>
            <a:off x="2599125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7件</a:t>
            </a:r>
          </a:p>
        </p:txBody>
      </p:sp>
      <p:sp>
        <p:nvSpPr>
          <p:cNvPr id="1913" name="Rectangle 1912"/>
          <p:cNvSpPr/>
          <p:nvPr/>
        </p:nvSpPr>
        <p:spPr>
          <a:xfrm>
            <a:off x="2952374" y="5757912"/>
            <a:ext cx="335249" cy="222040"/>
          </a:xfrm>
          <a:prstGeom prst="rect">
            <a:avLst/>
          </a:prstGeom>
          <a:solidFill>
            <a:srgbClr val="C0392B">
              <a:alpha val="503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4" name="TextBox 1913"/>
          <p:cNvSpPr txBox="1"/>
          <p:nvPr/>
        </p:nvSpPr>
        <p:spPr>
          <a:xfrm>
            <a:off x="2946374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1.3M</a:t>
            </a:r>
          </a:p>
        </p:txBody>
      </p:sp>
      <p:sp>
        <p:nvSpPr>
          <p:cNvPr id="1915" name="TextBox 1914"/>
          <p:cNvSpPr txBox="1"/>
          <p:nvPr/>
        </p:nvSpPr>
        <p:spPr>
          <a:xfrm>
            <a:off x="2946374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3件</a:t>
            </a:r>
          </a:p>
        </p:txBody>
      </p:sp>
      <p:sp>
        <p:nvSpPr>
          <p:cNvPr id="1916" name="Rectangle 1915"/>
          <p:cNvSpPr/>
          <p:nvPr/>
        </p:nvSpPr>
        <p:spPr>
          <a:xfrm>
            <a:off x="3299623" y="5757912"/>
            <a:ext cx="335249" cy="222040"/>
          </a:xfrm>
          <a:prstGeom prst="rect">
            <a:avLst/>
          </a:prstGeom>
          <a:solidFill>
            <a:srgbClr val="C0392B">
              <a:alpha val="5573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7" name="TextBox 1916"/>
          <p:cNvSpPr txBox="1"/>
          <p:nvPr/>
        </p:nvSpPr>
        <p:spPr>
          <a:xfrm>
            <a:off x="3293623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1.6M</a:t>
            </a:r>
          </a:p>
        </p:txBody>
      </p:sp>
      <p:sp>
        <p:nvSpPr>
          <p:cNvPr id="1918" name="TextBox 1917"/>
          <p:cNvSpPr txBox="1"/>
          <p:nvPr/>
        </p:nvSpPr>
        <p:spPr>
          <a:xfrm>
            <a:off x="3293623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919" name="Rectangle 1918"/>
          <p:cNvSpPr/>
          <p:nvPr/>
        </p:nvSpPr>
        <p:spPr>
          <a:xfrm>
            <a:off x="3646872" y="5757912"/>
            <a:ext cx="335249" cy="222040"/>
          </a:xfrm>
          <a:prstGeom prst="rect">
            <a:avLst/>
          </a:prstGeom>
          <a:solidFill>
            <a:srgbClr val="C0392B">
              <a:alpha val="705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0" name="TextBox 1919"/>
          <p:cNvSpPr txBox="1"/>
          <p:nvPr/>
        </p:nvSpPr>
        <p:spPr>
          <a:xfrm>
            <a:off x="3640872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921" name="TextBox 1920"/>
          <p:cNvSpPr txBox="1"/>
          <p:nvPr/>
        </p:nvSpPr>
        <p:spPr>
          <a:xfrm>
            <a:off x="3640872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922" name="Rectangle 1921"/>
          <p:cNvSpPr/>
          <p:nvPr/>
        </p:nvSpPr>
        <p:spPr>
          <a:xfrm>
            <a:off x="3994121" y="5757912"/>
            <a:ext cx="335249" cy="222040"/>
          </a:xfrm>
          <a:prstGeom prst="rect">
            <a:avLst/>
          </a:prstGeom>
          <a:solidFill>
            <a:srgbClr val="C0392B">
              <a:alpha val="5285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3" name="TextBox 1922"/>
          <p:cNvSpPr txBox="1"/>
          <p:nvPr/>
        </p:nvSpPr>
        <p:spPr>
          <a:xfrm>
            <a:off x="3988121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1.4M</a:t>
            </a:r>
          </a:p>
        </p:txBody>
      </p:sp>
      <p:sp>
        <p:nvSpPr>
          <p:cNvPr id="1924" name="TextBox 1923"/>
          <p:cNvSpPr txBox="1"/>
          <p:nvPr/>
        </p:nvSpPr>
        <p:spPr>
          <a:xfrm>
            <a:off x="3988121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7件</a:t>
            </a:r>
          </a:p>
        </p:txBody>
      </p:sp>
      <p:sp>
        <p:nvSpPr>
          <p:cNvPr id="1925" name="Rectangle 1924"/>
          <p:cNvSpPr/>
          <p:nvPr/>
        </p:nvSpPr>
        <p:spPr>
          <a:xfrm>
            <a:off x="4341370" y="5757912"/>
            <a:ext cx="335249" cy="222040"/>
          </a:xfrm>
          <a:prstGeom prst="rect">
            <a:avLst/>
          </a:prstGeom>
          <a:solidFill>
            <a:srgbClr val="C0392B">
              <a:alpha val="265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6" name="TextBox 1925"/>
          <p:cNvSpPr txBox="1"/>
          <p:nvPr/>
        </p:nvSpPr>
        <p:spPr>
          <a:xfrm>
            <a:off x="4335370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0.1M</a:t>
            </a:r>
          </a:p>
        </p:txBody>
      </p:sp>
      <p:sp>
        <p:nvSpPr>
          <p:cNvPr id="1927" name="TextBox 1926"/>
          <p:cNvSpPr txBox="1"/>
          <p:nvPr/>
        </p:nvSpPr>
        <p:spPr>
          <a:xfrm>
            <a:off x="4335370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1件</a:t>
            </a:r>
          </a:p>
        </p:txBody>
      </p:sp>
      <p:sp>
        <p:nvSpPr>
          <p:cNvPr id="1928" name="Rectangle 1927"/>
          <p:cNvSpPr/>
          <p:nvPr/>
        </p:nvSpPr>
        <p:spPr>
          <a:xfrm>
            <a:off x="4688619" y="5757912"/>
            <a:ext cx="335249" cy="222040"/>
          </a:xfrm>
          <a:prstGeom prst="rect">
            <a:avLst/>
          </a:prstGeom>
          <a:solidFill>
            <a:srgbClr val="C0392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9" name="TextBox 1928"/>
          <p:cNvSpPr txBox="1"/>
          <p:nvPr/>
        </p:nvSpPr>
        <p:spPr>
          <a:xfrm>
            <a:off x="4682619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3.8M</a:t>
            </a:r>
          </a:p>
        </p:txBody>
      </p:sp>
      <p:sp>
        <p:nvSpPr>
          <p:cNvPr id="1930" name="TextBox 1929"/>
          <p:cNvSpPr txBox="1"/>
          <p:nvPr/>
        </p:nvSpPr>
        <p:spPr>
          <a:xfrm>
            <a:off x="4682619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11件</a:t>
            </a:r>
          </a:p>
        </p:txBody>
      </p:sp>
      <p:sp>
        <p:nvSpPr>
          <p:cNvPr id="1931" name="Rectangle 1930"/>
          <p:cNvSpPr/>
          <p:nvPr/>
        </p:nvSpPr>
        <p:spPr>
          <a:xfrm>
            <a:off x="5035868" y="5757912"/>
            <a:ext cx="335249" cy="222040"/>
          </a:xfrm>
          <a:prstGeom prst="rect">
            <a:avLst/>
          </a:prstGeom>
          <a:solidFill>
            <a:srgbClr val="C0392B">
              <a:alpha val="4843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2" name="TextBox 1931"/>
          <p:cNvSpPr txBox="1"/>
          <p:nvPr/>
        </p:nvSpPr>
        <p:spPr>
          <a:xfrm>
            <a:off x="5029868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1.2M</a:t>
            </a:r>
          </a:p>
        </p:txBody>
      </p:sp>
      <p:sp>
        <p:nvSpPr>
          <p:cNvPr id="1933" name="TextBox 1932"/>
          <p:cNvSpPr txBox="1"/>
          <p:nvPr/>
        </p:nvSpPr>
        <p:spPr>
          <a:xfrm>
            <a:off x="5029868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7件</a:t>
            </a:r>
          </a:p>
        </p:txBody>
      </p:sp>
      <p:sp>
        <p:nvSpPr>
          <p:cNvPr id="1934" name="Rectangle 1933"/>
          <p:cNvSpPr/>
          <p:nvPr/>
        </p:nvSpPr>
        <p:spPr>
          <a:xfrm>
            <a:off x="5383117" y="5757912"/>
            <a:ext cx="335249" cy="222040"/>
          </a:xfrm>
          <a:prstGeom prst="rect">
            <a:avLst/>
          </a:prstGeom>
          <a:solidFill>
            <a:srgbClr val="C0392B">
              <a:alpha val="717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5" name="TextBox 1934"/>
          <p:cNvSpPr txBox="1"/>
          <p:nvPr/>
        </p:nvSpPr>
        <p:spPr>
          <a:xfrm>
            <a:off x="5377117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2.4M</a:t>
            </a:r>
          </a:p>
        </p:txBody>
      </p:sp>
      <p:sp>
        <p:nvSpPr>
          <p:cNvPr id="1936" name="TextBox 1935"/>
          <p:cNvSpPr txBox="1"/>
          <p:nvPr/>
        </p:nvSpPr>
        <p:spPr>
          <a:xfrm>
            <a:off x="5377117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8件</a:t>
            </a:r>
          </a:p>
        </p:txBody>
      </p:sp>
      <p:sp>
        <p:nvSpPr>
          <p:cNvPr id="1937" name="Rectangle 1936"/>
          <p:cNvSpPr/>
          <p:nvPr/>
        </p:nvSpPr>
        <p:spPr>
          <a:xfrm>
            <a:off x="5730366" y="5757912"/>
            <a:ext cx="335249" cy="222040"/>
          </a:xfrm>
          <a:prstGeom prst="rect">
            <a:avLst/>
          </a:prstGeom>
          <a:solidFill>
            <a:srgbClr val="C0392B">
              <a:alpha val="337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8" name="TextBox 1937"/>
          <p:cNvSpPr txBox="1"/>
          <p:nvPr/>
        </p:nvSpPr>
        <p:spPr>
          <a:xfrm>
            <a:off x="5724366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0.4M</a:t>
            </a:r>
          </a:p>
        </p:txBody>
      </p:sp>
      <p:sp>
        <p:nvSpPr>
          <p:cNvPr id="1939" name="TextBox 1938"/>
          <p:cNvSpPr txBox="1"/>
          <p:nvPr/>
        </p:nvSpPr>
        <p:spPr>
          <a:xfrm>
            <a:off x="5724366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5件</a:t>
            </a:r>
          </a:p>
        </p:txBody>
      </p:sp>
      <p:sp>
        <p:nvSpPr>
          <p:cNvPr id="1940" name="TextBox 1939"/>
          <p:cNvSpPr txBox="1"/>
          <p:nvPr/>
        </p:nvSpPr>
        <p:spPr>
          <a:xfrm>
            <a:off x="202880" y="598595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1941" name="Rectangle 1940"/>
          <p:cNvSpPr/>
          <p:nvPr/>
        </p:nvSpPr>
        <p:spPr>
          <a:xfrm>
            <a:off x="868880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2" name="TextBox 1941"/>
          <p:cNvSpPr txBox="1"/>
          <p:nvPr/>
        </p:nvSpPr>
        <p:spPr>
          <a:xfrm>
            <a:off x="862880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12.4M</a:t>
            </a:r>
          </a:p>
        </p:txBody>
      </p:sp>
      <p:sp>
        <p:nvSpPr>
          <p:cNvPr id="1943" name="TextBox 1942"/>
          <p:cNvSpPr txBox="1"/>
          <p:nvPr/>
        </p:nvSpPr>
        <p:spPr>
          <a:xfrm>
            <a:off x="862880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24件</a:t>
            </a:r>
          </a:p>
        </p:txBody>
      </p:sp>
      <p:sp>
        <p:nvSpPr>
          <p:cNvPr id="1944" name="Rectangle 1943"/>
          <p:cNvSpPr/>
          <p:nvPr/>
        </p:nvSpPr>
        <p:spPr>
          <a:xfrm>
            <a:off x="1216129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" name="TextBox 1944"/>
          <p:cNvSpPr txBox="1"/>
          <p:nvPr/>
        </p:nvSpPr>
        <p:spPr>
          <a:xfrm>
            <a:off x="1210129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24.3M</a:t>
            </a:r>
          </a:p>
        </p:txBody>
      </p:sp>
      <p:sp>
        <p:nvSpPr>
          <p:cNvPr id="1946" name="TextBox 1945"/>
          <p:cNvSpPr txBox="1"/>
          <p:nvPr/>
        </p:nvSpPr>
        <p:spPr>
          <a:xfrm>
            <a:off x="1210129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59件</a:t>
            </a:r>
          </a:p>
        </p:txBody>
      </p:sp>
      <p:sp>
        <p:nvSpPr>
          <p:cNvPr id="1947" name="Rectangle 1946"/>
          <p:cNvSpPr/>
          <p:nvPr/>
        </p:nvSpPr>
        <p:spPr>
          <a:xfrm>
            <a:off x="1563378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8" name="TextBox 1947"/>
          <p:cNvSpPr txBox="1"/>
          <p:nvPr/>
        </p:nvSpPr>
        <p:spPr>
          <a:xfrm>
            <a:off x="1557378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24.6M</a:t>
            </a:r>
          </a:p>
        </p:txBody>
      </p:sp>
      <p:sp>
        <p:nvSpPr>
          <p:cNvPr id="1949" name="TextBox 1948"/>
          <p:cNvSpPr txBox="1"/>
          <p:nvPr/>
        </p:nvSpPr>
        <p:spPr>
          <a:xfrm>
            <a:off x="1557378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45件</a:t>
            </a:r>
          </a:p>
        </p:txBody>
      </p:sp>
      <p:sp>
        <p:nvSpPr>
          <p:cNvPr id="1950" name="Rectangle 1949"/>
          <p:cNvSpPr/>
          <p:nvPr/>
        </p:nvSpPr>
        <p:spPr>
          <a:xfrm>
            <a:off x="1910627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1" name="TextBox 1950"/>
          <p:cNvSpPr txBox="1"/>
          <p:nvPr/>
        </p:nvSpPr>
        <p:spPr>
          <a:xfrm>
            <a:off x="1904627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23.5M</a:t>
            </a:r>
          </a:p>
        </p:txBody>
      </p:sp>
      <p:sp>
        <p:nvSpPr>
          <p:cNvPr id="1952" name="TextBox 1951"/>
          <p:cNvSpPr txBox="1"/>
          <p:nvPr/>
        </p:nvSpPr>
        <p:spPr>
          <a:xfrm>
            <a:off x="1904627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44件</a:t>
            </a:r>
          </a:p>
        </p:txBody>
      </p:sp>
      <p:sp>
        <p:nvSpPr>
          <p:cNvPr id="1953" name="Rectangle 1952"/>
          <p:cNvSpPr/>
          <p:nvPr/>
        </p:nvSpPr>
        <p:spPr>
          <a:xfrm>
            <a:off x="2257876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4" name="TextBox 1953"/>
          <p:cNvSpPr txBox="1"/>
          <p:nvPr/>
        </p:nvSpPr>
        <p:spPr>
          <a:xfrm>
            <a:off x="2251876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8.4M</a:t>
            </a:r>
          </a:p>
        </p:txBody>
      </p:sp>
      <p:sp>
        <p:nvSpPr>
          <p:cNvPr id="1955" name="TextBox 1954"/>
          <p:cNvSpPr txBox="1"/>
          <p:nvPr/>
        </p:nvSpPr>
        <p:spPr>
          <a:xfrm>
            <a:off x="2251876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31件</a:t>
            </a:r>
          </a:p>
        </p:txBody>
      </p:sp>
      <p:sp>
        <p:nvSpPr>
          <p:cNvPr id="1956" name="Rectangle 1955"/>
          <p:cNvSpPr/>
          <p:nvPr/>
        </p:nvSpPr>
        <p:spPr>
          <a:xfrm>
            <a:off x="2605125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7" name="TextBox 1956"/>
          <p:cNvSpPr txBox="1"/>
          <p:nvPr/>
        </p:nvSpPr>
        <p:spPr>
          <a:xfrm>
            <a:off x="2599125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15.9M</a:t>
            </a:r>
          </a:p>
        </p:txBody>
      </p:sp>
      <p:sp>
        <p:nvSpPr>
          <p:cNvPr id="1958" name="TextBox 1957"/>
          <p:cNvSpPr txBox="1"/>
          <p:nvPr/>
        </p:nvSpPr>
        <p:spPr>
          <a:xfrm>
            <a:off x="2599125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42件</a:t>
            </a:r>
          </a:p>
        </p:txBody>
      </p:sp>
      <p:sp>
        <p:nvSpPr>
          <p:cNvPr id="1959" name="Rectangle 1958"/>
          <p:cNvSpPr/>
          <p:nvPr/>
        </p:nvSpPr>
        <p:spPr>
          <a:xfrm>
            <a:off x="2952374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0" name="TextBox 1959"/>
          <p:cNvSpPr txBox="1"/>
          <p:nvPr/>
        </p:nvSpPr>
        <p:spPr>
          <a:xfrm>
            <a:off x="2946374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20.4M</a:t>
            </a:r>
          </a:p>
        </p:txBody>
      </p:sp>
      <p:sp>
        <p:nvSpPr>
          <p:cNvPr id="1961" name="TextBox 1960"/>
          <p:cNvSpPr txBox="1"/>
          <p:nvPr/>
        </p:nvSpPr>
        <p:spPr>
          <a:xfrm>
            <a:off x="2946374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46件</a:t>
            </a:r>
          </a:p>
        </p:txBody>
      </p:sp>
      <p:sp>
        <p:nvSpPr>
          <p:cNvPr id="1962" name="Rectangle 1961"/>
          <p:cNvSpPr/>
          <p:nvPr/>
        </p:nvSpPr>
        <p:spPr>
          <a:xfrm>
            <a:off x="3299623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3" name="TextBox 1962"/>
          <p:cNvSpPr txBox="1"/>
          <p:nvPr/>
        </p:nvSpPr>
        <p:spPr>
          <a:xfrm>
            <a:off x="3293623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28.1M</a:t>
            </a:r>
          </a:p>
        </p:txBody>
      </p:sp>
      <p:sp>
        <p:nvSpPr>
          <p:cNvPr id="1964" name="TextBox 1963"/>
          <p:cNvSpPr txBox="1"/>
          <p:nvPr/>
        </p:nvSpPr>
        <p:spPr>
          <a:xfrm>
            <a:off x="3293623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43件</a:t>
            </a:r>
          </a:p>
        </p:txBody>
      </p:sp>
      <p:sp>
        <p:nvSpPr>
          <p:cNvPr id="1965" name="Rectangle 1964"/>
          <p:cNvSpPr/>
          <p:nvPr/>
        </p:nvSpPr>
        <p:spPr>
          <a:xfrm>
            <a:off x="3646872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6" name="TextBox 1965"/>
          <p:cNvSpPr txBox="1"/>
          <p:nvPr/>
        </p:nvSpPr>
        <p:spPr>
          <a:xfrm>
            <a:off x="3640872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12.5M</a:t>
            </a:r>
          </a:p>
        </p:txBody>
      </p:sp>
      <p:sp>
        <p:nvSpPr>
          <p:cNvPr id="1967" name="TextBox 1966"/>
          <p:cNvSpPr txBox="1"/>
          <p:nvPr/>
        </p:nvSpPr>
        <p:spPr>
          <a:xfrm>
            <a:off x="3640872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31件</a:t>
            </a:r>
          </a:p>
        </p:txBody>
      </p:sp>
      <p:sp>
        <p:nvSpPr>
          <p:cNvPr id="1968" name="Rectangle 1967"/>
          <p:cNvSpPr/>
          <p:nvPr/>
        </p:nvSpPr>
        <p:spPr>
          <a:xfrm>
            <a:off x="3994121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9" name="TextBox 1968"/>
          <p:cNvSpPr txBox="1"/>
          <p:nvPr/>
        </p:nvSpPr>
        <p:spPr>
          <a:xfrm>
            <a:off x="3988121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12.0M</a:t>
            </a:r>
          </a:p>
        </p:txBody>
      </p:sp>
      <p:sp>
        <p:nvSpPr>
          <p:cNvPr id="1970" name="TextBox 1969"/>
          <p:cNvSpPr txBox="1"/>
          <p:nvPr/>
        </p:nvSpPr>
        <p:spPr>
          <a:xfrm>
            <a:off x="3988121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45件</a:t>
            </a:r>
          </a:p>
        </p:txBody>
      </p:sp>
      <p:sp>
        <p:nvSpPr>
          <p:cNvPr id="1971" name="Rectangle 1970"/>
          <p:cNvSpPr/>
          <p:nvPr/>
        </p:nvSpPr>
        <p:spPr>
          <a:xfrm>
            <a:off x="4341370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2" name="TextBox 1971"/>
          <p:cNvSpPr txBox="1"/>
          <p:nvPr/>
        </p:nvSpPr>
        <p:spPr>
          <a:xfrm>
            <a:off x="4335370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15.4M</a:t>
            </a:r>
          </a:p>
        </p:txBody>
      </p:sp>
      <p:sp>
        <p:nvSpPr>
          <p:cNvPr id="1973" name="TextBox 1972"/>
          <p:cNvSpPr txBox="1"/>
          <p:nvPr/>
        </p:nvSpPr>
        <p:spPr>
          <a:xfrm>
            <a:off x="4335370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31件</a:t>
            </a:r>
          </a:p>
        </p:txBody>
      </p:sp>
      <p:sp>
        <p:nvSpPr>
          <p:cNvPr id="1974" name="Rectangle 1973"/>
          <p:cNvSpPr/>
          <p:nvPr/>
        </p:nvSpPr>
        <p:spPr>
          <a:xfrm>
            <a:off x="4688619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5" name="TextBox 1974"/>
          <p:cNvSpPr txBox="1"/>
          <p:nvPr/>
        </p:nvSpPr>
        <p:spPr>
          <a:xfrm>
            <a:off x="4682619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19.3M</a:t>
            </a:r>
          </a:p>
        </p:txBody>
      </p:sp>
      <p:sp>
        <p:nvSpPr>
          <p:cNvPr id="1976" name="TextBox 1975"/>
          <p:cNvSpPr txBox="1"/>
          <p:nvPr/>
        </p:nvSpPr>
        <p:spPr>
          <a:xfrm>
            <a:off x="4682619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50件</a:t>
            </a:r>
          </a:p>
        </p:txBody>
      </p:sp>
      <p:sp>
        <p:nvSpPr>
          <p:cNvPr id="1977" name="Rectangle 1976"/>
          <p:cNvSpPr/>
          <p:nvPr/>
        </p:nvSpPr>
        <p:spPr>
          <a:xfrm>
            <a:off x="5035868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8" name="TextBox 1977"/>
          <p:cNvSpPr txBox="1"/>
          <p:nvPr/>
        </p:nvSpPr>
        <p:spPr>
          <a:xfrm>
            <a:off x="5029868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11.2M</a:t>
            </a:r>
          </a:p>
        </p:txBody>
      </p:sp>
      <p:sp>
        <p:nvSpPr>
          <p:cNvPr id="1979" name="TextBox 1978"/>
          <p:cNvSpPr txBox="1"/>
          <p:nvPr/>
        </p:nvSpPr>
        <p:spPr>
          <a:xfrm>
            <a:off x="5029868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41件</a:t>
            </a:r>
          </a:p>
        </p:txBody>
      </p:sp>
      <p:sp>
        <p:nvSpPr>
          <p:cNvPr id="1980" name="Rectangle 1979"/>
          <p:cNvSpPr/>
          <p:nvPr/>
        </p:nvSpPr>
        <p:spPr>
          <a:xfrm>
            <a:off x="5383117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1" name="TextBox 1980"/>
          <p:cNvSpPr txBox="1"/>
          <p:nvPr/>
        </p:nvSpPr>
        <p:spPr>
          <a:xfrm>
            <a:off x="5377117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17.6M</a:t>
            </a:r>
          </a:p>
        </p:txBody>
      </p:sp>
      <p:sp>
        <p:nvSpPr>
          <p:cNvPr id="1982" name="TextBox 1981"/>
          <p:cNvSpPr txBox="1"/>
          <p:nvPr/>
        </p:nvSpPr>
        <p:spPr>
          <a:xfrm>
            <a:off x="5377117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49件</a:t>
            </a:r>
          </a:p>
        </p:txBody>
      </p:sp>
      <p:sp>
        <p:nvSpPr>
          <p:cNvPr id="1983" name="Rectangle 1982"/>
          <p:cNvSpPr/>
          <p:nvPr/>
        </p:nvSpPr>
        <p:spPr>
          <a:xfrm>
            <a:off x="5730366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4" name="TextBox 1983"/>
          <p:cNvSpPr txBox="1"/>
          <p:nvPr/>
        </p:nvSpPr>
        <p:spPr>
          <a:xfrm>
            <a:off x="5724366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6.9M</a:t>
            </a:r>
          </a:p>
        </p:txBody>
      </p:sp>
      <p:sp>
        <p:nvSpPr>
          <p:cNvPr id="1985" name="TextBox 1984"/>
          <p:cNvSpPr txBox="1"/>
          <p:nvPr/>
        </p:nvSpPr>
        <p:spPr>
          <a:xfrm>
            <a:off x="5724366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29件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/>
          <p:cNvSpPr/>
          <p:nvPr>
            <p:custDataLst>
              <p:tags r:id="rId3"/>
            </p:custDataLst>
          </p:nvPr>
        </p:nvSpPr>
        <p:spPr>
          <a:xfrm>
            <a:off x="390271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4"/>
          <p:cNvSpPr/>
          <p:nvPr>
            <p:custDataLst>
              <p:tags r:id="rId4"/>
            </p:custDataLst>
          </p:nvPr>
        </p:nvSpPr>
        <p:spPr>
          <a:xfrm>
            <a:off x="199263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4"/>
          <p:cNvSpPr/>
          <p:nvPr>
            <p:custDataLst>
              <p:tags r:id="rId5"/>
            </p:custDataLst>
          </p:nvPr>
        </p:nvSpPr>
        <p:spPr>
          <a:xfrm>
            <a:off x="91440" y="63169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3"/>
          <p:cNvSpPr/>
          <p:nvPr/>
        </p:nvSpPr>
        <p:spPr>
          <a:xfrm>
            <a:off x="5972810" y="3529330"/>
            <a:ext cx="5888990" cy="308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" name="Shape 3"/>
          <p:cNvSpPr/>
          <p:nvPr>
            <p:custDataLst>
              <p:tags r:id="rId6"/>
            </p:custDataLst>
          </p:nvPr>
        </p:nvSpPr>
        <p:spPr>
          <a:xfrm>
            <a:off x="5974715" y="568960"/>
            <a:ext cx="5913120" cy="23253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9263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7"/>
            </p:custDataLst>
          </p:nvPr>
        </p:nvSpPr>
        <p:spPr>
          <a:xfrm>
            <a:off x="5974715" y="567055"/>
            <a:ext cx="5913120" cy="295275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6029325" y="592455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同行推荐人分析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>
            <p:custDataLst>
              <p:tags r:id="rId9"/>
            </p:custDataLst>
          </p:nvPr>
        </p:nvGraphicFramePr>
        <p:xfrm>
          <a:off x="5974715" y="895985"/>
          <a:ext cx="58420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6"/>
          <p:cNvSpPr/>
          <p:nvPr>
            <p:custDataLst>
              <p:tags r:id="rId10"/>
            </p:custDataLst>
          </p:nvPr>
        </p:nvSpPr>
        <p:spPr>
          <a:xfrm>
            <a:off x="5930900" y="2950845"/>
            <a:ext cx="6035040" cy="425450"/>
          </a:xfrm>
          <a:prstGeom prst="rect">
            <a:avLst/>
          </a:prstGeom>
          <a:solidFill>
            <a:srgbClr val="EDE7F6"/>
          </a:solidFill>
          <a:ln w="12700">
            <a:solidFill>
              <a:srgbClr val="8E44A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>
            <p:custDataLst>
              <p:tags r:id="rId11"/>
            </p:custDataLst>
          </p:nvPr>
        </p:nvSpPr>
        <p:spPr>
          <a:xfrm>
            <a:off x="5930900" y="2950845"/>
            <a:ext cx="54000" cy="42037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12"/>
            </p:custDataLst>
          </p:nvPr>
        </p:nvSpPr>
        <p:spPr>
          <a:xfrm>
            <a:off x="6040755" y="2968625"/>
            <a:ext cx="585216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235A"/>
                </a:solidFill>
              </a:rPr>
              <a:t>So What：  姜通 + 战略合作合计贡献批核 APE 74.5%，但模式迥异：姜通件均 APE≈36万 为「大单驱动型」；战略合作 119件 为「流量驱动型」。头部集中度高，需差异化管理策略。</a:t>
            </a:r>
            <a:endParaRPr lang="en-US" sz="850" dirty="0">
              <a:solidFill>
                <a:srgbClr val="374151"/>
              </a:solidFill>
            </a:endParaRPr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5948045" y="3496945"/>
            <a:ext cx="5914390" cy="29146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Chart 1"/>
          <p:cNvGraphicFramePr/>
          <p:nvPr>
            <p:custDataLst>
              <p:tags r:id="rId14"/>
            </p:custDataLst>
          </p:nvPr>
        </p:nvGraphicFramePr>
        <p:xfrm>
          <a:off x="5948045" y="3825875"/>
          <a:ext cx="5904230" cy="279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176530" y="6134100"/>
            <a:ext cx="548132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>
            <p:custDataLst>
              <p:tags r:id="rId16"/>
            </p:custDataLst>
          </p:nvPr>
        </p:nvSpPr>
        <p:spPr>
          <a:xfrm>
            <a:off x="176530" y="6134354"/>
            <a:ext cx="54864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>
            <p:custDataLst>
              <p:tags r:id="rId17"/>
            </p:custDataLst>
          </p:nvPr>
        </p:nvSpPr>
        <p:spPr>
          <a:xfrm>
            <a:off x="286258" y="6152642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  Mark批核率 100%（批核 13.3M，未批核 0.0M），件质量最高。姜通未批核量最大（37.3M），批核率 76%，需优先排查件质量问题。头部推荐人质量差异显著，需差异化对接策略。</a:t>
            </a:r>
            <a:endParaRPr lang="en-US" sz="850" dirty="0"/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4" name="Text 4"/>
          <p:cNvSpPr/>
          <p:nvPr>
            <p:custDataLst>
              <p:tags r:id="rId18"/>
            </p:custDataLst>
          </p:nvPr>
        </p:nvSpPr>
        <p:spPr>
          <a:xfrm>
            <a:off x="6002655" y="3511550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V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 TOP 10 KEY ACCOUNT分析</a:t>
            </a:r>
            <a:r>
              <a:rPr lang="en-US" sz="85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7" name="Text 6"/>
          <p:cNvSpPr/>
          <p:nvPr>
            <p:custDataLst>
              <p:tags r:id="rId19"/>
            </p:custDataLst>
          </p:nvPr>
        </p:nvSpPr>
        <p:spPr>
          <a:xfrm>
            <a:off x="174625" y="7315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altLang="zh-CN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12" name="Text 7"/>
          <p:cNvSpPr/>
          <p:nvPr>
            <p:custDataLst>
              <p:tags r:id="rId20"/>
            </p:custDataLst>
          </p:nvPr>
        </p:nvSpPr>
        <p:spPr>
          <a:xfrm>
            <a:off x="174625" y="8578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136.8M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21"/>
            </p:custDataLst>
          </p:nvPr>
        </p:nvSpPr>
        <p:spPr>
          <a:xfrm>
            <a:off x="174625" y="11950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296件  |  件均46.2万</a:t>
            </a:r>
            <a:endParaRPr lang="en-US" sz="750" dirty="0"/>
          </a:p>
        </p:txBody>
      </p:sp>
      <p:sp>
        <p:nvSpPr>
          <p:cNvPr id="16" name="Shape 10"/>
          <p:cNvSpPr/>
          <p:nvPr>
            <p:custDataLst>
              <p:tags r:id="rId22"/>
            </p:custDataLst>
          </p:nvPr>
        </p:nvSpPr>
        <p:spPr>
          <a:xfrm>
            <a:off x="109855" y="605155"/>
            <a:ext cx="178244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5" name="Text 6"/>
          <p:cNvSpPr/>
          <p:nvPr>
            <p:custDataLst>
              <p:tags r:id="rId23"/>
            </p:custDataLst>
          </p:nvPr>
        </p:nvSpPr>
        <p:spPr>
          <a:xfrm>
            <a:off x="2079625" y="72517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同行未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26" name="Text 7"/>
          <p:cNvSpPr/>
          <p:nvPr>
            <p:custDataLst>
              <p:tags r:id="rId24"/>
            </p:custDataLst>
          </p:nvPr>
        </p:nvSpPr>
        <p:spPr>
          <a:xfrm>
            <a:off x="2079625" y="85153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8"/>
          <p:cNvSpPr/>
          <p:nvPr>
            <p:custDataLst>
              <p:tags r:id="rId25"/>
            </p:custDataLst>
          </p:nvPr>
        </p:nvSpPr>
        <p:spPr>
          <a:xfrm>
            <a:off x="2079625" y="118872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  |  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53.2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8" name="Shape 10"/>
          <p:cNvSpPr/>
          <p:nvPr>
            <p:custDataLst>
              <p:tags r:id="rId26"/>
            </p:custDataLst>
          </p:nvPr>
        </p:nvSpPr>
        <p:spPr>
          <a:xfrm>
            <a:off x="2005330" y="598805"/>
            <a:ext cx="1782445" cy="76200"/>
          </a:xfrm>
          <a:prstGeom prst="rect">
            <a:avLst/>
          </a:prstGeom>
          <a:solidFill>
            <a:srgbClr val="4A235A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0" name="Text 6"/>
          <p:cNvSpPr/>
          <p:nvPr>
            <p:custDataLst>
              <p:tags r:id="rId27"/>
            </p:custDataLst>
          </p:nvPr>
        </p:nvSpPr>
        <p:spPr>
          <a:xfrm>
            <a:off x="3975735" y="7188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同行待签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31" name="Text 7"/>
          <p:cNvSpPr/>
          <p:nvPr>
            <p:custDataLst>
              <p:tags r:id="rId28"/>
            </p:custDataLst>
          </p:nvPr>
        </p:nvSpPr>
        <p:spPr>
          <a:xfrm>
            <a:off x="3975735" y="8451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8"/>
          <p:cNvSpPr/>
          <p:nvPr>
            <p:custDataLst>
              <p:tags r:id="rId29"/>
            </p:custDataLst>
          </p:nvPr>
        </p:nvSpPr>
        <p:spPr>
          <a:xfrm>
            <a:off x="3975735" y="11823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  |  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29.6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3" name="Shape 10"/>
          <p:cNvSpPr/>
          <p:nvPr>
            <p:custDataLst>
              <p:tags r:id="rId30"/>
            </p:custDataLst>
          </p:nvPr>
        </p:nvSpPr>
        <p:spPr>
          <a:xfrm>
            <a:off x="3901440" y="592455"/>
            <a:ext cx="1782445" cy="76200"/>
          </a:xfrm>
          <a:prstGeom prst="rect">
            <a:avLst/>
          </a:prstGeom>
          <a:solidFill>
            <a:srgbClr val="00796B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/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1445" y="1496822"/>
          <a:ext cx="5526405" cy="4708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611505"/>
                <a:gridCol w="545465"/>
                <a:gridCol w="702310"/>
                <a:gridCol w="613925"/>
                <a:gridCol w="638810"/>
                <a:gridCol w="529865"/>
                <a:gridCol w="631190"/>
                <a:gridCol w="536965"/>
              </a:tblGrid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ACCOUNT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天誉国际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42.70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8.93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1.74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53.37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唯思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39.39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5.77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1.87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47.03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紫荆保险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34.91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4.54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0.96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40.40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利泰丰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27.82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1.01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28.83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堡盛国际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27.18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2.38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29.84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万森保险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3.02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28.94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天誉国际(MGA)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19.38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23.97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9.24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52.58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166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企鹅保险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18.86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20.42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宏鑫资产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万城保险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8.35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1.27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9.62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中天家办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8.16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4.25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13.19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臻略财富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4.27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2.04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6.31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德方集团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晋誉财富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卓樾会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龙腾财富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1.45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1.60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富仕德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1.15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0.22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太富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动力势能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巨蚁环球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共享经纪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94A3B8"/>
                          </a:solidFill>
                          <a:latin typeface="Calibri" panose="020F0502020204030204"/>
                          <a:ea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0.28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钜诚保险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94A3B8"/>
                          </a:solidFill>
                          <a:latin typeface="Calibri" panose="020F0502020204030204"/>
                          <a:ea typeface="Calibri" panose="020F0502020204030204"/>
                        </a:rPr>
                        <a:t>0.18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裕承资产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0.57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0.73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众安国际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时代保险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香港宜达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212.18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576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52.97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139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14.70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36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279.84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751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3"/>
          <p:cNvSpPr/>
          <p:nvPr/>
        </p:nvSpPr>
        <p:spPr>
          <a:xfrm>
            <a:off x="265430" y="1485900"/>
            <a:ext cx="11710670" cy="187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48" name="Shape 42"/>
          <p:cNvSpPr/>
          <p:nvPr>
            <p:custDataLst>
              <p:tags r:id="rId2"/>
            </p:custDataLst>
          </p:nvPr>
        </p:nvSpPr>
        <p:spPr>
          <a:xfrm>
            <a:off x="6404610" y="556260"/>
            <a:ext cx="1800860" cy="852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3"/>
          <p:cNvSpPr/>
          <p:nvPr>
            <p:custDataLst>
              <p:tags r:id="rId3"/>
            </p:custDataLst>
          </p:nvPr>
        </p:nvSpPr>
        <p:spPr>
          <a:xfrm flipH="1">
            <a:off x="6388100" y="556260"/>
            <a:ext cx="54000" cy="842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50" name="Text 44"/>
          <p:cNvSpPr/>
          <p:nvPr>
            <p:custDataLst>
              <p:tags r:id="rId4"/>
            </p:custDataLst>
          </p:nvPr>
        </p:nvSpPr>
        <p:spPr>
          <a:xfrm>
            <a:off x="6514338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51" name="Text 45"/>
          <p:cNvSpPr/>
          <p:nvPr>
            <p:custDataLst>
              <p:tags r:id="rId5"/>
            </p:custDataLst>
          </p:nvPr>
        </p:nvSpPr>
        <p:spPr>
          <a:xfrm>
            <a:off x="6514338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8.19M</a:t>
            </a:r>
            <a:endParaRPr lang="en-US" sz="1800" dirty="0"/>
          </a:p>
        </p:txBody>
      </p:sp>
      <p:sp>
        <p:nvSpPr>
          <p:cNvPr id="52" name="Text 46"/>
          <p:cNvSpPr/>
          <p:nvPr>
            <p:custDataLst>
              <p:tags r:id="rId6"/>
            </p:custDataLst>
          </p:nvPr>
        </p:nvSpPr>
        <p:spPr>
          <a:xfrm>
            <a:off x="6514338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21件| 件均39.0W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53" name="Shape 47"/>
          <p:cNvSpPr/>
          <p:nvPr>
            <p:custDataLst>
              <p:tags r:id="rId7"/>
            </p:custDataLst>
          </p:nvPr>
        </p:nvSpPr>
        <p:spPr>
          <a:xfrm>
            <a:off x="8282305" y="556260"/>
            <a:ext cx="1757045" cy="8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48"/>
          <p:cNvSpPr/>
          <p:nvPr>
            <p:custDataLst>
              <p:tags r:id="rId8"/>
            </p:custDataLst>
          </p:nvPr>
        </p:nvSpPr>
        <p:spPr>
          <a:xfrm>
            <a:off x="8282178" y="556260"/>
            <a:ext cx="54864" cy="842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55" name="Text 49"/>
          <p:cNvSpPr/>
          <p:nvPr>
            <p:custDataLst>
              <p:tags r:id="rId9"/>
            </p:custDataLst>
          </p:nvPr>
        </p:nvSpPr>
        <p:spPr>
          <a:xfrm>
            <a:off x="8391906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56" name="Text 50"/>
          <p:cNvSpPr/>
          <p:nvPr>
            <p:custDataLst>
              <p:tags r:id="rId10"/>
            </p:custDataLst>
          </p:nvPr>
        </p:nvSpPr>
        <p:spPr>
          <a:xfrm>
            <a:off x="8391906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5.54M</a:t>
            </a:r>
            <a:endParaRPr lang="en-US" sz="1800" dirty="0"/>
          </a:p>
        </p:txBody>
      </p:sp>
      <p:sp>
        <p:nvSpPr>
          <p:cNvPr id="57" name="Text 51"/>
          <p:cNvSpPr/>
          <p:nvPr>
            <p:custDataLst>
              <p:tags r:id="rId11"/>
            </p:custDataLst>
          </p:nvPr>
        </p:nvSpPr>
        <p:spPr>
          <a:xfrm>
            <a:off x="8391906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16件| 件均34.6W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58" name="Shape 52"/>
          <p:cNvSpPr/>
          <p:nvPr>
            <p:custDataLst>
              <p:tags r:id="rId12"/>
            </p:custDataLst>
          </p:nvPr>
        </p:nvSpPr>
        <p:spPr>
          <a:xfrm>
            <a:off x="10139680" y="556260"/>
            <a:ext cx="1901190" cy="842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3"/>
          <p:cNvSpPr/>
          <p:nvPr>
            <p:custDataLst>
              <p:tags r:id="rId13"/>
            </p:custDataLst>
          </p:nvPr>
        </p:nvSpPr>
        <p:spPr>
          <a:xfrm>
            <a:off x="10139426" y="55626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00796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Text 54"/>
          <p:cNvSpPr/>
          <p:nvPr>
            <p:custDataLst>
              <p:tags r:id="rId14"/>
            </p:custDataLst>
          </p:nvPr>
        </p:nvSpPr>
        <p:spPr>
          <a:xfrm>
            <a:off x="10249154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61" name="Text 55"/>
          <p:cNvSpPr/>
          <p:nvPr>
            <p:custDataLst>
              <p:tags r:id="rId15"/>
            </p:custDataLst>
          </p:nvPr>
        </p:nvSpPr>
        <p:spPr>
          <a:xfrm>
            <a:off x="10249154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5.72M</a:t>
            </a:r>
            <a:endParaRPr lang="en-US" sz="1800" b="1" dirty="0">
              <a:solidFill>
                <a:srgbClr val="6C348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56"/>
          <p:cNvSpPr/>
          <p:nvPr>
            <p:custDataLst>
              <p:tags r:id="rId16"/>
            </p:custDataLst>
          </p:nvPr>
        </p:nvSpPr>
        <p:spPr>
          <a:xfrm>
            <a:off x="10249154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18件| 件均31.8W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939405" y="3824605"/>
            <a:ext cx="4015740" cy="255905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7972425" y="3824605"/>
            <a:ext cx="21170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W28 本周快报  |  同行</a:t>
            </a:r>
            <a:endParaRPr lang="en-US" sz="950" dirty="0"/>
          </a:p>
        </p:txBody>
      </p:sp>
      <p:graphicFrame>
        <p:nvGraphicFramePr>
          <p:cNvPr id="47" name="Table 2"/>
          <p:cNvGraphicFramePr>
            <a:graphicFrameLocks noGrp="1"/>
          </p:cNvGraphicFramePr>
          <p:nvPr/>
        </p:nvGraphicFramePr>
        <p:xfrm>
          <a:off x="7927340" y="4099052"/>
          <a:ext cx="4034790" cy="2685415"/>
        </p:xfrm>
        <a:graphic>
          <a:graphicData uri="http://schemas.openxmlformats.org/drawingml/2006/table">
            <a:tbl>
              <a:tblPr/>
              <a:tblGrid>
                <a:gridCol w="1093470"/>
                <a:gridCol w="995045"/>
                <a:gridCol w="1051560"/>
                <a:gridCol w="894715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唯思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0.94M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1.86M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紫荆保险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1.63M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2.00M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2.69M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天誉国际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1.19M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1.97M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1.04M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企鹅保险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796B"/>
                          </a:solidFill>
                        </a:rPr>
                        <a:t>1.14M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万森保险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0.12M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1.37M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中天家办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0.24M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EGA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堡盛国际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1.24M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850" b="1" dirty="0">
                          <a:solidFill>
                            <a:srgbClr val="1A1A2E"/>
                          </a:solidFill>
                        </a:rPr>
                        <a:t>德方</a:t>
                      </a:r>
                      <a:endParaRPr lang="zh-CN" alt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0.78M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臻略财富</a:t>
                      </a:r>
                      <a:endParaRPr 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0.78M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850" dirty="0">
                          <a:solidFill>
                            <a:schemeClr val="bg1"/>
                          </a:solidFill>
                        </a:rPr>
                        <a:t>合计</a:t>
                      </a:r>
                      <a:endParaRPr lang="zh-CN" altLang="en-US" sz="8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8.19M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5.54M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10.05M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233680" y="3408680"/>
            <a:ext cx="11751310" cy="325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Text 58"/>
          <p:cNvSpPr/>
          <p:nvPr/>
        </p:nvSpPr>
        <p:spPr>
          <a:xfrm>
            <a:off x="261620" y="3408680"/>
            <a:ext cx="11292205" cy="265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  W28 同行批核 5.72M，签单 5.54M，预约 8.19M。签单前端尚在蓄力，预约 8.2M 为节后水平，需密切跟踪后续周次是否回升。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" name="Shape 34"/>
          <p:cNvSpPr/>
          <p:nvPr/>
        </p:nvSpPr>
        <p:spPr>
          <a:xfrm>
            <a:off x="251460" y="1459230"/>
            <a:ext cx="11729085" cy="226695"/>
          </a:xfrm>
          <a:prstGeom prst="rect">
            <a:avLst/>
          </a:prstGeom>
          <a:solidFill>
            <a:srgbClr val="1E5128"/>
          </a:solidFill>
          <a:ln w="12700">
            <a:solidFill>
              <a:srgbClr val="1E512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1315" y="1476375"/>
            <a:ext cx="743521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W01–W28 同行 预约/签单/批核 趋势（M）</a:t>
            </a:r>
            <a:endParaRPr lang="en-US" sz="9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33375" y="1740535"/>
          <a:ext cx="11569065" cy="159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4"/>
          <p:cNvSpPr/>
          <p:nvPr/>
        </p:nvSpPr>
        <p:spPr>
          <a:xfrm>
            <a:off x="182880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5"/>
          <p:cNvSpPr/>
          <p:nvPr/>
        </p:nvSpPr>
        <p:spPr>
          <a:xfrm>
            <a:off x="182880" y="566928"/>
            <a:ext cx="54864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0" name="Text 6"/>
          <p:cNvSpPr/>
          <p:nvPr/>
        </p:nvSpPr>
        <p:spPr>
          <a:xfrm>
            <a:off x="292608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41" name="Text 7"/>
          <p:cNvSpPr/>
          <p:nvPr/>
        </p:nvSpPr>
        <p:spPr>
          <a:xfrm>
            <a:off x="292608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33.43M</a:t>
            </a:r>
            <a:endParaRPr lang="en-US" sz="1800" dirty="0"/>
          </a:p>
        </p:txBody>
      </p:sp>
      <p:sp>
        <p:nvSpPr>
          <p:cNvPr id="42" name="Text 8"/>
          <p:cNvSpPr/>
          <p:nvPr/>
        </p:nvSpPr>
        <p:spPr>
          <a:xfrm>
            <a:off x="292608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95件 | 件均35.2W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176272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10"/>
          <p:cNvSpPr/>
          <p:nvPr/>
        </p:nvSpPr>
        <p:spPr>
          <a:xfrm>
            <a:off x="2176272" y="56692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5" name="Text 11"/>
          <p:cNvSpPr/>
          <p:nvPr/>
        </p:nvSpPr>
        <p:spPr>
          <a:xfrm>
            <a:off x="2286000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66" name="Text 12"/>
          <p:cNvSpPr/>
          <p:nvPr/>
        </p:nvSpPr>
        <p:spPr>
          <a:xfrm>
            <a:off x="2286000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22.86M</a:t>
            </a:r>
            <a:endParaRPr lang="en-US" sz="1800" dirty="0"/>
          </a:p>
        </p:txBody>
      </p:sp>
      <p:sp>
        <p:nvSpPr>
          <p:cNvPr id="67" name="Text 13"/>
          <p:cNvSpPr/>
          <p:nvPr/>
        </p:nvSpPr>
        <p:spPr>
          <a:xfrm>
            <a:off x="2286000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72件 | 件均31.8W</a:t>
            </a:r>
            <a:endParaRPr lang="en-US" sz="750" dirty="0"/>
          </a:p>
        </p:txBody>
      </p:sp>
      <p:sp>
        <p:nvSpPr>
          <p:cNvPr id="68" name="Shape 14"/>
          <p:cNvSpPr/>
          <p:nvPr/>
        </p:nvSpPr>
        <p:spPr>
          <a:xfrm>
            <a:off x="4169664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" name="Shape 15"/>
          <p:cNvSpPr/>
          <p:nvPr/>
        </p:nvSpPr>
        <p:spPr>
          <a:xfrm>
            <a:off x="4169664" y="566928"/>
            <a:ext cx="54864" cy="84124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16"/>
          <p:cNvSpPr/>
          <p:nvPr/>
        </p:nvSpPr>
        <p:spPr>
          <a:xfrm>
            <a:off x="4279392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71" name="Text 17"/>
          <p:cNvSpPr/>
          <p:nvPr/>
        </p:nvSpPr>
        <p:spPr>
          <a:xfrm>
            <a:off x="4279392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29.11M</a:t>
            </a:r>
            <a:endParaRPr lang="en-US" sz="1800" dirty="0"/>
          </a:p>
        </p:txBody>
      </p:sp>
      <p:sp>
        <p:nvSpPr>
          <p:cNvPr id="72" name="Text 18"/>
          <p:cNvSpPr/>
          <p:nvPr/>
        </p:nvSpPr>
        <p:spPr>
          <a:xfrm>
            <a:off x="4279392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85件 | 件均34.2W</a:t>
            </a:r>
            <a:endParaRPr lang="en-US" sz="750" dirty="0"/>
          </a:p>
        </p:txBody>
      </p:sp>
      <p:sp>
        <p:nvSpPr>
          <p:cNvPr id="2100" name="s2100"/>
          <p:cNvSpPr/>
          <p:nvPr/>
        </p:nvSpPr>
        <p:spPr>
          <a:xfrm>
            <a:off x="260985" y="3824605"/>
            <a:ext cx="7313295" cy="25590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p/>
        </p:txBody>
      </p:sp>
      <p:sp>
        <p:nvSpPr>
          <p:cNvPr id="2101" name="t2101"/>
          <p:cNvSpPr/>
          <p:nvPr/>
        </p:nvSpPr>
        <p:spPr>
          <a:xfrm>
            <a:off x="277495" y="3810635"/>
            <a:ext cx="6905625" cy="269875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</a:t>
            </a:r>
            <a:r>
              <a:rPr 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同行月度分析 — 重点KA 预约/签单/批核 走势 &amp; 月度汇总（APE in M）</a:t>
            </a:r>
            <a:endParaRPr lang="zh-CN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2109" name="SumTable2109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260985" y="4166235"/>
          <a:ext cx="7303770" cy="197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997585"/>
                <a:gridCol w="1030605"/>
                <a:gridCol w="981075"/>
                <a:gridCol w="967740"/>
                <a:gridCol w="1049020"/>
                <a:gridCol w="1186180"/>
              </a:tblGrid>
              <a:tr h="31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月份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Jan-26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24.98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18.13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87.76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Feb-26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24.64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25.94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Mar-26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45.59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49.21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19.56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Apr-26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0.86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3.51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May-26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47.88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47.89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36.08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Jun-26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60.09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167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58.81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162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38.22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Jul-26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33.43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22.86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29.11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Aug-26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236.72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668</a:t>
                      </a: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223.70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639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240.22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588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93" name="Shape 6"/>
          <p:cNvSpPr/>
          <p:nvPr/>
        </p:nvSpPr>
        <p:spPr>
          <a:xfrm>
            <a:off x="302260" y="6348095"/>
            <a:ext cx="7228205" cy="385445"/>
          </a:xfrm>
          <a:prstGeom prst="rect">
            <a:avLst/>
          </a:prstGeom>
          <a:solidFill>
            <a:srgbClr val="FEF9C3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4" name="Shape 7"/>
          <p:cNvSpPr/>
          <p:nvPr/>
        </p:nvSpPr>
        <p:spPr>
          <a:xfrm>
            <a:off x="284480" y="6348730"/>
            <a:ext cx="100965" cy="38481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95" name="Text 8"/>
          <p:cNvSpPr/>
          <p:nvPr/>
        </p:nvSpPr>
        <p:spPr>
          <a:xfrm>
            <a:off x="398145" y="6350000"/>
            <a:ext cx="7019290" cy="361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So What：  3 月同行预约 4020 万，环比 +90.9%，前端显著回暖。3 月签单 4343 万，预约-签单缺口反映大量前端件仍处「待结」状态，需密切跟进 4 月转化节奏。</a:t>
            </a:r>
            <a:endParaRPr lang="en-US" sz="850" b="1" dirty="0">
              <a:solidFill>
                <a:srgbClr val="B4530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0"/>
          <p:cNvSpPr/>
          <p:nvPr/>
        </p:nvSpPr>
        <p:spPr>
          <a:xfrm>
            <a:off x="6120765" y="1424305"/>
            <a:ext cx="5858510" cy="53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8" name="Shape 60"/>
          <p:cNvSpPr/>
          <p:nvPr/>
        </p:nvSpPr>
        <p:spPr>
          <a:xfrm>
            <a:off x="190500" y="1424305"/>
            <a:ext cx="5659120" cy="53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6"/>
            </p:custDataLst>
          </p:nvPr>
        </p:nvSpPr>
        <p:spPr>
          <a:xfrm>
            <a:off x="18288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>
            <p:custDataLst>
              <p:tags r:id="rId7"/>
            </p:custDataLst>
          </p:nvPr>
        </p:nvSpPr>
        <p:spPr>
          <a:xfrm>
            <a:off x="182880" y="528955"/>
            <a:ext cx="76200" cy="762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>
            <p:custDataLst>
              <p:tags r:id="rId8"/>
            </p:custDataLst>
          </p:nvPr>
        </p:nvSpPr>
        <p:spPr>
          <a:xfrm>
            <a:off x="29273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800" dirty="0"/>
              <a:t>BK</a:t>
            </a:r>
            <a:r>
              <a:rPr lang="zh-CN" altLang="en-US" sz="800" dirty="0"/>
              <a:t>批核</a:t>
            </a:r>
            <a:endParaRPr lang="zh-CN" altLang="en-US" sz="800" dirty="0"/>
          </a:p>
        </p:txBody>
      </p:sp>
      <p:sp>
        <p:nvSpPr>
          <p:cNvPr id="9" name="Text 7"/>
          <p:cNvSpPr/>
          <p:nvPr>
            <p:custDataLst>
              <p:tags r:id="rId9"/>
            </p:custDataLst>
          </p:nvPr>
        </p:nvSpPr>
        <p:spPr>
          <a:xfrm>
            <a:off x="29273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227.6M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10"/>
            </p:custDataLst>
          </p:nvPr>
        </p:nvSpPr>
        <p:spPr>
          <a:xfrm>
            <a:off x="29273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196件 | 达成率113.8%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11"/>
            </p:custDataLst>
          </p:nvPr>
        </p:nvSpPr>
        <p:spPr>
          <a:xfrm>
            <a:off x="217614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>
            <p:custDataLst>
              <p:tags r:id="rId12"/>
            </p:custDataLst>
          </p:nvPr>
        </p:nvSpPr>
        <p:spPr>
          <a:xfrm>
            <a:off x="2176145" y="528955"/>
            <a:ext cx="76200" cy="762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>
            <p:custDataLst>
              <p:tags r:id="rId13"/>
            </p:custDataLst>
          </p:nvPr>
        </p:nvSpPr>
        <p:spPr>
          <a:xfrm>
            <a:off x="228600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未批核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4"/>
            </p:custDataLst>
          </p:nvPr>
        </p:nvSpPr>
        <p:spPr>
          <a:xfrm>
            <a:off x="228600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28.6M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5"/>
            </p:custDataLst>
          </p:nvPr>
        </p:nvSpPr>
        <p:spPr>
          <a:xfrm>
            <a:off x="228600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 |件均77.4W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6"/>
            </p:custDataLst>
          </p:nvPr>
        </p:nvSpPr>
        <p:spPr>
          <a:xfrm>
            <a:off x="41694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7"/>
            </p:custDataLst>
          </p:nvPr>
        </p:nvSpPr>
        <p:spPr>
          <a:xfrm>
            <a:off x="4169410" y="528955"/>
            <a:ext cx="76200" cy="762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8"/>
            </p:custDataLst>
          </p:nvPr>
        </p:nvSpPr>
        <p:spPr>
          <a:xfrm>
            <a:off x="427926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9"/>
            </p:custDataLst>
          </p:nvPr>
        </p:nvSpPr>
        <p:spPr>
          <a:xfrm>
            <a:off x="427926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20"/>
            </p:custDataLst>
          </p:nvPr>
        </p:nvSpPr>
        <p:spPr>
          <a:xfrm>
            <a:off x="427926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| 件均0W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21"/>
            </p:custDataLst>
          </p:nvPr>
        </p:nvSpPr>
        <p:spPr>
          <a:xfrm>
            <a:off x="61633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22"/>
            </p:custDataLst>
          </p:nvPr>
        </p:nvSpPr>
        <p:spPr>
          <a:xfrm>
            <a:off x="6163310" y="52895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23"/>
            </p:custDataLst>
          </p:nvPr>
        </p:nvSpPr>
        <p:spPr>
          <a:xfrm>
            <a:off x="62725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24"/>
            </p:custDataLst>
          </p:nvPr>
        </p:nvSpPr>
        <p:spPr>
          <a:xfrm>
            <a:off x="62725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25"/>
            </p:custDataLst>
          </p:nvPr>
        </p:nvSpPr>
        <p:spPr>
          <a:xfrm>
            <a:off x="62725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26"/>
            </p:custDataLst>
          </p:nvPr>
        </p:nvSpPr>
        <p:spPr>
          <a:xfrm>
            <a:off x="815657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27"/>
            </p:custDataLst>
          </p:nvPr>
        </p:nvSpPr>
        <p:spPr>
          <a:xfrm>
            <a:off x="8156575" y="52895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28"/>
            </p:custDataLst>
          </p:nvPr>
        </p:nvSpPr>
        <p:spPr>
          <a:xfrm>
            <a:off x="82664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29"/>
            </p:custDataLst>
          </p:nvPr>
        </p:nvSpPr>
        <p:spPr>
          <a:xfrm>
            <a:off x="82664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30"/>
            </p:custDataLst>
          </p:nvPr>
        </p:nvSpPr>
        <p:spPr>
          <a:xfrm>
            <a:off x="82664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31"/>
            </p:custDataLst>
          </p:nvPr>
        </p:nvSpPr>
        <p:spPr>
          <a:xfrm>
            <a:off x="1014984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32"/>
            </p:custDataLst>
          </p:nvPr>
        </p:nvSpPr>
        <p:spPr>
          <a:xfrm>
            <a:off x="10149840" y="52895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33"/>
            </p:custDataLst>
          </p:nvPr>
        </p:nvSpPr>
        <p:spPr>
          <a:xfrm>
            <a:off x="1025969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34"/>
            </p:custDataLst>
          </p:nvPr>
        </p:nvSpPr>
        <p:spPr>
          <a:xfrm>
            <a:off x="1025969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1.56M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5"/>
            </p:custDataLst>
          </p:nvPr>
        </p:nvSpPr>
        <p:spPr>
          <a:xfrm>
            <a:off x="1025969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 | 件均52W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01" name="s3001"/>
          <p:cNvSpPr/>
          <p:nvPr/>
        </p:nvSpPr>
        <p:spPr>
          <a:xfrm>
            <a:off x="182800" y="1411695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" name="t3002"/>
          <p:cNvSpPr/>
          <p:nvPr/>
        </p:nvSpPr>
        <p:spPr>
          <a:xfrm>
            <a:off x="199252" y="1439000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Appointment  |  APE(M)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件数</a:t>
            </a:r>
            <a:endParaRPr lang="en-US" altLang="zh-CN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99" name="Chart_YY"/>
          <p:cNvGraphicFramePr/>
          <p:nvPr/>
        </p:nvGraphicFramePr>
        <p:xfrm>
          <a:off x="229235" y="1673225"/>
          <a:ext cx="4764405" cy="1369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5" name="Chart_QD"/>
          <p:cNvGraphicFramePr/>
          <p:nvPr/>
        </p:nvGraphicFramePr>
        <p:xfrm>
          <a:off x="199390" y="3181350"/>
          <a:ext cx="4795520" cy="1202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4" name="Chart_PH"/>
          <p:cNvGraphicFramePr/>
          <p:nvPr/>
        </p:nvGraphicFramePr>
        <p:xfrm>
          <a:off x="229235" y="4775200"/>
          <a:ext cx="4765040" cy="1043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s3001"/>
          <p:cNvSpPr/>
          <p:nvPr/>
        </p:nvSpPr>
        <p:spPr>
          <a:xfrm>
            <a:off x="180260" y="2848700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/>
        </p:txBody>
      </p:sp>
      <p:sp>
        <p:nvSpPr>
          <p:cNvPr id="56" name="t3002"/>
          <p:cNvSpPr/>
          <p:nvPr/>
        </p:nvSpPr>
        <p:spPr>
          <a:xfrm>
            <a:off x="258942" y="2869655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Signed  |  APE(M) 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件数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7" name="s3001"/>
          <p:cNvSpPr/>
          <p:nvPr/>
        </p:nvSpPr>
        <p:spPr>
          <a:xfrm>
            <a:off x="198675" y="4387940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/>
        </p:txBody>
      </p:sp>
      <p:sp>
        <p:nvSpPr>
          <p:cNvPr id="60" name="t3002"/>
          <p:cNvSpPr/>
          <p:nvPr/>
        </p:nvSpPr>
        <p:spPr>
          <a:xfrm>
            <a:off x="259577" y="4413975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4003" name="sw_bg_4003"/>
          <p:cNvSpPr/>
          <p:nvPr/>
        </p:nvSpPr>
        <p:spPr>
          <a:xfrm>
            <a:off x="199390" y="6094095"/>
            <a:ext cx="5647690" cy="628650"/>
          </a:xfrm>
          <a:prstGeom prst="rect">
            <a:avLst/>
          </a:prstGeom>
          <a:solidFill>
            <a:srgbClr val="FDF2F2"/>
          </a:solidFill>
          <a:ln w="9525">
            <a:solidFill>
              <a:srgbClr val="E8D5D5"/>
            </a:solidFill>
          </a:ln>
        </p:spPr>
        <p:txBody>
          <a:bodyPr/>
          <a:p/>
        </p:txBody>
      </p:sp>
      <p:sp>
        <p:nvSpPr>
          <p:cNvPr id="5" name="sw_4003"/>
          <p:cNvSpPr/>
          <p:nvPr/>
        </p:nvSpPr>
        <p:spPr>
          <a:xfrm>
            <a:off x="199390" y="6111240"/>
            <a:ext cx="5558790" cy="304165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  预约：Q1 民生 21.3M，平安 14.8M。签单：4 月民生 5.77M，平安 2.73M，3 月末积压件持续转化，Q2 批核弹药充足。需关注 4 月预约动能的及时修复。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048000" y="3314065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graphicFrame>
        <p:nvGraphicFramePr>
          <p:cNvPr id="53" name="Chart 1"/>
          <p:cNvGraphicFramePr/>
          <p:nvPr>
            <p:custDataLst>
              <p:tags r:id="rId36"/>
            </p:custDataLst>
          </p:nvPr>
        </p:nvGraphicFramePr>
        <p:xfrm>
          <a:off x="6239510" y="1742440"/>
          <a:ext cx="5697220" cy="173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4" name="s3001"/>
          <p:cNvSpPr/>
          <p:nvPr/>
        </p:nvSpPr>
        <p:spPr>
          <a:xfrm>
            <a:off x="6116955" y="1424305"/>
            <a:ext cx="5861685" cy="255905"/>
          </a:xfrm>
          <a:prstGeom prst="rect">
            <a:avLst/>
          </a:prstGeom>
          <a:solidFill>
            <a:srgbClr val="0D594A"/>
          </a:solidFill>
          <a:ln>
            <a:noFill/>
          </a:ln>
        </p:spPr>
        <p:txBody>
          <a:bodyPr/>
          <a:p/>
        </p:txBody>
      </p:sp>
      <p:sp>
        <p:nvSpPr>
          <p:cNvPr id="58" name="t3002"/>
          <p:cNvSpPr/>
          <p:nvPr/>
        </p:nvSpPr>
        <p:spPr>
          <a:xfrm>
            <a:off x="6163310" y="1437640"/>
            <a:ext cx="3495675" cy="2616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AA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</a:t>
            </a:r>
            <a:r>
              <a:rPr lang="en-US" sz="930" b="1" dirty="0">
                <a:solidFill>
                  <a:schemeClr val="bg1"/>
                </a:solidFill>
                <a:sym typeface="+mn-ea"/>
              </a:rPr>
              <a:t>KEY ACCOUNT分析</a:t>
            </a:r>
            <a:r>
              <a:rPr lang="en-US" sz="93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930" b="1" dirty="0">
                <a:solidFill>
                  <a:schemeClr val="bg1"/>
                </a:solidFill>
                <a:sym typeface="+mn-ea"/>
              </a:rPr>
              <a:t>  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010" name="target_hdr"/>
          <p:cNvSpPr/>
          <p:nvPr/>
        </p:nvSpPr>
        <p:spPr>
          <a:xfrm>
            <a:off x="6116320" y="3689985"/>
            <a:ext cx="5862955" cy="237490"/>
          </a:xfrm>
          <a:prstGeom prst="rect">
            <a:avLst/>
          </a:prstGeom>
          <a:solidFill>
            <a:srgbClr val="0D594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AB 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目标达成分析 Target Achievement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5" name="Chart 0"/>
          <p:cNvGraphicFramePr/>
          <p:nvPr/>
        </p:nvGraphicFramePr>
        <p:xfrm>
          <a:off x="6394450" y="404812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71" name="Shape 255"/>
          <p:cNvSpPr/>
          <p:nvPr/>
        </p:nvSpPr>
        <p:spPr>
          <a:xfrm flipV="1">
            <a:off x="182245" y="6061710"/>
            <a:ext cx="5676900" cy="360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4" name="Shape 13"/>
          <p:cNvSpPr/>
          <p:nvPr>
            <p:custDataLst>
              <p:tags r:id="rId37"/>
            </p:custDataLst>
          </p:nvPr>
        </p:nvSpPr>
        <p:spPr>
          <a:xfrm>
            <a:off x="6125210" y="6223000"/>
            <a:ext cx="585470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7" name="Shape 14"/>
          <p:cNvSpPr/>
          <p:nvPr>
            <p:custDataLst>
              <p:tags r:id="rId38"/>
            </p:custDataLst>
          </p:nvPr>
        </p:nvSpPr>
        <p:spPr>
          <a:xfrm rot="5400000">
            <a:off x="9021433" y="3266452"/>
            <a:ext cx="54000" cy="586295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15"/>
          <p:cNvSpPr/>
          <p:nvPr>
            <p:custDataLst>
              <p:tags r:id="rId39"/>
            </p:custDataLst>
          </p:nvPr>
        </p:nvSpPr>
        <p:spPr>
          <a:xfrm>
            <a:off x="6163310" y="6241415"/>
            <a:ext cx="56515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  BK 业务 YTD 批核 227.6M 达成 113.8%；未批核 28.6M 构成 Q2 储量；待签 0.0M。目标 200M 已完成大半，需修复前端预约动能。</a:t>
            </a:r>
            <a:endParaRPr lang="en-US" sz="850" dirty="0">
              <a:solidFill>
                <a:srgbClr val="374151"/>
              </a:solidFill>
            </a:endParaRPr>
          </a:p>
        </p:txBody>
      </p:sp>
      <p:sp>
        <p:nvSpPr>
          <p:cNvPr id="96" name="Shape 93"/>
          <p:cNvSpPr/>
          <p:nvPr/>
        </p:nvSpPr>
        <p:spPr>
          <a:xfrm>
            <a:off x="8686800" y="404812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8686673" y="404799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8778113" y="413943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民生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40" name="Text 96"/>
          <p:cNvSpPr/>
          <p:nvPr/>
        </p:nvSpPr>
        <p:spPr>
          <a:xfrm>
            <a:off x="8778113" y="435889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187.5M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8778113" y="471855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172件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10259695" y="404812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10259441" y="404799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10350881" y="413943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</a:t>
            </a:r>
            <a:endParaRPr lang="zh-CN" altLang="en-US" sz="9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10350881" y="433222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10350881" y="474395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达成率 113.8%</a:t>
            </a:r>
            <a:r>
              <a:rPr lang="en-US" altLang="zh-CN" sz="80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10350881" y="495503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10351135" y="4975225"/>
            <a:ext cx="969010" cy="12573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Text 95"/>
          <p:cNvSpPr/>
          <p:nvPr/>
        </p:nvSpPr>
        <p:spPr>
          <a:xfrm>
            <a:off x="8771763" y="5218303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平安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49" name="Text 96"/>
          <p:cNvSpPr/>
          <p:nvPr/>
        </p:nvSpPr>
        <p:spPr>
          <a:xfrm>
            <a:off x="8771128" y="538505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40.1M</a:t>
            </a:r>
            <a:endParaRPr lang="en-US" sz="2200" dirty="0"/>
          </a:p>
        </p:txBody>
      </p:sp>
      <p:sp>
        <p:nvSpPr>
          <p:cNvPr id="59" name="Text 97"/>
          <p:cNvSpPr/>
          <p:nvPr/>
        </p:nvSpPr>
        <p:spPr>
          <a:xfrm>
            <a:off x="8778113" y="5747893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en-US" sz="800" dirty="0"/>
          </a:p>
        </p:txBody>
      </p:sp>
      <p:sp>
        <p:nvSpPr>
          <p:cNvPr id="61" name="Text 106"/>
          <p:cNvSpPr/>
          <p:nvPr/>
        </p:nvSpPr>
        <p:spPr>
          <a:xfrm>
            <a:off x="10335641" y="523544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目标缺口</a:t>
            </a:r>
            <a:endParaRPr lang="zh-CN" altLang="en-US" sz="9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62" name="Text 107"/>
          <p:cNvSpPr/>
          <p:nvPr/>
        </p:nvSpPr>
        <p:spPr>
          <a:xfrm>
            <a:off x="10344531" y="540156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-27.6M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3010"/>
          <p:cNvSpPr/>
          <p:nvPr/>
        </p:nvSpPr>
        <p:spPr>
          <a:xfrm>
            <a:off x="6198235" y="748030"/>
            <a:ext cx="5854065" cy="595185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4" name="s3010"/>
          <p:cNvSpPr/>
          <p:nvPr/>
        </p:nvSpPr>
        <p:spPr>
          <a:xfrm>
            <a:off x="100330" y="1722755"/>
            <a:ext cx="5955665" cy="2141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>
            <p:custDataLst>
              <p:tags r:id="rId3"/>
            </p:custDataLst>
          </p:nvPr>
        </p:nvSpPr>
        <p:spPr>
          <a:xfrm>
            <a:off x="111760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4"/>
            </p:custDataLst>
          </p:nvPr>
        </p:nvSpPr>
        <p:spPr>
          <a:xfrm>
            <a:off x="111760" y="58864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5"/>
            </p:custDataLst>
          </p:nvPr>
        </p:nvSpPr>
        <p:spPr>
          <a:xfrm>
            <a:off x="220980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BK W28预约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6"/>
            </p:custDataLst>
          </p:nvPr>
        </p:nvSpPr>
        <p:spPr>
          <a:xfrm>
            <a:off x="220980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2.73M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7"/>
            </p:custDataLst>
          </p:nvPr>
        </p:nvSpPr>
        <p:spPr>
          <a:xfrm>
            <a:off x="220980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4件| 件均68.2W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8"/>
            </p:custDataLst>
          </p:nvPr>
        </p:nvSpPr>
        <p:spPr>
          <a:xfrm>
            <a:off x="2155825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9"/>
            </p:custDataLst>
          </p:nvPr>
        </p:nvSpPr>
        <p:spPr>
          <a:xfrm>
            <a:off x="2155825" y="58864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10"/>
            </p:custDataLst>
          </p:nvPr>
        </p:nvSpPr>
        <p:spPr>
          <a:xfrm>
            <a:off x="2265680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W28签单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11"/>
            </p:custDataLst>
          </p:nvPr>
        </p:nvSpPr>
        <p:spPr>
          <a:xfrm>
            <a:off x="2265680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4.29M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12"/>
            </p:custDataLst>
          </p:nvPr>
        </p:nvSpPr>
        <p:spPr>
          <a:xfrm>
            <a:off x="2265680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7件| 件均61.3W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13"/>
            </p:custDataLst>
          </p:nvPr>
        </p:nvSpPr>
        <p:spPr>
          <a:xfrm>
            <a:off x="4220210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14"/>
            </p:custDataLst>
          </p:nvPr>
        </p:nvSpPr>
        <p:spPr>
          <a:xfrm>
            <a:off x="4220210" y="58864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15"/>
            </p:custDataLst>
          </p:nvPr>
        </p:nvSpPr>
        <p:spPr>
          <a:xfrm>
            <a:off x="4330065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W28批核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16"/>
            </p:custDataLst>
          </p:nvPr>
        </p:nvSpPr>
        <p:spPr>
          <a:xfrm>
            <a:off x="4330065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17"/>
            </p:custDataLst>
          </p:nvPr>
        </p:nvSpPr>
        <p:spPr>
          <a:xfrm>
            <a:off x="4330065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| 件均0.0W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100330" y="1466977"/>
            <a:ext cx="5971032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210058" y="1466977"/>
            <a:ext cx="5833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  W01–W28 银行 预约/签单/批核  APE趋势（M）</a:t>
            </a:r>
            <a:endParaRPr lang="en-US" sz="950" dirty="0"/>
          </a:p>
        </p:txBody>
      </p:sp>
      <p:graphicFrame>
        <p:nvGraphicFramePr>
          <p:cNvPr id="41" name="Chart 1"/>
          <p:cNvGraphicFramePr/>
          <p:nvPr/>
        </p:nvGraphicFramePr>
        <p:xfrm>
          <a:off x="177800" y="1881505"/>
          <a:ext cx="5789930" cy="1904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5" name="Shape 40"/>
          <p:cNvSpPr/>
          <p:nvPr/>
        </p:nvSpPr>
        <p:spPr>
          <a:xfrm>
            <a:off x="57150" y="4636135"/>
            <a:ext cx="6014085" cy="247015"/>
          </a:xfrm>
          <a:prstGeom prst="rect">
            <a:avLst/>
          </a:prstGeom>
          <a:solidFill>
            <a:srgbClr val="1B4F72"/>
          </a:solidFill>
          <a:ln w="12700">
            <a:solidFill>
              <a:srgbClr val="002060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133350" y="4627245"/>
            <a:ext cx="2510155" cy="25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B4F72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 W28 银行 KA 本周业绩详情（M）</a:t>
            </a:r>
            <a:endParaRPr lang="en-US" sz="95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custDataLst>
              <p:tags r:id="rId18"/>
            </p:custDataLst>
          </p:nvPr>
        </p:nvGraphicFramePr>
        <p:xfrm>
          <a:off x="59055" y="4928870"/>
          <a:ext cx="6012815" cy="1172845"/>
        </p:xfrm>
        <a:graphic>
          <a:graphicData uri="http://schemas.openxmlformats.org/drawingml/2006/table">
            <a:tbl>
              <a:tblPr/>
              <a:tblGrid>
                <a:gridCol w="927100"/>
                <a:gridCol w="798195"/>
                <a:gridCol w="856615"/>
                <a:gridCol w="791086"/>
                <a:gridCol w="921958"/>
                <a:gridCol w="772160"/>
                <a:gridCol w="945701"/>
              </a:tblGrid>
              <a:tr h="401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本周预约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预约</a:t>
                      </a:r>
                      <a:endParaRPr lang="zh-CN" alt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本周批核(M)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本周批核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民生银行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4F72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平安银行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4F72"/>
                          </a:solidFill>
                          <a:sym typeface="+mn-ea"/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银行合计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sym typeface="+mn-ea"/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48" name="Shape 42"/>
          <p:cNvSpPr/>
          <p:nvPr/>
        </p:nvSpPr>
        <p:spPr>
          <a:xfrm>
            <a:off x="60325" y="6198235"/>
            <a:ext cx="6011545" cy="50165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109220" y="6248400"/>
            <a:ext cx="5935345" cy="469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  银行 W28：民生 + 平安合计 签单 4.29M/7件、批核 0.00M/0件、预约 2.73M/4件。未批核 28.6M（37件）是 Q2 批核的核心储量。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07" name="sw_bg_4007"/>
          <p:cNvSpPr/>
          <p:nvPr/>
        </p:nvSpPr>
        <p:spPr>
          <a:xfrm>
            <a:off x="100965" y="3980815"/>
            <a:ext cx="5955030" cy="528320"/>
          </a:xfrm>
          <a:prstGeom prst="rect">
            <a:avLst/>
          </a:prstGeom>
          <a:solidFill>
            <a:srgbClr val="EEF2FF"/>
          </a:solidFill>
          <a:ln w="9525">
            <a:solidFill>
              <a:srgbClr val="BFDBFE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7" name="sw_4007"/>
          <p:cNvSpPr/>
          <p:nvPr/>
        </p:nvSpPr>
        <p:spPr>
          <a:xfrm>
            <a:off x="100965" y="4006215"/>
            <a:ext cx="5942965" cy="341630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  W08 批核峰值 46.9M 为全年迄今最高单周，由民生大额集中放款驱动，非可持续常态。W11 批核 36.0M 为第二峰，显示积压件的波动性清转模式。近期批核节奏已回落至正常区间。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2" name="文本框 51"/>
          <p:cNvSpPr txBox="1"/>
          <p:nvPr/>
        </p:nvSpPr>
        <p:spPr>
          <a:xfrm>
            <a:off x="3048000" y="3314065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graphicFrame>
        <p:nvGraphicFramePr>
          <p:cNvPr id="8" name="Chart 0"/>
          <p:cNvGraphicFramePr/>
          <p:nvPr>
            <p:custDataLst>
              <p:tags r:id="rId19"/>
            </p:custDataLst>
          </p:nvPr>
        </p:nvGraphicFramePr>
        <p:xfrm>
          <a:off x="6320790" y="1102995"/>
          <a:ext cx="5703570" cy="5534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Shape 36"/>
          <p:cNvSpPr/>
          <p:nvPr/>
        </p:nvSpPr>
        <p:spPr>
          <a:xfrm>
            <a:off x="6198235" y="647065"/>
            <a:ext cx="5839460" cy="255905"/>
          </a:xfrm>
          <a:prstGeom prst="rect">
            <a:avLst/>
          </a:prstGeom>
          <a:solidFill>
            <a:srgbClr val="6B2737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1" name="Text 37"/>
          <p:cNvSpPr/>
          <p:nvPr/>
        </p:nvSpPr>
        <p:spPr>
          <a:xfrm>
            <a:off x="6308090" y="647065"/>
            <a:ext cx="499364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  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各分行</a:t>
            </a: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年批核</a:t>
            </a: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APE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业绩排名</a:t>
            </a: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（M）</a:t>
            </a:r>
            <a:endParaRPr lang="en-US" sz="950" dirty="0"/>
          </a:p>
        </p:txBody>
      </p:sp>
      <p:sp>
        <p:nvSpPr>
          <p:cNvPr id="4003" name="sw_bg_4003"/>
          <p:cNvSpPr/>
          <p:nvPr/>
        </p:nvSpPr>
        <p:spPr>
          <a:xfrm>
            <a:off x="6198235" y="6160135"/>
            <a:ext cx="5853430" cy="563245"/>
          </a:xfrm>
          <a:prstGeom prst="rect">
            <a:avLst/>
          </a:prstGeom>
          <a:solidFill>
            <a:srgbClr val="FDF2F2"/>
          </a:solidFill>
          <a:ln w="9525">
            <a:solidFill>
              <a:srgbClr val="E8D5D5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2" name="sw_4003"/>
          <p:cNvSpPr/>
          <p:nvPr/>
        </p:nvSpPr>
        <p:spPr>
          <a:xfrm>
            <a:off x="6198235" y="6223000"/>
            <a:ext cx="5854065" cy="476885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  民生广州分行 以 44.1M 居榜首，民生南京分行 37.1M 紧随。前四行合计 130.1M，占 BK 总批核 57%，头部集中度显著，大额单效率突出。</a:t>
            </a:r>
            <a:endParaRPr lang="zh-CN" sz="800" b="1" dirty="0">
              <a:solidFill>
                <a:srgbClr val="7B241C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471" name="Shape 255"/>
          <p:cNvSpPr/>
          <p:nvPr/>
        </p:nvSpPr>
        <p:spPr>
          <a:xfrm flipV="1">
            <a:off x="6198235" y="6151245"/>
            <a:ext cx="5892165" cy="540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 flipV="1">
            <a:off x="71120" y="6170930"/>
            <a:ext cx="5981065" cy="54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2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3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4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5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6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7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8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9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1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8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9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0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1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2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8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9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3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3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3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4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5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6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7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3.xml><?xml version="1.0" encoding="utf-8"?>
<p:tagLst xmlns:p="http://schemas.openxmlformats.org/presentationml/2006/main">
  <p:tag name="TABLE_ENDDRAG_ORIGIN_RECT" val="527*165"/>
  <p:tag name="TABLE_ENDDRAG_RECT" val="40*299*527*165"/>
</p:tagLst>
</file>

<file path=ppt/tags/tag5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3.xml><?xml version="1.0" encoding="utf-8"?>
<p:tagLst xmlns:p="http://schemas.openxmlformats.org/presentationml/2006/main">
  <p:tag name="TABLE_ENDDRAG_ORIGIN_RECT" val="473*81"/>
  <p:tag name="TABLE_ENDDRAG_RECT" val="4*396*473*81"/>
</p:tagLst>
</file>

<file path=ppt/tags/tag10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05.xml><?xml version="1.0" encoding="utf-8"?>
<p:tagLst xmlns:p="http://schemas.openxmlformats.org/presentationml/2006/main">
  <p:tag name="resource_record_key" val="{&quot;10&quot;:[2157390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11851</Words>
  <Application>WPS 演示</Application>
  <PresentationFormat>On-screen Show (16:9)</PresentationFormat>
  <Paragraphs>3394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Calibri</vt:lpstr>
      <vt:lpstr>Calibri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欧阳芷茵</cp:lastModifiedBy>
  <cp:revision>66</cp:revision>
  <dcterms:created xsi:type="dcterms:W3CDTF">2026-03-26T15:42:00Z</dcterms:created>
  <dcterms:modified xsi:type="dcterms:W3CDTF">2026-06-02T05:49:53Z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E2BAF4848A5C4625BF70E805C155F5D7_12</vt:lpwstr>
  </property>
  <property fmtid="{D5CDD505-2E9C-101B-9397-08002B2CF9AE}" pid="3" name="KSOProductBuildVer">
    <vt:lpwstr>2052-12.1.0.26375</vt:lpwstr>
  </property>
</Properties>
</file>