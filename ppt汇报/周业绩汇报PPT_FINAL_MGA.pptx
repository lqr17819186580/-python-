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9041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4" r:id="rId13"/>
    <p:sldId id="275" r:id="rId14"/>
  </p:sldIdLst>
  <p:sldSz cx="12192000" cy="6858000"/>
  <p:notesSz cx="6858000" cy="12192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tags" Target="tags/tag10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3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488.74</c:v>
                </c:pt>
                <c:pt idx="1">
                  <c:v>72.17</c:v>
                </c:pt>
                <c:pt idx="2">
                  <c:v>24.87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63.54</c:v>
                </c:pt>
                <c:pt idx="1">
                  <c:v>15.45</c:v>
                </c:pt>
                <c:pt idx="2">
                  <c:v>4.39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6.42</c:v>
                </c:pt>
                <c:pt idx="1">
                  <c:v>0.39</c:v>
                </c:pt>
                <c:pt idx="2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53.90</c:v>
                </c:pt>
                <c:pt idx="13">
                  <c:v>56.37</c:v>
                </c:pt>
                <c:pt idx="14">
                  <c:v>81.48</c:v>
                </c:pt>
                <c:pt idx="15">
                  <c:v>67.38</c:v>
                </c:pt>
                <c:pt idx="16">
                  <c:v>81.87</c:v>
                </c:pt>
                <c:pt idx="17">
                  <c:v>84.35</c:v>
                </c:pt>
                <c:pt idx="18">
                  <c:v>49.51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47.90</c:v>
                </c:pt>
                <c:pt idx="13">
                  <c:v>61.13</c:v>
                </c:pt>
                <c:pt idx="14">
                  <c:v>82.15</c:v>
                </c:pt>
                <c:pt idx="15">
                  <c:v>62.10</c:v>
                </c:pt>
                <c:pt idx="16">
                  <c:v>86.14</c:v>
                </c:pt>
                <c:pt idx="17">
                  <c:v>85.69</c:v>
                </c:pt>
                <c:pt idx="18">
                  <c:v>39.17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116.78</c:v>
                </c:pt>
                <c:pt idx="13">
                  <c:v>143.73</c:v>
                </c:pt>
                <c:pt idx="14">
                  <c:v>85.76</c:v>
                </c:pt>
                <c:pt idx="15">
                  <c:v>91.15</c:v>
                </c:pt>
                <c:pt idx="16">
                  <c:v>72.81</c:v>
                </c:pt>
                <c:pt idx="17">
                  <c:v>62.05</c:v>
                </c:pt>
                <c:pt idx="18">
                  <c:v>32.87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96.0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 / 132件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56.4M / 110件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81.5M / 216件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67.4M / 173件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81.9M / 223件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84.3M / 231件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49.5M / 124件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 altLang="en-US">
                        <a:solidFill>
                          <a:schemeClr val="tx1"/>
                        </a:solidFill>
                      </a:rPr>
                      <a:t/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53.90</c:v>
                </c:pt>
                <c:pt idx="1">
                  <c:v>56.37</c:v>
                </c:pt>
                <c:pt idx="2">
                  <c:v>81.48</c:v>
                </c:pt>
                <c:pt idx="3">
                  <c:v>67.38</c:v>
                </c:pt>
                <c:pt idx="4">
                  <c:v>81.87</c:v>
                </c:pt>
                <c:pt idx="5">
                  <c:v>84.35</c:v>
                </c:pt>
                <c:pt idx="6">
                  <c:v>49.51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61.1M / 121件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82.2M / 212件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62.1M / 162件</a:t>
                    </a:r>
                    <a:r>
                      <a:rPr lang="en-US" altLang="zh-CN"/>
                      <a:t/>
                    </a:r>
                    <a:r>
                      <a:rPr altLang="en-US"/>
                      <a:t/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86.1M / 225件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85.7M / 239件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39.2M / 99件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47.90</c:v>
                </c:pt>
                <c:pt idx="1">
                  <c:v>61.13</c:v>
                </c:pt>
                <c:pt idx="2">
                  <c:v>82.15</c:v>
                </c:pt>
                <c:pt idx="3">
                  <c:v>62.10</c:v>
                </c:pt>
                <c:pt idx="4">
                  <c:v>86.14</c:v>
                </c:pt>
                <c:pt idx="5">
                  <c:v>85.69</c:v>
                </c:pt>
                <c:pt idx="6">
                  <c:v>39.17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 203件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180件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85.8M / 143件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91.2M / 192件</a:t>
                    </a:r>
                    <a:r>
                      <a:rPr lang="en-US" altLang="zh-CN"/>
                      <a:t/>
                    </a:r>
                    <a:r>
                      <a:rPr altLang="en-US"/>
                      <a:t/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>
              <c:idx val="4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72.8M / 163件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62.0M / 172件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32.9M / 104件</a:t>
                    </a:r>
                    <a:r>
                      <a:rPr lang="en-US" altLang="zh-CN">
                        <a:solidFill>
                          <a:schemeClr val="tx1"/>
                        </a:solidFill>
                      </a:rPr>
                      <a:t/>
                    </a:r>
                    <a:r>
                      <a:rPr>
                        <a:solidFill>
                          <a:schemeClr val="tx1"/>
                        </a:solidFill>
                      </a:rPr>
                      <a:t/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62.05</c:v>
                </c:pt>
                <c:pt idx="6">
                  <c:v>32.87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42.32</c:v>
                </c:pt>
                <c:pt idx="1">
                  <c:v>29.72</c:v>
                </c:pt>
                <c:pt idx="2">
                  <c:v>67.26</c:v>
                </c:pt>
                <c:pt idx="3">
                  <c:v>46.32</c:v>
                </c:pt>
                <c:pt idx="4">
                  <c:v>61.63</c:v>
                </c:pt>
                <c:pt idx="5">
                  <c:v>62.73</c:v>
                </c:pt>
                <c:pt idx="6">
                  <c:v>27.03</c:v>
                </c:pt>
                <c:pt idx="7">
                  <c:v>0.00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8"/>
                <c:pt idx="0">
                  <c:v>36.68</c:v>
                </c:pt>
                <c:pt idx="1">
                  <c:v>34.27</c:v>
                </c:pt>
                <c:pt idx="2">
                  <c:v>67.78</c:v>
                </c:pt>
                <c:pt idx="3">
                  <c:v>47.25</c:v>
                </c:pt>
                <c:pt idx="4">
                  <c:v>61.27</c:v>
                </c:pt>
                <c:pt idx="5">
                  <c:v>64.36</c:v>
                </c:pt>
                <c:pt idx="6">
                  <c:v>24.22</c:v>
                </c:pt>
                <c:pt idx="7">
                  <c:v>0.00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  <c:pt idx="7">
                  <c:v>26-Aug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8"/>
                <c:pt idx="0">
                  <c:v>86.18</c:v>
                </c:pt>
                <c:pt idx="1">
                  <c:v>124.06</c:v>
                </c:pt>
                <c:pt idx="2">
                  <c:v>81.03</c:v>
                </c:pt>
                <c:pt idx="3">
                  <c:v>85.90</c:v>
                </c:pt>
                <c:pt idx="4">
                  <c:v>56.85</c:v>
                </c:pt>
                <c:pt idx="5">
                  <c:v>48.49</c:v>
                </c:pt>
                <c:pt idx="6">
                  <c:v>29.10</c:v>
                </c:pt>
                <c:pt idx="7">
                  <c:v>0.00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6.6740</c:v>
                </c:pt>
                <c:pt idx="1">
                  <c:v>9.7305</c:v>
                </c:pt>
                <c:pt idx="2">
                  <c:v>13.3508</c:v>
                </c:pt>
                <c:pt idx="3">
                  <c:v>8.8521</c:v>
                </c:pt>
                <c:pt idx="4">
                  <c:v>20.9667</c:v>
                </c:pt>
                <c:pt idx="5">
                  <c:v>6.4338</c:v>
                </c:pt>
                <c:pt idx="6">
                  <c:v>6.3400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4.9580</c:v>
                </c:pt>
                <c:pt idx="1">
                  <c:v>11.2125</c:v>
                </c:pt>
                <c:pt idx="2">
                  <c:v>12.1301</c:v>
                </c:pt>
                <c:pt idx="3">
                  <c:v>9.9324</c:v>
                </c:pt>
                <c:pt idx="4">
                  <c:v>19.8732</c:v>
                </c:pt>
                <c:pt idx="5">
                  <c:v>7.2777</c:v>
                </c:pt>
                <c:pt idx="6">
                  <c:v>6.5740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6.7618</c:v>
                </c:pt>
                <c:pt idx="1">
                  <c:v>10.5184</c:v>
                </c:pt>
                <c:pt idx="2">
                  <c:v>6.2942</c:v>
                </c:pt>
                <c:pt idx="3">
                  <c:v>16.6020</c:v>
                </c:pt>
                <c:pt idx="4">
                  <c:v>6.0226</c:v>
                </c:pt>
                <c:pt idx="5">
                  <c:v>17.1128</c:v>
                </c:pt>
                <c:pt idx="6">
                  <c:v>1.1415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1.0230</c:v>
                </c:pt>
                <c:pt idx="1">
                  <c:v>0.3900</c:v>
                </c:pt>
                <c:pt idx="2">
                  <c:v>0.3120</c:v>
                </c:pt>
                <c:pt idx="3">
                  <c:v>2.6315</c:v>
                </c:pt>
                <c:pt idx="4">
                  <c:v>2.2350</c:v>
                </c:pt>
                <c:pt idx="5">
                  <c:v>0.8190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1.0230</c:v>
                </c:pt>
                <c:pt idx="1">
                  <c:v>0.3900</c:v>
                </c:pt>
                <c:pt idx="2">
                  <c:v>0.3120</c:v>
                </c:pt>
                <c:pt idx="3">
                  <c:v>1.8935</c:v>
                </c:pt>
                <c:pt idx="4">
                  <c:v>2.9730</c:v>
                </c:pt>
                <c:pt idx="5">
                  <c:v>0.8190</c:v>
                </c:pt>
                <c:pt idx="6">
                  <c:v>0.2340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1.3447</c:v>
                </c:pt>
                <c:pt idx="1">
                  <c:v>0.3900</c:v>
                </c:pt>
                <c:pt idx="2">
                  <c:v>0.4680</c:v>
                </c:pt>
                <c:pt idx="3">
                  <c:v>1.6926</c:v>
                </c:pt>
                <c:pt idx="4">
                  <c:v>2.6070</c:v>
                </c:pt>
                <c:pt idx="5">
                  <c:v>0.4770</c:v>
                </c:pt>
                <c:pt idx="6">
                  <c:v>0.7410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13.8622</c:v>
                </c:pt>
                <c:pt idx="1">
                  <c:v>7.3632</c:v>
                </c:pt>
                <c:pt idx="2">
                  <c:v>14.8200</c:v>
                </c:pt>
                <c:pt idx="3">
                  <c:v>7.3320</c:v>
                </c:pt>
                <c:pt idx="4">
                  <c:v>6.8640</c:v>
                </c:pt>
                <c:pt idx="5">
                  <c:v>9.2742</c:v>
                </c:pt>
                <c:pt idx="6">
                  <c:v>8.9700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17.1382</c:v>
                </c:pt>
                <c:pt idx="1">
                  <c:v>8.3772</c:v>
                </c:pt>
                <c:pt idx="2">
                  <c:v>13.2600</c:v>
                </c:pt>
                <c:pt idx="3">
                  <c:v>8.5020</c:v>
                </c:pt>
                <c:pt idx="4">
                  <c:v>6.8640</c:v>
                </c:pt>
                <c:pt idx="5">
                  <c:v>10.4442</c:v>
                </c:pt>
                <c:pt idx="6">
                  <c:v>8.9700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18.2598</c:v>
                </c:pt>
                <c:pt idx="1">
                  <c:v>93.9401</c:v>
                </c:pt>
                <c:pt idx="2">
                  <c:v>58.6997</c:v>
                </c:pt>
                <c:pt idx="3">
                  <c:v>27.2220</c:v>
                </c:pt>
                <c:pt idx="4">
                  <c:v>21.7036</c:v>
                </c:pt>
                <c:pt idx="5">
                  <c:v>6.2400</c:v>
                </c:pt>
                <c:pt idx="6">
                  <c:v>1.5600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6.1763</c:v>
                </c:pt>
                <c:pt idx="1">
                  <c:v>3.9852</c:v>
                </c:pt>
                <c:pt idx="2">
                  <c:v>13.5372</c:v>
                </c:pt>
                <c:pt idx="3">
                  <c:v>16.8389</c:v>
                </c:pt>
                <c:pt idx="4">
                  <c:v>16.8841</c:v>
                </c:pt>
                <c:pt idx="5">
                  <c:v>23.3036</c:v>
                </c:pt>
                <c:pt idx="6">
                  <c:v>6.5540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2.5883</c:v>
                </c:pt>
                <c:pt idx="1">
                  <c:v>6.5592</c:v>
                </c:pt>
                <c:pt idx="2">
                  <c:v>13.9272</c:v>
                </c:pt>
                <c:pt idx="3">
                  <c:v>16.1215</c:v>
                </c:pt>
                <c:pt idx="4">
                  <c:v>17.2306</c:v>
                </c:pt>
                <c:pt idx="5">
                  <c:v>21.9951</c:v>
                </c:pt>
                <c:pt idx="6">
                  <c:v>5.3989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41.7944</c:v>
                </c:pt>
                <c:pt idx="1">
                  <c:v>5.6723</c:v>
                </c:pt>
                <c:pt idx="2">
                  <c:v>4.4310</c:v>
                </c:pt>
                <c:pt idx="3">
                  <c:v>12.8148</c:v>
                </c:pt>
                <c:pt idx="4">
                  <c:v>21.1993</c:v>
                </c:pt>
                <c:pt idx="5">
                  <c:v>17.4175</c:v>
                </c:pt>
                <c:pt idx="6">
                  <c:v>6.5766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17.0096</c:v>
                </c:pt>
                <c:pt idx="1">
                  <c:v>16.0597</c:v>
                </c:pt>
                <c:pt idx="2">
                  <c:v>24.7618</c:v>
                </c:pt>
                <c:pt idx="3">
                  <c:v>15.6775</c:v>
                </c:pt>
                <c:pt idx="4">
                  <c:v>19.7349</c:v>
                </c:pt>
                <c:pt idx="5">
                  <c:v>22.9566</c:v>
                </c:pt>
                <c:pt idx="6">
                  <c:v>9.0844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13.7444</c:v>
                </c:pt>
                <c:pt idx="1">
                  <c:v>15.1831</c:v>
                </c:pt>
                <c:pt idx="2">
                  <c:v>27.6061</c:v>
                </c:pt>
                <c:pt idx="3">
                  <c:v>14.7969</c:v>
                </c:pt>
                <c:pt idx="4">
                  <c:v>20.3780</c:v>
                </c:pt>
                <c:pt idx="5">
                  <c:v>23.8791</c:v>
                </c:pt>
                <c:pt idx="6">
                  <c:v>7.0402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45.9626</c:v>
                </c:pt>
                <c:pt idx="1">
                  <c:v>20.3124</c:v>
                </c:pt>
                <c:pt idx="2">
                  <c:v>13.5305</c:v>
                </c:pt>
                <c:pt idx="3">
                  <c:v>28.8356</c:v>
                </c:pt>
                <c:pt idx="4">
                  <c:v>10.8491</c:v>
                </c:pt>
                <c:pt idx="5">
                  <c:v>12.4729</c:v>
                </c:pt>
                <c:pt idx="6">
                  <c:v>19.2417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0.4368</c:v>
                </c:pt>
                <c:pt idx="1">
                  <c:v>0.0798</c:v>
                </c:pt>
                <c:pt idx="2">
                  <c:v>1.9639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0.0898</c:v>
                </c:pt>
                <c:pt idx="1">
                  <c:v>0.4368</c:v>
                </c:pt>
                <c:pt idx="2">
                  <c:v>2.0437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0.5802</c:v>
                </c:pt>
                <c:pt idx="1">
                  <c:v>0.8970</c:v>
                </c:pt>
                <c:pt idx="2">
                  <c:v>0.3355</c:v>
                </c:pt>
                <c:pt idx="3">
                  <c:v>1.7550</c:v>
                </c:pt>
                <c:pt idx="4">
                  <c:v>0.5743</c:v>
                </c:pt>
                <c:pt idx="5">
                  <c:v>0.0000</c:v>
                </c:pt>
                <c:pt idx="6">
                  <c:v>0.3239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0.0000</c:v>
                </c:pt>
                <c:pt idx="1">
                  <c:v>1.0140</c:v>
                </c:pt>
                <c:pt idx="2">
                  <c:v>1.9005</c:v>
                </c:pt>
                <c:pt idx="3">
                  <c:v>6.7885</c:v>
                </c:pt>
                <c:pt idx="4">
                  <c:v>11.2611</c:v>
                </c:pt>
                <c:pt idx="5">
                  <c:v>13.8249</c:v>
                </c:pt>
                <c:pt idx="6">
                  <c:v>17.7919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0.0000</c:v>
                </c:pt>
                <c:pt idx="1">
                  <c:v>1.0140</c:v>
                </c:pt>
                <c:pt idx="2">
                  <c:v>1.9005</c:v>
                </c:pt>
                <c:pt idx="3">
                  <c:v>6.7885</c:v>
                </c:pt>
                <c:pt idx="4">
                  <c:v>10.2861</c:v>
                </c:pt>
                <c:pt idx="5">
                  <c:v>12.9396</c:v>
                </c:pt>
                <c:pt idx="6">
                  <c:v>10.4164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0.0000</c:v>
                </c:pt>
                <c:pt idx="1">
                  <c:v>0.0000</c:v>
                </c:pt>
                <c:pt idx="2">
                  <c:v>1.4980</c:v>
                </c:pt>
                <c:pt idx="3">
                  <c:v>2.2294</c:v>
                </c:pt>
                <c:pt idx="4">
                  <c:v>4.0297</c:v>
                </c:pt>
                <c:pt idx="5">
                  <c:v>8.3324</c:v>
                </c:pt>
                <c:pt idx="6">
                  <c:v>3.2884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605.16</c:v>
                </c:pt>
                <c:pt idx="1">
                  <c:v>107.35</c:v>
                </c:pt>
                <c:pt idx="2">
                  <c:v>16.05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9"/>
                <c:pt idx="0">
                  <c:v>227.6300</c:v>
                </c:pt>
                <c:pt idx="1">
                  <c:v>151.2100</c:v>
                </c:pt>
                <c:pt idx="2">
                  <c:v>109.9100</c:v>
                </c:pt>
                <c:pt idx="3">
                  <c:v>64.4500</c:v>
                </c:pt>
                <c:pt idx="4">
                  <c:v>20.4000</c:v>
                </c:pt>
                <c:pt idx="5">
                  <c:v>7.7200</c:v>
                </c:pt>
                <c:pt idx="6">
                  <c:v>4.4700</c:v>
                </c:pt>
                <c:pt idx="7">
                  <c:v>0.0000</c:v>
                </c:pt>
                <c:pt idx="8">
                  <c:v>19.3800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9"/>
                <c:pt idx="0">
                  <c:v>28.6200</c:v>
                </c:pt>
                <c:pt idx="1">
                  <c:v>19.2100</c:v>
                </c:pt>
                <c:pt idx="2">
                  <c:v>15.7100</c:v>
                </c:pt>
                <c:pt idx="3">
                  <c:v>14.5100</c:v>
                </c:pt>
                <c:pt idx="4">
                  <c:v>0.0000</c:v>
                </c:pt>
                <c:pt idx="5">
                  <c:v>0.9400</c:v>
                </c:pt>
                <c:pt idx="6">
                  <c:v>4.3900</c:v>
                </c:pt>
                <c:pt idx="7">
                  <c:v>0.0000</c:v>
                </c:pt>
                <c:pt idx="8">
                  <c:v>23.9700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9"/>
                <c:pt idx="0">
                  <c:v>0.0000</c:v>
                </c:pt>
                <c:pt idx="1">
                  <c:v>2.8100</c:v>
                </c:pt>
                <c:pt idx="2">
                  <c:v>3.6100</c:v>
                </c:pt>
                <c:pt idx="3">
                  <c:v>0.3900</c:v>
                </c:pt>
                <c:pt idx="4">
                  <c:v>0.0000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  <c:pt idx="8">
                  <c:v>9.2400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9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  <c:pt idx="8">
                  <c:v>MGA业务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9"/>
                <c:pt idx="0">
                  <c:v>0.0000</c:v>
                </c:pt>
                <c:pt idx="1">
                  <c:v>166.7700</c:v>
                </c:pt>
                <c:pt idx="2">
                  <c:v>30.7700</c:v>
                </c:pt>
                <c:pt idx="3">
                  <c:v>113.6500</c:v>
                </c:pt>
                <c:pt idx="4">
                  <c:v>31.6000</c:v>
                </c:pt>
                <c:pt idx="5">
                  <c:v>61.3400</c:v>
                </c:pt>
                <c:pt idx="6">
                  <c:v>64.1400</c:v>
                </c:pt>
                <c:pt idx="7">
                  <c:v>25.0000</c:v>
                </c:pt>
                <c:pt idx="8">
                  <c:v>0.0000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6.52</c:v>
                </c:pt>
                <c:pt idx="1">
                  <c:v>13.64</c:v>
                </c:pt>
                <c:pt idx="2">
                  <c:v>17.19</c:v>
                </c:pt>
                <c:pt idx="3">
                  <c:v>9.87</c:v>
                </c:pt>
                <c:pt idx="4">
                  <c:v>28.2</c:v>
                </c:pt>
                <c:pt idx="5">
                  <c:v>12.72</c:v>
                </c:pt>
                <c:pt idx="6">
                  <c:v>2.73</c:v>
                </c:pt>
                <c:pt idx="7">
                  <c:v>7.08</c:v>
                </c:pt>
                <c:pt idx="8">
                  <c:v>5.88</c:v>
                </c:pt>
                <c:pt idx="9">
                  <c:v>17.21</c:v>
                </c:pt>
                <c:pt idx="10">
                  <c:v>19.81</c:v>
                </c:pt>
                <c:pt idx="11">
                  <c:v>25.2</c:v>
                </c:pt>
                <c:pt idx="12">
                  <c:v>5.37</c:v>
                </c:pt>
                <c:pt idx="13">
                  <c:v>12.71</c:v>
                </c:pt>
                <c:pt idx="14">
                  <c:v>13.44</c:v>
                </c:pt>
                <c:pt idx="15">
                  <c:v>26.75</c:v>
                </c:pt>
                <c:pt idx="16">
                  <c:v>9.88</c:v>
                </c:pt>
                <c:pt idx="17">
                  <c:v>11.77</c:v>
                </c:pt>
                <c:pt idx="18">
                  <c:v>22.15</c:v>
                </c:pt>
                <c:pt idx="19">
                  <c:v>21.04</c:v>
                </c:pt>
                <c:pt idx="20">
                  <c:v>20.93</c:v>
                </c:pt>
                <c:pt idx="21">
                  <c:v>10.9</c:v>
                </c:pt>
                <c:pt idx="22">
                  <c:v>19.58</c:v>
                </c:pt>
                <c:pt idx="23">
                  <c:v>16.79</c:v>
                </c:pt>
                <c:pt idx="24">
                  <c:v>26.21</c:v>
                </c:pt>
                <c:pt idx="25">
                  <c:v>14.14</c:v>
                </c:pt>
                <c:pt idx="26">
                  <c:v>22.83</c:v>
                </c:pt>
                <c:pt idx="27">
                  <c:v>20.32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2.63</c:v>
                </c:pt>
                <c:pt idx="1">
                  <c:v>10.23</c:v>
                </c:pt>
                <c:pt idx="2">
                  <c:v>12.7</c:v>
                </c:pt>
                <c:pt idx="3">
                  <c:v>11.54</c:v>
                </c:pt>
                <c:pt idx="4">
                  <c:v>31.28</c:v>
                </c:pt>
                <c:pt idx="5">
                  <c:v>12.85</c:v>
                </c:pt>
                <c:pt idx="6">
                  <c:v>3.77</c:v>
                </c:pt>
                <c:pt idx="7">
                  <c:v>7.38</c:v>
                </c:pt>
                <c:pt idx="8">
                  <c:v>4.23</c:v>
                </c:pt>
                <c:pt idx="9">
                  <c:v>11.08</c:v>
                </c:pt>
                <c:pt idx="10">
                  <c:v>18.48</c:v>
                </c:pt>
                <c:pt idx="11">
                  <c:v>26.24</c:v>
                </c:pt>
                <c:pt idx="12">
                  <c:v>15.83</c:v>
                </c:pt>
                <c:pt idx="13">
                  <c:v>6.6</c:v>
                </c:pt>
                <c:pt idx="14">
                  <c:v>14.41</c:v>
                </c:pt>
                <c:pt idx="15">
                  <c:v>18.13</c:v>
                </c:pt>
                <c:pt idx="16">
                  <c:v>16.86</c:v>
                </c:pt>
                <c:pt idx="17">
                  <c:v>13.24</c:v>
                </c:pt>
                <c:pt idx="18">
                  <c:v>20.33</c:v>
                </c:pt>
                <c:pt idx="19">
                  <c:v>14.82</c:v>
                </c:pt>
                <c:pt idx="20">
                  <c:v>32.85</c:v>
                </c:pt>
                <c:pt idx="21">
                  <c:v>11.54</c:v>
                </c:pt>
                <c:pt idx="22">
                  <c:v>12.29</c:v>
                </c:pt>
                <c:pt idx="23">
                  <c:v>18.96</c:v>
                </c:pt>
                <c:pt idx="24">
                  <c:v>26.14</c:v>
                </c:pt>
                <c:pt idx="25">
                  <c:v>19.48</c:v>
                </c:pt>
                <c:pt idx="26">
                  <c:v>10.88</c:v>
                </c:pt>
                <c:pt idx="27">
                  <c:v>21.03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9.96</c:v>
                </c:pt>
                <c:pt idx="1">
                  <c:v>7.8</c:v>
                </c:pt>
                <c:pt idx="2">
                  <c:v>10.95</c:v>
                </c:pt>
                <c:pt idx="3">
                  <c:v>16.19</c:v>
                </c:pt>
                <c:pt idx="4">
                  <c:v>31.58</c:v>
                </c:pt>
                <c:pt idx="5">
                  <c:v>14.36</c:v>
                </c:pt>
                <c:pt idx="6">
                  <c:v>0.0</c:v>
                </c:pt>
                <c:pt idx="7">
                  <c:v>4.01</c:v>
                </c:pt>
                <c:pt idx="8">
                  <c:v>10.9</c:v>
                </c:pt>
                <c:pt idx="9">
                  <c:v>9.83</c:v>
                </c:pt>
                <c:pt idx="10">
                  <c:v>11.17</c:v>
                </c:pt>
                <c:pt idx="11">
                  <c:v>14.23</c:v>
                </c:pt>
                <c:pt idx="12">
                  <c:v>35.99</c:v>
                </c:pt>
                <c:pt idx="13">
                  <c:v>4.16</c:v>
                </c:pt>
                <c:pt idx="14">
                  <c:v>12.33</c:v>
                </c:pt>
                <c:pt idx="15">
                  <c:v>15.45</c:v>
                </c:pt>
                <c:pt idx="16">
                  <c:v>22.93</c:v>
                </c:pt>
                <c:pt idx="17">
                  <c:v>6.79</c:v>
                </c:pt>
                <c:pt idx="18">
                  <c:v>6.94</c:v>
                </c:pt>
                <c:pt idx="19">
                  <c:v>17.48</c:v>
                </c:pt>
                <c:pt idx="20">
                  <c:v>25.31</c:v>
                </c:pt>
                <c:pt idx="21">
                  <c:v>34.41</c:v>
                </c:pt>
                <c:pt idx="22">
                  <c:v>11.12</c:v>
                </c:pt>
                <c:pt idx="23">
                  <c:v>10.26</c:v>
                </c:pt>
                <c:pt idx="24">
                  <c:v>22.82</c:v>
                </c:pt>
                <c:pt idx="25">
                  <c:v>24.51</c:v>
                </c:pt>
                <c:pt idx="26">
                  <c:v>15.42</c:v>
                </c:pt>
                <c:pt idx="27">
                  <c:v>17.65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28"/>
                <c:pt idx="0">
                  <c:v>18.04</c:v>
                </c:pt>
                <c:pt idx="1">
                  <c:v>46.35</c:v>
                </c:pt>
                <c:pt idx="2">
                  <c:v>29.21</c:v>
                </c:pt>
                <c:pt idx="3">
                  <c:v>20.07</c:v>
                </c:pt>
                <c:pt idx="4">
                  <c:v>29.97</c:v>
                </c:pt>
                <c:pt idx="5">
                  <c:v>39.45</c:v>
                </c:pt>
                <c:pt idx="6">
                  <c:v>7.26</c:v>
                </c:pt>
                <c:pt idx="7">
                  <c:v>67.05</c:v>
                </c:pt>
                <c:pt idx="8">
                  <c:v>15.84</c:v>
                </c:pt>
                <c:pt idx="9">
                  <c:v>11.12</c:v>
                </c:pt>
                <c:pt idx="10">
                  <c:v>41.56</c:v>
                </c:pt>
                <c:pt idx="11">
                  <c:v>7.94</c:v>
                </c:pt>
                <c:pt idx="12">
                  <c:v>15.72</c:v>
                </c:pt>
                <c:pt idx="13">
                  <c:v>12.38</c:v>
                </c:pt>
                <c:pt idx="14">
                  <c:v>24.32</c:v>
                </c:pt>
                <c:pt idx="15">
                  <c:v>24.57</c:v>
                </c:pt>
                <c:pt idx="16">
                  <c:v>23.49</c:v>
                </c:pt>
                <c:pt idx="17">
                  <c:v>8.41</c:v>
                </c:pt>
                <c:pt idx="18">
                  <c:v>15.89</c:v>
                </c:pt>
                <c:pt idx="19">
                  <c:v>20.39</c:v>
                </c:pt>
                <c:pt idx="20">
                  <c:v>28.09</c:v>
                </c:pt>
                <c:pt idx="21">
                  <c:v>12.47</c:v>
                </c:pt>
                <c:pt idx="22">
                  <c:v>12.0</c:v>
                </c:pt>
                <c:pt idx="23">
                  <c:v>15.44</c:v>
                </c:pt>
                <c:pt idx="24">
                  <c:v>19.28</c:v>
                </c:pt>
                <c:pt idx="25">
                  <c:v>11.19</c:v>
                </c:pt>
                <c:pt idx="26">
                  <c:v>17.62</c:v>
                </c:pt>
                <c:pt idx="27">
                  <c:v>6.92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11865.65</c:v>
                </c:pt>
                <c:pt idx="1">
                  <c:v>3938.94</c:v>
                </c:pt>
                <c:pt idx="2">
                  <c:v>2609.91</c:v>
                </c:pt>
                <c:pt idx="3">
                  <c:v>1327.8</c:v>
                </c:pt>
                <c:pt idx="4">
                  <c:v>1287.52</c:v>
                </c:pt>
                <c:pt idx="5">
                  <c:v>188.05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750" b="0" i="0" u="none" strike="noStrike" kern="1200" baseline="0">
                        <a:solidFill>
                          <a:schemeClr val="tx1"/>
                        </a:solidFill>
                        <a:latin typeface="Calibri" panose="020F0502020204030204"/>
                        <a:ea typeface="+mn-ea"/>
                        <a:cs typeface="+mn-cs"/>
                      </a:defRPr>
                    </a:pPr>
                    <a:r>
                      <a:rPr lang="en-US" altLang="zh-CN">
                        <a:solidFill>
                          <a:schemeClr val="tx1"/>
                        </a:solidFill>
                      </a:rPr>
                      <a:t>32.2</a:t>
                    </a:r>
                    <a:r>
                      <a:rPr>
                        <a:solidFill>
                          <a:schemeClr val="tx1"/>
                        </a:solidFill>
                      </a:rPr>
                      <a:t>.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3732.53</c:v>
                </c:pt>
                <c:pt idx="1">
                  <c:v>576.59</c:v>
                </c:pt>
                <c:pt idx="2">
                  <c:v>301.8</c:v>
                </c:pt>
                <c:pt idx="3">
                  <c:v>0.0</c:v>
                </c:pt>
                <c:pt idx="4">
                  <c:v>685.91</c:v>
                </c:pt>
                <c:pt idx="5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1204.1</c:v>
                </c:pt>
                <c:pt idx="1">
                  <c:v>187.42</c:v>
                </c:pt>
                <c:pt idx="2">
                  <c:v>0.0</c:v>
                </c:pt>
                <c:pt idx="3">
                  <c:v>0.0</c:v>
                </c:pt>
                <c:pt idx="4">
                  <c:v>78.0</c:v>
                </c:pt>
                <c:pt idx="5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批核APE(万)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4269.8</c:v>
                </c:pt>
                <c:pt idx="1">
                  <c:v>3938.94</c:v>
                </c:pt>
                <c:pt idx="2">
                  <c:v>3490.59</c:v>
                </c:pt>
                <c:pt idx="3">
                  <c:v>2781.85</c:v>
                </c:pt>
                <c:pt idx="4">
                  <c:v>2718.31</c:v>
                </c:pt>
                <c:pt idx="5">
                  <c:v>2591.81</c:v>
                </c:pt>
                <c:pt idx="6">
                  <c:v>1937.79</c:v>
                </c:pt>
                <c:pt idx="7">
                  <c:v>1885.7</c:v>
                </c:pt>
                <c:pt idx="8">
                  <c:v>1248.0</c:v>
                </c:pt>
                <c:pt idx="9">
                  <c:v>834.66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未批核APE(万)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893.28</c:v>
                </c:pt>
                <c:pt idx="1">
                  <c:v>576.59</c:v>
                </c:pt>
                <c:pt idx="2">
                  <c:v>453.66</c:v>
                </c:pt>
                <c:pt idx="3">
                  <c:v>101.07</c:v>
                </c:pt>
                <c:pt idx="4">
                  <c:v>237.69</c:v>
                </c:pt>
                <c:pt idx="5">
                  <c:v>301.8</c:v>
                </c:pt>
                <c:pt idx="6">
                  <c:v>2396.71</c:v>
                </c:pt>
                <c:pt idx="7">
                  <c:v>77.94</c:v>
                </c:pt>
                <c:pt idx="8">
                  <c:v>0.0</c:v>
                </c:pt>
                <c:pt idx="9">
                  <c:v>126.91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待签APE(万)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天誉国际</c:v>
                </c:pt>
                <c:pt idx="1">
                  <c:v>唯思</c:v>
                </c:pt>
                <c:pt idx="2">
                  <c:v>紫荆保险</c:v>
                </c:pt>
                <c:pt idx="3">
                  <c:v>利泰丰</c:v>
                </c:pt>
                <c:pt idx="4">
                  <c:v>堡盛国际</c:v>
                </c:pt>
                <c:pt idx="5">
                  <c:v>万森保险</c:v>
                </c:pt>
                <c:pt idx="6">
                  <c:v>天誉国际(MGA)</c:v>
                </c:pt>
                <c:pt idx="7">
                  <c:v>企鹅保险</c:v>
                </c:pt>
                <c:pt idx="8">
                  <c:v>宏鑫资产</c:v>
                </c:pt>
                <c:pt idx="9">
                  <c:v>万城保险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174.02</c:v>
                </c:pt>
                <c:pt idx="1">
                  <c:v>187.42</c:v>
                </c:pt>
                <c:pt idx="2">
                  <c:v>96.0</c:v>
                </c:pt>
                <c:pt idx="3">
                  <c:v>0.0</c:v>
                </c:pt>
                <c:pt idx="4">
                  <c:v>28.5</c:v>
                </c:pt>
                <c:pt idx="5">
                  <c:v>0.0</c:v>
                </c:pt>
                <c:pt idx="6">
                  <c:v>923.58</c:v>
                </c:pt>
                <c:pt idx="7">
                  <c:v>78.0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3.15</c:v>
                </c:pt>
                <c:pt idx="1">
                  <c:v>6.39</c:v>
                </c:pt>
                <c:pt idx="2">
                  <c:v>8.3</c:v>
                </c:pt>
                <c:pt idx="3">
                  <c:v>5.34</c:v>
                </c:pt>
                <c:pt idx="4">
                  <c:v>6.19</c:v>
                </c:pt>
                <c:pt idx="5">
                  <c:v>5.76</c:v>
                </c:pt>
                <c:pt idx="6">
                  <c:v>2.11</c:v>
                </c:pt>
                <c:pt idx="7">
                  <c:v>5.99</c:v>
                </c:pt>
                <c:pt idx="8">
                  <c:v>2.93</c:v>
                </c:pt>
                <c:pt idx="9">
                  <c:v>9.72</c:v>
                </c:pt>
                <c:pt idx="10">
                  <c:v>11.0</c:v>
                </c:pt>
                <c:pt idx="11">
                  <c:v>11.96</c:v>
                </c:pt>
                <c:pt idx="12">
                  <c:v>3.0</c:v>
                </c:pt>
                <c:pt idx="13">
                  <c:v>6.31</c:v>
                </c:pt>
                <c:pt idx="14">
                  <c:v>5.65</c:v>
                </c:pt>
                <c:pt idx="15">
                  <c:v>16.81</c:v>
                </c:pt>
                <c:pt idx="16">
                  <c:v>3.52</c:v>
                </c:pt>
                <c:pt idx="17">
                  <c:v>9.24</c:v>
                </c:pt>
                <c:pt idx="18">
                  <c:v>8.99</c:v>
                </c:pt>
                <c:pt idx="19">
                  <c:v>10.09</c:v>
                </c:pt>
                <c:pt idx="20">
                  <c:v>8.22</c:v>
                </c:pt>
                <c:pt idx="21">
                  <c:v>6.73</c:v>
                </c:pt>
                <c:pt idx="22">
                  <c:v>11.55</c:v>
                </c:pt>
                <c:pt idx="23">
                  <c:v>12.74</c:v>
                </c:pt>
                <c:pt idx="24">
                  <c:v>11.17</c:v>
                </c:pt>
                <c:pt idx="25">
                  <c:v>6.14</c:v>
                </c:pt>
                <c:pt idx="26">
                  <c:v>5.39</c:v>
                </c:pt>
                <c:pt idx="27">
                  <c:v>8.19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1.17</c:v>
                </c:pt>
                <c:pt idx="1">
                  <c:v>3.68</c:v>
                </c:pt>
                <c:pt idx="2">
                  <c:v>5.34</c:v>
                </c:pt>
                <c:pt idx="3">
                  <c:v>5.99</c:v>
                </c:pt>
                <c:pt idx="4">
                  <c:v>11.38</c:v>
                </c:pt>
                <c:pt idx="5">
                  <c:v>4.21</c:v>
                </c:pt>
                <c:pt idx="6">
                  <c:v>2.65</c:v>
                </c:pt>
                <c:pt idx="7">
                  <c:v>3.51</c:v>
                </c:pt>
                <c:pt idx="8">
                  <c:v>2.03</c:v>
                </c:pt>
                <c:pt idx="9">
                  <c:v>7.76</c:v>
                </c:pt>
                <c:pt idx="10">
                  <c:v>8.79</c:v>
                </c:pt>
                <c:pt idx="11">
                  <c:v>17.9</c:v>
                </c:pt>
                <c:pt idx="12">
                  <c:v>5.91</c:v>
                </c:pt>
                <c:pt idx="13">
                  <c:v>4.34</c:v>
                </c:pt>
                <c:pt idx="14">
                  <c:v>5.12</c:v>
                </c:pt>
                <c:pt idx="15">
                  <c:v>7.78</c:v>
                </c:pt>
                <c:pt idx="16">
                  <c:v>13.07</c:v>
                </c:pt>
                <c:pt idx="17">
                  <c:v>6.0</c:v>
                </c:pt>
                <c:pt idx="18">
                  <c:v>10.54</c:v>
                </c:pt>
                <c:pt idx="19">
                  <c:v>7.29</c:v>
                </c:pt>
                <c:pt idx="20">
                  <c:v>13.52</c:v>
                </c:pt>
                <c:pt idx="21">
                  <c:v>7.22</c:v>
                </c:pt>
                <c:pt idx="22">
                  <c:v>6.98</c:v>
                </c:pt>
                <c:pt idx="23">
                  <c:v>12.53</c:v>
                </c:pt>
                <c:pt idx="24">
                  <c:v>16.25</c:v>
                </c:pt>
                <c:pt idx="25">
                  <c:v>6.45</c:v>
                </c:pt>
                <c:pt idx="26">
                  <c:v>3.35</c:v>
                </c:pt>
                <c:pt idx="27">
                  <c:v>5.54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4.41</c:v>
                </c:pt>
                <c:pt idx="10">
                  <c:v>2.61</c:v>
                </c:pt>
                <c:pt idx="11">
                  <c:v>2.01</c:v>
                </c:pt>
                <c:pt idx="12">
                  <c:v>11.05</c:v>
                </c:pt>
                <c:pt idx="13">
                  <c:v>4.44</c:v>
                </c:pt>
                <c:pt idx="14">
                  <c:v>15.15</c:v>
                </c:pt>
                <c:pt idx="15">
                  <c:v>7.93</c:v>
                </c:pt>
                <c:pt idx="16">
                  <c:v>8.84</c:v>
                </c:pt>
                <c:pt idx="17">
                  <c:v>4.27</c:v>
                </c:pt>
                <c:pt idx="18">
                  <c:v>10.55</c:v>
                </c:pt>
                <c:pt idx="19">
                  <c:v>9.19</c:v>
                </c:pt>
                <c:pt idx="20">
                  <c:v>8.04</c:v>
                </c:pt>
                <c:pt idx="21">
                  <c:v>3.37</c:v>
                </c:pt>
                <c:pt idx="22">
                  <c:v>7.21</c:v>
                </c:pt>
                <c:pt idx="23">
                  <c:v>5.9</c:v>
                </c:pt>
                <c:pt idx="24">
                  <c:v>11.92</c:v>
                </c:pt>
                <c:pt idx="25">
                  <c:v>8.73</c:v>
                </c:pt>
                <c:pt idx="26">
                  <c:v>12.86</c:v>
                </c:pt>
                <c:pt idx="27">
                  <c:v>5.72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2861522057844"/>
          <c:y val="0.101338432122371"/>
          <c:w val="0.919392243102759"/>
          <c:h val="0.52399617590822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922B21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6.86M/11件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3.90M/6件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10.53M/19件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0.0365187258429961"/>
                  <c:y val="-0.0458891013384321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4.21M/9件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4.13M/7件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3.42M/10件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6.86</c:v>
                </c:pt>
                <c:pt idx="1">
                  <c:v>3.9</c:v>
                </c:pt>
                <c:pt idx="2">
                  <c:v>10.53</c:v>
                </c:pt>
                <c:pt idx="3">
                  <c:v>4.21</c:v>
                </c:pt>
                <c:pt idx="4">
                  <c:v>4.13</c:v>
                </c:pt>
                <c:pt idx="5">
                  <c:v>3.42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E8A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7.00M/6件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4.29M/3件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453518592562976"/>
                  <c:y val="-0.0564053537284895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3.12M/3件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5.85M/7件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4.68M/7件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spc="0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spc="0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7.0</c:v>
                </c:pt>
                <c:pt idx="1">
                  <c:v>3.46</c:v>
                </c:pt>
                <c:pt idx="2">
                  <c:v>4.29</c:v>
                </c:pt>
                <c:pt idx="3">
                  <c:v>3.12</c:v>
                </c:pt>
                <c:pt idx="4">
                  <c:v>2.73</c:v>
                </c:pt>
                <c:pt idx="5">
                  <c:v>5.85</c:v>
                </c:pt>
                <c:pt idx="6">
                  <c:v>4.68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7005763-4f22-4efc-bf15-1e3cf181811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4644911060586"/>
          <c:y val="0.0476398601398601"/>
          <c:w val="0.919111943292764"/>
          <c:h val="0.7304195804195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6.24M/10件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4.91M/8件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8.19M/14件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5.77M/12件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3.74M/6件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4.59M/13件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4.29M/7件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6.24</c:v>
                </c:pt>
                <c:pt idx="1">
                  <c:v>4.91</c:v>
                </c:pt>
                <c:pt idx="2">
                  <c:v>8.19</c:v>
                </c:pt>
                <c:pt idx="3">
                  <c:v>5.77</c:v>
                </c:pt>
                <c:pt idx="4">
                  <c:v>3.74</c:v>
                </c:pt>
                <c:pt idx="5">
                  <c:v>4.59</c:v>
                </c:pt>
                <c:pt idx="6">
                  <c:v>4.29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F5D5A0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10.90M/6件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5.07M/4件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3.12M/4件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5.85M/7件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4.68M/7件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10.9</c:v>
                </c:pt>
                <c:pt idx="1">
                  <c:v>3.46</c:v>
                </c:pt>
                <c:pt idx="2">
                  <c:v>5.07</c:v>
                </c:pt>
                <c:pt idx="3">
                  <c:v>2.73</c:v>
                </c:pt>
                <c:pt idx="4">
                  <c:v>3.12</c:v>
                </c:pt>
                <c:pt idx="5">
                  <c:v>5.85</c:v>
                </c:pt>
                <c:pt idx="6">
                  <c:v>4.68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991f72a-4d5a-403a-a640-30fd215da8a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600"/>
      </a:pPr>
    </a:p>
  </c:tx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民生银行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12.80M/23件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84.79M/61件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44.52M/37件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25.66M/28件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14.68M/11件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3.51M/9件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1.56M/3件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民生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12.8</c:v>
                </c:pt>
                <c:pt idx="1">
                  <c:v>84.79</c:v>
                </c:pt>
                <c:pt idx="2">
                  <c:v>44.52</c:v>
                </c:pt>
                <c:pt idx="3">
                  <c:v>25.66</c:v>
                </c:pt>
                <c:pt idx="4">
                  <c:v>14.68</c:v>
                </c:pt>
                <c:pt idx="5">
                  <c:v>3.51</c:v>
                </c:pt>
                <c:pt idx="6">
                  <c:v>1.56</c:v>
                </c:pt>
                <c:pt idx="7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平安银行</c:v>
                </c:pt>
              </c:strCache>
            </c:strRef>
          </c:tx>
          <c:spPr>
            <a:solidFill>
              <a:srgbClr val="82C89A"/>
            </a:solidFill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5.46M/2件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9.15M/6件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14.18M/5件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.00199893390191898"/>
                  <c:y val="-0.091004277695757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1.56M/2件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7.02M/5件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2.73M/4件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-0.0401459854014599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600" b="1" i="0" u="none" strike="noStrike" kern="1200" cap="none" normalizeH="0" baseline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 lang="zh-CN" sz="600" b="1" u="none" strike="noStrike" cap="none" normalizeH="0">
                        <a:solidFill>
                          <a:schemeClr val="tx1"/>
                        </a:solidFill>
                        <a:uFill>
                          <a:solidFill>
                            <a:schemeClr val="tx1"/>
                          </a:solidFill>
                        </a:uFill>
                      </a:rPr>
                      <a:t>平安 0M</a:t>
                    </a:r>
                    <a:endParaRPr altLang="en-US" sz="600" u="none" strike="noStrike" cap="none" normalizeH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600" b="1" i="0" u="none" strike="noStrike" kern="1200" cap="none" normalizeH="0" baseline="0">
                      <a:solidFill>
                        <a:schemeClr val="tx1"/>
                      </a:solidFill>
                      <a:uFill>
                        <a:solidFill>
                          <a:schemeClr val="tx1"/>
                        </a:solidFill>
                      </a:u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cap="none" spc="0" normalizeH="0" baseline="0">
                    <a:solidFill>
                      <a:schemeClr val="tx1"/>
                    </a:solidFill>
                    <a:uFill>
                      <a:solidFill>
                        <a:schemeClr val="tx1"/>
                      </a:solidFill>
                    </a:u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8"/>
                <c:pt idx="0">
                  <c:v>5.46</c:v>
                </c:pt>
                <c:pt idx="1">
                  <c:v>9.15</c:v>
                </c:pt>
                <c:pt idx="2">
                  <c:v>14.18</c:v>
                </c:pt>
                <c:pt idx="3">
                  <c:v>1.56</c:v>
                </c:pt>
                <c:pt idx="4">
                  <c:v>7.02</c:v>
                </c:pt>
                <c:pt idx="5">
                  <c:v>2.73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7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f6b1759-8741-4a5a-8d20-0511a974491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 sz="700"/>
      </a:pPr>
    </a:p>
  </c:tx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80619488062"/>
          <c:y val="0.05"/>
          <c:w val="0.837631748763175"/>
          <c:h val="0.65935064935064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Sheet1!$B$2:$B$3</c:f>
              <c:numCache>
                <c:formatCode>0.00_ </c:formatCode>
                <c:ptCount val="2"/>
                <c:pt idx="0">
                  <c:v>187.52</c:v>
                </c:pt>
                <c:pt idx="1">
                  <c:v>40.1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Sheet1!$C$2:$C$3</c:f>
              <c:numCache>
                <c:formatCode>0.00_ </c:formatCode>
                <c:ptCount val="2"/>
                <c:pt idx="0">
                  <c:v>16.92</c:v>
                </c:pt>
                <c:pt idx="1">
                  <c:v>11.7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民生银行</c:v>
                </c:pt>
                <c:pt idx="1">
                  <c:v>平安银行</c:v>
                </c:pt>
              </c:strCache>
            </c:strRef>
          </c:cat>
          <c:val>
            <c:numRef>
              <c:f>Sheet1!$D$2:$D$3</c:f>
              <c:numCache>
                <c:formatCode>0.00_ 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22614801604993"/>
          <c:y val="0.876466275659824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  <c:dLblPos val="outEnd"/>
          </c:dLbls>
          <c:cat>
            <c:strRef>
              <c:f>Sheet1!$A$2:$A$3</c:f>
              <c:strCache>
                <c:ptCount val="2"/>
                <c:pt idx="0">
                  <c:v>已批核</c:v>
                </c:pt>
                <c:pt idx="1">
                  <c:v>目标剩余</c:v>
                </c:pt>
              </c:strCache>
            </c:strRef>
          </c:cat>
          <c:val>
            <c:numRef>
              <c:f>Sheet1!$B$2:$B$3</c:f>
              <c:numCache>
                <c:formatCode>_ * #,##0_ ;_ * \-#,##0_ ;_ * "-"??_ ;_ @_ </c:formatCode>
                <c:ptCount val="2"/>
                <c:pt idx="0">
                  <c:v>227.63</c:v>
                </c:pt>
                <c:pt idx="1">
                  <c:v>-27.629999999999995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银行预约(M)</c:v>
                </c:pt>
              </c:strCache>
            </c:strRef>
          </c:tx>
          <c:spPr>
            <a:ln w="25400" cap="flat" cmpd="sng" algn="ctr">
              <a:solidFill>
                <a:srgbClr val="9B23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2335"/>
              </a:solidFill>
              <a:ln w="9525" cap="flat" cmpd="sng" algn="ctr">
                <a:solidFill>
                  <a:srgbClr val="9B233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8"/>
                <c:pt idx="0">
                  <c:v>2.34</c:v>
                </c:pt>
                <c:pt idx="1">
                  <c:v>3.69</c:v>
                </c:pt>
                <c:pt idx="2">
                  <c:v>6.03</c:v>
                </c:pt>
                <c:pt idx="3">
                  <c:v>1.79</c:v>
                </c:pt>
                <c:pt idx="4">
                  <c:v>4.29</c:v>
                </c:pt>
                <c:pt idx="5">
                  <c:v>3.07</c:v>
                </c:pt>
                <c:pt idx="6">
                  <c:v>0.0</c:v>
                </c:pt>
                <c:pt idx="7">
                  <c:v>0.0</c:v>
                </c:pt>
                <c:pt idx="8">
                  <c:v>2.34</c:v>
                </c:pt>
                <c:pt idx="9">
                  <c:v>5.46</c:v>
                </c:pt>
                <c:pt idx="10">
                  <c:v>4.29</c:v>
                </c:pt>
                <c:pt idx="11">
                  <c:v>2.73</c:v>
                </c:pt>
                <c:pt idx="12">
                  <c:v>0.0</c:v>
                </c:pt>
                <c:pt idx="13">
                  <c:v>5.23</c:v>
                </c:pt>
                <c:pt idx="14">
                  <c:v>0.39</c:v>
                </c:pt>
                <c:pt idx="15">
                  <c:v>1.72</c:v>
                </c:pt>
                <c:pt idx="16">
                  <c:v>1.17</c:v>
                </c:pt>
                <c:pt idx="17">
                  <c:v>0.39</c:v>
                </c:pt>
                <c:pt idx="18">
                  <c:v>1.01</c:v>
                </c:pt>
                <c:pt idx="19">
                  <c:v>0.78</c:v>
                </c:pt>
                <c:pt idx="20">
                  <c:v>3.51</c:v>
                </c:pt>
                <c:pt idx="21">
                  <c:v>1.17</c:v>
                </c:pt>
                <c:pt idx="22">
                  <c:v>3.35</c:v>
                </c:pt>
                <c:pt idx="23">
                  <c:v>0.78</c:v>
                </c:pt>
                <c:pt idx="24">
                  <c:v>3.97</c:v>
                </c:pt>
                <c:pt idx="25">
                  <c:v>0.78</c:v>
                </c:pt>
                <c:pt idx="26">
                  <c:v>5.46</c:v>
                </c:pt>
                <c:pt idx="27">
                  <c:v>2.73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银行签单(M)</c:v>
                </c:pt>
              </c:strCache>
            </c:strRef>
          </c:tx>
          <c:spPr>
            <a:ln w="25400" cap="flat" cmpd="sng" algn="ctr">
              <a:solidFill>
                <a:srgbClr val="6B27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737"/>
              </a:solidFill>
              <a:ln w="9525" cap="flat" cmpd="sng" algn="ctr">
                <a:solidFill>
                  <a:srgbClr val="6B273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8"/>
                <c:pt idx="0">
                  <c:v>0.78</c:v>
                </c:pt>
                <c:pt idx="1">
                  <c:v>3.69</c:v>
                </c:pt>
                <c:pt idx="2">
                  <c:v>5.25</c:v>
                </c:pt>
                <c:pt idx="3">
                  <c:v>2.73</c:v>
                </c:pt>
                <c:pt idx="4">
                  <c:v>2.18</c:v>
                </c:pt>
                <c:pt idx="5">
                  <c:v>5.8</c:v>
                </c:pt>
                <c:pt idx="6">
                  <c:v>0.39</c:v>
                </c:pt>
                <c:pt idx="7">
                  <c:v>0.0</c:v>
                </c:pt>
                <c:pt idx="8">
                  <c:v>1.95</c:v>
                </c:pt>
                <c:pt idx="9">
                  <c:v>1.95</c:v>
                </c:pt>
                <c:pt idx="10">
                  <c:v>4.68</c:v>
                </c:pt>
                <c:pt idx="11">
                  <c:v>2.73</c:v>
                </c:pt>
                <c:pt idx="12">
                  <c:v>3.51</c:v>
                </c:pt>
                <c:pt idx="13">
                  <c:v>0.16</c:v>
                </c:pt>
                <c:pt idx="14">
                  <c:v>4.29</c:v>
                </c:pt>
                <c:pt idx="15">
                  <c:v>1.95</c:v>
                </c:pt>
                <c:pt idx="16">
                  <c:v>0.55</c:v>
                </c:pt>
                <c:pt idx="17">
                  <c:v>2.34</c:v>
                </c:pt>
                <c:pt idx="18">
                  <c:v>1.17</c:v>
                </c:pt>
                <c:pt idx="19">
                  <c:v>1.01</c:v>
                </c:pt>
                <c:pt idx="20">
                  <c:v>2.34</c:v>
                </c:pt>
                <c:pt idx="21">
                  <c:v>1.17</c:v>
                </c:pt>
                <c:pt idx="22">
                  <c:v>2.96</c:v>
                </c:pt>
                <c:pt idx="23">
                  <c:v>2.34</c:v>
                </c:pt>
                <c:pt idx="24">
                  <c:v>3.19</c:v>
                </c:pt>
                <c:pt idx="25">
                  <c:v>3.12</c:v>
                </c:pt>
                <c:pt idx="26">
                  <c:v>2.34</c:v>
                </c:pt>
                <c:pt idx="27">
                  <c:v>4.29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银行批核(M)</c:v>
                </c:pt>
              </c:strCache>
            </c:strRef>
          </c:tx>
          <c:spPr>
            <a:ln w="25400" cap="flat" cmpd="sng" algn="ctr">
              <a:solidFill>
                <a:srgbClr val="6C34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3483"/>
              </a:solidFill>
              <a:ln w="9525" cap="flat" cmpd="sng" algn="ctr">
                <a:solidFill>
                  <a:srgbClr val="6C3483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8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  <c:pt idx="27">
                  <c:v>W28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8"/>
                <c:pt idx="0">
                  <c:v>1.95</c:v>
                </c:pt>
                <c:pt idx="1">
                  <c:v>3.36</c:v>
                </c:pt>
                <c:pt idx="2">
                  <c:v>8.03</c:v>
                </c:pt>
                <c:pt idx="3">
                  <c:v>1.79</c:v>
                </c:pt>
                <c:pt idx="4">
                  <c:v>17.16</c:v>
                </c:pt>
                <c:pt idx="5">
                  <c:v>27.95</c:v>
                </c:pt>
                <c:pt idx="6">
                  <c:v>1.95</c:v>
                </c:pt>
                <c:pt idx="7">
                  <c:v>46.88</c:v>
                </c:pt>
                <c:pt idx="8">
                  <c:v>10.42</c:v>
                </c:pt>
                <c:pt idx="9">
                  <c:v>4.68</c:v>
                </c:pt>
                <c:pt idx="10">
                  <c:v>35.96</c:v>
                </c:pt>
                <c:pt idx="11">
                  <c:v>5.85</c:v>
                </c:pt>
                <c:pt idx="12">
                  <c:v>2.18</c:v>
                </c:pt>
                <c:pt idx="13">
                  <c:v>4.29</c:v>
                </c:pt>
                <c:pt idx="14">
                  <c:v>7.64</c:v>
                </c:pt>
                <c:pt idx="15">
                  <c:v>11.78</c:v>
                </c:pt>
                <c:pt idx="16">
                  <c:v>3.12</c:v>
                </c:pt>
                <c:pt idx="17">
                  <c:v>1.95</c:v>
                </c:pt>
                <c:pt idx="18">
                  <c:v>3.3</c:v>
                </c:pt>
                <c:pt idx="19">
                  <c:v>2.34</c:v>
                </c:pt>
                <c:pt idx="20">
                  <c:v>14.12</c:v>
                </c:pt>
                <c:pt idx="21">
                  <c:v>1.56</c:v>
                </c:pt>
                <c:pt idx="22">
                  <c:v>0.78</c:v>
                </c:pt>
                <c:pt idx="23">
                  <c:v>0.78</c:v>
                </c:pt>
                <c:pt idx="24">
                  <c:v>2.81</c:v>
                </c:pt>
                <c:pt idx="25">
                  <c:v>0.31</c:v>
                </c:pt>
                <c:pt idx="26">
                  <c:v>1.56</c:v>
                </c:pt>
                <c:pt idx="27">
                  <c:v>0.0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8d0edca-b3ca-4875-b8a4-188427696a7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批核APE(M)</c:v>
                </c:pt>
              </c:strCache>
            </c:strRef>
          </c:tx>
          <c:spPr>
            <a:solidFill>
              <a:srgbClr val="6B2737"/>
            </a:solidFill>
            <a:ln>
              <a:noFill/>
            </a:ln>
            <a:effectLst/>
            <a:sp3d>
              <a:extrusionClr>
                <a:srgbClr val="FFFFFF"/>
              </a:extrusionClr>
              <a:contourClr>
                <a:srgbClr val="FFFFFF"/>
              </a:contourClr>
            </a:sp3d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cap="none" spc="0" normalizeH="0" baseline="0">
                    <a:solidFill>
                      <a:schemeClr val="bg1"/>
                    </a:solidFill>
                    <a:uFill>
                      <a:solidFill>
                        <a:schemeClr val="tx1"/>
                      </a:solidFill>
                    </a:u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26"/>
                <c:pt idx="0">
                  <c:v>民生广州分行</c:v>
                </c:pt>
                <c:pt idx="1">
                  <c:v>民生南京分行</c:v>
                </c:pt>
                <c:pt idx="2">
                  <c:v>民生上海分行</c:v>
                </c:pt>
                <c:pt idx="3">
                  <c:v>民生深圳分行</c:v>
                </c:pt>
                <c:pt idx="4">
                  <c:v>民生北京分行</c:v>
                </c:pt>
                <c:pt idx="5">
                  <c:v>平安香港分行徐艳</c:v>
                </c:pt>
                <c:pt idx="6">
                  <c:v>平安香港分行许菁</c:v>
                </c:pt>
                <c:pt idx="7">
                  <c:v>民生重庆分行</c:v>
                </c:pt>
                <c:pt idx="8">
                  <c:v>民生杭州分行</c:v>
                </c:pt>
                <c:pt idx="9">
                  <c:v>平安香港分行钟丽丽</c:v>
                </c:pt>
                <c:pt idx="10">
                  <c:v>民生香港分行梁驹团队</c:v>
                </c:pt>
                <c:pt idx="11">
                  <c:v>平安香港分行高凯</c:v>
                </c:pt>
                <c:pt idx="12">
                  <c:v>民生嘉兴分行</c:v>
                </c:pt>
                <c:pt idx="13">
                  <c:v>民生温州分行</c:v>
                </c:pt>
                <c:pt idx="14">
                  <c:v>民生合肥分行</c:v>
                </c:pt>
                <c:pt idx="15">
                  <c:v>民生武汉分行</c:v>
                </c:pt>
                <c:pt idx="16">
                  <c:v>民生贵阳分行</c:v>
                </c:pt>
                <c:pt idx="17">
                  <c:v>民生厦门分行</c:v>
                </c:pt>
                <c:pt idx="18">
                  <c:v>民生沈阳分行</c:v>
                </c:pt>
                <c:pt idx="19">
                  <c:v>民生泉州分行</c:v>
                </c:pt>
                <c:pt idx="20">
                  <c:v>平安香港分行朱慧娟</c:v>
                </c:pt>
                <c:pt idx="21">
                  <c:v>平安香港分行王慧娟</c:v>
                </c:pt>
                <c:pt idx="22">
                  <c:v>民生上海分行张江支行</c:v>
                </c:pt>
                <c:pt idx="23">
                  <c:v>平安香港分行高原</c:v>
                </c:pt>
                <c:pt idx="24">
                  <c:v>民生呼和浩特分行</c:v>
                </c:pt>
                <c:pt idx="25">
                  <c:v>民生昆明分行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26"/>
                <c:pt idx="0">
                  <c:v>44.09</c:v>
                </c:pt>
                <c:pt idx="1">
                  <c:v>37.09</c:v>
                </c:pt>
                <c:pt idx="2">
                  <c:v>30.08</c:v>
                </c:pt>
                <c:pt idx="3">
                  <c:v>18.88</c:v>
                </c:pt>
                <c:pt idx="4">
                  <c:v>17.38</c:v>
                </c:pt>
                <c:pt idx="5">
                  <c:v>14.04</c:v>
                </c:pt>
                <c:pt idx="6">
                  <c:v>12.87</c:v>
                </c:pt>
                <c:pt idx="7">
                  <c:v>10.14</c:v>
                </c:pt>
                <c:pt idx="8">
                  <c:v>7.02</c:v>
                </c:pt>
                <c:pt idx="9">
                  <c:v>6.95</c:v>
                </c:pt>
                <c:pt idx="10">
                  <c:v>4.13</c:v>
                </c:pt>
                <c:pt idx="11">
                  <c:v>3.9</c:v>
                </c:pt>
                <c:pt idx="12">
                  <c:v>3.12</c:v>
                </c:pt>
                <c:pt idx="13">
                  <c:v>2.81</c:v>
                </c:pt>
                <c:pt idx="14">
                  <c:v>2.57</c:v>
                </c:pt>
                <c:pt idx="15">
                  <c:v>2.34</c:v>
                </c:pt>
                <c:pt idx="16">
                  <c:v>1.95</c:v>
                </c:pt>
                <c:pt idx="17">
                  <c:v>1.56</c:v>
                </c:pt>
                <c:pt idx="18">
                  <c:v>1.56</c:v>
                </c:pt>
                <c:pt idx="19">
                  <c:v>1.56</c:v>
                </c:pt>
                <c:pt idx="20">
                  <c:v>1.17</c:v>
                </c:pt>
                <c:pt idx="21">
                  <c:v>0.78</c:v>
                </c:pt>
                <c:pt idx="22">
                  <c:v>0.78</c:v>
                </c:pt>
                <c:pt idx="23">
                  <c:v>0.39</c:v>
                </c:pt>
                <c:pt idx="24">
                  <c:v>0.31</c:v>
                </c:pt>
                <c:pt idx="25">
                  <c:v>0.16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0" spcFirstLastPara="0" vertOverflow="ellipsis" vert="wordArtVertRtl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0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Sheet1!$A$9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Sheet1!$B2:$D9</c:f>
              <c:numCache>
                <c:formatCode>0.0</c:formatCode>
                <c:ptCount val="8"/>
                <c:pt idx="0">
                  <c:v>2.3900</c:v>
                </c:pt>
                <c:pt idx="1">
                  <c:v>12.1092</c:v>
                </c:pt>
                <c:pt idx="2">
                  <c:v>1.8188</c:v>
                </c:pt>
                <c:pt idx="3">
                  <c:v>4.0000</c:v>
                </c:pt>
                <c:pt idx="4">
                  <c:v>0.0088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Sheet1!$B3:$D9</c:f>
              <c:numCache>
                <c:formatCode>0.0</c:formatCode>
                <c:ptCount val="8"/>
                <c:pt idx="0">
                  <c:v>2.3900</c:v>
                </c:pt>
                <c:pt idx="1">
                  <c:v>12.1092</c:v>
                </c:pt>
                <c:pt idx="2">
                  <c:v>1.8000</c:v>
                </c:pt>
                <c:pt idx="3">
                  <c:v>0.0188</c:v>
                </c:pt>
                <c:pt idx="4">
                  <c:v>4.0088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Sheet1!$A$9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Sheet1!$B$1:$D$9</c:f>
              <c:strCache>
                <c:ptCount val="8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</c:strCache>
            </c:strRef>
          </c:cat>
          <c:val>
            <c:numRef>
              <c:f>Sheet1!$B4:$D9</c:f>
              <c:numCache>
                <c:formatCode>0.0</c:formatCode>
                <c:ptCount val="8"/>
                <c:pt idx="0">
                  <c:v>2.0780</c:v>
                </c:pt>
                <c:pt idx="1">
                  <c:v>12.0000</c:v>
                </c:pt>
                <c:pt idx="2">
                  <c:v>0.4992</c:v>
                </c:pt>
                <c:pt idx="3">
                  <c:v>0.0000</c:v>
                </c:pt>
                <c:pt idx="4">
                  <c:v>5.8276</c:v>
                </c:pt>
                <c:pt idx="5">
                  <c:v>0.0000</c:v>
                </c:pt>
                <c:pt idx="6">
                  <c:v>0.0000</c:v>
                </c:pt>
                <c:pt idx="7">
                  <c:v>0.0000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tags" Target="../tags/tag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tags" Target="../tags/tag2.xml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tags" Target="../tags/tag3.xml"/><Relationship Id="rId12" Type="http://schemas.openxmlformats.org/officeDocument/2006/relationships/image" Target="../media/image5.svg"/><Relationship Id="rId13" Type="http://schemas.openxmlformats.org/officeDocument/2006/relationships/tags" Target="../tags/tag4.xml"/><Relationship Id="rId14" Type="http://schemas.openxmlformats.org/officeDocument/2006/relationships/image" Target="../media/image6.png"/><Relationship Id="rId15" Type="http://schemas.openxmlformats.org/officeDocument/2006/relationships/image" Target="../media/image7.svg"/><Relationship Id="rId16" Type="http://schemas.openxmlformats.org/officeDocument/2006/relationships/tags" Target="../tags/tag5.xml"/><Relationship Id="rId17" Type="http://schemas.openxmlformats.org/officeDocument/2006/relationships/image" Target="../media/image8.svg"/><Relationship Id="rId18" Type="http://schemas.openxmlformats.org/officeDocument/2006/relationships/tags" Target="../tags/tag6.xml"/><Relationship Id="rId19" Type="http://schemas.openxmlformats.org/officeDocument/2006/relationships/image" Target="../media/image9.svg"/><Relationship Id="rId20" Type="http://schemas.openxmlformats.org/officeDocument/2006/relationships/tags" Target="../tags/tag7.xml"/><Relationship Id="rId21" Type="http://schemas.openxmlformats.org/officeDocument/2006/relationships/image" Target="../media/image10.png"/><Relationship Id="rId22" Type="http://schemas.openxmlformats.org/officeDocument/2006/relationships/tags" Target="../tags/tag8.xml"/><Relationship Id="rId23" Type="http://schemas.openxmlformats.org/officeDocument/2006/relationships/image" Target="../media/image11.png"/><Relationship Id="rId24" Type="http://schemas.openxmlformats.org/officeDocument/2006/relationships/tags" Target="../tags/tag9.xml"/><Relationship Id="rId25" Type="http://schemas.openxmlformats.org/officeDocument/2006/relationships/image" Target="../media/image1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Relationship Id="rId7" Type="http://schemas.openxmlformats.org/officeDocument/2006/relationships/chart" Target="../charts/chart14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10" Type="http://schemas.openxmlformats.org/officeDocument/2006/relationships/chart" Target="../charts/chart904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chart" Target="..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chart" Target="../charts/chart1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tags" Target="../tags/tag23.xml"/><Relationship Id="rId17" Type="http://schemas.openxmlformats.org/officeDocument/2006/relationships/tags" Target="../tags/tag24.xml"/><Relationship Id="rId18" Type="http://schemas.openxmlformats.org/officeDocument/2006/relationships/tags" Target="../tags/tag25.xml"/><Relationship Id="rId19" Type="http://schemas.openxmlformats.org/officeDocument/2006/relationships/tags" Target="../tags/tag26.xml"/><Relationship Id="rId20" Type="http://schemas.openxmlformats.org/officeDocument/2006/relationships/tags" Target="../tags/tag27.xml"/><Relationship Id="rId21" Type="http://schemas.openxmlformats.org/officeDocument/2006/relationships/tags" Target="../tags/tag28.xml"/><Relationship Id="rId22" Type="http://schemas.openxmlformats.org/officeDocument/2006/relationships/tags" Target="../tags/tag29.xml"/><Relationship Id="rId23" Type="http://schemas.openxmlformats.org/officeDocument/2006/relationships/tags" Target="../tags/tag30.xml"/><Relationship Id="rId24" Type="http://schemas.openxmlformats.org/officeDocument/2006/relationships/tags" Target="../tags/tag31.xml"/><Relationship Id="rId25" Type="http://schemas.openxmlformats.org/officeDocument/2006/relationships/tags" Target="../tags/tag32.xml"/><Relationship Id="rId26" Type="http://schemas.openxmlformats.org/officeDocument/2006/relationships/tags" Target="../tags/tag33.xml"/><Relationship Id="rId27" Type="http://schemas.openxmlformats.org/officeDocument/2006/relationships/tags" Target="../tags/tag34.xml"/><Relationship Id="rId28" Type="http://schemas.openxmlformats.org/officeDocument/2006/relationships/tags" Target="../tags/tag35.xml"/><Relationship Id="rId29" Type="http://schemas.openxmlformats.org/officeDocument/2006/relationships/tags" Target="../tags/tag36.xml"/><Relationship Id="rId30" Type="http://schemas.openxmlformats.org/officeDocument/2006/relationships/tags" Target="../tags/tag37.xm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tags" Target="../tags/tag46.xml"/><Relationship Id="rId11" Type="http://schemas.openxmlformats.org/officeDocument/2006/relationships/tags" Target="../tags/tag47.xml"/><Relationship Id="rId12" Type="http://schemas.openxmlformats.org/officeDocument/2006/relationships/tags" Target="../tags/tag48.xml"/><Relationship Id="rId13" Type="http://schemas.openxmlformats.org/officeDocument/2006/relationships/tags" Target="../tags/tag49.xml"/><Relationship Id="rId14" Type="http://schemas.openxmlformats.org/officeDocument/2006/relationships/tags" Target="../tags/tag50.xml"/><Relationship Id="rId15" Type="http://schemas.openxmlformats.org/officeDocument/2006/relationships/tags" Target="../tags/tag51.xml"/><Relationship Id="rId16" Type="http://schemas.openxmlformats.org/officeDocument/2006/relationships/tags" Target="../tags/tag52.xml"/><Relationship Id="rId17" Type="http://schemas.openxmlformats.org/officeDocument/2006/relationships/tags" Target="../tags/tag53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1.xml"/><Relationship Id="rId2" Type="http://schemas.openxmlformats.org/officeDocument/2006/relationships/chart" Target="../charts/chart22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Relationship Id="rId5" Type="http://schemas.openxmlformats.org/officeDocument/2006/relationships/chart" Target="../charts/chart25.xml"/><Relationship Id="rId6" Type="http://schemas.openxmlformats.org/officeDocument/2006/relationships/tags" Target="../tags/tag54.xml"/><Relationship Id="rId7" Type="http://schemas.openxmlformats.org/officeDocument/2006/relationships/tags" Target="../tags/tag55.xml"/><Relationship Id="rId8" Type="http://schemas.openxmlformats.org/officeDocument/2006/relationships/tags" Target="../tags/tag56.xml"/><Relationship Id="rId9" Type="http://schemas.openxmlformats.org/officeDocument/2006/relationships/tags" Target="../tags/tag57.xml"/><Relationship Id="rId10" Type="http://schemas.openxmlformats.org/officeDocument/2006/relationships/tags" Target="../tags/tag58.xml"/><Relationship Id="rId11" Type="http://schemas.openxmlformats.org/officeDocument/2006/relationships/tags" Target="../tags/tag59.xml"/><Relationship Id="rId12" Type="http://schemas.openxmlformats.org/officeDocument/2006/relationships/tags" Target="../tags/tag60.xml"/><Relationship Id="rId13" Type="http://schemas.openxmlformats.org/officeDocument/2006/relationships/tags" Target="../tags/tag61.xml"/><Relationship Id="rId14" Type="http://schemas.openxmlformats.org/officeDocument/2006/relationships/tags" Target="../tags/tag62.xml"/><Relationship Id="rId15" Type="http://schemas.openxmlformats.org/officeDocument/2006/relationships/tags" Target="../tags/tag63.xml"/><Relationship Id="rId16" Type="http://schemas.openxmlformats.org/officeDocument/2006/relationships/tags" Target="../tags/tag64.xml"/><Relationship Id="rId17" Type="http://schemas.openxmlformats.org/officeDocument/2006/relationships/tags" Target="../tags/tag65.xml"/><Relationship Id="rId18" Type="http://schemas.openxmlformats.org/officeDocument/2006/relationships/tags" Target="../tags/tag66.xml"/><Relationship Id="rId19" Type="http://schemas.openxmlformats.org/officeDocument/2006/relationships/tags" Target="../tags/tag67.xml"/><Relationship Id="rId20" Type="http://schemas.openxmlformats.org/officeDocument/2006/relationships/tags" Target="../tags/tag68.xml"/><Relationship Id="rId21" Type="http://schemas.openxmlformats.org/officeDocument/2006/relationships/tags" Target="../tags/tag69.xml"/><Relationship Id="rId22" Type="http://schemas.openxmlformats.org/officeDocument/2006/relationships/tags" Target="../tags/tag70.xml"/><Relationship Id="rId23" Type="http://schemas.openxmlformats.org/officeDocument/2006/relationships/tags" Target="../tags/tag71.xml"/><Relationship Id="rId24" Type="http://schemas.openxmlformats.org/officeDocument/2006/relationships/tags" Target="../tags/tag72.xml"/><Relationship Id="rId25" Type="http://schemas.openxmlformats.org/officeDocument/2006/relationships/tags" Target="../tags/tag73.xml"/><Relationship Id="rId26" Type="http://schemas.openxmlformats.org/officeDocument/2006/relationships/tags" Target="../tags/tag74.xml"/><Relationship Id="rId27" Type="http://schemas.openxmlformats.org/officeDocument/2006/relationships/tags" Target="../tags/tag75.xml"/><Relationship Id="rId28" Type="http://schemas.openxmlformats.org/officeDocument/2006/relationships/tags" Target="../tags/tag76.xml"/><Relationship Id="rId29" Type="http://schemas.openxmlformats.org/officeDocument/2006/relationships/tags" Target="../tags/tag77.xml"/><Relationship Id="rId30" Type="http://schemas.openxmlformats.org/officeDocument/2006/relationships/tags" Target="../tags/tag78.xml"/><Relationship Id="rId31" Type="http://schemas.openxmlformats.org/officeDocument/2006/relationships/tags" Target="../tags/tag79.xml"/><Relationship Id="rId32" Type="http://schemas.openxmlformats.org/officeDocument/2006/relationships/tags" Target="../tags/tag80.xml"/><Relationship Id="rId33" Type="http://schemas.openxmlformats.org/officeDocument/2006/relationships/tags" Target="../tags/tag81.xml"/><Relationship Id="rId34" Type="http://schemas.openxmlformats.org/officeDocument/2006/relationships/tags" Target="../tags/tag82.xml"/><Relationship Id="rId35" Type="http://schemas.openxmlformats.org/officeDocument/2006/relationships/tags" Target="../tags/tag83.xml"/><Relationship Id="rId36" Type="http://schemas.openxmlformats.org/officeDocument/2006/relationships/tags" Target="../tags/tag84.xml"/><Relationship Id="rId37" Type="http://schemas.openxmlformats.org/officeDocument/2006/relationships/tags" Target="../tags/tag85.xml"/><Relationship Id="rId38" Type="http://schemas.openxmlformats.org/officeDocument/2006/relationships/tags" Target="../tags/tag86.xml"/><Relationship Id="rId39" Type="http://schemas.openxmlformats.org/officeDocument/2006/relationships/tags" Target="../tags/tag87.xml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6.xml"/><Relationship Id="rId2" Type="http://schemas.openxmlformats.org/officeDocument/2006/relationships/chart" Target="../charts/chart27.xml"/><Relationship Id="rId3" Type="http://schemas.openxmlformats.org/officeDocument/2006/relationships/tags" Target="../tags/tag88.xml"/><Relationship Id="rId4" Type="http://schemas.openxmlformats.org/officeDocument/2006/relationships/tags" Target="../tags/tag89.xml"/><Relationship Id="rId5" Type="http://schemas.openxmlformats.org/officeDocument/2006/relationships/tags" Target="../tags/tag90.xml"/><Relationship Id="rId6" Type="http://schemas.openxmlformats.org/officeDocument/2006/relationships/tags" Target="../tags/tag91.xml"/><Relationship Id="rId7" Type="http://schemas.openxmlformats.org/officeDocument/2006/relationships/tags" Target="../tags/tag92.xml"/><Relationship Id="rId8" Type="http://schemas.openxmlformats.org/officeDocument/2006/relationships/tags" Target="../tags/tag93.xml"/><Relationship Id="rId9" Type="http://schemas.openxmlformats.org/officeDocument/2006/relationships/tags" Target="../tags/tag94.xml"/><Relationship Id="rId10" Type="http://schemas.openxmlformats.org/officeDocument/2006/relationships/tags" Target="../tags/tag95.xml"/><Relationship Id="rId11" Type="http://schemas.openxmlformats.org/officeDocument/2006/relationships/tags" Target="../tags/tag96.xml"/><Relationship Id="rId12" Type="http://schemas.openxmlformats.org/officeDocument/2006/relationships/tags" Target="../tags/tag97.xml"/><Relationship Id="rId13" Type="http://schemas.openxmlformats.org/officeDocument/2006/relationships/tags" Target="../tags/tag98.xml"/><Relationship Id="rId14" Type="http://schemas.openxmlformats.org/officeDocument/2006/relationships/tags" Target="../tags/tag99.xml"/><Relationship Id="rId15" Type="http://schemas.openxmlformats.org/officeDocument/2006/relationships/tags" Target="../tags/tag100.xml"/><Relationship Id="rId16" Type="http://schemas.openxmlformats.org/officeDocument/2006/relationships/tags" Target="../tags/tag101.xml"/><Relationship Id="rId17" Type="http://schemas.openxmlformats.org/officeDocument/2006/relationships/tags" Target="../tags/tag102.xml"/><Relationship Id="rId18" Type="http://schemas.openxmlformats.org/officeDocument/2006/relationships/tags" Target="../tags/tag103.xml"/><Relationship Id="rId19" Type="http://schemas.openxmlformats.org/officeDocument/2006/relationships/tags" Target="../tags/tag104.xml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生成日期：2026-07-31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-508M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605M / 剩余缺口 508M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512M / 剩余缺口 464M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APE 达 605.2M，达成率 54.4%，全年目标 1113M 缺口约 508M。3 月预约件数 216 件，环比 +96.4%，前端动能延续，Q2 转化批核可期。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 件  |  占比 79.4%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 件  |  占比 14.1%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 件  |  占比 2.1%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33.6M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 件  |  占比 4.4%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未批核（107.3M，235 件）与待签（16.0M，42 件）合计 123.4M 在管道中，占批核 APE 的 20%。若能快速推进至生效，可直接拉升达成率逾 11 个百分点。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经代业务批核 488.7M 占全渠道 80.8%，是唯一业绩主力；未批核 63.5M 是最大转化机会。其余渠道：代理人业务（批核 72.2M）、KA业务（批核 24.9M）、MGA业务（批核 19.4M），体量较小，需明确各渠道扩量优先级。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5187952" y="3977640"/>
            <a:ext cx="2674186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5187952" y="3995928"/>
            <a:ext cx="267418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2" name="Text 88"/>
          <p:cNvSpPr/>
          <p:nvPr/>
        </p:nvSpPr>
        <p:spPr>
          <a:xfrm>
            <a:off x="8487918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26-Jan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9054846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62177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8" name="Text 94"/>
          <p:cNvSpPr/>
          <p:nvPr/>
        </p:nvSpPr>
        <p:spPr>
          <a:xfrm>
            <a:off x="8487918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53.9</a:t>
            </a:r>
            <a:endParaRPr lang="en-US" sz="900" dirty="0"/>
          </a:p>
        </p:txBody>
      </p:sp>
      <p:sp>
        <p:nvSpPr>
          <p:cNvPr id="99" name="Text 95"/>
          <p:cNvSpPr/>
          <p:nvPr/>
        </p:nvSpPr>
        <p:spPr>
          <a:xfrm>
            <a:off x="9054846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56.4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62177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4" name="Text 100"/>
          <p:cNvSpPr/>
          <p:nvPr/>
        </p:nvSpPr>
        <p:spPr>
          <a:xfrm>
            <a:off x="8487918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132件</a:t>
            </a:r>
            <a:endParaRPr lang="en-US" sz="900" dirty="0"/>
          </a:p>
        </p:txBody>
      </p:sp>
      <p:sp>
        <p:nvSpPr>
          <p:cNvPr id="105" name="Text 101"/>
          <p:cNvSpPr/>
          <p:nvPr/>
        </p:nvSpPr>
        <p:spPr>
          <a:xfrm>
            <a:off x="9054846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62177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216件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1" name="Text 107"/>
          <p:cNvSpPr/>
          <p:nvPr/>
        </p:nvSpPr>
        <p:spPr>
          <a:xfrm>
            <a:off x="8487918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47.9</a:t>
            </a:r>
            <a:endParaRPr lang="en-US" sz="900" dirty="0"/>
          </a:p>
        </p:txBody>
      </p:sp>
      <p:sp>
        <p:nvSpPr>
          <p:cNvPr id="112" name="Text 108"/>
          <p:cNvSpPr/>
          <p:nvPr/>
        </p:nvSpPr>
        <p:spPr>
          <a:xfrm>
            <a:off x="9054846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61.1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62177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82.2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7" name="Text 113"/>
          <p:cNvSpPr/>
          <p:nvPr/>
        </p:nvSpPr>
        <p:spPr>
          <a:xfrm>
            <a:off x="8487918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114件</a:t>
            </a:r>
            <a:endParaRPr lang="en-US" sz="900" dirty="0"/>
          </a:p>
        </p:txBody>
      </p:sp>
      <p:sp>
        <p:nvSpPr>
          <p:cNvPr id="118" name="Text 114"/>
          <p:cNvSpPr/>
          <p:nvPr/>
        </p:nvSpPr>
        <p:spPr>
          <a:xfrm>
            <a:off x="9054846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62177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212件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4" name="Text 120"/>
          <p:cNvSpPr/>
          <p:nvPr/>
        </p:nvSpPr>
        <p:spPr>
          <a:xfrm>
            <a:off x="8487918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116.8</a:t>
            </a:r>
            <a:endParaRPr lang="en-US" sz="900" dirty="0"/>
          </a:p>
        </p:txBody>
      </p:sp>
      <p:sp>
        <p:nvSpPr>
          <p:cNvPr id="125" name="Text 121"/>
          <p:cNvSpPr/>
          <p:nvPr/>
        </p:nvSpPr>
        <p:spPr>
          <a:xfrm>
            <a:off x="9054846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62177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85.8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0" name="Text 126"/>
          <p:cNvSpPr/>
          <p:nvPr/>
        </p:nvSpPr>
        <p:spPr>
          <a:xfrm>
            <a:off x="8487918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203件</a:t>
            </a:r>
            <a:endParaRPr lang="en-US" sz="900" dirty="0"/>
          </a:p>
        </p:txBody>
      </p:sp>
      <p:sp>
        <p:nvSpPr>
          <p:cNvPr id="131" name="Text 127"/>
          <p:cNvSpPr/>
          <p:nvPr/>
        </p:nvSpPr>
        <p:spPr>
          <a:xfrm>
            <a:off x="9054846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62177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 Q1 呈现存量驱动特征，2月批核峰值 143.7M 为全年迄今最高。3 月预约/签单同步走强，前端动能复苏。7月初已批核 32.9M，节后启动正常，后续 9 个月需月均 83.8M 以达成年度目标。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8" name="Text 90"/>
          <p:cNvSpPr/>
          <p:nvPr/>
        </p:nvSpPr>
        <p:spPr>
          <a:xfrm>
            <a:off x="10129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129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67.4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129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129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129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129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91.2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129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0696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26-May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0696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81.9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0696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0696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0696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225件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0696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0696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1263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26-Jun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1263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84.3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1263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1263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85.7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1263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1263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62.0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1263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900" dirty="0"/>
          </a:p>
        </p:txBody>
      </p:sp>
      <p:sp>
        <p:nvSpPr>
          <p:cNvPr id="138" name="Text 90"/>
          <p:cNvSpPr/>
          <p:nvPr/>
        </p:nvSpPr>
        <p:spPr>
          <a:xfrm>
            <a:off x="118301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26-Jul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118301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49.5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118301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124件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118301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39.2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118301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118301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32.9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118301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2026 年 3 月预约件数从 2 月 110 件增至 216 件（环比 +96.4%），前端明显回暖。但 3 月件均 APE 3.8 万低于 2 月 5.1 万，显示新增单偏中小额，需关注单均下滑趋势。</a:t>
            </a: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9592430" y="1137285"/>
            <a:ext cx="247384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9592430" y="1197610"/>
            <a:ext cx="218446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8313420" y="1756664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84.6M/月（剩余 508M ÷ 6mo）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1–4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 达成率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45.6% 目标剩余</a:t>
            </a: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84.6M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截至 W28，已批核 605.2M（达成率 54.4%），完成全年目标 1113M 还需约 508M，剩余 9 个月月均需 56.4M。若 4–12 月维持 80–100M 节奏，全年可达标。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3629126" y="1013517"/>
            <a:ext cx="1334033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-41.3%</a:t>
            </a: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629126" y="1818544"/>
            <a:ext cx="1334033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+4.6%</a:t>
            </a:r>
          </a:p>
        </p:txBody>
      </p:sp>
      <p:sp>
        <p:nvSpPr>
          <p:cNvPr id="104" name="Label_QD"/>
          <p:cNvSpPr/>
          <p:nvPr/>
        </p:nvSpPr>
        <p:spPr>
          <a:xfrm>
            <a:off x="190500" y="2213763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3608984" y="2879313"/>
            <a:ext cx="1329410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-54.3%</a:t>
            </a:r>
          </a:p>
        </p:txBody>
      </p:sp>
      <p:sp>
        <p:nvSpPr>
          <p:cNvPr id="108" name="Ann_QD"/>
          <p:cNvSpPr/>
          <p:nvPr/>
        </p:nvSpPr>
        <p:spPr>
          <a:xfrm>
            <a:off x="3608984" y="303888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-0.5%</a:t>
            </a: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913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499281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3485413" y="4691704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-47.0%</a:t>
            </a:r>
          </a:p>
        </p:txBody>
      </p:sp>
      <p:sp>
        <p:nvSpPr>
          <p:cNvPr id="117" name="Ann_PH"/>
          <p:cNvSpPr/>
          <p:nvPr/>
        </p:nvSpPr>
        <p:spPr>
          <a:xfrm>
            <a:off x="3485413" y="5550191"/>
            <a:ext cx="1266291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+23.1%</a:t>
            </a: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3629126" y="1177380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+3.0%</a:t>
            </a: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3608984" y="321115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+38.7%</a:t>
            </a:r>
          </a:p>
        </p:txBody>
      </p:sp>
      <p:sp>
        <p:nvSpPr>
          <p:cNvPr id="11" name="Ann_PH"/>
          <p:cNvSpPr/>
          <p:nvPr/>
        </p:nvSpPr>
        <p:spPr>
          <a:xfrm>
            <a:off x="3485413" y="4851400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-14.8%</a:t>
            </a: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  <p:sp>
        <p:nvSpPr>
          <p:cNvPr id="122" name="Ann_YY"/>
          <p:cNvSpPr/>
          <p:nvPr/>
        </p:nvSpPr>
        <p:spPr>
          <a:xfrm>
            <a:off x="3629126" y="1334893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+21.5%</a:t>
            </a:r>
          </a:p>
        </p:txBody>
      </p:sp>
      <p:sp>
        <p:nvSpPr>
          <p:cNvPr id="123" name="Ann_YY"/>
          <p:cNvSpPr/>
          <p:nvPr/>
        </p:nvSpPr>
        <p:spPr>
          <a:xfrm>
            <a:off x="3629126" y="1492405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-17.3%</a:t>
            </a:r>
          </a:p>
        </p:txBody>
      </p:sp>
      <p:sp>
        <p:nvSpPr>
          <p:cNvPr id="124" name="Ann_YY"/>
          <p:cNvSpPr/>
          <p:nvPr/>
        </p:nvSpPr>
        <p:spPr>
          <a:xfrm>
            <a:off x="3629126" y="1649918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+44.5%</a:t>
            </a:r>
          </a:p>
        </p:txBody>
      </p:sp>
      <p:sp>
        <p:nvSpPr>
          <p:cNvPr id="125" name="Ann_QD"/>
          <p:cNvSpPr/>
          <p:nvPr/>
        </p:nvSpPr>
        <p:spPr>
          <a:xfrm>
            <a:off x="3608984" y="338342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-24.4%</a:t>
            </a:r>
          </a:p>
        </p:txBody>
      </p:sp>
      <p:sp>
        <p:nvSpPr>
          <p:cNvPr id="126" name="Ann_QD"/>
          <p:cNvSpPr/>
          <p:nvPr/>
        </p:nvSpPr>
        <p:spPr>
          <a:xfrm>
            <a:off x="3608984" y="355569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+34.4%</a:t>
            </a:r>
          </a:p>
        </p:txBody>
      </p:sp>
      <p:sp>
        <p:nvSpPr>
          <p:cNvPr id="127" name="Ann_QD"/>
          <p:cNvSpPr/>
          <p:nvPr/>
        </p:nvSpPr>
        <p:spPr>
          <a:xfrm>
            <a:off x="3608984" y="372796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+27.6%</a:t>
            </a:r>
          </a:p>
        </p:txBody>
      </p:sp>
      <p:sp>
        <p:nvSpPr>
          <p:cNvPr id="128" name="Ann_PH"/>
          <p:cNvSpPr/>
          <p:nvPr/>
        </p:nvSpPr>
        <p:spPr>
          <a:xfrm>
            <a:off x="3485413" y="5011096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-20.1%</a:t>
            </a:r>
          </a:p>
        </p:txBody>
      </p:sp>
      <p:sp>
        <p:nvSpPr>
          <p:cNvPr id="129" name="Ann_PH"/>
          <p:cNvSpPr/>
          <p:nvPr/>
        </p:nvSpPr>
        <p:spPr>
          <a:xfrm>
            <a:off x="3485413" y="5170792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+6.3%</a:t>
            </a:r>
          </a:p>
        </p:txBody>
      </p:sp>
      <p:sp>
        <p:nvSpPr>
          <p:cNvPr id="130" name="Ann_PH"/>
          <p:cNvSpPr/>
          <p:nvPr/>
        </p:nvSpPr>
        <p:spPr>
          <a:xfrm>
            <a:off x="3485413" y="5330488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-40.3%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511.6M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1012件  |  达成率52.4%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52.4%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目标976M  |  缺口464M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78.0M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未批核160件|  件均48.8万</a:t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6.7M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待签19件  |  件均35.0万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 TOP10 产品累计签单 130.8M（163 件），集中度高。头部产品「万年青·卓金保险计划II」贡献 27.2M/45 件，件均 60.4 万。中小额产品虽件数占比大，但单均偏低，需关注大单产品的持续性供给。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27.18M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60.4万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18.19M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101.0万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16.77M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129.0万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15.24M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46.2万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11.70M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146.2万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11.68M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146.0万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9.75M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7.04M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43.9万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万年青·星河传承保险计划II（2年）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6.24M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130.8M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万年青·星河传承保险计划II（5年）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41.4万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325.0万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Apr-26 批核APE（M）</a:t>
            </a:r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May-26 批核APE（M）</a:t>
            </a:r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Jun-26 批核APE（M）</a:t>
            </a:r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39.50M</a:t>
            </a:r>
          </a:p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39.50M</a:t>
            </a:r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22.24M</a:t>
            </a:r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27.30M</a:t>
            </a:r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26.16M</a:t>
            </a:r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11.33M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15.18M</a:t>
            </a:r>
          </a:p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12.81M</a:t>
            </a:r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14.96M</a:t>
            </a:r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23.49M</a:t>
            </a:r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14.89M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0.48M</a:t>
            </a:r>
          </a:p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0.48M</a:t>
            </a:r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0.09M</a:t>
            </a:r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1.01M</a:t>
            </a:r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r>
              <a:rPr lang="en-US" sz="850" dirty="0"/>
              <a:t>55.16M</a:t>
            </a:r>
          </a:p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55.16M</a:t>
            </a:r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35.15M</a:t>
            </a:r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42.25M</a:t>
            </a:r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50.66M</a:t>
            </a:r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26.23M</a:t>
            </a:r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>
            <a:r>
              <a:rPr lang="en-US" sz="850" dirty="0"/>
              <a:t>27.22M</a:t>
            </a:r>
          </a:p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27.22M</a:t>
            </a:r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21.70M</a:t>
            </a:r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6.24M</a:t>
            </a:r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27.38M</a:t>
            </a:r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7.02M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0.08M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6.24M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Jul-26 批核APE（M）</a:t>
            </a:r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12.29M</a:t>
            </a:r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0.08M</a:t>
            </a:r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27.54M</a:t>
            </a:r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1.56M</a:t>
            </a:r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</a:p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2111781" y="4872019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r>
              <a:t>MGA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54.4%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508M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04452" y="1295574"/>
            <a:ext cx="442955" cy="442955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1883029" y="175352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BK</a:t>
            </a:r>
          </a:p>
        </p:txBody>
      </p:sp>
      <p:sp>
        <p:nvSpPr>
          <p:cNvPr id="70" name="Shape 67"/>
          <p:cNvSpPr/>
          <p:nvPr/>
        </p:nvSpPr>
        <p:spPr>
          <a:xfrm>
            <a:off x="3151762" y="3797499"/>
            <a:ext cx="580637" cy="580637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3099180" y="4393135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永明经代</a:t>
            </a:r>
          </a:p>
        </p:txBody>
      </p:sp>
      <p:sp>
        <p:nvSpPr>
          <p:cNvPr id="72" name="Shape 69"/>
          <p:cNvSpPr/>
          <p:nvPr/>
        </p:nvSpPr>
        <p:spPr>
          <a:xfrm>
            <a:off x="1647817" y="2658541"/>
            <a:ext cx="461281" cy="461281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535557" y="3134821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同行经代</a:t>
            </a:r>
          </a:p>
        </p:txBody>
      </p:sp>
      <p:sp>
        <p:nvSpPr>
          <p:cNvPr id="74" name="Shape 71"/>
          <p:cNvSpPr/>
          <p:nvPr/>
        </p:nvSpPr>
        <p:spPr>
          <a:xfrm>
            <a:off x="1945706" y="4418189"/>
            <a:ext cx="438830" cy="438830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天领</a:t>
            </a:r>
          </a:p>
        </p:txBody>
      </p:sp>
      <p:sp>
        <p:nvSpPr>
          <p:cNvPr id="76" name="Shape 73"/>
          <p:cNvSpPr/>
          <p:nvPr/>
        </p:nvSpPr>
        <p:spPr>
          <a:xfrm>
            <a:off x="841381" y="4251427"/>
            <a:ext cx="197803" cy="19780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597382" y="446422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ICLUB</a:t>
            </a:r>
          </a:p>
        </p:txBody>
      </p:sp>
      <p:sp>
        <p:nvSpPr>
          <p:cNvPr id="78" name="Shape 75"/>
          <p:cNvSpPr/>
          <p:nvPr/>
        </p:nvSpPr>
        <p:spPr>
          <a:xfrm>
            <a:off x="968896" y="5619336"/>
            <a:ext cx="255499" cy="255499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753745" y="588983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成事家办</a:t>
            </a:r>
          </a:p>
        </p:txBody>
      </p:sp>
      <p:sp>
        <p:nvSpPr>
          <p:cNvPr id="80" name="Shape 77"/>
          <p:cNvSpPr/>
          <p:nvPr/>
        </p:nvSpPr>
        <p:spPr>
          <a:xfrm>
            <a:off x="1003353" y="5870432"/>
            <a:ext cx="238704" cy="238704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779805" y="569084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合伙转介</a:t>
            </a:r>
          </a:p>
        </p:txBody>
      </p:sp>
      <p:sp>
        <p:nvSpPr>
          <p:cNvPr id="82" name="Shape 79"/>
          <p:cNvSpPr/>
          <p:nvPr/>
        </p:nvSpPr>
        <p:spPr>
          <a:xfrm>
            <a:off x="644891" y="6010198"/>
            <a:ext cx="121697" cy="121697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62839" y="583060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IFA</a:t>
            </a:r>
          </a:p>
        </p:txBody>
      </p:sp>
      <p:sp>
        <p:nvSpPr>
          <p:cNvPr id="84" name="Shape 81"/>
          <p:cNvSpPr/>
          <p:nvPr/>
        </p:nvSpPr>
        <p:spPr>
          <a:xfrm>
            <a:off x="493449" y="1295574"/>
            <a:ext cx="326941" cy="326941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BK业务达成率 113.8% 领跑全渠道，是唯一接近达标的渠道。天领业务规模较大（批核 64.5M）但达成率仅 33.4%，是最大战略风险点。IFA业务达成率仅 0.0%，需重点关注。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54.4%  |  剩余缺口 508M  |  需 6 个月完成 45.6%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BK业务贡献最大批核（227.6M）。已批核 + 在途合计 728.5M，距目标 1113M 仍差 384M。若未批核 107.3M 与待签 16.0M 快速推进，可直接拉升年度达成。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  <p:txBody>
          <a:bodyPr/>
          <a:p/>
        </p:txBody>
      </p:sp>
      <p:sp>
        <p:nvSpPr>
          <p:cNvPr id="146" name="Shape 102"/>
          <p:cNvSpPr/>
          <p:nvPr/>
        </p:nvSpPr>
        <p:spPr>
          <a:xfrm>
            <a:off x="4563110" y="1554480"/>
            <a:ext cx="241200" cy="83251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47" name="Text 103"/>
          <p:cNvSpPr/>
          <p:nvPr/>
        </p:nvSpPr>
        <p:spPr>
          <a:xfrm>
            <a:off x="4480433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−228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386997"/>
            <a:ext cx="241200" cy="553024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1" name="Text 107"/>
          <p:cNvSpPr/>
          <p:nvPr/>
        </p:nvSpPr>
        <p:spPr>
          <a:xfrm>
            <a:off x="4785106" y="216411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−151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940021"/>
            <a:ext cx="241200" cy="401976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  <p:txBody>
          <a:bodyPr/>
          <a:p/>
        </p:txBody>
      </p:sp>
      <p:sp>
        <p:nvSpPr>
          <p:cNvPr id="155" name="Shape 114"/>
          <p:cNvSpPr/>
          <p:nvPr/>
        </p:nvSpPr>
        <p:spPr>
          <a:xfrm>
            <a:off x="6605905" y="3767784"/>
            <a:ext cx="244475" cy="392613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6" name="Text 115"/>
          <p:cNvSpPr/>
          <p:nvPr/>
        </p:nvSpPr>
        <p:spPr>
          <a:xfrm>
            <a:off x="6517767" y="2627579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−107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4160398"/>
            <a:ext cx="241300" cy="587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3273425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−4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4219098"/>
            <a:ext cx="238760" cy="1405985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63" name="Text 122"/>
          <p:cNvSpPr/>
          <p:nvPr/>
        </p:nvSpPr>
        <p:spPr>
          <a:xfrm>
            <a:off x="7118223" y="4426671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384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717141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−110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3341998"/>
            <a:ext cx="241200" cy="235714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  <p:txBody>
          <a:bodyPr/>
          <a:p/>
        </p:txBody>
      </p:sp>
      <p:sp>
        <p:nvSpPr>
          <p:cNvPr id="171" name="Text_314"/>
          <p:cNvSpPr/>
          <p:nvPr/>
        </p:nvSpPr>
        <p:spPr>
          <a:xfrm>
            <a:off x="5525135" y="3119118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−64</a:t>
            </a:r>
            <a:r>
              <a:rPr lang="en-US" altLang="zh-CN" sz="750" b="1" dirty="0">
                <a:solidFill>
                  <a:srgbClr val="5295C3"/>
                </a:solidFill>
                <a:cs typeface="+mn-lt"/>
              </a:rPr>
              <a:t/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3577712"/>
            <a:ext cx="241300" cy="74609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  <p:txBody>
          <a:bodyPr/>
          <a:p/>
        </p:txBody>
      </p:sp>
      <p:sp>
        <p:nvSpPr>
          <p:cNvPr id="173" name="Text_314"/>
          <p:cNvSpPr/>
          <p:nvPr/>
        </p:nvSpPr>
        <p:spPr>
          <a:xfrm>
            <a:off x="5805805" y="3354832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−20</a:t>
            </a:r>
            <a:r>
              <a:rPr lang="en-US" altLang="zh-CN" sz="750" b="1" dirty="0">
                <a:solidFill>
                  <a:srgbClr val="7030A0"/>
                </a:solidFill>
                <a:cs typeface="+mn-lt"/>
              </a:rPr>
              <a:t/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3680556"/>
            <a:ext cx="241300" cy="163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356985" y="3457676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−4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/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3652322"/>
            <a:ext cx="241300" cy="28234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  <p:txBody>
          <a:bodyPr/>
          <a:p/>
        </p:txBody>
      </p:sp>
      <p:sp>
        <p:nvSpPr>
          <p:cNvPr id="183" name="Text_314"/>
          <p:cNvSpPr/>
          <p:nvPr/>
        </p:nvSpPr>
        <p:spPr>
          <a:xfrm>
            <a:off x="6128385" y="3429442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−8</a:t>
            </a:r>
            <a:r>
              <a:rPr lang="en-US" sz="750" b="1" dirty="0">
                <a:solidFill>
                  <a:srgbClr val="C00000"/>
                </a:solidFill>
                <a:cs typeface="+mn-lt"/>
              </a:rPr>
              <a:t/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p/>
        </p:txBody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  业务线月度三线趋势 — 预约 / 签单 / 批核（APE in M，Jan–Jul 2026）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/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/>
          <a:p/>
        </p:txBody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  <p:txBody>
          <a:bodyPr/>
          <a:p/>
        </p:txBody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6" name="s9040"/>
          <p:cNvSpPr/>
          <p:nvPr/>
        </p:nvSpPr>
        <p:spPr>
          <a:xfrm>
            <a:off x="9900448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MGA业务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41"/>
          <p:cNvGraphicFramePr>
            <a:graphicFrameLocks noGrp="1"/>
          </p:cNvGraphicFramePr>
          <p:nvPr/>
        </p:nvGraphicFramePr>
        <p:xfrm>
          <a:off x="9891308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永明经代：3 月签单 27.6M 居首，前端动能最强。BK业务：2 月批核峰 93.9M 为存量集中放款。各业务线节奏分化明显，需按渠道特征差异化管理。</a:t>
            </a:r>
            <a:endParaRPr lang="en-US" sz="550" dirty="0"/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83" name="Text 82"/>
          <p:cNvSpPr/>
          <p:nvPr/>
        </p:nvSpPr>
        <p:spPr>
          <a:xfrm>
            <a:off x="314019" y="1637514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MGA</a:t>
            </a:r>
          </a:p>
        </p:txBody>
      </p:sp>
      <p:sp>
        <p:nvSpPr>
          <p:cNvPr id="177" name="Shape_315"/>
          <p:cNvSpPr/>
          <p:nvPr/>
        </p:nvSpPr>
        <p:spPr>
          <a:xfrm>
            <a:off x="6626860" y="3696905"/>
            <a:ext cx="241300" cy="7087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646545" y="3474025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−19</a:t>
            </a:r>
            <a:r>
              <a:rPr lang="en-US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/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1822221" y="487201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b="1" sz="650">
                <a:latin typeface="Calibri"/>
              </a:rPr>
              <a:t>天领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720" y="382222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46666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256.2M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16456" y="4355808"/>
            <a:ext cx="98259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3916" y="4355808"/>
            <a:ext cx="44865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98368" y="4346664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227.6▌28.6▌0.0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9720" y="5305552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173.2M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16456" y="5344696"/>
            <a:ext cx="921372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92692" y="5344696"/>
            <a:ext cx="439744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98368" y="5335552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151.2▌19.2▌2.8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9720" y="2338888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488888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129.2M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616456" y="2378032"/>
            <a:ext cx="101708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88406" y="2378032"/>
            <a:ext cx="349992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8368" y="2368888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109.9▌15.7▌3.6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9720" y="431666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79.4M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64.5▌14.5▌0.4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9720" y="184444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1994444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20.4M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616456" y="1883588"/>
            <a:ext cx="1475834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98368" y="1874444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20.4▌0.0▌0.0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99720" y="2833332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477776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8.7M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16456" y="2872476"/>
            <a:ext cx="996835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68155" y="2872476"/>
            <a:ext cx="356255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8368" y="2863332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7.7▌0.9▌0.0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合伙转介业务未批核占比最高（50%），金额达 4.4M，催核优先级最高。其余业务线管道分布相对均衡，需按未批核规模排序推进。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605.2M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  83.1%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1157件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378032"/>
            <a:ext cx="131673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83.1%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  14.7%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378032"/>
            <a:ext cx="131673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14.7%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   2.2%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728.6M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378032"/>
            <a:ext cx="1316736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2.2%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管道总值 728.5M 中，批核占 83.1%（605.2M）。剩余 123.4M（未批 107.3M + 待签 16.0M）若转化可直接推高达成率 11+。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BK业务批核 227.6M 已达目标 200M 的 113.8%，是唯一接近达标的业务线。永明经代目标最大（340M）但实际仅 151.2M，缺口 189M 为最大绝对值，是最大战略风险点。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4" name="Text 71"/>
          <p:cNvSpPr/>
          <p:nvPr/>
        </p:nvSpPr>
        <p:spPr>
          <a:xfrm>
            <a:off x="299720" y="3327776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7222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8.9M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48" name="Text 75"/>
          <p:cNvSpPr/>
          <p:nvPr/>
        </p:nvSpPr>
        <p:spPr>
          <a:xfrm>
            <a:off x="1616456" y="3861364"/>
            <a:ext cx="404338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0" name="Text 77"/>
          <p:cNvSpPr/>
          <p:nvPr/>
        </p:nvSpPr>
        <p:spPr>
          <a:xfrm>
            <a:off x="2075658" y="3861364"/>
            <a:ext cx="1038612" cy="1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2" name="Text 79"/>
          <p:cNvSpPr/>
          <p:nvPr/>
        </p:nvSpPr>
        <p:spPr>
          <a:xfrm>
            <a:off x="3198368" y="3852220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4.5▌4.4▌0.0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155" name="Text 81"/>
          <p:cNvSpPr/>
          <p:nvPr/>
        </p:nvSpPr>
        <p:spPr>
          <a:xfrm>
            <a:off x="299720" y="135000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500000"/>
            <a:ext cx="1243584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8" name="Text 84"/>
          <p:cNvSpPr/>
          <p:nvPr/>
        </p:nvSpPr>
        <p:spPr>
          <a:xfrm>
            <a:off x="3198368" y="1380000"/>
            <a:ext cx="749808" cy="1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  <p:sp>
        <p:nvSpPr>
          <p:cNvPr id="401" name="Text_MGA"/>
          <p:cNvSpPr txBox="1"/>
          <p:nvPr/>
        </p:nvSpPr>
        <p:spPr>
          <a:xfrm>
            <a:off x="299720" y="4811108"/>
            <a:ext cx="1243584" cy="1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MGA业务</a:t>
            </a:r>
          </a:p>
        </p:txBody>
      </p:sp>
      <p:sp>
        <p:nvSpPr>
          <p:cNvPr id="402" name="Text_MGA_total"/>
          <p:cNvSpPr txBox="1"/>
          <p:nvPr/>
        </p:nvSpPr>
        <p:spPr>
          <a:xfrm>
            <a:off x="299720" y="4961108"/>
            <a:ext cx="1243584" cy="1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合计 52.6M</a:t>
            </a:r>
          </a:p>
        </p:txBody>
      </p:sp>
      <p:sp>
        <p:nvSpPr>
          <p:cNvPr id="403" name="Text_MGA_pct1"/>
          <p:cNvSpPr txBox="1"/>
          <p:nvPr/>
        </p:nvSpPr>
        <p:spPr>
          <a:xfrm>
            <a:off x="1616456" y="4850252"/>
            <a:ext cx="500000" cy="14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A6B3A"/>
                </a:solidFill>
                <a:latin typeface="Calibri"/>
              </a:rPr>
              <a:t>37%</a:t>
            </a:r>
          </a:p>
        </p:txBody>
      </p:sp>
      <p:sp>
        <p:nvSpPr>
          <p:cNvPr id="404" name="Text_MGA_pct2"/>
          <p:cNvSpPr txBox="1"/>
          <p:nvPr/>
        </p:nvSpPr>
        <p:spPr>
          <a:xfrm>
            <a:off x="2653916" y="4850252"/>
            <a:ext cx="500000" cy="14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C8890A"/>
                </a:solidFill>
                <a:latin typeface="Calibri"/>
              </a:rPr>
              <a:t>46%</a:t>
            </a:r>
          </a:p>
        </p:txBody>
      </p:sp>
      <p:sp>
        <p:nvSpPr>
          <p:cNvPr id="405" name="Text_MGA_stack"/>
          <p:cNvSpPr txBox="1"/>
          <p:nvPr/>
        </p:nvSpPr>
        <p:spPr>
          <a:xfrm>
            <a:off x="3198368" y="4841108"/>
            <a:ext cx="1500000" cy="15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Calibri"/>
              </a:rPr>
              <a:t>19.4▌24.0▌9.2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440.9M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1114件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425.8M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1077件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424.6M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1064件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602.0M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1156件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 累计 602.0M 显著高于预约 440.9M，反映跨周积压存量消化效应。签单累计 425.8M，递交→批核转化效率较高。W07 预约低点 2.7M 需关注执行节奏。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W21 签单峰 32.8M 为阶段高点；W08 批核峰 67.0M 为存量集中消化；W05 预约峰 28.2M 显示前端动能。周度节奏呈脉冲式特征，需关注执行连续性。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W28（2026）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20.3M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环比-11.0%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21.0M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环比+93.3%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6.9M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环比-60.7%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107.3M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16.1M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W28 预约 20.3M/51件；签单 21.0M/43件；批核 6.9M/29件。未批核 107.3M（235件）是 Q2 批核的核心转化储量。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16.9M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204.4M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194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42.7M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1.7M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53.4M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p/>
        </p:txBody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11.7M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51.8M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39.4M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119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5.8M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47.0M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137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34.9M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40.4M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28.3M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4.5M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33.1M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利泰丰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27.8M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27.2M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2.4M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29.8M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万森保险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25.9M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3.0M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28.9M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天誉国际(MGA)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MGA业务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19.4M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24.0M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65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52.6M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473.2M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845件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82.7M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181件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14.5M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570.4M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1065件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 累计批核 1030.6M（占全业务 170.3%），高度集中。 以 576.8M 独占 95.3%，是最核心的单一客户，亦是最大集中风险点。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30225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191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50" dirty="0"/>
          </a:p>
        </p:txBody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145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</a:t>
            </a:r>
            <a:endParaRPr lang="en-US" sz="850" dirty="0"/>
          </a:p>
        </p:txBody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219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104</a:t>
            </a:r>
            <a:endParaRPr lang="en-US" sz="850" dirty="0"/>
          </a:p>
        </p:txBody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400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185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MGA业务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BK业务件均 APE 最高（116万）且平均时效 71.8 天（P90=145 天），是唯一超 SLA=60 天渠道，大额件审核慢是主要风险。MGA业务均值 18.3 天效率最优。整体均值 30 天，P90=72 天。BK业务 平均时效超 60 天 SLA。</a:t>
            </a:r>
            <a:endParaRPr lang="en-US" sz="5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预约总量 388.3M/948件。永明经代领跑，累计 125.3M/355件，占比 32%。W05 单周峰值 28.2M/32件，是本季度最高单周贡献。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签单总量 382.5M/932件。永明经代领跑，累计 122.5M/349件，占比 32%。W05 单周峰值 31.3M/36件，是本季度最高单周贡献。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批核总量 582.7M/1076件。BK业务领跑，累计 224.5M/195件，占比 39%。W08 单周峰值 67.0M/61件，是本季度最高单周贡献。</a:t>
            </a:r>
            <a:endParaRPr lang="en-US" sz="550" dirty="0"/>
          </a:p>
        </p:txBody>
      </p:sp>
      <p:sp>
        <p:nvSpPr>
          <p:cNvPr id="905" name="T6262"/>
          <p:cNvSpPr/>
          <p:nvPr/>
        </p:nvSpPr>
        <p:spPr>
          <a:xfrm>
            <a:off x="57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29件</a:t>
            </a:r>
            <a:endParaRPr lang="zh-CN" sz="500" dirty="0"/>
          </a:p>
        </p:txBody>
      </p:sp>
      <p:sp>
        <p:nvSpPr>
          <p:cNvPr id="906" name="Rectangle 905"/>
          <p:cNvSpPr/>
          <p:nvPr/>
        </p:nvSpPr>
        <p:spPr>
          <a:xfrm>
            <a:off x="182880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262880" y="5600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Q  周度预约业绩热力矩阵（APE in M）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86288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121012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155737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190462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225187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259912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294637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329362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364087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3988121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433537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468261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502986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537711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572436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202880" y="1016032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924" name="Rectangle 923"/>
          <p:cNvSpPr/>
          <p:nvPr/>
        </p:nvSpPr>
        <p:spPr>
          <a:xfrm>
            <a:off x="1216129" y="1022032"/>
            <a:ext cx="335249" cy="250996"/>
          </a:xfrm>
          <a:prstGeom prst="rect">
            <a:avLst/>
          </a:prstGeom>
          <a:solidFill>
            <a:srgbClr val="2980B9">
              <a:alpha val="512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TextBox 924"/>
          <p:cNvSpPr txBox="1"/>
          <p:nvPr/>
        </p:nvSpPr>
        <p:spPr>
          <a:xfrm>
            <a:off x="1210129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3.2M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1210129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12件</a:t>
            </a:r>
          </a:p>
        </p:txBody>
      </p:sp>
      <p:sp>
        <p:nvSpPr>
          <p:cNvPr id="927" name="Rectangle 926"/>
          <p:cNvSpPr/>
          <p:nvPr/>
        </p:nvSpPr>
        <p:spPr>
          <a:xfrm>
            <a:off x="1563378" y="1022032"/>
            <a:ext cx="335249" cy="250996"/>
          </a:xfrm>
          <a:prstGeom prst="rect">
            <a:avLst/>
          </a:prstGeom>
          <a:solidFill>
            <a:srgbClr val="2980B9">
              <a:alpha val="608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155737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4.4M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1557378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930" name="Rectangle 929"/>
          <p:cNvSpPr/>
          <p:nvPr/>
        </p:nvSpPr>
        <p:spPr>
          <a:xfrm>
            <a:off x="1910627" y="1022032"/>
            <a:ext cx="335249" cy="250996"/>
          </a:xfrm>
          <a:prstGeom prst="rect">
            <a:avLst/>
          </a:prstGeom>
          <a:solidFill>
            <a:srgbClr val="2980B9">
              <a:alpha val="307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TextBox 930"/>
          <p:cNvSpPr txBox="1"/>
          <p:nvPr/>
        </p:nvSpPr>
        <p:spPr>
          <a:xfrm>
            <a:off x="190462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0.7M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1904627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933" name="Rectangle 932"/>
          <p:cNvSpPr/>
          <p:nvPr/>
        </p:nvSpPr>
        <p:spPr>
          <a:xfrm>
            <a:off x="2257876" y="1022032"/>
            <a:ext cx="335249" cy="250996"/>
          </a:xfrm>
          <a:prstGeom prst="rect">
            <a:avLst/>
          </a:prstGeom>
          <a:solidFill>
            <a:srgbClr val="2980B9">
              <a:alpha val="372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225187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1.5M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2251876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19件</a:t>
            </a:r>
          </a:p>
        </p:txBody>
      </p:sp>
      <p:sp>
        <p:nvSpPr>
          <p:cNvPr id="936" name="Rectangle 935"/>
          <p:cNvSpPr/>
          <p:nvPr/>
        </p:nvSpPr>
        <p:spPr>
          <a:xfrm>
            <a:off x="2605125" y="1022032"/>
            <a:ext cx="335249" cy="250996"/>
          </a:xfrm>
          <a:prstGeom prst="rect">
            <a:avLst/>
          </a:prstGeom>
          <a:solidFill>
            <a:srgbClr val="2980B9">
              <a:alpha val="830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TextBox 936"/>
          <p:cNvSpPr txBox="1"/>
          <p:nvPr/>
        </p:nvSpPr>
        <p:spPr>
          <a:xfrm>
            <a:off x="2599125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7.0M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2599125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939" name="Rectangle 938"/>
          <p:cNvSpPr/>
          <p:nvPr/>
        </p:nvSpPr>
        <p:spPr>
          <a:xfrm>
            <a:off x="2952374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2946374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9.1M</a:t>
            </a:r>
          </a:p>
        </p:txBody>
      </p:sp>
      <p:sp>
        <p:nvSpPr>
          <p:cNvPr id="941" name="TextBox 940"/>
          <p:cNvSpPr txBox="1"/>
          <p:nvPr/>
        </p:nvSpPr>
        <p:spPr>
          <a:xfrm>
            <a:off x="2946374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942" name="Rectangle 941"/>
          <p:cNvSpPr/>
          <p:nvPr/>
        </p:nvSpPr>
        <p:spPr>
          <a:xfrm>
            <a:off x="3299623" y="1022032"/>
            <a:ext cx="335249" cy="250996"/>
          </a:xfrm>
          <a:prstGeom prst="rect">
            <a:avLst/>
          </a:prstGeom>
          <a:solidFill>
            <a:srgbClr val="2980B9">
              <a:alpha val="461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329362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2.6M</a:t>
            </a:r>
          </a:p>
        </p:txBody>
      </p:sp>
      <p:sp>
        <p:nvSpPr>
          <p:cNvPr id="944" name="TextBox 943"/>
          <p:cNvSpPr txBox="1"/>
          <p:nvPr/>
        </p:nvSpPr>
        <p:spPr>
          <a:xfrm>
            <a:off x="3293623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12件</a:t>
            </a:r>
          </a:p>
        </p:txBody>
      </p:sp>
      <p:sp>
        <p:nvSpPr>
          <p:cNvPr id="945" name="Rectangle 944"/>
          <p:cNvSpPr/>
          <p:nvPr/>
        </p:nvSpPr>
        <p:spPr>
          <a:xfrm>
            <a:off x="3646872" y="1022032"/>
            <a:ext cx="335249" cy="250996"/>
          </a:xfrm>
          <a:prstGeom prst="rect">
            <a:avLst/>
          </a:prstGeom>
          <a:solidFill>
            <a:srgbClr val="2980B9">
              <a:alpha val="355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4087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1.3M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3640872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948" name="Rectangle 947"/>
          <p:cNvSpPr/>
          <p:nvPr/>
        </p:nvSpPr>
        <p:spPr>
          <a:xfrm>
            <a:off x="3994121" y="1022032"/>
            <a:ext cx="335249" cy="250996"/>
          </a:xfrm>
          <a:prstGeom prst="rect">
            <a:avLst/>
          </a:prstGeom>
          <a:solidFill>
            <a:srgbClr val="2980B9">
              <a:alpha val="346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3988121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1.2M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3988121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951" name="Rectangle 950"/>
          <p:cNvSpPr/>
          <p:nvPr/>
        </p:nvSpPr>
        <p:spPr>
          <a:xfrm>
            <a:off x="4341370" y="1022032"/>
            <a:ext cx="335249" cy="250996"/>
          </a:xfrm>
          <a:prstGeom prst="rect">
            <a:avLst/>
          </a:prstGeom>
          <a:solidFill>
            <a:srgbClr val="2980B9">
              <a:alpha val="311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4335370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0.7M</a:t>
            </a:r>
          </a:p>
        </p:txBody>
      </p:sp>
      <p:sp>
        <p:nvSpPr>
          <p:cNvPr id="953" name="TextBox 952"/>
          <p:cNvSpPr txBox="1"/>
          <p:nvPr/>
        </p:nvSpPr>
        <p:spPr>
          <a:xfrm>
            <a:off x="4335370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3件</a:t>
            </a:r>
          </a:p>
        </p:txBody>
      </p:sp>
      <p:sp>
        <p:nvSpPr>
          <p:cNvPr id="954" name="Rectangle 953"/>
          <p:cNvSpPr/>
          <p:nvPr/>
        </p:nvSpPr>
        <p:spPr>
          <a:xfrm>
            <a:off x="4688619" y="1022032"/>
            <a:ext cx="335249" cy="250996"/>
          </a:xfrm>
          <a:prstGeom prst="rect">
            <a:avLst/>
          </a:prstGeom>
          <a:solidFill>
            <a:srgbClr val="2980B9">
              <a:alpha val="518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4682619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3.3M</a:t>
            </a:r>
          </a:p>
        </p:txBody>
      </p:sp>
      <p:sp>
        <p:nvSpPr>
          <p:cNvPr id="956" name="TextBox 955"/>
          <p:cNvSpPr txBox="1"/>
          <p:nvPr/>
        </p:nvSpPr>
        <p:spPr>
          <a:xfrm>
            <a:off x="4682619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9件</a:t>
            </a:r>
          </a:p>
        </p:txBody>
      </p:sp>
      <p:sp>
        <p:nvSpPr>
          <p:cNvPr id="957" name="Rectangle 956"/>
          <p:cNvSpPr/>
          <p:nvPr/>
        </p:nvSpPr>
        <p:spPr>
          <a:xfrm>
            <a:off x="5035868" y="1022032"/>
            <a:ext cx="335249" cy="250996"/>
          </a:xfrm>
          <a:prstGeom prst="rect">
            <a:avLst/>
          </a:prstGeom>
          <a:solidFill>
            <a:srgbClr val="2980B9">
              <a:alpha val="31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TextBox 957"/>
          <p:cNvSpPr txBox="1"/>
          <p:nvPr/>
        </p:nvSpPr>
        <p:spPr>
          <a:xfrm>
            <a:off x="502986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0.8M</a:t>
            </a:r>
          </a:p>
        </p:txBody>
      </p:sp>
      <p:sp>
        <p:nvSpPr>
          <p:cNvPr id="959" name="TextBox 958"/>
          <p:cNvSpPr txBox="1"/>
          <p:nvPr/>
        </p:nvSpPr>
        <p:spPr>
          <a:xfrm>
            <a:off x="5029868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960" name="Rectangle 959"/>
          <p:cNvSpPr/>
          <p:nvPr/>
        </p:nvSpPr>
        <p:spPr>
          <a:xfrm>
            <a:off x="5383117" y="1022032"/>
            <a:ext cx="335249" cy="250996"/>
          </a:xfrm>
          <a:prstGeom prst="rect">
            <a:avLst/>
          </a:prstGeom>
          <a:solidFill>
            <a:srgbClr val="2980B9">
              <a:alpha val="701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537711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5.5M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5377117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963" name="Rectangle 962"/>
          <p:cNvSpPr/>
          <p:nvPr/>
        </p:nvSpPr>
        <p:spPr>
          <a:xfrm>
            <a:off x="5730366" y="1022032"/>
            <a:ext cx="335249" cy="250996"/>
          </a:xfrm>
          <a:prstGeom prst="rect">
            <a:avLst/>
          </a:prstGeom>
          <a:solidFill>
            <a:srgbClr val="2980B9">
              <a:alpha val="3207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TextBox 963"/>
          <p:cNvSpPr txBox="1"/>
          <p:nvPr/>
        </p:nvSpPr>
        <p:spPr>
          <a:xfrm>
            <a:off x="572436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0.9M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5724366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966" name="TextBox 965"/>
          <p:cNvSpPr txBox="1"/>
          <p:nvPr/>
        </p:nvSpPr>
        <p:spPr>
          <a:xfrm>
            <a:off x="202880" y="1279028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967" name="Rectangle 966"/>
          <p:cNvSpPr/>
          <p:nvPr/>
        </p:nvSpPr>
        <p:spPr>
          <a:xfrm>
            <a:off x="868880" y="1285028"/>
            <a:ext cx="335249" cy="250996"/>
          </a:xfrm>
          <a:prstGeom prst="rect">
            <a:avLst/>
          </a:prstGeom>
          <a:solidFill>
            <a:srgbClr val="374151">
              <a:alpha val="4495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TextBox 967"/>
          <p:cNvSpPr txBox="1"/>
          <p:nvPr/>
        </p:nvSpPr>
        <p:spPr>
          <a:xfrm>
            <a:off x="862880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0.6M</a:t>
            </a:r>
          </a:p>
        </p:txBody>
      </p:sp>
      <p:sp>
        <p:nvSpPr>
          <p:cNvPr id="969" name="TextBox 968"/>
          <p:cNvSpPr txBox="1"/>
          <p:nvPr/>
        </p:nvSpPr>
        <p:spPr>
          <a:xfrm>
            <a:off x="862880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3件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1216129" y="1285028"/>
            <a:ext cx="335249" cy="250996"/>
          </a:xfrm>
          <a:prstGeom prst="rect">
            <a:avLst/>
          </a:prstGeom>
          <a:solidFill>
            <a:srgbClr val="374151">
              <a:alpha val="659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210129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1.2M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1210129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973" name="Rectangle 972"/>
          <p:cNvSpPr/>
          <p:nvPr/>
        </p:nvSpPr>
        <p:spPr>
          <a:xfrm>
            <a:off x="1563378" y="1285028"/>
            <a:ext cx="335249" cy="250996"/>
          </a:xfrm>
          <a:prstGeom prst="rect">
            <a:avLst/>
          </a:prstGeom>
          <a:solidFill>
            <a:srgbClr val="374151">
              <a:alpha val="523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1557378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0.8M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1557378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7件</a:t>
            </a:r>
          </a:p>
        </p:txBody>
      </p:sp>
      <p:sp>
        <p:nvSpPr>
          <p:cNvPr id="976" name="Rectangle 975"/>
          <p:cNvSpPr/>
          <p:nvPr/>
        </p:nvSpPr>
        <p:spPr>
          <a:xfrm>
            <a:off x="2605125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2599125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2.2M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2599125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979" name="Rectangle 978"/>
          <p:cNvSpPr/>
          <p:nvPr/>
        </p:nvSpPr>
        <p:spPr>
          <a:xfrm>
            <a:off x="3646872" y="1285028"/>
            <a:ext cx="335249" cy="250996"/>
          </a:xfrm>
          <a:prstGeom prst="rect">
            <a:avLst/>
          </a:prstGeom>
          <a:solidFill>
            <a:srgbClr val="374151">
              <a:alpha val="393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TextBox 979"/>
          <p:cNvSpPr txBox="1"/>
          <p:nvPr/>
        </p:nvSpPr>
        <p:spPr>
          <a:xfrm>
            <a:off x="3640872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3640872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3件</a:t>
            </a:r>
          </a:p>
        </p:txBody>
      </p:sp>
      <p:sp>
        <p:nvSpPr>
          <p:cNvPr id="982" name="Rectangle 981"/>
          <p:cNvSpPr/>
          <p:nvPr/>
        </p:nvSpPr>
        <p:spPr>
          <a:xfrm>
            <a:off x="4688619" y="1285028"/>
            <a:ext cx="335249" cy="250996"/>
          </a:xfrm>
          <a:prstGeom prst="rect">
            <a:avLst/>
          </a:prstGeom>
          <a:solidFill>
            <a:srgbClr val="374151">
              <a:alpha val="3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4682619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4682619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985" name="Rectangle 984"/>
          <p:cNvSpPr/>
          <p:nvPr/>
        </p:nvSpPr>
        <p:spPr>
          <a:xfrm>
            <a:off x="5383117" y="1285028"/>
            <a:ext cx="335249" cy="250996"/>
          </a:xfrm>
          <a:prstGeom prst="rect">
            <a:avLst/>
          </a:prstGeom>
          <a:solidFill>
            <a:srgbClr val="374151">
              <a:alpha val="32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TextBox 985"/>
          <p:cNvSpPr txBox="1"/>
          <p:nvPr/>
        </p:nvSpPr>
        <p:spPr>
          <a:xfrm>
            <a:off x="5377117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5377117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202880" y="1542024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989" name="Rectangle 988"/>
          <p:cNvSpPr/>
          <p:nvPr/>
        </p:nvSpPr>
        <p:spPr>
          <a:xfrm>
            <a:off x="868880" y="1548024"/>
            <a:ext cx="335249" cy="250996"/>
          </a:xfrm>
          <a:prstGeom prst="rect">
            <a:avLst/>
          </a:prstGeom>
          <a:solidFill>
            <a:srgbClr val="1F3864">
              <a:alpha val="967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TextBox 989"/>
          <p:cNvSpPr txBox="1"/>
          <p:nvPr/>
        </p:nvSpPr>
        <p:spPr>
          <a:xfrm>
            <a:off x="862880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5.2M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862880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992" name="Rectangle 991"/>
          <p:cNvSpPr/>
          <p:nvPr/>
        </p:nvSpPr>
        <p:spPr>
          <a:xfrm>
            <a:off x="1216129" y="1548024"/>
            <a:ext cx="335249" cy="250996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TextBox 992"/>
          <p:cNvSpPr txBox="1"/>
          <p:nvPr/>
        </p:nvSpPr>
        <p:spPr>
          <a:xfrm>
            <a:off x="1210129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0.4M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1210129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995" name="Rectangle 994"/>
          <p:cNvSpPr/>
          <p:nvPr/>
        </p:nvSpPr>
        <p:spPr>
          <a:xfrm>
            <a:off x="1563378" y="1548024"/>
            <a:ext cx="335249" cy="250996"/>
          </a:xfrm>
          <a:prstGeom prst="rect">
            <a:avLst/>
          </a:prstGeom>
          <a:solidFill>
            <a:srgbClr val="1F3864">
              <a:alpha val="485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TextBox 995"/>
          <p:cNvSpPr txBox="1"/>
          <p:nvPr/>
        </p:nvSpPr>
        <p:spPr>
          <a:xfrm>
            <a:off x="1557378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1.7M</a:t>
            </a:r>
          </a:p>
        </p:txBody>
      </p:sp>
      <p:sp>
        <p:nvSpPr>
          <p:cNvPr id="997" name="TextBox 996"/>
          <p:cNvSpPr txBox="1"/>
          <p:nvPr/>
        </p:nvSpPr>
        <p:spPr>
          <a:xfrm>
            <a:off x="1557378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4件</a:t>
            </a:r>
          </a:p>
        </p:txBody>
      </p:sp>
      <p:sp>
        <p:nvSpPr>
          <p:cNvPr id="998" name="Rectangle 997"/>
          <p:cNvSpPr/>
          <p:nvPr/>
        </p:nvSpPr>
        <p:spPr>
          <a:xfrm>
            <a:off x="1910627" y="1548024"/>
            <a:ext cx="335249" cy="250996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904627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000" name="TextBox 999"/>
          <p:cNvSpPr txBox="1"/>
          <p:nvPr/>
        </p:nvSpPr>
        <p:spPr>
          <a:xfrm>
            <a:off x="1904627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01" name="Rectangle 1000"/>
          <p:cNvSpPr/>
          <p:nvPr/>
        </p:nvSpPr>
        <p:spPr>
          <a:xfrm>
            <a:off x="2257876" y="1548024"/>
            <a:ext cx="335249" cy="250996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2251876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0.4M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2251876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04" name="Rectangle 1003"/>
          <p:cNvSpPr/>
          <p:nvPr/>
        </p:nvSpPr>
        <p:spPr>
          <a:xfrm>
            <a:off x="2605125" y="1548024"/>
            <a:ext cx="335249" cy="250996"/>
          </a:xfrm>
          <a:prstGeom prst="rect">
            <a:avLst/>
          </a:prstGeom>
          <a:solidFill>
            <a:srgbClr val="1F3864">
              <a:alpha val="3892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TextBox 1004"/>
          <p:cNvSpPr txBox="1"/>
          <p:nvPr/>
        </p:nvSpPr>
        <p:spPr>
          <a:xfrm>
            <a:off x="2599125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1.0M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2599125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007" name="Rectangle 1006"/>
          <p:cNvSpPr/>
          <p:nvPr/>
        </p:nvSpPr>
        <p:spPr>
          <a:xfrm>
            <a:off x="2952374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TextBox 1007"/>
          <p:cNvSpPr txBox="1"/>
          <p:nvPr/>
        </p:nvSpPr>
        <p:spPr>
          <a:xfrm>
            <a:off x="2946374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2946374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10" name="Rectangle 1009"/>
          <p:cNvSpPr/>
          <p:nvPr/>
        </p:nvSpPr>
        <p:spPr>
          <a:xfrm>
            <a:off x="3299623" y="1548024"/>
            <a:ext cx="335249" cy="250996"/>
          </a:xfrm>
          <a:prstGeom prst="rect">
            <a:avLst/>
          </a:prstGeom>
          <a:solidFill>
            <a:srgbClr val="1F3864">
              <a:alpha val="732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TextBox 1010"/>
          <p:cNvSpPr txBox="1"/>
          <p:nvPr/>
        </p:nvSpPr>
        <p:spPr>
          <a:xfrm>
            <a:off x="3293623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3.5M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3293623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013" name="Rectangle 1012"/>
          <p:cNvSpPr/>
          <p:nvPr/>
        </p:nvSpPr>
        <p:spPr>
          <a:xfrm>
            <a:off x="3646872" y="1548024"/>
            <a:ext cx="335249" cy="250996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3640872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3640872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16" name="Rectangle 1015"/>
          <p:cNvSpPr/>
          <p:nvPr/>
        </p:nvSpPr>
        <p:spPr>
          <a:xfrm>
            <a:off x="3994121" y="1548024"/>
            <a:ext cx="335249" cy="250996"/>
          </a:xfrm>
          <a:prstGeom prst="rect">
            <a:avLst/>
          </a:prstGeom>
          <a:solidFill>
            <a:srgbClr val="1F3864">
              <a:alpha val="7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TextBox 1016"/>
          <p:cNvSpPr txBox="1"/>
          <p:nvPr/>
        </p:nvSpPr>
        <p:spPr>
          <a:xfrm>
            <a:off x="3988121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3.4M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3988121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19" name="Rectangle 1018"/>
          <p:cNvSpPr/>
          <p:nvPr/>
        </p:nvSpPr>
        <p:spPr>
          <a:xfrm>
            <a:off x="4341370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4335370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4335370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022" name="Rectangle 1021"/>
          <p:cNvSpPr/>
          <p:nvPr/>
        </p:nvSpPr>
        <p:spPr>
          <a:xfrm>
            <a:off x="4688619" y="1548024"/>
            <a:ext cx="335249" cy="250996"/>
          </a:xfrm>
          <a:prstGeom prst="rect">
            <a:avLst/>
          </a:prstGeom>
          <a:solidFill>
            <a:srgbClr val="1F3864">
              <a:alpha val="795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TextBox 1022"/>
          <p:cNvSpPr txBox="1"/>
          <p:nvPr/>
        </p:nvSpPr>
        <p:spPr>
          <a:xfrm>
            <a:off x="4682619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4682619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25" name="Rectangle 1024"/>
          <p:cNvSpPr/>
          <p:nvPr/>
        </p:nvSpPr>
        <p:spPr>
          <a:xfrm>
            <a:off x="5035868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5029868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5029868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028" name="Rectangle 1027"/>
          <p:cNvSpPr/>
          <p:nvPr/>
        </p:nvSpPr>
        <p:spPr>
          <a:xfrm>
            <a:off x="5383117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5377117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5.5M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5377117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031" name="Rectangle 1030"/>
          <p:cNvSpPr/>
          <p:nvPr/>
        </p:nvSpPr>
        <p:spPr>
          <a:xfrm>
            <a:off x="5730366" y="1548024"/>
            <a:ext cx="335249" cy="250996"/>
          </a:xfrm>
          <a:prstGeom prst="rect">
            <a:avLst/>
          </a:prstGeom>
          <a:solidFill>
            <a:srgbClr val="1F3864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5724366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2.7M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5724366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202880" y="1805020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035" name="Rectangle 1034"/>
          <p:cNvSpPr/>
          <p:nvPr/>
        </p:nvSpPr>
        <p:spPr>
          <a:xfrm>
            <a:off x="868880" y="1811020"/>
            <a:ext cx="335249" cy="250996"/>
          </a:xfrm>
          <a:prstGeom prst="rect">
            <a:avLst/>
          </a:prstGeom>
          <a:solidFill>
            <a:srgbClr val="E67E22">
              <a:alpha val="343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862880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1.4M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862880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7件</a:t>
            </a:r>
          </a:p>
        </p:txBody>
      </p:sp>
      <p:sp>
        <p:nvSpPr>
          <p:cNvPr id="1038" name="Rectangle 1037"/>
          <p:cNvSpPr/>
          <p:nvPr/>
        </p:nvSpPr>
        <p:spPr>
          <a:xfrm>
            <a:off x="1216129" y="1811020"/>
            <a:ext cx="335249" cy="250996"/>
          </a:xfrm>
          <a:prstGeom prst="rect">
            <a:avLst/>
          </a:prstGeom>
          <a:solidFill>
            <a:srgbClr val="E67E22">
              <a:alpha val="393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1210129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2.1M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1210129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14件</a:t>
            </a:r>
          </a:p>
        </p:txBody>
      </p:sp>
      <p:sp>
        <p:nvSpPr>
          <p:cNvPr id="1041" name="Rectangle 1040"/>
          <p:cNvSpPr/>
          <p:nvPr/>
        </p:nvSpPr>
        <p:spPr>
          <a:xfrm>
            <a:off x="1563378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1557378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11.2M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1557378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044" name="Rectangle 1043"/>
          <p:cNvSpPr/>
          <p:nvPr/>
        </p:nvSpPr>
        <p:spPr>
          <a:xfrm>
            <a:off x="1910627" y="1811020"/>
            <a:ext cx="335249" cy="250996"/>
          </a:xfrm>
          <a:prstGeom prst="rect">
            <a:avLst/>
          </a:prstGeom>
          <a:solidFill>
            <a:srgbClr val="E67E22">
              <a:alpha val="387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TextBox 1044"/>
          <p:cNvSpPr txBox="1"/>
          <p:nvPr/>
        </p:nvSpPr>
        <p:spPr>
          <a:xfrm>
            <a:off x="1904627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2.1M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1904627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6件</a:t>
            </a:r>
          </a:p>
        </p:txBody>
      </p:sp>
      <p:sp>
        <p:nvSpPr>
          <p:cNvPr id="1047" name="Rectangle 1046"/>
          <p:cNvSpPr/>
          <p:nvPr/>
        </p:nvSpPr>
        <p:spPr>
          <a:xfrm>
            <a:off x="2257876" y="1811020"/>
            <a:ext cx="335249" cy="250996"/>
          </a:xfrm>
          <a:prstGeom prst="rect">
            <a:avLst/>
          </a:prstGeom>
          <a:solidFill>
            <a:srgbClr val="E67E22">
              <a:alpha val="54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TextBox 1047"/>
          <p:cNvSpPr txBox="1"/>
          <p:nvPr/>
        </p:nvSpPr>
        <p:spPr>
          <a:xfrm>
            <a:off x="2251876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4.5M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2251876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9件</a:t>
            </a:r>
          </a:p>
        </p:txBody>
      </p:sp>
      <p:sp>
        <p:nvSpPr>
          <p:cNvPr id="1050" name="Rectangle 1049"/>
          <p:cNvSpPr/>
          <p:nvPr/>
        </p:nvSpPr>
        <p:spPr>
          <a:xfrm>
            <a:off x="2605125" y="1811020"/>
            <a:ext cx="335249" cy="250996"/>
          </a:xfrm>
          <a:prstGeom prst="rect">
            <a:avLst/>
          </a:prstGeom>
          <a:solidFill>
            <a:srgbClr val="E67E22">
              <a:alpha val="525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2599125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4.1M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2599125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15件</a:t>
            </a:r>
          </a:p>
        </p:txBody>
      </p:sp>
      <p:sp>
        <p:nvSpPr>
          <p:cNvPr id="1053" name="Rectangle 1052"/>
          <p:cNvSpPr/>
          <p:nvPr/>
        </p:nvSpPr>
        <p:spPr>
          <a:xfrm>
            <a:off x="2952374" y="1811020"/>
            <a:ext cx="335249" cy="250996"/>
          </a:xfrm>
          <a:prstGeom prst="rect">
            <a:avLst/>
          </a:prstGeom>
          <a:solidFill>
            <a:srgbClr val="E67E22">
              <a:alpha val="532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TextBox 1053"/>
          <p:cNvSpPr txBox="1"/>
          <p:nvPr/>
        </p:nvSpPr>
        <p:spPr>
          <a:xfrm>
            <a:off x="2946374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4.2M</a:t>
            </a:r>
          </a:p>
        </p:txBody>
      </p:sp>
      <p:sp>
        <p:nvSpPr>
          <p:cNvPr id="1055" name="TextBox 1054"/>
          <p:cNvSpPr txBox="1"/>
          <p:nvPr/>
        </p:nvSpPr>
        <p:spPr>
          <a:xfrm>
            <a:off x="2946374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15件</a:t>
            </a:r>
          </a:p>
        </p:txBody>
      </p:sp>
      <p:sp>
        <p:nvSpPr>
          <p:cNvPr id="1056" name="Rectangle 1055"/>
          <p:cNvSpPr/>
          <p:nvPr/>
        </p:nvSpPr>
        <p:spPr>
          <a:xfrm>
            <a:off x="3299623" y="1811020"/>
            <a:ext cx="335249" cy="250996"/>
          </a:xfrm>
          <a:prstGeom prst="rect">
            <a:avLst/>
          </a:prstGeom>
          <a:solidFill>
            <a:srgbClr val="E67E22">
              <a:alpha val="522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TextBox 1056"/>
          <p:cNvSpPr txBox="1"/>
          <p:nvPr/>
        </p:nvSpPr>
        <p:spPr>
          <a:xfrm>
            <a:off x="3293623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4.1M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3293623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059" name="Rectangle 1058"/>
          <p:cNvSpPr/>
          <p:nvPr/>
        </p:nvSpPr>
        <p:spPr>
          <a:xfrm>
            <a:off x="3646872" y="1811020"/>
            <a:ext cx="335249" cy="250996"/>
          </a:xfrm>
          <a:prstGeom prst="rect">
            <a:avLst/>
          </a:prstGeom>
          <a:solidFill>
            <a:srgbClr val="E67E22">
              <a:alpha val="496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3640872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3.7M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3640872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062" name="Rectangle 1061"/>
          <p:cNvSpPr/>
          <p:nvPr/>
        </p:nvSpPr>
        <p:spPr>
          <a:xfrm>
            <a:off x="3994121" y="1811020"/>
            <a:ext cx="335249" cy="250996"/>
          </a:xfrm>
          <a:prstGeom prst="rect">
            <a:avLst/>
          </a:prstGeom>
          <a:solidFill>
            <a:srgbClr val="E67E22">
              <a:alpha val="680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TextBox 1062"/>
          <p:cNvSpPr txBox="1"/>
          <p:nvPr/>
        </p:nvSpPr>
        <p:spPr>
          <a:xfrm>
            <a:off x="3988121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6.4M</a:t>
            </a:r>
          </a:p>
        </p:txBody>
      </p:sp>
      <p:sp>
        <p:nvSpPr>
          <p:cNvPr id="1064" name="TextBox 1063"/>
          <p:cNvSpPr txBox="1"/>
          <p:nvPr/>
        </p:nvSpPr>
        <p:spPr>
          <a:xfrm>
            <a:off x="3988121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11件</a:t>
            </a:r>
          </a:p>
        </p:txBody>
      </p:sp>
      <p:sp>
        <p:nvSpPr>
          <p:cNvPr id="1065" name="Rectangle 1064"/>
          <p:cNvSpPr/>
          <p:nvPr/>
        </p:nvSpPr>
        <p:spPr>
          <a:xfrm>
            <a:off x="4341370" y="1811020"/>
            <a:ext cx="335249" cy="250996"/>
          </a:xfrm>
          <a:prstGeom prst="rect">
            <a:avLst/>
          </a:prstGeom>
          <a:solidFill>
            <a:srgbClr val="E67E22">
              <a:alpha val="705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TextBox 1065"/>
          <p:cNvSpPr txBox="1"/>
          <p:nvPr/>
        </p:nvSpPr>
        <p:spPr>
          <a:xfrm>
            <a:off x="4335370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6.8M</a:t>
            </a:r>
          </a:p>
        </p:txBody>
      </p:sp>
      <p:sp>
        <p:nvSpPr>
          <p:cNvPr id="1067" name="TextBox 1066"/>
          <p:cNvSpPr txBox="1"/>
          <p:nvPr/>
        </p:nvSpPr>
        <p:spPr>
          <a:xfrm>
            <a:off x="4335370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68" name="Rectangle 1067"/>
          <p:cNvSpPr/>
          <p:nvPr/>
        </p:nvSpPr>
        <p:spPr>
          <a:xfrm>
            <a:off x="4688619" y="1811020"/>
            <a:ext cx="335249" cy="250996"/>
          </a:xfrm>
          <a:prstGeom prst="rect">
            <a:avLst/>
          </a:prstGeom>
          <a:solidFill>
            <a:srgbClr val="E67E22">
              <a:alpha val="49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4682619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3.6M</a:t>
            </a:r>
          </a:p>
        </p:txBody>
      </p:sp>
      <p:sp>
        <p:nvSpPr>
          <p:cNvPr id="1070" name="TextBox 1069"/>
          <p:cNvSpPr txBox="1"/>
          <p:nvPr/>
        </p:nvSpPr>
        <p:spPr>
          <a:xfrm>
            <a:off x="4682619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14件</a:t>
            </a:r>
          </a:p>
        </p:txBody>
      </p:sp>
      <p:sp>
        <p:nvSpPr>
          <p:cNvPr id="1071" name="Rectangle 1070"/>
          <p:cNvSpPr/>
          <p:nvPr/>
        </p:nvSpPr>
        <p:spPr>
          <a:xfrm>
            <a:off x="5035868" y="1811020"/>
            <a:ext cx="335249" cy="250996"/>
          </a:xfrm>
          <a:prstGeom prst="rect">
            <a:avLst/>
          </a:prstGeom>
          <a:solidFill>
            <a:srgbClr val="E67E22">
              <a:alpha val="484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TextBox 1071"/>
          <p:cNvSpPr txBox="1"/>
          <p:nvPr/>
        </p:nvSpPr>
        <p:spPr>
          <a:xfrm>
            <a:off x="5029868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3.5M</a:t>
            </a:r>
          </a:p>
        </p:txBody>
      </p:sp>
      <p:sp>
        <p:nvSpPr>
          <p:cNvPr id="1073" name="TextBox 1072"/>
          <p:cNvSpPr txBox="1"/>
          <p:nvPr/>
        </p:nvSpPr>
        <p:spPr>
          <a:xfrm>
            <a:off x="5029868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10件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5383117" y="1811020"/>
            <a:ext cx="335249" cy="250996"/>
          </a:xfrm>
          <a:prstGeom prst="rect">
            <a:avLst/>
          </a:prstGeom>
          <a:solidFill>
            <a:srgbClr val="E67E22">
              <a:alpha val="407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5377117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2.4M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5377117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5730366" y="1811020"/>
            <a:ext cx="335249" cy="250996"/>
          </a:xfrm>
          <a:prstGeom prst="rect">
            <a:avLst/>
          </a:prstGeom>
          <a:solidFill>
            <a:srgbClr val="E67E22">
              <a:alpha val="4796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5724366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3.4M</a:t>
            </a:r>
          </a:p>
        </p:txBody>
      </p:sp>
      <p:sp>
        <p:nvSpPr>
          <p:cNvPr id="1079" name="TextBox 1078"/>
          <p:cNvSpPr txBox="1"/>
          <p:nvPr/>
        </p:nvSpPr>
        <p:spPr>
          <a:xfrm>
            <a:off x="5724366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11件</a:t>
            </a:r>
          </a:p>
        </p:txBody>
      </p:sp>
      <p:sp>
        <p:nvSpPr>
          <p:cNvPr id="1080" name="TextBox 1079"/>
          <p:cNvSpPr txBox="1"/>
          <p:nvPr/>
        </p:nvSpPr>
        <p:spPr>
          <a:xfrm>
            <a:off x="202880" y="2068016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081" name="Rectangle 1080"/>
          <p:cNvSpPr/>
          <p:nvPr/>
        </p:nvSpPr>
        <p:spPr>
          <a:xfrm>
            <a:off x="868880" y="2074016"/>
            <a:ext cx="335249" cy="250996"/>
          </a:xfrm>
          <a:prstGeom prst="rect">
            <a:avLst/>
          </a:prstGeom>
          <a:solidFill>
            <a:srgbClr val="1A7A3F">
              <a:alpha val="736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TextBox 1081"/>
          <p:cNvSpPr txBox="1"/>
          <p:nvPr/>
        </p:nvSpPr>
        <p:spPr>
          <a:xfrm>
            <a:off x="862880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4.9M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862880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084" name="Rectangle 1083"/>
          <p:cNvSpPr/>
          <p:nvPr/>
        </p:nvSpPr>
        <p:spPr>
          <a:xfrm>
            <a:off x="1216129" y="2074016"/>
            <a:ext cx="335249" cy="250996"/>
          </a:xfrm>
          <a:prstGeom prst="rect">
            <a:avLst/>
          </a:prstGeom>
          <a:solidFill>
            <a:srgbClr val="1A7A3F">
              <a:alpha val="597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TextBox 1084"/>
          <p:cNvSpPr txBox="1"/>
          <p:nvPr/>
        </p:nvSpPr>
        <p:spPr>
          <a:xfrm>
            <a:off x="1210129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3.5M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1210129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087" name="Rectangle 1086"/>
          <p:cNvSpPr/>
          <p:nvPr/>
        </p:nvSpPr>
        <p:spPr>
          <a:xfrm>
            <a:off x="1563378" y="2074016"/>
            <a:ext cx="335249" cy="250996"/>
          </a:xfrm>
          <a:prstGeom prst="rect">
            <a:avLst/>
          </a:prstGeom>
          <a:solidFill>
            <a:srgbClr val="1A7A3F">
              <a:alpha val="803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1557378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5.6M</a:t>
            </a:r>
          </a:p>
        </p:txBody>
      </p:sp>
      <p:sp>
        <p:nvSpPr>
          <p:cNvPr id="1089" name="TextBox 1088"/>
          <p:cNvSpPr txBox="1"/>
          <p:nvPr/>
        </p:nvSpPr>
        <p:spPr>
          <a:xfrm>
            <a:off x="1557378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090" name="Rectangle 1089"/>
          <p:cNvSpPr/>
          <p:nvPr/>
        </p:nvSpPr>
        <p:spPr>
          <a:xfrm>
            <a:off x="1910627" y="2074016"/>
            <a:ext cx="335249" cy="250996"/>
          </a:xfrm>
          <a:prstGeom prst="rect">
            <a:avLst/>
          </a:prstGeom>
          <a:solidFill>
            <a:srgbClr val="1A7A3F">
              <a:alpha val="39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TextBox 1090"/>
          <p:cNvSpPr txBox="1"/>
          <p:nvPr/>
        </p:nvSpPr>
        <p:spPr>
          <a:xfrm>
            <a:off x="1904627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1.5M</a:t>
            </a:r>
          </a:p>
        </p:txBody>
      </p:sp>
      <p:sp>
        <p:nvSpPr>
          <p:cNvPr id="1092" name="TextBox 1091"/>
          <p:cNvSpPr txBox="1"/>
          <p:nvPr/>
        </p:nvSpPr>
        <p:spPr>
          <a:xfrm>
            <a:off x="1904627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5件</a:t>
            </a:r>
          </a:p>
        </p:txBody>
      </p:sp>
      <p:sp>
        <p:nvSpPr>
          <p:cNvPr id="1093" name="Rectangle 1092"/>
          <p:cNvSpPr/>
          <p:nvPr/>
        </p:nvSpPr>
        <p:spPr>
          <a:xfrm>
            <a:off x="2257876" y="2074016"/>
            <a:ext cx="335249" cy="250996"/>
          </a:xfrm>
          <a:prstGeom prst="rect">
            <a:avLst/>
          </a:prstGeom>
          <a:solidFill>
            <a:srgbClr val="1A7A3F">
              <a:alpha val="72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2251876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4.8M</a:t>
            </a:r>
          </a:p>
        </p:txBody>
      </p:sp>
      <p:sp>
        <p:nvSpPr>
          <p:cNvPr id="1095" name="TextBox 1094"/>
          <p:cNvSpPr txBox="1"/>
          <p:nvPr/>
        </p:nvSpPr>
        <p:spPr>
          <a:xfrm>
            <a:off x="2251876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096" name="Rectangle 1095"/>
          <p:cNvSpPr/>
          <p:nvPr/>
        </p:nvSpPr>
        <p:spPr>
          <a:xfrm>
            <a:off x="2605125" y="2074016"/>
            <a:ext cx="335249" cy="250996"/>
          </a:xfrm>
          <a:prstGeom prst="rect">
            <a:avLst/>
          </a:prstGeom>
          <a:solidFill>
            <a:srgbClr val="1A7A3F">
              <a:alpha val="732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TextBox 1096"/>
          <p:cNvSpPr txBox="1"/>
          <p:nvPr/>
        </p:nvSpPr>
        <p:spPr>
          <a:xfrm>
            <a:off x="2599125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4.9M</a:t>
            </a:r>
          </a:p>
        </p:txBody>
      </p:sp>
      <p:sp>
        <p:nvSpPr>
          <p:cNvPr id="1098" name="TextBox 1097"/>
          <p:cNvSpPr txBox="1"/>
          <p:nvPr/>
        </p:nvSpPr>
        <p:spPr>
          <a:xfrm>
            <a:off x="2599125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099" name="Rectangle 1098"/>
          <p:cNvSpPr/>
          <p:nvPr/>
        </p:nvSpPr>
        <p:spPr>
          <a:xfrm>
            <a:off x="2952374" y="2074016"/>
            <a:ext cx="335249" cy="250996"/>
          </a:xfrm>
          <a:prstGeom prst="rect">
            <a:avLst/>
          </a:prstGeom>
          <a:solidFill>
            <a:srgbClr val="1A7A3F">
              <a:alpha val="83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TextBox 1099"/>
          <p:cNvSpPr txBox="1"/>
          <p:nvPr/>
        </p:nvSpPr>
        <p:spPr>
          <a:xfrm>
            <a:off x="2946374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5.9M</a:t>
            </a:r>
          </a:p>
        </p:txBody>
      </p:sp>
      <p:sp>
        <p:nvSpPr>
          <p:cNvPr id="1101" name="TextBox 1100"/>
          <p:cNvSpPr txBox="1"/>
          <p:nvPr/>
        </p:nvSpPr>
        <p:spPr>
          <a:xfrm>
            <a:off x="2946374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102" name="Rectangle 1101"/>
          <p:cNvSpPr/>
          <p:nvPr/>
        </p:nvSpPr>
        <p:spPr>
          <a:xfrm>
            <a:off x="3299623" y="2074016"/>
            <a:ext cx="335249" cy="250996"/>
          </a:xfrm>
          <a:prstGeom prst="rect">
            <a:avLst/>
          </a:prstGeom>
          <a:solidFill>
            <a:srgbClr val="1A7A3F">
              <a:alpha val="660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3293623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4.1M</a:t>
            </a:r>
          </a:p>
        </p:txBody>
      </p:sp>
      <p:sp>
        <p:nvSpPr>
          <p:cNvPr id="1104" name="TextBox 1103"/>
          <p:cNvSpPr txBox="1"/>
          <p:nvPr/>
        </p:nvSpPr>
        <p:spPr>
          <a:xfrm>
            <a:off x="3293623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11件</a:t>
            </a:r>
          </a:p>
        </p:txBody>
      </p:sp>
      <p:sp>
        <p:nvSpPr>
          <p:cNvPr id="1105" name="Rectangle 1104"/>
          <p:cNvSpPr/>
          <p:nvPr/>
        </p:nvSpPr>
        <p:spPr>
          <a:xfrm>
            <a:off x="3646872" y="2074016"/>
            <a:ext cx="335249" cy="250996"/>
          </a:xfrm>
          <a:prstGeom prst="rect">
            <a:avLst/>
          </a:prstGeom>
          <a:solidFill>
            <a:srgbClr val="1A7A3F">
              <a:alpha val="551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3640872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107" name="TextBox 1106"/>
          <p:cNvSpPr txBox="1"/>
          <p:nvPr/>
        </p:nvSpPr>
        <p:spPr>
          <a:xfrm>
            <a:off x="3640872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108" name="Rectangle 1107"/>
          <p:cNvSpPr/>
          <p:nvPr/>
        </p:nvSpPr>
        <p:spPr>
          <a:xfrm>
            <a:off x="3994121" y="2074016"/>
            <a:ext cx="335249" cy="250996"/>
          </a:xfrm>
          <a:prstGeom prst="rect">
            <a:avLst/>
          </a:prstGeom>
          <a:solidFill>
            <a:srgbClr val="1A7A3F">
              <a:alpha val="756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3988121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5.1M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3988121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15件</a:t>
            </a:r>
          </a:p>
        </p:txBody>
      </p:sp>
      <p:sp>
        <p:nvSpPr>
          <p:cNvPr id="1111" name="Rectangle 1110"/>
          <p:cNvSpPr/>
          <p:nvPr/>
        </p:nvSpPr>
        <p:spPr>
          <a:xfrm>
            <a:off x="4341370" y="2074016"/>
            <a:ext cx="335249" cy="250996"/>
          </a:xfrm>
          <a:prstGeom prst="rect">
            <a:avLst/>
          </a:prstGeom>
          <a:solidFill>
            <a:srgbClr val="1A7A3F">
              <a:alpha val="836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4335370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5.9M</a:t>
            </a:r>
          </a:p>
        </p:txBody>
      </p:sp>
      <p:sp>
        <p:nvSpPr>
          <p:cNvPr id="1113" name="TextBox 1112"/>
          <p:cNvSpPr txBox="1"/>
          <p:nvPr/>
        </p:nvSpPr>
        <p:spPr>
          <a:xfrm>
            <a:off x="4335370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19件</a:t>
            </a:r>
          </a:p>
        </p:txBody>
      </p:sp>
      <p:sp>
        <p:nvSpPr>
          <p:cNvPr id="1114" name="Rectangle 1113"/>
          <p:cNvSpPr/>
          <p:nvPr/>
        </p:nvSpPr>
        <p:spPr>
          <a:xfrm>
            <a:off x="4688619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TextBox 1114"/>
          <p:cNvSpPr txBox="1"/>
          <p:nvPr/>
        </p:nvSpPr>
        <p:spPr>
          <a:xfrm>
            <a:off x="4682619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7.6M</a:t>
            </a:r>
          </a:p>
        </p:txBody>
      </p:sp>
      <p:sp>
        <p:nvSpPr>
          <p:cNvPr id="1116" name="TextBox 1115"/>
          <p:cNvSpPr txBox="1"/>
          <p:nvPr/>
        </p:nvSpPr>
        <p:spPr>
          <a:xfrm>
            <a:off x="4682619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23件</a:t>
            </a:r>
          </a:p>
        </p:txBody>
      </p:sp>
      <p:sp>
        <p:nvSpPr>
          <p:cNvPr id="1117" name="Rectangle 1116"/>
          <p:cNvSpPr/>
          <p:nvPr/>
        </p:nvSpPr>
        <p:spPr>
          <a:xfrm>
            <a:off x="5035868" y="2074016"/>
            <a:ext cx="335249" cy="250996"/>
          </a:xfrm>
          <a:prstGeom prst="rect">
            <a:avLst/>
          </a:prstGeom>
          <a:solidFill>
            <a:srgbClr val="1A7A3F">
              <a:alpha val="51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Box 1117"/>
          <p:cNvSpPr txBox="1"/>
          <p:nvPr/>
        </p:nvSpPr>
        <p:spPr>
          <a:xfrm>
            <a:off x="5029868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2.6M</a:t>
            </a:r>
          </a:p>
        </p:txBody>
      </p:sp>
      <p:sp>
        <p:nvSpPr>
          <p:cNvPr id="1119" name="TextBox 1118"/>
          <p:cNvSpPr txBox="1"/>
          <p:nvPr/>
        </p:nvSpPr>
        <p:spPr>
          <a:xfrm>
            <a:off x="5029868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120" name="Rectangle 1119"/>
          <p:cNvSpPr/>
          <p:nvPr/>
        </p:nvSpPr>
        <p:spPr>
          <a:xfrm>
            <a:off x="5383117" y="2074016"/>
            <a:ext cx="335249" cy="250996"/>
          </a:xfrm>
          <a:prstGeom prst="rect">
            <a:avLst/>
          </a:prstGeom>
          <a:solidFill>
            <a:srgbClr val="1A7A3F">
              <a:alpha val="550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TextBox 1120"/>
          <p:cNvSpPr txBox="1"/>
          <p:nvPr/>
        </p:nvSpPr>
        <p:spPr>
          <a:xfrm>
            <a:off x="5377117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122" name="TextBox 1121"/>
          <p:cNvSpPr txBox="1"/>
          <p:nvPr/>
        </p:nvSpPr>
        <p:spPr>
          <a:xfrm>
            <a:off x="5377117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123" name="Rectangle 1122"/>
          <p:cNvSpPr/>
          <p:nvPr/>
        </p:nvSpPr>
        <p:spPr>
          <a:xfrm>
            <a:off x="5730366" y="2074016"/>
            <a:ext cx="335249" cy="250996"/>
          </a:xfrm>
          <a:prstGeom prst="rect">
            <a:avLst/>
          </a:prstGeom>
          <a:solidFill>
            <a:srgbClr val="1A7A3F">
              <a:alpha val="720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Box 1123"/>
          <p:cNvSpPr txBox="1"/>
          <p:nvPr/>
        </p:nvSpPr>
        <p:spPr>
          <a:xfrm>
            <a:off x="5724366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4.7M</a:t>
            </a:r>
          </a:p>
        </p:txBody>
      </p:sp>
      <p:sp>
        <p:nvSpPr>
          <p:cNvPr id="1125" name="TextBox 1124"/>
          <p:cNvSpPr txBox="1"/>
          <p:nvPr/>
        </p:nvSpPr>
        <p:spPr>
          <a:xfrm>
            <a:off x="5724366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126" name="TextBox 1125"/>
          <p:cNvSpPr txBox="1"/>
          <p:nvPr/>
        </p:nvSpPr>
        <p:spPr>
          <a:xfrm>
            <a:off x="202880" y="2331012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127" name="Rectangle 1126"/>
          <p:cNvSpPr/>
          <p:nvPr/>
        </p:nvSpPr>
        <p:spPr>
          <a:xfrm>
            <a:off x="868880" y="2337012"/>
            <a:ext cx="335249" cy="250996"/>
          </a:xfrm>
          <a:prstGeom prst="rect">
            <a:avLst/>
          </a:prstGeom>
          <a:solidFill>
            <a:srgbClr val="94A3B8">
              <a:alpha val="255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TextBox 1127"/>
          <p:cNvSpPr txBox="1"/>
          <p:nvPr/>
        </p:nvSpPr>
        <p:spPr>
          <a:xfrm>
            <a:off x="862880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129" name="TextBox 1128"/>
          <p:cNvSpPr txBox="1"/>
          <p:nvPr/>
        </p:nvSpPr>
        <p:spPr>
          <a:xfrm>
            <a:off x="862880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2件</a:t>
            </a:r>
          </a:p>
        </p:txBody>
      </p:sp>
      <p:sp>
        <p:nvSpPr>
          <p:cNvPr id="1130" name="Rectangle 1129"/>
          <p:cNvSpPr/>
          <p:nvPr/>
        </p:nvSpPr>
        <p:spPr>
          <a:xfrm>
            <a:off x="1910627" y="2337012"/>
            <a:ext cx="335249" cy="250996"/>
          </a:xfrm>
          <a:prstGeom prst="rect">
            <a:avLst/>
          </a:prstGeom>
          <a:solidFill>
            <a:srgbClr val="94A3B8">
              <a:alpha val="323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TextBox 1130"/>
          <p:cNvSpPr txBox="1"/>
          <p:nvPr/>
        </p:nvSpPr>
        <p:spPr>
          <a:xfrm>
            <a:off x="1904627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0.4M</a:t>
            </a:r>
          </a:p>
        </p:txBody>
      </p:sp>
      <p:sp>
        <p:nvSpPr>
          <p:cNvPr id="1132" name="TextBox 1131"/>
          <p:cNvSpPr txBox="1"/>
          <p:nvPr/>
        </p:nvSpPr>
        <p:spPr>
          <a:xfrm>
            <a:off x="1904627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133" name="Rectangle 1132"/>
          <p:cNvSpPr/>
          <p:nvPr/>
        </p:nvSpPr>
        <p:spPr>
          <a:xfrm>
            <a:off x="2605125" y="2337012"/>
            <a:ext cx="335249" cy="250996"/>
          </a:xfrm>
          <a:prstGeom prst="rect">
            <a:avLst/>
          </a:prstGeom>
          <a:solidFill>
            <a:srgbClr val="94A3B8">
              <a:alpha val="258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TextBox 1133"/>
          <p:cNvSpPr txBox="1"/>
          <p:nvPr/>
        </p:nvSpPr>
        <p:spPr>
          <a:xfrm>
            <a:off x="2599125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135" name="TextBox 1134"/>
          <p:cNvSpPr txBox="1"/>
          <p:nvPr/>
        </p:nvSpPr>
        <p:spPr>
          <a:xfrm>
            <a:off x="2599125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2件</a:t>
            </a:r>
          </a:p>
        </p:txBody>
      </p:sp>
      <p:sp>
        <p:nvSpPr>
          <p:cNvPr id="1136" name="Rectangle 1135"/>
          <p:cNvSpPr/>
          <p:nvPr/>
        </p:nvSpPr>
        <p:spPr>
          <a:xfrm>
            <a:off x="3994121" y="2337012"/>
            <a:ext cx="335249" cy="250996"/>
          </a:xfrm>
          <a:prstGeom prst="rect">
            <a:avLst/>
          </a:prstGeom>
          <a:solidFill>
            <a:srgbClr val="94A3B8">
              <a:alpha val="264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TextBox 1136"/>
          <p:cNvSpPr txBox="1"/>
          <p:nvPr/>
        </p:nvSpPr>
        <p:spPr>
          <a:xfrm>
            <a:off x="3988121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138" name="TextBox 1137"/>
          <p:cNvSpPr txBox="1"/>
          <p:nvPr/>
        </p:nvSpPr>
        <p:spPr>
          <a:xfrm>
            <a:off x="3988121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139" name="Rectangle 1138"/>
          <p:cNvSpPr/>
          <p:nvPr/>
        </p:nvSpPr>
        <p:spPr>
          <a:xfrm>
            <a:off x="4688619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TextBox 1139"/>
          <p:cNvSpPr txBox="1"/>
          <p:nvPr/>
        </p:nvSpPr>
        <p:spPr>
          <a:xfrm>
            <a:off x="4682619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141" name="TextBox 1140"/>
          <p:cNvSpPr txBox="1"/>
          <p:nvPr/>
        </p:nvSpPr>
        <p:spPr>
          <a:xfrm>
            <a:off x="4682619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142" name="Rectangle 1141"/>
          <p:cNvSpPr/>
          <p:nvPr/>
        </p:nvSpPr>
        <p:spPr>
          <a:xfrm>
            <a:off x="5383117" y="2337012"/>
            <a:ext cx="335249" cy="250996"/>
          </a:xfrm>
          <a:prstGeom prst="rect">
            <a:avLst/>
          </a:prstGeom>
          <a:solidFill>
            <a:srgbClr val="94A3B8">
              <a:alpha val="297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TextBox 1142"/>
          <p:cNvSpPr txBox="1"/>
          <p:nvPr/>
        </p:nvSpPr>
        <p:spPr>
          <a:xfrm>
            <a:off x="5377117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0.3M</a:t>
            </a:r>
          </a:p>
        </p:txBody>
      </p:sp>
      <p:sp>
        <p:nvSpPr>
          <p:cNvPr id="1144" name="TextBox 1143"/>
          <p:cNvSpPr txBox="1"/>
          <p:nvPr/>
        </p:nvSpPr>
        <p:spPr>
          <a:xfrm>
            <a:off x="5377117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145" name="TextBox 1144"/>
          <p:cNvSpPr txBox="1"/>
          <p:nvPr/>
        </p:nvSpPr>
        <p:spPr>
          <a:xfrm>
            <a:off x="202880" y="2594008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146" name="Rectangle 1145"/>
          <p:cNvSpPr/>
          <p:nvPr/>
        </p:nvSpPr>
        <p:spPr>
          <a:xfrm>
            <a:off x="1910627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TextBox 1146"/>
          <p:cNvSpPr txBox="1"/>
          <p:nvPr/>
        </p:nvSpPr>
        <p:spPr>
          <a:xfrm>
            <a:off x="1904627" y="26020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148" name="TextBox 1147"/>
          <p:cNvSpPr txBox="1"/>
          <p:nvPr/>
        </p:nvSpPr>
        <p:spPr>
          <a:xfrm>
            <a:off x="1904627" y="27320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149" name="Rectangle 1148"/>
          <p:cNvSpPr/>
          <p:nvPr/>
        </p:nvSpPr>
        <p:spPr>
          <a:xfrm>
            <a:off x="2605125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TextBox 1149"/>
          <p:cNvSpPr txBox="1"/>
          <p:nvPr/>
        </p:nvSpPr>
        <p:spPr>
          <a:xfrm>
            <a:off x="2599125" y="26020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151" name="TextBox 1150"/>
          <p:cNvSpPr txBox="1"/>
          <p:nvPr/>
        </p:nvSpPr>
        <p:spPr>
          <a:xfrm>
            <a:off x="2599125" y="27320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152" name="TextBox 1151"/>
          <p:cNvSpPr txBox="1"/>
          <p:nvPr/>
        </p:nvSpPr>
        <p:spPr>
          <a:xfrm>
            <a:off x="202880" y="2857004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153" name="Rectangle 1152"/>
          <p:cNvSpPr/>
          <p:nvPr/>
        </p:nvSpPr>
        <p:spPr>
          <a:xfrm>
            <a:off x="86888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TextBox 1153"/>
          <p:cNvSpPr txBox="1"/>
          <p:nvPr/>
        </p:nvSpPr>
        <p:spPr>
          <a:xfrm>
            <a:off x="862880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12.2M</a:t>
            </a:r>
          </a:p>
        </p:txBody>
      </p:sp>
      <p:sp>
        <p:nvSpPr>
          <p:cNvPr id="1155" name="TextBox 1154"/>
          <p:cNvSpPr txBox="1"/>
          <p:nvPr/>
        </p:nvSpPr>
        <p:spPr>
          <a:xfrm>
            <a:off x="862880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29件</a:t>
            </a:r>
          </a:p>
        </p:txBody>
      </p:sp>
      <p:sp>
        <p:nvSpPr>
          <p:cNvPr id="1156" name="Rectangle 1155"/>
          <p:cNvSpPr/>
          <p:nvPr/>
        </p:nvSpPr>
        <p:spPr>
          <a:xfrm>
            <a:off x="121612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TextBox 1156"/>
          <p:cNvSpPr txBox="1"/>
          <p:nvPr/>
        </p:nvSpPr>
        <p:spPr>
          <a:xfrm>
            <a:off x="1210129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10.4M</a:t>
            </a:r>
          </a:p>
        </p:txBody>
      </p:sp>
      <p:sp>
        <p:nvSpPr>
          <p:cNvPr id="1158" name="TextBox 1157"/>
          <p:cNvSpPr txBox="1"/>
          <p:nvPr/>
        </p:nvSpPr>
        <p:spPr>
          <a:xfrm>
            <a:off x="1210129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38件</a:t>
            </a:r>
          </a:p>
        </p:txBody>
      </p:sp>
      <p:sp>
        <p:nvSpPr>
          <p:cNvPr id="1159" name="Rectangle 1158"/>
          <p:cNvSpPr/>
          <p:nvPr/>
        </p:nvSpPr>
        <p:spPr>
          <a:xfrm>
            <a:off x="156337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TextBox 1159"/>
          <p:cNvSpPr txBox="1"/>
          <p:nvPr/>
        </p:nvSpPr>
        <p:spPr>
          <a:xfrm>
            <a:off x="1557378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23.7M</a:t>
            </a:r>
          </a:p>
        </p:txBody>
      </p:sp>
      <p:sp>
        <p:nvSpPr>
          <p:cNvPr id="1161" name="TextBox 1160"/>
          <p:cNvSpPr txBox="1"/>
          <p:nvPr/>
        </p:nvSpPr>
        <p:spPr>
          <a:xfrm>
            <a:off x="1557378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46件</a:t>
            </a:r>
          </a:p>
        </p:txBody>
      </p:sp>
      <p:sp>
        <p:nvSpPr>
          <p:cNvPr id="1162" name="Rectangle 1161"/>
          <p:cNvSpPr/>
          <p:nvPr/>
        </p:nvSpPr>
        <p:spPr>
          <a:xfrm>
            <a:off x="191062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TextBox 1162"/>
          <p:cNvSpPr txBox="1"/>
          <p:nvPr/>
        </p:nvSpPr>
        <p:spPr>
          <a:xfrm>
            <a:off x="1904627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9.8M</a:t>
            </a:r>
          </a:p>
        </p:txBody>
      </p:sp>
      <p:sp>
        <p:nvSpPr>
          <p:cNvPr id="1164" name="TextBox 1163"/>
          <p:cNvSpPr txBox="1"/>
          <p:nvPr/>
        </p:nvSpPr>
        <p:spPr>
          <a:xfrm>
            <a:off x="1904627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19件</a:t>
            </a:r>
          </a:p>
        </p:txBody>
      </p:sp>
      <p:sp>
        <p:nvSpPr>
          <p:cNvPr id="1165" name="Rectangle 1164"/>
          <p:cNvSpPr/>
          <p:nvPr/>
        </p:nvSpPr>
        <p:spPr>
          <a:xfrm>
            <a:off x="225787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TextBox 1165"/>
          <p:cNvSpPr txBox="1"/>
          <p:nvPr/>
        </p:nvSpPr>
        <p:spPr>
          <a:xfrm>
            <a:off x="2251876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11.1M</a:t>
            </a:r>
          </a:p>
        </p:txBody>
      </p:sp>
      <p:sp>
        <p:nvSpPr>
          <p:cNvPr id="1167" name="TextBox 1166"/>
          <p:cNvSpPr txBox="1"/>
          <p:nvPr/>
        </p:nvSpPr>
        <p:spPr>
          <a:xfrm>
            <a:off x="2251876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39件</a:t>
            </a:r>
          </a:p>
        </p:txBody>
      </p:sp>
      <p:sp>
        <p:nvSpPr>
          <p:cNvPr id="1168" name="Rectangle 1167"/>
          <p:cNvSpPr/>
          <p:nvPr/>
        </p:nvSpPr>
        <p:spPr>
          <a:xfrm>
            <a:off x="260512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TextBox 1168"/>
          <p:cNvSpPr txBox="1"/>
          <p:nvPr/>
        </p:nvSpPr>
        <p:spPr>
          <a:xfrm>
            <a:off x="2599125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19.3M</a:t>
            </a:r>
          </a:p>
        </p:txBody>
      </p:sp>
      <p:sp>
        <p:nvSpPr>
          <p:cNvPr id="1170" name="TextBox 1169"/>
          <p:cNvSpPr txBox="1"/>
          <p:nvPr/>
        </p:nvSpPr>
        <p:spPr>
          <a:xfrm>
            <a:off x="2599125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50件</a:t>
            </a:r>
          </a:p>
        </p:txBody>
      </p:sp>
      <p:sp>
        <p:nvSpPr>
          <p:cNvPr id="1171" name="Rectangle 1170"/>
          <p:cNvSpPr/>
          <p:nvPr/>
        </p:nvSpPr>
        <p:spPr>
          <a:xfrm>
            <a:off x="295237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TextBox 1171"/>
          <p:cNvSpPr txBox="1"/>
          <p:nvPr/>
        </p:nvSpPr>
        <p:spPr>
          <a:xfrm>
            <a:off x="2946374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20.0M</a:t>
            </a:r>
          </a:p>
        </p:txBody>
      </p:sp>
      <p:sp>
        <p:nvSpPr>
          <p:cNvPr id="1173" name="TextBox 1172"/>
          <p:cNvSpPr txBox="1"/>
          <p:nvPr/>
        </p:nvSpPr>
        <p:spPr>
          <a:xfrm>
            <a:off x="2946374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41件</a:t>
            </a:r>
          </a:p>
        </p:txBody>
      </p:sp>
      <p:sp>
        <p:nvSpPr>
          <p:cNvPr id="1174" name="Rectangle 1173"/>
          <p:cNvSpPr/>
          <p:nvPr/>
        </p:nvSpPr>
        <p:spPr>
          <a:xfrm>
            <a:off x="329962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TextBox 1174"/>
          <p:cNvSpPr txBox="1"/>
          <p:nvPr/>
        </p:nvSpPr>
        <p:spPr>
          <a:xfrm>
            <a:off x="3293623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14.3M</a:t>
            </a:r>
          </a:p>
        </p:txBody>
      </p:sp>
      <p:sp>
        <p:nvSpPr>
          <p:cNvPr id="1176" name="TextBox 1175"/>
          <p:cNvSpPr txBox="1"/>
          <p:nvPr/>
        </p:nvSpPr>
        <p:spPr>
          <a:xfrm>
            <a:off x="3293623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41件</a:t>
            </a:r>
          </a:p>
        </p:txBody>
      </p:sp>
      <p:sp>
        <p:nvSpPr>
          <p:cNvPr id="1177" name="Rectangle 1176"/>
          <p:cNvSpPr/>
          <p:nvPr/>
        </p:nvSpPr>
        <p:spPr>
          <a:xfrm>
            <a:off x="364687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TextBox 1177"/>
          <p:cNvSpPr txBox="1"/>
          <p:nvPr/>
        </p:nvSpPr>
        <p:spPr>
          <a:xfrm>
            <a:off x="3640872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9.6M</a:t>
            </a:r>
          </a:p>
        </p:txBody>
      </p:sp>
      <p:sp>
        <p:nvSpPr>
          <p:cNvPr id="1179" name="TextBox 1178"/>
          <p:cNvSpPr txBox="1"/>
          <p:nvPr/>
        </p:nvSpPr>
        <p:spPr>
          <a:xfrm>
            <a:off x="3640872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33件</a:t>
            </a:r>
          </a:p>
        </p:txBody>
      </p:sp>
      <p:sp>
        <p:nvSpPr>
          <p:cNvPr id="1180" name="Rectangle 1179"/>
          <p:cNvSpPr/>
          <p:nvPr/>
        </p:nvSpPr>
        <p:spPr>
          <a:xfrm>
            <a:off x="399412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TextBox 1180"/>
          <p:cNvSpPr txBox="1"/>
          <p:nvPr/>
        </p:nvSpPr>
        <p:spPr>
          <a:xfrm>
            <a:off x="3988121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16.2M</a:t>
            </a:r>
          </a:p>
        </p:txBody>
      </p:sp>
      <p:sp>
        <p:nvSpPr>
          <p:cNvPr id="1182" name="TextBox 1181"/>
          <p:cNvSpPr txBox="1"/>
          <p:nvPr/>
        </p:nvSpPr>
        <p:spPr>
          <a:xfrm>
            <a:off x="3988121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38件</a:t>
            </a:r>
          </a:p>
        </p:txBody>
      </p:sp>
      <p:sp>
        <p:nvSpPr>
          <p:cNvPr id="1183" name="Rectangle 1182"/>
          <p:cNvSpPr/>
          <p:nvPr/>
        </p:nvSpPr>
        <p:spPr>
          <a:xfrm>
            <a:off x="434137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TextBox 1183"/>
          <p:cNvSpPr txBox="1"/>
          <p:nvPr/>
        </p:nvSpPr>
        <p:spPr>
          <a:xfrm>
            <a:off x="4335370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14.3M</a:t>
            </a:r>
          </a:p>
        </p:txBody>
      </p:sp>
      <p:sp>
        <p:nvSpPr>
          <p:cNvPr id="1185" name="TextBox 1184"/>
          <p:cNvSpPr txBox="1"/>
          <p:nvPr/>
        </p:nvSpPr>
        <p:spPr>
          <a:xfrm>
            <a:off x="4335370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31件</a:t>
            </a:r>
          </a:p>
        </p:txBody>
      </p:sp>
      <p:sp>
        <p:nvSpPr>
          <p:cNvPr id="1186" name="Rectangle 1185"/>
          <p:cNvSpPr/>
          <p:nvPr/>
        </p:nvSpPr>
        <p:spPr>
          <a:xfrm>
            <a:off x="468861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4682619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22.8M</a:t>
            </a:r>
          </a:p>
        </p:txBody>
      </p:sp>
      <p:sp>
        <p:nvSpPr>
          <p:cNvPr id="1188" name="TextBox 1187"/>
          <p:cNvSpPr txBox="1"/>
          <p:nvPr/>
        </p:nvSpPr>
        <p:spPr>
          <a:xfrm>
            <a:off x="4682619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58件</a:t>
            </a:r>
          </a:p>
        </p:txBody>
      </p:sp>
      <p:sp>
        <p:nvSpPr>
          <p:cNvPr id="1189" name="Rectangle 1188"/>
          <p:cNvSpPr/>
          <p:nvPr/>
        </p:nvSpPr>
        <p:spPr>
          <a:xfrm>
            <a:off x="503586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TextBox 1189"/>
          <p:cNvSpPr txBox="1"/>
          <p:nvPr/>
        </p:nvSpPr>
        <p:spPr>
          <a:xfrm>
            <a:off x="5029868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7.7M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5029868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28件</a:t>
            </a:r>
          </a:p>
        </p:txBody>
      </p:sp>
      <p:sp>
        <p:nvSpPr>
          <p:cNvPr id="1192" name="Rectangle 1191"/>
          <p:cNvSpPr/>
          <p:nvPr/>
        </p:nvSpPr>
        <p:spPr>
          <a:xfrm>
            <a:off x="538311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5377117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16.8M</a:t>
            </a:r>
          </a:p>
        </p:txBody>
      </p:sp>
      <p:sp>
        <p:nvSpPr>
          <p:cNvPr id="1194" name="TextBox 1193"/>
          <p:cNvSpPr txBox="1"/>
          <p:nvPr/>
        </p:nvSpPr>
        <p:spPr>
          <a:xfrm>
            <a:off x="5377117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39件</a:t>
            </a:r>
          </a:p>
        </p:txBody>
      </p:sp>
      <p:sp>
        <p:nvSpPr>
          <p:cNvPr id="1195" name="Rectangle 1194"/>
          <p:cNvSpPr/>
          <p:nvPr/>
        </p:nvSpPr>
        <p:spPr>
          <a:xfrm>
            <a:off x="573036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TextBox 1195"/>
          <p:cNvSpPr txBox="1"/>
          <p:nvPr/>
        </p:nvSpPr>
        <p:spPr>
          <a:xfrm>
            <a:off x="5724366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11.8M</a:t>
            </a:r>
          </a:p>
        </p:txBody>
      </p:sp>
      <p:sp>
        <p:nvSpPr>
          <p:cNvPr id="1197" name="TextBox 1196"/>
          <p:cNvSpPr txBox="1"/>
          <p:nvPr/>
        </p:nvSpPr>
        <p:spPr>
          <a:xfrm>
            <a:off x="5724366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29件</a:t>
            </a:r>
          </a:p>
        </p:txBody>
      </p:sp>
      <p:sp>
        <p:nvSpPr>
          <p:cNvPr id="1198" name="Rectangle 1197"/>
          <p:cNvSpPr/>
          <p:nvPr/>
        </p:nvSpPr>
        <p:spPr>
          <a:xfrm>
            <a:off x="6163056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TextBox 1198"/>
          <p:cNvSpPr txBox="1"/>
          <p:nvPr/>
        </p:nvSpPr>
        <p:spPr>
          <a:xfrm>
            <a:off x="6243056" y="5600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  周度签单业绩热力矩阵（APE in M）</a:t>
            </a:r>
          </a:p>
        </p:txBody>
      </p:sp>
      <p:sp>
        <p:nvSpPr>
          <p:cNvPr id="1200" name="TextBox 1199"/>
          <p:cNvSpPr txBox="1"/>
          <p:nvPr/>
        </p:nvSpPr>
        <p:spPr>
          <a:xfrm>
            <a:off x="684305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1201" name="TextBox 1200"/>
          <p:cNvSpPr txBox="1"/>
          <p:nvPr/>
        </p:nvSpPr>
        <p:spPr>
          <a:xfrm>
            <a:off x="719030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1202" name="TextBox 1201"/>
          <p:cNvSpPr txBox="1"/>
          <p:nvPr/>
        </p:nvSpPr>
        <p:spPr>
          <a:xfrm>
            <a:off x="753755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1203" name="TextBox 1202"/>
          <p:cNvSpPr txBox="1"/>
          <p:nvPr/>
        </p:nvSpPr>
        <p:spPr>
          <a:xfrm>
            <a:off x="788480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1204" name="TextBox 1203"/>
          <p:cNvSpPr txBox="1"/>
          <p:nvPr/>
        </p:nvSpPr>
        <p:spPr>
          <a:xfrm>
            <a:off x="823205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1205" name="TextBox 1204"/>
          <p:cNvSpPr txBox="1"/>
          <p:nvPr/>
        </p:nvSpPr>
        <p:spPr>
          <a:xfrm>
            <a:off x="8579301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1206" name="TextBox 1205"/>
          <p:cNvSpPr txBox="1"/>
          <p:nvPr/>
        </p:nvSpPr>
        <p:spPr>
          <a:xfrm>
            <a:off x="8926550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1207" name="TextBox 1206"/>
          <p:cNvSpPr txBox="1"/>
          <p:nvPr/>
        </p:nvSpPr>
        <p:spPr>
          <a:xfrm>
            <a:off x="9273799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1208" name="TextBox 1207"/>
          <p:cNvSpPr txBox="1"/>
          <p:nvPr/>
        </p:nvSpPr>
        <p:spPr>
          <a:xfrm>
            <a:off x="9621048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1209" name="TextBox 1208"/>
          <p:cNvSpPr txBox="1"/>
          <p:nvPr/>
        </p:nvSpPr>
        <p:spPr>
          <a:xfrm>
            <a:off x="9968297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1210" name="TextBox 1209"/>
          <p:cNvSpPr txBox="1"/>
          <p:nvPr/>
        </p:nvSpPr>
        <p:spPr>
          <a:xfrm>
            <a:off x="10315546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1211" name="TextBox 1210"/>
          <p:cNvSpPr txBox="1"/>
          <p:nvPr/>
        </p:nvSpPr>
        <p:spPr>
          <a:xfrm>
            <a:off x="10662795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1212" name="TextBox 1211"/>
          <p:cNvSpPr txBox="1"/>
          <p:nvPr/>
        </p:nvSpPr>
        <p:spPr>
          <a:xfrm>
            <a:off x="11010044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1213" name="TextBox 1212"/>
          <p:cNvSpPr txBox="1"/>
          <p:nvPr/>
        </p:nvSpPr>
        <p:spPr>
          <a:xfrm>
            <a:off x="11357293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1214" name="TextBox 1213"/>
          <p:cNvSpPr txBox="1"/>
          <p:nvPr/>
        </p:nvSpPr>
        <p:spPr>
          <a:xfrm>
            <a:off x="11704542" y="8360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1215" name="TextBox 1214"/>
          <p:cNvSpPr txBox="1"/>
          <p:nvPr/>
        </p:nvSpPr>
        <p:spPr>
          <a:xfrm>
            <a:off x="6183056" y="1016032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1216" name="Rectangle 1215"/>
          <p:cNvSpPr/>
          <p:nvPr/>
        </p:nvSpPr>
        <p:spPr>
          <a:xfrm>
            <a:off x="6849056" y="1022032"/>
            <a:ext cx="335249" cy="250996"/>
          </a:xfrm>
          <a:prstGeom prst="rect">
            <a:avLst/>
          </a:prstGeom>
          <a:solidFill>
            <a:srgbClr val="2980B9">
              <a:alpha val="345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TextBox 1216"/>
          <p:cNvSpPr txBox="1"/>
          <p:nvPr/>
        </p:nvSpPr>
        <p:spPr>
          <a:xfrm>
            <a:off x="684305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1.3M</a:t>
            </a:r>
          </a:p>
        </p:txBody>
      </p:sp>
      <p:sp>
        <p:nvSpPr>
          <p:cNvPr id="1218" name="TextBox 1217"/>
          <p:cNvSpPr txBox="1"/>
          <p:nvPr/>
        </p:nvSpPr>
        <p:spPr>
          <a:xfrm>
            <a:off x="6843056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2件</a:t>
            </a:r>
          </a:p>
        </p:txBody>
      </p:sp>
      <p:sp>
        <p:nvSpPr>
          <p:cNvPr id="1219" name="Rectangle 1218"/>
          <p:cNvSpPr/>
          <p:nvPr/>
        </p:nvSpPr>
        <p:spPr>
          <a:xfrm>
            <a:off x="7196305" y="1022032"/>
            <a:ext cx="335249" cy="250996"/>
          </a:xfrm>
          <a:prstGeom prst="rect">
            <a:avLst/>
          </a:prstGeom>
          <a:solidFill>
            <a:srgbClr val="2980B9">
              <a:alpha val="38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TextBox 1219"/>
          <p:cNvSpPr txBox="1"/>
          <p:nvPr/>
        </p:nvSpPr>
        <p:spPr>
          <a:xfrm>
            <a:off x="7190305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1.9M</a:t>
            </a:r>
          </a:p>
        </p:txBody>
      </p:sp>
      <p:sp>
        <p:nvSpPr>
          <p:cNvPr id="1221" name="TextBox 1220"/>
          <p:cNvSpPr txBox="1"/>
          <p:nvPr/>
        </p:nvSpPr>
        <p:spPr>
          <a:xfrm>
            <a:off x="7190305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8件</a:t>
            </a:r>
          </a:p>
        </p:txBody>
      </p:sp>
      <p:sp>
        <p:nvSpPr>
          <p:cNvPr id="1222" name="Rectangle 1221"/>
          <p:cNvSpPr/>
          <p:nvPr/>
        </p:nvSpPr>
        <p:spPr>
          <a:xfrm>
            <a:off x="7543554" y="1022032"/>
            <a:ext cx="335249" cy="250996"/>
          </a:xfrm>
          <a:prstGeom prst="rect">
            <a:avLst/>
          </a:prstGeom>
          <a:solidFill>
            <a:srgbClr val="2980B9">
              <a:alpha val="632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TextBox 1222"/>
          <p:cNvSpPr txBox="1"/>
          <p:nvPr/>
        </p:nvSpPr>
        <p:spPr>
          <a:xfrm>
            <a:off x="7537554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5.3M</a:t>
            </a:r>
          </a:p>
        </p:txBody>
      </p:sp>
      <p:sp>
        <p:nvSpPr>
          <p:cNvPr id="1224" name="TextBox 1223"/>
          <p:cNvSpPr txBox="1"/>
          <p:nvPr/>
        </p:nvSpPr>
        <p:spPr>
          <a:xfrm>
            <a:off x="7537554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225" name="Rectangle 1224"/>
          <p:cNvSpPr/>
          <p:nvPr/>
        </p:nvSpPr>
        <p:spPr>
          <a:xfrm>
            <a:off x="7890803" y="1022032"/>
            <a:ext cx="335249" cy="250996"/>
          </a:xfrm>
          <a:prstGeom prst="rect">
            <a:avLst/>
          </a:prstGeom>
          <a:solidFill>
            <a:srgbClr val="2980B9">
              <a:alpha val="317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TextBox 1225"/>
          <p:cNvSpPr txBox="1"/>
          <p:nvPr/>
        </p:nvSpPr>
        <p:spPr>
          <a:xfrm>
            <a:off x="788480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0.9M</a:t>
            </a:r>
          </a:p>
        </p:txBody>
      </p:sp>
      <p:sp>
        <p:nvSpPr>
          <p:cNvPr id="1227" name="TextBox 1226"/>
          <p:cNvSpPr txBox="1"/>
          <p:nvPr/>
        </p:nvSpPr>
        <p:spPr>
          <a:xfrm>
            <a:off x="7884803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228" name="Rectangle 1227"/>
          <p:cNvSpPr/>
          <p:nvPr/>
        </p:nvSpPr>
        <p:spPr>
          <a:xfrm>
            <a:off x="8238052" y="1022032"/>
            <a:ext cx="335249" cy="250996"/>
          </a:xfrm>
          <a:prstGeom prst="rect">
            <a:avLst/>
          </a:prstGeom>
          <a:solidFill>
            <a:srgbClr val="2980B9">
              <a:alpha val="273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TextBox 1228"/>
          <p:cNvSpPr txBox="1"/>
          <p:nvPr/>
        </p:nvSpPr>
        <p:spPr>
          <a:xfrm>
            <a:off x="823205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230" name="TextBox 1229"/>
          <p:cNvSpPr txBox="1"/>
          <p:nvPr/>
        </p:nvSpPr>
        <p:spPr>
          <a:xfrm>
            <a:off x="8232052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231" name="Rectangle 1230"/>
          <p:cNvSpPr/>
          <p:nvPr/>
        </p:nvSpPr>
        <p:spPr>
          <a:xfrm>
            <a:off x="8585301" y="1022032"/>
            <a:ext cx="335249" cy="250996"/>
          </a:xfrm>
          <a:prstGeom prst="rect">
            <a:avLst/>
          </a:prstGeom>
          <a:solidFill>
            <a:srgbClr val="2980B9">
              <a:alpha val="689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TextBox 1231"/>
          <p:cNvSpPr txBox="1"/>
          <p:nvPr/>
        </p:nvSpPr>
        <p:spPr>
          <a:xfrm>
            <a:off x="8579301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6.1M</a:t>
            </a:r>
          </a:p>
        </p:txBody>
      </p:sp>
      <p:sp>
        <p:nvSpPr>
          <p:cNvPr id="1233" name="TextBox 1232"/>
          <p:cNvSpPr txBox="1"/>
          <p:nvPr/>
        </p:nvSpPr>
        <p:spPr>
          <a:xfrm>
            <a:off x="8579301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21件</a:t>
            </a:r>
          </a:p>
        </p:txBody>
      </p:sp>
      <p:sp>
        <p:nvSpPr>
          <p:cNvPr id="1234" name="Rectangle 1233"/>
          <p:cNvSpPr/>
          <p:nvPr/>
        </p:nvSpPr>
        <p:spPr>
          <a:xfrm>
            <a:off x="8932550" y="1022032"/>
            <a:ext cx="335249" cy="250996"/>
          </a:xfrm>
          <a:prstGeom prst="rect">
            <a:avLst/>
          </a:prstGeom>
          <a:solidFill>
            <a:srgbClr val="2980B9">
              <a:alpha val="467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TextBox 1234"/>
          <p:cNvSpPr txBox="1"/>
          <p:nvPr/>
        </p:nvSpPr>
        <p:spPr>
          <a:xfrm>
            <a:off x="8926550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3.0M</a:t>
            </a:r>
          </a:p>
        </p:txBody>
      </p:sp>
      <p:sp>
        <p:nvSpPr>
          <p:cNvPr id="1236" name="TextBox 1235"/>
          <p:cNvSpPr txBox="1"/>
          <p:nvPr/>
        </p:nvSpPr>
        <p:spPr>
          <a:xfrm>
            <a:off x="8926550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13件</a:t>
            </a:r>
          </a:p>
        </p:txBody>
      </p:sp>
      <p:sp>
        <p:nvSpPr>
          <p:cNvPr id="1237" name="Rectangle 1236"/>
          <p:cNvSpPr/>
          <p:nvPr/>
        </p:nvSpPr>
        <p:spPr>
          <a:xfrm>
            <a:off x="9279799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TextBox 1237"/>
          <p:cNvSpPr txBox="1"/>
          <p:nvPr/>
        </p:nvSpPr>
        <p:spPr>
          <a:xfrm>
            <a:off x="9273799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10.4M</a:t>
            </a:r>
          </a:p>
        </p:txBody>
      </p:sp>
      <p:sp>
        <p:nvSpPr>
          <p:cNvPr id="1239" name="TextBox 1238"/>
          <p:cNvSpPr txBox="1"/>
          <p:nvPr/>
        </p:nvSpPr>
        <p:spPr>
          <a:xfrm>
            <a:off x="9273799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240" name="Rectangle 1239"/>
          <p:cNvSpPr/>
          <p:nvPr/>
        </p:nvSpPr>
        <p:spPr>
          <a:xfrm>
            <a:off x="9627048" y="1022032"/>
            <a:ext cx="335249" cy="250996"/>
          </a:xfrm>
          <a:prstGeom prst="rect">
            <a:avLst/>
          </a:prstGeom>
          <a:solidFill>
            <a:srgbClr val="2980B9">
              <a:alpha val="380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TextBox 1240"/>
          <p:cNvSpPr txBox="1"/>
          <p:nvPr/>
        </p:nvSpPr>
        <p:spPr>
          <a:xfrm>
            <a:off x="9621048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1.8M</a:t>
            </a:r>
          </a:p>
        </p:txBody>
      </p:sp>
      <p:sp>
        <p:nvSpPr>
          <p:cNvPr id="1242" name="TextBox 1241"/>
          <p:cNvSpPr txBox="1"/>
          <p:nvPr/>
        </p:nvSpPr>
        <p:spPr>
          <a:xfrm>
            <a:off x="9621048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16件</a:t>
            </a:r>
          </a:p>
        </p:txBody>
      </p:sp>
      <p:sp>
        <p:nvSpPr>
          <p:cNvPr id="1243" name="Rectangle 1242"/>
          <p:cNvSpPr/>
          <p:nvPr/>
        </p:nvSpPr>
        <p:spPr>
          <a:xfrm>
            <a:off x="9974297" y="1022032"/>
            <a:ext cx="335249" cy="250996"/>
          </a:xfrm>
          <a:prstGeom prst="rect">
            <a:avLst/>
          </a:prstGeom>
          <a:solidFill>
            <a:srgbClr val="2980B9">
              <a:alpha val="283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TextBox 1243"/>
          <p:cNvSpPr txBox="1"/>
          <p:nvPr/>
        </p:nvSpPr>
        <p:spPr>
          <a:xfrm>
            <a:off x="9968297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0.5M</a:t>
            </a:r>
          </a:p>
        </p:txBody>
      </p:sp>
      <p:sp>
        <p:nvSpPr>
          <p:cNvPr id="1245" name="TextBox 1244"/>
          <p:cNvSpPr txBox="1"/>
          <p:nvPr/>
        </p:nvSpPr>
        <p:spPr>
          <a:xfrm>
            <a:off x="9968297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1件</a:t>
            </a:r>
          </a:p>
        </p:txBody>
      </p:sp>
      <p:sp>
        <p:nvSpPr>
          <p:cNvPr id="1246" name="Rectangle 1245"/>
          <p:cNvSpPr/>
          <p:nvPr/>
        </p:nvSpPr>
        <p:spPr>
          <a:xfrm>
            <a:off x="10321546" y="1022032"/>
            <a:ext cx="335249" cy="250996"/>
          </a:xfrm>
          <a:prstGeom prst="rect">
            <a:avLst/>
          </a:prstGeom>
          <a:solidFill>
            <a:srgbClr val="2980B9">
              <a:alpha val="32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TextBox 1246"/>
          <p:cNvSpPr txBox="1"/>
          <p:nvPr/>
        </p:nvSpPr>
        <p:spPr>
          <a:xfrm>
            <a:off x="10315546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1.0M</a:t>
            </a:r>
          </a:p>
        </p:txBody>
      </p:sp>
      <p:sp>
        <p:nvSpPr>
          <p:cNvPr id="1248" name="TextBox 1247"/>
          <p:cNvSpPr txBox="1"/>
          <p:nvPr/>
        </p:nvSpPr>
        <p:spPr>
          <a:xfrm>
            <a:off x="10315546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249" name="Rectangle 1248"/>
          <p:cNvSpPr/>
          <p:nvPr/>
        </p:nvSpPr>
        <p:spPr>
          <a:xfrm>
            <a:off x="10668795" y="1022032"/>
            <a:ext cx="335249" cy="250996"/>
          </a:xfrm>
          <a:prstGeom prst="rect">
            <a:avLst/>
          </a:prstGeom>
          <a:solidFill>
            <a:srgbClr val="2980B9">
              <a:alpha val="411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TextBox 1249"/>
          <p:cNvSpPr txBox="1"/>
          <p:nvPr/>
        </p:nvSpPr>
        <p:spPr>
          <a:xfrm>
            <a:off x="10662795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2.2M</a:t>
            </a:r>
          </a:p>
        </p:txBody>
      </p:sp>
      <p:sp>
        <p:nvSpPr>
          <p:cNvPr id="1251" name="TextBox 1250"/>
          <p:cNvSpPr txBox="1"/>
          <p:nvPr/>
        </p:nvSpPr>
        <p:spPr>
          <a:xfrm>
            <a:off x="10662795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252" name="Rectangle 1251"/>
          <p:cNvSpPr/>
          <p:nvPr/>
        </p:nvSpPr>
        <p:spPr>
          <a:xfrm>
            <a:off x="11016044" y="1022032"/>
            <a:ext cx="335249" cy="250996"/>
          </a:xfrm>
          <a:prstGeom prst="rect">
            <a:avLst/>
          </a:prstGeom>
          <a:solidFill>
            <a:srgbClr val="2980B9">
              <a:alpha val="375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TextBox 1252"/>
          <p:cNvSpPr txBox="1"/>
          <p:nvPr/>
        </p:nvSpPr>
        <p:spPr>
          <a:xfrm>
            <a:off x="11010044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1.7M</a:t>
            </a:r>
          </a:p>
        </p:txBody>
      </p:sp>
      <p:sp>
        <p:nvSpPr>
          <p:cNvPr id="1254" name="TextBox 1253"/>
          <p:cNvSpPr txBox="1"/>
          <p:nvPr/>
        </p:nvSpPr>
        <p:spPr>
          <a:xfrm>
            <a:off x="11010044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11件</a:t>
            </a:r>
          </a:p>
        </p:txBody>
      </p:sp>
      <p:sp>
        <p:nvSpPr>
          <p:cNvPr id="1255" name="Rectangle 1254"/>
          <p:cNvSpPr/>
          <p:nvPr/>
        </p:nvSpPr>
        <p:spPr>
          <a:xfrm>
            <a:off x="11363293" y="1022032"/>
            <a:ext cx="335249" cy="250996"/>
          </a:xfrm>
          <a:prstGeom prst="rect">
            <a:avLst/>
          </a:prstGeom>
          <a:solidFill>
            <a:srgbClr val="2980B9">
              <a:alpha val="294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TextBox 1255"/>
          <p:cNvSpPr txBox="1"/>
          <p:nvPr/>
        </p:nvSpPr>
        <p:spPr>
          <a:xfrm>
            <a:off x="11357293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0.6M</a:t>
            </a:r>
          </a:p>
        </p:txBody>
      </p:sp>
      <p:sp>
        <p:nvSpPr>
          <p:cNvPr id="1257" name="TextBox 1256"/>
          <p:cNvSpPr txBox="1"/>
          <p:nvPr/>
        </p:nvSpPr>
        <p:spPr>
          <a:xfrm>
            <a:off x="11357293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2件</a:t>
            </a:r>
          </a:p>
        </p:txBody>
      </p:sp>
      <p:sp>
        <p:nvSpPr>
          <p:cNvPr id="1258" name="Rectangle 1257"/>
          <p:cNvSpPr/>
          <p:nvPr/>
        </p:nvSpPr>
        <p:spPr>
          <a:xfrm>
            <a:off x="11710542" y="1022032"/>
            <a:ext cx="335249" cy="250996"/>
          </a:xfrm>
          <a:prstGeom prst="rect">
            <a:avLst/>
          </a:prstGeom>
          <a:solidFill>
            <a:srgbClr val="2980B9">
              <a:alpha val="67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TextBox 1258"/>
          <p:cNvSpPr txBox="1"/>
          <p:nvPr/>
        </p:nvSpPr>
        <p:spPr>
          <a:xfrm>
            <a:off x="11704542" y="10240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6.0M</a:t>
            </a:r>
          </a:p>
        </p:txBody>
      </p:sp>
      <p:sp>
        <p:nvSpPr>
          <p:cNvPr id="1260" name="TextBox 1259"/>
          <p:cNvSpPr txBox="1"/>
          <p:nvPr/>
        </p:nvSpPr>
        <p:spPr>
          <a:xfrm>
            <a:off x="11704542" y="11540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261" name="TextBox 1260"/>
          <p:cNvSpPr txBox="1"/>
          <p:nvPr/>
        </p:nvSpPr>
        <p:spPr>
          <a:xfrm>
            <a:off x="6183056" y="1279028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1262" name="Rectangle 1261"/>
          <p:cNvSpPr/>
          <p:nvPr/>
        </p:nvSpPr>
        <p:spPr>
          <a:xfrm>
            <a:off x="6849056" y="1285028"/>
            <a:ext cx="335249" cy="250996"/>
          </a:xfrm>
          <a:prstGeom prst="rect">
            <a:avLst/>
          </a:prstGeom>
          <a:solidFill>
            <a:srgbClr val="374151">
              <a:alpha val="319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TextBox 1262"/>
          <p:cNvSpPr txBox="1"/>
          <p:nvPr/>
        </p:nvSpPr>
        <p:spPr>
          <a:xfrm>
            <a:off x="6843056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264" name="TextBox 1263"/>
          <p:cNvSpPr txBox="1"/>
          <p:nvPr/>
        </p:nvSpPr>
        <p:spPr>
          <a:xfrm>
            <a:off x="6843056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265" name="Rectangle 1264"/>
          <p:cNvSpPr/>
          <p:nvPr/>
        </p:nvSpPr>
        <p:spPr>
          <a:xfrm>
            <a:off x="7196305" y="1285028"/>
            <a:ext cx="335249" cy="250996"/>
          </a:xfrm>
          <a:prstGeom prst="rect">
            <a:avLst/>
          </a:prstGeom>
          <a:solidFill>
            <a:srgbClr val="374151">
              <a:alpha val="378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7190305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267" name="TextBox 1266"/>
          <p:cNvSpPr txBox="1"/>
          <p:nvPr/>
        </p:nvSpPr>
        <p:spPr>
          <a:xfrm>
            <a:off x="7190305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268" name="Rectangle 1267"/>
          <p:cNvSpPr/>
          <p:nvPr/>
        </p:nvSpPr>
        <p:spPr>
          <a:xfrm>
            <a:off x="7543554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TextBox 1268"/>
          <p:cNvSpPr txBox="1"/>
          <p:nvPr/>
        </p:nvSpPr>
        <p:spPr>
          <a:xfrm>
            <a:off x="7537554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1.4M</a:t>
            </a:r>
          </a:p>
        </p:txBody>
      </p:sp>
      <p:sp>
        <p:nvSpPr>
          <p:cNvPr id="1270" name="TextBox 1269"/>
          <p:cNvSpPr txBox="1"/>
          <p:nvPr/>
        </p:nvSpPr>
        <p:spPr>
          <a:xfrm>
            <a:off x="7537554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271" name="Rectangle 1270"/>
          <p:cNvSpPr/>
          <p:nvPr/>
        </p:nvSpPr>
        <p:spPr>
          <a:xfrm>
            <a:off x="7890803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TextBox 1271"/>
          <p:cNvSpPr txBox="1"/>
          <p:nvPr/>
        </p:nvSpPr>
        <p:spPr>
          <a:xfrm>
            <a:off x="7884803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273" name="TextBox 1272"/>
          <p:cNvSpPr txBox="1"/>
          <p:nvPr/>
        </p:nvSpPr>
        <p:spPr>
          <a:xfrm>
            <a:off x="7884803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3件</a:t>
            </a:r>
          </a:p>
        </p:txBody>
      </p:sp>
      <p:sp>
        <p:nvSpPr>
          <p:cNvPr id="1274" name="Rectangle 1273"/>
          <p:cNvSpPr/>
          <p:nvPr/>
        </p:nvSpPr>
        <p:spPr>
          <a:xfrm>
            <a:off x="8238052" y="1285028"/>
            <a:ext cx="335249" cy="250996"/>
          </a:xfrm>
          <a:prstGeom prst="rect">
            <a:avLst/>
          </a:prstGeom>
          <a:solidFill>
            <a:srgbClr val="374151">
              <a:alpha val="55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8232052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0.6M</a:t>
            </a:r>
          </a:p>
        </p:txBody>
      </p:sp>
      <p:sp>
        <p:nvSpPr>
          <p:cNvPr id="1276" name="TextBox 1275"/>
          <p:cNvSpPr txBox="1"/>
          <p:nvPr/>
        </p:nvSpPr>
        <p:spPr>
          <a:xfrm>
            <a:off x="8232052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277" name="Rectangle 1276"/>
          <p:cNvSpPr/>
          <p:nvPr/>
        </p:nvSpPr>
        <p:spPr>
          <a:xfrm>
            <a:off x="8585301" y="1285028"/>
            <a:ext cx="335249" cy="250996"/>
          </a:xfrm>
          <a:prstGeom prst="rect">
            <a:avLst/>
          </a:prstGeom>
          <a:solidFill>
            <a:srgbClr val="374151">
              <a:alpha val="901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TextBox 1277"/>
          <p:cNvSpPr txBox="1"/>
          <p:nvPr/>
        </p:nvSpPr>
        <p:spPr>
          <a:xfrm>
            <a:off x="8579301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1.2M</a:t>
            </a:r>
          </a:p>
        </p:txBody>
      </p:sp>
      <p:sp>
        <p:nvSpPr>
          <p:cNvPr id="1279" name="TextBox 1278"/>
          <p:cNvSpPr txBox="1"/>
          <p:nvPr/>
        </p:nvSpPr>
        <p:spPr>
          <a:xfrm>
            <a:off x="8579301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280" name="Rectangle 1279"/>
          <p:cNvSpPr/>
          <p:nvPr/>
        </p:nvSpPr>
        <p:spPr>
          <a:xfrm>
            <a:off x="8932550" y="1285028"/>
            <a:ext cx="335249" cy="250996"/>
          </a:xfrm>
          <a:prstGeom prst="rect">
            <a:avLst/>
          </a:prstGeom>
          <a:solidFill>
            <a:srgbClr val="374151">
              <a:alpha val="556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TextBox 1280"/>
          <p:cNvSpPr txBox="1"/>
          <p:nvPr/>
        </p:nvSpPr>
        <p:spPr>
          <a:xfrm>
            <a:off x="8926550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0.6M</a:t>
            </a:r>
          </a:p>
        </p:txBody>
      </p:sp>
      <p:sp>
        <p:nvSpPr>
          <p:cNvPr id="1282" name="TextBox 1281"/>
          <p:cNvSpPr txBox="1"/>
          <p:nvPr/>
        </p:nvSpPr>
        <p:spPr>
          <a:xfrm>
            <a:off x="8926550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283" name="Rectangle 1282"/>
          <p:cNvSpPr/>
          <p:nvPr/>
        </p:nvSpPr>
        <p:spPr>
          <a:xfrm>
            <a:off x="9279799" y="1285028"/>
            <a:ext cx="335249" cy="250996"/>
          </a:xfrm>
          <a:prstGeom prst="rect">
            <a:avLst/>
          </a:prstGeom>
          <a:solidFill>
            <a:srgbClr val="374151">
              <a:alpha val="45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TextBox 1283"/>
          <p:cNvSpPr txBox="1"/>
          <p:nvPr/>
        </p:nvSpPr>
        <p:spPr>
          <a:xfrm>
            <a:off x="9273799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285" name="TextBox 1284"/>
          <p:cNvSpPr txBox="1"/>
          <p:nvPr/>
        </p:nvSpPr>
        <p:spPr>
          <a:xfrm>
            <a:off x="9273799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286" name="Rectangle 1285"/>
          <p:cNvSpPr/>
          <p:nvPr/>
        </p:nvSpPr>
        <p:spPr>
          <a:xfrm>
            <a:off x="9627048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9621048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9621048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289" name="Rectangle 1288"/>
          <p:cNvSpPr/>
          <p:nvPr/>
        </p:nvSpPr>
        <p:spPr>
          <a:xfrm>
            <a:off x="9974297" y="1285028"/>
            <a:ext cx="335249" cy="250996"/>
          </a:xfrm>
          <a:prstGeom prst="rect">
            <a:avLst/>
          </a:prstGeom>
          <a:solidFill>
            <a:srgbClr val="374151">
              <a:alpha val="290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TextBox 1289"/>
          <p:cNvSpPr txBox="1"/>
          <p:nvPr/>
        </p:nvSpPr>
        <p:spPr>
          <a:xfrm>
            <a:off x="9968297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291" name="TextBox 1290"/>
          <p:cNvSpPr txBox="1"/>
          <p:nvPr/>
        </p:nvSpPr>
        <p:spPr>
          <a:xfrm>
            <a:off x="9968297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292" name="Rectangle 1291"/>
          <p:cNvSpPr/>
          <p:nvPr/>
        </p:nvSpPr>
        <p:spPr>
          <a:xfrm>
            <a:off x="10321546" y="1285028"/>
            <a:ext cx="335249" cy="250996"/>
          </a:xfrm>
          <a:prstGeom prst="rect">
            <a:avLst/>
          </a:prstGeom>
          <a:solidFill>
            <a:srgbClr val="374151">
              <a:alpha val="311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TextBox 1292"/>
          <p:cNvSpPr txBox="1"/>
          <p:nvPr/>
        </p:nvSpPr>
        <p:spPr>
          <a:xfrm>
            <a:off x="10315546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10315546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295" name="Rectangle 1294"/>
          <p:cNvSpPr/>
          <p:nvPr/>
        </p:nvSpPr>
        <p:spPr>
          <a:xfrm>
            <a:off x="10668795" y="1285028"/>
            <a:ext cx="335249" cy="250996"/>
          </a:xfrm>
          <a:prstGeom prst="rect">
            <a:avLst/>
          </a:prstGeom>
          <a:solidFill>
            <a:srgbClr val="374151">
              <a:alpha val="453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10662795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297" name="TextBox 1296"/>
          <p:cNvSpPr txBox="1"/>
          <p:nvPr/>
        </p:nvSpPr>
        <p:spPr>
          <a:xfrm>
            <a:off x="10662795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298" name="Rectangle 1297"/>
          <p:cNvSpPr/>
          <p:nvPr/>
        </p:nvSpPr>
        <p:spPr>
          <a:xfrm>
            <a:off x="11710542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11704542" y="12870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11704542" y="14170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301" name="TextBox 1300"/>
          <p:cNvSpPr txBox="1"/>
          <p:nvPr/>
        </p:nvSpPr>
        <p:spPr>
          <a:xfrm>
            <a:off x="6183056" y="1542024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302" name="Rectangle 1301"/>
          <p:cNvSpPr/>
          <p:nvPr/>
        </p:nvSpPr>
        <p:spPr>
          <a:xfrm>
            <a:off x="6849056" y="1548024"/>
            <a:ext cx="335249" cy="250996"/>
          </a:xfrm>
          <a:prstGeom prst="rect">
            <a:avLst/>
          </a:prstGeom>
          <a:solidFill>
            <a:srgbClr val="1F3864">
              <a:alpha val="27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6843056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0.2M</a:t>
            </a:r>
          </a:p>
        </p:txBody>
      </p:sp>
      <p:sp>
        <p:nvSpPr>
          <p:cNvPr id="1304" name="TextBox 1303"/>
          <p:cNvSpPr txBox="1"/>
          <p:nvPr/>
        </p:nvSpPr>
        <p:spPr>
          <a:xfrm>
            <a:off x="6843056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305" name="Rectangle 1304"/>
          <p:cNvSpPr/>
          <p:nvPr/>
        </p:nvSpPr>
        <p:spPr>
          <a:xfrm>
            <a:off x="7196305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TextBox 1305"/>
          <p:cNvSpPr txBox="1"/>
          <p:nvPr/>
        </p:nvSpPr>
        <p:spPr>
          <a:xfrm>
            <a:off x="7190305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7190305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08" name="Rectangle 1307"/>
          <p:cNvSpPr/>
          <p:nvPr/>
        </p:nvSpPr>
        <p:spPr>
          <a:xfrm>
            <a:off x="7543554" y="1548024"/>
            <a:ext cx="335249" cy="250996"/>
          </a:xfrm>
          <a:prstGeom prst="rect">
            <a:avLst/>
          </a:prstGeom>
          <a:solidFill>
            <a:srgbClr val="1F3864">
              <a:alpha val="590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TextBox 1308"/>
          <p:cNvSpPr txBox="1"/>
          <p:nvPr/>
        </p:nvSpPr>
        <p:spPr>
          <a:xfrm>
            <a:off x="7537554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1.9M</a:t>
            </a:r>
          </a:p>
        </p:txBody>
      </p:sp>
      <p:sp>
        <p:nvSpPr>
          <p:cNvPr id="1310" name="TextBox 1309"/>
          <p:cNvSpPr txBox="1"/>
          <p:nvPr/>
        </p:nvSpPr>
        <p:spPr>
          <a:xfrm>
            <a:off x="7537554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11" name="Rectangle 1310"/>
          <p:cNvSpPr/>
          <p:nvPr/>
        </p:nvSpPr>
        <p:spPr>
          <a:xfrm>
            <a:off x="7890803" y="1548024"/>
            <a:ext cx="335249" cy="250996"/>
          </a:xfrm>
          <a:prstGeom prst="rect">
            <a:avLst/>
          </a:prstGeom>
          <a:solidFill>
            <a:srgbClr val="1F3864">
              <a:alpha val="34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TextBox 1311"/>
          <p:cNvSpPr txBox="1"/>
          <p:nvPr/>
        </p:nvSpPr>
        <p:spPr>
          <a:xfrm>
            <a:off x="7884803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0.5M</a:t>
            </a:r>
          </a:p>
        </p:txBody>
      </p:sp>
      <p:sp>
        <p:nvSpPr>
          <p:cNvPr id="1313" name="TextBox 1312"/>
          <p:cNvSpPr txBox="1"/>
          <p:nvPr/>
        </p:nvSpPr>
        <p:spPr>
          <a:xfrm>
            <a:off x="7884803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314" name="Rectangle 1313"/>
          <p:cNvSpPr/>
          <p:nvPr/>
        </p:nvSpPr>
        <p:spPr>
          <a:xfrm>
            <a:off x="8238052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TextBox 1314"/>
          <p:cNvSpPr txBox="1"/>
          <p:nvPr/>
        </p:nvSpPr>
        <p:spPr>
          <a:xfrm>
            <a:off x="8232052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316" name="TextBox 1315"/>
          <p:cNvSpPr txBox="1"/>
          <p:nvPr/>
        </p:nvSpPr>
        <p:spPr>
          <a:xfrm>
            <a:off x="8232052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17" name="Rectangle 1316"/>
          <p:cNvSpPr/>
          <p:nvPr/>
        </p:nvSpPr>
        <p:spPr>
          <a:xfrm>
            <a:off x="8585301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TextBox 1317"/>
          <p:cNvSpPr txBox="1"/>
          <p:nvPr/>
        </p:nvSpPr>
        <p:spPr>
          <a:xfrm>
            <a:off x="8579301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319" name="TextBox 1318"/>
          <p:cNvSpPr txBox="1"/>
          <p:nvPr/>
        </p:nvSpPr>
        <p:spPr>
          <a:xfrm>
            <a:off x="8579301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320" name="Rectangle 1319"/>
          <p:cNvSpPr/>
          <p:nvPr/>
        </p:nvSpPr>
        <p:spPr>
          <a:xfrm>
            <a:off x="8932550" y="1548024"/>
            <a:ext cx="335249" cy="250996"/>
          </a:xfrm>
          <a:prstGeom prst="rect">
            <a:avLst/>
          </a:prstGeom>
          <a:solidFill>
            <a:srgbClr val="1F3864">
              <a:alpha val="42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TextBox 1320"/>
          <p:cNvSpPr txBox="1"/>
          <p:nvPr/>
        </p:nvSpPr>
        <p:spPr>
          <a:xfrm>
            <a:off x="8926550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1.0M</a:t>
            </a:r>
          </a:p>
        </p:txBody>
      </p:sp>
      <p:sp>
        <p:nvSpPr>
          <p:cNvPr id="1322" name="TextBox 1321"/>
          <p:cNvSpPr txBox="1"/>
          <p:nvPr/>
        </p:nvSpPr>
        <p:spPr>
          <a:xfrm>
            <a:off x="8926550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323" name="Rectangle 1322"/>
          <p:cNvSpPr/>
          <p:nvPr/>
        </p:nvSpPr>
        <p:spPr>
          <a:xfrm>
            <a:off x="9279799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TextBox 1323"/>
          <p:cNvSpPr txBox="1"/>
          <p:nvPr/>
        </p:nvSpPr>
        <p:spPr>
          <a:xfrm>
            <a:off x="9273799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325" name="TextBox 1324"/>
          <p:cNvSpPr txBox="1"/>
          <p:nvPr/>
        </p:nvSpPr>
        <p:spPr>
          <a:xfrm>
            <a:off x="9273799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326" name="Rectangle 1325"/>
          <p:cNvSpPr/>
          <p:nvPr/>
        </p:nvSpPr>
        <p:spPr>
          <a:xfrm>
            <a:off x="9627048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TextBox 1326"/>
          <p:cNvSpPr txBox="1"/>
          <p:nvPr/>
        </p:nvSpPr>
        <p:spPr>
          <a:xfrm>
            <a:off x="9621048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1.2M</a:t>
            </a:r>
          </a:p>
        </p:txBody>
      </p:sp>
      <p:sp>
        <p:nvSpPr>
          <p:cNvPr id="1328" name="TextBox 1327"/>
          <p:cNvSpPr txBox="1"/>
          <p:nvPr/>
        </p:nvSpPr>
        <p:spPr>
          <a:xfrm>
            <a:off x="9621048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329" name="Rectangle 1328"/>
          <p:cNvSpPr/>
          <p:nvPr/>
        </p:nvSpPr>
        <p:spPr>
          <a:xfrm>
            <a:off x="9974297" y="1548024"/>
            <a:ext cx="335249" cy="250996"/>
          </a:xfrm>
          <a:prstGeom prst="rect">
            <a:avLst/>
          </a:prstGeom>
          <a:solidFill>
            <a:srgbClr val="1F3864">
              <a:alpha val="76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9968297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3.0M</a:t>
            </a:r>
          </a:p>
        </p:txBody>
      </p:sp>
      <p:sp>
        <p:nvSpPr>
          <p:cNvPr id="1331" name="TextBox 1330"/>
          <p:cNvSpPr txBox="1"/>
          <p:nvPr/>
        </p:nvSpPr>
        <p:spPr>
          <a:xfrm>
            <a:off x="9968297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332" name="Rectangle 1331"/>
          <p:cNvSpPr/>
          <p:nvPr/>
        </p:nvSpPr>
        <p:spPr>
          <a:xfrm>
            <a:off x="10321546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10315546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334" name="TextBox 1333"/>
          <p:cNvSpPr txBox="1"/>
          <p:nvPr/>
        </p:nvSpPr>
        <p:spPr>
          <a:xfrm>
            <a:off x="10315546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4件</a:t>
            </a:r>
          </a:p>
        </p:txBody>
      </p:sp>
      <p:sp>
        <p:nvSpPr>
          <p:cNvPr id="1335" name="Rectangle 1334"/>
          <p:cNvSpPr/>
          <p:nvPr/>
        </p:nvSpPr>
        <p:spPr>
          <a:xfrm>
            <a:off x="10668795" y="1548024"/>
            <a:ext cx="335249" cy="250996"/>
          </a:xfrm>
          <a:prstGeom prst="rect">
            <a:avLst/>
          </a:prstGeom>
          <a:solidFill>
            <a:srgbClr val="1F3864">
              <a:alpha val="807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10662795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3.2M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10662795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338" name="Rectangle 1337"/>
          <p:cNvSpPr/>
          <p:nvPr/>
        </p:nvSpPr>
        <p:spPr>
          <a:xfrm>
            <a:off x="11016044" y="1548024"/>
            <a:ext cx="335249" cy="250996"/>
          </a:xfrm>
          <a:prstGeom prst="rect">
            <a:avLst/>
          </a:prstGeom>
          <a:solidFill>
            <a:srgbClr val="1F3864">
              <a:alpha val="7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11010044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3.1M</a:t>
            </a:r>
          </a:p>
        </p:txBody>
      </p:sp>
      <p:sp>
        <p:nvSpPr>
          <p:cNvPr id="1340" name="TextBox 1339"/>
          <p:cNvSpPr txBox="1"/>
          <p:nvPr/>
        </p:nvSpPr>
        <p:spPr>
          <a:xfrm>
            <a:off x="11010044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341" name="Rectangle 1340"/>
          <p:cNvSpPr/>
          <p:nvPr/>
        </p:nvSpPr>
        <p:spPr>
          <a:xfrm>
            <a:off x="11363293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11357293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2.3M</a:t>
            </a:r>
          </a:p>
        </p:txBody>
      </p:sp>
      <p:sp>
        <p:nvSpPr>
          <p:cNvPr id="1343" name="TextBox 1342"/>
          <p:cNvSpPr txBox="1"/>
          <p:nvPr/>
        </p:nvSpPr>
        <p:spPr>
          <a:xfrm>
            <a:off x="11357293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344" name="Rectangle 1343"/>
          <p:cNvSpPr/>
          <p:nvPr/>
        </p:nvSpPr>
        <p:spPr>
          <a:xfrm>
            <a:off x="11710542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11704542" y="15500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346" name="TextBox 1345"/>
          <p:cNvSpPr txBox="1"/>
          <p:nvPr/>
        </p:nvSpPr>
        <p:spPr>
          <a:xfrm>
            <a:off x="11704542" y="16800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347" name="TextBox 1346"/>
          <p:cNvSpPr txBox="1"/>
          <p:nvPr/>
        </p:nvSpPr>
        <p:spPr>
          <a:xfrm>
            <a:off x="6183056" y="1805020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348" name="Rectangle 1347"/>
          <p:cNvSpPr/>
          <p:nvPr/>
        </p:nvSpPr>
        <p:spPr>
          <a:xfrm>
            <a:off x="6849056" y="1811020"/>
            <a:ext cx="335249" cy="250996"/>
          </a:xfrm>
          <a:prstGeom prst="rect">
            <a:avLst/>
          </a:prstGeom>
          <a:solidFill>
            <a:srgbClr val="E67E22">
              <a:alpha val="276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TextBox 1348"/>
          <p:cNvSpPr txBox="1"/>
          <p:nvPr/>
        </p:nvSpPr>
        <p:spPr>
          <a:xfrm>
            <a:off x="6843056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0.4M</a:t>
            </a:r>
          </a:p>
        </p:txBody>
      </p:sp>
      <p:sp>
        <p:nvSpPr>
          <p:cNvPr id="1350" name="TextBox 1349"/>
          <p:cNvSpPr txBox="1"/>
          <p:nvPr/>
        </p:nvSpPr>
        <p:spPr>
          <a:xfrm>
            <a:off x="6843056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2件</a:t>
            </a:r>
          </a:p>
        </p:txBody>
      </p:sp>
      <p:sp>
        <p:nvSpPr>
          <p:cNvPr id="1351" name="Rectangle 1350"/>
          <p:cNvSpPr/>
          <p:nvPr/>
        </p:nvSpPr>
        <p:spPr>
          <a:xfrm>
            <a:off x="7196305" y="1811020"/>
            <a:ext cx="335249" cy="250996"/>
          </a:xfrm>
          <a:prstGeom prst="rect">
            <a:avLst/>
          </a:prstGeom>
          <a:solidFill>
            <a:srgbClr val="E67E22">
              <a:alpha val="4127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TextBox 1351"/>
          <p:cNvSpPr txBox="1"/>
          <p:nvPr/>
        </p:nvSpPr>
        <p:spPr>
          <a:xfrm>
            <a:off x="7190305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2.4M</a:t>
            </a:r>
          </a:p>
        </p:txBody>
      </p:sp>
      <p:sp>
        <p:nvSpPr>
          <p:cNvPr id="1353" name="TextBox 1352"/>
          <p:cNvSpPr txBox="1"/>
          <p:nvPr/>
        </p:nvSpPr>
        <p:spPr>
          <a:xfrm>
            <a:off x="7190305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9件</a:t>
            </a:r>
          </a:p>
        </p:txBody>
      </p:sp>
      <p:sp>
        <p:nvSpPr>
          <p:cNvPr id="1354" name="Rectangle 1353"/>
          <p:cNvSpPr/>
          <p:nvPr/>
        </p:nvSpPr>
        <p:spPr>
          <a:xfrm>
            <a:off x="7543554" y="1811020"/>
            <a:ext cx="335249" cy="250996"/>
          </a:xfrm>
          <a:prstGeom prst="rect">
            <a:avLst/>
          </a:prstGeom>
          <a:solidFill>
            <a:srgbClr val="E67E22">
              <a:alpha val="3895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TextBox 1354"/>
          <p:cNvSpPr txBox="1"/>
          <p:nvPr/>
        </p:nvSpPr>
        <p:spPr>
          <a:xfrm>
            <a:off x="7537554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2.0M</a:t>
            </a:r>
          </a:p>
        </p:txBody>
      </p:sp>
      <p:sp>
        <p:nvSpPr>
          <p:cNvPr id="1356" name="TextBox 1355"/>
          <p:cNvSpPr txBox="1"/>
          <p:nvPr/>
        </p:nvSpPr>
        <p:spPr>
          <a:xfrm>
            <a:off x="7537554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357" name="Rectangle 1356"/>
          <p:cNvSpPr/>
          <p:nvPr/>
        </p:nvSpPr>
        <p:spPr>
          <a:xfrm>
            <a:off x="7890803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7884803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10.8M</a:t>
            </a:r>
          </a:p>
        </p:txBody>
      </p:sp>
      <p:sp>
        <p:nvSpPr>
          <p:cNvPr id="1359" name="TextBox 1358"/>
          <p:cNvSpPr txBox="1"/>
          <p:nvPr/>
        </p:nvSpPr>
        <p:spPr>
          <a:xfrm>
            <a:off x="7884803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360" name="Rectangle 1359"/>
          <p:cNvSpPr/>
          <p:nvPr/>
        </p:nvSpPr>
        <p:spPr>
          <a:xfrm>
            <a:off x="8238052" y="1811020"/>
            <a:ext cx="335249" cy="250996"/>
          </a:xfrm>
          <a:prstGeom prst="rect">
            <a:avLst/>
          </a:prstGeom>
          <a:solidFill>
            <a:srgbClr val="E67E22">
              <a:alpha val="3755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TextBox 1360"/>
          <p:cNvSpPr txBox="1"/>
          <p:nvPr/>
        </p:nvSpPr>
        <p:spPr>
          <a:xfrm>
            <a:off x="8232052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1.8M</a:t>
            </a:r>
          </a:p>
        </p:txBody>
      </p:sp>
      <p:sp>
        <p:nvSpPr>
          <p:cNvPr id="1362" name="TextBox 1361"/>
          <p:cNvSpPr txBox="1"/>
          <p:nvPr/>
        </p:nvSpPr>
        <p:spPr>
          <a:xfrm>
            <a:off x="8232052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4件</a:t>
            </a:r>
          </a:p>
        </p:txBody>
      </p:sp>
      <p:sp>
        <p:nvSpPr>
          <p:cNvPr id="1363" name="Rectangle 1362"/>
          <p:cNvSpPr/>
          <p:nvPr/>
        </p:nvSpPr>
        <p:spPr>
          <a:xfrm>
            <a:off x="8585301" y="1811020"/>
            <a:ext cx="335249" cy="250996"/>
          </a:xfrm>
          <a:prstGeom prst="rect">
            <a:avLst/>
          </a:prstGeom>
          <a:solidFill>
            <a:srgbClr val="E67E22">
              <a:alpha val="631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8579301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5.5M</a:t>
            </a:r>
          </a:p>
        </p:txBody>
      </p:sp>
      <p:sp>
        <p:nvSpPr>
          <p:cNvPr id="1365" name="TextBox 1364"/>
          <p:cNvSpPr txBox="1"/>
          <p:nvPr/>
        </p:nvSpPr>
        <p:spPr>
          <a:xfrm>
            <a:off x="8579301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366" name="Rectangle 1365"/>
          <p:cNvSpPr/>
          <p:nvPr/>
        </p:nvSpPr>
        <p:spPr>
          <a:xfrm>
            <a:off x="8932550" y="1811020"/>
            <a:ext cx="335249" cy="250996"/>
          </a:xfrm>
          <a:prstGeom prst="rect">
            <a:avLst/>
          </a:prstGeom>
          <a:solidFill>
            <a:srgbClr val="E67E22">
              <a:alpha val="455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8926550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3.0M</a:t>
            </a:r>
          </a:p>
        </p:txBody>
      </p:sp>
      <p:sp>
        <p:nvSpPr>
          <p:cNvPr id="1368" name="TextBox 1367"/>
          <p:cNvSpPr txBox="1"/>
          <p:nvPr/>
        </p:nvSpPr>
        <p:spPr>
          <a:xfrm>
            <a:off x="8926550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11件</a:t>
            </a:r>
          </a:p>
        </p:txBody>
      </p:sp>
      <p:sp>
        <p:nvSpPr>
          <p:cNvPr id="1369" name="Rectangle 1368"/>
          <p:cNvSpPr/>
          <p:nvPr/>
        </p:nvSpPr>
        <p:spPr>
          <a:xfrm>
            <a:off x="9279799" y="1811020"/>
            <a:ext cx="335249" cy="250996"/>
          </a:xfrm>
          <a:prstGeom prst="rect">
            <a:avLst/>
          </a:prstGeom>
          <a:solidFill>
            <a:srgbClr val="E67E22">
              <a:alpha val="711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9273799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6.7M</a:t>
            </a:r>
          </a:p>
        </p:txBody>
      </p:sp>
      <p:sp>
        <p:nvSpPr>
          <p:cNvPr id="1371" name="TextBox 1370"/>
          <p:cNvSpPr txBox="1"/>
          <p:nvPr/>
        </p:nvSpPr>
        <p:spPr>
          <a:xfrm>
            <a:off x="9273799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20件</a:t>
            </a:r>
          </a:p>
        </p:txBody>
      </p:sp>
      <p:sp>
        <p:nvSpPr>
          <p:cNvPr id="1372" name="Rectangle 1371"/>
          <p:cNvSpPr/>
          <p:nvPr/>
        </p:nvSpPr>
        <p:spPr>
          <a:xfrm>
            <a:off x="9627048" y="1811020"/>
            <a:ext cx="335249" cy="250996"/>
          </a:xfrm>
          <a:prstGeom prst="rect">
            <a:avLst/>
          </a:prstGeom>
          <a:solidFill>
            <a:srgbClr val="E67E22">
              <a:alpha val="529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9621048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4.0M</a:t>
            </a:r>
          </a:p>
        </p:txBody>
      </p:sp>
      <p:sp>
        <p:nvSpPr>
          <p:cNvPr id="1374" name="TextBox 1373"/>
          <p:cNvSpPr txBox="1"/>
          <p:nvPr/>
        </p:nvSpPr>
        <p:spPr>
          <a:xfrm>
            <a:off x="9621048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12件</a:t>
            </a:r>
          </a:p>
        </p:txBody>
      </p:sp>
      <p:sp>
        <p:nvSpPr>
          <p:cNvPr id="1375" name="Rectangle 1374"/>
          <p:cNvSpPr/>
          <p:nvPr/>
        </p:nvSpPr>
        <p:spPr>
          <a:xfrm>
            <a:off x="9974297" y="1811020"/>
            <a:ext cx="335249" cy="250996"/>
          </a:xfrm>
          <a:prstGeom prst="rect">
            <a:avLst/>
          </a:prstGeom>
          <a:solidFill>
            <a:srgbClr val="E67E22">
              <a:alpha val="379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TextBox 1375"/>
          <p:cNvSpPr txBox="1"/>
          <p:nvPr/>
        </p:nvSpPr>
        <p:spPr>
          <a:xfrm>
            <a:off x="9968297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1.9M</a:t>
            </a:r>
          </a:p>
        </p:txBody>
      </p:sp>
      <p:sp>
        <p:nvSpPr>
          <p:cNvPr id="1377" name="TextBox 1376"/>
          <p:cNvSpPr txBox="1"/>
          <p:nvPr/>
        </p:nvSpPr>
        <p:spPr>
          <a:xfrm>
            <a:off x="9968297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5件</a:t>
            </a:r>
          </a:p>
        </p:txBody>
      </p:sp>
      <p:sp>
        <p:nvSpPr>
          <p:cNvPr id="1378" name="Rectangle 1377"/>
          <p:cNvSpPr/>
          <p:nvPr/>
        </p:nvSpPr>
        <p:spPr>
          <a:xfrm>
            <a:off x="10321546" y="1811020"/>
            <a:ext cx="335249" cy="250996"/>
          </a:xfrm>
          <a:prstGeom prst="rect">
            <a:avLst/>
          </a:prstGeom>
          <a:solidFill>
            <a:srgbClr val="E67E22">
              <a:alpha val="808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TextBox 1378"/>
          <p:cNvSpPr txBox="1"/>
          <p:nvPr/>
        </p:nvSpPr>
        <p:spPr>
          <a:xfrm>
            <a:off x="10315546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8.1M</a:t>
            </a:r>
          </a:p>
        </p:txBody>
      </p:sp>
      <p:sp>
        <p:nvSpPr>
          <p:cNvPr id="1380" name="TextBox 1379"/>
          <p:cNvSpPr txBox="1"/>
          <p:nvPr/>
        </p:nvSpPr>
        <p:spPr>
          <a:xfrm>
            <a:off x="10315546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381" name="Rectangle 1380"/>
          <p:cNvSpPr/>
          <p:nvPr/>
        </p:nvSpPr>
        <p:spPr>
          <a:xfrm>
            <a:off x="10668795" y="1811020"/>
            <a:ext cx="335249" cy="250996"/>
          </a:xfrm>
          <a:prstGeom prst="rect">
            <a:avLst/>
          </a:prstGeom>
          <a:solidFill>
            <a:srgbClr val="E67E22">
              <a:alpha val="7053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TextBox 1381"/>
          <p:cNvSpPr txBox="1"/>
          <p:nvPr/>
        </p:nvSpPr>
        <p:spPr>
          <a:xfrm>
            <a:off x="10662795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6.6M</a:t>
            </a:r>
          </a:p>
        </p:txBody>
      </p:sp>
      <p:sp>
        <p:nvSpPr>
          <p:cNvPr id="1383" name="TextBox 1382"/>
          <p:cNvSpPr txBox="1"/>
          <p:nvPr/>
        </p:nvSpPr>
        <p:spPr>
          <a:xfrm>
            <a:off x="10662795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384" name="Rectangle 1383"/>
          <p:cNvSpPr/>
          <p:nvPr/>
        </p:nvSpPr>
        <p:spPr>
          <a:xfrm>
            <a:off x="11016044" y="1811020"/>
            <a:ext cx="335249" cy="250996"/>
          </a:xfrm>
          <a:prstGeom prst="rect">
            <a:avLst/>
          </a:prstGeom>
          <a:solidFill>
            <a:srgbClr val="E67E22">
              <a:alpha val="5404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TextBox 1384"/>
          <p:cNvSpPr txBox="1"/>
          <p:nvPr/>
        </p:nvSpPr>
        <p:spPr>
          <a:xfrm>
            <a:off x="11010044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4.2M</a:t>
            </a:r>
          </a:p>
        </p:txBody>
      </p:sp>
      <p:sp>
        <p:nvSpPr>
          <p:cNvPr id="1386" name="TextBox 1385"/>
          <p:cNvSpPr txBox="1"/>
          <p:nvPr/>
        </p:nvSpPr>
        <p:spPr>
          <a:xfrm>
            <a:off x="11010044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387" name="Rectangle 1386"/>
          <p:cNvSpPr/>
          <p:nvPr/>
        </p:nvSpPr>
        <p:spPr>
          <a:xfrm>
            <a:off x="11363293" y="1811020"/>
            <a:ext cx="335249" cy="250996"/>
          </a:xfrm>
          <a:prstGeom prst="rect">
            <a:avLst/>
          </a:prstGeom>
          <a:solidFill>
            <a:srgbClr val="E67E22">
              <a:alpha val="327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TextBox 1387"/>
          <p:cNvSpPr txBox="1"/>
          <p:nvPr/>
        </p:nvSpPr>
        <p:spPr>
          <a:xfrm>
            <a:off x="11357293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1.1M</a:t>
            </a:r>
          </a:p>
        </p:txBody>
      </p:sp>
      <p:sp>
        <p:nvSpPr>
          <p:cNvPr id="1389" name="TextBox 1388"/>
          <p:cNvSpPr txBox="1"/>
          <p:nvPr/>
        </p:nvSpPr>
        <p:spPr>
          <a:xfrm>
            <a:off x="11357293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5件</a:t>
            </a:r>
          </a:p>
        </p:txBody>
      </p:sp>
      <p:sp>
        <p:nvSpPr>
          <p:cNvPr id="1390" name="Rectangle 1389"/>
          <p:cNvSpPr/>
          <p:nvPr/>
        </p:nvSpPr>
        <p:spPr>
          <a:xfrm>
            <a:off x="11710542" y="1811020"/>
            <a:ext cx="335249" cy="250996"/>
          </a:xfrm>
          <a:prstGeom prst="rect">
            <a:avLst/>
          </a:prstGeom>
          <a:solidFill>
            <a:srgbClr val="E67E22">
              <a:alpha val="3552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TextBox 1390"/>
          <p:cNvSpPr txBox="1"/>
          <p:nvPr/>
        </p:nvSpPr>
        <p:spPr>
          <a:xfrm>
            <a:off x="11704542" y="18130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1.5M</a:t>
            </a:r>
          </a:p>
        </p:txBody>
      </p:sp>
      <p:sp>
        <p:nvSpPr>
          <p:cNvPr id="1392" name="TextBox 1391"/>
          <p:cNvSpPr txBox="1"/>
          <p:nvPr/>
        </p:nvSpPr>
        <p:spPr>
          <a:xfrm>
            <a:off x="11704542" y="19430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6件</a:t>
            </a:r>
          </a:p>
        </p:txBody>
      </p:sp>
      <p:sp>
        <p:nvSpPr>
          <p:cNvPr id="1393" name="TextBox 1392"/>
          <p:cNvSpPr txBox="1"/>
          <p:nvPr/>
        </p:nvSpPr>
        <p:spPr>
          <a:xfrm>
            <a:off x="6183056" y="2068016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394" name="Rectangle 1393"/>
          <p:cNvSpPr/>
          <p:nvPr/>
        </p:nvSpPr>
        <p:spPr>
          <a:xfrm>
            <a:off x="6849056" y="2074016"/>
            <a:ext cx="335249" cy="250996"/>
          </a:xfrm>
          <a:prstGeom prst="rect">
            <a:avLst/>
          </a:prstGeom>
          <a:solidFill>
            <a:srgbClr val="1A7A3F">
              <a:alpha val="556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TextBox 1394"/>
          <p:cNvSpPr txBox="1"/>
          <p:nvPr/>
        </p:nvSpPr>
        <p:spPr>
          <a:xfrm>
            <a:off x="6843056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396" name="TextBox 1395"/>
          <p:cNvSpPr txBox="1"/>
          <p:nvPr/>
        </p:nvSpPr>
        <p:spPr>
          <a:xfrm>
            <a:off x="6843056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397" name="Rectangle 1396"/>
          <p:cNvSpPr/>
          <p:nvPr/>
        </p:nvSpPr>
        <p:spPr>
          <a:xfrm>
            <a:off x="7196305" y="2074016"/>
            <a:ext cx="335249" cy="250996"/>
          </a:xfrm>
          <a:prstGeom prst="rect">
            <a:avLst/>
          </a:prstGeom>
          <a:solidFill>
            <a:srgbClr val="1A7A3F">
              <a:alpha val="464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TextBox 1397"/>
          <p:cNvSpPr txBox="1"/>
          <p:nvPr/>
        </p:nvSpPr>
        <p:spPr>
          <a:xfrm>
            <a:off x="7190305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2.8M</a:t>
            </a:r>
          </a:p>
        </p:txBody>
      </p:sp>
      <p:sp>
        <p:nvSpPr>
          <p:cNvPr id="1399" name="TextBox 1398"/>
          <p:cNvSpPr txBox="1"/>
          <p:nvPr/>
        </p:nvSpPr>
        <p:spPr>
          <a:xfrm>
            <a:off x="7190305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400" name="Rectangle 1399"/>
          <p:cNvSpPr/>
          <p:nvPr/>
        </p:nvSpPr>
        <p:spPr>
          <a:xfrm>
            <a:off x="7543554" y="2074016"/>
            <a:ext cx="335249" cy="250996"/>
          </a:xfrm>
          <a:prstGeom prst="rect">
            <a:avLst/>
          </a:prstGeom>
          <a:solidFill>
            <a:srgbClr val="1A7A3F">
              <a:alpha val="697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TextBox 1400"/>
          <p:cNvSpPr txBox="1"/>
          <p:nvPr/>
        </p:nvSpPr>
        <p:spPr>
          <a:xfrm>
            <a:off x="7537554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5.8M</a:t>
            </a:r>
          </a:p>
        </p:txBody>
      </p:sp>
      <p:sp>
        <p:nvSpPr>
          <p:cNvPr id="1402" name="TextBox 1401"/>
          <p:cNvSpPr txBox="1"/>
          <p:nvPr/>
        </p:nvSpPr>
        <p:spPr>
          <a:xfrm>
            <a:off x="7537554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403" name="Rectangle 1402"/>
          <p:cNvSpPr/>
          <p:nvPr/>
        </p:nvSpPr>
        <p:spPr>
          <a:xfrm>
            <a:off x="7890803" y="2074016"/>
            <a:ext cx="335249" cy="250996"/>
          </a:xfrm>
          <a:prstGeom prst="rect">
            <a:avLst/>
          </a:prstGeom>
          <a:solidFill>
            <a:srgbClr val="1A7A3F">
              <a:alpha val="42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TextBox 1403"/>
          <p:cNvSpPr txBox="1"/>
          <p:nvPr/>
        </p:nvSpPr>
        <p:spPr>
          <a:xfrm>
            <a:off x="7884803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405" name="TextBox 1404"/>
          <p:cNvSpPr txBox="1"/>
          <p:nvPr/>
        </p:nvSpPr>
        <p:spPr>
          <a:xfrm>
            <a:off x="7884803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4件</a:t>
            </a:r>
          </a:p>
        </p:txBody>
      </p:sp>
      <p:sp>
        <p:nvSpPr>
          <p:cNvPr id="1406" name="Rectangle 1405"/>
          <p:cNvSpPr/>
          <p:nvPr/>
        </p:nvSpPr>
        <p:spPr>
          <a:xfrm>
            <a:off x="8238052" y="2074016"/>
            <a:ext cx="335249" cy="250996"/>
          </a:xfrm>
          <a:prstGeom prst="rect">
            <a:avLst/>
          </a:prstGeom>
          <a:solidFill>
            <a:srgbClr val="1A7A3F">
              <a:alpha val="57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TextBox 1406"/>
          <p:cNvSpPr txBox="1"/>
          <p:nvPr/>
        </p:nvSpPr>
        <p:spPr>
          <a:xfrm>
            <a:off x="8232052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4.2M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8232052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8件</a:t>
            </a:r>
          </a:p>
        </p:txBody>
      </p:sp>
      <p:sp>
        <p:nvSpPr>
          <p:cNvPr id="1409" name="Rectangle 1408"/>
          <p:cNvSpPr/>
          <p:nvPr/>
        </p:nvSpPr>
        <p:spPr>
          <a:xfrm>
            <a:off x="8585301" y="2074016"/>
            <a:ext cx="335249" cy="250996"/>
          </a:xfrm>
          <a:prstGeom prst="rect">
            <a:avLst/>
          </a:prstGeom>
          <a:solidFill>
            <a:srgbClr val="1A7A3F">
              <a:alpha val="639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TextBox 1409"/>
          <p:cNvSpPr txBox="1"/>
          <p:nvPr/>
        </p:nvSpPr>
        <p:spPr>
          <a:xfrm>
            <a:off x="8579301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5.0M</a:t>
            </a:r>
          </a:p>
        </p:txBody>
      </p:sp>
      <p:sp>
        <p:nvSpPr>
          <p:cNvPr id="1411" name="TextBox 1410"/>
          <p:cNvSpPr txBox="1"/>
          <p:nvPr/>
        </p:nvSpPr>
        <p:spPr>
          <a:xfrm>
            <a:off x="8579301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412" name="Rectangle 1411"/>
          <p:cNvSpPr/>
          <p:nvPr/>
        </p:nvSpPr>
        <p:spPr>
          <a:xfrm>
            <a:off x="8932550" y="2074016"/>
            <a:ext cx="335249" cy="250996"/>
          </a:xfrm>
          <a:prstGeom prst="rect">
            <a:avLst/>
          </a:prstGeom>
          <a:solidFill>
            <a:srgbClr val="1A7A3F">
              <a:alpha val="585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TextBox 1412"/>
          <p:cNvSpPr txBox="1"/>
          <p:nvPr/>
        </p:nvSpPr>
        <p:spPr>
          <a:xfrm>
            <a:off x="8926550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4.3M</a:t>
            </a:r>
          </a:p>
        </p:txBody>
      </p:sp>
      <p:sp>
        <p:nvSpPr>
          <p:cNvPr id="1414" name="TextBox 1413"/>
          <p:cNvSpPr txBox="1"/>
          <p:nvPr/>
        </p:nvSpPr>
        <p:spPr>
          <a:xfrm>
            <a:off x="8926550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415" name="Rectangle 1414"/>
          <p:cNvSpPr/>
          <p:nvPr/>
        </p:nvSpPr>
        <p:spPr>
          <a:xfrm>
            <a:off x="9279799" y="2074016"/>
            <a:ext cx="335249" cy="250996"/>
          </a:xfrm>
          <a:prstGeom prst="rect">
            <a:avLst/>
          </a:prstGeom>
          <a:solidFill>
            <a:srgbClr val="1A7A3F">
              <a:alpha val="78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TextBox 1415"/>
          <p:cNvSpPr txBox="1"/>
          <p:nvPr/>
        </p:nvSpPr>
        <p:spPr>
          <a:xfrm>
            <a:off x="9273799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6.8M</a:t>
            </a:r>
          </a:p>
        </p:txBody>
      </p:sp>
      <p:sp>
        <p:nvSpPr>
          <p:cNvPr id="1417" name="TextBox 1416"/>
          <p:cNvSpPr txBox="1"/>
          <p:nvPr/>
        </p:nvSpPr>
        <p:spPr>
          <a:xfrm>
            <a:off x="9273799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17件</a:t>
            </a:r>
          </a:p>
        </p:txBody>
      </p:sp>
      <p:sp>
        <p:nvSpPr>
          <p:cNvPr id="1418" name="Rectangle 1417"/>
          <p:cNvSpPr/>
          <p:nvPr/>
        </p:nvSpPr>
        <p:spPr>
          <a:xfrm>
            <a:off x="9627048" y="2074016"/>
            <a:ext cx="335249" cy="250996"/>
          </a:xfrm>
          <a:prstGeom prst="rect">
            <a:avLst/>
          </a:prstGeom>
          <a:solidFill>
            <a:srgbClr val="1A7A3F">
              <a:alpha val="4974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TextBox 1418"/>
          <p:cNvSpPr txBox="1"/>
          <p:nvPr/>
        </p:nvSpPr>
        <p:spPr>
          <a:xfrm>
            <a:off x="9621048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3.2M</a:t>
            </a:r>
          </a:p>
        </p:txBody>
      </p:sp>
      <p:sp>
        <p:nvSpPr>
          <p:cNvPr id="1420" name="TextBox 1419"/>
          <p:cNvSpPr txBox="1"/>
          <p:nvPr/>
        </p:nvSpPr>
        <p:spPr>
          <a:xfrm>
            <a:off x="9621048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421" name="Rectangle 1420"/>
          <p:cNvSpPr/>
          <p:nvPr/>
        </p:nvSpPr>
        <p:spPr>
          <a:xfrm>
            <a:off x="9974297" y="2074016"/>
            <a:ext cx="335249" cy="250996"/>
          </a:xfrm>
          <a:prstGeom prst="rect">
            <a:avLst/>
          </a:prstGeom>
          <a:solidFill>
            <a:srgbClr val="1A7A3F">
              <a:alpha val="6462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TextBox 1421"/>
          <p:cNvSpPr txBox="1"/>
          <p:nvPr/>
        </p:nvSpPr>
        <p:spPr>
          <a:xfrm>
            <a:off x="9968297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5.1M</a:t>
            </a:r>
          </a:p>
        </p:txBody>
      </p:sp>
      <p:sp>
        <p:nvSpPr>
          <p:cNvPr id="1423" name="TextBox 1422"/>
          <p:cNvSpPr txBox="1"/>
          <p:nvPr/>
        </p:nvSpPr>
        <p:spPr>
          <a:xfrm>
            <a:off x="9968297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424" name="Rectangle 1423"/>
          <p:cNvSpPr/>
          <p:nvPr/>
        </p:nvSpPr>
        <p:spPr>
          <a:xfrm>
            <a:off x="10321546" y="2074016"/>
            <a:ext cx="335249" cy="250996"/>
          </a:xfrm>
          <a:prstGeom prst="rect">
            <a:avLst/>
          </a:prstGeom>
          <a:solidFill>
            <a:srgbClr val="1A7A3F">
              <a:alpha val="5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TextBox 1424"/>
          <p:cNvSpPr txBox="1"/>
          <p:nvPr/>
        </p:nvSpPr>
        <p:spPr>
          <a:xfrm>
            <a:off x="10315546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4.5M</a:t>
            </a:r>
          </a:p>
        </p:txBody>
      </p:sp>
      <p:sp>
        <p:nvSpPr>
          <p:cNvPr id="1426" name="TextBox 1425"/>
          <p:cNvSpPr txBox="1"/>
          <p:nvPr/>
        </p:nvSpPr>
        <p:spPr>
          <a:xfrm>
            <a:off x="10315546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14件</a:t>
            </a:r>
          </a:p>
        </p:txBody>
      </p:sp>
      <p:sp>
        <p:nvSpPr>
          <p:cNvPr id="1427" name="Rectangle 1426"/>
          <p:cNvSpPr/>
          <p:nvPr/>
        </p:nvSpPr>
        <p:spPr>
          <a:xfrm>
            <a:off x="10668795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TextBox 1427"/>
          <p:cNvSpPr txBox="1"/>
          <p:nvPr/>
        </p:nvSpPr>
        <p:spPr>
          <a:xfrm>
            <a:off x="10662795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9.7M</a:t>
            </a:r>
          </a:p>
        </p:txBody>
      </p:sp>
      <p:sp>
        <p:nvSpPr>
          <p:cNvPr id="1429" name="TextBox 1428"/>
          <p:cNvSpPr txBox="1"/>
          <p:nvPr/>
        </p:nvSpPr>
        <p:spPr>
          <a:xfrm>
            <a:off x="10662795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29件</a:t>
            </a:r>
          </a:p>
        </p:txBody>
      </p:sp>
      <p:sp>
        <p:nvSpPr>
          <p:cNvPr id="1430" name="Rectangle 1429"/>
          <p:cNvSpPr/>
          <p:nvPr/>
        </p:nvSpPr>
        <p:spPr>
          <a:xfrm>
            <a:off x="11016044" y="2074016"/>
            <a:ext cx="335249" cy="250996"/>
          </a:xfrm>
          <a:prstGeom prst="rect">
            <a:avLst/>
          </a:prstGeom>
          <a:solidFill>
            <a:srgbClr val="1A7A3F">
              <a:alpha val="42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TextBox 1430"/>
          <p:cNvSpPr txBox="1"/>
          <p:nvPr/>
        </p:nvSpPr>
        <p:spPr>
          <a:xfrm>
            <a:off x="11010044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432" name="TextBox 1431"/>
          <p:cNvSpPr txBox="1"/>
          <p:nvPr/>
        </p:nvSpPr>
        <p:spPr>
          <a:xfrm>
            <a:off x="11010044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11件</a:t>
            </a:r>
          </a:p>
        </p:txBody>
      </p:sp>
      <p:sp>
        <p:nvSpPr>
          <p:cNvPr id="1433" name="Rectangle 1432"/>
          <p:cNvSpPr/>
          <p:nvPr/>
        </p:nvSpPr>
        <p:spPr>
          <a:xfrm>
            <a:off x="11363293" y="2074016"/>
            <a:ext cx="335249" cy="250996"/>
          </a:xfrm>
          <a:prstGeom prst="rect">
            <a:avLst/>
          </a:prstGeom>
          <a:solidFill>
            <a:srgbClr val="1A7A3F">
              <a:alpha val="42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TextBox 1433"/>
          <p:cNvSpPr txBox="1"/>
          <p:nvPr/>
        </p:nvSpPr>
        <p:spPr>
          <a:xfrm>
            <a:off x="11357293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435" name="TextBox 1434"/>
          <p:cNvSpPr txBox="1"/>
          <p:nvPr/>
        </p:nvSpPr>
        <p:spPr>
          <a:xfrm>
            <a:off x="11357293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9件</a:t>
            </a:r>
          </a:p>
        </p:txBody>
      </p:sp>
      <p:sp>
        <p:nvSpPr>
          <p:cNvPr id="1436" name="Rectangle 1435"/>
          <p:cNvSpPr/>
          <p:nvPr/>
        </p:nvSpPr>
        <p:spPr>
          <a:xfrm>
            <a:off x="11710542" y="2074016"/>
            <a:ext cx="335249" cy="250996"/>
          </a:xfrm>
          <a:prstGeom prst="rect">
            <a:avLst/>
          </a:prstGeom>
          <a:solidFill>
            <a:srgbClr val="1A7A3F">
              <a:alpha val="562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TextBox 1436"/>
          <p:cNvSpPr txBox="1"/>
          <p:nvPr/>
        </p:nvSpPr>
        <p:spPr>
          <a:xfrm>
            <a:off x="11704542" y="20760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438" name="TextBox 1437"/>
          <p:cNvSpPr txBox="1"/>
          <p:nvPr/>
        </p:nvSpPr>
        <p:spPr>
          <a:xfrm>
            <a:off x="11704542" y="22060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439" name="TextBox 1438"/>
          <p:cNvSpPr txBox="1"/>
          <p:nvPr/>
        </p:nvSpPr>
        <p:spPr>
          <a:xfrm>
            <a:off x="6183056" y="2331012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440" name="Rectangle 1439"/>
          <p:cNvSpPr/>
          <p:nvPr/>
        </p:nvSpPr>
        <p:spPr>
          <a:xfrm>
            <a:off x="6849056" y="2337012"/>
            <a:ext cx="335249" cy="250996"/>
          </a:xfrm>
          <a:prstGeom prst="rect">
            <a:avLst/>
          </a:prstGeom>
          <a:solidFill>
            <a:srgbClr val="94A3B8">
              <a:alpha val="2528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6843056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442" name="TextBox 1441"/>
          <p:cNvSpPr txBox="1"/>
          <p:nvPr/>
        </p:nvSpPr>
        <p:spPr>
          <a:xfrm>
            <a:off x="6843056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443" name="Rectangle 1442"/>
          <p:cNvSpPr/>
          <p:nvPr/>
        </p:nvSpPr>
        <p:spPr>
          <a:xfrm>
            <a:off x="7196305" y="2337012"/>
            <a:ext cx="335249" cy="250996"/>
          </a:xfrm>
          <a:prstGeom prst="rect">
            <a:avLst/>
          </a:prstGeom>
          <a:solidFill>
            <a:srgbClr val="94A3B8">
              <a:alpha val="25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TextBox 1443"/>
          <p:cNvSpPr txBox="1"/>
          <p:nvPr/>
        </p:nvSpPr>
        <p:spPr>
          <a:xfrm>
            <a:off x="7190305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445" name="TextBox 1444"/>
          <p:cNvSpPr txBox="1"/>
          <p:nvPr/>
        </p:nvSpPr>
        <p:spPr>
          <a:xfrm>
            <a:off x="7190305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446" name="Rectangle 1445"/>
          <p:cNvSpPr/>
          <p:nvPr/>
        </p:nvSpPr>
        <p:spPr>
          <a:xfrm>
            <a:off x="7890803" y="2337012"/>
            <a:ext cx="335249" cy="250996"/>
          </a:xfrm>
          <a:prstGeom prst="rect">
            <a:avLst/>
          </a:prstGeom>
          <a:solidFill>
            <a:srgbClr val="94A3B8">
              <a:alpha val="3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TextBox 1446"/>
          <p:cNvSpPr txBox="1"/>
          <p:nvPr/>
        </p:nvSpPr>
        <p:spPr>
          <a:xfrm>
            <a:off x="7884803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0.4M</a:t>
            </a:r>
          </a:p>
        </p:txBody>
      </p:sp>
      <p:sp>
        <p:nvSpPr>
          <p:cNvPr id="1448" name="TextBox 1447"/>
          <p:cNvSpPr txBox="1"/>
          <p:nvPr/>
        </p:nvSpPr>
        <p:spPr>
          <a:xfrm>
            <a:off x="7884803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449" name="Rectangle 1448"/>
          <p:cNvSpPr/>
          <p:nvPr/>
        </p:nvSpPr>
        <p:spPr>
          <a:xfrm>
            <a:off x="8585301" y="2337012"/>
            <a:ext cx="335249" cy="250996"/>
          </a:xfrm>
          <a:prstGeom prst="rect">
            <a:avLst/>
          </a:prstGeom>
          <a:solidFill>
            <a:srgbClr val="94A3B8">
              <a:alpha val="258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TextBox 1449"/>
          <p:cNvSpPr txBox="1"/>
          <p:nvPr/>
        </p:nvSpPr>
        <p:spPr>
          <a:xfrm>
            <a:off x="8579301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451" name="TextBox 1450"/>
          <p:cNvSpPr txBox="1"/>
          <p:nvPr/>
        </p:nvSpPr>
        <p:spPr>
          <a:xfrm>
            <a:off x="8579301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2件</a:t>
            </a:r>
          </a:p>
        </p:txBody>
      </p:sp>
      <p:sp>
        <p:nvSpPr>
          <p:cNvPr id="1452" name="Rectangle 1451"/>
          <p:cNvSpPr/>
          <p:nvPr/>
        </p:nvSpPr>
        <p:spPr>
          <a:xfrm>
            <a:off x="9974297" y="2337012"/>
            <a:ext cx="335249" cy="250996"/>
          </a:xfrm>
          <a:prstGeom prst="rect">
            <a:avLst/>
          </a:prstGeom>
          <a:solidFill>
            <a:srgbClr val="94A3B8">
              <a:alpha val="26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TextBox 1452"/>
          <p:cNvSpPr txBox="1"/>
          <p:nvPr/>
        </p:nvSpPr>
        <p:spPr>
          <a:xfrm>
            <a:off x="9968297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454" name="TextBox 1453"/>
          <p:cNvSpPr txBox="1"/>
          <p:nvPr/>
        </p:nvSpPr>
        <p:spPr>
          <a:xfrm>
            <a:off x="9968297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455" name="Rectangle 1454"/>
          <p:cNvSpPr/>
          <p:nvPr/>
        </p:nvSpPr>
        <p:spPr>
          <a:xfrm>
            <a:off x="10668795" y="2337012"/>
            <a:ext cx="335249" cy="250996"/>
          </a:xfrm>
          <a:prstGeom prst="rect">
            <a:avLst/>
          </a:prstGeom>
          <a:solidFill>
            <a:srgbClr val="94A3B8">
              <a:alpha val="26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TextBox 1455"/>
          <p:cNvSpPr txBox="1"/>
          <p:nvPr/>
        </p:nvSpPr>
        <p:spPr>
          <a:xfrm>
            <a:off x="10662795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457" name="TextBox 1456"/>
          <p:cNvSpPr txBox="1"/>
          <p:nvPr/>
        </p:nvSpPr>
        <p:spPr>
          <a:xfrm>
            <a:off x="10662795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458" name="Rectangle 1457"/>
          <p:cNvSpPr/>
          <p:nvPr/>
        </p:nvSpPr>
        <p:spPr>
          <a:xfrm>
            <a:off x="11016044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TextBox 1458"/>
          <p:cNvSpPr txBox="1"/>
          <p:nvPr/>
        </p:nvSpPr>
        <p:spPr>
          <a:xfrm>
            <a:off x="11010044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3.9M</a:t>
            </a:r>
          </a:p>
        </p:txBody>
      </p:sp>
      <p:sp>
        <p:nvSpPr>
          <p:cNvPr id="1460" name="TextBox 1459"/>
          <p:cNvSpPr txBox="1"/>
          <p:nvPr/>
        </p:nvSpPr>
        <p:spPr>
          <a:xfrm>
            <a:off x="11010044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461" name="Rectangle 1460"/>
          <p:cNvSpPr/>
          <p:nvPr/>
        </p:nvSpPr>
        <p:spPr>
          <a:xfrm>
            <a:off x="11363293" y="2337012"/>
            <a:ext cx="335249" cy="250996"/>
          </a:xfrm>
          <a:prstGeom prst="rect">
            <a:avLst/>
          </a:prstGeom>
          <a:solidFill>
            <a:srgbClr val="94A3B8">
              <a:alpha val="298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TextBox 1461"/>
          <p:cNvSpPr txBox="1"/>
          <p:nvPr/>
        </p:nvSpPr>
        <p:spPr>
          <a:xfrm>
            <a:off x="11357293" y="23390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0.3M</a:t>
            </a:r>
          </a:p>
        </p:txBody>
      </p:sp>
      <p:sp>
        <p:nvSpPr>
          <p:cNvPr id="1463" name="TextBox 1462"/>
          <p:cNvSpPr txBox="1"/>
          <p:nvPr/>
        </p:nvSpPr>
        <p:spPr>
          <a:xfrm>
            <a:off x="11357293" y="24690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464" name="TextBox 1463"/>
          <p:cNvSpPr txBox="1"/>
          <p:nvPr/>
        </p:nvSpPr>
        <p:spPr>
          <a:xfrm>
            <a:off x="6183056" y="2594008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465" name="Rectangle 1464"/>
          <p:cNvSpPr/>
          <p:nvPr/>
        </p:nvSpPr>
        <p:spPr>
          <a:xfrm>
            <a:off x="7543554" y="2600008"/>
            <a:ext cx="335249" cy="2509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TextBox 1465"/>
          <p:cNvSpPr txBox="1"/>
          <p:nvPr/>
        </p:nvSpPr>
        <p:spPr>
          <a:xfrm>
            <a:off x="7537554" y="26020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467" name="TextBox 1466"/>
          <p:cNvSpPr txBox="1"/>
          <p:nvPr/>
        </p:nvSpPr>
        <p:spPr>
          <a:xfrm>
            <a:off x="7537554" y="27320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468" name="Rectangle 1467"/>
          <p:cNvSpPr/>
          <p:nvPr/>
        </p:nvSpPr>
        <p:spPr>
          <a:xfrm>
            <a:off x="8238052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TextBox 1468"/>
          <p:cNvSpPr txBox="1"/>
          <p:nvPr/>
        </p:nvSpPr>
        <p:spPr>
          <a:xfrm>
            <a:off x="8232052" y="26020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470" name="TextBox 1469"/>
          <p:cNvSpPr txBox="1"/>
          <p:nvPr/>
        </p:nvSpPr>
        <p:spPr>
          <a:xfrm>
            <a:off x="8232052" y="27320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471" name="Rectangle 1470"/>
          <p:cNvSpPr/>
          <p:nvPr/>
        </p:nvSpPr>
        <p:spPr>
          <a:xfrm>
            <a:off x="8585301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TextBox 1471"/>
          <p:cNvSpPr txBox="1"/>
          <p:nvPr/>
        </p:nvSpPr>
        <p:spPr>
          <a:xfrm>
            <a:off x="8579301" y="26020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473" name="TextBox 1472"/>
          <p:cNvSpPr txBox="1"/>
          <p:nvPr/>
        </p:nvSpPr>
        <p:spPr>
          <a:xfrm>
            <a:off x="8579301" y="27320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474" name="TextBox 1473"/>
          <p:cNvSpPr txBox="1"/>
          <p:nvPr/>
        </p:nvSpPr>
        <p:spPr>
          <a:xfrm>
            <a:off x="6183056" y="2857004"/>
            <a:ext cx="650000" cy="2629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475" name="Rectangle 1474"/>
          <p:cNvSpPr/>
          <p:nvPr/>
        </p:nvSpPr>
        <p:spPr>
          <a:xfrm>
            <a:off x="684905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TextBox 1475"/>
          <p:cNvSpPr txBox="1"/>
          <p:nvPr/>
        </p:nvSpPr>
        <p:spPr>
          <a:xfrm>
            <a:off x="6843056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6.0M</a:t>
            </a:r>
          </a:p>
        </p:txBody>
      </p:sp>
      <p:sp>
        <p:nvSpPr>
          <p:cNvPr id="1477" name="TextBox 1476"/>
          <p:cNvSpPr txBox="1"/>
          <p:nvPr/>
        </p:nvSpPr>
        <p:spPr>
          <a:xfrm>
            <a:off x="6843056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13件</a:t>
            </a:r>
          </a:p>
        </p:txBody>
      </p:sp>
      <p:sp>
        <p:nvSpPr>
          <p:cNvPr id="1478" name="Rectangle 1477"/>
          <p:cNvSpPr/>
          <p:nvPr/>
        </p:nvSpPr>
        <p:spPr>
          <a:xfrm>
            <a:off x="719630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TextBox 1478"/>
          <p:cNvSpPr txBox="1"/>
          <p:nvPr/>
        </p:nvSpPr>
        <p:spPr>
          <a:xfrm>
            <a:off x="7190305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11.5M</a:t>
            </a:r>
          </a:p>
        </p:txBody>
      </p:sp>
      <p:sp>
        <p:nvSpPr>
          <p:cNvPr id="1480" name="TextBox 1479"/>
          <p:cNvSpPr txBox="1"/>
          <p:nvPr/>
        </p:nvSpPr>
        <p:spPr>
          <a:xfrm>
            <a:off x="7190305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34件</a:t>
            </a:r>
          </a:p>
        </p:txBody>
      </p:sp>
      <p:sp>
        <p:nvSpPr>
          <p:cNvPr id="1481" name="Rectangle 1480"/>
          <p:cNvSpPr/>
          <p:nvPr/>
        </p:nvSpPr>
        <p:spPr>
          <a:xfrm>
            <a:off x="754355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TextBox 1481"/>
          <p:cNvSpPr txBox="1"/>
          <p:nvPr/>
        </p:nvSpPr>
        <p:spPr>
          <a:xfrm>
            <a:off x="7537554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16.5M</a:t>
            </a:r>
          </a:p>
        </p:txBody>
      </p:sp>
      <p:sp>
        <p:nvSpPr>
          <p:cNvPr id="1483" name="TextBox 1482"/>
          <p:cNvSpPr txBox="1"/>
          <p:nvPr/>
        </p:nvSpPr>
        <p:spPr>
          <a:xfrm>
            <a:off x="7537554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45件</a:t>
            </a:r>
          </a:p>
        </p:txBody>
      </p:sp>
      <p:sp>
        <p:nvSpPr>
          <p:cNvPr id="1484" name="Rectangle 1483"/>
          <p:cNvSpPr/>
          <p:nvPr/>
        </p:nvSpPr>
        <p:spPr>
          <a:xfrm>
            <a:off x="789080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TextBox 1484"/>
          <p:cNvSpPr txBox="1"/>
          <p:nvPr/>
        </p:nvSpPr>
        <p:spPr>
          <a:xfrm>
            <a:off x="7884803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15.2M</a:t>
            </a:r>
          </a:p>
        </p:txBody>
      </p:sp>
      <p:sp>
        <p:nvSpPr>
          <p:cNvPr id="1486" name="TextBox 1485"/>
          <p:cNvSpPr txBox="1"/>
          <p:nvPr/>
        </p:nvSpPr>
        <p:spPr>
          <a:xfrm>
            <a:off x="7884803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28件</a:t>
            </a:r>
          </a:p>
        </p:txBody>
      </p:sp>
      <p:sp>
        <p:nvSpPr>
          <p:cNvPr id="1487" name="Rectangle 1486"/>
          <p:cNvSpPr/>
          <p:nvPr/>
        </p:nvSpPr>
        <p:spPr>
          <a:xfrm>
            <a:off x="823805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TextBox 1487"/>
          <p:cNvSpPr txBox="1"/>
          <p:nvPr/>
        </p:nvSpPr>
        <p:spPr>
          <a:xfrm>
            <a:off x="8232052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13.2M</a:t>
            </a:r>
          </a:p>
        </p:txBody>
      </p:sp>
      <p:sp>
        <p:nvSpPr>
          <p:cNvPr id="1489" name="TextBox 1488"/>
          <p:cNvSpPr txBox="1"/>
          <p:nvPr/>
        </p:nvSpPr>
        <p:spPr>
          <a:xfrm>
            <a:off x="8232052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25件</a:t>
            </a:r>
          </a:p>
        </p:txBody>
      </p:sp>
      <p:sp>
        <p:nvSpPr>
          <p:cNvPr id="1490" name="Rectangle 1489"/>
          <p:cNvSpPr/>
          <p:nvPr/>
        </p:nvSpPr>
        <p:spPr>
          <a:xfrm>
            <a:off x="858530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TextBox 1490"/>
          <p:cNvSpPr txBox="1"/>
          <p:nvPr/>
        </p:nvSpPr>
        <p:spPr>
          <a:xfrm>
            <a:off x="8579301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19.1M</a:t>
            </a:r>
          </a:p>
        </p:txBody>
      </p:sp>
      <p:sp>
        <p:nvSpPr>
          <p:cNvPr id="1492" name="TextBox 1491"/>
          <p:cNvSpPr txBox="1"/>
          <p:nvPr/>
        </p:nvSpPr>
        <p:spPr>
          <a:xfrm>
            <a:off x="8579301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55件</a:t>
            </a:r>
          </a:p>
        </p:txBody>
      </p:sp>
      <p:sp>
        <p:nvSpPr>
          <p:cNvPr id="1493" name="Rectangle 1492"/>
          <p:cNvSpPr/>
          <p:nvPr/>
        </p:nvSpPr>
        <p:spPr>
          <a:xfrm>
            <a:off x="893255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TextBox 1493"/>
          <p:cNvSpPr txBox="1"/>
          <p:nvPr/>
        </p:nvSpPr>
        <p:spPr>
          <a:xfrm>
            <a:off x="8926550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11.9M</a:t>
            </a:r>
          </a:p>
        </p:txBody>
      </p:sp>
      <p:sp>
        <p:nvSpPr>
          <p:cNvPr id="1495" name="TextBox 1494"/>
          <p:cNvSpPr txBox="1"/>
          <p:nvPr/>
        </p:nvSpPr>
        <p:spPr>
          <a:xfrm>
            <a:off x="8926550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44件</a:t>
            </a:r>
          </a:p>
        </p:txBody>
      </p:sp>
      <p:sp>
        <p:nvSpPr>
          <p:cNvPr id="1496" name="Rectangle 1495"/>
          <p:cNvSpPr/>
          <p:nvPr/>
        </p:nvSpPr>
        <p:spPr>
          <a:xfrm>
            <a:off x="927979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TextBox 1496"/>
          <p:cNvSpPr txBox="1"/>
          <p:nvPr/>
        </p:nvSpPr>
        <p:spPr>
          <a:xfrm>
            <a:off x="9273799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26.7M</a:t>
            </a:r>
          </a:p>
        </p:txBody>
      </p:sp>
      <p:sp>
        <p:nvSpPr>
          <p:cNvPr id="1498" name="TextBox 1497"/>
          <p:cNvSpPr txBox="1"/>
          <p:nvPr/>
        </p:nvSpPr>
        <p:spPr>
          <a:xfrm>
            <a:off x="9273799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49件</a:t>
            </a:r>
          </a:p>
        </p:txBody>
      </p:sp>
      <p:sp>
        <p:nvSpPr>
          <p:cNvPr id="1499" name="Rectangle 1498"/>
          <p:cNvSpPr/>
          <p:nvPr/>
        </p:nvSpPr>
        <p:spPr>
          <a:xfrm>
            <a:off x="962704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9621048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10.4M</a:t>
            </a:r>
          </a:p>
        </p:txBody>
      </p:sp>
      <p:sp>
        <p:nvSpPr>
          <p:cNvPr id="1501" name="TextBox 1500"/>
          <p:cNvSpPr txBox="1"/>
          <p:nvPr/>
        </p:nvSpPr>
        <p:spPr>
          <a:xfrm>
            <a:off x="9621048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42件</a:t>
            </a:r>
          </a:p>
        </p:txBody>
      </p:sp>
      <p:sp>
        <p:nvSpPr>
          <p:cNvPr id="1502" name="Rectangle 1501"/>
          <p:cNvSpPr/>
          <p:nvPr/>
        </p:nvSpPr>
        <p:spPr>
          <a:xfrm>
            <a:off x="997429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9968297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10.6M</a:t>
            </a:r>
          </a:p>
        </p:txBody>
      </p:sp>
      <p:sp>
        <p:nvSpPr>
          <p:cNvPr id="1504" name="TextBox 1503"/>
          <p:cNvSpPr txBox="1"/>
          <p:nvPr/>
        </p:nvSpPr>
        <p:spPr>
          <a:xfrm>
            <a:off x="9968297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28件</a:t>
            </a:r>
          </a:p>
        </p:txBody>
      </p:sp>
      <p:sp>
        <p:nvSpPr>
          <p:cNvPr id="1505" name="Rectangle 1504"/>
          <p:cNvSpPr/>
          <p:nvPr/>
        </p:nvSpPr>
        <p:spPr>
          <a:xfrm>
            <a:off x="1032154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10315546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16.0M</a:t>
            </a:r>
          </a:p>
        </p:txBody>
      </p:sp>
      <p:sp>
        <p:nvSpPr>
          <p:cNvPr id="1507" name="TextBox 1506"/>
          <p:cNvSpPr txBox="1"/>
          <p:nvPr/>
        </p:nvSpPr>
        <p:spPr>
          <a:xfrm>
            <a:off x="10315546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37件</a:t>
            </a:r>
          </a:p>
        </p:txBody>
      </p:sp>
      <p:sp>
        <p:nvSpPr>
          <p:cNvPr id="1508" name="Rectangle 1507"/>
          <p:cNvSpPr/>
          <p:nvPr/>
        </p:nvSpPr>
        <p:spPr>
          <a:xfrm>
            <a:off x="1066879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10662795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22.2M</a:t>
            </a:r>
          </a:p>
        </p:txBody>
      </p:sp>
      <p:sp>
        <p:nvSpPr>
          <p:cNvPr id="1510" name="TextBox 1509"/>
          <p:cNvSpPr txBox="1"/>
          <p:nvPr/>
        </p:nvSpPr>
        <p:spPr>
          <a:xfrm>
            <a:off x="10662795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55件</a:t>
            </a:r>
          </a:p>
        </p:txBody>
      </p:sp>
      <p:sp>
        <p:nvSpPr>
          <p:cNvPr id="1511" name="Rectangle 1510"/>
          <p:cNvSpPr/>
          <p:nvPr/>
        </p:nvSpPr>
        <p:spPr>
          <a:xfrm>
            <a:off x="1101604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11010044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15.2M</a:t>
            </a:r>
          </a:p>
        </p:txBody>
      </p:sp>
      <p:sp>
        <p:nvSpPr>
          <p:cNvPr id="1513" name="TextBox 1512"/>
          <p:cNvSpPr txBox="1"/>
          <p:nvPr/>
        </p:nvSpPr>
        <p:spPr>
          <a:xfrm>
            <a:off x="11010044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42件</a:t>
            </a:r>
          </a:p>
        </p:txBody>
      </p:sp>
      <p:sp>
        <p:nvSpPr>
          <p:cNvPr id="1514" name="Rectangle 1513"/>
          <p:cNvSpPr/>
          <p:nvPr/>
        </p:nvSpPr>
        <p:spPr>
          <a:xfrm>
            <a:off x="1136329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11357293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6.6M</a:t>
            </a:r>
          </a:p>
        </p:txBody>
      </p:sp>
      <p:sp>
        <p:nvSpPr>
          <p:cNvPr id="1516" name="TextBox 1515"/>
          <p:cNvSpPr txBox="1"/>
          <p:nvPr/>
        </p:nvSpPr>
        <p:spPr>
          <a:xfrm>
            <a:off x="11357293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22件</a:t>
            </a:r>
          </a:p>
        </p:txBody>
      </p:sp>
      <p:sp>
        <p:nvSpPr>
          <p:cNvPr id="1517" name="Rectangle 1516"/>
          <p:cNvSpPr/>
          <p:nvPr/>
        </p:nvSpPr>
        <p:spPr>
          <a:xfrm>
            <a:off x="1171054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TextBox 1517"/>
          <p:cNvSpPr txBox="1"/>
          <p:nvPr/>
        </p:nvSpPr>
        <p:spPr>
          <a:xfrm>
            <a:off x="11704542" y="28650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16.0M</a:t>
            </a:r>
          </a:p>
        </p:txBody>
      </p:sp>
      <p:sp>
        <p:nvSpPr>
          <p:cNvPr id="1519" name="TextBox 1518"/>
          <p:cNvSpPr txBox="1"/>
          <p:nvPr/>
        </p:nvSpPr>
        <p:spPr>
          <a:xfrm>
            <a:off x="11704542" y="29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30件</a:t>
            </a:r>
          </a:p>
        </p:txBody>
      </p:sp>
      <p:sp>
        <p:nvSpPr>
          <p:cNvPr id="1520" name="Rectangle 1519"/>
          <p:cNvSpPr/>
          <p:nvPr/>
        </p:nvSpPr>
        <p:spPr>
          <a:xfrm>
            <a:off x="182880" y="36576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TextBox 1520"/>
          <p:cNvSpPr txBox="1"/>
          <p:nvPr/>
        </p:nvSpPr>
        <p:spPr>
          <a:xfrm>
            <a:off x="262880" y="3657600"/>
            <a:ext cx="5888736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  周度批核业绩热力矩阵（APE in M）</a:t>
            </a:r>
          </a:p>
        </p:txBody>
      </p:sp>
      <p:sp>
        <p:nvSpPr>
          <p:cNvPr id="1522" name="TextBox 1521"/>
          <p:cNvSpPr txBox="1"/>
          <p:nvPr/>
        </p:nvSpPr>
        <p:spPr>
          <a:xfrm>
            <a:off x="862880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W14</a:t>
            </a:r>
          </a:p>
        </p:txBody>
      </p:sp>
      <p:sp>
        <p:nvSpPr>
          <p:cNvPr id="1523" name="TextBox 1522"/>
          <p:cNvSpPr txBox="1"/>
          <p:nvPr/>
        </p:nvSpPr>
        <p:spPr>
          <a:xfrm>
            <a:off x="1210129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W15</a:t>
            </a:r>
          </a:p>
        </p:txBody>
      </p:sp>
      <p:sp>
        <p:nvSpPr>
          <p:cNvPr id="1524" name="TextBox 1523"/>
          <p:cNvSpPr txBox="1"/>
          <p:nvPr/>
        </p:nvSpPr>
        <p:spPr>
          <a:xfrm>
            <a:off x="1557378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W16</a:t>
            </a:r>
          </a:p>
        </p:txBody>
      </p:sp>
      <p:sp>
        <p:nvSpPr>
          <p:cNvPr id="1525" name="TextBox 1524"/>
          <p:cNvSpPr txBox="1"/>
          <p:nvPr/>
        </p:nvSpPr>
        <p:spPr>
          <a:xfrm>
            <a:off x="1904627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W17</a:t>
            </a:r>
          </a:p>
        </p:txBody>
      </p:sp>
      <p:sp>
        <p:nvSpPr>
          <p:cNvPr id="1526" name="TextBox 1525"/>
          <p:cNvSpPr txBox="1"/>
          <p:nvPr/>
        </p:nvSpPr>
        <p:spPr>
          <a:xfrm>
            <a:off x="2251876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W18</a:t>
            </a:r>
          </a:p>
        </p:txBody>
      </p:sp>
      <p:sp>
        <p:nvSpPr>
          <p:cNvPr id="1527" name="TextBox 1526"/>
          <p:cNvSpPr txBox="1"/>
          <p:nvPr/>
        </p:nvSpPr>
        <p:spPr>
          <a:xfrm>
            <a:off x="2599125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W19</a:t>
            </a:r>
          </a:p>
        </p:txBody>
      </p:sp>
      <p:sp>
        <p:nvSpPr>
          <p:cNvPr id="1528" name="TextBox 1527"/>
          <p:cNvSpPr txBox="1"/>
          <p:nvPr/>
        </p:nvSpPr>
        <p:spPr>
          <a:xfrm>
            <a:off x="2946374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W20</a:t>
            </a:r>
          </a:p>
        </p:txBody>
      </p:sp>
      <p:sp>
        <p:nvSpPr>
          <p:cNvPr id="1529" name="TextBox 1528"/>
          <p:cNvSpPr txBox="1"/>
          <p:nvPr/>
        </p:nvSpPr>
        <p:spPr>
          <a:xfrm>
            <a:off x="3293623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W21</a:t>
            </a:r>
          </a:p>
        </p:txBody>
      </p:sp>
      <p:sp>
        <p:nvSpPr>
          <p:cNvPr id="1530" name="TextBox 1529"/>
          <p:cNvSpPr txBox="1"/>
          <p:nvPr/>
        </p:nvSpPr>
        <p:spPr>
          <a:xfrm>
            <a:off x="3640872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W22</a:t>
            </a:r>
          </a:p>
        </p:txBody>
      </p:sp>
      <p:sp>
        <p:nvSpPr>
          <p:cNvPr id="1531" name="TextBox 1530"/>
          <p:cNvSpPr txBox="1"/>
          <p:nvPr/>
        </p:nvSpPr>
        <p:spPr>
          <a:xfrm>
            <a:off x="3988121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W23</a:t>
            </a:r>
          </a:p>
        </p:txBody>
      </p:sp>
      <p:sp>
        <p:nvSpPr>
          <p:cNvPr id="1532" name="TextBox 1531"/>
          <p:cNvSpPr txBox="1"/>
          <p:nvPr/>
        </p:nvSpPr>
        <p:spPr>
          <a:xfrm>
            <a:off x="4335370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W24</a:t>
            </a:r>
          </a:p>
        </p:txBody>
      </p:sp>
      <p:sp>
        <p:nvSpPr>
          <p:cNvPr id="1533" name="TextBox 1532"/>
          <p:cNvSpPr txBox="1"/>
          <p:nvPr/>
        </p:nvSpPr>
        <p:spPr>
          <a:xfrm>
            <a:off x="4682619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W25</a:t>
            </a:r>
          </a:p>
        </p:txBody>
      </p:sp>
      <p:sp>
        <p:nvSpPr>
          <p:cNvPr id="1534" name="TextBox 1533"/>
          <p:cNvSpPr txBox="1"/>
          <p:nvPr/>
        </p:nvSpPr>
        <p:spPr>
          <a:xfrm>
            <a:off x="5029868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/>
              </a:rPr>
              <a:t>W26</a:t>
            </a:r>
          </a:p>
        </p:txBody>
      </p:sp>
      <p:sp>
        <p:nvSpPr>
          <p:cNvPr id="1535" name="TextBox 1534"/>
          <p:cNvSpPr txBox="1"/>
          <p:nvPr/>
        </p:nvSpPr>
        <p:spPr>
          <a:xfrm>
            <a:off x="5377117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W27</a:t>
            </a:r>
          </a:p>
        </p:txBody>
      </p:sp>
      <p:sp>
        <p:nvSpPr>
          <p:cNvPr id="1536" name="TextBox 1535"/>
          <p:cNvSpPr txBox="1"/>
          <p:nvPr/>
        </p:nvSpPr>
        <p:spPr>
          <a:xfrm>
            <a:off x="5724366" y="3933632"/>
            <a:ext cx="347249" cy="17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/>
              </a:rPr>
              <a:t>W28</a:t>
            </a:r>
          </a:p>
        </p:txBody>
      </p:sp>
      <p:sp>
        <p:nvSpPr>
          <p:cNvPr id="1537" name="TextBox 1536"/>
          <p:cNvSpPr txBox="1"/>
          <p:nvPr/>
        </p:nvSpPr>
        <p:spPr>
          <a:xfrm>
            <a:off x="202880" y="4113632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天领业务</a:t>
            </a:r>
          </a:p>
        </p:txBody>
      </p:sp>
      <p:sp>
        <p:nvSpPr>
          <p:cNvPr id="1538" name="Rectangle 1537"/>
          <p:cNvSpPr/>
          <p:nvPr/>
        </p:nvSpPr>
        <p:spPr>
          <a:xfrm>
            <a:off x="868880" y="4119632"/>
            <a:ext cx="335249" cy="251296"/>
          </a:xfrm>
          <a:prstGeom prst="rect">
            <a:avLst/>
          </a:prstGeom>
          <a:solidFill>
            <a:srgbClr val="2980B9">
              <a:alpha val="503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TextBox 1538"/>
          <p:cNvSpPr txBox="1"/>
          <p:nvPr/>
        </p:nvSpPr>
        <p:spPr>
          <a:xfrm>
            <a:off x="862880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3.1M</a:t>
            </a:r>
          </a:p>
        </p:txBody>
      </p:sp>
      <p:sp>
        <p:nvSpPr>
          <p:cNvPr id="1540" name="TextBox 1539"/>
          <p:cNvSpPr txBox="1"/>
          <p:nvPr/>
        </p:nvSpPr>
        <p:spPr>
          <a:xfrm>
            <a:off x="862880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3件</a:t>
            </a:r>
          </a:p>
        </p:txBody>
      </p:sp>
      <p:sp>
        <p:nvSpPr>
          <p:cNvPr id="1541" name="Rectangle 1540"/>
          <p:cNvSpPr/>
          <p:nvPr/>
        </p:nvSpPr>
        <p:spPr>
          <a:xfrm>
            <a:off x="1216129" y="4119632"/>
            <a:ext cx="335249" cy="251296"/>
          </a:xfrm>
          <a:prstGeom prst="rect">
            <a:avLst/>
          </a:prstGeom>
          <a:solidFill>
            <a:srgbClr val="2980B9">
              <a:alpha val="307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TextBox 1541"/>
          <p:cNvSpPr txBox="1"/>
          <p:nvPr/>
        </p:nvSpPr>
        <p:spPr>
          <a:xfrm>
            <a:off x="1210129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0.7M</a:t>
            </a:r>
          </a:p>
        </p:txBody>
      </p:sp>
      <p:sp>
        <p:nvSpPr>
          <p:cNvPr id="1543" name="TextBox 1542"/>
          <p:cNvSpPr txBox="1"/>
          <p:nvPr/>
        </p:nvSpPr>
        <p:spPr>
          <a:xfrm>
            <a:off x="1210129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8件</a:t>
            </a:r>
          </a:p>
        </p:txBody>
      </p:sp>
      <p:sp>
        <p:nvSpPr>
          <p:cNvPr id="1544" name="Rectangle 1543"/>
          <p:cNvSpPr/>
          <p:nvPr/>
        </p:nvSpPr>
        <p:spPr>
          <a:xfrm>
            <a:off x="1563378" y="4119632"/>
            <a:ext cx="335249" cy="251296"/>
          </a:xfrm>
          <a:prstGeom prst="rect">
            <a:avLst/>
          </a:prstGeom>
          <a:solidFill>
            <a:srgbClr val="2980B9">
              <a:alpha val="540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TextBox 1544"/>
          <p:cNvSpPr txBox="1"/>
          <p:nvPr/>
        </p:nvSpPr>
        <p:spPr>
          <a:xfrm>
            <a:off x="1557378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3.5M</a:t>
            </a:r>
          </a:p>
        </p:txBody>
      </p:sp>
      <p:sp>
        <p:nvSpPr>
          <p:cNvPr id="1546" name="TextBox 1545"/>
          <p:cNvSpPr txBox="1"/>
          <p:nvPr/>
        </p:nvSpPr>
        <p:spPr>
          <a:xfrm>
            <a:off x="1557378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1547" name="Rectangle 1546"/>
          <p:cNvSpPr/>
          <p:nvPr/>
        </p:nvSpPr>
        <p:spPr>
          <a:xfrm>
            <a:off x="1910627" y="4119632"/>
            <a:ext cx="335249" cy="2512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TextBox 1547"/>
          <p:cNvSpPr txBox="1"/>
          <p:nvPr/>
        </p:nvSpPr>
        <p:spPr>
          <a:xfrm>
            <a:off x="1904627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9.1M</a:t>
            </a:r>
          </a:p>
        </p:txBody>
      </p:sp>
      <p:sp>
        <p:nvSpPr>
          <p:cNvPr id="1549" name="TextBox 1548"/>
          <p:cNvSpPr txBox="1"/>
          <p:nvPr/>
        </p:nvSpPr>
        <p:spPr>
          <a:xfrm>
            <a:off x="1904627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550" name="Rectangle 1549"/>
          <p:cNvSpPr/>
          <p:nvPr/>
        </p:nvSpPr>
        <p:spPr>
          <a:xfrm>
            <a:off x="2257876" y="4119632"/>
            <a:ext cx="335249" cy="251296"/>
          </a:xfrm>
          <a:prstGeom prst="rect">
            <a:avLst/>
          </a:prstGeom>
          <a:solidFill>
            <a:srgbClr val="2980B9">
              <a:alpha val="3372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TextBox 1550"/>
          <p:cNvSpPr txBox="1"/>
          <p:nvPr/>
        </p:nvSpPr>
        <p:spPr>
          <a:xfrm>
            <a:off x="2251876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1.1M</a:t>
            </a:r>
          </a:p>
        </p:txBody>
      </p:sp>
      <p:sp>
        <p:nvSpPr>
          <p:cNvPr id="1552" name="TextBox 1551"/>
          <p:cNvSpPr txBox="1"/>
          <p:nvPr/>
        </p:nvSpPr>
        <p:spPr>
          <a:xfrm>
            <a:off x="2251876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7件</a:t>
            </a:r>
          </a:p>
        </p:txBody>
      </p:sp>
      <p:sp>
        <p:nvSpPr>
          <p:cNvPr id="1553" name="Rectangle 1552"/>
          <p:cNvSpPr/>
          <p:nvPr/>
        </p:nvSpPr>
        <p:spPr>
          <a:xfrm>
            <a:off x="2605125" y="4119632"/>
            <a:ext cx="335249" cy="251296"/>
          </a:xfrm>
          <a:prstGeom prst="rect">
            <a:avLst/>
          </a:prstGeom>
          <a:solidFill>
            <a:srgbClr val="2980B9">
              <a:alpha val="27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TextBox 1553"/>
          <p:cNvSpPr txBox="1"/>
          <p:nvPr/>
        </p:nvSpPr>
        <p:spPr>
          <a:xfrm>
            <a:off x="2599125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555" name="TextBox 1554"/>
          <p:cNvSpPr txBox="1"/>
          <p:nvPr/>
        </p:nvSpPr>
        <p:spPr>
          <a:xfrm>
            <a:off x="2599125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556" name="Rectangle 1555"/>
          <p:cNvSpPr/>
          <p:nvPr/>
        </p:nvSpPr>
        <p:spPr>
          <a:xfrm>
            <a:off x="2952374" y="4119632"/>
            <a:ext cx="335249" cy="251296"/>
          </a:xfrm>
          <a:prstGeom prst="rect">
            <a:avLst/>
          </a:prstGeom>
          <a:solidFill>
            <a:srgbClr val="2980B9">
              <a:alpha val="474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TextBox 1556"/>
          <p:cNvSpPr txBox="1"/>
          <p:nvPr/>
        </p:nvSpPr>
        <p:spPr>
          <a:xfrm>
            <a:off x="2946374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2.7M</a:t>
            </a:r>
          </a:p>
        </p:txBody>
      </p:sp>
      <p:sp>
        <p:nvSpPr>
          <p:cNvPr id="1558" name="TextBox 1557"/>
          <p:cNvSpPr txBox="1"/>
          <p:nvPr/>
        </p:nvSpPr>
        <p:spPr>
          <a:xfrm>
            <a:off x="2946374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13件</a:t>
            </a:r>
          </a:p>
        </p:txBody>
      </p:sp>
      <p:sp>
        <p:nvSpPr>
          <p:cNvPr id="1559" name="Rectangle 1558"/>
          <p:cNvSpPr/>
          <p:nvPr/>
        </p:nvSpPr>
        <p:spPr>
          <a:xfrm>
            <a:off x="3299623" y="4119632"/>
            <a:ext cx="335249" cy="251296"/>
          </a:xfrm>
          <a:prstGeom prst="rect">
            <a:avLst/>
          </a:prstGeom>
          <a:solidFill>
            <a:srgbClr val="2980B9">
              <a:alpha val="404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TextBox 1559"/>
          <p:cNvSpPr txBox="1"/>
          <p:nvPr/>
        </p:nvSpPr>
        <p:spPr>
          <a:xfrm>
            <a:off x="3293623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1.9M</a:t>
            </a:r>
          </a:p>
        </p:txBody>
      </p:sp>
      <p:sp>
        <p:nvSpPr>
          <p:cNvPr id="1561" name="TextBox 1560"/>
          <p:cNvSpPr txBox="1"/>
          <p:nvPr/>
        </p:nvSpPr>
        <p:spPr>
          <a:xfrm>
            <a:off x="3293623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11件</a:t>
            </a:r>
          </a:p>
        </p:txBody>
      </p:sp>
      <p:sp>
        <p:nvSpPr>
          <p:cNvPr id="1562" name="Rectangle 1561"/>
          <p:cNvSpPr/>
          <p:nvPr/>
        </p:nvSpPr>
        <p:spPr>
          <a:xfrm>
            <a:off x="3646872" y="4119632"/>
            <a:ext cx="335249" cy="251296"/>
          </a:xfrm>
          <a:prstGeom prst="rect">
            <a:avLst/>
          </a:prstGeom>
          <a:solidFill>
            <a:srgbClr val="2980B9">
              <a:alpha val="68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TextBox 1562"/>
          <p:cNvSpPr txBox="1"/>
          <p:nvPr/>
        </p:nvSpPr>
        <p:spPr>
          <a:xfrm>
            <a:off x="3640872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5.2M</a:t>
            </a:r>
          </a:p>
        </p:txBody>
      </p:sp>
      <p:sp>
        <p:nvSpPr>
          <p:cNvPr id="1564" name="TextBox 1563"/>
          <p:cNvSpPr txBox="1"/>
          <p:nvPr/>
        </p:nvSpPr>
        <p:spPr>
          <a:xfrm>
            <a:off x="3640872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7件</a:t>
            </a:r>
          </a:p>
        </p:txBody>
      </p:sp>
      <p:sp>
        <p:nvSpPr>
          <p:cNvPr id="1565" name="Rectangle 1564"/>
          <p:cNvSpPr/>
          <p:nvPr/>
        </p:nvSpPr>
        <p:spPr>
          <a:xfrm>
            <a:off x="3994121" y="4119632"/>
            <a:ext cx="335249" cy="251296"/>
          </a:xfrm>
          <a:prstGeom prst="rect">
            <a:avLst/>
          </a:prstGeom>
          <a:solidFill>
            <a:srgbClr val="2980B9">
              <a:alpha val="46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TextBox 1565"/>
          <p:cNvSpPr txBox="1"/>
          <p:nvPr/>
        </p:nvSpPr>
        <p:spPr>
          <a:xfrm>
            <a:off x="3988121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2.6M</a:t>
            </a:r>
          </a:p>
        </p:txBody>
      </p:sp>
      <p:sp>
        <p:nvSpPr>
          <p:cNvPr id="1567" name="TextBox 1566"/>
          <p:cNvSpPr txBox="1"/>
          <p:nvPr/>
        </p:nvSpPr>
        <p:spPr>
          <a:xfrm>
            <a:off x="3988121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13件</a:t>
            </a:r>
          </a:p>
        </p:txBody>
      </p:sp>
      <p:sp>
        <p:nvSpPr>
          <p:cNvPr id="1568" name="Rectangle 1567"/>
          <p:cNvSpPr/>
          <p:nvPr/>
        </p:nvSpPr>
        <p:spPr>
          <a:xfrm>
            <a:off x="4341370" y="4119632"/>
            <a:ext cx="335249" cy="251296"/>
          </a:xfrm>
          <a:prstGeom prst="rect">
            <a:avLst/>
          </a:prstGeom>
          <a:solidFill>
            <a:srgbClr val="2980B9">
              <a:alpha val="966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TextBox 1568"/>
          <p:cNvSpPr txBox="1"/>
          <p:nvPr/>
        </p:nvSpPr>
        <p:spPr>
          <a:xfrm>
            <a:off x="4335370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8.7M</a:t>
            </a:r>
          </a:p>
        </p:txBody>
      </p:sp>
      <p:sp>
        <p:nvSpPr>
          <p:cNvPr id="1570" name="TextBox 1569"/>
          <p:cNvSpPr txBox="1"/>
          <p:nvPr/>
        </p:nvSpPr>
        <p:spPr>
          <a:xfrm>
            <a:off x="4335370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9件</a:t>
            </a:r>
          </a:p>
        </p:txBody>
      </p:sp>
      <p:sp>
        <p:nvSpPr>
          <p:cNvPr id="1571" name="Rectangle 1570"/>
          <p:cNvSpPr/>
          <p:nvPr/>
        </p:nvSpPr>
        <p:spPr>
          <a:xfrm>
            <a:off x="4688619" y="4119632"/>
            <a:ext cx="335249" cy="251296"/>
          </a:xfrm>
          <a:prstGeom prst="rect">
            <a:avLst/>
          </a:prstGeom>
          <a:solidFill>
            <a:srgbClr val="2980B9">
              <a:alpha val="27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TextBox 1571"/>
          <p:cNvSpPr txBox="1"/>
          <p:nvPr/>
        </p:nvSpPr>
        <p:spPr>
          <a:xfrm>
            <a:off x="4682619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573" name="TextBox 1572"/>
          <p:cNvSpPr txBox="1"/>
          <p:nvPr/>
        </p:nvSpPr>
        <p:spPr>
          <a:xfrm>
            <a:off x="4682619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6件</a:t>
            </a:r>
          </a:p>
        </p:txBody>
      </p:sp>
      <p:sp>
        <p:nvSpPr>
          <p:cNvPr id="1574" name="Rectangle 1573"/>
          <p:cNvSpPr/>
          <p:nvPr/>
        </p:nvSpPr>
        <p:spPr>
          <a:xfrm>
            <a:off x="5035868" y="4119632"/>
            <a:ext cx="335249" cy="251296"/>
          </a:xfrm>
          <a:prstGeom prst="rect">
            <a:avLst/>
          </a:prstGeom>
          <a:solidFill>
            <a:srgbClr val="2980B9">
              <a:alpha val="297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TextBox 1574"/>
          <p:cNvSpPr txBox="1"/>
          <p:nvPr/>
        </p:nvSpPr>
        <p:spPr>
          <a:xfrm>
            <a:off x="5029868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0.6M</a:t>
            </a:r>
          </a:p>
        </p:txBody>
      </p:sp>
      <p:sp>
        <p:nvSpPr>
          <p:cNvPr id="1576" name="TextBox 1575"/>
          <p:cNvSpPr txBox="1"/>
          <p:nvPr/>
        </p:nvSpPr>
        <p:spPr>
          <a:xfrm>
            <a:off x="5029868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5件</a:t>
            </a:r>
          </a:p>
        </p:txBody>
      </p:sp>
      <p:sp>
        <p:nvSpPr>
          <p:cNvPr id="1577" name="Rectangle 1576"/>
          <p:cNvSpPr/>
          <p:nvPr/>
        </p:nvSpPr>
        <p:spPr>
          <a:xfrm>
            <a:off x="5383117" y="4119632"/>
            <a:ext cx="335249" cy="251296"/>
          </a:xfrm>
          <a:prstGeom prst="rect">
            <a:avLst/>
          </a:prstGeom>
          <a:solidFill>
            <a:srgbClr val="2980B9">
              <a:alpha val="276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TextBox 1577"/>
          <p:cNvSpPr txBox="1"/>
          <p:nvPr/>
        </p:nvSpPr>
        <p:spPr>
          <a:xfrm>
            <a:off x="5377117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0.3M</a:t>
            </a:r>
          </a:p>
        </p:txBody>
      </p:sp>
      <p:sp>
        <p:nvSpPr>
          <p:cNvPr id="1579" name="TextBox 1578"/>
          <p:cNvSpPr txBox="1"/>
          <p:nvPr/>
        </p:nvSpPr>
        <p:spPr>
          <a:xfrm>
            <a:off x="5377117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4件</a:t>
            </a:r>
          </a:p>
        </p:txBody>
      </p:sp>
      <p:sp>
        <p:nvSpPr>
          <p:cNvPr id="1580" name="Rectangle 1579"/>
          <p:cNvSpPr/>
          <p:nvPr/>
        </p:nvSpPr>
        <p:spPr>
          <a:xfrm>
            <a:off x="5730366" y="4119632"/>
            <a:ext cx="335249" cy="251296"/>
          </a:xfrm>
          <a:prstGeom prst="rect">
            <a:avLst/>
          </a:prstGeom>
          <a:solidFill>
            <a:srgbClr val="2980B9">
              <a:alpha val="291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TextBox 1580"/>
          <p:cNvSpPr txBox="1"/>
          <p:nvPr/>
        </p:nvSpPr>
        <p:spPr>
          <a:xfrm>
            <a:off x="5724366" y="412163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/>
              </a:rPr>
              <a:t>0.5M</a:t>
            </a:r>
          </a:p>
        </p:txBody>
      </p:sp>
      <p:sp>
        <p:nvSpPr>
          <p:cNvPr id="1582" name="TextBox 1581"/>
          <p:cNvSpPr txBox="1"/>
          <p:nvPr/>
        </p:nvSpPr>
        <p:spPr>
          <a:xfrm>
            <a:off x="5724366" y="425192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/>
              </a:rPr>
              <a:t>3件</a:t>
            </a:r>
          </a:p>
        </p:txBody>
      </p:sp>
      <p:sp>
        <p:nvSpPr>
          <p:cNvPr id="1583" name="TextBox 1582"/>
          <p:cNvSpPr txBox="1"/>
          <p:nvPr/>
        </p:nvSpPr>
        <p:spPr>
          <a:xfrm>
            <a:off x="202880" y="4376928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成事家办</a:t>
            </a:r>
          </a:p>
        </p:txBody>
      </p:sp>
      <p:sp>
        <p:nvSpPr>
          <p:cNvPr id="1584" name="Rectangle 1583"/>
          <p:cNvSpPr/>
          <p:nvPr/>
        </p:nvSpPr>
        <p:spPr>
          <a:xfrm>
            <a:off x="868880" y="4382928"/>
            <a:ext cx="335249" cy="251296"/>
          </a:xfrm>
          <a:prstGeom prst="rect">
            <a:avLst/>
          </a:prstGeom>
          <a:solidFill>
            <a:srgbClr val="374151">
              <a:alpha val="423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TextBox 1584"/>
          <p:cNvSpPr txBox="1"/>
          <p:nvPr/>
        </p:nvSpPr>
        <p:spPr>
          <a:xfrm>
            <a:off x="862880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0.2M</a:t>
            </a:r>
          </a:p>
        </p:txBody>
      </p:sp>
      <p:sp>
        <p:nvSpPr>
          <p:cNvPr id="1586" name="TextBox 1585"/>
          <p:cNvSpPr txBox="1"/>
          <p:nvPr/>
        </p:nvSpPr>
        <p:spPr>
          <a:xfrm>
            <a:off x="862880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587" name="Rectangle 1586"/>
          <p:cNvSpPr/>
          <p:nvPr/>
        </p:nvSpPr>
        <p:spPr>
          <a:xfrm>
            <a:off x="1216129" y="4382928"/>
            <a:ext cx="335249" cy="251296"/>
          </a:xfrm>
          <a:prstGeom prst="rect">
            <a:avLst/>
          </a:prstGeom>
          <a:solidFill>
            <a:srgbClr val="374151">
              <a:alpha val="52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TextBox 1587"/>
          <p:cNvSpPr txBox="1"/>
          <p:nvPr/>
        </p:nvSpPr>
        <p:spPr>
          <a:xfrm>
            <a:off x="1210129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589" name="TextBox 1588"/>
          <p:cNvSpPr txBox="1"/>
          <p:nvPr/>
        </p:nvSpPr>
        <p:spPr>
          <a:xfrm>
            <a:off x="1210129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590" name="Rectangle 1589"/>
          <p:cNvSpPr/>
          <p:nvPr/>
        </p:nvSpPr>
        <p:spPr>
          <a:xfrm>
            <a:off x="1563378" y="4382928"/>
            <a:ext cx="335249" cy="251296"/>
          </a:xfrm>
          <a:prstGeom prst="rect">
            <a:avLst/>
          </a:prstGeom>
          <a:solidFill>
            <a:srgbClr val="374151">
              <a:alpha val="30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TextBox 1590"/>
          <p:cNvSpPr txBox="1"/>
          <p:nvPr/>
        </p:nvSpPr>
        <p:spPr>
          <a:xfrm>
            <a:off x="1557378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0.1M</a:t>
            </a:r>
          </a:p>
        </p:txBody>
      </p:sp>
      <p:sp>
        <p:nvSpPr>
          <p:cNvPr id="1592" name="TextBox 1591"/>
          <p:cNvSpPr txBox="1"/>
          <p:nvPr/>
        </p:nvSpPr>
        <p:spPr>
          <a:xfrm>
            <a:off x="1557378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593" name="Rectangle 1592"/>
          <p:cNvSpPr/>
          <p:nvPr/>
        </p:nvSpPr>
        <p:spPr>
          <a:xfrm>
            <a:off x="1910627" y="4382928"/>
            <a:ext cx="335249" cy="2512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TextBox 1593"/>
          <p:cNvSpPr txBox="1"/>
          <p:nvPr/>
        </p:nvSpPr>
        <p:spPr>
          <a:xfrm>
            <a:off x="1904627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1.0M</a:t>
            </a:r>
          </a:p>
        </p:txBody>
      </p:sp>
      <p:sp>
        <p:nvSpPr>
          <p:cNvPr id="1595" name="TextBox 1594"/>
          <p:cNvSpPr txBox="1"/>
          <p:nvPr/>
        </p:nvSpPr>
        <p:spPr>
          <a:xfrm>
            <a:off x="1904627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596" name="Rectangle 1595"/>
          <p:cNvSpPr/>
          <p:nvPr/>
        </p:nvSpPr>
        <p:spPr>
          <a:xfrm>
            <a:off x="2257876" y="4382928"/>
            <a:ext cx="335249" cy="251296"/>
          </a:xfrm>
          <a:prstGeom prst="rect">
            <a:avLst/>
          </a:prstGeom>
          <a:solidFill>
            <a:srgbClr val="374151">
              <a:alpha val="451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TextBox 1596"/>
          <p:cNvSpPr txBox="1"/>
          <p:nvPr/>
        </p:nvSpPr>
        <p:spPr>
          <a:xfrm>
            <a:off x="2251876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0.3M</a:t>
            </a:r>
          </a:p>
        </p:txBody>
      </p:sp>
      <p:sp>
        <p:nvSpPr>
          <p:cNvPr id="1598" name="TextBox 1597"/>
          <p:cNvSpPr txBox="1"/>
          <p:nvPr/>
        </p:nvSpPr>
        <p:spPr>
          <a:xfrm>
            <a:off x="2251876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599" name="Rectangle 1598"/>
          <p:cNvSpPr/>
          <p:nvPr/>
        </p:nvSpPr>
        <p:spPr>
          <a:xfrm>
            <a:off x="2605125" y="4382928"/>
            <a:ext cx="335249" cy="251296"/>
          </a:xfrm>
          <a:prstGeom prst="rect">
            <a:avLst/>
          </a:prstGeom>
          <a:solidFill>
            <a:srgbClr val="374151">
              <a:alpha val="842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TextBox 1599"/>
          <p:cNvSpPr txBox="1"/>
          <p:nvPr/>
        </p:nvSpPr>
        <p:spPr>
          <a:xfrm>
            <a:off x="2599125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0.8M</a:t>
            </a:r>
          </a:p>
        </p:txBody>
      </p:sp>
      <p:sp>
        <p:nvSpPr>
          <p:cNvPr id="1601" name="TextBox 1600"/>
          <p:cNvSpPr txBox="1"/>
          <p:nvPr/>
        </p:nvSpPr>
        <p:spPr>
          <a:xfrm>
            <a:off x="2599125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6件</a:t>
            </a:r>
          </a:p>
        </p:txBody>
      </p:sp>
      <p:sp>
        <p:nvSpPr>
          <p:cNvPr id="1602" name="Rectangle 1601"/>
          <p:cNvSpPr/>
          <p:nvPr/>
        </p:nvSpPr>
        <p:spPr>
          <a:xfrm>
            <a:off x="2952374" y="4382928"/>
            <a:ext cx="335249" cy="251296"/>
          </a:xfrm>
          <a:prstGeom prst="rect">
            <a:avLst/>
          </a:prstGeom>
          <a:solidFill>
            <a:srgbClr val="374151">
              <a:alpha val="880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TextBox 1602"/>
          <p:cNvSpPr txBox="1"/>
          <p:nvPr/>
        </p:nvSpPr>
        <p:spPr>
          <a:xfrm>
            <a:off x="2946374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0.9M</a:t>
            </a:r>
          </a:p>
        </p:txBody>
      </p:sp>
      <p:sp>
        <p:nvSpPr>
          <p:cNvPr id="1604" name="TextBox 1603"/>
          <p:cNvSpPr txBox="1"/>
          <p:nvPr/>
        </p:nvSpPr>
        <p:spPr>
          <a:xfrm>
            <a:off x="2946374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605" name="Rectangle 1604"/>
          <p:cNvSpPr/>
          <p:nvPr/>
        </p:nvSpPr>
        <p:spPr>
          <a:xfrm>
            <a:off x="3299623" y="4382928"/>
            <a:ext cx="335249" cy="251296"/>
          </a:xfrm>
          <a:prstGeom prst="rect">
            <a:avLst/>
          </a:prstGeom>
          <a:solidFill>
            <a:srgbClr val="374151">
              <a:alpha val="753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TextBox 1605"/>
          <p:cNvSpPr txBox="1"/>
          <p:nvPr/>
        </p:nvSpPr>
        <p:spPr>
          <a:xfrm>
            <a:off x="3293623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0.7M</a:t>
            </a:r>
          </a:p>
        </p:txBody>
      </p:sp>
      <p:sp>
        <p:nvSpPr>
          <p:cNvPr id="1607" name="TextBox 1606"/>
          <p:cNvSpPr txBox="1"/>
          <p:nvPr/>
        </p:nvSpPr>
        <p:spPr>
          <a:xfrm>
            <a:off x="3293623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3件</a:t>
            </a:r>
          </a:p>
        </p:txBody>
      </p:sp>
      <p:sp>
        <p:nvSpPr>
          <p:cNvPr id="1608" name="Rectangle 1607"/>
          <p:cNvSpPr/>
          <p:nvPr/>
        </p:nvSpPr>
        <p:spPr>
          <a:xfrm>
            <a:off x="4688619" y="4382928"/>
            <a:ext cx="335249" cy="251296"/>
          </a:xfrm>
          <a:prstGeom prst="rect">
            <a:avLst/>
          </a:prstGeom>
          <a:solidFill>
            <a:srgbClr val="374151">
              <a:alpha val="545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TextBox 1608"/>
          <p:cNvSpPr txBox="1"/>
          <p:nvPr/>
        </p:nvSpPr>
        <p:spPr>
          <a:xfrm>
            <a:off x="4682619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0.4M</a:t>
            </a:r>
          </a:p>
        </p:txBody>
      </p:sp>
      <p:sp>
        <p:nvSpPr>
          <p:cNvPr id="1610" name="TextBox 1609"/>
          <p:cNvSpPr txBox="1"/>
          <p:nvPr/>
        </p:nvSpPr>
        <p:spPr>
          <a:xfrm>
            <a:off x="4682619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1件</a:t>
            </a:r>
          </a:p>
        </p:txBody>
      </p:sp>
      <p:sp>
        <p:nvSpPr>
          <p:cNvPr id="1611" name="Rectangle 1610"/>
          <p:cNvSpPr/>
          <p:nvPr/>
        </p:nvSpPr>
        <p:spPr>
          <a:xfrm>
            <a:off x="5035868" y="4382928"/>
            <a:ext cx="335249" cy="251296"/>
          </a:xfrm>
          <a:prstGeom prst="rect">
            <a:avLst/>
          </a:prstGeom>
          <a:solidFill>
            <a:srgbClr val="374151">
              <a:alpha val="4807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TextBox 1611"/>
          <p:cNvSpPr txBox="1"/>
          <p:nvPr/>
        </p:nvSpPr>
        <p:spPr>
          <a:xfrm>
            <a:off x="5029868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/>
              </a:rPr>
              <a:t>0.3M</a:t>
            </a:r>
          </a:p>
        </p:txBody>
      </p:sp>
      <p:sp>
        <p:nvSpPr>
          <p:cNvPr id="1613" name="TextBox 1612"/>
          <p:cNvSpPr txBox="1"/>
          <p:nvPr/>
        </p:nvSpPr>
        <p:spPr>
          <a:xfrm>
            <a:off x="5029868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/>
              </a:rPr>
              <a:t>2件</a:t>
            </a:r>
          </a:p>
        </p:txBody>
      </p:sp>
      <p:sp>
        <p:nvSpPr>
          <p:cNvPr id="1614" name="Rectangle 1613"/>
          <p:cNvSpPr/>
          <p:nvPr/>
        </p:nvSpPr>
        <p:spPr>
          <a:xfrm>
            <a:off x="5383117" y="4382928"/>
            <a:ext cx="335249" cy="251296"/>
          </a:xfrm>
          <a:prstGeom prst="rect">
            <a:avLst/>
          </a:prstGeom>
          <a:solidFill>
            <a:srgbClr val="374151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TextBox 1614"/>
          <p:cNvSpPr txBox="1"/>
          <p:nvPr/>
        </p:nvSpPr>
        <p:spPr>
          <a:xfrm>
            <a:off x="5377117" y="438492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0.5M</a:t>
            </a:r>
          </a:p>
        </p:txBody>
      </p:sp>
      <p:sp>
        <p:nvSpPr>
          <p:cNvPr id="1616" name="TextBox 1615"/>
          <p:cNvSpPr txBox="1"/>
          <p:nvPr/>
        </p:nvSpPr>
        <p:spPr>
          <a:xfrm>
            <a:off x="5377117" y="451522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617" name="TextBox 1616"/>
          <p:cNvSpPr txBox="1"/>
          <p:nvPr/>
        </p:nvSpPr>
        <p:spPr>
          <a:xfrm>
            <a:off x="202880" y="4640224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BK业务</a:t>
            </a:r>
          </a:p>
        </p:txBody>
      </p:sp>
      <p:sp>
        <p:nvSpPr>
          <p:cNvPr id="1618" name="Rectangle 1617"/>
          <p:cNvSpPr/>
          <p:nvPr/>
        </p:nvSpPr>
        <p:spPr>
          <a:xfrm>
            <a:off x="868880" y="4646224"/>
            <a:ext cx="335249" cy="251296"/>
          </a:xfrm>
          <a:prstGeom prst="rect">
            <a:avLst/>
          </a:prstGeom>
          <a:solidFill>
            <a:srgbClr val="1F3864">
              <a:alpha val="477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TextBox 1618"/>
          <p:cNvSpPr txBox="1"/>
          <p:nvPr/>
        </p:nvSpPr>
        <p:spPr>
          <a:xfrm>
            <a:off x="862880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4.3M</a:t>
            </a:r>
          </a:p>
        </p:txBody>
      </p:sp>
      <p:sp>
        <p:nvSpPr>
          <p:cNvPr id="1620" name="TextBox 1619"/>
          <p:cNvSpPr txBox="1"/>
          <p:nvPr/>
        </p:nvSpPr>
        <p:spPr>
          <a:xfrm>
            <a:off x="862880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4件</a:t>
            </a:r>
          </a:p>
        </p:txBody>
      </p:sp>
      <p:sp>
        <p:nvSpPr>
          <p:cNvPr id="1621" name="Rectangle 1620"/>
          <p:cNvSpPr/>
          <p:nvPr/>
        </p:nvSpPr>
        <p:spPr>
          <a:xfrm>
            <a:off x="1216129" y="4646224"/>
            <a:ext cx="335249" cy="251296"/>
          </a:xfrm>
          <a:prstGeom prst="rect">
            <a:avLst/>
          </a:prstGeom>
          <a:solidFill>
            <a:srgbClr val="1F3864">
              <a:alpha val="656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1210129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7.6M</a:t>
            </a:r>
          </a:p>
        </p:txBody>
      </p:sp>
      <p:sp>
        <p:nvSpPr>
          <p:cNvPr id="1623" name="TextBox 1622"/>
          <p:cNvSpPr txBox="1"/>
          <p:nvPr/>
        </p:nvSpPr>
        <p:spPr>
          <a:xfrm>
            <a:off x="1210129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10件</a:t>
            </a:r>
          </a:p>
        </p:txBody>
      </p:sp>
      <p:sp>
        <p:nvSpPr>
          <p:cNvPr id="1624" name="Rectangle 1623"/>
          <p:cNvSpPr/>
          <p:nvPr/>
        </p:nvSpPr>
        <p:spPr>
          <a:xfrm>
            <a:off x="1563378" y="4646224"/>
            <a:ext cx="335249" cy="251296"/>
          </a:xfrm>
          <a:prstGeom prst="rect">
            <a:avLst/>
          </a:prstGeom>
          <a:solidFill>
            <a:srgbClr val="1F3864">
              <a:alpha val="875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1557378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11.8M</a:t>
            </a:r>
          </a:p>
        </p:txBody>
      </p:sp>
      <p:sp>
        <p:nvSpPr>
          <p:cNvPr id="1626" name="TextBox 1625"/>
          <p:cNvSpPr txBox="1"/>
          <p:nvPr/>
        </p:nvSpPr>
        <p:spPr>
          <a:xfrm>
            <a:off x="1557378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627" name="Rectangle 1626"/>
          <p:cNvSpPr/>
          <p:nvPr/>
        </p:nvSpPr>
        <p:spPr>
          <a:xfrm>
            <a:off x="1910627" y="4646224"/>
            <a:ext cx="335249" cy="251296"/>
          </a:xfrm>
          <a:prstGeom prst="rect">
            <a:avLst/>
          </a:prstGeom>
          <a:solidFill>
            <a:srgbClr val="1F3864">
              <a:alpha val="415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1904627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3.1M</a:t>
            </a:r>
          </a:p>
        </p:txBody>
      </p:sp>
      <p:sp>
        <p:nvSpPr>
          <p:cNvPr id="1629" name="TextBox 1628"/>
          <p:cNvSpPr txBox="1"/>
          <p:nvPr/>
        </p:nvSpPr>
        <p:spPr>
          <a:xfrm>
            <a:off x="1904627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630" name="Rectangle 1629"/>
          <p:cNvSpPr/>
          <p:nvPr/>
        </p:nvSpPr>
        <p:spPr>
          <a:xfrm>
            <a:off x="2257876" y="4646224"/>
            <a:ext cx="335249" cy="251296"/>
          </a:xfrm>
          <a:prstGeom prst="rect">
            <a:avLst/>
          </a:prstGeom>
          <a:solidFill>
            <a:srgbClr val="1F3864">
              <a:alpha val="35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TextBox 1630"/>
          <p:cNvSpPr txBox="1"/>
          <p:nvPr/>
        </p:nvSpPr>
        <p:spPr>
          <a:xfrm>
            <a:off x="2251876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1.9M</a:t>
            </a:r>
          </a:p>
        </p:txBody>
      </p:sp>
      <p:sp>
        <p:nvSpPr>
          <p:cNvPr id="1632" name="TextBox 1631"/>
          <p:cNvSpPr txBox="1"/>
          <p:nvPr/>
        </p:nvSpPr>
        <p:spPr>
          <a:xfrm>
            <a:off x="2251876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633" name="Rectangle 1632"/>
          <p:cNvSpPr/>
          <p:nvPr/>
        </p:nvSpPr>
        <p:spPr>
          <a:xfrm>
            <a:off x="2605125" y="4646224"/>
            <a:ext cx="335249" cy="251296"/>
          </a:xfrm>
          <a:prstGeom prst="rect">
            <a:avLst/>
          </a:prstGeom>
          <a:solidFill>
            <a:srgbClr val="1F3864">
              <a:alpha val="425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TextBox 1633"/>
          <p:cNvSpPr txBox="1"/>
          <p:nvPr/>
        </p:nvSpPr>
        <p:spPr>
          <a:xfrm>
            <a:off x="2599125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3.3M</a:t>
            </a:r>
          </a:p>
        </p:txBody>
      </p:sp>
      <p:sp>
        <p:nvSpPr>
          <p:cNvPr id="1635" name="TextBox 1634"/>
          <p:cNvSpPr txBox="1"/>
          <p:nvPr/>
        </p:nvSpPr>
        <p:spPr>
          <a:xfrm>
            <a:off x="2599125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5件</a:t>
            </a:r>
          </a:p>
        </p:txBody>
      </p:sp>
      <p:sp>
        <p:nvSpPr>
          <p:cNvPr id="1636" name="Rectangle 1635"/>
          <p:cNvSpPr/>
          <p:nvPr/>
        </p:nvSpPr>
        <p:spPr>
          <a:xfrm>
            <a:off x="2952374" y="4646224"/>
            <a:ext cx="335249" cy="251296"/>
          </a:xfrm>
          <a:prstGeom prst="rect">
            <a:avLst/>
          </a:prstGeom>
          <a:solidFill>
            <a:srgbClr val="1F3864">
              <a:alpha val="374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TextBox 1636"/>
          <p:cNvSpPr txBox="1"/>
          <p:nvPr/>
        </p:nvSpPr>
        <p:spPr>
          <a:xfrm>
            <a:off x="2946374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2.3M</a:t>
            </a:r>
          </a:p>
        </p:txBody>
      </p:sp>
      <p:sp>
        <p:nvSpPr>
          <p:cNvPr id="1638" name="TextBox 1637"/>
          <p:cNvSpPr txBox="1"/>
          <p:nvPr/>
        </p:nvSpPr>
        <p:spPr>
          <a:xfrm>
            <a:off x="2946374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639" name="Rectangle 1638"/>
          <p:cNvSpPr/>
          <p:nvPr/>
        </p:nvSpPr>
        <p:spPr>
          <a:xfrm>
            <a:off x="3299623" y="4646224"/>
            <a:ext cx="335249" cy="2512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TextBox 1639"/>
          <p:cNvSpPr txBox="1"/>
          <p:nvPr/>
        </p:nvSpPr>
        <p:spPr>
          <a:xfrm>
            <a:off x="3293623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14.1M</a:t>
            </a:r>
          </a:p>
        </p:txBody>
      </p:sp>
      <p:sp>
        <p:nvSpPr>
          <p:cNvPr id="1641" name="TextBox 1640"/>
          <p:cNvSpPr txBox="1"/>
          <p:nvPr/>
        </p:nvSpPr>
        <p:spPr>
          <a:xfrm>
            <a:off x="3293623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5件</a:t>
            </a:r>
          </a:p>
        </p:txBody>
      </p:sp>
      <p:sp>
        <p:nvSpPr>
          <p:cNvPr id="1642" name="Rectangle 1641"/>
          <p:cNvSpPr/>
          <p:nvPr/>
        </p:nvSpPr>
        <p:spPr>
          <a:xfrm>
            <a:off x="3646872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TextBox 1642"/>
          <p:cNvSpPr txBox="1"/>
          <p:nvPr/>
        </p:nvSpPr>
        <p:spPr>
          <a:xfrm>
            <a:off x="3640872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1.6M</a:t>
            </a:r>
          </a:p>
        </p:txBody>
      </p:sp>
      <p:sp>
        <p:nvSpPr>
          <p:cNvPr id="1644" name="TextBox 1643"/>
          <p:cNvSpPr txBox="1"/>
          <p:nvPr/>
        </p:nvSpPr>
        <p:spPr>
          <a:xfrm>
            <a:off x="3640872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645" name="Rectangle 1644"/>
          <p:cNvSpPr/>
          <p:nvPr/>
        </p:nvSpPr>
        <p:spPr>
          <a:xfrm>
            <a:off x="3994121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TextBox 1645"/>
          <p:cNvSpPr txBox="1"/>
          <p:nvPr/>
        </p:nvSpPr>
        <p:spPr>
          <a:xfrm>
            <a:off x="3988121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647" name="TextBox 1646"/>
          <p:cNvSpPr txBox="1"/>
          <p:nvPr/>
        </p:nvSpPr>
        <p:spPr>
          <a:xfrm>
            <a:off x="3988121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648" name="Rectangle 1647"/>
          <p:cNvSpPr/>
          <p:nvPr/>
        </p:nvSpPr>
        <p:spPr>
          <a:xfrm>
            <a:off x="4341370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TextBox 1648"/>
          <p:cNvSpPr txBox="1"/>
          <p:nvPr/>
        </p:nvSpPr>
        <p:spPr>
          <a:xfrm>
            <a:off x="4335370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0.8M</a:t>
            </a:r>
          </a:p>
        </p:txBody>
      </p:sp>
      <p:sp>
        <p:nvSpPr>
          <p:cNvPr id="1650" name="TextBox 1649"/>
          <p:cNvSpPr txBox="1"/>
          <p:nvPr/>
        </p:nvSpPr>
        <p:spPr>
          <a:xfrm>
            <a:off x="4335370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1件</a:t>
            </a:r>
          </a:p>
        </p:txBody>
      </p:sp>
      <p:sp>
        <p:nvSpPr>
          <p:cNvPr id="1651" name="Rectangle 1650"/>
          <p:cNvSpPr/>
          <p:nvPr/>
        </p:nvSpPr>
        <p:spPr>
          <a:xfrm>
            <a:off x="4688619" y="4646224"/>
            <a:ext cx="335249" cy="251296"/>
          </a:xfrm>
          <a:prstGeom prst="rect">
            <a:avLst/>
          </a:prstGeom>
          <a:solidFill>
            <a:srgbClr val="1F3864">
              <a:alpha val="399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TextBox 1651"/>
          <p:cNvSpPr txBox="1"/>
          <p:nvPr/>
        </p:nvSpPr>
        <p:spPr>
          <a:xfrm>
            <a:off x="4682619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2.8M</a:t>
            </a:r>
          </a:p>
        </p:txBody>
      </p:sp>
      <p:sp>
        <p:nvSpPr>
          <p:cNvPr id="1653" name="TextBox 1652"/>
          <p:cNvSpPr txBox="1"/>
          <p:nvPr/>
        </p:nvSpPr>
        <p:spPr>
          <a:xfrm>
            <a:off x="4682619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6件</a:t>
            </a:r>
          </a:p>
        </p:txBody>
      </p:sp>
      <p:sp>
        <p:nvSpPr>
          <p:cNvPr id="1654" name="Rectangle 1653"/>
          <p:cNvSpPr/>
          <p:nvPr/>
        </p:nvSpPr>
        <p:spPr>
          <a:xfrm>
            <a:off x="5035868" y="4646224"/>
            <a:ext cx="335249" cy="251296"/>
          </a:xfrm>
          <a:prstGeom prst="rect">
            <a:avLst/>
          </a:prstGeom>
          <a:solidFill>
            <a:srgbClr val="1F3864">
              <a:alpha val="266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TextBox 1654"/>
          <p:cNvSpPr txBox="1"/>
          <p:nvPr/>
        </p:nvSpPr>
        <p:spPr>
          <a:xfrm>
            <a:off x="5029868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0.3M</a:t>
            </a:r>
          </a:p>
        </p:txBody>
      </p:sp>
      <p:sp>
        <p:nvSpPr>
          <p:cNvPr id="1656" name="TextBox 1655"/>
          <p:cNvSpPr txBox="1"/>
          <p:nvPr/>
        </p:nvSpPr>
        <p:spPr>
          <a:xfrm>
            <a:off x="5029868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2件</a:t>
            </a:r>
          </a:p>
        </p:txBody>
      </p:sp>
      <p:sp>
        <p:nvSpPr>
          <p:cNvPr id="1657" name="Rectangle 1656"/>
          <p:cNvSpPr/>
          <p:nvPr/>
        </p:nvSpPr>
        <p:spPr>
          <a:xfrm>
            <a:off x="5383117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TextBox 1657"/>
          <p:cNvSpPr txBox="1"/>
          <p:nvPr/>
        </p:nvSpPr>
        <p:spPr>
          <a:xfrm>
            <a:off x="5377117" y="464822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/>
              </a:rPr>
              <a:t>1.6M</a:t>
            </a:r>
          </a:p>
        </p:txBody>
      </p:sp>
      <p:sp>
        <p:nvSpPr>
          <p:cNvPr id="1659" name="TextBox 1658"/>
          <p:cNvSpPr txBox="1"/>
          <p:nvPr/>
        </p:nvSpPr>
        <p:spPr>
          <a:xfrm>
            <a:off x="5377117" y="477852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/>
              </a:rPr>
              <a:t>3件</a:t>
            </a:r>
          </a:p>
        </p:txBody>
      </p:sp>
      <p:sp>
        <p:nvSpPr>
          <p:cNvPr id="1660" name="TextBox 1659"/>
          <p:cNvSpPr txBox="1"/>
          <p:nvPr/>
        </p:nvSpPr>
        <p:spPr>
          <a:xfrm>
            <a:off x="202880" y="4903520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同行经代</a:t>
            </a:r>
          </a:p>
        </p:txBody>
      </p:sp>
      <p:sp>
        <p:nvSpPr>
          <p:cNvPr id="1661" name="Rectangle 1660"/>
          <p:cNvSpPr/>
          <p:nvPr/>
        </p:nvSpPr>
        <p:spPr>
          <a:xfrm>
            <a:off x="868880" y="4909520"/>
            <a:ext cx="335249" cy="251296"/>
          </a:xfrm>
          <a:prstGeom prst="rect">
            <a:avLst/>
          </a:prstGeom>
          <a:solidFill>
            <a:srgbClr val="E67E22">
              <a:alpha val="3447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TextBox 1661"/>
          <p:cNvSpPr txBox="1"/>
          <p:nvPr/>
        </p:nvSpPr>
        <p:spPr>
          <a:xfrm>
            <a:off x="862880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1.2M</a:t>
            </a:r>
          </a:p>
        </p:txBody>
      </p:sp>
      <p:sp>
        <p:nvSpPr>
          <p:cNvPr id="1663" name="TextBox 1662"/>
          <p:cNvSpPr txBox="1"/>
          <p:nvPr/>
        </p:nvSpPr>
        <p:spPr>
          <a:xfrm>
            <a:off x="862880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4件</a:t>
            </a:r>
          </a:p>
        </p:txBody>
      </p:sp>
      <p:sp>
        <p:nvSpPr>
          <p:cNvPr id="1664" name="Rectangle 1663"/>
          <p:cNvSpPr/>
          <p:nvPr/>
        </p:nvSpPr>
        <p:spPr>
          <a:xfrm>
            <a:off x="1216129" y="4909520"/>
            <a:ext cx="335249" cy="251296"/>
          </a:xfrm>
          <a:prstGeom prst="rect">
            <a:avLst/>
          </a:prstGeom>
          <a:solidFill>
            <a:srgbClr val="E67E22">
              <a:alpha val="456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TextBox 1664"/>
          <p:cNvSpPr txBox="1"/>
          <p:nvPr/>
        </p:nvSpPr>
        <p:spPr>
          <a:xfrm>
            <a:off x="1210129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2.7M</a:t>
            </a:r>
          </a:p>
        </p:txBody>
      </p:sp>
      <p:sp>
        <p:nvSpPr>
          <p:cNvPr id="1666" name="TextBox 1665"/>
          <p:cNvSpPr txBox="1"/>
          <p:nvPr/>
        </p:nvSpPr>
        <p:spPr>
          <a:xfrm>
            <a:off x="1210129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12件</a:t>
            </a:r>
          </a:p>
        </p:txBody>
      </p:sp>
      <p:sp>
        <p:nvSpPr>
          <p:cNvPr id="1667" name="Rectangle 1666"/>
          <p:cNvSpPr/>
          <p:nvPr/>
        </p:nvSpPr>
        <p:spPr>
          <a:xfrm>
            <a:off x="1563378" y="4909520"/>
            <a:ext cx="335249" cy="251296"/>
          </a:xfrm>
          <a:prstGeom prst="rect">
            <a:avLst/>
          </a:prstGeom>
          <a:solidFill>
            <a:srgbClr val="E67E22">
              <a:alpha val="5009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TextBox 1667"/>
          <p:cNvSpPr txBox="1"/>
          <p:nvPr/>
        </p:nvSpPr>
        <p:spPr>
          <a:xfrm>
            <a:off x="1557378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3.3M</a:t>
            </a:r>
          </a:p>
        </p:txBody>
      </p:sp>
      <p:sp>
        <p:nvSpPr>
          <p:cNvPr id="1669" name="TextBox 1668"/>
          <p:cNvSpPr txBox="1"/>
          <p:nvPr/>
        </p:nvSpPr>
        <p:spPr>
          <a:xfrm>
            <a:off x="1557378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9件</a:t>
            </a:r>
          </a:p>
        </p:txBody>
      </p:sp>
      <p:sp>
        <p:nvSpPr>
          <p:cNvPr id="1670" name="Rectangle 1669"/>
          <p:cNvSpPr/>
          <p:nvPr/>
        </p:nvSpPr>
        <p:spPr>
          <a:xfrm>
            <a:off x="1910627" y="4909520"/>
            <a:ext cx="335249" cy="251296"/>
          </a:xfrm>
          <a:prstGeom prst="rect">
            <a:avLst/>
          </a:prstGeom>
          <a:solidFill>
            <a:srgbClr val="E67E22">
              <a:alpha val="496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1904627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3.3M</a:t>
            </a:r>
          </a:p>
        </p:txBody>
      </p:sp>
      <p:sp>
        <p:nvSpPr>
          <p:cNvPr id="1672" name="TextBox 1671"/>
          <p:cNvSpPr txBox="1"/>
          <p:nvPr/>
        </p:nvSpPr>
        <p:spPr>
          <a:xfrm>
            <a:off x="1904627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673" name="Rectangle 1672"/>
          <p:cNvSpPr/>
          <p:nvPr/>
        </p:nvSpPr>
        <p:spPr>
          <a:xfrm>
            <a:off x="2257876" y="4909520"/>
            <a:ext cx="335249" cy="251296"/>
          </a:xfrm>
          <a:prstGeom prst="rect">
            <a:avLst/>
          </a:prstGeom>
          <a:solidFill>
            <a:srgbClr val="E67E22">
              <a:alpha val="489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TextBox 1673"/>
          <p:cNvSpPr txBox="1"/>
          <p:nvPr/>
        </p:nvSpPr>
        <p:spPr>
          <a:xfrm>
            <a:off x="2251876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3.2M</a:t>
            </a:r>
          </a:p>
        </p:txBody>
      </p:sp>
      <p:sp>
        <p:nvSpPr>
          <p:cNvPr id="1675" name="TextBox 1674"/>
          <p:cNvSpPr txBox="1"/>
          <p:nvPr/>
        </p:nvSpPr>
        <p:spPr>
          <a:xfrm>
            <a:off x="2251876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676" name="Rectangle 1675"/>
          <p:cNvSpPr/>
          <p:nvPr/>
        </p:nvSpPr>
        <p:spPr>
          <a:xfrm>
            <a:off x="2605125" y="4909520"/>
            <a:ext cx="335249" cy="2512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TextBox 1676"/>
          <p:cNvSpPr txBox="1"/>
          <p:nvPr/>
        </p:nvSpPr>
        <p:spPr>
          <a:xfrm>
            <a:off x="2599125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9.9M</a:t>
            </a:r>
          </a:p>
        </p:txBody>
      </p:sp>
      <p:sp>
        <p:nvSpPr>
          <p:cNvPr id="1678" name="TextBox 1677"/>
          <p:cNvSpPr txBox="1"/>
          <p:nvPr/>
        </p:nvSpPr>
        <p:spPr>
          <a:xfrm>
            <a:off x="2599125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679" name="Rectangle 1678"/>
          <p:cNvSpPr/>
          <p:nvPr/>
        </p:nvSpPr>
        <p:spPr>
          <a:xfrm>
            <a:off x="2952374" y="4909520"/>
            <a:ext cx="335249" cy="251296"/>
          </a:xfrm>
          <a:prstGeom prst="rect">
            <a:avLst/>
          </a:prstGeom>
          <a:solidFill>
            <a:srgbClr val="E67E22">
              <a:alpha val="444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TextBox 1679"/>
          <p:cNvSpPr txBox="1"/>
          <p:nvPr/>
        </p:nvSpPr>
        <p:spPr>
          <a:xfrm>
            <a:off x="2946374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2.6M</a:t>
            </a:r>
          </a:p>
        </p:txBody>
      </p:sp>
      <p:sp>
        <p:nvSpPr>
          <p:cNvPr id="1681" name="TextBox 1680"/>
          <p:cNvSpPr txBox="1"/>
          <p:nvPr/>
        </p:nvSpPr>
        <p:spPr>
          <a:xfrm>
            <a:off x="2946374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10件</a:t>
            </a:r>
          </a:p>
        </p:txBody>
      </p:sp>
      <p:sp>
        <p:nvSpPr>
          <p:cNvPr id="1682" name="Rectangle 1681"/>
          <p:cNvSpPr/>
          <p:nvPr/>
        </p:nvSpPr>
        <p:spPr>
          <a:xfrm>
            <a:off x="3299623" y="4909520"/>
            <a:ext cx="335249" cy="251296"/>
          </a:xfrm>
          <a:prstGeom prst="rect">
            <a:avLst/>
          </a:prstGeom>
          <a:solidFill>
            <a:srgbClr val="E67E22">
              <a:alpha val="673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TextBox 1682"/>
          <p:cNvSpPr txBox="1"/>
          <p:nvPr/>
        </p:nvSpPr>
        <p:spPr>
          <a:xfrm>
            <a:off x="3293623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5.6M</a:t>
            </a:r>
          </a:p>
        </p:txBody>
      </p:sp>
      <p:sp>
        <p:nvSpPr>
          <p:cNvPr id="1684" name="TextBox 1683"/>
          <p:cNvSpPr txBox="1"/>
          <p:nvPr/>
        </p:nvSpPr>
        <p:spPr>
          <a:xfrm>
            <a:off x="3293623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685" name="Rectangle 1684"/>
          <p:cNvSpPr/>
          <p:nvPr/>
        </p:nvSpPr>
        <p:spPr>
          <a:xfrm>
            <a:off x="3646872" y="4909520"/>
            <a:ext cx="335249" cy="251296"/>
          </a:xfrm>
          <a:prstGeom prst="rect">
            <a:avLst/>
          </a:prstGeom>
          <a:solidFill>
            <a:srgbClr val="E67E22">
              <a:alpha val="335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TextBox 1685"/>
          <p:cNvSpPr txBox="1"/>
          <p:nvPr/>
        </p:nvSpPr>
        <p:spPr>
          <a:xfrm>
            <a:off x="3640872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1.1M</a:t>
            </a:r>
          </a:p>
        </p:txBody>
      </p:sp>
      <p:sp>
        <p:nvSpPr>
          <p:cNvPr id="1687" name="TextBox 1686"/>
          <p:cNvSpPr txBox="1"/>
          <p:nvPr/>
        </p:nvSpPr>
        <p:spPr>
          <a:xfrm>
            <a:off x="3640872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5件</a:t>
            </a:r>
          </a:p>
        </p:txBody>
      </p:sp>
      <p:sp>
        <p:nvSpPr>
          <p:cNvPr id="1688" name="Rectangle 1687"/>
          <p:cNvSpPr/>
          <p:nvPr/>
        </p:nvSpPr>
        <p:spPr>
          <a:xfrm>
            <a:off x="3994121" y="4909520"/>
            <a:ext cx="335249" cy="251296"/>
          </a:xfrm>
          <a:prstGeom prst="rect">
            <a:avLst/>
          </a:prstGeom>
          <a:solidFill>
            <a:srgbClr val="E67E22">
              <a:alpha val="54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TextBox 1688"/>
          <p:cNvSpPr txBox="1"/>
          <p:nvPr/>
        </p:nvSpPr>
        <p:spPr>
          <a:xfrm>
            <a:off x="3988121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3.9M</a:t>
            </a:r>
          </a:p>
        </p:txBody>
      </p:sp>
      <p:sp>
        <p:nvSpPr>
          <p:cNvPr id="1690" name="TextBox 1689"/>
          <p:cNvSpPr txBox="1"/>
          <p:nvPr/>
        </p:nvSpPr>
        <p:spPr>
          <a:xfrm>
            <a:off x="3988121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13件</a:t>
            </a:r>
          </a:p>
        </p:txBody>
      </p:sp>
      <p:sp>
        <p:nvSpPr>
          <p:cNvPr id="1691" name="Rectangle 1690"/>
          <p:cNvSpPr/>
          <p:nvPr/>
        </p:nvSpPr>
        <p:spPr>
          <a:xfrm>
            <a:off x="4341370" y="4909520"/>
            <a:ext cx="335249" cy="251296"/>
          </a:xfrm>
          <a:prstGeom prst="rect">
            <a:avLst/>
          </a:prstGeom>
          <a:solidFill>
            <a:srgbClr val="E67E22">
              <a:alpha val="449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TextBox 1691"/>
          <p:cNvSpPr txBox="1"/>
          <p:nvPr/>
        </p:nvSpPr>
        <p:spPr>
          <a:xfrm>
            <a:off x="4335370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2.6M</a:t>
            </a:r>
          </a:p>
        </p:txBody>
      </p:sp>
      <p:sp>
        <p:nvSpPr>
          <p:cNvPr id="1693" name="TextBox 1692"/>
          <p:cNvSpPr txBox="1"/>
          <p:nvPr/>
        </p:nvSpPr>
        <p:spPr>
          <a:xfrm>
            <a:off x="4335370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10件</a:t>
            </a:r>
          </a:p>
        </p:txBody>
      </p:sp>
      <p:sp>
        <p:nvSpPr>
          <p:cNvPr id="1694" name="Rectangle 1693"/>
          <p:cNvSpPr/>
          <p:nvPr/>
        </p:nvSpPr>
        <p:spPr>
          <a:xfrm>
            <a:off x="4688619" y="4909520"/>
            <a:ext cx="335249" cy="251296"/>
          </a:xfrm>
          <a:prstGeom prst="rect">
            <a:avLst/>
          </a:prstGeom>
          <a:solidFill>
            <a:srgbClr val="E67E22">
              <a:alpha val="9139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TextBox 1694"/>
          <p:cNvSpPr txBox="1"/>
          <p:nvPr/>
        </p:nvSpPr>
        <p:spPr>
          <a:xfrm>
            <a:off x="4682619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8.8M</a:t>
            </a:r>
          </a:p>
        </p:txBody>
      </p:sp>
      <p:sp>
        <p:nvSpPr>
          <p:cNvPr id="1696" name="TextBox 1695"/>
          <p:cNvSpPr txBox="1"/>
          <p:nvPr/>
        </p:nvSpPr>
        <p:spPr>
          <a:xfrm>
            <a:off x="4682619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17件</a:t>
            </a:r>
          </a:p>
        </p:txBody>
      </p:sp>
      <p:sp>
        <p:nvSpPr>
          <p:cNvPr id="1697" name="Rectangle 1696"/>
          <p:cNvSpPr/>
          <p:nvPr/>
        </p:nvSpPr>
        <p:spPr>
          <a:xfrm>
            <a:off x="5035868" y="4909520"/>
            <a:ext cx="335249" cy="251296"/>
          </a:xfrm>
          <a:prstGeom prst="rect">
            <a:avLst/>
          </a:prstGeom>
          <a:solidFill>
            <a:srgbClr val="E67E22">
              <a:alpha val="477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TextBox 1697"/>
          <p:cNvSpPr txBox="1"/>
          <p:nvPr/>
        </p:nvSpPr>
        <p:spPr>
          <a:xfrm>
            <a:off x="5029868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3.0M</a:t>
            </a:r>
          </a:p>
        </p:txBody>
      </p:sp>
      <p:sp>
        <p:nvSpPr>
          <p:cNvPr id="1699" name="TextBox 1698"/>
          <p:cNvSpPr txBox="1"/>
          <p:nvPr/>
        </p:nvSpPr>
        <p:spPr>
          <a:xfrm>
            <a:off x="5029868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8件</a:t>
            </a:r>
          </a:p>
        </p:txBody>
      </p:sp>
      <p:sp>
        <p:nvSpPr>
          <p:cNvPr id="1700" name="Rectangle 1699"/>
          <p:cNvSpPr/>
          <p:nvPr/>
        </p:nvSpPr>
        <p:spPr>
          <a:xfrm>
            <a:off x="5383117" y="4909520"/>
            <a:ext cx="335249" cy="251296"/>
          </a:xfrm>
          <a:prstGeom prst="rect">
            <a:avLst/>
          </a:prstGeom>
          <a:solidFill>
            <a:srgbClr val="E67E22">
              <a:alpha val="474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TextBox 1700"/>
          <p:cNvSpPr txBox="1"/>
          <p:nvPr/>
        </p:nvSpPr>
        <p:spPr>
          <a:xfrm>
            <a:off x="5377117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3.0M</a:t>
            </a:r>
          </a:p>
        </p:txBody>
      </p:sp>
      <p:sp>
        <p:nvSpPr>
          <p:cNvPr id="1702" name="TextBox 1701"/>
          <p:cNvSpPr txBox="1"/>
          <p:nvPr/>
        </p:nvSpPr>
        <p:spPr>
          <a:xfrm>
            <a:off x="5377117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10件</a:t>
            </a:r>
          </a:p>
        </p:txBody>
      </p:sp>
      <p:sp>
        <p:nvSpPr>
          <p:cNvPr id="1703" name="Rectangle 1702"/>
          <p:cNvSpPr/>
          <p:nvPr/>
        </p:nvSpPr>
        <p:spPr>
          <a:xfrm>
            <a:off x="5730366" y="4909520"/>
            <a:ext cx="335249" cy="251296"/>
          </a:xfrm>
          <a:prstGeom prst="rect">
            <a:avLst/>
          </a:prstGeom>
          <a:solidFill>
            <a:srgbClr val="E67E22">
              <a:alpha val="37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TextBox 1703"/>
          <p:cNvSpPr txBox="1"/>
          <p:nvPr/>
        </p:nvSpPr>
        <p:spPr>
          <a:xfrm>
            <a:off x="5724366" y="4911520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/>
              </a:rPr>
              <a:t>1.6M</a:t>
            </a:r>
          </a:p>
        </p:txBody>
      </p:sp>
      <p:sp>
        <p:nvSpPr>
          <p:cNvPr id="1705" name="TextBox 1704"/>
          <p:cNvSpPr txBox="1"/>
          <p:nvPr/>
        </p:nvSpPr>
        <p:spPr>
          <a:xfrm>
            <a:off x="5724366" y="5041816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/>
              </a:rPr>
              <a:t>7件</a:t>
            </a:r>
          </a:p>
        </p:txBody>
      </p:sp>
      <p:sp>
        <p:nvSpPr>
          <p:cNvPr id="1706" name="TextBox 1705"/>
          <p:cNvSpPr txBox="1"/>
          <p:nvPr/>
        </p:nvSpPr>
        <p:spPr>
          <a:xfrm>
            <a:off x="202880" y="5166816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永明经代</a:t>
            </a:r>
          </a:p>
        </p:txBody>
      </p:sp>
      <p:sp>
        <p:nvSpPr>
          <p:cNvPr id="1707" name="Rectangle 1706"/>
          <p:cNvSpPr/>
          <p:nvPr/>
        </p:nvSpPr>
        <p:spPr>
          <a:xfrm>
            <a:off x="868880" y="5172816"/>
            <a:ext cx="335249" cy="251296"/>
          </a:xfrm>
          <a:prstGeom prst="rect">
            <a:avLst/>
          </a:prstGeom>
          <a:solidFill>
            <a:srgbClr val="1A7A3F">
              <a:alpha val="442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TextBox 1707"/>
          <p:cNvSpPr txBox="1"/>
          <p:nvPr/>
        </p:nvSpPr>
        <p:spPr>
          <a:xfrm>
            <a:off x="862880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3.2M</a:t>
            </a:r>
          </a:p>
        </p:txBody>
      </p:sp>
      <p:sp>
        <p:nvSpPr>
          <p:cNvPr id="1709" name="TextBox 1708"/>
          <p:cNvSpPr txBox="1"/>
          <p:nvPr/>
        </p:nvSpPr>
        <p:spPr>
          <a:xfrm>
            <a:off x="862880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11件</a:t>
            </a:r>
          </a:p>
        </p:txBody>
      </p:sp>
      <p:sp>
        <p:nvSpPr>
          <p:cNvPr id="1710" name="Rectangle 1709"/>
          <p:cNvSpPr/>
          <p:nvPr/>
        </p:nvSpPr>
        <p:spPr>
          <a:xfrm>
            <a:off x="1216129" y="5172816"/>
            <a:ext cx="335249" cy="2512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TextBox 1710"/>
          <p:cNvSpPr txBox="1"/>
          <p:nvPr/>
        </p:nvSpPr>
        <p:spPr>
          <a:xfrm>
            <a:off x="1210129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12.4M</a:t>
            </a:r>
          </a:p>
        </p:txBody>
      </p:sp>
      <p:sp>
        <p:nvSpPr>
          <p:cNvPr id="1712" name="TextBox 1711"/>
          <p:cNvSpPr txBox="1"/>
          <p:nvPr/>
        </p:nvSpPr>
        <p:spPr>
          <a:xfrm>
            <a:off x="1210129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25件</a:t>
            </a:r>
          </a:p>
        </p:txBody>
      </p:sp>
      <p:sp>
        <p:nvSpPr>
          <p:cNvPr id="1713" name="Rectangle 1712"/>
          <p:cNvSpPr/>
          <p:nvPr/>
        </p:nvSpPr>
        <p:spPr>
          <a:xfrm>
            <a:off x="1563378" y="5172816"/>
            <a:ext cx="335249" cy="251296"/>
          </a:xfrm>
          <a:prstGeom prst="rect">
            <a:avLst/>
          </a:prstGeom>
          <a:solidFill>
            <a:srgbClr val="1A7A3F">
              <a:alpha val="529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TextBox 1713"/>
          <p:cNvSpPr txBox="1"/>
          <p:nvPr/>
        </p:nvSpPr>
        <p:spPr>
          <a:xfrm>
            <a:off x="1557378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4.6M</a:t>
            </a:r>
          </a:p>
        </p:txBody>
      </p:sp>
      <p:sp>
        <p:nvSpPr>
          <p:cNvPr id="1715" name="TextBox 1714"/>
          <p:cNvSpPr txBox="1"/>
          <p:nvPr/>
        </p:nvSpPr>
        <p:spPr>
          <a:xfrm>
            <a:off x="1557378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12件</a:t>
            </a:r>
          </a:p>
        </p:txBody>
      </p:sp>
      <p:sp>
        <p:nvSpPr>
          <p:cNvPr id="1716" name="Rectangle 1715"/>
          <p:cNvSpPr/>
          <p:nvPr/>
        </p:nvSpPr>
        <p:spPr>
          <a:xfrm>
            <a:off x="1910627" y="5172816"/>
            <a:ext cx="335249" cy="251296"/>
          </a:xfrm>
          <a:prstGeom prst="rect">
            <a:avLst/>
          </a:prstGeom>
          <a:solidFill>
            <a:srgbClr val="1A7A3F">
              <a:alpha val="587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TextBox 1716"/>
          <p:cNvSpPr txBox="1"/>
          <p:nvPr/>
        </p:nvSpPr>
        <p:spPr>
          <a:xfrm>
            <a:off x="1904627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5.6M</a:t>
            </a:r>
          </a:p>
        </p:txBody>
      </p:sp>
      <p:sp>
        <p:nvSpPr>
          <p:cNvPr id="1718" name="TextBox 1717"/>
          <p:cNvSpPr txBox="1"/>
          <p:nvPr/>
        </p:nvSpPr>
        <p:spPr>
          <a:xfrm>
            <a:off x="1904627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12件</a:t>
            </a:r>
          </a:p>
        </p:txBody>
      </p:sp>
      <p:sp>
        <p:nvSpPr>
          <p:cNvPr id="1719" name="Rectangle 1718"/>
          <p:cNvSpPr/>
          <p:nvPr/>
        </p:nvSpPr>
        <p:spPr>
          <a:xfrm>
            <a:off x="2257876" y="5172816"/>
            <a:ext cx="335249" cy="251296"/>
          </a:xfrm>
          <a:prstGeom prst="rect">
            <a:avLst/>
          </a:prstGeom>
          <a:solidFill>
            <a:srgbClr val="1A7A3F">
              <a:alpha val="317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TextBox 1719"/>
          <p:cNvSpPr txBox="1"/>
          <p:nvPr/>
        </p:nvSpPr>
        <p:spPr>
          <a:xfrm>
            <a:off x="2251876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1.1M</a:t>
            </a:r>
          </a:p>
        </p:txBody>
      </p:sp>
      <p:sp>
        <p:nvSpPr>
          <p:cNvPr id="1721" name="TextBox 1720"/>
          <p:cNvSpPr txBox="1"/>
          <p:nvPr/>
        </p:nvSpPr>
        <p:spPr>
          <a:xfrm>
            <a:off x="2251876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4件</a:t>
            </a:r>
          </a:p>
        </p:txBody>
      </p:sp>
      <p:sp>
        <p:nvSpPr>
          <p:cNvPr id="1722" name="Rectangle 1721"/>
          <p:cNvSpPr/>
          <p:nvPr/>
        </p:nvSpPr>
        <p:spPr>
          <a:xfrm>
            <a:off x="2605125" y="5172816"/>
            <a:ext cx="335249" cy="251296"/>
          </a:xfrm>
          <a:prstGeom prst="rect">
            <a:avLst/>
          </a:prstGeom>
          <a:solidFill>
            <a:srgbClr val="1A7A3F">
              <a:alpha val="289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TextBox 1722"/>
          <p:cNvSpPr txBox="1"/>
          <p:nvPr/>
        </p:nvSpPr>
        <p:spPr>
          <a:xfrm>
            <a:off x="2599125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0.7M</a:t>
            </a:r>
          </a:p>
        </p:txBody>
      </p:sp>
      <p:sp>
        <p:nvSpPr>
          <p:cNvPr id="1724" name="TextBox 1723"/>
          <p:cNvSpPr txBox="1"/>
          <p:nvPr/>
        </p:nvSpPr>
        <p:spPr>
          <a:xfrm>
            <a:off x="2599125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4件</a:t>
            </a:r>
          </a:p>
        </p:txBody>
      </p:sp>
      <p:sp>
        <p:nvSpPr>
          <p:cNvPr id="1725" name="Rectangle 1724"/>
          <p:cNvSpPr/>
          <p:nvPr/>
        </p:nvSpPr>
        <p:spPr>
          <a:xfrm>
            <a:off x="2952374" y="5172816"/>
            <a:ext cx="335249" cy="251296"/>
          </a:xfrm>
          <a:prstGeom prst="rect">
            <a:avLst/>
          </a:prstGeom>
          <a:solidFill>
            <a:srgbClr val="1A7A3F">
              <a:alpha val="649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TextBox 1725"/>
          <p:cNvSpPr txBox="1"/>
          <p:nvPr/>
        </p:nvSpPr>
        <p:spPr>
          <a:xfrm>
            <a:off x="2946374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6.6M</a:t>
            </a:r>
          </a:p>
        </p:txBody>
      </p:sp>
      <p:sp>
        <p:nvSpPr>
          <p:cNvPr id="1727" name="TextBox 1726"/>
          <p:cNvSpPr txBox="1"/>
          <p:nvPr/>
        </p:nvSpPr>
        <p:spPr>
          <a:xfrm>
            <a:off x="2946374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13件</a:t>
            </a:r>
          </a:p>
        </p:txBody>
      </p:sp>
      <p:sp>
        <p:nvSpPr>
          <p:cNvPr id="1728" name="Rectangle 1727"/>
          <p:cNvSpPr/>
          <p:nvPr/>
        </p:nvSpPr>
        <p:spPr>
          <a:xfrm>
            <a:off x="3299623" y="5172816"/>
            <a:ext cx="335249" cy="251296"/>
          </a:xfrm>
          <a:prstGeom prst="rect">
            <a:avLst/>
          </a:prstGeom>
          <a:solidFill>
            <a:srgbClr val="1A7A3F">
              <a:alpha val="398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TextBox 1728"/>
          <p:cNvSpPr txBox="1"/>
          <p:nvPr/>
        </p:nvSpPr>
        <p:spPr>
          <a:xfrm>
            <a:off x="3293623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2.5M</a:t>
            </a:r>
          </a:p>
        </p:txBody>
      </p:sp>
      <p:sp>
        <p:nvSpPr>
          <p:cNvPr id="1730" name="TextBox 1729"/>
          <p:cNvSpPr txBox="1"/>
          <p:nvPr/>
        </p:nvSpPr>
        <p:spPr>
          <a:xfrm>
            <a:off x="3293623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8件</a:t>
            </a:r>
          </a:p>
        </p:txBody>
      </p:sp>
      <p:sp>
        <p:nvSpPr>
          <p:cNvPr id="1731" name="Rectangle 1730"/>
          <p:cNvSpPr/>
          <p:nvPr/>
        </p:nvSpPr>
        <p:spPr>
          <a:xfrm>
            <a:off x="3646872" y="5172816"/>
            <a:ext cx="335249" cy="251296"/>
          </a:xfrm>
          <a:prstGeom prst="rect">
            <a:avLst/>
          </a:prstGeom>
          <a:solidFill>
            <a:srgbClr val="1A7A3F">
              <a:alpha val="385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TextBox 1731"/>
          <p:cNvSpPr txBox="1"/>
          <p:nvPr/>
        </p:nvSpPr>
        <p:spPr>
          <a:xfrm>
            <a:off x="3640872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2.2M</a:t>
            </a:r>
          </a:p>
        </p:txBody>
      </p:sp>
      <p:sp>
        <p:nvSpPr>
          <p:cNvPr id="1733" name="TextBox 1732"/>
          <p:cNvSpPr txBox="1"/>
          <p:nvPr/>
        </p:nvSpPr>
        <p:spPr>
          <a:xfrm>
            <a:off x="3640872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7件</a:t>
            </a:r>
          </a:p>
        </p:txBody>
      </p:sp>
      <p:sp>
        <p:nvSpPr>
          <p:cNvPr id="1734" name="Rectangle 1733"/>
          <p:cNvSpPr/>
          <p:nvPr/>
        </p:nvSpPr>
        <p:spPr>
          <a:xfrm>
            <a:off x="3994121" y="5172816"/>
            <a:ext cx="335249" cy="251296"/>
          </a:xfrm>
          <a:prstGeom prst="rect">
            <a:avLst/>
          </a:prstGeom>
          <a:solidFill>
            <a:srgbClr val="1A7A3F">
              <a:alpha val="448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TextBox 1734"/>
          <p:cNvSpPr txBox="1"/>
          <p:nvPr/>
        </p:nvSpPr>
        <p:spPr>
          <a:xfrm>
            <a:off x="3988121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3.3M</a:t>
            </a:r>
          </a:p>
        </p:txBody>
      </p:sp>
      <p:sp>
        <p:nvSpPr>
          <p:cNvPr id="1736" name="TextBox 1735"/>
          <p:cNvSpPr txBox="1"/>
          <p:nvPr/>
        </p:nvSpPr>
        <p:spPr>
          <a:xfrm>
            <a:off x="3988121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737" name="Rectangle 1736"/>
          <p:cNvSpPr/>
          <p:nvPr/>
        </p:nvSpPr>
        <p:spPr>
          <a:xfrm>
            <a:off x="4341370" y="5172816"/>
            <a:ext cx="335249" cy="251296"/>
          </a:xfrm>
          <a:prstGeom prst="rect">
            <a:avLst/>
          </a:prstGeom>
          <a:solidFill>
            <a:srgbClr val="1A7A3F">
              <a:alpha val="447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TextBox 1737"/>
          <p:cNvSpPr txBox="1"/>
          <p:nvPr/>
        </p:nvSpPr>
        <p:spPr>
          <a:xfrm>
            <a:off x="4335370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3.3M</a:t>
            </a:r>
          </a:p>
        </p:txBody>
      </p:sp>
      <p:sp>
        <p:nvSpPr>
          <p:cNvPr id="1739" name="TextBox 1738"/>
          <p:cNvSpPr txBox="1"/>
          <p:nvPr/>
        </p:nvSpPr>
        <p:spPr>
          <a:xfrm>
            <a:off x="4335370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10件</a:t>
            </a:r>
          </a:p>
        </p:txBody>
      </p:sp>
      <p:sp>
        <p:nvSpPr>
          <p:cNvPr id="1740" name="Rectangle 1739"/>
          <p:cNvSpPr/>
          <p:nvPr/>
        </p:nvSpPr>
        <p:spPr>
          <a:xfrm>
            <a:off x="4688619" y="5172816"/>
            <a:ext cx="335249" cy="251296"/>
          </a:xfrm>
          <a:prstGeom prst="rect">
            <a:avLst/>
          </a:prstGeom>
          <a:solidFill>
            <a:srgbClr val="1A7A3F">
              <a:alpha val="440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TextBox 1740"/>
          <p:cNvSpPr txBox="1"/>
          <p:nvPr/>
        </p:nvSpPr>
        <p:spPr>
          <a:xfrm>
            <a:off x="4682619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3.2M</a:t>
            </a:r>
          </a:p>
        </p:txBody>
      </p:sp>
      <p:sp>
        <p:nvSpPr>
          <p:cNvPr id="1742" name="TextBox 1741"/>
          <p:cNvSpPr txBox="1"/>
          <p:nvPr/>
        </p:nvSpPr>
        <p:spPr>
          <a:xfrm>
            <a:off x="4682619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9件</a:t>
            </a:r>
          </a:p>
        </p:txBody>
      </p:sp>
      <p:sp>
        <p:nvSpPr>
          <p:cNvPr id="1743" name="Rectangle 1742"/>
          <p:cNvSpPr/>
          <p:nvPr/>
        </p:nvSpPr>
        <p:spPr>
          <a:xfrm>
            <a:off x="5035868" y="5172816"/>
            <a:ext cx="335249" cy="251296"/>
          </a:xfrm>
          <a:prstGeom prst="rect">
            <a:avLst/>
          </a:prstGeom>
          <a:solidFill>
            <a:srgbClr val="1A7A3F">
              <a:alpha val="595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TextBox 1743"/>
          <p:cNvSpPr txBox="1"/>
          <p:nvPr/>
        </p:nvSpPr>
        <p:spPr>
          <a:xfrm>
            <a:off x="5029868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5.7M</a:t>
            </a:r>
          </a:p>
        </p:txBody>
      </p:sp>
      <p:sp>
        <p:nvSpPr>
          <p:cNvPr id="1745" name="TextBox 1744"/>
          <p:cNvSpPr txBox="1"/>
          <p:nvPr/>
        </p:nvSpPr>
        <p:spPr>
          <a:xfrm>
            <a:off x="5029868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16件</a:t>
            </a:r>
          </a:p>
        </p:txBody>
      </p:sp>
      <p:sp>
        <p:nvSpPr>
          <p:cNvPr id="1746" name="Rectangle 1745"/>
          <p:cNvSpPr/>
          <p:nvPr/>
        </p:nvSpPr>
        <p:spPr>
          <a:xfrm>
            <a:off x="5383117" y="5172816"/>
            <a:ext cx="335249" cy="251296"/>
          </a:xfrm>
          <a:prstGeom prst="rect">
            <a:avLst/>
          </a:prstGeom>
          <a:solidFill>
            <a:srgbClr val="1A7A3F">
              <a:alpha val="847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TextBox 1746"/>
          <p:cNvSpPr txBox="1"/>
          <p:nvPr/>
        </p:nvSpPr>
        <p:spPr>
          <a:xfrm>
            <a:off x="5377117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9.9M</a:t>
            </a:r>
          </a:p>
        </p:txBody>
      </p:sp>
      <p:sp>
        <p:nvSpPr>
          <p:cNvPr id="1748" name="TextBox 1747"/>
          <p:cNvSpPr txBox="1"/>
          <p:nvPr/>
        </p:nvSpPr>
        <p:spPr>
          <a:xfrm>
            <a:off x="5377117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22件</a:t>
            </a:r>
          </a:p>
        </p:txBody>
      </p:sp>
      <p:sp>
        <p:nvSpPr>
          <p:cNvPr id="1749" name="Rectangle 1748"/>
          <p:cNvSpPr/>
          <p:nvPr/>
        </p:nvSpPr>
        <p:spPr>
          <a:xfrm>
            <a:off x="5730366" y="5172816"/>
            <a:ext cx="335249" cy="251296"/>
          </a:xfrm>
          <a:prstGeom prst="rect">
            <a:avLst/>
          </a:prstGeom>
          <a:solidFill>
            <a:srgbClr val="1A7A3F">
              <a:alpha val="498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TextBox 1749"/>
          <p:cNvSpPr txBox="1"/>
          <p:nvPr/>
        </p:nvSpPr>
        <p:spPr>
          <a:xfrm>
            <a:off x="5724366" y="5174816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/>
              </a:rPr>
              <a:t>4.1M</a:t>
            </a:r>
          </a:p>
        </p:txBody>
      </p:sp>
      <p:sp>
        <p:nvSpPr>
          <p:cNvPr id="1751" name="TextBox 1750"/>
          <p:cNvSpPr txBox="1"/>
          <p:nvPr/>
        </p:nvSpPr>
        <p:spPr>
          <a:xfrm>
            <a:off x="5724366" y="5305112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/>
              </a:rPr>
              <a:t>11件</a:t>
            </a:r>
          </a:p>
        </p:txBody>
      </p:sp>
      <p:sp>
        <p:nvSpPr>
          <p:cNvPr id="1752" name="TextBox 1751"/>
          <p:cNvSpPr txBox="1"/>
          <p:nvPr/>
        </p:nvSpPr>
        <p:spPr>
          <a:xfrm>
            <a:off x="202880" y="5430112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合伙转介</a:t>
            </a:r>
          </a:p>
        </p:txBody>
      </p:sp>
      <p:sp>
        <p:nvSpPr>
          <p:cNvPr id="1753" name="Rectangle 1752"/>
          <p:cNvSpPr/>
          <p:nvPr/>
        </p:nvSpPr>
        <p:spPr>
          <a:xfrm>
            <a:off x="1216129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TextBox 1753"/>
          <p:cNvSpPr txBox="1"/>
          <p:nvPr/>
        </p:nvSpPr>
        <p:spPr>
          <a:xfrm>
            <a:off x="1210129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755" name="TextBox 1754"/>
          <p:cNvSpPr txBox="1"/>
          <p:nvPr/>
        </p:nvSpPr>
        <p:spPr>
          <a:xfrm>
            <a:off x="1210129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756" name="Rectangle 1755"/>
          <p:cNvSpPr/>
          <p:nvPr/>
        </p:nvSpPr>
        <p:spPr>
          <a:xfrm>
            <a:off x="1563378" y="5436112"/>
            <a:ext cx="335249" cy="2512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TextBox 1756"/>
          <p:cNvSpPr txBox="1"/>
          <p:nvPr/>
        </p:nvSpPr>
        <p:spPr>
          <a:xfrm>
            <a:off x="1557378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1.2M</a:t>
            </a:r>
          </a:p>
        </p:txBody>
      </p:sp>
      <p:sp>
        <p:nvSpPr>
          <p:cNvPr id="1758" name="TextBox 1757"/>
          <p:cNvSpPr txBox="1"/>
          <p:nvPr/>
        </p:nvSpPr>
        <p:spPr>
          <a:xfrm>
            <a:off x="1557378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759" name="Rectangle 1758"/>
          <p:cNvSpPr/>
          <p:nvPr/>
        </p:nvSpPr>
        <p:spPr>
          <a:xfrm>
            <a:off x="2257876" y="5436112"/>
            <a:ext cx="335249" cy="251296"/>
          </a:xfrm>
          <a:prstGeom prst="rect">
            <a:avLst/>
          </a:prstGeom>
          <a:solidFill>
            <a:srgbClr val="94A3B8">
              <a:alpha val="25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TextBox 1759"/>
          <p:cNvSpPr txBox="1"/>
          <p:nvPr/>
        </p:nvSpPr>
        <p:spPr>
          <a:xfrm>
            <a:off x="2251876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761" name="TextBox 1760"/>
          <p:cNvSpPr txBox="1"/>
          <p:nvPr/>
        </p:nvSpPr>
        <p:spPr>
          <a:xfrm>
            <a:off x="2251876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762" name="Rectangle 1761"/>
          <p:cNvSpPr/>
          <p:nvPr/>
        </p:nvSpPr>
        <p:spPr>
          <a:xfrm>
            <a:off x="2605125" y="5436112"/>
            <a:ext cx="335249" cy="251296"/>
          </a:xfrm>
          <a:prstGeom prst="rect">
            <a:avLst/>
          </a:prstGeom>
          <a:solidFill>
            <a:srgbClr val="94A3B8">
              <a:alpha val="587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TextBox 1762"/>
          <p:cNvSpPr txBox="1"/>
          <p:nvPr/>
        </p:nvSpPr>
        <p:spPr>
          <a:xfrm>
            <a:off x="2599125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0.5M</a:t>
            </a:r>
          </a:p>
        </p:txBody>
      </p:sp>
      <p:sp>
        <p:nvSpPr>
          <p:cNvPr id="1764" name="TextBox 1763"/>
          <p:cNvSpPr txBox="1"/>
          <p:nvPr/>
        </p:nvSpPr>
        <p:spPr>
          <a:xfrm>
            <a:off x="2599125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765" name="Rectangle 1764"/>
          <p:cNvSpPr/>
          <p:nvPr/>
        </p:nvSpPr>
        <p:spPr>
          <a:xfrm>
            <a:off x="3299623" y="5436112"/>
            <a:ext cx="335249" cy="251296"/>
          </a:xfrm>
          <a:prstGeom prst="rect">
            <a:avLst/>
          </a:prstGeom>
          <a:solidFill>
            <a:srgbClr val="94A3B8">
              <a:alpha val="259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TextBox 1765"/>
          <p:cNvSpPr txBox="1"/>
          <p:nvPr/>
        </p:nvSpPr>
        <p:spPr>
          <a:xfrm>
            <a:off x="3293623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0.0M</a:t>
            </a:r>
          </a:p>
        </p:txBody>
      </p:sp>
      <p:sp>
        <p:nvSpPr>
          <p:cNvPr id="1767" name="TextBox 1766"/>
          <p:cNvSpPr txBox="1"/>
          <p:nvPr/>
        </p:nvSpPr>
        <p:spPr>
          <a:xfrm>
            <a:off x="3293623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768" name="Rectangle 1767"/>
          <p:cNvSpPr/>
          <p:nvPr/>
        </p:nvSpPr>
        <p:spPr>
          <a:xfrm>
            <a:off x="5035868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TextBox 1768"/>
          <p:cNvSpPr txBox="1"/>
          <p:nvPr/>
        </p:nvSpPr>
        <p:spPr>
          <a:xfrm>
            <a:off x="5029868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0.1M</a:t>
            </a:r>
          </a:p>
        </p:txBody>
      </p:sp>
      <p:sp>
        <p:nvSpPr>
          <p:cNvPr id="1770" name="TextBox 1769"/>
          <p:cNvSpPr txBox="1"/>
          <p:nvPr/>
        </p:nvSpPr>
        <p:spPr>
          <a:xfrm>
            <a:off x="5029868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1件</a:t>
            </a:r>
          </a:p>
        </p:txBody>
      </p:sp>
      <p:sp>
        <p:nvSpPr>
          <p:cNvPr id="1771" name="Rectangle 1770"/>
          <p:cNvSpPr/>
          <p:nvPr/>
        </p:nvSpPr>
        <p:spPr>
          <a:xfrm>
            <a:off x="5730366" y="5436112"/>
            <a:ext cx="335249" cy="251296"/>
          </a:xfrm>
          <a:prstGeom prst="rect">
            <a:avLst/>
          </a:prstGeom>
          <a:solidFill>
            <a:srgbClr val="94A3B8">
              <a:alpha val="402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TextBox 1771"/>
          <p:cNvSpPr txBox="1"/>
          <p:nvPr/>
        </p:nvSpPr>
        <p:spPr>
          <a:xfrm>
            <a:off x="5724366" y="5438112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/>
              </a:rPr>
              <a:t>0.2M</a:t>
            </a:r>
          </a:p>
        </p:txBody>
      </p:sp>
      <p:sp>
        <p:nvSpPr>
          <p:cNvPr id="1773" name="TextBox 1772"/>
          <p:cNvSpPr txBox="1"/>
          <p:nvPr/>
        </p:nvSpPr>
        <p:spPr>
          <a:xfrm>
            <a:off x="5724366" y="5568408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/>
              </a:rPr>
              <a:t>3件</a:t>
            </a:r>
          </a:p>
        </p:txBody>
      </p:sp>
      <p:sp>
        <p:nvSpPr>
          <p:cNvPr id="1774" name="TextBox 1773"/>
          <p:cNvSpPr txBox="1"/>
          <p:nvPr/>
        </p:nvSpPr>
        <p:spPr>
          <a:xfrm>
            <a:off x="202880" y="5693408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/>
              </a:rPr>
              <a:t>ICLUB业务</a:t>
            </a:r>
          </a:p>
        </p:txBody>
      </p:sp>
      <p:sp>
        <p:nvSpPr>
          <p:cNvPr id="1775" name="Rectangle 1774"/>
          <p:cNvSpPr/>
          <p:nvPr/>
        </p:nvSpPr>
        <p:spPr>
          <a:xfrm>
            <a:off x="2605125" y="5699408"/>
            <a:ext cx="335249" cy="2512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TextBox 1775"/>
          <p:cNvSpPr txBox="1"/>
          <p:nvPr/>
        </p:nvSpPr>
        <p:spPr>
          <a:xfrm>
            <a:off x="2599125" y="57014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/>
              </a:rPr>
              <a:t>0.0M</a:t>
            </a:r>
          </a:p>
        </p:txBody>
      </p:sp>
      <p:sp>
        <p:nvSpPr>
          <p:cNvPr id="1777" name="TextBox 1776"/>
          <p:cNvSpPr txBox="1"/>
          <p:nvPr/>
        </p:nvSpPr>
        <p:spPr>
          <a:xfrm>
            <a:off x="2599125" y="58317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/>
              </a:rPr>
              <a:t>1件</a:t>
            </a:r>
          </a:p>
        </p:txBody>
      </p:sp>
      <p:sp>
        <p:nvSpPr>
          <p:cNvPr id="1778" name="Rectangle 1777"/>
          <p:cNvSpPr/>
          <p:nvPr/>
        </p:nvSpPr>
        <p:spPr>
          <a:xfrm>
            <a:off x="2952374" y="5699408"/>
            <a:ext cx="335249" cy="2512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TextBox 1778"/>
          <p:cNvSpPr txBox="1"/>
          <p:nvPr/>
        </p:nvSpPr>
        <p:spPr>
          <a:xfrm>
            <a:off x="2946374" y="57014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4.0M</a:t>
            </a:r>
          </a:p>
        </p:txBody>
      </p:sp>
      <p:sp>
        <p:nvSpPr>
          <p:cNvPr id="1780" name="TextBox 1779"/>
          <p:cNvSpPr txBox="1"/>
          <p:nvPr/>
        </p:nvSpPr>
        <p:spPr>
          <a:xfrm>
            <a:off x="2946374" y="58317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1件</a:t>
            </a:r>
          </a:p>
        </p:txBody>
      </p:sp>
      <p:sp>
        <p:nvSpPr>
          <p:cNvPr id="1781" name="Rectangle 1780"/>
          <p:cNvSpPr/>
          <p:nvPr/>
        </p:nvSpPr>
        <p:spPr>
          <a:xfrm>
            <a:off x="3299623" y="5699408"/>
            <a:ext cx="335249" cy="251296"/>
          </a:xfrm>
          <a:prstGeom prst="rect">
            <a:avLst/>
          </a:prstGeom>
          <a:solidFill>
            <a:srgbClr val="8E44AD">
              <a:alpha val="589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TextBox 1781"/>
          <p:cNvSpPr txBox="1"/>
          <p:nvPr/>
        </p:nvSpPr>
        <p:spPr>
          <a:xfrm>
            <a:off x="3293623" y="5701408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1.8M</a:t>
            </a:r>
          </a:p>
        </p:txBody>
      </p:sp>
      <p:sp>
        <p:nvSpPr>
          <p:cNvPr id="1783" name="TextBox 1782"/>
          <p:cNvSpPr txBox="1"/>
          <p:nvPr/>
        </p:nvSpPr>
        <p:spPr>
          <a:xfrm>
            <a:off x="3293623" y="5831704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2件</a:t>
            </a:r>
          </a:p>
        </p:txBody>
      </p:sp>
      <p:sp>
        <p:nvSpPr>
          <p:cNvPr id="1784" name="TextBox 1783"/>
          <p:cNvSpPr txBox="1"/>
          <p:nvPr/>
        </p:nvSpPr>
        <p:spPr>
          <a:xfrm>
            <a:off x="202880" y="5956704"/>
            <a:ext cx="650000" cy="2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/>
              </a:rPr>
              <a:t>合计</a:t>
            </a:r>
          </a:p>
        </p:txBody>
      </p:sp>
      <p:sp>
        <p:nvSpPr>
          <p:cNvPr id="1785" name="Rectangle 1784"/>
          <p:cNvSpPr/>
          <p:nvPr/>
        </p:nvSpPr>
        <p:spPr>
          <a:xfrm>
            <a:off x="86888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TextBox 1785"/>
          <p:cNvSpPr txBox="1"/>
          <p:nvPr/>
        </p:nvSpPr>
        <p:spPr>
          <a:xfrm>
            <a:off x="862880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12.0M</a:t>
            </a:r>
          </a:p>
        </p:txBody>
      </p:sp>
      <p:sp>
        <p:nvSpPr>
          <p:cNvPr id="1787" name="TextBox 1786"/>
          <p:cNvSpPr txBox="1"/>
          <p:nvPr/>
        </p:nvSpPr>
        <p:spPr>
          <a:xfrm>
            <a:off x="862880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23件</a:t>
            </a:r>
          </a:p>
        </p:txBody>
      </p:sp>
      <p:sp>
        <p:nvSpPr>
          <p:cNvPr id="1788" name="Rectangle 1787"/>
          <p:cNvSpPr/>
          <p:nvPr/>
        </p:nvSpPr>
        <p:spPr>
          <a:xfrm>
            <a:off x="121612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TextBox 1788"/>
          <p:cNvSpPr txBox="1"/>
          <p:nvPr/>
        </p:nvSpPr>
        <p:spPr>
          <a:xfrm>
            <a:off x="1210129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23.9M</a:t>
            </a:r>
          </a:p>
        </p:txBody>
      </p:sp>
      <p:sp>
        <p:nvSpPr>
          <p:cNvPr id="1790" name="TextBox 1789"/>
          <p:cNvSpPr txBox="1"/>
          <p:nvPr/>
        </p:nvSpPr>
        <p:spPr>
          <a:xfrm>
            <a:off x="1210129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58件</a:t>
            </a:r>
          </a:p>
        </p:txBody>
      </p:sp>
      <p:sp>
        <p:nvSpPr>
          <p:cNvPr id="1791" name="Rectangle 1790"/>
          <p:cNvSpPr/>
          <p:nvPr/>
        </p:nvSpPr>
        <p:spPr>
          <a:xfrm>
            <a:off x="156337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TextBox 1791"/>
          <p:cNvSpPr txBox="1"/>
          <p:nvPr/>
        </p:nvSpPr>
        <p:spPr>
          <a:xfrm>
            <a:off x="1557378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24.5M</a:t>
            </a:r>
          </a:p>
        </p:txBody>
      </p:sp>
      <p:sp>
        <p:nvSpPr>
          <p:cNvPr id="1793" name="TextBox 1792"/>
          <p:cNvSpPr txBox="1"/>
          <p:nvPr/>
        </p:nvSpPr>
        <p:spPr>
          <a:xfrm>
            <a:off x="1557378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794" name="Rectangle 1793"/>
          <p:cNvSpPr/>
          <p:nvPr/>
        </p:nvSpPr>
        <p:spPr>
          <a:xfrm>
            <a:off x="191062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TextBox 1794"/>
          <p:cNvSpPr txBox="1"/>
          <p:nvPr/>
        </p:nvSpPr>
        <p:spPr>
          <a:xfrm>
            <a:off x="1904627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22.1M</a:t>
            </a:r>
          </a:p>
        </p:txBody>
      </p:sp>
      <p:sp>
        <p:nvSpPr>
          <p:cNvPr id="1796" name="TextBox 1795"/>
          <p:cNvSpPr txBox="1"/>
          <p:nvPr/>
        </p:nvSpPr>
        <p:spPr>
          <a:xfrm>
            <a:off x="1904627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41件</a:t>
            </a:r>
          </a:p>
        </p:txBody>
      </p:sp>
      <p:sp>
        <p:nvSpPr>
          <p:cNvPr id="1797" name="Rectangle 1796"/>
          <p:cNvSpPr/>
          <p:nvPr/>
        </p:nvSpPr>
        <p:spPr>
          <a:xfrm>
            <a:off x="225787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TextBox 1797"/>
          <p:cNvSpPr txBox="1"/>
          <p:nvPr/>
        </p:nvSpPr>
        <p:spPr>
          <a:xfrm>
            <a:off x="2251876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7.6M</a:t>
            </a:r>
          </a:p>
        </p:txBody>
      </p:sp>
      <p:sp>
        <p:nvSpPr>
          <p:cNvPr id="1799" name="TextBox 1798"/>
          <p:cNvSpPr txBox="1"/>
          <p:nvPr/>
        </p:nvSpPr>
        <p:spPr>
          <a:xfrm>
            <a:off x="2251876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25件</a:t>
            </a:r>
          </a:p>
        </p:txBody>
      </p:sp>
      <p:sp>
        <p:nvSpPr>
          <p:cNvPr id="1800" name="Rectangle 1799"/>
          <p:cNvSpPr/>
          <p:nvPr/>
        </p:nvSpPr>
        <p:spPr>
          <a:xfrm>
            <a:off x="2605125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TextBox 1800"/>
          <p:cNvSpPr txBox="1"/>
          <p:nvPr/>
        </p:nvSpPr>
        <p:spPr>
          <a:xfrm>
            <a:off x="2599125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15.6M</a:t>
            </a:r>
          </a:p>
        </p:txBody>
      </p:sp>
      <p:sp>
        <p:nvSpPr>
          <p:cNvPr id="1802" name="TextBox 1801"/>
          <p:cNvSpPr txBox="1"/>
          <p:nvPr/>
        </p:nvSpPr>
        <p:spPr>
          <a:xfrm>
            <a:off x="2599125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35件</a:t>
            </a:r>
          </a:p>
        </p:txBody>
      </p:sp>
      <p:sp>
        <p:nvSpPr>
          <p:cNvPr id="1803" name="Rectangle 1802"/>
          <p:cNvSpPr/>
          <p:nvPr/>
        </p:nvSpPr>
        <p:spPr>
          <a:xfrm>
            <a:off x="2952374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TextBox 1803"/>
          <p:cNvSpPr txBox="1"/>
          <p:nvPr/>
        </p:nvSpPr>
        <p:spPr>
          <a:xfrm>
            <a:off x="2946374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19.1M</a:t>
            </a:r>
          </a:p>
        </p:txBody>
      </p:sp>
      <p:sp>
        <p:nvSpPr>
          <p:cNvPr id="1805" name="TextBox 1804"/>
          <p:cNvSpPr txBox="1"/>
          <p:nvPr/>
        </p:nvSpPr>
        <p:spPr>
          <a:xfrm>
            <a:off x="2946374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43件</a:t>
            </a:r>
          </a:p>
        </p:txBody>
      </p:sp>
      <p:sp>
        <p:nvSpPr>
          <p:cNvPr id="1806" name="Rectangle 1805"/>
          <p:cNvSpPr/>
          <p:nvPr/>
        </p:nvSpPr>
        <p:spPr>
          <a:xfrm>
            <a:off x="3299623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TextBox 1806"/>
          <p:cNvSpPr txBox="1"/>
          <p:nvPr/>
        </p:nvSpPr>
        <p:spPr>
          <a:xfrm>
            <a:off x="3293623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26.5M</a:t>
            </a:r>
          </a:p>
        </p:txBody>
      </p:sp>
      <p:sp>
        <p:nvSpPr>
          <p:cNvPr id="1808" name="TextBox 1807"/>
          <p:cNvSpPr txBox="1"/>
          <p:nvPr/>
        </p:nvSpPr>
        <p:spPr>
          <a:xfrm>
            <a:off x="3293623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42件</a:t>
            </a:r>
          </a:p>
        </p:txBody>
      </p:sp>
      <p:sp>
        <p:nvSpPr>
          <p:cNvPr id="1809" name="Rectangle 1808"/>
          <p:cNvSpPr/>
          <p:nvPr/>
        </p:nvSpPr>
        <p:spPr>
          <a:xfrm>
            <a:off x="3646872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TextBox 1809"/>
          <p:cNvSpPr txBox="1"/>
          <p:nvPr/>
        </p:nvSpPr>
        <p:spPr>
          <a:xfrm>
            <a:off x="3640872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10.2M</a:t>
            </a:r>
          </a:p>
        </p:txBody>
      </p:sp>
      <p:sp>
        <p:nvSpPr>
          <p:cNvPr id="1811" name="TextBox 1810"/>
          <p:cNvSpPr txBox="1"/>
          <p:nvPr/>
        </p:nvSpPr>
        <p:spPr>
          <a:xfrm>
            <a:off x="3640872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21件</a:t>
            </a:r>
          </a:p>
        </p:txBody>
      </p:sp>
      <p:sp>
        <p:nvSpPr>
          <p:cNvPr id="1812" name="Rectangle 1811"/>
          <p:cNvSpPr/>
          <p:nvPr/>
        </p:nvSpPr>
        <p:spPr>
          <a:xfrm>
            <a:off x="3994121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TextBox 1812"/>
          <p:cNvSpPr txBox="1"/>
          <p:nvPr/>
        </p:nvSpPr>
        <p:spPr>
          <a:xfrm>
            <a:off x="3988121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10.6M</a:t>
            </a:r>
          </a:p>
        </p:txBody>
      </p:sp>
      <p:sp>
        <p:nvSpPr>
          <p:cNvPr id="1814" name="TextBox 1813"/>
          <p:cNvSpPr txBox="1"/>
          <p:nvPr/>
        </p:nvSpPr>
        <p:spPr>
          <a:xfrm>
            <a:off x="3988121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38件</a:t>
            </a:r>
          </a:p>
        </p:txBody>
      </p:sp>
      <p:sp>
        <p:nvSpPr>
          <p:cNvPr id="1815" name="Rectangle 1814"/>
          <p:cNvSpPr/>
          <p:nvPr/>
        </p:nvSpPr>
        <p:spPr>
          <a:xfrm>
            <a:off x="434137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TextBox 1815"/>
          <p:cNvSpPr txBox="1"/>
          <p:nvPr/>
        </p:nvSpPr>
        <p:spPr>
          <a:xfrm>
            <a:off x="4335370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15.4M</a:t>
            </a:r>
          </a:p>
        </p:txBody>
      </p:sp>
      <p:sp>
        <p:nvSpPr>
          <p:cNvPr id="1817" name="TextBox 1816"/>
          <p:cNvSpPr txBox="1"/>
          <p:nvPr/>
        </p:nvSpPr>
        <p:spPr>
          <a:xfrm>
            <a:off x="4335370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30件</a:t>
            </a:r>
          </a:p>
        </p:txBody>
      </p:sp>
      <p:sp>
        <p:nvSpPr>
          <p:cNvPr id="1818" name="Rectangle 1817"/>
          <p:cNvSpPr/>
          <p:nvPr/>
        </p:nvSpPr>
        <p:spPr>
          <a:xfrm>
            <a:off x="468861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TextBox 1818"/>
          <p:cNvSpPr txBox="1"/>
          <p:nvPr/>
        </p:nvSpPr>
        <p:spPr>
          <a:xfrm>
            <a:off x="4682619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15.5M</a:t>
            </a:r>
          </a:p>
        </p:txBody>
      </p:sp>
      <p:sp>
        <p:nvSpPr>
          <p:cNvPr id="1820" name="TextBox 1819"/>
          <p:cNvSpPr txBox="1"/>
          <p:nvPr/>
        </p:nvSpPr>
        <p:spPr>
          <a:xfrm>
            <a:off x="4682619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39件</a:t>
            </a:r>
          </a:p>
        </p:txBody>
      </p:sp>
      <p:sp>
        <p:nvSpPr>
          <p:cNvPr id="1821" name="Rectangle 1820"/>
          <p:cNvSpPr/>
          <p:nvPr/>
        </p:nvSpPr>
        <p:spPr>
          <a:xfrm>
            <a:off x="503586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TextBox 1821"/>
          <p:cNvSpPr txBox="1"/>
          <p:nvPr/>
        </p:nvSpPr>
        <p:spPr>
          <a:xfrm>
            <a:off x="5029868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10.0M</a:t>
            </a:r>
          </a:p>
        </p:txBody>
      </p:sp>
      <p:sp>
        <p:nvSpPr>
          <p:cNvPr id="1823" name="TextBox 1822"/>
          <p:cNvSpPr txBox="1"/>
          <p:nvPr/>
        </p:nvSpPr>
        <p:spPr>
          <a:xfrm>
            <a:off x="5029868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34件</a:t>
            </a:r>
          </a:p>
        </p:txBody>
      </p:sp>
      <p:sp>
        <p:nvSpPr>
          <p:cNvPr id="1824" name="Rectangle 1823"/>
          <p:cNvSpPr/>
          <p:nvPr/>
        </p:nvSpPr>
        <p:spPr>
          <a:xfrm>
            <a:off x="538311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TextBox 1824"/>
          <p:cNvSpPr txBox="1"/>
          <p:nvPr/>
        </p:nvSpPr>
        <p:spPr>
          <a:xfrm>
            <a:off x="5377117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15.2M</a:t>
            </a:r>
          </a:p>
        </p:txBody>
      </p:sp>
      <p:sp>
        <p:nvSpPr>
          <p:cNvPr id="1826" name="TextBox 1825"/>
          <p:cNvSpPr txBox="1"/>
          <p:nvPr/>
        </p:nvSpPr>
        <p:spPr>
          <a:xfrm>
            <a:off x="5377117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41件</a:t>
            </a:r>
          </a:p>
        </p:txBody>
      </p:sp>
      <p:sp>
        <p:nvSpPr>
          <p:cNvPr id="1827" name="Rectangle 1826"/>
          <p:cNvSpPr/>
          <p:nvPr/>
        </p:nvSpPr>
        <p:spPr>
          <a:xfrm>
            <a:off x="573036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TextBox 1827"/>
          <p:cNvSpPr txBox="1"/>
          <p:nvPr/>
        </p:nvSpPr>
        <p:spPr>
          <a:xfrm>
            <a:off x="5724366" y="5964704"/>
            <a:ext cx="347249" cy="13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/>
              </a:rPr>
              <a:t>6.5M</a:t>
            </a:r>
          </a:p>
        </p:txBody>
      </p:sp>
      <p:sp>
        <p:nvSpPr>
          <p:cNvPr id="1829" name="TextBox 1828"/>
          <p:cNvSpPr txBox="1"/>
          <p:nvPr/>
        </p:nvSpPr>
        <p:spPr>
          <a:xfrm>
            <a:off x="5724366" y="6095000"/>
            <a:ext cx="347249" cy="115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/>
              </a:rPr>
              <a:t>24件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6050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63169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950845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  姜通 + 战略合作合计贡献批核 APE 74.5%，但模式迥异：姜通件均 APE≈36万 为「大单驱动型」；战略合作 119件 为「流量驱动型」。头部集中度高，需差异化管理策略。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134100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134354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152642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Mark批核率 100%（批核 13.3M，未批核 0.0M），件质量最高。姜通未批核量最大（37.3M），批核率 76%，需优先排查件质量问题。头部推荐人质量差异显著，需差异化对接策略。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7315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8578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1950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605155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72517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85153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18872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  |  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53.2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598805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718820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845185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182370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5件  |  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件均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29.6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592455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496822"/>
          <a:ext cx="5526405" cy="4708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280"/>
                <a:gridCol w="611505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42.70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8.93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1.74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53.37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39.39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5.77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1.87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47.03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34.91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4.54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0.96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40.40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27.82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1.01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28.83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27.18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2.38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29.84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3.02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28.94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天誉国际(MGA)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19.38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23.97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9.24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52.58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166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18.86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20.42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8.35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1.27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9.62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8.16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4.25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13.19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4.27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2.04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6.31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1.45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1.60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1.15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0.22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94A3B8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C0392B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94A3B8"/>
                          </a:solidFill>
                          <a:latin typeface="Calibri" panose="020F0502020204030204"/>
                          <a:ea typeface="Calibri" panose="020F0502020204030204"/>
                        </a:rPr>
                        <a:t>0.18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0.57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4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212.18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576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52.97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139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14.70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36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8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279.84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6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751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8.19M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21件| 件均39.0W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5.54M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16件| 件均34.6W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同行W28批核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5.72M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18件| 件均31.8W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W28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0.94M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1.86M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1.63M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2.00M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2.69M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1.19M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1.97M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1.04M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1.16M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796B"/>
                          </a:solidFill>
                        </a:rPr>
                        <a:t>1.14M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万森保险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0.12M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1.37M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EGA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1.24M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0.40M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850" b="1" dirty="0">
                          <a:solidFill>
                            <a:srgbClr val="1A1A2E"/>
                          </a:solidFill>
                        </a:rPr>
                        <a:t>德方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0.78M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臻略财富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sym typeface="+mn-ea"/>
                        </a:rPr>
                        <a:t>0.78M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850" dirty="0">
                          <a:solidFill>
                            <a:schemeClr val="bg1"/>
                          </a:solidFill>
                        </a:rPr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8.19M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5.54M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10.05M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W28 同行批核 5.72M，签单 5.54M，预约 8.19M。签单前端尚在蓄力，预约 8.2M 为节后水平，需密切跟踪后续周次是否回升。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W01–W28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33.43M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95件 | 件均35.2W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22.86M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72件 | 件均31.8W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29.11M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85件 | 件均34.2W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197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24.98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18.13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24.64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45.59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127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49.21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132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19.56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3.51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May-26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47.88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47.89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139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36.08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Jun-26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60.09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167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58.81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162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38.22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119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Jul-26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33.43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95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22.86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72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29.11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85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1A3A5C"/>
                          </a:solidFill>
                          <a:latin typeface="Calibri" panose="020F0502020204030204"/>
                          <a:ea typeface="Calibri" panose="020F0502020204030204"/>
                        </a:rPr>
                        <a:t>Aug-26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0.00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374151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236.72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668</a:t>
                      </a: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223.70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639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240.22</a:t>
                      </a:r>
                      <a:r>
                        <a:rPr 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r>
                        <a:rPr lang="en-US" altLang="zh-CN" sz="10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/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588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  3 月同行预约 4020 万，环比 +90.9%，前端显著回暖。3 月签单 4343 万，预约-签单缺口反映大量前端件仍处「待结」状态，需密切跟进 4 月转化节奏。</a:t>
            </a:r>
            <a:endParaRPr lang="en-US" sz="850" b="1" dirty="0"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0"/>
          <p:cNvSpPr/>
          <p:nvPr/>
        </p:nvSpPr>
        <p:spPr>
          <a:xfrm>
            <a:off x="6120765" y="1424305"/>
            <a:ext cx="585851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8" name="Shape 60"/>
          <p:cNvSpPr/>
          <p:nvPr/>
        </p:nvSpPr>
        <p:spPr>
          <a:xfrm>
            <a:off x="190500" y="1424305"/>
            <a:ext cx="5659120" cy="530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6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7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8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9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10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196件 | 达成率113.8%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11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12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13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4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28.6M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5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 |件均77.4W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6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7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8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9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20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件均0W</a:t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21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22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23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24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5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6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7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8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9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8.97M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30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14件| 件均64W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31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32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33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34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5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件均52W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01" name="s3001"/>
          <p:cNvSpPr/>
          <p:nvPr/>
        </p:nvSpPr>
        <p:spPr>
          <a:xfrm>
            <a:off x="182800" y="1411695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" name="t3002"/>
          <p:cNvSpPr/>
          <p:nvPr/>
        </p:nvSpPr>
        <p:spPr>
          <a:xfrm>
            <a:off x="199252" y="1439000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Appointment  |  APE(M)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件数</a:t>
            </a:r>
            <a:endParaRPr lang="en-US" altLang="zh-CN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99" name="Chart_YY"/>
          <p:cNvGraphicFramePr/>
          <p:nvPr/>
        </p:nvGraphicFramePr>
        <p:xfrm>
          <a:off x="229235" y="1673225"/>
          <a:ext cx="4764405" cy="13696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5" name="Chart_QD"/>
          <p:cNvGraphicFramePr/>
          <p:nvPr/>
        </p:nvGraphicFramePr>
        <p:xfrm>
          <a:off x="199390" y="3181350"/>
          <a:ext cx="4795520" cy="1202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4" name="Chart_PH"/>
          <p:cNvGraphicFramePr/>
          <p:nvPr/>
        </p:nvGraphicFramePr>
        <p:xfrm>
          <a:off x="229235" y="4775200"/>
          <a:ext cx="4765040" cy="1043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s3001"/>
          <p:cNvSpPr/>
          <p:nvPr/>
        </p:nvSpPr>
        <p:spPr>
          <a:xfrm>
            <a:off x="180260" y="284870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/>
        </p:txBody>
      </p:sp>
      <p:sp>
        <p:nvSpPr>
          <p:cNvPr id="56" name="t3002"/>
          <p:cNvSpPr/>
          <p:nvPr/>
        </p:nvSpPr>
        <p:spPr>
          <a:xfrm>
            <a:off x="258942" y="286965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Signed  |  APE(M)  </a:t>
            </a:r>
            <a:r>
              <a:rPr lang="zh-CN" alt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7" name="s3001"/>
          <p:cNvSpPr/>
          <p:nvPr/>
        </p:nvSpPr>
        <p:spPr>
          <a:xfrm>
            <a:off x="198675" y="4387940"/>
            <a:ext cx="5666800" cy="255920"/>
          </a:xfrm>
          <a:prstGeom prst="rect">
            <a:avLst/>
          </a:prstGeom>
          <a:solidFill>
            <a:srgbClr val="7B241C"/>
          </a:solidFill>
          <a:ln>
            <a:noFill/>
          </a:ln>
        </p:spPr>
        <p:txBody>
          <a:bodyPr/>
          <a:p/>
        </p:txBody>
      </p:sp>
      <p:sp>
        <p:nvSpPr>
          <p:cNvPr id="60" name="t3002"/>
          <p:cNvSpPr/>
          <p:nvPr/>
        </p:nvSpPr>
        <p:spPr>
          <a:xfrm>
            <a:off x="259577" y="4413975"/>
            <a:ext cx="5639380" cy="2559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Z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银行月度走势 — 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003" name="sw_bg_4003"/>
          <p:cNvSpPr/>
          <p:nvPr/>
        </p:nvSpPr>
        <p:spPr>
          <a:xfrm>
            <a:off x="199390" y="6094095"/>
            <a:ext cx="5647690" cy="628650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  <p:txBody>
          <a:bodyPr/>
          <a:p/>
        </p:txBody>
      </p:sp>
      <p:sp>
        <p:nvSpPr>
          <p:cNvPr id="5" name="sw_4003"/>
          <p:cNvSpPr/>
          <p:nvPr/>
        </p:nvSpPr>
        <p:spPr>
          <a:xfrm>
            <a:off x="199390" y="6111240"/>
            <a:ext cx="5558790" cy="30416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  预约：Q1 民生 21.3M，平安 14.8M。签单：4 月民生 5.77M，平安 2.73M，3 月末积压件持续转化，Q2 批核弹药充足。需关注 4 月预约动能的及时修复。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53" name="Chart 1"/>
          <p:cNvGraphicFramePr/>
          <p:nvPr>
            <p:custDataLst>
              <p:tags r:id="rId36"/>
            </p:custDataLst>
          </p:nvPr>
        </p:nvGraphicFramePr>
        <p:xfrm>
          <a:off x="6239510" y="1742440"/>
          <a:ext cx="5697220" cy="1732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4" name="s3001"/>
          <p:cNvSpPr/>
          <p:nvPr/>
        </p:nvSpPr>
        <p:spPr>
          <a:xfrm>
            <a:off x="6116955" y="1424305"/>
            <a:ext cx="5861685" cy="255905"/>
          </a:xfrm>
          <a:prstGeom prst="rect">
            <a:avLst/>
          </a:prstGeom>
          <a:solidFill>
            <a:srgbClr val="0D594A"/>
          </a:solidFill>
          <a:ln>
            <a:noFill/>
          </a:ln>
        </p:spPr>
        <p:txBody>
          <a:bodyPr/>
          <a:p/>
        </p:txBody>
      </p:sp>
      <p:sp>
        <p:nvSpPr>
          <p:cNvPr id="58" name="t3002"/>
          <p:cNvSpPr/>
          <p:nvPr/>
        </p:nvSpPr>
        <p:spPr>
          <a:xfrm>
            <a:off x="6163310" y="1437640"/>
            <a:ext cx="3495675" cy="26162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AA</a:t>
            </a:r>
            <a:r>
              <a:rPr lang="zh-CN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银行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KEY ACCOUNT分析</a:t>
            </a:r>
            <a:r>
              <a:rPr lang="en-US" sz="93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930" b="1" dirty="0">
                <a:solidFill>
                  <a:schemeClr val="bg1"/>
                </a:solidFill>
                <a:sym typeface="+mn-ea"/>
              </a:rPr>
              <a:t>  </a:t>
            </a:r>
            <a:endParaRPr lang="zh-CN" altLang="en-US" sz="93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5010" name="target_hdr"/>
          <p:cNvSpPr/>
          <p:nvPr/>
        </p:nvSpPr>
        <p:spPr>
          <a:xfrm>
            <a:off x="6116320" y="3689985"/>
            <a:ext cx="5862955" cy="237490"/>
          </a:xfrm>
          <a:prstGeom prst="rect">
            <a:avLst/>
          </a:prstGeom>
          <a:solidFill>
            <a:srgbClr val="0D594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AB 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目标达成分析 Target Achievement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5" name="Chart 0"/>
          <p:cNvGraphicFramePr/>
          <p:nvPr/>
        </p:nvGraphicFramePr>
        <p:xfrm>
          <a:off x="6394450" y="404812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71" name="Shape 255"/>
          <p:cNvSpPr/>
          <p:nvPr/>
        </p:nvSpPr>
        <p:spPr>
          <a:xfrm flipV="1">
            <a:off x="182245" y="6061710"/>
            <a:ext cx="5676900" cy="36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4" name="Shape 13"/>
          <p:cNvSpPr/>
          <p:nvPr>
            <p:custDataLst>
              <p:tags r:id="rId37"/>
            </p:custDataLst>
          </p:nvPr>
        </p:nvSpPr>
        <p:spPr>
          <a:xfrm>
            <a:off x="6125210" y="6223000"/>
            <a:ext cx="585470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7" name="Shape 14"/>
          <p:cNvSpPr/>
          <p:nvPr>
            <p:custDataLst>
              <p:tags r:id="rId38"/>
            </p:custDataLst>
          </p:nvPr>
        </p:nvSpPr>
        <p:spPr>
          <a:xfrm rot="5400000">
            <a:off x="9021433" y="3266452"/>
            <a:ext cx="54000" cy="586295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15"/>
          <p:cNvSpPr/>
          <p:nvPr>
            <p:custDataLst>
              <p:tags r:id="rId39"/>
            </p:custDataLst>
          </p:nvPr>
        </p:nvSpPr>
        <p:spPr>
          <a:xfrm>
            <a:off x="6163310" y="6241415"/>
            <a:ext cx="56515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BK 业务 YTD 批核 227.6M 达成 113.8%；未批核 28.6M 构成 Q2 储量；待签 0.0M。目标 200M 已完成大半，需修复前端预约动能。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96" name="Shape 93"/>
          <p:cNvSpPr/>
          <p:nvPr/>
        </p:nvSpPr>
        <p:spPr>
          <a:xfrm>
            <a:off x="8686800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8686673" y="404799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8778113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民生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0" name="Text 96"/>
          <p:cNvSpPr/>
          <p:nvPr/>
        </p:nvSpPr>
        <p:spPr>
          <a:xfrm>
            <a:off x="8778113" y="435889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8778113" y="47185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10259695" y="404812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10259441" y="404799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10350881" y="413943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10350881" y="433222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10350881" y="474395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达成率 113.8%</a:t>
            </a:r>
            <a:r>
              <a:rPr lang="en-US" altLang="zh-CN" sz="80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/>
            </a: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10350881" y="495503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10351135" y="4975225"/>
            <a:ext cx="969010" cy="12573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Text 95"/>
          <p:cNvSpPr/>
          <p:nvPr/>
        </p:nvSpPr>
        <p:spPr>
          <a:xfrm>
            <a:off x="8771763" y="521830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平安</a:t>
            </a: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49" name="Text 96"/>
          <p:cNvSpPr/>
          <p:nvPr/>
        </p:nvSpPr>
        <p:spPr>
          <a:xfrm>
            <a:off x="8771128" y="538505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2200" dirty="0"/>
          </a:p>
        </p:txBody>
      </p:sp>
      <p:sp>
        <p:nvSpPr>
          <p:cNvPr id="59" name="Text 97"/>
          <p:cNvSpPr/>
          <p:nvPr/>
        </p:nvSpPr>
        <p:spPr>
          <a:xfrm>
            <a:off x="8778113" y="5747893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24件</a:t>
            </a:r>
            <a:endParaRPr lang="en-US" sz="800" dirty="0"/>
          </a:p>
        </p:txBody>
      </p:sp>
      <p:sp>
        <p:nvSpPr>
          <p:cNvPr id="61" name="Text 106"/>
          <p:cNvSpPr/>
          <p:nvPr/>
        </p:nvSpPr>
        <p:spPr>
          <a:xfrm>
            <a:off x="10335641" y="523544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目标缺口</a:t>
            </a:r>
            <a:endParaRPr lang="zh-CN" altLang="en-US" sz="9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62" name="Text 107"/>
          <p:cNvSpPr/>
          <p:nvPr/>
        </p:nvSpPr>
        <p:spPr>
          <a:xfrm>
            <a:off x="10344531" y="540156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-27.6M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3010"/>
          <p:cNvSpPr/>
          <p:nvPr/>
        </p:nvSpPr>
        <p:spPr>
          <a:xfrm>
            <a:off x="6198235" y="748030"/>
            <a:ext cx="5854065" cy="595185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4" name="s3010"/>
          <p:cNvSpPr/>
          <p:nvPr/>
        </p:nvSpPr>
        <p:spPr>
          <a:xfrm>
            <a:off x="100330" y="1722755"/>
            <a:ext cx="5955665" cy="2141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>
            <p:custDataLst>
              <p:tags r:id="rId3"/>
            </p:custDataLst>
          </p:nvPr>
        </p:nvSpPr>
        <p:spPr>
          <a:xfrm>
            <a:off x="11176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4"/>
            </p:custDataLst>
          </p:nvPr>
        </p:nvSpPr>
        <p:spPr>
          <a:xfrm>
            <a:off x="111760" y="58864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5"/>
            </p:custDataLst>
          </p:nvPr>
        </p:nvSpPr>
        <p:spPr>
          <a:xfrm>
            <a:off x="2209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BK W28预约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6"/>
            </p:custDataLst>
          </p:nvPr>
        </p:nvSpPr>
        <p:spPr>
          <a:xfrm>
            <a:off x="2209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2.73M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7"/>
            </p:custDataLst>
          </p:nvPr>
        </p:nvSpPr>
        <p:spPr>
          <a:xfrm>
            <a:off x="2209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4件| 件均68.2W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8"/>
            </p:custDataLst>
          </p:nvPr>
        </p:nvSpPr>
        <p:spPr>
          <a:xfrm>
            <a:off x="2155825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9"/>
            </p:custDataLst>
          </p:nvPr>
        </p:nvSpPr>
        <p:spPr>
          <a:xfrm>
            <a:off x="2155825" y="58864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10"/>
            </p:custDataLst>
          </p:nvPr>
        </p:nvSpPr>
        <p:spPr>
          <a:xfrm>
            <a:off x="2265680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W28签单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11"/>
            </p:custDataLst>
          </p:nvPr>
        </p:nvSpPr>
        <p:spPr>
          <a:xfrm>
            <a:off x="2265680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4.29M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12"/>
            </p:custDataLst>
          </p:nvPr>
        </p:nvSpPr>
        <p:spPr>
          <a:xfrm>
            <a:off x="2265680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7件| 件均61.3W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13"/>
            </p:custDataLst>
          </p:nvPr>
        </p:nvSpPr>
        <p:spPr>
          <a:xfrm>
            <a:off x="4220210" y="58864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14"/>
            </p:custDataLst>
          </p:nvPr>
        </p:nvSpPr>
        <p:spPr>
          <a:xfrm>
            <a:off x="4220210" y="58864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15"/>
            </p:custDataLst>
          </p:nvPr>
        </p:nvSpPr>
        <p:spPr>
          <a:xfrm>
            <a:off x="4330065" y="64325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W28批核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16"/>
            </p:custDataLst>
          </p:nvPr>
        </p:nvSpPr>
        <p:spPr>
          <a:xfrm>
            <a:off x="4330065" y="81724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17"/>
            </p:custDataLst>
          </p:nvPr>
        </p:nvSpPr>
        <p:spPr>
          <a:xfrm>
            <a:off x="4330065" y="112776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0件 | 件均0.0W</a:t>
            </a: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zh-CN" altLang="en-US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altLang="zh-CN" sz="75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/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100330" y="1466977"/>
            <a:ext cx="5971032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210058" y="1466977"/>
            <a:ext cx="5833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  W01–W28 银行 预约/签单/批核  APE趋势（M）</a:t>
            </a:r>
            <a:endParaRPr lang="en-US" sz="950" dirty="0"/>
          </a:p>
        </p:txBody>
      </p:sp>
      <p:graphicFrame>
        <p:nvGraphicFramePr>
          <p:cNvPr id="41" name="Chart 1"/>
          <p:cNvGraphicFramePr/>
          <p:nvPr/>
        </p:nvGraphicFramePr>
        <p:xfrm>
          <a:off x="177800" y="1881505"/>
          <a:ext cx="5789930" cy="1904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5" name="Shape 40"/>
          <p:cNvSpPr/>
          <p:nvPr/>
        </p:nvSpPr>
        <p:spPr>
          <a:xfrm>
            <a:off x="57150" y="4636135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133350" y="4627245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W28 银行 KA 本周业绩详情（M）</a:t>
            </a:r>
            <a:endParaRPr lang="en-US" sz="95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custDataLst>
              <p:tags r:id="rId18"/>
            </p:custDataLst>
          </p:nvPr>
        </p:nvGraphicFramePr>
        <p:xfrm>
          <a:off x="59055" y="4928870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4F72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B4F72"/>
                          </a:solidFill>
                          <a:sym typeface="+mn-ea"/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17A65"/>
                          </a:solidFill>
                          <a:sym typeface="+mn-ea"/>
                        </a:rPr>
                        <a:t>0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2.73M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4.29M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7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sym typeface="+mn-ea"/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48" name="Shape 42"/>
          <p:cNvSpPr/>
          <p:nvPr/>
        </p:nvSpPr>
        <p:spPr>
          <a:xfrm>
            <a:off x="60325" y="6198235"/>
            <a:ext cx="6011545" cy="50165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9220" y="6248400"/>
            <a:ext cx="5935345" cy="469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银行 W28：民生 + 平安合计 签单 4.29M/7件、批核 0.00M/0件、预约 2.73M/4件。未批核 28.6M（37件）是 Q2 批核的核心储量。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07" name="sw_bg_4007"/>
          <p:cNvSpPr/>
          <p:nvPr/>
        </p:nvSpPr>
        <p:spPr>
          <a:xfrm>
            <a:off x="100965" y="3980815"/>
            <a:ext cx="5955030" cy="528320"/>
          </a:xfrm>
          <a:prstGeom prst="rect">
            <a:avLst/>
          </a:prstGeom>
          <a:solidFill>
            <a:srgbClr val="EEF2FF"/>
          </a:solidFill>
          <a:ln w="9525">
            <a:solidFill>
              <a:srgbClr val="BFDBFE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7" name="sw_4007"/>
          <p:cNvSpPr/>
          <p:nvPr/>
        </p:nvSpPr>
        <p:spPr>
          <a:xfrm>
            <a:off x="100965" y="4006215"/>
            <a:ext cx="5942965" cy="341630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  W08 批核峰值 46.9M 为全年迄今最高单周，由民生大额集中放款驱动，非可持续常态。W11 批核 36.0M 为第二峰，显示积压件的波动性清转模式。近期批核节奏已回落至正常区间。</a:t>
            </a:r>
            <a:endParaRPr lang="zh-CN" sz="780" b="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2" name="文本框 51"/>
          <p:cNvSpPr txBox="1"/>
          <p:nvPr/>
        </p:nvSpPr>
        <p:spPr>
          <a:xfrm>
            <a:off x="3048000" y="3314065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批核 Approved  |  APE(M)  件数</a:t>
            </a:r>
            <a:endParaRPr lang="zh-CN" altLang="en-US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8" name="Chart 0"/>
          <p:cNvGraphicFramePr/>
          <p:nvPr>
            <p:custDataLst>
              <p:tags r:id="rId19"/>
            </p:custDataLst>
          </p:nvPr>
        </p:nvGraphicFramePr>
        <p:xfrm>
          <a:off x="6320790" y="1102995"/>
          <a:ext cx="5703570" cy="5534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Shape 36"/>
          <p:cNvSpPr/>
          <p:nvPr/>
        </p:nvSpPr>
        <p:spPr>
          <a:xfrm>
            <a:off x="6198235" y="647065"/>
            <a:ext cx="5839460" cy="255905"/>
          </a:xfrm>
          <a:prstGeom prst="rect">
            <a:avLst/>
          </a:prstGeom>
          <a:solidFill>
            <a:srgbClr val="6B2737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1" name="Text 37"/>
          <p:cNvSpPr/>
          <p:nvPr/>
        </p:nvSpPr>
        <p:spPr>
          <a:xfrm>
            <a:off x="6308090" y="647065"/>
            <a:ext cx="499364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  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各分行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年批核</a:t>
            </a: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APE</a:t>
            </a:r>
            <a:r>
              <a:rPr lang="zh-CN" alt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业绩排名</a:t>
            </a: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（M）</a:t>
            </a:r>
            <a:endParaRPr lang="en-US" sz="950" dirty="0"/>
          </a:p>
        </p:txBody>
      </p:sp>
      <p:sp>
        <p:nvSpPr>
          <p:cNvPr id="4003" name="sw_bg_4003"/>
          <p:cNvSpPr/>
          <p:nvPr/>
        </p:nvSpPr>
        <p:spPr>
          <a:xfrm>
            <a:off x="6198235" y="6160135"/>
            <a:ext cx="5853430" cy="563245"/>
          </a:xfrm>
          <a:prstGeom prst="rect">
            <a:avLst/>
          </a:prstGeom>
          <a:solidFill>
            <a:srgbClr val="FDF2F2"/>
          </a:solidFill>
          <a:ln w="9525">
            <a:solidFill>
              <a:srgbClr val="E8D5D5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12" name="sw_4003"/>
          <p:cNvSpPr/>
          <p:nvPr/>
        </p:nvSpPr>
        <p:spPr>
          <a:xfrm>
            <a:off x="6198235" y="6223000"/>
            <a:ext cx="5854065" cy="47688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>
              <a:buNone/>
            </a:pPr>
            <a:r>
              <a:rPr lang="zh-CN" sz="80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So What：  民生广州分行 以 44.1M 居榜首，民生南京分行 37.1M 紧随。前四行合计 130.1M，占 BK 总批核 57%，头部集中度显著，大额单效率突出。</a:t>
            </a:r>
            <a:endParaRPr lang="zh-CN" sz="800" b="1" dirty="0">
              <a:solidFill>
                <a:srgbClr val="7B241C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471" name="Shape 255"/>
          <p:cNvSpPr/>
          <p:nvPr/>
        </p:nvSpPr>
        <p:spPr>
          <a:xfrm flipV="1">
            <a:off x="6198235" y="6151245"/>
            <a:ext cx="5892165" cy="540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 flipV="1">
            <a:off x="71120" y="6170930"/>
            <a:ext cx="5981065" cy="54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103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05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11851</Words>
  <Application>WPS 演示</Application>
  <PresentationFormat>On-screen Show (16:9)</PresentationFormat>
  <Paragraphs>3394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欧阳芷茵</cp:lastModifiedBy>
  <cp:revision>66</cp:revision>
  <dcterms:created xsi:type="dcterms:W3CDTF">2026-03-26T15:42:00Z</dcterms:created>
  <dcterms:modified xsi:type="dcterms:W3CDTF">2026-06-02T05:49:53Z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2052-12.1.0.26375</vt:lpwstr>
  </property>
</Properties>
</file>