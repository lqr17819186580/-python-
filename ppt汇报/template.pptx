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3"/>
    <p:sldId id="278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100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20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508.11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87.5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15.66</c:v>
                </c:pt>
                <c:pt idx="1">
                  <c:v>0.39</c:v>
                </c:pt>
                <c:pt idx="2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</c:v>
                </c:pt>
                <c:pt idx="13">
                  <c:v>61.13</c:v>
                </c:pt>
                <c:pt idx="14">
                  <c:v>82.15</c:v>
                </c:pt>
                <c:pt idx="15">
                  <c:v>62.1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</c:v>
                </c:pt>
                <c:pt idx="1">
                  <c:v>61.13</c:v>
                </c:pt>
                <c:pt idx="2">
                  <c:v>82.15</c:v>
                </c:pt>
                <c:pt idx="3">
                  <c:v>62.1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</c:v>
                </c:pt>
                <c:pt idx="4">
                  <c:v>56.85</c:v>
                </c:pt>
                <c:pt idx="5">
                  <c:v>48.49</c:v>
                </c:pt>
                <c:pt idx="6">
                  <c:v>29.1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2.6315</c:v>
                </c:pt>
                <c:pt idx="4">
                  <c:v>2.235</c:v>
                </c:pt>
                <c:pt idx="5">
                  <c:v>0.819</c:v>
                </c:pt>
                <c:pt idx="6">
                  <c:v>0.234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</c:v>
                </c:pt>
                <c:pt idx="1">
                  <c:v>0.39</c:v>
                </c:pt>
                <c:pt idx="2">
                  <c:v>0.312</c:v>
                </c:pt>
                <c:pt idx="3">
                  <c:v>1.8935</c:v>
                </c:pt>
                <c:pt idx="4">
                  <c:v>2.973</c:v>
                </c:pt>
                <c:pt idx="5">
                  <c:v>0.819</c:v>
                </c:pt>
                <c:pt idx="6">
                  <c:v>0.234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</c:v>
                </c:pt>
                <c:pt idx="2">
                  <c:v>0.468</c:v>
                </c:pt>
                <c:pt idx="3">
                  <c:v>1.6926</c:v>
                </c:pt>
                <c:pt idx="4">
                  <c:v>2.607</c:v>
                </c:pt>
                <c:pt idx="5">
                  <c:v>0.477</c:v>
                </c:pt>
                <c:pt idx="6">
                  <c:v>0.741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</c:v>
                </c:pt>
                <c:pt idx="3">
                  <c:v>7.332</c:v>
                </c:pt>
                <c:pt idx="4">
                  <c:v>6.864</c:v>
                </c:pt>
                <c:pt idx="5">
                  <c:v>9.2742</c:v>
                </c:pt>
                <c:pt idx="6">
                  <c:v>8.97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</c:v>
                </c:pt>
                <c:pt idx="3">
                  <c:v>8.502</c:v>
                </c:pt>
                <c:pt idx="4">
                  <c:v>6.864</c:v>
                </c:pt>
                <c:pt idx="5">
                  <c:v>10.4442</c:v>
                </c:pt>
                <c:pt idx="6">
                  <c:v>8.97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</c:v>
                </c:pt>
                <c:pt idx="4">
                  <c:v>21.7036</c:v>
                </c:pt>
                <c:pt idx="5">
                  <c:v>6.24</c:v>
                </c:pt>
                <c:pt idx="6">
                  <c:v>1.56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4.9992</c:v>
                </c:pt>
                <c:pt idx="2">
                  <c:v>15.4377</c:v>
                </c:pt>
                <c:pt idx="3">
                  <c:v>23.6274</c:v>
                </c:pt>
                <c:pt idx="4">
                  <c:v>28.1452</c:v>
                </c:pt>
                <c:pt idx="5">
                  <c:v>37.1285</c:v>
                </c:pt>
                <c:pt idx="6">
                  <c:v>24.3459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22.9101</c:v>
                </c:pt>
                <c:pt idx="4">
                  <c:v>27.5167</c:v>
                </c:pt>
                <c:pt idx="5">
                  <c:v>34.9346</c:v>
                </c:pt>
                <c:pt idx="6">
                  <c:v>15.8153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5.929</c:v>
                </c:pt>
                <c:pt idx="3">
                  <c:v>15.0442</c:v>
                </c:pt>
                <c:pt idx="4">
                  <c:v>25.229</c:v>
                </c:pt>
                <c:pt idx="5">
                  <c:v>25.7498</c:v>
                </c:pt>
                <c:pt idx="6">
                  <c:v>9.865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</c:v>
                </c:pt>
                <c:pt idx="5">
                  <c:v>23.8791</c:v>
                </c:pt>
                <c:pt idx="6">
                  <c:v>7.0402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</c:v>
                </c:pt>
                <c:pt idx="2">
                  <c:v>0.3355</c:v>
                </c:pt>
                <c:pt idx="3">
                  <c:v>1.755</c:v>
                </c:pt>
                <c:pt idx="4">
                  <c:v>0.5743</c:v>
                </c:pt>
                <c:pt idx="5">
                  <c:v>0</c:v>
                </c:pt>
                <c:pt idx="6">
                  <c:v>0.3239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</c:v>
                </c:pt>
                <c:pt idx="1">
                  <c:v>12.1092</c:v>
                </c:pt>
                <c:pt idx="2">
                  <c:v>1.8188</c:v>
                </c:pt>
                <c:pt idx="3">
                  <c:v>4</c:v>
                </c:pt>
                <c:pt idx="4">
                  <c:v>0.0088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</c:v>
                </c:pt>
                <c:pt idx="1">
                  <c:v>12.1092</c:v>
                </c:pt>
                <c:pt idx="2">
                  <c:v>1.8</c:v>
                </c:pt>
                <c:pt idx="3">
                  <c:v>0.0188</c:v>
                </c:pt>
                <c:pt idx="4">
                  <c:v>4.0088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</c:v>
                </c:pt>
                <c:pt idx="1">
                  <c:v>12</c:v>
                </c:pt>
                <c:pt idx="2">
                  <c:v>0.4992</c:v>
                </c:pt>
                <c:pt idx="3">
                  <c:v>0</c:v>
                </c:pt>
                <c:pt idx="4">
                  <c:v>5.8276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</c:v>
                </c:pt>
                <c:pt idx="1">
                  <c:v>151.21</c:v>
                </c:pt>
                <c:pt idx="2">
                  <c:v>129.28</c:v>
                </c:pt>
                <c:pt idx="3">
                  <c:v>64.45</c:v>
                </c:pt>
                <c:pt idx="4">
                  <c:v>20.4</c:v>
                </c:pt>
                <c:pt idx="5">
                  <c:v>7.72</c:v>
                </c:pt>
                <c:pt idx="6">
                  <c:v>4.47</c:v>
                </c:pt>
                <c:pt idx="7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28.62</c:v>
                </c:pt>
                <c:pt idx="1">
                  <c:v>19.21</c:v>
                </c:pt>
                <c:pt idx="2">
                  <c:v>39.68</c:v>
                </c:pt>
                <c:pt idx="3">
                  <c:v>14.51</c:v>
                </c:pt>
                <c:pt idx="4">
                  <c:v>0</c:v>
                </c:pt>
                <c:pt idx="5">
                  <c:v>0.94</c:v>
                </c:pt>
                <c:pt idx="6">
                  <c:v>4.39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2.81</c:v>
                </c:pt>
                <c:pt idx="2">
                  <c:v>12.85</c:v>
                </c:pt>
                <c:pt idx="3">
                  <c:v>0.39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166.77</c:v>
                </c:pt>
                <c:pt idx="2">
                  <c:v>0</c:v>
                </c:pt>
                <c:pt idx="3">
                  <c:v>113.65</c:v>
                </c:pt>
                <c:pt idx="4">
                  <c:v>31.6</c:v>
                </c:pt>
                <c:pt idx="5">
                  <c:v>61.34</c:v>
                </c:pt>
                <c:pt idx="6">
                  <c:v>64.14</c:v>
                </c:pt>
                <c:pt idx="7">
                  <c:v>25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118.66</c:v>
                </c:pt>
                <c:pt idx="1">
                  <c:v>39.39</c:v>
                </c:pt>
                <c:pt idx="2">
                  <c:v>26.1</c:v>
                </c:pt>
                <c:pt idx="3">
                  <c:v>13.28</c:v>
                </c:pt>
                <c:pt idx="4">
                  <c:v>12.88</c:v>
                </c:pt>
                <c:pt idx="5">
                  <c:v>1.88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37.33</c:v>
                </c:pt>
                <c:pt idx="1">
                  <c:v>5.77</c:v>
                </c:pt>
                <c:pt idx="2">
                  <c:v>3.02</c:v>
                </c:pt>
                <c:pt idx="3">
                  <c:v>0</c:v>
                </c:pt>
                <c:pt idx="4">
                  <c:v>6.86</c:v>
                </c:pt>
                <c:pt idx="5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12.04</c:v>
                </c:pt>
                <c:pt idx="1">
                  <c:v>1.87</c:v>
                </c:pt>
                <c:pt idx="2">
                  <c:v>0</c:v>
                </c:pt>
                <c:pt idx="3">
                  <c:v>0</c:v>
                </c:pt>
                <c:pt idx="4">
                  <c:v>0.78</c:v>
                </c:pt>
                <c:pt idx="5">
                  <c:v>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8.35</c:v>
                </c:pt>
                <c:pt idx="1">
                  <c:v>12.48</c:v>
                </c:pt>
                <c:pt idx="2">
                  <c:v>18.86</c:v>
                </c:pt>
                <c:pt idx="3">
                  <c:v>19.38</c:v>
                </c:pt>
                <c:pt idx="4">
                  <c:v>25.92</c:v>
                </c:pt>
                <c:pt idx="5">
                  <c:v>27.18</c:v>
                </c:pt>
                <c:pt idx="6">
                  <c:v>27.82</c:v>
                </c:pt>
                <c:pt idx="7">
                  <c:v>34.91</c:v>
                </c:pt>
                <c:pt idx="8">
                  <c:v>39.39</c:v>
                </c:pt>
                <c:pt idx="9">
                  <c:v>42.7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1.27</c:v>
                </c:pt>
                <c:pt idx="1">
                  <c:v>0</c:v>
                </c:pt>
                <c:pt idx="2">
                  <c:v>0.78</c:v>
                </c:pt>
                <c:pt idx="3">
                  <c:v>23.97</c:v>
                </c:pt>
                <c:pt idx="4">
                  <c:v>3.02</c:v>
                </c:pt>
                <c:pt idx="5">
                  <c:v>2.38</c:v>
                </c:pt>
                <c:pt idx="6">
                  <c:v>1.01</c:v>
                </c:pt>
                <c:pt idx="7">
                  <c:v>4.54</c:v>
                </c:pt>
                <c:pt idx="8">
                  <c:v>5.77</c:v>
                </c:pt>
                <c:pt idx="9">
                  <c:v>8.93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万城保险</c:v>
                </c:pt>
                <c:pt idx="1">
                  <c:v>宏鑫资产</c:v>
                </c:pt>
                <c:pt idx="2">
                  <c:v>企鹅保险</c:v>
                </c:pt>
                <c:pt idx="3">
                  <c:v>天誉国际(MGA)</c:v>
                </c:pt>
                <c:pt idx="4">
                  <c:v>万森保险</c:v>
                </c:pt>
                <c:pt idx="5">
                  <c:v>堡盛国际</c:v>
                </c:pt>
                <c:pt idx="6">
                  <c:v>利泰丰</c:v>
                </c:pt>
                <c:pt idx="7">
                  <c:v>紫荆保险</c:v>
                </c:pt>
                <c:pt idx="8">
                  <c:v>唯思</c:v>
                </c:pt>
                <c:pt idx="9">
                  <c:v>天誉国际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0.78</c:v>
                </c:pt>
                <c:pt idx="3">
                  <c:v>9.24</c:v>
                </c:pt>
                <c:pt idx="4">
                  <c:v>0</c:v>
                </c:pt>
                <c:pt idx="5">
                  <c:v>0.28</c:v>
                </c:pt>
                <c:pt idx="6">
                  <c:v>0</c:v>
                </c:pt>
                <c:pt idx="7">
                  <c:v>0.96</c:v>
                </c:pt>
                <c:pt idx="8">
                  <c:v>1.87</c:v>
                </c:pt>
                <c:pt idx="9">
                  <c:v>1.74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dLbl>
              <c:idx val="13"/>
              <c:delete val="1"/>
            </c:dLbl>
            <c:dLbl>
              <c:idx val="14"/>
              <c:delete val="1"/>
            </c:dLbl>
            <c:dLbl>
              <c:idx val="15"/>
              <c:delete val="1"/>
            </c:dLbl>
            <c:dLbl>
              <c:idx val="16"/>
              <c:delete val="1"/>
            </c:dLbl>
            <c:dLbl>
              <c:idx val="17"/>
              <c:delete val="1"/>
            </c:dLbl>
            <c:dLbl>
              <c:idx val="18"/>
              <c:delete val="1"/>
            </c:dLbl>
            <c:dLbl>
              <c:idx val="19"/>
              <c:delete val="1"/>
            </c:dLbl>
            <c:dLbl>
              <c:idx val="20"/>
              <c:delete val="1"/>
            </c:dLbl>
            <c:dLbl>
              <c:idx val="21"/>
              <c:delete val="1"/>
            </c:dLbl>
            <c:dLbl>
              <c:idx val="22"/>
              <c:delete val="1"/>
            </c:dLbl>
            <c:dLbl>
              <c:idx val="23"/>
              <c:delete val="1"/>
            </c:dLbl>
            <c:dLbl>
              <c:idx val="24"/>
              <c:delete val="1"/>
            </c:dLbl>
            <c:dLbl>
              <c:idx val="25"/>
              <c:delete val="1"/>
            </c:dLbl>
            <c:dLbl>
              <c:idx val="26"/>
              <c:delete val="1"/>
            </c:dLbl>
            <c:dLbl>
              <c:idx val="27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2.xml"/><Relationship Id="rId7" Type="http://schemas.openxmlformats.org/officeDocument/2006/relationships/image" Target="../media/image2.svg"/><Relationship Id="rId6" Type="http://schemas.openxmlformats.org/officeDocument/2006/relationships/image" Target="../media/image1.png"/><Relationship Id="rId5" Type="http://schemas.openxmlformats.org/officeDocument/2006/relationships/tags" Target="../tags/tag1.xml"/><Relationship Id="rId4" Type="http://schemas.openxmlformats.org/officeDocument/2006/relationships/chart" Target="../charts/chart6.xml"/><Relationship Id="rId3" Type="http://schemas.openxmlformats.org/officeDocument/2006/relationships/chart" Target="../charts/chart5.xml"/><Relationship Id="rId27" Type="http://schemas.openxmlformats.org/officeDocument/2006/relationships/notesSlide" Target="../notesSlides/notesSlide2.xml"/><Relationship Id="rId26" Type="http://schemas.openxmlformats.org/officeDocument/2006/relationships/slideLayout" Target="../slideLayouts/slideLayout1.xml"/><Relationship Id="rId25" Type="http://schemas.openxmlformats.org/officeDocument/2006/relationships/image" Target="../media/image12.png"/><Relationship Id="rId24" Type="http://schemas.openxmlformats.org/officeDocument/2006/relationships/tags" Target="../tags/tag9.xml"/><Relationship Id="rId23" Type="http://schemas.openxmlformats.org/officeDocument/2006/relationships/image" Target="../media/image11.png"/><Relationship Id="rId22" Type="http://schemas.openxmlformats.org/officeDocument/2006/relationships/tags" Target="../tags/tag8.xml"/><Relationship Id="rId21" Type="http://schemas.openxmlformats.org/officeDocument/2006/relationships/image" Target="../media/image10.png"/><Relationship Id="rId20" Type="http://schemas.openxmlformats.org/officeDocument/2006/relationships/tags" Target="../tags/tag7.xml"/><Relationship Id="rId2" Type="http://schemas.openxmlformats.org/officeDocument/2006/relationships/chart" Target="../charts/chart4.xml"/><Relationship Id="rId19" Type="http://schemas.openxmlformats.org/officeDocument/2006/relationships/image" Target="../media/image9.svg"/><Relationship Id="rId18" Type="http://schemas.openxmlformats.org/officeDocument/2006/relationships/tags" Target="../tags/tag6.xml"/><Relationship Id="rId17" Type="http://schemas.openxmlformats.org/officeDocument/2006/relationships/image" Target="../media/image8.svg"/><Relationship Id="rId16" Type="http://schemas.openxmlformats.org/officeDocument/2006/relationships/tags" Target="../tags/tag5.xml"/><Relationship Id="rId15" Type="http://schemas.openxmlformats.org/officeDocument/2006/relationships/image" Target="../media/image7.svg"/><Relationship Id="rId14" Type="http://schemas.openxmlformats.org/officeDocument/2006/relationships/image" Target="../media/image6.png"/><Relationship Id="rId13" Type="http://schemas.openxmlformats.org/officeDocument/2006/relationships/tags" Target="../tags/tag4.xml"/><Relationship Id="rId12" Type="http://schemas.openxmlformats.org/officeDocument/2006/relationships/image" Target="../media/image5.svg"/><Relationship Id="rId11" Type="http://schemas.openxmlformats.org/officeDocument/2006/relationships/tags" Target="../tags/tag3.xml"/><Relationship Id="rId10" Type="http://schemas.openxmlformats.org/officeDocument/2006/relationships/image" Target="../media/image4.svg"/><Relationship Id="rId1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1.xml"/><Relationship Id="rId7" Type="http://schemas.openxmlformats.org/officeDocument/2006/relationships/chart" Target="../charts/chart14.xml"/><Relationship Id="rId6" Type="http://schemas.openxmlformats.org/officeDocument/2006/relationships/chart" Target="../charts/chart13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chart" Target="../charts/chart8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chart" Target="../charts/chart16.xml"/><Relationship Id="rId1" Type="http://schemas.openxmlformats.org/officeDocument/2006/relationships/chart" Target="../charts/char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6.xml"/><Relationship Id="rId8" Type="http://schemas.openxmlformats.org/officeDocument/2006/relationships/tags" Target="../tags/tag15.xml"/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1.xml"/><Relationship Id="rId30" Type="http://schemas.openxmlformats.org/officeDocument/2006/relationships/tags" Target="../tags/tag37.xml"/><Relationship Id="rId3" Type="http://schemas.openxmlformats.org/officeDocument/2006/relationships/tags" Target="../tags/tag10.xml"/><Relationship Id="rId29" Type="http://schemas.openxmlformats.org/officeDocument/2006/relationships/tags" Target="../tags/tag36.xml"/><Relationship Id="rId28" Type="http://schemas.openxmlformats.org/officeDocument/2006/relationships/tags" Target="../tags/tag35.xml"/><Relationship Id="rId27" Type="http://schemas.openxmlformats.org/officeDocument/2006/relationships/tags" Target="../tags/tag34.xml"/><Relationship Id="rId26" Type="http://schemas.openxmlformats.org/officeDocument/2006/relationships/tags" Target="../tags/tag33.xml"/><Relationship Id="rId25" Type="http://schemas.openxmlformats.org/officeDocument/2006/relationships/tags" Target="../tags/tag32.xml"/><Relationship Id="rId24" Type="http://schemas.openxmlformats.org/officeDocument/2006/relationships/tags" Target="../tags/tag31.xml"/><Relationship Id="rId23" Type="http://schemas.openxmlformats.org/officeDocument/2006/relationships/tags" Target="../tags/tag30.xml"/><Relationship Id="rId22" Type="http://schemas.openxmlformats.org/officeDocument/2006/relationships/tags" Target="../tags/tag29.xml"/><Relationship Id="rId21" Type="http://schemas.openxmlformats.org/officeDocument/2006/relationships/tags" Target="../tags/tag28.xml"/><Relationship Id="rId20" Type="http://schemas.openxmlformats.org/officeDocument/2006/relationships/tags" Target="../tags/tag27.xml"/><Relationship Id="rId2" Type="http://schemas.openxmlformats.org/officeDocument/2006/relationships/chart" Target="../charts/chart19.xml"/><Relationship Id="rId19" Type="http://schemas.openxmlformats.org/officeDocument/2006/relationships/tags" Target="../tags/tag26.xml"/><Relationship Id="rId18" Type="http://schemas.openxmlformats.org/officeDocument/2006/relationships/tags" Target="../tags/tag25.xml"/><Relationship Id="rId17" Type="http://schemas.openxmlformats.org/officeDocument/2006/relationships/tags" Target="../tags/tag24.xml"/><Relationship Id="rId16" Type="http://schemas.openxmlformats.org/officeDocument/2006/relationships/tags" Target="../tags/tag23.xml"/><Relationship Id="rId15" Type="http://schemas.openxmlformats.org/officeDocument/2006/relationships/tags" Target="../tags/tag22.xml"/><Relationship Id="rId14" Type="http://schemas.openxmlformats.org/officeDocument/2006/relationships/tags" Target="../tags/tag21.xml"/><Relationship Id="rId13" Type="http://schemas.openxmlformats.org/officeDocument/2006/relationships/tags" Target="../tags/tag20.xml"/><Relationship Id="rId12" Type="http://schemas.openxmlformats.org/officeDocument/2006/relationships/tags" Target="../tags/tag19.xml"/><Relationship Id="rId11" Type="http://schemas.openxmlformats.org/officeDocument/2006/relationships/tags" Target="../tags/tag18.xml"/><Relationship Id="rId10" Type="http://schemas.openxmlformats.org/officeDocument/2006/relationships/tags" Target="../tags/tag17.xml"/><Relationship Id="rId1" Type="http://schemas.openxmlformats.org/officeDocument/2006/relationships/chart" Target="../charts/chart18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9" Type="http://schemas.openxmlformats.org/officeDocument/2006/relationships/notesSlide" Target="../notesSlides/notesSlide9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53.xml"/><Relationship Id="rId16" Type="http://schemas.openxmlformats.org/officeDocument/2006/relationships/tags" Target="../tags/tag52.xml"/><Relationship Id="rId15" Type="http://schemas.openxmlformats.org/officeDocument/2006/relationships/tags" Target="../tags/tag51.xml"/><Relationship Id="rId14" Type="http://schemas.openxmlformats.org/officeDocument/2006/relationships/tags" Target="../tags/tag50.xml"/><Relationship Id="rId13" Type="http://schemas.openxmlformats.org/officeDocument/2006/relationships/tags" Target="../tags/tag49.xml"/><Relationship Id="rId12" Type="http://schemas.openxmlformats.org/officeDocument/2006/relationships/tags" Target="../tags/tag48.xml"/><Relationship Id="rId11" Type="http://schemas.openxmlformats.org/officeDocument/2006/relationships/tags" Target="../tags/tag47.xml"/><Relationship Id="rId10" Type="http://schemas.openxmlformats.org/officeDocument/2006/relationships/tags" Target="../tags/tag46.xml"/><Relationship Id="rId1" Type="http://schemas.openxmlformats.org/officeDocument/2006/relationships/chart" Target="../charts/chart20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62.xml"/><Relationship Id="rId8" Type="http://schemas.openxmlformats.org/officeDocument/2006/relationships/tags" Target="../tags/tag61.xml"/><Relationship Id="rId7" Type="http://schemas.openxmlformats.org/officeDocument/2006/relationships/tags" Target="../tags/tag60.xml"/><Relationship Id="rId6" Type="http://schemas.openxmlformats.org/officeDocument/2006/relationships/tags" Target="../tags/tag59.xml"/><Relationship Id="rId5" Type="http://schemas.openxmlformats.org/officeDocument/2006/relationships/tags" Target="../tags/tag58.xml"/><Relationship Id="rId49" Type="http://schemas.openxmlformats.org/officeDocument/2006/relationships/slideLayout" Target="../slideLayouts/slideLayout1.xml"/><Relationship Id="rId48" Type="http://schemas.openxmlformats.org/officeDocument/2006/relationships/image" Target="../media/image14.png"/><Relationship Id="rId47" Type="http://schemas.openxmlformats.org/officeDocument/2006/relationships/image" Target="../media/image13.png"/><Relationship Id="rId46" Type="http://schemas.openxmlformats.org/officeDocument/2006/relationships/tags" Target="../tags/tag99.xml"/><Relationship Id="rId45" Type="http://schemas.openxmlformats.org/officeDocument/2006/relationships/tags" Target="../tags/tag98.xml"/><Relationship Id="rId44" Type="http://schemas.openxmlformats.org/officeDocument/2006/relationships/tags" Target="../tags/tag97.xml"/><Relationship Id="rId43" Type="http://schemas.openxmlformats.org/officeDocument/2006/relationships/tags" Target="../tags/tag96.xml"/><Relationship Id="rId42" Type="http://schemas.openxmlformats.org/officeDocument/2006/relationships/tags" Target="../tags/tag95.xml"/><Relationship Id="rId41" Type="http://schemas.openxmlformats.org/officeDocument/2006/relationships/tags" Target="../tags/tag94.xml"/><Relationship Id="rId40" Type="http://schemas.openxmlformats.org/officeDocument/2006/relationships/tags" Target="../tags/tag93.xml"/><Relationship Id="rId4" Type="http://schemas.openxmlformats.org/officeDocument/2006/relationships/tags" Target="../tags/tag57.xml"/><Relationship Id="rId39" Type="http://schemas.openxmlformats.org/officeDocument/2006/relationships/tags" Target="../tags/tag92.xml"/><Relationship Id="rId38" Type="http://schemas.openxmlformats.org/officeDocument/2006/relationships/tags" Target="../tags/tag91.xml"/><Relationship Id="rId37" Type="http://schemas.openxmlformats.org/officeDocument/2006/relationships/tags" Target="../tags/tag90.xml"/><Relationship Id="rId36" Type="http://schemas.openxmlformats.org/officeDocument/2006/relationships/tags" Target="../tags/tag89.xml"/><Relationship Id="rId35" Type="http://schemas.openxmlformats.org/officeDocument/2006/relationships/tags" Target="../tags/tag88.xml"/><Relationship Id="rId34" Type="http://schemas.openxmlformats.org/officeDocument/2006/relationships/tags" Target="../tags/tag87.xml"/><Relationship Id="rId33" Type="http://schemas.openxmlformats.org/officeDocument/2006/relationships/tags" Target="../tags/tag86.xml"/><Relationship Id="rId32" Type="http://schemas.openxmlformats.org/officeDocument/2006/relationships/tags" Target="../tags/tag85.xml"/><Relationship Id="rId31" Type="http://schemas.openxmlformats.org/officeDocument/2006/relationships/tags" Target="../tags/tag84.xml"/><Relationship Id="rId30" Type="http://schemas.openxmlformats.org/officeDocument/2006/relationships/tags" Target="../tags/tag83.xml"/><Relationship Id="rId3" Type="http://schemas.openxmlformats.org/officeDocument/2006/relationships/tags" Target="../tags/tag56.xml"/><Relationship Id="rId29" Type="http://schemas.openxmlformats.org/officeDocument/2006/relationships/tags" Target="../tags/tag82.xml"/><Relationship Id="rId28" Type="http://schemas.openxmlformats.org/officeDocument/2006/relationships/tags" Target="../tags/tag81.xml"/><Relationship Id="rId27" Type="http://schemas.openxmlformats.org/officeDocument/2006/relationships/tags" Target="../tags/tag80.xml"/><Relationship Id="rId26" Type="http://schemas.openxmlformats.org/officeDocument/2006/relationships/tags" Target="../tags/tag79.xml"/><Relationship Id="rId25" Type="http://schemas.openxmlformats.org/officeDocument/2006/relationships/tags" Target="../tags/tag78.xml"/><Relationship Id="rId24" Type="http://schemas.openxmlformats.org/officeDocument/2006/relationships/tags" Target="../tags/tag77.xml"/><Relationship Id="rId23" Type="http://schemas.openxmlformats.org/officeDocument/2006/relationships/tags" Target="../tags/tag76.xml"/><Relationship Id="rId22" Type="http://schemas.openxmlformats.org/officeDocument/2006/relationships/tags" Target="../tags/tag75.xml"/><Relationship Id="rId21" Type="http://schemas.openxmlformats.org/officeDocument/2006/relationships/tags" Target="../tags/tag74.xml"/><Relationship Id="rId20" Type="http://schemas.openxmlformats.org/officeDocument/2006/relationships/tags" Target="../tags/tag73.xml"/><Relationship Id="rId2" Type="http://schemas.openxmlformats.org/officeDocument/2006/relationships/tags" Target="../tags/tag55.xml"/><Relationship Id="rId19" Type="http://schemas.openxmlformats.org/officeDocument/2006/relationships/tags" Target="../tags/tag72.xml"/><Relationship Id="rId18" Type="http://schemas.openxmlformats.org/officeDocument/2006/relationships/tags" Target="../tags/tag71.xml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tags" Target="../tags/tag65.xml"/><Relationship Id="rId11" Type="http://schemas.openxmlformats.org/officeDocument/2006/relationships/tags" Target="../tags/tag64.xml"/><Relationship Id="rId10" Type="http://schemas.openxmlformats.org/officeDocument/2006/relationships/tags" Target="../tags/tag63.xml"/><Relationship Id="rId1" Type="http://schemas.openxmlformats.org/officeDocument/2006/relationships/tags" Target="../tags/tag5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605.2M、达成率 54.4%（较上期 +0.8pct），缺口 508M。6 月预约 84.4M/签单 85.7M 高位，批核 62.1M，7 月已批 32.9M 提速。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107.3M（235 件）+ 待签 16.0M（42 件）=123.4M 在途待转化(占批核约 20%)。管道快速推进至生效可直接拉升达成率约 11pct。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经代批核 508.1M 独占 84.0% 为唯一主力,且握最大在途未批核 87.5M;代理人 72.2M、KA 24.9M 体量小。资源应优先压注经代催核转化,同时定向扩量代理人与 KA。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8569071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13599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9" name="Text 95"/>
          <p:cNvSpPr/>
          <p:nvPr/>
        </p:nvSpPr>
        <p:spPr>
          <a:xfrm>
            <a:off x="8569071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13599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5" name="Text 101"/>
          <p:cNvSpPr/>
          <p:nvPr/>
        </p:nvSpPr>
        <p:spPr>
          <a:xfrm>
            <a:off x="8569071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13599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2" name="Text 108"/>
          <p:cNvSpPr/>
          <p:nvPr/>
        </p:nvSpPr>
        <p:spPr>
          <a:xfrm>
            <a:off x="8569071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13599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8" name="Text 114"/>
          <p:cNvSpPr/>
          <p:nvPr/>
        </p:nvSpPr>
        <p:spPr>
          <a:xfrm>
            <a:off x="8569071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13599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5" name="Text 121"/>
          <p:cNvSpPr/>
          <p:nvPr/>
        </p:nvSpPr>
        <p:spPr>
          <a:xfrm>
            <a:off x="8569071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13599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1" name="Text 127"/>
          <p:cNvSpPr/>
          <p:nvPr/>
        </p:nvSpPr>
        <p:spPr>
          <a:xfrm>
            <a:off x="8569071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13599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 月批核峰值 143.7M 为全年最高，此后回落至 6 月 62.1M；预约/签单上半年维持 80–86M 高位。剩余目标 508M，需后续月均 84.6M 方可达成年度 1113M。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9643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9643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9643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9643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9643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9643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9643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45" name="Text 90"/>
          <p:cNvSpPr/>
          <p:nvPr/>
        </p:nvSpPr>
        <p:spPr>
          <a:xfrm>
            <a:off x="10210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6" name="Text 96"/>
          <p:cNvSpPr/>
          <p:nvPr/>
        </p:nvSpPr>
        <p:spPr>
          <a:xfrm>
            <a:off x="10210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7" name="Text 102"/>
          <p:cNvSpPr/>
          <p:nvPr/>
        </p:nvSpPr>
        <p:spPr>
          <a:xfrm>
            <a:off x="10210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8" name="Text 109"/>
          <p:cNvSpPr/>
          <p:nvPr/>
        </p:nvSpPr>
        <p:spPr>
          <a:xfrm>
            <a:off x="10210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9" name="Text 115"/>
          <p:cNvSpPr/>
          <p:nvPr/>
        </p:nvSpPr>
        <p:spPr>
          <a:xfrm>
            <a:off x="10210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50" name="Text 122"/>
          <p:cNvSpPr/>
          <p:nvPr/>
        </p:nvSpPr>
        <p:spPr>
          <a:xfrm>
            <a:off x="10210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51" name="Text 128"/>
          <p:cNvSpPr/>
          <p:nvPr/>
        </p:nvSpPr>
        <p:spPr>
          <a:xfrm>
            <a:off x="10210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52" name="Text 90"/>
          <p:cNvSpPr/>
          <p:nvPr/>
        </p:nvSpPr>
        <p:spPr>
          <a:xfrm>
            <a:off x="10777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53" name="Text 96"/>
          <p:cNvSpPr/>
          <p:nvPr/>
        </p:nvSpPr>
        <p:spPr>
          <a:xfrm>
            <a:off x="10777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54" name="Text 102"/>
          <p:cNvSpPr/>
          <p:nvPr/>
        </p:nvSpPr>
        <p:spPr>
          <a:xfrm>
            <a:off x="10777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55" name="Text 109"/>
          <p:cNvSpPr/>
          <p:nvPr/>
        </p:nvSpPr>
        <p:spPr>
          <a:xfrm>
            <a:off x="10777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56" name="Text 115"/>
          <p:cNvSpPr/>
          <p:nvPr/>
        </p:nvSpPr>
        <p:spPr>
          <a:xfrm>
            <a:off x="10777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57" name="Text 122"/>
          <p:cNvSpPr/>
          <p:nvPr/>
        </p:nvSpPr>
        <p:spPr>
          <a:xfrm>
            <a:off x="10777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58" name="Text 128"/>
          <p:cNvSpPr/>
          <p:nvPr/>
        </p:nvSpPr>
        <p:spPr>
          <a:xfrm>
            <a:off x="10777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59" name="Text 90"/>
          <p:cNvSpPr/>
          <p:nvPr/>
        </p:nvSpPr>
        <p:spPr>
          <a:xfrm>
            <a:off x="1134436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0" name="Text 96"/>
          <p:cNvSpPr/>
          <p:nvPr/>
        </p:nvSpPr>
        <p:spPr>
          <a:xfrm>
            <a:off x="1134436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61" name="Text 102"/>
          <p:cNvSpPr/>
          <p:nvPr/>
        </p:nvSpPr>
        <p:spPr>
          <a:xfrm>
            <a:off x="1134436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62" name="Text 109"/>
          <p:cNvSpPr/>
          <p:nvPr/>
        </p:nvSpPr>
        <p:spPr>
          <a:xfrm>
            <a:off x="1134436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63" name="Text 115"/>
          <p:cNvSpPr/>
          <p:nvPr/>
        </p:nvSpPr>
        <p:spPr>
          <a:xfrm>
            <a:off x="1134436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64" name="Text 122"/>
          <p:cNvSpPr/>
          <p:nvPr/>
        </p:nvSpPr>
        <p:spPr>
          <a:xfrm>
            <a:off x="1134436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65" name="Text 128"/>
          <p:cNvSpPr/>
          <p:nvPr/>
        </p:nvSpPr>
        <p:spPr>
          <a:xfrm>
            <a:off x="1134436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6 月预约 84.4M（环比 +3.0%）、签单 85.7M（-0.5%）前端走强，批核 62.1M（-14.8%）回落；累计达成率升至 54.4%（较上期 +0.8pct），后端放款仍是瓶颈。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1–6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54.4%），距全年目标 1113M 还差 508M，需月均 84.6M。批核节奏放缓，达标压力集中下半年。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  <a:endParaRPr lang="zh-CN" sz="1000" dirty="0">
              <a:solidFill>
                <a:srgbClr val="1A7A3F"/>
              </a:solidFill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  <a:endParaRPr lang="zh-CN" sz="1000" dirty="0">
              <a:solidFill>
                <a:srgbClr val="C0392B"/>
              </a:solidFill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  <a:endParaRPr lang="zh-CN" sz="1000" dirty="0">
              <a:solidFill>
                <a:srgbClr val="C0392B"/>
              </a:solidFill>
            </a:endParaRP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  <a:endParaRPr lang="zh-CN" sz="1000" dirty="0">
              <a:solidFill>
                <a:srgbClr val="1A7A3F"/>
              </a:solidFill>
            </a:endParaRP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  <a:endParaRPr lang="zh-CN" sz="1000" dirty="0">
              <a:solidFill>
                <a:srgbClr val="C0392B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永明累计批核 511.6M、达成率 52.4%（较上期 +0.7pct）,缺口 464M。TOP10 产品签单 130.8M/163 件,卓金保险计划II 以 27.2M/45 件领跑(件均60.4万)。大单储蓄险为基本盘,需保头部供给。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  <a:endParaRPr lang="en-US" sz="850" dirty="0"/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  <a:endParaRPr lang="en-US" sz="850" dirty="0"/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  <a:endParaRPr lang="en-US" sz="850" dirty="0"/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  <a:endParaRPr lang="en-US" sz="850" dirty="0"/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  <a:endParaRPr lang="en-US" sz="850" dirty="0"/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  <a:endParaRPr lang="en-US" sz="850" dirty="0"/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  <a:endParaRPr lang="en-US" sz="850" dirty="0"/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  <a:endParaRPr lang="en-US" sz="850" dirty="0"/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  <a:endParaRPr lang="en-US" sz="850" dirty="0"/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  <a:endParaRPr lang="en-US" sz="850" dirty="0"/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  <a:endParaRPr lang="en-US" sz="850" dirty="0"/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  <a:endParaRPr lang="en-US" sz="850" dirty="0"/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  <a:endParaRPr lang="en-US" sz="850" dirty="0"/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  <a:endParaRPr lang="en-US" sz="850" dirty="0"/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  <a:endParaRPr lang="en-US" sz="850" dirty="0"/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  <a:endParaRPr lang="en-US" sz="850" dirty="0"/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  <a:endParaRPr lang="en-US" sz="850" dirty="0"/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  <a:endParaRPr lang="en-US" sz="850" dirty="0"/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  <a:endParaRPr lang="en-US" sz="850" dirty="0"/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  <a:endParaRPr lang="en-US" sz="700" dirty="0">
              <a:solidFill>
                <a:srgbClr val="FFFFFF"/>
              </a:solidFill>
            </a:endParaRP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  <a:endParaRPr lang="en-US" sz="850" dirty="0"/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  <a:endParaRPr lang="en-US" sz="850" dirty="0"/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  <a:endParaRPr lang="en-US" sz="850" dirty="0"/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  <a:endParaRPr lang="en-US" sz="850" dirty="0"/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  <a:endParaRPr lang="en-US" sz="850" dirty="0"/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  <a:endParaRPr lang="en-US" sz="850" dirty="0"/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19214" y="2030620"/>
            <a:ext cx="518487" cy="518487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564106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113.8% 唯一超额;同行经代 80.8%（较上期 +1.8pct）势头最强、永明经代 44.5% 回升;天领 33.4%(批核64.5M)仍为最大战略风险;IFA/合伙/成事≤11%。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605.2M+在途 123.4M=728.5M,距目标 1113M 仍差 384M。BK 批核最大 227.6M,永明经代/同行经代次之;缺口主压永明经代与天领,靠放量+在途填补。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72819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47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61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61"/>
            <a:ext cx="238760" cy="140602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−129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412840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8996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48555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425675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51399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528519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723164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500284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同行经代 6 月预约 37.1M/签单 34.9M 跃居各线首位；BK 批核由 2 月峰 93.9M 落至 6 月 6.2M。各线节奏分化，需差异管理。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同行经代未批绝对额最大(39.7M/22%)催核优先;BK 28.6M、天领 14.5M 次之;合伙转介占比50%但仅4.4M。按未批规模推进。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728.5M:已批 605.2M(83.1%)、未批 107.3M(14.7%)、待签 16.0M(2.2%)。在途 123.4M 转化可推高达成约 11pct。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批核 227.6M/目标 200M=113.8% 超额。永明经代目标最大(340M)批 151.2M、缺口 189M 最大;天领 64.5/193M、同行经代 129.3/160M 亦缺口显著,是冲刺重点。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全流程:预约 440.9M→签单 425.8M→递交 424.6M→批核 602.0M。批核高于预约含跨周积压释放;预约→签单留存约 97% 高效,前端获客是天花板,需扩预约入口。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周度脉冲明显:批核 W08 峰 67.0M 为存量集中放款,签单 W21 峰 32.8M、预约 W05 峰 28.2M,W07 普遍低谷。四阶段节奏错位,需平滑执行。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20.3M/51件、签单 21.0M/43件、批核 6.9M/29件。在途未批 107.3M/235件为后续批核核心储量。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473.2M，占全业务 78.2%，高度集中。民生银行 187.5M/172 件居首，是最核心单一客户，亦是最大集中风险点。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整体平均 30.2 天、P90 72.0 天,SLA 达标率 88.9%。BK 件均 116万但平均 71.8 天/P90 145 天、达标率仅 47.4%,唯一超 SLA,大额件审核慢;天领 19.7 天最优。&gt;90天积压 84 件占 20.9% APE,需专项提速。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预约累计 440.9M/1114件,同行经代领跑 139.9M/398件(占32%),永明经代次之。W05 单周 28.2M 为年内峰值。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签单累计 425.8M/1077件,同行经代领跑 127.2M/367件(占30%),永明经代次之。W21 单周 32.8M 为年内峰值。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批核累计 602.0M/1156件,BK 领跑 224.5M/195件(37%),永明经代次之。W08 峰 67.0M 为年内最高。</a:t>
            </a:r>
            <a:endParaRPr lang="en-US" sz="550" dirty="0"/>
          </a:p>
        </p:txBody>
      </p:sp>
      <p:sp>
        <p:nvSpPr>
          <p:cNvPr id="343" name="T8001"/>
          <p:cNvSpPr/>
          <p:nvPr/>
        </p:nvSpPr>
        <p:spPr>
          <a:xfrm>
            <a:off x="7156941" y="85953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W02</a:t>
            </a:r>
            <a:endParaRPr lang="zh-CN" sz="600" dirty="0"/>
          </a:p>
        </p:txBody>
      </p:sp>
      <p:sp>
        <p:nvSpPr>
          <p:cNvPr id="609" name="T6000"/>
          <p:cNvSpPr/>
          <p:nvPr/>
        </p:nvSpPr>
        <p:spPr>
          <a:xfrm>
            <a:off x="65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W01</a:t>
            </a:r>
            <a:endParaRPr lang="zh-CN" sz="600" dirty="0"/>
          </a:p>
        </p:txBody>
      </p:sp>
      <p:sp>
        <p:nvSpPr>
          <p:cNvPr id="612" name="T6003"/>
          <p:cNvSpPr/>
          <p:nvPr/>
        </p:nvSpPr>
        <p:spPr>
          <a:xfrm>
            <a:off x="1829384" y="3968496"/>
            <a:ext cx="390000" cy="155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W04</a:t>
            </a:r>
            <a:endParaRPr lang="zh-CN" sz="60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Q  周度预约业绩热力矩阵（APE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966" name="TextBox 965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67" name="Rectangle 966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69" name="TextBox 968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0" name="Rectangle 969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2" name="TextBox 971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3" name="Rectangle 972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5" name="TextBox 974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76" name="Rectangle 975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79" name="Rectangle 978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1" name="TextBox 980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2" name="Rectangle 981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4" name="TextBox 983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5" name="Rectangle 984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7" name="TextBox 986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988" name="TextBox 987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989" name="Rectangle 988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1" name="TextBox 990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992" name="Rectangle 991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4" name="TextBox 993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5" name="Rectangle 994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7" name="TextBox 996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998" name="Rectangle 997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1" name="Rectangle 1000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4" name="Rectangle 1003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7" name="Rectangle 1006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0" name="Rectangle 1009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3" name="Rectangle 1012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16" name="Rectangle 1015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19" name="Rectangle 1018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2" name="Rectangle 1021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25" name="Rectangle 1024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028" name="Rectangle 102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1" name="Rectangle 103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35" name="Rectangle 1034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38" name="Rectangle 1037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520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1" name="Rectangle 1040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44" name="Rectangle 1043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7" name="Rectangle 1046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0" name="Rectangle 1049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3" name="Rectangle 1052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56" name="Rectangle 1055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812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59" name="Rectangle 1058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511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062" name="Rectangle 1061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767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5" name="Rectangle 1064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68" name="Rectangle 1067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61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1" name="Rectangle 1070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77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4" name="Rectangle 1073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689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7" name="Rectangle 1076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879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0" name="TextBox 1079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081" name="Rectangle 1080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4" name="Rectangle 1083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7" name="Rectangle 1086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0" name="Rectangle 1089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093" name="Rectangle 1092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6" name="Rectangle 1095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99" name="Rectangle 1098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2" name="Rectangle 1101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5" name="Rectangle 1104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08" name="Rectangle 1107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1" name="Rectangle 1110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4" name="Rectangle 1113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17" name="Rectangle 1116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120" name="Rectangle 1119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3" name="Rectangle 1122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27" name="Rectangle 1126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0" name="Rectangle 1129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3" name="Rectangle 1132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6" name="Rectangle 1135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39" name="Rectangle 1138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2" name="Rectangle 1141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146" name="Rectangle 1145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49" name="Rectangle 1148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153" name="Rectangle 1152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12.7M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56" name="Rectangle 1155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59" name="Rectangle 1158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2" name="Rectangle 1161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5" name="Rectangle 1164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68" name="Rectangle 1167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22.2M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1" name="Rectangle 1170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4" name="Rectangle 1173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77" name="Rectangle 1176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0" name="Rectangle 1179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3" name="Rectangle 1182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38件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6" name="Rectangle 1185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71件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89" name="Rectangle 1188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2" name="Rectangle 1191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22.8M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5" name="Rectangle 1194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198" name="Rectangle 1197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R  周度签单业绩热力矩阵（APE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00" name="TextBox 1199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1" name="TextBox 1200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2" name="TextBox 1201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3" name="TextBox 1202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4" name="TextBox 1203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5" name="TextBox 1204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6" name="TextBox 1205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7" name="TextBox 1206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8" name="TextBox 1207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09" name="TextBox 1208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0" name="TextBox 1209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1" name="TextBox 1210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2" name="TextBox 1211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3" name="TextBox 1212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4" name="TextBox 1213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215" name="TextBox 1214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16" name="Rectangle 1215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18" name="TextBox 1217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19" name="Rectangle 1218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1" name="TextBox 1220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2" name="Rectangle 1221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4" name="TextBox 1223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25" name="Rectangle 1224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TextBox 1225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7" name="TextBox 1226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28" name="Rectangle 1227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0" name="TextBox 1229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1" name="Rectangle 1230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TextBox 1231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3" name="TextBox 1232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4" name="Rectangle 1233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TextBox 1234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6" name="TextBox 1235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37" name="Rectangle 1236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39" name="TextBox 1238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40" name="Rectangle 1239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TextBox 1240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2" name="TextBox 1241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3" name="Rectangle 1242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5" name="TextBox 1244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6" name="Rectangle 1245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8" name="TextBox 1247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49" name="Rectangle 1248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1" name="TextBox 1250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2" name="Rectangle 1251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4" name="TextBox 1253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5" name="Rectangle 1254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7" name="TextBox 1256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258" name="Rectangle 1257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262" name="Rectangle 1261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5" name="Rectangle 1264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68" name="Rectangle 1267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1" name="Rectangle 1270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74" name="Rectangle 1273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7" name="Rectangle 1276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0" name="Rectangle 1279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83" name="Rectangle 1282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6" name="Rectangle 1285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89" name="Rectangle 1288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2" name="Rectangle 1291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5" name="Rectangle 1294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298" name="Rectangle 12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0" name="TextBox 12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301" name="TextBox 13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02" name="Rectangle 1301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4" name="TextBox 1303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05" name="Rectangle 1304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7" name="TextBox 1306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08" name="Rectangle 1307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0" name="TextBox 1309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1" name="Rectangle 1310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3" name="TextBox 1312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4" name="Rectangle 1313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6" name="TextBox 1315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17" name="Rectangle 1316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19" name="TextBox 1318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0" name="Rectangle 1319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2" name="TextBox 1321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3" name="Rectangle 1322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5" name="TextBox 1324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26" name="Rectangle 1325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8" name="TextBox 1327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329" name="Rectangle 1328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1" name="TextBox 1330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2" name="Rectangle 1331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4" name="TextBox 1333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5" name="Rectangle 1334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7" name="TextBox 1336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38" name="Rectangle 1337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0" name="TextBox 1339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1" name="Rectangle 1340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3" name="TextBox 1342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4" name="Rectangle 1343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48" name="Rectangle 1347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0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1" name="Rectangle 1350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555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4" name="Rectangle 1353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462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57" name="Rectangle 1356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9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0" name="Rectangle 1359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56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63" name="Rectangle 1362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4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6" name="Rectangle 1365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593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69" name="Rectangle 1368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2" name="Rectangle 1371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50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75" name="Rectangle 1374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460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378" name="Rectangle 1377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1" name="Rectangle 1380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866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4" name="Rectangle 1383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74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7" name="Rectangle 1386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56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0" name="Rectangle 1389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631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394" name="Rectangle 1393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97" name="Rectangle 1396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0" name="Rectangle 1399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3" name="Rectangle 1402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06" name="Rectangle 1405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09" name="Rectangle 1408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2" name="Rectangle 1411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5" name="Rectangle 1414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18" name="Rectangle 1417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21" name="Rectangle 1420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4" name="Rectangle 1423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7" name="Rectangle 1426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0" name="Rectangle 1429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3" name="Rectangle 143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436" name="Rectangle 143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40" name="Rectangle 1439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3" name="Rectangle 1442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6" name="Rectangle 1445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8" name="TextBox 1447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49" name="Rectangle 1448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1" name="TextBox 1450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2" name="Rectangle 1451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5" name="Rectangle 1454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7" name="TextBox 1456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58" name="Rectangle 1457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0" name="TextBox 1459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61" name="Rectangle 1460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3" name="TextBox 1462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464" name="TextBox 1463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465" name="Rectangle 1464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TextBox 1465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67" name="TextBox 1466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68" name="Rectangle 1467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TextBox 1468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0" name="TextBox 1469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471" name="Rectangle 1470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3" name="TextBox 1472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474" name="TextBox 147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475" name="Rectangle 1474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TextBox 1475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77" name="TextBox 1476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78" name="Rectangle 1477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TextBox 1478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0" name="TextBox 1479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1" name="Rectangle 1480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TextBox 1481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3" name="TextBox 1482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4" name="Rectangle 1483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TextBox 1484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16.9M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6" name="TextBox 1485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87" name="Rectangle 1486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TextBox 1487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13.2M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89" name="TextBox 1488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0" name="Rectangle 1489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TextBox 1490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2" name="TextBox 1491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3" name="Rectangle 1492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TextBox 1493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14.8M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5" name="TextBox 1494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6" name="Rectangle 1495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TextBox 1496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32.8M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498" name="TextBox 1497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499" name="Rectangle 1498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TextBox 1499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1" name="TextBox 1500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2" name="Rectangle 1501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TextBox 1502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4" name="TextBox 1503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5" name="Rectangle 1504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TextBox 1505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07" name="TextBox 1506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08" name="Rectangle 1507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TextBox 1508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26.1M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0" name="TextBox 1509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67件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1" name="Rectangle 1510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3" name="TextBox 1512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4" name="Rectangle 1513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10.9M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6" name="TextBox 1515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17" name="Rectangle 1516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21.0M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519" name="TextBox 1518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520" name="Rectangle 1519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 panose="020F0502020204030204"/>
              </a:rPr>
              <a:t>S  周度批核业绩热力矩阵（APE in M）</a:t>
            </a:r>
            <a:endParaRPr sz="11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22" name="TextBox 1521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3" name="TextBox 1522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4" name="TextBox 1523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5" name="TextBox 1524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W17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6" name="TextBox 1525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W18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7" name="TextBox 1526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W19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8" name="TextBox 1527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W20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29" name="TextBox 1528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W21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0" name="TextBox 1529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W22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1" name="TextBox 1530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W23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2" name="TextBox 1531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W24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3" name="TextBox 1532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W25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4" name="TextBox 1533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 panose="020F0502020204030204"/>
              </a:rPr>
              <a:t>W26</a:t>
            </a:r>
            <a:endParaRPr sz="800" b="0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5" name="TextBox 1534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W27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6" name="TextBox 1535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 panose="020F0502020204030204"/>
              </a:rPr>
              <a:t>W28</a:t>
            </a:r>
            <a:endParaRPr sz="800" b="1">
              <a:solidFill>
                <a:srgbClr val="666666"/>
              </a:solidFill>
              <a:latin typeface="Calibri" panose="020F0502020204030204"/>
            </a:endParaRPr>
          </a:p>
        </p:txBody>
      </p:sp>
      <p:sp>
        <p:nvSpPr>
          <p:cNvPr id="1537" name="TextBox 1536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天领业务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38" name="Rectangle 1537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0" name="TextBox 1539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1" name="Rectangle 1540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TextBox 1541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3" name="TextBox 1542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4" name="Rectangle 1543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TextBox 1544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3.5M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6" name="TextBox 1545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47" name="Rectangle 1546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TextBox 1547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49" name="TextBox 1548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50" name="Rectangle 1549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TextBox 1550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2" name="TextBox 1551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3" name="Rectangle 1552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TextBox 1553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5" name="TextBox 1554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6" name="Rectangle 1555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TextBox 1556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8" name="TextBox 1557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59" name="Rectangle 1558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TextBox 1559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1" name="TextBox 1560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2" name="Rectangle 1561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TextBox 1562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64" name="TextBox 1563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65" name="Rectangle 1564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TextBox 1565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2.6M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7" name="TextBox 1566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68" name="Rectangle 1567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TextBox 1568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8.7M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0" name="TextBox 1569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71" name="Rectangle 1570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TextBox 1571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3" name="TextBox 1572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4" name="Rectangle 1573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TextBox 1574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0.6M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6" name="TextBox 1575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7" name="Rectangle 1576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TextBox 1577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79" name="TextBox 1578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0" name="Rectangle 1579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TextBox 1580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2" name="TextBox 1581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2980B9"/>
              </a:solidFill>
              <a:latin typeface="Calibri" panose="020F0502020204030204"/>
            </a:endParaRPr>
          </a:p>
        </p:txBody>
      </p:sp>
      <p:sp>
        <p:nvSpPr>
          <p:cNvPr id="1583" name="TextBox 1582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成事家办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584" name="Rectangle 1583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TextBox 1584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6" name="TextBox 1585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7" name="Rectangle 1586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TextBox 1587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89" name="TextBox 1588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0" name="Rectangle 1589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TextBox 1590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2" name="TextBox 1591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3" name="Rectangle 1592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TextBox 1593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5" name="TextBox 1594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96" name="Rectangle 1595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TextBox 1596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8" name="TextBox 1597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599" name="Rectangle 1598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TextBox 1599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1" name="TextBox 1600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2" name="Rectangle 1601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TextBox 1602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4" name="TextBox 1603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5" name="Rectangle 1604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TextBox 1605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7" name="TextBox 1606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08" name="Rectangle 1607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TextBox 1608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0.4M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1" name="Rectangle 1610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TextBox 1611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3" name="TextBox 1612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374151"/>
              </a:solidFill>
              <a:latin typeface="Calibri" panose="020F0502020204030204"/>
            </a:endParaRPr>
          </a:p>
        </p:txBody>
      </p:sp>
      <p:sp>
        <p:nvSpPr>
          <p:cNvPr id="1614" name="Rectangle 1613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TextBox 1614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6" name="TextBox 1615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17" name="TextBox 1616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BK业务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18" name="Rectangle 1617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4.3M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0" name="TextBox 1619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1" name="Rectangle 1620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3" name="TextBox 1622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4" name="Rectangle 1623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6" name="TextBox 1625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27" name="Rectangle 1626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29" name="TextBox 1628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0" name="Rectangle 1629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1.9M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2" name="TextBox 1631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3" name="Rectangle 1632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5" name="TextBox 1634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6" name="Rectangle 1635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8" name="TextBox 1637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39" name="Rectangle 1638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14.1M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1" name="TextBox 1640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42" name="Rectangle 1641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4" name="TextBox 1643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5" name="Rectangle 1644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7" name="TextBox 1646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48" name="Rectangle 1647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0" name="TextBox 1649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1" name="Rectangle 1650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2.8M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3" name="TextBox 1652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6件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4" name="Rectangle 1653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0.3M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6" name="TextBox 1655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7" name="Rectangle 1656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59" name="TextBox 1658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1F3864"/>
              </a:solidFill>
              <a:latin typeface="Calibri" panose="020F0502020204030204"/>
            </a:endParaRP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同行经代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661" name="Rectangle 1660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1.6M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3" name="TextBox 1662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4" name="Rectangle 1663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3.1M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7" name="Rectangle 1666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0" name="Rectangle 1669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3" name="Rectangle 1672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14件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76" name="Rectangle 1675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10.2M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19件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79" name="Rectangle 1678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3.9M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2" name="Rectangle 1681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7.1M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85" name="Rectangle 1684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3.4M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7" name="TextBox 1686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88" name="Rectangle 1687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68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0" name="TextBox 1689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20件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1" name="Rectangle 1690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2.7M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3" name="TextBox 1692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4" name="Rectangle 1693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6" name="TextBox 1695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97" name="Rectangle 1696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4.2M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699" name="TextBox 1698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15件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0" name="Rectangle 1699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5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5.3M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2" name="TextBox 1701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18件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03" name="Rectangle 1702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2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 panose="020F0502020204030204"/>
              </a:rPr>
              <a:t>2.0M</a:t>
            </a:r>
            <a:endParaRPr sz="800" b="1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5" name="TextBox 1704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E67E22"/>
              </a:solidFill>
              <a:latin typeface="Calibri" panose="020F0502020204030204"/>
            </a:endParaRPr>
          </a:p>
        </p:txBody>
      </p:sp>
      <p:sp>
        <p:nvSpPr>
          <p:cNvPr id="1706" name="TextBox 1705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永明经代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07" name="Rectangle 1706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09" name="TextBox 1708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0" name="Rectangle 1709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25件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3" name="Rectangle 1712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4.6M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16" name="Rectangle 1715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19" name="Rectangle 1718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1.1M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2" name="Rectangle 1721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0.7M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4件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25" name="Rectangle 1724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6.6M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13件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28" name="Rectangle 1727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2.5M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8件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1" name="Rectangle 1730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2.2M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7件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4" name="Rectangle 1733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7" name="Rectangle 1736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3.3M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10件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0" name="Rectangle 1739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3.2M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9件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43" name="Rectangle 1742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5.7M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16件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6" name="Rectangle 1745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9.9M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49" name="Rectangle 1748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TextBox 1749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 panose="020F0502020204030204"/>
              </a:rPr>
              <a:t>4.1M</a:t>
            </a:r>
            <a:endParaRPr sz="800" b="1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1" name="TextBox 1750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 panose="020F0502020204030204"/>
              </a:rPr>
              <a:t>11件</a:t>
            </a:r>
            <a:endParaRPr sz="700" b="0">
              <a:solidFill>
                <a:srgbClr val="1A7A3F"/>
              </a:solidFill>
              <a:latin typeface="Calibri" panose="020F0502020204030204"/>
            </a:endParaRPr>
          </a:p>
        </p:txBody>
      </p:sp>
      <p:sp>
        <p:nvSpPr>
          <p:cNvPr id="1752" name="TextBox 1751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合伙转介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53" name="Rectangle 1752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56" name="Rectangle 1755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1.2M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59" name="Rectangle 1758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1" name="TextBox 1760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2" name="Rectangle 1761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0.5M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4" name="TextBox 1763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65" name="Rectangle 1764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7" name="TextBox 1766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68" name="Rectangle 1767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0.1M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0" name="TextBox 1769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1" name="Rectangle 1770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 panose="020F0502020204030204"/>
              </a:rPr>
              <a:t>0.2M</a:t>
            </a:r>
            <a:endParaRPr sz="800" b="1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3" name="TextBox 1772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 panose="020F0502020204030204"/>
              </a:rPr>
              <a:t>3件</a:t>
            </a:r>
            <a:endParaRPr sz="700" b="0">
              <a:solidFill>
                <a:srgbClr val="94A3B8"/>
              </a:solidFill>
              <a:latin typeface="Calibri" panose="020F0502020204030204"/>
            </a:endParaRPr>
          </a:p>
        </p:txBody>
      </p:sp>
      <p:sp>
        <p:nvSpPr>
          <p:cNvPr id="1774" name="TextBox 177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 panose="020F0502020204030204"/>
              </a:rPr>
              <a:t>ICLUB业务</a:t>
            </a:r>
            <a:endParaRPr sz="900" b="1">
              <a:solidFill>
                <a:srgbClr val="303030"/>
              </a:solidFill>
              <a:latin typeface="Calibri" panose="020F0502020204030204"/>
            </a:endParaRPr>
          </a:p>
        </p:txBody>
      </p:sp>
      <p:sp>
        <p:nvSpPr>
          <p:cNvPr id="1775" name="Rectangle 1774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TextBox 1775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 panose="020F0502020204030204"/>
              </a:rPr>
              <a:t>0.0M</a:t>
            </a:r>
            <a:endParaRPr sz="800" b="1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77" name="TextBox 1776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8E44AD"/>
              </a:solidFill>
              <a:latin typeface="Calibri" panose="020F0502020204030204"/>
            </a:endParaRPr>
          </a:p>
        </p:txBody>
      </p:sp>
      <p:sp>
        <p:nvSpPr>
          <p:cNvPr id="1778" name="Rectangle 1777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TextBox 1778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4.0M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0" name="TextBox 1779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1件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1" name="Rectangle 1780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TextBox 1781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 panose="020F0502020204030204"/>
              </a:rPr>
              <a:t>1.8M</a:t>
            </a:r>
            <a:endParaRPr sz="800" b="1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3" name="TextBox 1782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 panose="020F0502020204030204"/>
              </a:rPr>
              <a:t>2件</a:t>
            </a:r>
            <a:endParaRPr sz="700" b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784" name="TextBox 1783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 panose="020F0502020204030204"/>
              </a:rPr>
              <a:t>合计</a:t>
            </a:r>
            <a:endParaRPr sz="1000" b="1">
              <a:solidFill>
                <a:srgbClr val="202020"/>
              </a:solidFill>
              <a:latin typeface="Calibri" panose="020F0502020204030204"/>
            </a:endParaRPr>
          </a:p>
        </p:txBody>
      </p:sp>
      <p:sp>
        <p:nvSpPr>
          <p:cNvPr id="1785" name="Rectangle 1784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TextBox 1785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87" name="TextBox 1786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88" name="Rectangle 1787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0" name="TextBox 1789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1" name="Rectangle 1790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24.6M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3" name="TextBox 1792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4" name="Rectangle 1793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23.5M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6" name="TextBox 1795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44件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797" name="Rectangle 1796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8.4M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799" name="TextBox 1798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0" name="Rectangle 1799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2" name="TextBox 1801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42件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3" name="Rectangle 1802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20.4M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5" name="TextBox 1804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46件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6" name="Rectangle 1805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28.1M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08" name="TextBox 1807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43件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09" name="Rectangle 1808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12.5M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1" name="TextBox 1810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2" name="Rectangle 1811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12.0M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4" name="TextBox 1813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45件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5" name="Rectangle 1814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15.4M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17" name="TextBox 1816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31件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18" name="Rectangle 1817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19.3M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0" name="TextBox 1819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50件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1" name="Rectangle 1820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11.2M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3" name="TextBox 1822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41件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4" name="Rectangle 1823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17.6M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6" name="TextBox 1825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49件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  <p:sp>
        <p:nvSpPr>
          <p:cNvPr id="1827" name="Rectangle 1826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 panose="020F0502020204030204"/>
              </a:rPr>
              <a:t>6.9M</a:t>
            </a:r>
            <a:endParaRPr sz="800" b="1">
              <a:solidFill>
                <a:srgbClr val="2C3E50"/>
              </a:solidFill>
              <a:latin typeface="Calibri" panose="020F0502020204030204"/>
            </a:endParaRPr>
          </a:p>
        </p:txBody>
      </p:sp>
      <p:sp>
        <p:nvSpPr>
          <p:cNvPr id="1829" name="TextBox 1828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 panose="020F0502020204030204"/>
              </a:rPr>
              <a:t>29件</a:t>
            </a:r>
            <a:endParaRPr sz="700" b="0">
              <a:solidFill>
                <a:srgbClr val="7A7A7A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姜通批核 118.7M/328件、战略合作 39.4M/119件,合计占同行批核 74.5%。姜通件均≈36万为大单驱动,战略合作走量为流量驱动。头部高度集中,需差异化对接与风险分散。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 批核 13.3M/批核率 100% 件质量最高;姜通在途未批核 37.3M、批核率 76% 稳中向好;白博文未批 6.9M 待跟。头部推荐人质量分化,持续催核提速。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159件  |  件均37.0万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 panose="020F0502020204030204"/>
              </a:rPr>
              <a:t>38件  |  件均41.2万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8999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8.93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0.57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280.49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58.89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159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15.66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38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355.03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896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天誉国际(MGA)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8.54M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5.01M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0.45M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2.46M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1.44M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1.90M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1.03M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1.31M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0.78M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0.29M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0.96M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0.55M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6.17M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同行预约 16.73M 高于签单 10.55M、批核 6.17M,前端回补、批核清淡;需盯后续周次签单与批核能否跟上。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327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23.19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16.33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21.06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40.20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43.43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129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19.46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75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39.30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37.71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43.88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265.14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753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249.79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717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280.49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699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6 月同行预约 6009 万、签单 5881 万高位（环比 +25%），批核 3822 万落后于前端，签单积压待批,需紧盯下半年放款节奏。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1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3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4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6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8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9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0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1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3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4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5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6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8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19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0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1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3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4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5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6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8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29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0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" name="Shape 19"/>
          <p:cNvSpPr/>
          <p:nvPr>
            <p:custDataLst>
              <p:tags r:id="rId3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" name="Shape 20"/>
          <p:cNvSpPr/>
          <p:nvPr>
            <p:custDataLst>
              <p:tags r:id="rId3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4" name="Text 21"/>
          <p:cNvSpPr/>
          <p:nvPr>
            <p:custDataLst>
              <p:tags r:id="rId3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W28预约</a:t>
            </a:r>
            <a:endParaRPr lang="en-US" sz="800" dirty="0"/>
          </a:p>
        </p:txBody>
      </p:sp>
      <p:sp>
        <p:nvSpPr>
          <p:cNvPr id="5" name="Text 22"/>
          <p:cNvSpPr/>
          <p:nvPr>
            <p:custDataLst>
              <p:tags r:id="rId3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 panose="020F0502020204030204"/>
              </a:rPr>
              <a:t>2.73M</a:t>
            </a:r>
            <a:endParaRPr lang="en-US" sz="1800" dirty="0"/>
          </a:p>
        </p:txBody>
      </p:sp>
      <p:sp>
        <p:nvSpPr>
          <p:cNvPr id="37" name="Text 23"/>
          <p:cNvSpPr/>
          <p:nvPr>
            <p:custDataLst>
              <p:tags r:id="rId3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8" name="Shape 24"/>
          <p:cNvSpPr/>
          <p:nvPr>
            <p:custDataLst>
              <p:tags r:id="rId3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25"/>
          <p:cNvSpPr/>
          <p:nvPr>
            <p:custDataLst>
              <p:tags r:id="rId3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40" name="Text 26"/>
          <p:cNvSpPr/>
          <p:nvPr>
            <p:custDataLst>
              <p:tags r:id="rId3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W28签单</a:t>
            </a:r>
            <a:endParaRPr lang="en-US" sz="800" dirty="0"/>
          </a:p>
        </p:txBody>
      </p:sp>
      <p:sp>
        <p:nvSpPr>
          <p:cNvPr id="41" name="Text 27"/>
          <p:cNvSpPr/>
          <p:nvPr>
            <p:custDataLst>
              <p:tags r:id="rId3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 panose="020F0502020204030204"/>
              </a:rPr>
              <a:t>4.29M</a:t>
            </a:r>
            <a:endParaRPr lang="en-US" sz="1800" dirty="0"/>
          </a:p>
        </p:txBody>
      </p:sp>
      <p:sp>
        <p:nvSpPr>
          <p:cNvPr id="42" name="Text 28"/>
          <p:cNvSpPr/>
          <p:nvPr>
            <p:custDataLst>
              <p:tags r:id="rId4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3" name="Shape 29"/>
          <p:cNvSpPr/>
          <p:nvPr>
            <p:custDataLst>
              <p:tags r:id="rId4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30"/>
          <p:cNvSpPr/>
          <p:nvPr>
            <p:custDataLst>
              <p:tags r:id="rId4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5" name="Text 31"/>
          <p:cNvSpPr/>
          <p:nvPr>
            <p:custDataLst>
              <p:tags r:id="rId4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 panose="020F0502020204030204"/>
              </a:rPr>
              <a:t>BK W28批核</a:t>
            </a:r>
            <a:endParaRPr lang="en-US" sz="800" dirty="0"/>
          </a:p>
        </p:txBody>
      </p:sp>
      <p:sp>
        <p:nvSpPr>
          <p:cNvPr id="46" name="Text 32"/>
          <p:cNvSpPr/>
          <p:nvPr>
            <p:custDataLst>
              <p:tags r:id="rId4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 panose="020F0502020204030204"/>
              </a:rPr>
              <a:t>0.00M</a:t>
            </a:r>
            <a:endParaRPr lang="en-US" sz="1800" dirty="0"/>
          </a:p>
        </p:txBody>
      </p:sp>
      <p:sp>
        <p:nvSpPr>
          <p:cNvPr id="47" name="Text 33"/>
          <p:cNvSpPr/>
          <p:nvPr>
            <p:custDataLst>
              <p:tags r:id="rId4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 panose="020F0502020204030204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8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9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52" name="Table 1"/>
          <p:cNvGraphicFramePr>
            <a:graphicFrameLocks noGrp="1"/>
          </p:cNvGraphicFramePr>
          <p:nvPr>
            <p:custDataLst>
              <p:tags r:id="rId4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3" name="Picture 51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4" name="Picture 52" descr="image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  <a:endParaRPr sz="800">
              <a:solidFill>
                <a:srgbClr val="CCCCCC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24.9M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件均67.2W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4.39M</a:t>
            </a:r>
            <a:endParaRPr sz="2200" b="1">
              <a:solidFill>
                <a:srgbClr val="1B6B3A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件均54.9W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  <a:endParaRPr sz="900" b="0">
              <a:solidFill>
                <a:srgbClr val="1A2744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  <a:endParaRPr sz="2200" b="1">
              <a:solidFill>
                <a:srgbClr val="8B1A1A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  <a:endParaRPr sz="800">
              <a:solidFill>
                <a:srgbClr val="555555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1853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180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2040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11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390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526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67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79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36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15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50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8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1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2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0.0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0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4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2744"/>
                          </a:solidFill>
                        </a:rPr>
                        <a:t>3</a:t>
                      </a:r>
                      <a:endParaRPr sz="75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447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26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439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886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34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未批核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待签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合计APE(万)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
件数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  <a:endParaRPr sz="1000" b="1">
              <a:solidFill>
                <a:srgbClr val="FFFFFF"/>
              </a:solidFill>
            </a:endParaRP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205714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总部职能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0.23M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个人转介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0.02M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Molly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励欧移民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明德长青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德约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保险师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新风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迪岸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虹霖贸易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懿丰家族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5714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744"/>
                          </a:solidFill>
                        </a:rPr>
                        <a:t>荻邦咨询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1A2744"/>
                          </a:solidFill>
                        </a:rPr>
                        <a:t>0.00M</a:t>
                      </a:r>
                      <a:endParaRPr sz="700" b="0">
                        <a:solidFill>
                          <a:srgbClr val="1A2744"/>
                        </a:solidFill>
                      </a:endParaRP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05718"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</a:rPr>
                        <a:t>合计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</a:rPr>
                        <a:t>0.25M</a:t>
                      </a:r>
                      <a:endParaRPr sz="750" b="1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0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12028</Words>
  <Application>WPS 演示</Application>
  <PresentationFormat>On-screen Show (16:9)</PresentationFormat>
  <Paragraphs>4248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古月唯歌</cp:lastModifiedBy>
  <cp:revision>68</cp:revision>
  <dcterms:created xsi:type="dcterms:W3CDTF">2026-03-26T15:42:00Z</dcterms:created>
  <dcterms:modified xsi:type="dcterms:W3CDTF">2026-07-27T09:29:58Z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2052-12.1.0.26895</vt:lpwstr>
  </property>
</Properties>
</file>