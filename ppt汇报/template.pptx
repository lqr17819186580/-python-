
<file path=[Content_Types].xml><?xml version="1.0" encoding="utf-8"?>
<Types xmlns="http://schemas.openxmlformats.org/package/2006/content-types">
  <Default Extension="xlsx" ContentType="application/vnd.openxmlformats-officedocument.spreadsheetml.sheet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14.xml" ContentType="application/vnd.openxmlformats-officedocument.drawingml.chart+xml"/>
  <Override PartName="/ppt/charts/chart15.xml" ContentType="application/vnd.openxmlformats-officedocument.drawingml.chart+xml"/>
  <Override PartName="/ppt/charts/chart16.xml" ContentType="application/vnd.openxmlformats-officedocument.drawingml.chart+xml"/>
  <Override PartName="/ppt/charts/chart17.xml" ContentType="application/vnd.openxmlformats-officedocument.drawingml.chart+xml"/>
  <Override PartName="/ppt/charts/chart18.xml" ContentType="application/vnd.openxmlformats-officedocument.drawingml.chart+xml"/>
  <Override PartName="/ppt/charts/chart19.xml" ContentType="application/vnd.openxmlformats-officedocument.drawingml.chart+xml"/>
  <Override PartName="/ppt/charts/chart2.xml" ContentType="application/vnd.openxmlformats-officedocument.drawingml.chart+xml"/>
  <Override PartName="/ppt/charts/chart20.xml" ContentType="application/vnd.openxmlformats-officedocument.drawingml.chart+xml"/>
  <Override PartName="/ppt/charts/chart21.xml" ContentType="application/vnd.openxmlformats-officedocument.drawingml.chart+xml"/>
  <Override PartName="/ppt/charts/chart22.xml" ContentType="application/vnd.openxmlformats-officedocument.drawingml.chart+xml"/>
  <Override PartName="/ppt/charts/chart23.xml" ContentType="application/vnd.openxmlformats-officedocument.drawingml.chart+xml"/>
  <Override PartName="/ppt/charts/chart24.xml" ContentType="application/vnd.openxmlformats-officedocument.drawingml.chart+xml"/>
  <Override PartName="/ppt/charts/chart25.xml" ContentType="application/vnd.openxmlformats-officedocument.drawingml.chart+xml"/>
  <Override PartName="/ppt/charts/chart26.xml" ContentType="application/vnd.openxmlformats-officedocument.drawingml.chart+xml"/>
  <Override PartName="/ppt/charts/chart27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charts/colors1.xml" ContentType="application/vnd.ms-office.chartcolorstyle+xml"/>
  <Override PartName="/ppt/charts/colors2.xml" ContentType="application/vnd.ms-office.chartcolorstyle+xml"/>
  <Override PartName="/ppt/charts/style1.xml" ContentType="application/vnd.ms-office.chartstyle+xml"/>
  <Override PartName="/ppt/charts/style2.xml" ContentType="application/vnd.ms-office.chartstyle+xml"/>
  <Override PartName="/ppt/media/image2.svg" ContentType="image/svg+xml"/>
  <Override PartName="/ppt/media/image4.svg" ContentType="image/svg+xml"/>
  <Override PartName="/ppt/media/image5.svg" ContentType="image/svg+xml"/>
  <Override PartName="/ppt/media/image7.svg" ContentType="image/svg+xml"/>
  <Override PartName="/ppt/media/image8.svg" ContentType="image/svg+xml"/>
  <Override PartName="/ppt/media/image9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62" r:id="rId6"/>
    <p:sldId id="258" r:id="rId7"/>
    <p:sldId id="270" r:id="rId8"/>
    <p:sldId id="260" r:id="rId9"/>
    <p:sldId id="271" r:id="rId10"/>
    <p:sldId id="263" r:id="rId11"/>
    <p:sldId id="272" r:id="rId12"/>
    <p:sldId id="274" r:id="rId13"/>
    <p:sldId id="275" r:id="rId14"/>
  </p:sldIdLst>
  <p:sldSz cx="12192000" cy="6858000"/>
  <p:notesSz cx="6858000" cy="12192000"/>
  <p:custDataLst>
    <p:tags r:id="rId18"/>
  </p:custData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6B2737"/>
    <a:srgbClr val="6C3483"/>
    <a:srgbClr val="CC4E3F"/>
    <a:srgbClr val="9B2335"/>
    <a:srgbClr val="0D594A"/>
    <a:srgbClr val="0F6957"/>
    <a:srgbClr val="117A65"/>
    <a:srgbClr val="7B241C"/>
    <a:srgbClr val="8B451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tags" Target="tags/tag105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1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2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3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oleObject" Target="" TargetMode="External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oleObject" Target="" TargetMode="External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oleObject" Target="" TargetMode="External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4.xlsx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oleObject" Target="" TargetMode="External"/></Relationships>
</file>

<file path=ppt/charts/_rels/chart9.xml.rels><?xml version="1.0" encoding="UTF-8" standalone="yes"?>
<Relationships xmlns="http://schemas.openxmlformats.org/package/2006/relationships"><Relationship Id="rId1" Type="http://schemas.openxmlformats.org/officeDocument/2006/relationships/oleObject" Target="" TargetMode="External"/></Relationships>
</file>

<file path=ppt/charts/_rels/chart10.xml.rels><?xml version="1.0" encoding="UTF-8" standalone="yes"?>
<Relationships xmlns="http://schemas.openxmlformats.org/package/2006/relationships"><Relationship Id="rId1" Type="http://schemas.openxmlformats.org/officeDocument/2006/relationships/oleObject" Target="" TargetMode="External"/></Relationships>
</file>

<file path=ppt/charts/_rels/chart11.xml.rels><?xml version="1.0" encoding="UTF-8" standalone="yes"?>
<Relationships xmlns="http://schemas.openxmlformats.org/package/2006/relationships"><Relationship Id="rId1" Type="http://schemas.openxmlformats.org/officeDocument/2006/relationships/oleObject" Target="" TargetMode="External"/></Relationships>
</file>

<file path=ppt/charts/_rels/chart12.xml.rels><?xml version="1.0" encoding="UTF-8" standalone="yes"?>
<Relationships xmlns="http://schemas.openxmlformats.org/package/2006/relationships"><Relationship Id="rId1" Type="http://schemas.openxmlformats.org/officeDocument/2006/relationships/oleObject" Target="" TargetMode="External"/></Relationships>
</file>

<file path=ppt/charts/_rels/chart13.xml.rels><?xml version="1.0" encoding="UTF-8" standalone="yes"?>
<Relationships xmlns="http://schemas.openxmlformats.org/package/2006/relationships"><Relationship Id="rId1" Type="http://schemas.openxmlformats.org/officeDocument/2006/relationships/oleObject" Target="" TargetMode="External"/></Relationships>
</file>

<file path=ppt/charts/_rels/chart14.xml.rels><?xml version="1.0" encoding="UTF-8" standalone="yes"?>
<Relationships xmlns="http://schemas.openxmlformats.org/package/2006/relationships"><Relationship Id="rId1" Type="http://schemas.openxmlformats.org/officeDocument/2006/relationships/oleObject" Target="" TargetMode="External"/></Relationships>
</file>

<file path=ppt/charts/_rels/chart1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5.xlsx"/></Relationships>
</file>

<file path=ppt/charts/_rels/chart16.xml.rels><?xml version="1.0" encoding="UTF-8" standalone="yes"?>
<Relationships xmlns="http://schemas.openxmlformats.org/package/2006/relationships"><Relationship Id="rId1" Type="http://schemas.openxmlformats.org/officeDocument/2006/relationships/oleObject" Target="" TargetMode="External"/></Relationships>
</file>

<file path=ppt/charts/_rels/chart1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6.xlsx"/></Relationships>
</file>

<file path=ppt/charts/_rels/chart1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7.xlsx"/></Relationships>
</file>

<file path=ppt/charts/_rels/chart1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8.xlsx"/></Relationships>
</file>

<file path=ppt/charts/_rels/chart20.xml.rels><?xml version="1.0" encoding="UTF-8" standalone="yes"?>
<Relationships xmlns="http://schemas.openxmlformats.org/package/2006/relationships"><Relationship Id="rId3" Type="http://schemas.microsoft.com/office/2011/relationships/chartColorStyle" Target="colors1.xml"/><Relationship Id="rId2" Type="http://schemas.microsoft.com/office/2011/relationships/chartStyle" Target="style1.xml"/><Relationship Id="rId1" Type="http://schemas.openxmlformats.org/officeDocument/2006/relationships/package" Target="../embeddings/Workbook9.xlsx"/></Relationships>
</file>

<file path=ppt/charts/_rels/chart21.xml.rels><?xml version="1.0" encoding="UTF-8" standalone="yes"?>
<Relationships xmlns="http://schemas.openxmlformats.org/package/2006/relationships"><Relationship Id="rId1" Type="http://schemas.openxmlformats.org/officeDocument/2006/relationships/oleObject" Target="" TargetMode="External"/></Relationships>
</file>

<file path=ppt/charts/_rels/chart22.xml.rels><?xml version="1.0" encoding="UTF-8" standalone="yes"?>
<Relationships xmlns="http://schemas.openxmlformats.org/package/2006/relationships"><Relationship Id="rId1" Type="http://schemas.openxmlformats.org/officeDocument/2006/relationships/oleObject" Target="" TargetMode="External"/></Relationships>
</file>

<file path=ppt/charts/_rels/chart23.xml.rels><?xml version="1.0" encoding="UTF-8" standalone="yes"?>
<Relationships xmlns="http://schemas.openxmlformats.org/package/2006/relationships"><Relationship Id="rId1" Type="http://schemas.openxmlformats.org/officeDocument/2006/relationships/oleObject" Target="" TargetMode="External"/></Relationships>
</file>

<file path=ppt/charts/_rels/chart2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10.xlsx"/></Relationships>
</file>

<file path=ppt/charts/_rels/chart2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11.xlsx"/></Relationships>
</file>

<file path=ppt/charts/_rels/chart2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12.xlsx"/></Relationships>
</file>

<file path=ppt/charts/_rels/chart27.xml.rels><?xml version="1.0" encoding="UTF-8" standalone="yes"?>
<Relationships xmlns="http://schemas.openxmlformats.org/package/2006/relationships"><Relationship Id="rId3" Type="http://schemas.microsoft.com/office/2011/relationships/chartColorStyle" Target="colors2.xml"/><Relationship Id="rId2" Type="http://schemas.microsoft.com/office/2011/relationships/chartStyle" Target="style2.xml"/><Relationship Id="rId1" Type="http://schemas.openxmlformats.org/officeDocument/2006/relationships/package" Target="../embeddings/Workbook1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批核 APE</c:v>
                </c:pt>
              </c:strCache>
            </c:strRef>
          </c:tx>
          <c:spPr>
            <a:solidFill>
              <a:srgbClr val="00796B"/>
            </a:solidFill>
            <a:effectLst/>
          </c:spPr>
          <c:invertIfNegative val="0"/>
          <c:dLbls>
            <c:dLbl>
              <c:idx val="1"/>
              <c:layout>
                <c:manualLayout>
                  <c:x val="-0.00767543859649123"/>
                  <c:y val="0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2"/>
              <c:layout>
                <c:manualLayout>
                  <c:x val="-0.0131578947368421"/>
                  <c:y val="0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800" b="0" i="0" u="none" strike="noStrike" kern="1200" baseline="0">
                    <a:solidFill>
                      <a:srgbClr val="1A1A2E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Sheet1!$A$2:$A$4</c:f>
              <c:strCache>
                <c:ptCount val="3"/>
                <c:pt idx="0">
                  <c:v>经代业务</c:v>
                </c:pt>
                <c:pt idx="1">
                  <c:v>代理人业务</c:v>
                </c:pt>
                <c:pt idx="2">
                  <c:v>KA 业务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307.71</c:v>
                </c:pt>
                <c:pt idx="1">
                  <c:v>25.86</c:v>
                </c:pt>
                <c:pt idx="2">
                  <c:v>16.86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未批核 APE</c:v>
                </c:pt>
              </c:strCache>
            </c:strRef>
          </c:tx>
          <c:spPr>
            <a:solidFill>
              <a:srgbClr val="C0392B"/>
            </a:solidFill>
            <a:effectLst/>
          </c:spPr>
          <c:invertIfNegative val="0"/>
          <c:dLbls>
            <c:dLbl>
              <c:idx val="2"/>
              <c:layout>
                <c:manualLayout>
                  <c:x val="0.0043859649122807"/>
                  <c:y val="-0.00193798449612403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0328947368421053"/>
                      <c:h val="0.0697674418604651"/>
                    </c:manualLayout>
                  </c15:layout>
                </c:ext>
              </c:extLst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800" b="0" i="0" u="none" strike="noStrike" kern="1200" baseline="0">
                    <a:solidFill>
                      <a:srgbClr val="1A1A2E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Sheet1!$A$2:$A$4</c:f>
              <c:strCache>
                <c:ptCount val="3"/>
                <c:pt idx="0">
                  <c:v>经代业务</c:v>
                </c:pt>
                <c:pt idx="1">
                  <c:v>代理人业务</c:v>
                </c:pt>
                <c:pt idx="2">
                  <c:v>KA 业务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145.92</c:v>
                </c:pt>
                <c:pt idx="1">
                  <c:v>16.93</c:v>
                </c:pt>
                <c:pt idx="2">
                  <c:v>5.08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待签 APE</c:v>
                </c:pt>
              </c:strCache>
            </c:strRef>
          </c:tx>
          <c:spPr>
            <a:solidFill>
              <a:srgbClr val="C8890A"/>
            </a:solidFill>
            <a:effectLst/>
          </c:spPr>
          <c:invertIfNegative val="0"/>
          <c:dLbls>
            <c:dLbl>
              <c:idx val="1"/>
              <c:layout>
                <c:manualLayout>
                  <c:x val="0.0164473684210526"/>
                  <c:y val="-0.00387596899224806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2"/>
              <c:layout>
                <c:manualLayout>
                  <c:x val="0.0281432748538012"/>
                  <c:y val="0.00129198966408269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0508040935672515"/>
                      <c:h val="0.0752583979328165"/>
                    </c:manualLayout>
                  </c15:layout>
                </c:ext>
              </c:extLst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800" b="0" i="0" u="none" strike="noStrike" kern="1200" baseline="0">
                    <a:solidFill>
                      <a:srgbClr val="1A1A2E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Sheet1!$A$2:$A$4</c:f>
              <c:strCache>
                <c:ptCount val="3"/>
                <c:pt idx="0">
                  <c:v>经代业务</c:v>
                </c:pt>
                <c:pt idx="1">
                  <c:v>代理人业务</c:v>
                </c:pt>
                <c:pt idx="2">
                  <c:v>KA 业务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2.26</c:v>
                </c:pt>
                <c:pt idx="1">
                  <c:v>1.61</c:v>
                </c:pt>
                <c:pt idx="2">
                  <c:v>0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10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rgbClr val="374151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 cmpd="sng" algn="ctr">
              <a:solidFill>
                <a:srgbClr val="E8EC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700" b="0" i="0" u="none" strike="noStrike" kern="1200" baseline="0">
                <a:solidFill>
                  <a:srgbClr val="6B7280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legend>
      <c:legendPos val="t"/>
      <c:layout/>
      <c:overlay val="0"/>
      <c:txPr>
        <a:bodyPr rot="0" spcFirstLastPara="0" vertOverflow="ellipsis" vert="horz" wrap="square" anchor="ctr" anchorCtr="1"/>
        <a:lstStyle/>
        <a:p>
          <a:pPr>
            <a:defRPr lang="zh-CN" sz="8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span"/>
    <c:showDLblsOverMax val="0"/>
    <c:extLst>
      <c:ext uri="{0b15fc19-7d7d-44ad-8c2d-2c3a37ce22c3}">
        <chartProps xmlns="https://web.wps.cn/et/2018/main" chartId="{36a8ab36-1a2b-4a65-a8dc-7db2cf40693d}"/>
      </c:ext>
    </c:extLst>
  </c:chart>
  <c:spPr>
    <a:solidFill>
      <a:srgbClr val="FFFFFF"/>
    </a:solidFill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none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预约 APE(M)</c:v>
                </c:pt>
              </c:strCache>
            </c:strRef>
          </c:tx>
          <c:spPr>
            <a:ln w="27940" cap="flat" cmpd="sng" algn="ctr">
              <a:solidFill>
                <a:srgbClr val="1F3864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1F3864"/>
              </a:solidFill>
              <a:ln w="9525" cap="flat" cmpd="sng" algn="ctr">
                <a:solidFill>
                  <a:srgbClr val="1F3864"/>
                </a:solidFill>
                <a:prstDash val="solid"/>
                <a:round/>
              </a:ln>
              <a:effectLst/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dLbl>
              <c:idx val="5"/>
              <c:delete val="1"/>
            </c:dLbl>
            <c:dLbl>
              <c:idx val="6"/>
              <c:delete val="1"/>
            </c:dLbl>
            <c:dLbl>
              <c:idx val="7"/>
              <c:delete val="1"/>
            </c:dLbl>
            <c:dLbl>
              <c:idx val="8"/>
              <c:delete val="1"/>
            </c:dLbl>
            <c:dLbl>
              <c:idx val="9"/>
              <c:delete val="1"/>
            </c:dLbl>
            <c:dLbl>
              <c:idx val="10"/>
              <c:delete val="1"/>
            </c:dLbl>
            <c:dLbl>
              <c:idx val="11"/>
              <c:delete val="1"/>
            </c:dLbl>
            <c:dLbl>
              <c:idx val="12"/>
              <c:delete val="1"/>
            </c:dLbl>
            <c:dLbl>
              <c:idx val="13"/>
              <c:delete val="1"/>
            </c:dLbl>
            <c:dLbl>
              <c:idx val="14"/>
              <c:delete val="1"/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200" b="0" i="0" u="none" strike="noStrike" kern="1200" baseline="0">
                    <a:solidFill>
                      <a:srgbClr val="000000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Sheet1!$A$2:$A$16</c:f>
              <c:strCache>
                <c:ptCount val="15"/>
                <c:pt idx="0">
                  <c:v>25-Jan</c:v>
                </c:pt>
                <c:pt idx="1">
                  <c:v>25-Feb</c:v>
                </c:pt>
                <c:pt idx="2">
                  <c:v>25-Mar</c:v>
                </c:pt>
                <c:pt idx="3">
                  <c:v>25-Apr</c:v>
                </c:pt>
                <c:pt idx="4">
                  <c:v>25-May</c:v>
                </c:pt>
                <c:pt idx="5">
                  <c:v>25-Jun</c:v>
                </c:pt>
                <c:pt idx="6">
                  <c:v>25-Jul</c:v>
                </c:pt>
                <c:pt idx="7">
                  <c:v>25-Aug</c:v>
                </c:pt>
                <c:pt idx="8">
                  <c:v>25-Sep</c:v>
                </c:pt>
                <c:pt idx="9">
                  <c:v>25-Oct</c:v>
                </c:pt>
                <c:pt idx="10">
                  <c:v>25-Nov</c:v>
                </c:pt>
                <c:pt idx="11">
                  <c:v>25-Dec</c:v>
                </c:pt>
                <c:pt idx="12">
                  <c:v>26-Jan</c:v>
                </c:pt>
                <c:pt idx="13">
                  <c:v>26-Feb</c:v>
                </c:pt>
                <c:pt idx="14">
                  <c:v>26-Mar</c:v>
                </c:pt>
              </c:strCache>
            </c:strRef>
          </c:cat>
          <c:val>
            <c:numRef>
              <c:f>Sheet1!$B$2:$B$16</c:f>
              <c:numCache>
                <c:formatCode>General</c:formatCode>
                <c:ptCount val="15"/>
                <c:pt idx="0">
                  <c:v>22.6</c:v>
                </c:pt>
                <c:pt idx="1">
                  <c:v>38.9</c:v>
                </c:pt>
                <c:pt idx="2">
                  <c:v>34.3</c:v>
                </c:pt>
                <c:pt idx="3">
                  <c:v>29.1</c:v>
                </c:pt>
                <c:pt idx="4">
                  <c:v>45.5</c:v>
                </c:pt>
                <c:pt idx="5">
                  <c:v>178.8</c:v>
                </c:pt>
                <c:pt idx="6">
                  <c:v>41.3</c:v>
                </c:pt>
                <c:pt idx="7">
                  <c:v>62.4</c:v>
                </c:pt>
                <c:pt idx="8">
                  <c:v>155.8</c:v>
                </c:pt>
                <c:pt idx="9">
                  <c:v>87.7</c:v>
                </c:pt>
                <c:pt idx="10">
                  <c:v>199.2</c:v>
                </c:pt>
                <c:pt idx="11">
                  <c:v>145.8</c:v>
                </c:pt>
                <c:pt idx="12">
                  <c:v>53.9</c:v>
                </c:pt>
                <c:pt idx="13">
                  <c:v>56.1</c:v>
                </c:pt>
                <c:pt idx="14">
                  <c:v>65.5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签单 APE(M)</c:v>
                </c:pt>
              </c:strCache>
            </c:strRef>
          </c:tx>
          <c:spPr>
            <a:ln w="27940" cap="flat" cmpd="sng" algn="ctr">
              <a:solidFill>
                <a:srgbClr val="00796B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0796B"/>
              </a:solidFill>
              <a:ln w="9525" cap="flat" cmpd="sng" algn="ctr">
                <a:solidFill>
                  <a:srgbClr val="00796B"/>
                </a:solidFill>
                <a:prstDash val="solid"/>
                <a:round/>
              </a:ln>
              <a:effectLst/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dLbl>
              <c:idx val="5"/>
              <c:delete val="1"/>
            </c:dLbl>
            <c:dLbl>
              <c:idx val="6"/>
              <c:delete val="1"/>
            </c:dLbl>
            <c:dLbl>
              <c:idx val="7"/>
              <c:delete val="1"/>
            </c:dLbl>
            <c:dLbl>
              <c:idx val="8"/>
              <c:delete val="1"/>
            </c:dLbl>
            <c:dLbl>
              <c:idx val="9"/>
              <c:delete val="1"/>
            </c:dLbl>
            <c:dLbl>
              <c:idx val="10"/>
              <c:delete val="1"/>
            </c:dLbl>
            <c:dLbl>
              <c:idx val="11"/>
              <c:delete val="1"/>
            </c:dLbl>
            <c:dLbl>
              <c:idx val="12"/>
              <c:delete val="1"/>
            </c:dLbl>
            <c:dLbl>
              <c:idx val="13"/>
              <c:delete val="1"/>
            </c:dLbl>
            <c:dLbl>
              <c:idx val="14"/>
              <c:delete val="1"/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200" b="0" i="0" u="none" strike="noStrike" kern="1200" baseline="0">
                    <a:solidFill>
                      <a:srgbClr val="000000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Sheet1!$A$2:$A$16</c:f>
              <c:strCache>
                <c:ptCount val="15"/>
                <c:pt idx="0">
                  <c:v>25-Jan</c:v>
                </c:pt>
                <c:pt idx="1">
                  <c:v>25-Feb</c:v>
                </c:pt>
                <c:pt idx="2">
                  <c:v>25-Mar</c:v>
                </c:pt>
                <c:pt idx="3">
                  <c:v>25-Apr</c:v>
                </c:pt>
                <c:pt idx="4">
                  <c:v>25-May</c:v>
                </c:pt>
                <c:pt idx="5">
                  <c:v>25-Jun</c:v>
                </c:pt>
                <c:pt idx="6">
                  <c:v>25-Jul</c:v>
                </c:pt>
                <c:pt idx="7">
                  <c:v>25-Aug</c:v>
                </c:pt>
                <c:pt idx="8">
                  <c:v>25-Sep</c:v>
                </c:pt>
                <c:pt idx="9">
                  <c:v>25-Oct</c:v>
                </c:pt>
                <c:pt idx="10">
                  <c:v>25-Nov</c:v>
                </c:pt>
                <c:pt idx="11">
                  <c:v>25-Dec</c:v>
                </c:pt>
                <c:pt idx="12">
                  <c:v>26-Jan</c:v>
                </c:pt>
                <c:pt idx="13">
                  <c:v>26-Feb</c:v>
                </c:pt>
                <c:pt idx="14">
                  <c:v>26-Mar</c:v>
                </c:pt>
              </c:strCache>
            </c:strRef>
          </c:cat>
          <c:val>
            <c:numRef>
              <c:f>Sheet1!$C$2:$C$16</c:f>
              <c:numCache>
                <c:formatCode>General</c:formatCode>
                <c:ptCount val="15"/>
                <c:pt idx="0">
                  <c:v>25.1</c:v>
                </c:pt>
                <c:pt idx="1">
                  <c:v>37.8</c:v>
                </c:pt>
                <c:pt idx="2">
                  <c:v>36</c:v>
                </c:pt>
                <c:pt idx="3">
                  <c:v>21.1</c:v>
                </c:pt>
                <c:pt idx="4">
                  <c:v>39.6</c:v>
                </c:pt>
                <c:pt idx="5">
                  <c:v>188.7</c:v>
                </c:pt>
                <c:pt idx="6">
                  <c:v>34.3</c:v>
                </c:pt>
                <c:pt idx="7">
                  <c:v>67.7</c:v>
                </c:pt>
                <c:pt idx="8">
                  <c:v>156.2</c:v>
                </c:pt>
                <c:pt idx="9">
                  <c:v>88</c:v>
                </c:pt>
                <c:pt idx="10">
                  <c:v>188.4</c:v>
                </c:pt>
                <c:pt idx="11">
                  <c:v>153.1</c:v>
                </c:pt>
                <c:pt idx="12">
                  <c:v>47.9</c:v>
                </c:pt>
                <c:pt idx="13">
                  <c:v>60.8</c:v>
                </c:pt>
                <c:pt idx="14">
                  <c:v>49.2</c:v>
                </c:pt>
              </c:numCache>
            </c:numRef>
          </c:val>
          <c:smooth val="1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批核 APE(M)</c:v>
                </c:pt>
              </c:strCache>
            </c:strRef>
          </c:tx>
          <c:spPr>
            <a:ln w="27940" cap="flat" cmpd="sng" algn="ctr">
              <a:solidFill>
                <a:srgbClr val="1A7A3F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1A7A3F"/>
              </a:solidFill>
              <a:ln w="9525" cap="flat" cmpd="sng" algn="ctr">
                <a:solidFill>
                  <a:srgbClr val="1A7A3F"/>
                </a:solidFill>
                <a:prstDash val="solid"/>
                <a:round/>
              </a:ln>
              <a:effectLst/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dLbl>
              <c:idx val="5"/>
              <c:delete val="1"/>
            </c:dLbl>
            <c:dLbl>
              <c:idx val="6"/>
              <c:delete val="1"/>
            </c:dLbl>
            <c:dLbl>
              <c:idx val="7"/>
              <c:delete val="1"/>
            </c:dLbl>
            <c:dLbl>
              <c:idx val="8"/>
              <c:delete val="1"/>
            </c:dLbl>
            <c:dLbl>
              <c:idx val="9"/>
              <c:delete val="1"/>
            </c:dLbl>
            <c:dLbl>
              <c:idx val="10"/>
              <c:delete val="1"/>
            </c:dLbl>
            <c:dLbl>
              <c:idx val="11"/>
              <c:delete val="1"/>
            </c:dLbl>
            <c:dLbl>
              <c:idx val="12"/>
              <c:delete val="1"/>
            </c:dLbl>
            <c:dLbl>
              <c:idx val="13"/>
              <c:delete val="1"/>
            </c:dLbl>
            <c:dLbl>
              <c:idx val="14"/>
              <c:delete val="1"/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200" b="0" i="0" u="none" strike="noStrike" kern="1200" baseline="0">
                    <a:solidFill>
                      <a:srgbClr val="000000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Sheet1!$A$2:$A$16</c:f>
              <c:strCache>
                <c:ptCount val="15"/>
                <c:pt idx="0">
                  <c:v>25-Jan</c:v>
                </c:pt>
                <c:pt idx="1">
                  <c:v>25-Feb</c:v>
                </c:pt>
                <c:pt idx="2">
                  <c:v>25-Mar</c:v>
                </c:pt>
                <c:pt idx="3">
                  <c:v>25-Apr</c:v>
                </c:pt>
                <c:pt idx="4">
                  <c:v>25-May</c:v>
                </c:pt>
                <c:pt idx="5">
                  <c:v>25-Jun</c:v>
                </c:pt>
                <c:pt idx="6">
                  <c:v>25-Jul</c:v>
                </c:pt>
                <c:pt idx="7">
                  <c:v>25-Aug</c:v>
                </c:pt>
                <c:pt idx="8">
                  <c:v>25-Sep</c:v>
                </c:pt>
                <c:pt idx="9">
                  <c:v>25-Oct</c:v>
                </c:pt>
                <c:pt idx="10">
                  <c:v>25-Nov</c:v>
                </c:pt>
                <c:pt idx="11">
                  <c:v>25-Dec</c:v>
                </c:pt>
                <c:pt idx="12">
                  <c:v>26-Jan</c:v>
                </c:pt>
                <c:pt idx="13">
                  <c:v>26-Feb</c:v>
                </c:pt>
                <c:pt idx="14">
                  <c:v>26-Mar</c:v>
                </c:pt>
              </c:strCache>
            </c:strRef>
          </c:cat>
          <c:val>
            <c:numRef>
              <c:f>Sheet1!$D$2:$D$16</c:f>
              <c:numCache>
                <c:formatCode>General</c:formatCode>
                <c:ptCount val="15"/>
                <c:pt idx="0">
                  <c:v>41.4</c:v>
                </c:pt>
                <c:pt idx="1">
                  <c:v>21.7</c:v>
                </c:pt>
                <c:pt idx="2">
                  <c:v>35.5</c:v>
                </c:pt>
                <c:pt idx="3">
                  <c:v>27.5</c:v>
                </c:pt>
                <c:pt idx="4">
                  <c:v>28.6</c:v>
                </c:pt>
                <c:pt idx="5">
                  <c:v>77</c:v>
                </c:pt>
                <c:pt idx="6">
                  <c:v>102.9</c:v>
                </c:pt>
                <c:pt idx="7">
                  <c:v>44.9</c:v>
                </c:pt>
                <c:pt idx="8">
                  <c:v>61.4</c:v>
                </c:pt>
                <c:pt idx="9">
                  <c:v>93.4</c:v>
                </c:pt>
                <c:pt idx="10">
                  <c:v>38.7</c:v>
                </c:pt>
                <c:pt idx="11">
                  <c:v>43.7</c:v>
                </c:pt>
                <c:pt idx="12">
                  <c:v>116.8</c:v>
                </c:pt>
                <c:pt idx="13">
                  <c:v>143.7</c:v>
                </c:pt>
                <c:pt idx="14">
                  <c:v>72.4</c:v>
                </c:pt>
              </c:numCache>
            </c:numRef>
          </c:val>
          <c:smooth val="1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1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750" b="0" i="0" u="none" strike="noStrike" kern="1200" baseline="0">
                <a:solidFill>
                  <a:srgbClr val="6B7280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220"/>
        </c:scaling>
        <c:delete val="0"/>
        <c:axPos val="l"/>
        <c:majorGridlines>
          <c:spPr>
            <a:ln w="6350" cap="flat" cmpd="sng" algn="ctr">
              <a:solidFill>
                <a:srgbClr val="E8EC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rgbClr val="6B7280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legend>
      <c:legendPos val="t"/>
      <c:layout/>
      <c:overlay val="0"/>
      <c:txPr>
        <a:bodyPr rot="0" spcFirstLastPara="0" vertOverflow="ellipsis" vert="horz" wrap="square" anchor="ctr" anchorCtr="1"/>
        <a:lstStyle/>
        <a:p>
          <a:pPr>
            <a:defRPr lang="zh-CN" sz="85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span"/>
    <c:showDLblsOverMax val="0"/>
    <c:extLst>
      <c:ext uri="{0b15fc19-7d7d-44ad-8c2d-2c3a37ce22c3}">
        <chartProps xmlns="https://web.wps.cn/et/2018/main" chartId="{f4279d99-b91a-40d8-99bc-af3f7ab8993c}"/>
      </c:ext>
    </c:extLst>
  </c:chart>
  <c:spPr>
    <a:solidFill>
      <a:srgbClr val="FFFFFF"/>
    </a:solidFill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0538598512621766"/>
          <c:y val="0.104184170727609"/>
          <c:w val="0.923096260605426"/>
          <c:h val="0.812367669299277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实际批核 APE(M)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dLbl>
              <c:idx val="5"/>
              <c:delete val="1"/>
            </c:dLbl>
            <c:dLbl>
              <c:idx val="6"/>
              <c:delete val="1"/>
            </c:dLbl>
            <c:dLbl>
              <c:idx val="7"/>
              <c:delete val="1"/>
            </c:dLbl>
            <c:dLbl>
              <c:idx val="8"/>
              <c:delete val="1"/>
            </c:dLbl>
            <c:dLbl>
              <c:idx val="9"/>
              <c:delete val="1"/>
            </c:dLbl>
            <c:dLbl>
              <c:idx val="10"/>
              <c:delete val="1"/>
            </c:dLbl>
            <c:dLbl>
              <c:idx val="11"/>
              <c:delete val="1"/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200" b="0" i="0" u="none" strike="noStrike" kern="1200" baseline="0">
                    <a:solidFill>
                      <a:srgbClr val="000000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Sheet1!$A$2:$A$13</c:f>
              <c:strCache>
                <c:ptCount val="12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  <c:pt idx="8">
                  <c:v>9月</c:v>
                </c:pt>
                <c:pt idx="9">
                  <c:v>10月</c:v>
                </c:pt>
                <c:pt idx="10">
                  <c:v>11月</c:v>
                </c:pt>
                <c:pt idx="11">
                  <c:v>12月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116.8</c:v>
                </c:pt>
                <c:pt idx="1">
                  <c:v>143.7</c:v>
                </c:pt>
                <c:pt idx="2">
                  <c:v>85.8</c:v>
                </c:pt>
                <c:pt idx="3">
                  <c:v>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预测 APE(M)</c:v>
                </c:pt>
              </c:strCache>
            </c:strRef>
          </c:tx>
          <c:spPr>
            <a:solidFill>
              <a:srgbClr val="BDC7DA"/>
            </a:solidFill>
            <a:effectLst/>
          </c:spPr>
          <c:invertIfNegative val="0"/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dLbl>
              <c:idx val="5"/>
              <c:delete val="1"/>
            </c:dLbl>
            <c:dLbl>
              <c:idx val="6"/>
              <c:delete val="1"/>
            </c:dLbl>
            <c:dLbl>
              <c:idx val="7"/>
              <c:delete val="1"/>
            </c:dLbl>
            <c:dLbl>
              <c:idx val="8"/>
              <c:delete val="1"/>
            </c:dLbl>
            <c:dLbl>
              <c:idx val="9"/>
              <c:delete val="1"/>
            </c:dLbl>
            <c:dLbl>
              <c:idx val="10"/>
              <c:delete val="1"/>
            </c:dLbl>
            <c:dLbl>
              <c:idx val="11"/>
              <c:delete val="1"/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200" b="0" i="0" u="none" strike="noStrike" kern="1200" baseline="0">
                    <a:solidFill>
                      <a:srgbClr val="000000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Sheet1!$A$2:$A$13</c:f>
              <c:strCache>
                <c:ptCount val="12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  <c:pt idx="8">
                  <c:v>9月</c:v>
                </c:pt>
                <c:pt idx="9">
                  <c:v>10月</c:v>
                </c:pt>
                <c:pt idx="10">
                  <c:v>11月</c:v>
                </c:pt>
                <c:pt idx="11">
                  <c:v>12月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4">
                  <c:v>80</c:v>
                </c:pt>
                <c:pt idx="5">
                  <c:v>88</c:v>
                </c:pt>
                <c:pt idx="6">
                  <c:v>95</c:v>
                </c:pt>
                <c:pt idx="7">
                  <c:v>100</c:v>
                </c:pt>
                <c:pt idx="8">
                  <c:v>100</c:v>
                </c:pt>
                <c:pt idx="9">
                  <c:v>100</c:v>
                </c:pt>
                <c:pt idx="10">
                  <c:v>100</c:v>
                </c:pt>
                <c:pt idx="11">
                  <c:v>96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rgbClr val="374151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200"/>
        </c:scaling>
        <c:delete val="0"/>
        <c:axPos val="l"/>
        <c:majorGridlines>
          <c:spPr>
            <a:ln w="6350" cap="flat" cmpd="sng" algn="ctr">
              <a:solidFill>
                <a:srgbClr val="E8EC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rgbClr val="6B7280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legend>
      <c:legendPos val="t"/>
      <c:layout/>
      <c:overlay val="0"/>
      <c:txPr>
        <a:bodyPr rot="0" spcFirstLastPara="0" vertOverflow="ellipsis" vert="horz" wrap="square" anchor="ctr" anchorCtr="1"/>
        <a:lstStyle/>
        <a:p>
          <a:pPr>
            <a:defRPr lang="zh-CN" sz="9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span"/>
    <c:showDLblsOverMax val="0"/>
    <c:extLst>
      <c:ext uri="{0b15fc19-7d7d-44ad-8c2d-2c3a37ce22c3}">
        <chartProps xmlns="https://web.wps.cn/et/2018/main" chartId="{89491398-6801-4b1c-8b75-0873e5e58d86}"/>
      </c:ext>
    </c:extLst>
  </c:chart>
  <c:spPr>
    <a:solidFill>
      <a:srgbClr val="FFFFFF"/>
    </a:solidFill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预约 APE(M)</c:v>
                </c:pt>
              </c:strCache>
            </c:strRef>
          </c:tx>
          <c:spPr>
            <a:solidFill>
              <a:srgbClr val="8B4513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8B4513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8B4513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8B4513"/>
              </a:solidFill>
              <a:effectLst/>
            </c:spPr>
          </c:dPt>
          <c:dLbls>
            <c:dLbl>
              <c:idx val="0"/>
              <c:layout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900" b="1" i="0" u="none" strike="noStrike" kern="1200" baseline="0">
                        <a:solidFill>
                          <a:schemeClr val="tx1"/>
                        </a:solid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>
                        <a:solidFill>
                          <a:schemeClr val="tx1"/>
                        </a:solidFill>
                      </a:rPr>
                      <a:t>APE 53.9M</a:t>
                    </a:r>
                    <a:r>
                      <a:rPr lang="en-US" altLang="zh-CN">
                        <a:solidFill>
                          <a:schemeClr val="tx1"/>
                        </a:solidFill>
                      </a:rPr>
                      <a:t> / 113</a:t>
                    </a:r>
                    <a:r>
                      <a:rPr altLang="en-US">
                        <a:solidFill>
                          <a:schemeClr val="tx1"/>
                        </a:solidFill>
                      </a:rPr>
                      <a:t>件</a:t>
                    </a:r>
                    <a:endParaRPr altLang="en-US">
                      <a:solidFill>
                        <a:schemeClr val="tx1"/>
                      </a:solidFill>
                    </a:endParaRP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28225062590592"/>
                      <c:h val="0.228730822873082"/>
                    </c:manualLayout>
                  </c15:layout>
                </c:ext>
              </c:extLst>
            </c:dLbl>
            <c:dLbl>
              <c:idx val="1"/>
              <c:layout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900" b="1" i="0" u="none" strike="noStrike" kern="1200" baseline="0">
                        <a:solidFill>
                          <a:schemeClr val="tx1"/>
                        </a:solid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>
                        <a:solidFill>
                          <a:schemeClr val="tx1"/>
                        </a:solidFill>
                      </a:rPr>
                      <a:t>APE 56.1M</a:t>
                    </a:r>
                    <a:r>
                      <a:rPr lang="en-US" altLang="zh-CN">
                        <a:solidFill>
                          <a:schemeClr val="tx1"/>
                        </a:solidFill>
                      </a:rPr>
                      <a:t> </a:t>
                    </a:r>
                    <a:r>
                      <a:rPr>
                        <a:solidFill>
                          <a:schemeClr val="tx1"/>
                        </a:solidFill>
                      </a:rPr>
                      <a:t>/ 1</a:t>
                    </a:r>
                    <a:r>
                      <a:rPr lang="en-US" altLang="zh-CN">
                        <a:solidFill>
                          <a:schemeClr val="tx1"/>
                        </a:solidFill>
                      </a:rPr>
                      <a:t>07</a:t>
                    </a:r>
                    <a:r>
                      <a:rPr altLang="en-US">
                        <a:solidFill>
                          <a:schemeClr val="tx1"/>
                        </a:solidFill>
                      </a:rPr>
                      <a:t>件</a:t>
                    </a:r>
                    <a:endParaRPr altLang="en-US">
                      <a:solidFill>
                        <a:schemeClr val="tx1"/>
                      </a:solidFill>
                    </a:endParaRP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369482145210173"/>
                      <c:h val="0.209669920966992"/>
                    </c:manualLayout>
                  </c15:layout>
                </c:ext>
              </c:extLst>
            </c:dLbl>
            <c:dLbl>
              <c:idx val="2"/>
              <c:layout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900" b="1" i="0" u="none" strike="noStrike" kern="1200" baseline="0">
                        <a:solidFill>
                          <a:schemeClr val="tx1"/>
                        </a:solid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>
                        <a:solidFill>
                          <a:schemeClr val="tx1"/>
                        </a:solidFill>
                      </a:rPr>
                      <a:t>APE </a:t>
                    </a:r>
                    <a:r>
                      <a:rPr lang="en-US" altLang="zh-CN">
                        <a:solidFill>
                          <a:schemeClr val="tx1"/>
                        </a:solidFill>
                      </a:rPr>
                      <a:t>80</a:t>
                    </a:r>
                    <a:r>
                      <a:rPr>
                        <a:solidFill>
                          <a:schemeClr val="tx1"/>
                        </a:solidFill>
                      </a:rPr>
                      <a:t>.0M / 1</a:t>
                    </a:r>
                    <a:r>
                      <a:rPr lang="en-US" altLang="zh-CN">
                        <a:solidFill>
                          <a:schemeClr val="tx1"/>
                        </a:solidFill>
                      </a:rPr>
                      <a:t>99</a:t>
                    </a:r>
                    <a:r>
                      <a:rPr>
                        <a:solidFill>
                          <a:schemeClr val="tx1"/>
                        </a:solidFill>
                      </a:rPr>
                      <a:t>件</a:t>
                    </a:r>
                    <a:endParaRPr>
                      <a:solidFill>
                        <a:schemeClr val="tx1"/>
                      </a:solidFill>
                    </a:endParaRP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72291083566573"/>
                      <c:h val="0.235181644359465"/>
                    </c:manualLayout>
                  </c15:layout>
                </c:ext>
              </c:extLst>
            </c:dLbl>
            <c:dLbl>
              <c:idx val="3"/>
              <c:layout>
                <c:manualLayout>
                  <c:x val="0"/>
                  <c:y val="0.00764818355640535"/>
                </c:manualLayout>
              </c:layout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900" b="1" i="0" u="none" strike="noStrike" kern="1200" baseline="0">
                        <a:solidFill>
                          <a:schemeClr val="tx1"/>
                        </a:solid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>
                        <a:solidFill>
                          <a:schemeClr val="tx1"/>
                        </a:solidFill>
                      </a:rPr>
                      <a:t>APE 0.8M</a:t>
                    </a:r>
                    <a:r>
                      <a:rPr lang="en-US" altLang="zh-CN">
                        <a:solidFill>
                          <a:schemeClr val="tx1"/>
                        </a:solidFill>
                      </a:rPr>
                      <a:t>/6</a:t>
                    </a:r>
                    <a:r>
                      <a:rPr altLang="en-US">
                        <a:solidFill>
                          <a:schemeClr val="tx1"/>
                        </a:solidFill>
                      </a:rPr>
                      <a:t>件</a:t>
                    </a:r>
                    <a:endParaRPr altLang="en-US">
                      <a:solidFill>
                        <a:schemeClr val="tx1"/>
                      </a:solidFill>
                    </a:endParaRP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numFmt formatCode="&quot;APE &quot;#,##0.0&quot;M&quot;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900" b="1" i="0" u="none" strike="noStrike" kern="1200" baseline="0">
                    <a:solidFill>
                      <a:schemeClr val="tx1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Sheet1!$A$2:$A$4</c:f>
              <c:strCache>
                <c:ptCount val="4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4"/>
                <c:pt idx="0">
                  <c:v>53.9</c:v>
                </c:pt>
                <c:pt idx="1">
                  <c:v>56.1</c:v>
                </c:pt>
                <c:pt idx="2">
                  <c:v>80</c:v>
                </c:pt>
                <c:pt idx="3">
                  <c:v>0.8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60"/>
        <c:overlap val="100"/>
        <c:axId val="2094734601"/>
        <c:axId val="2094734602"/>
      </c:barChart>
      <c:catAx>
        <c:axId val="2094734601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0" spcFirstLastPara="0" vertOverflow="ellipsis" vert="horz" wrap="square" anchor="ctr" anchorCtr="1"/>
          <a:lstStyle/>
          <a:p>
            <a:pPr>
              <a:defRPr lang="zh-CN" sz="1100" b="1" i="0" u="none" strike="noStrike" kern="1200" baseline="0">
                <a:solidFill>
                  <a:srgbClr val="1A1A2E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602"/>
        <c:crosses val="autoZero"/>
        <c:auto val="1"/>
        <c:lblAlgn val="ctr"/>
        <c:lblOffset val="100"/>
        <c:noMultiLvlLbl val="1"/>
      </c:catAx>
      <c:valAx>
        <c:axId val="2094734602"/>
        <c:scaling>
          <c:orientation val="minMax"/>
        </c:scaling>
        <c:delete val="0"/>
        <c:axPos val="b"/>
        <c:majorGridlines>
          <c:spPr>
            <a:ln w="6350" cap="flat" cmpd="sng" algn="ctr">
              <a:solidFill>
                <a:srgbClr val="E8ECF0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rgbClr val="6B7280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601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gap"/>
    <c:showDLblsOverMax val="0"/>
    <c:extLst>
      <c:ext uri="{0b15fc19-7d7d-44ad-8c2d-2c3a37ce22c3}">
        <chartProps xmlns="https://web.wps.cn/et/2018/main" chartId="{15251b26-8693-4ab6-8b63-0920fe5d4775}"/>
      </c:ext>
    </c:extLst>
  </c:chart>
  <c:spPr>
    <a:solidFill>
      <a:srgbClr val="FFFFFF"/>
    </a:solidFill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签单 APE(M)</c:v>
                </c:pt>
              </c:strCache>
            </c:strRef>
          </c:tx>
          <c:spPr>
            <a:solidFill>
              <a:srgbClr val="C8890A"/>
            </a:solidFill>
            <a:effectLst/>
          </c:spPr>
          <c:invertIfNegative val="0"/>
          <c:dLbls>
            <c:dLbl>
              <c:idx val="0"/>
              <c:layout>
                <c:manualLayout>
                  <c:x val="0.00618828176431863"/>
                  <c:y val="0"/>
                </c:manualLayout>
              </c:layout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900" b="1" i="0" u="none" strike="noStrike" kern="1200" baseline="0">
                        <a:solidFill>
                          <a:schemeClr val="tx1"/>
                        </a:solid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>
                        <a:solidFill>
                          <a:schemeClr val="tx1"/>
                        </a:solidFill>
                      </a:rPr>
                      <a:t>APE 47.9M / 11</a:t>
                    </a:r>
                    <a:r>
                      <a:rPr lang="en-US" altLang="zh-CN">
                        <a:solidFill>
                          <a:schemeClr val="tx1"/>
                        </a:solidFill>
                      </a:rPr>
                      <a:t>5</a:t>
                    </a:r>
                    <a:r>
                      <a:rPr>
                        <a:solidFill>
                          <a:schemeClr val="tx1"/>
                        </a:solidFill>
                      </a:rPr>
                      <a:t>件</a:t>
                    </a:r>
                    <a:endParaRPr>
                      <a:solidFill>
                        <a:schemeClr val="tx1"/>
                      </a:solidFill>
                    </a:endParaRP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302567478604345"/>
                      <c:h val="0.163817663817664"/>
                    </c:manualLayout>
                  </c15:layout>
                </c:ext>
              </c:extLst>
            </c:dLbl>
            <c:dLbl>
              <c:idx val="1"/>
              <c:layout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900" b="1" i="0" u="none" strike="noStrike" kern="1200" baseline="0">
                        <a:solidFill>
                          <a:schemeClr val="tx1"/>
                        </a:solid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>
                        <a:solidFill>
                          <a:schemeClr val="tx1"/>
                        </a:solidFill>
                      </a:rPr>
                      <a:t>APE 60.8M / 11</a:t>
                    </a:r>
                    <a:r>
                      <a:rPr lang="en-US" altLang="zh-CN">
                        <a:solidFill>
                          <a:schemeClr val="tx1"/>
                        </a:solidFill>
                      </a:rPr>
                      <a:t>8</a:t>
                    </a:r>
                    <a:r>
                      <a:rPr>
                        <a:solidFill>
                          <a:schemeClr val="tx1"/>
                        </a:solidFill>
                      </a:rPr>
                      <a:t>件</a:t>
                    </a:r>
                    <a:endParaRPr>
                      <a:solidFill>
                        <a:schemeClr val="tx1"/>
                      </a:solidFill>
                    </a:endParaRP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62541145490454"/>
                      <c:h val="0.233618233618234"/>
                    </c:manualLayout>
                  </c15:layout>
                </c:ext>
              </c:extLst>
            </c:dLbl>
            <c:dLbl>
              <c:idx val="2"/>
              <c:layout>
                <c:manualLayout>
                  <c:x val="0"/>
                  <c:y val="-0.00699300699300699"/>
                </c:manualLayout>
              </c:layout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900" b="1" i="0" u="none" strike="noStrike" kern="1200" baseline="0">
                        <a:solidFill>
                          <a:schemeClr val="tx1"/>
                        </a:solid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>
                        <a:solidFill>
                          <a:schemeClr val="tx1"/>
                        </a:solidFill>
                      </a:rPr>
                      <a:t>APE </a:t>
                    </a:r>
                    <a:r>
                      <a:rPr lang="en-US" altLang="zh-CN">
                        <a:solidFill>
                          <a:schemeClr val="tx1"/>
                        </a:solidFill>
                      </a:rPr>
                      <a:t>80</a:t>
                    </a:r>
                    <a:r>
                      <a:rPr>
                        <a:solidFill>
                          <a:schemeClr val="tx1"/>
                        </a:solidFill>
                      </a:rPr>
                      <a:t>.</a:t>
                    </a:r>
                    <a:r>
                      <a:rPr lang="en-US" altLang="zh-CN">
                        <a:solidFill>
                          <a:schemeClr val="tx1"/>
                        </a:solidFill>
                      </a:rPr>
                      <a:t>6</a:t>
                    </a:r>
                    <a:r>
                      <a:rPr>
                        <a:solidFill>
                          <a:schemeClr val="tx1"/>
                        </a:solidFill>
                      </a:rPr>
                      <a:t>M / 1</a:t>
                    </a:r>
                    <a:r>
                      <a:rPr lang="en-US" altLang="zh-CN">
                        <a:solidFill>
                          <a:schemeClr val="tx1"/>
                        </a:solidFill>
                      </a:rPr>
                      <a:t>95</a:t>
                    </a:r>
                    <a:r>
                      <a:rPr>
                        <a:solidFill>
                          <a:schemeClr val="tx1"/>
                        </a:solidFill>
                      </a:rPr>
                      <a:t>件</a:t>
                    </a:r>
                    <a:endParaRPr>
                      <a:solidFill>
                        <a:schemeClr val="tx1"/>
                      </a:solidFill>
                    </a:endParaRP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9980250164582"/>
                      <c:h val="0.336182336182336"/>
                    </c:manualLayout>
                  </c15:layout>
                </c:ext>
              </c:extLst>
            </c:dLbl>
            <c:dLbl>
              <c:idx val="3"/>
              <c:layout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900" b="1" i="0" u="none" strike="noStrike" kern="1200" baseline="0">
                        <a:solidFill>
                          <a:schemeClr val="tx1"/>
                        </a:solid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t>APE 3.1M</a:t>
                    </a:r>
                    <a:r>
                      <a:rPr lang="en-US" altLang="zh-CN"/>
                      <a:t>/10</a:t>
                    </a:r>
                    <a:r>
                      <a:rPr altLang="en-US"/>
                      <a:t>件</a:t>
                    </a:r>
                    <a:endParaRPr altLang="en-US"/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numFmt formatCode="&quot;APE &quot;#,##0.0&quot;M&quot;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900" b="1" i="0" u="none" strike="noStrike" kern="1200" baseline="0">
                    <a:solidFill>
                      <a:schemeClr val="tx1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Sheet1!$A$2:$A$4</c:f>
              <c:strCache>
                <c:ptCount val="4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4"/>
                <c:pt idx="0">
                  <c:v>47.9</c:v>
                </c:pt>
                <c:pt idx="1">
                  <c:v>60.8</c:v>
                </c:pt>
                <c:pt idx="2">
                  <c:v>80.6</c:v>
                </c:pt>
                <c:pt idx="3">
                  <c:v>3.1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60"/>
        <c:overlap val="100"/>
        <c:axId val="2094734611"/>
        <c:axId val="2094734612"/>
      </c:barChart>
      <c:catAx>
        <c:axId val="2094734611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0" spcFirstLastPara="0" vertOverflow="ellipsis" vert="horz" wrap="square" anchor="ctr" anchorCtr="1"/>
          <a:lstStyle/>
          <a:p>
            <a:pPr>
              <a:defRPr lang="zh-CN" sz="1100" b="1" i="0" u="none" strike="noStrike" kern="1200" baseline="0">
                <a:solidFill>
                  <a:srgbClr val="1A1A2E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612"/>
        <c:crosses val="autoZero"/>
        <c:auto val="1"/>
        <c:lblAlgn val="ctr"/>
        <c:lblOffset val="100"/>
        <c:noMultiLvlLbl val="1"/>
      </c:catAx>
      <c:valAx>
        <c:axId val="2094734612"/>
        <c:scaling>
          <c:orientation val="minMax"/>
        </c:scaling>
        <c:delete val="0"/>
        <c:axPos val="b"/>
        <c:majorGridlines>
          <c:spPr>
            <a:ln w="6350" cap="flat" cmpd="sng" algn="ctr">
              <a:solidFill>
                <a:srgbClr val="E8ECF0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rgbClr val="6B7280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611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gap"/>
    <c:showDLblsOverMax val="0"/>
    <c:extLst>
      <c:ext uri="{0b15fc19-7d7d-44ad-8c2d-2c3a37ce22c3}">
        <chartProps xmlns="https://web.wps.cn/et/2018/main" chartId="{90dec645-e600-4d9a-8260-22cba13a246f}"/>
      </c:ext>
    </c:extLst>
  </c:chart>
  <c:spPr>
    <a:solidFill>
      <a:srgbClr val="FFFFFF"/>
    </a:solidFill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批核 APE(M)</c:v>
                </c:pt>
              </c:strCache>
            </c:strRef>
          </c:tx>
          <c:spPr>
            <a:solidFill>
              <a:srgbClr val="1A6B3A"/>
            </a:solidFill>
            <a:effectLst/>
          </c:spPr>
          <c:invertIfNegative val="0"/>
          <c:dLbls>
            <c:dLbl>
              <c:idx val="0"/>
              <c:layout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900" b="1" i="0" u="none" strike="noStrike" kern="1200" baseline="0">
                        <a:solidFill>
                          <a:schemeClr val="tx1"/>
                        </a:solid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>
                        <a:solidFill>
                          <a:schemeClr val="tx1"/>
                        </a:solidFill>
                      </a:rPr>
                      <a:t>APE 116.8M /</a:t>
                    </a:r>
                    <a:r>
                      <a:rPr lang="en-US" altLang="zh-CN">
                        <a:solidFill>
                          <a:schemeClr val="tx1"/>
                        </a:solidFill>
                      </a:rPr>
                      <a:t> 99</a:t>
                    </a:r>
                    <a:r>
                      <a:rPr>
                        <a:solidFill>
                          <a:schemeClr val="tx1"/>
                        </a:solidFill>
                      </a:rPr>
                      <a:t>件</a:t>
                    </a:r>
                    <a:endParaRPr>
                      <a:solidFill>
                        <a:schemeClr val="tx1"/>
                      </a:solidFill>
                    </a:endParaRP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97724485624745"/>
                      <c:h val="0.226970560303894"/>
                    </c:manualLayout>
                  </c15:layout>
                </c:ext>
              </c:extLst>
            </c:dLbl>
            <c:dLbl>
              <c:idx val="1"/>
              <c:layout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900" b="1" i="0" u="none" strike="noStrike" kern="1200" baseline="0">
                        <a:solidFill>
                          <a:schemeClr val="tx1"/>
                        </a:solid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>
                        <a:solidFill>
                          <a:schemeClr val="tx1"/>
                        </a:solidFill>
                      </a:rPr>
                      <a:t>APE 143.7M / </a:t>
                    </a:r>
                    <a:r>
                      <a:rPr lang="en-US" altLang="zh-CN">
                        <a:solidFill>
                          <a:schemeClr val="tx1"/>
                        </a:solidFill>
                      </a:rPr>
                      <a:t>180</a:t>
                    </a:r>
                    <a:r>
                      <a:rPr>
                        <a:solidFill>
                          <a:schemeClr val="tx1"/>
                        </a:solidFill>
                      </a:rPr>
                      <a:t>件</a:t>
                    </a:r>
                    <a:endParaRPr>
                      <a:solidFill>
                        <a:schemeClr val="tx1"/>
                      </a:solidFill>
                    </a:endParaRP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79465867284371"/>
                      <c:h val="0.336182336182336"/>
                    </c:manualLayout>
                  </c15:layout>
                </c:ext>
              </c:extLst>
            </c:dLbl>
            <c:dLbl>
              <c:idx val="2"/>
              <c:layout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900" b="1" i="0" u="none" strike="noStrike" kern="1200" baseline="0">
                        <a:solidFill>
                          <a:schemeClr val="tx1"/>
                        </a:solid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>
                        <a:solidFill>
                          <a:schemeClr val="tx1"/>
                        </a:solidFill>
                      </a:rPr>
                      <a:t>APE </a:t>
                    </a:r>
                    <a:r>
                      <a:rPr lang="en-US" altLang="zh-CN">
                        <a:solidFill>
                          <a:schemeClr val="tx1"/>
                        </a:solidFill>
                      </a:rPr>
                      <a:t>85</a:t>
                    </a:r>
                    <a:r>
                      <a:rPr>
                        <a:solidFill>
                          <a:schemeClr val="tx1"/>
                        </a:solidFill>
                      </a:rPr>
                      <a:t>.</a:t>
                    </a:r>
                    <a:r>
                      <a:rPr lang="en-US" altLang="zh-CN">
                        <a:solidFill>
                          <a:schemeClr val="tx1"/>
                        </a:solidFill>
                      </a:rPr>
                      <a:t>9</a:t>
                    </a:r>
                    <a:r>
                      <a:rPr>
                        <a:solidFill>
                          <a:schemeClr val="tx1"/>
                        </a:solidFill>
                      </a:rPr>
                      <a:t>M / 1</a:t>
                    </a:r>
                    <a:r>
                      <a:rPr lang="en-US" altLang="zh-CN">
                        <a:solidFill>
                          <a:schemeClr val="tx1"/>
                        </a:solidFill>
                      </a:rPr>
                      <a:t>39</a:t>
                    </a:r>
                    <a:r>
                      <a:rPr>
                        <a:solidFill>
                          <a:schemeClr val="tx1"/>
                        </a:solidFill>
                      </a:rPr>
                      <a:t>件</a:t>
                    </a:r>
                    <a:endParaRPr>
                      <a:solidFill>
                        <a:schemeClr val="tx1"/>
                      </a:solidFill>
                    </a:endParaRP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92546668483445"/>
                      <c:h val="0.336182336182336"/>
                    </c:manualLayout>
                  </c15:layout>
                </c:ext>
              </c:extLst>
            </c:dLbl>
            <c:dLbl>
              <c:idx val="3"/>
              <c:layout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900" b="1" i="0" u="none" strike="noStrike" kern="1200" baseline="0">
                        <a:solidFill>
                          <a:schemeClr val="tx1"/>
                        </a:solid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t>APE 4.1M</a:t>
                    </a:r>
                    <a:r>
                      <a:rPr lang="en-US" altLang="zh-CN"/>
                      <a:t>/11</a:t>
                    </a:r>
                    <a:r>
                      <a:rPr altLang="en-US"/>
                      <a:t>件</a:t>
                    </a:r>
                    <a:endParaRPr altLang="en-US"/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numFmt formatCode="&quot;APE &quot;#,##0.0&quot;M&quot;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900" b="1" i="0" u="none" strike="noStrike" kern="1200" baseline="0">
                    <a:solidFill>
                      <a:schemeClr val="tx1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Sheet1!$A$2:$A$4</c:f>
              <c:strCache>
                <c:ptCount val="4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4"/>
                <c:pt idx="0">
                  <c:v>116.8</c:v>
                </c:pt>
                <c:pt idx="1">
                  <c:v>143.7</c:v>
                </c:pt>
                <c:pt idx="2">
                  <c:v>85.9</c:v>
                </c:pt>
                <c:pt idx="3">
                  <c:v>4.1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60"/>
        <c:overlap val="100"/>
        <c:axId val="2094734621"/>
        <c:axId val="2094734622"/>
      </c:barChart>
      <c:catAx>
        <c:axId val="2094734621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0" spcFirstLastPara="0" vertOverflow="ellipsis" vert="horz" wrap="square" anchor="ctr" anchorCtr="1"/>
          <a:lstStyle/>
          <a:p>
            <a:pPr>
              <a:defRPr lang="zh-CN" sz="1100" b="1" i="0" u="none" strike="noStrike" kern="1200" baseline="0">
                <a:solidFill>
                  <a:srgbClr val="1A1A2E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622"/>
        <c:crosses val="autoZero"/>
        <c:auto val="1"/>
        <c:lblAlgn val="ctr"/>
        <c:lblOffset val="100"/>
        <c:noMultiLvlLbl val="1"/>
      </c:catAx>
      <c:valAx>
        <c:axId val="2094734622"/>
        <c:scaling>
          <c:orientation val="minMax"/>
        </c:scaling>
        <c:delete val="0"/>
        <c:axPos val="b"/>
        <c:majorGridlines>
          <c:spPr>
            <a:ln w="6350" cap="flat" cmpd="sng" algn="ctr">
              <a:solidFill>
                <a:srgbClr val="E8ECF0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rgbClr val="6B7280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621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gap"/>
    <c:showDLblsOverMax val="0"/>
    <c:extLst>
      <c:ext uri="{0b15fc19-7d7d-44ad-8c2d-2c3a37ce22c3}">
        <chartProps xmlns="https://web.wps.cn/et/2018/main" chartId="{f5dc3024-979f-4d4f-afef-84b7f5517ea5}"/>
      </c:ext>
    </c:extLst>
  </c:chart>
  <c:spPr>
    <a:solidFill>
      <a:srgbClr val="FFFFFF"/>
    </a:solidFill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none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预约 APE(M)</c:v>
                </c:pt>
              </c:strCache>
            </c:strRef>
          </c:tx>
          <c:spPr>
            <a:ln w="31750" cap="flat" cmpd="sng" algn="ctr">
              <a:solidFill>
                <a:srgbClr val="2E86C1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E86C1"/>
              </a:solidFill>
              <a:ln w="9525" cap="flat" cmpd="sng" algn="ctr">
                <a:solidFill>
                  <a:srgbClr val="2E86C1"/>
                </a:solidFill>
                <a:prstDash val="solid"/>
                <a:round/>
              </a:ln>
              <a:effectLst/>
            </c:spPr>
          </c:marker>
          <c:dLbls>
            <c:dLbl>
              <c:idx val="1"/>
              <c:layout>
                <c:manualLayout>
                  <c:x val="-0.0363401035444046"/>
                  <c:y val="-0.0634057971014493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rgbClr val="1A1A2E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Sheet1!$A$2:$A$5</c:f>
              <c:strCache>
                <c:ptCount val="4"/>
                <c:pt idx="0">
                  <c:v>26-Jan</c:v>
                </c:pt>
                <c:pt idx="1">
                  <c:v>26-Feb</c:v>
                </c:pt>
                <c:pt idx="2">
                  <c:v>26-Mar</c:v>
                </c:pt>
                <c:pt idx="3" c:formatCode="d/mmm">
                  <c:v>26-Apr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44.6</c:v>
                </c:pt>
                <c:pt idx="1">
                  <c:v>35</c:v>
                </c:pt>
                <c:pt idx="2">
                  <c:v>75.4</c:v>
                </c:pt>
                <c:pt idx="3">
                  <c:v>0.7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签单 APE(M)</c:v>
                </c:pt>
              </c:strCache>
            </c:strRef>
          </c:tx>
          <c:spPr>
            <a:ln w="31750" cap="flat" cmpd="sng" algn="ctr">
              <a:solidFill>
                <a:srgbClr val="00796B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0796B"/>
              </a:solidFill>
              <a:ln w="9525" cap="flat" cmpd="sng" algn="ctr">
                <a:solidFill>
                  <a:srgbClr val="00796B"/>
                </a:solidFill>
                <a:prstDash val="solid"/>
                <a:round/>
              </a:ln>
              <a:effectLst/>
            </c:spPr>
          </c:marker>
          <c:dLbls>
            <c:dLbl>
              <c:idx val="0"/>
              <c:layout>
                <c:manualLayout>
                  <c:x val="0"/>
                  <c:y val="0.0582729468599034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1"/>
              <c:layout>
                <c:manualLayout>
                  <c:x val="0.00597371565113501"/>
                  <c:y val="0.053743961352657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2"/>
              <c:layout>
                <c:manualLayout>
                  <c:x val="-0.0181700517722023"/>
                  <c:y val="0.0389492753623188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3"/>
              <c:layout>
                <c:manualLayout>
                  <c:x val="-0.0152706552706553"/>
                  <c:y val="0.00456204379562044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rgbClr val="1A1A2E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Sheet1!$A$2:$A$5</c:f>
              <c:strCache>
                <c:ptCount val="4"/>
                <c:pt idx="0">
                  <c:v>26-Jan</c:v>
                </c:pt>
                <c:pt idx="1">
                  <c:v>26-Feb</c:v>
                </c:pt>
                <c:pt idx="2">
                  <c:v>26-Mar</c:v>
                </c:pt>
                <c:pt idx="3" c:formatCode="d/mmm">
                  <c:v>26-Apr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38.8</c:v>
                </c:pt>
                <c:pt idx="1">
                  <c:v>39.4</c:v>
                </c:pt>
                <c:pt idx="2">
                  <c:v>76</c:v>
                </c:pt>
                <c:pt idx="3">
                  <c:v>3</c:v>
                </c:pt>
              </c:numCache>
            </c:numRef>
          </c:val>
          <c:smooth val="1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批核 APE(M)</c:v>
                </c:pt>
              </c:strCache>
            </c:strRef>
          </c:tx>
          <c:spPr>
            <a:ln w="31750" cap="flat" cmpd="sng" algn="ctr">
              <a:solidFill>
                <a:srgbClr val="1F3864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1F3864"/>
              </a:solidFill>
              <a:ln w="9525" cap="flat" cmpd="sng" algn="ctr">
                <a:solidFill>
                  <a:srgbClr val="1F3864"/>
                </a:solidFill>
                <a:prstDash val="solid"/>
                <a:round/>
              </a:ln>
              <a:effectLst/>
            </c:spPr>
          </c:marker>
          <c:dLbls>
            <c:dLbl>
              <c:idx val="1"/>
              <c:layout>
                <c:manualLayout>
                  <c:x val="-0.016178813221824"/>
                  <c:y val="-0.0392512077294686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2"/>
              <c:layout>
                <c:manualLayout>
                  <c:x val="-0.0222769812823576"/>
                  <c:y val="-0.0489130434782609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3"/>
              <c:layout>
                <c:manualLayout>
                  <c:x val="0.00170940170940171"/>
                  <c:y val="-0.0541362530413625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rgbClr val="1A1A2E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Sheet1!$A$2:$A$5</c:f>
              <c:strCache>
                <c:ptCount val="4"/>
                <c:pt idx="0">
                  <c:v>26-Jan</c:v>
                </c:pt>
                <c:pt idx="1">
                  <c:v>26-Feb</c:v>
                </c:pt>
                <c:pt idx="2">
                  <c:v>26-Mar</c:v>
                </c:pt>
                <c:pt idx="3" c:formatCode="d/mmm">
                  <c:v>26-Apr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86.2</c:v>
                </c:pt>
                <c:pt idx="1">
                  <c:v>124.1</c:v>
                </c:pt>
                <c:pt idx="2">
                  <c:v>82.63</c:v>
                </c:pt>
                <c:pt idx="3">
                  <c:v>4</c:v>
                </c:pt>
              </c:numCache>
            </c:numRef>
          </c:val>
          <c:smooth val="1"/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1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100" b="0" i="0" u="none" strike="noStrike" kern="1200" baseline="0">
                <a:solidFill>
                  <a:srgbClr val="374151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65"/>
        </c:scaling>
        <c:delete val="0"/>
        <c:axPos val="l"/>
        <c:majorGridlines>
          <c:spPr>
            <a:ln w="6350" cap="flat" cmpd="sng" algn="ctr">
              <a:solidFill>
                <a:srgbClr val="E8EC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rgbClr val="6B7280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legend>
      <c:legendPos val="t"/>
      <c:layout/>
      <c:overlay val="0"/>
      <c:txPr>
        <a:bodyPr rot="0" spcFirstLastPara="0" vertOverflow="ellipsis" vert="horz" wrap="square" anchor="ctr" anchorCtr="1"/>
        <a:lstStyle/>
        <a:p>
          <a:pPr>
            <a:defRPr lang="zh-CN" sz="95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span"/>
    <c:showDLblsOverMax val="0"/>
    <c:extLst>
      <c:ext uri="{0b15fc19-7d7d-44ad-8c2d-2c3a37ce22c3}">
        <chartProps xmlns="https://web.wps.cn/et/2018/main" chartId="{d0b552af-4141-4fc5-9f8d-3ff1cddacd4b}"/>
      </c:ext>
    </c:extLst>
  </c:chart>
  <c:spPr>
    <a:solidFill>
      <a:srgbClr val="FFFFFF"/>
    </a:solidFill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08"/>
          <c:y val="0.04"/>
          <c:w val="0.88"/>
          <c:h val="0.88"/>
        </c:manualLayout>
      </c:layout>
      <c:lineChart>
        <c:grouping val="standard"/>
        <c:varyColors val="0"/>
        <c:ser>
          <c:idx val="0"/>
          <c:order val="0"/>
          <c:tx>
            <c:strRef>
              <c:f>Sheet1!$A$1</c:f>
              <c:strCache>
                <c:ptCount val="1"/>
                <c:pt idx="0">
                  <c:v>预约</c:v>
                </c:pt>
              </c:strCache>
            </c:strRef>
          </c:tx>
          <c:spPr>
            <a:ln w="22225" cap="rnd" cmpd="sng" algn="ctr">
              <a:solidFill>
                <a:srgbClr val="2980B9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2980B9"/>
              </a:solidFill>
              <a:ln w="9525" cap="flat" cmpd="sng" algn="ctr">
                <a:solidFill>
                  <a:srgbClr val="2980B9"/>
                </a:solidFill>
                <a:prstDash val="solid"/>
                <a:round/>
              </a:ln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Sheet1!$B$1:$D$1</c:f>
              <c:strCache>
                <c:ptCount val="4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</c:strCache>
            </c:strRef>
          </c:cat>
          <c:val>
            <c:numRef>
              <c:f>Sheet1!$B2:$D2</c:f>
              <c:numCache>
                <c:formatCode>0.0</c:formatCode>
                <c:ptCount val="4"/>
                <c:pt idx="0">
                  <c:v>6.804</c:v>
                </c:pt>
                <c:pt idx="1">
                  <c:v>10.355</c:v>
                </c:pt>
                <c:pt idx="2">
                  <c:v>11.974</c:v>
                </c:pt>
                <c:pt idx="3">
                  <c:v>0.66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Sheet1!$A$1</c:f>
              <c:strCache>
                <c:ptCount val="1"/>
                <c:pt idx="0">
                  <c:v>签单</c:v>
                </c:pt>
              </c:strCache>
            </c:strRef>
          </c:tx>
          <c:spPr>
            <a:ln w="22225" cap="rnd" cmpd="sng" algn="ctr">
              <a:solidFill>
                <a:srgbClr val="1A7A3F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1A7A3F"/>
              </a:solidFill>
              <a:ln w="9525" cap="flat" cmpd="sng" algn="ctr">
                <a:solidFill>
                  <a:srgbClr val="1A7A3F"/>
                </a:solidFill>
                <a:prstDash val="solid"/>
                <a:round/>
              </a:ln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Sheet1!$B$1:$D$1</c:f>
              <c:strCache>
                <c:ptCount val="4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</c:strCache>
            </c:strRef>
          </c:cat>
          <c:val>
            <c:numRef>
              <c:f>Sheet1!$B3:$D3</c:f>
              <c:numCache>
                <c:formatCode>0.0</c:formatCode>
                <c:ptCount val="4"/>
                <c:pt idx="0">
                  <c:v>4.958</c:v>
                </c:pt>
                <c:pt idx="1">
                  <c:v>12.123</c:v>
                </c:pt>
                <c:pt idx="2">
                  <c:v>7.09</c:v>
                </c:pt>
                <c:pt idx="3">
                  <c:v>0.66</c:v>
                </c:pt>
              </c:numCache>
            </c:numRef>
          </c:val>
          <c:smooth val="1"/>
        </c:ser>
        <c:ser>
          <c:idx val="2"/>
          <c:order val="2"/>
          <c:tx>
            <c:strRef>
              <c:f>Sheet1!$A$1</c:f>
              <c:strCache>
                <c:ptCount val="1"/>
                <c:pt idx="0">
                  <c:v>批核</c:v>
                </c:pt>
              </c:strCache>
            </c:strRef>
          </c:tx>
          <c:spPr>
            <a:ln w="22225" cap="rnd" cmpd="sng" algn="ctr">
              <a:solidFill>
                <a:srgbClr val="C0392B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C0392B"/>
              </a:solidFill>
              <a:ln w="9525" cap="flat" cmpd="sng" algn="ctr">
                <a:solidFill>
                  <a:srgbClr val="C0392B"/>
                </a:solidFill>
                <a:prstDash val="solid"/>
                <a:round/>
              </a:ln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Sheet1!$B$1:$D$1</c:f>
              <c:strCache>
                <c:ptCount val="4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</c:strCache>
            </c:strRef>
          </c:cat>
          <c:val>
            <c:numRef>
              <c:f>Sheet1!$B4:$D4</c:f>
              <c:numCache>
                <c:formatCode>0.0</c:formatCode>
                <c:ptCount val="4"/>
                <c:pt idx="0">
                  <c:v>6.762</c:v>
                </c:pt>
                <c:pt idx="1">
                  <c:v>10.518</c:v>
                </c:pt>
                <c:pt idx="2">
                  <c:v>5.652</c:v>
                </c:pt>
                <c:pt idx="3">
                  <c:v>0.08</c:v>
                </c:pt>
              </c:numCache>
            </c:numRef>
          </c:val>
          <c:smooth val="1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1"/>
        <c:axId val="82282501"/>
        <c:axId val="82282502"/>
      </c:lineChart>
      <c:catAx>
        <c:axId val="82282501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 w="9525" cap="flat" cmpd="sng" algn="ctr">
            <a:solidFill>
              <a:srgbClr val="D0D8E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850" b="1" i="0" u="none" strike="noStrike" kern="1200" baseline="0">
                <a:solidFill>
                  <a:srgbClr val="374151"/>
                </a:solidFill>
                <a:latin typeface="Calibri" panose="020F0502020204030204"/>
                <a:ea typeface="+mn-ea"/>
                <a:cs typeface="+mn-cs"/>
              </a:defRPr>
            </a:pPr>
          </a:p>
        </c:txPr>
        <c:crossAx val="82282502"/>
        <c:crosses val="autoZero"/>
        <c:auto val="1"/>
        <c:lblAlgn val="ctr"/>
        <c:lblOffset val="100"/>
        <c:noMultiLvlLbl val="1"/>
      </c:catAx>
      <c:valAx>
        <c:axId val="82282502"/>
        <c:scaling>
          <c:orientation val="minMax"/>
        </c:scaling>
        <c:delete val="0"/>
        <c:axPos val="l"/>
        <c:majorGridlines>
          <c:spPr>
            <a:ln w="6350" cap="flat" cmpd="sng" algn="ctr">
              <a:solidFill>
                <a:srgbClr val="E8ECF0"/>
              </a:solidFill>
              <a:prstDash val="solid"/>
              <a:round/>
            </a:ln>
          </c:spPr>
        </c:majorGridlines>
        <c:numFmt formatCode="0" sourceLinked="0"/>
        <c:majorTickMark val="none"/>
        <c:minorTickMark val="none"/>
        <c:tickLblPos val="nextTo"/>
        <c:spPr>
          <a:ln w="9525" cap="flat" cmpd="sng" algn="ctr">
            <a:solidFill>
              <a:srgbClr val="D0D8E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700" b="0" i="0" u="none" strike="noStrike" kern="1200" baseline="0">
                <a:solidFill>
                  <a:srgbClr val="94A3B8"/>
                </a:solidFill>
                <a:latin typeface="Calibri" panose="020F0502020204030204"/>
                <a:ea typeface="+mn-ea"/>
                <a:cs typeface="+mn-cs"/>
              </a:defRPr>
            </a:pPr>
          </a:p>
        </c:txPr>
        <c:crossAx val="82282501"/>
        <c:crosses val="autoZero"/>
        <c:crossBetween val="between"/>
      </c:valAx>
      <c:spPr>
        <a:solidFill>
          <a:srgbClr val="FFFFFF"/>
        </a:solidFill>
        <a:ln>
          <a:noFill/>
        </a:ln>
      </c:spPr>
    </c:plotArea>
    <c:plotVisOnly val="1"/>
    <c:dispBlanksAs val="gap"/>
    <c:showDLblsOverMax val="0"/>
    <c:extLst>
      <c:ext uri="{0b15fc19-7d7d-44ad-8c2d-2c3a37ce22c3}">
        <chartProps xmlns="https://web.wps.cn/et/2018/main" chartId="{3c43087c-415b-4fc4-a17e-53adbba72ec9}"/>
      </c:ext>
    </c:extLst>
  </c:chart>
  <c:spPr>
    <a:solidFill>
      <a:srgbClr val="FFFFFF"/>
    </a:solidFill>
    <a:ln>
      <a:noFill/>
    </a:ln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08"/>
          <c:y val="0.04"/>
          <c:w val="0.88"/>
          <c:h val="0.88"/>
        </c:manualLayout>
      </c:layout>
      <c:lineChart>
        <c:grouping val="standard"/>
        <c:varyColors val="0"/>
        <c:ser>
          <c:idx val="0"/>
          <c:order val="0"/>
          <c:tx>
            <c:strRef>
              <c:f>Sheet1!$A$1</c:f>
              <c:strCache>
                <c:ptCount val="1"/>
                <c:pt idx="0">
                  <c:v>预约</c:v>
                </c:pt>
              </c:strCache>
            </c:strRef>
          </c:tx>
          <c:spPr>
            <a:ln w="22225" cap="rnd" cmpd="sng" algn="ctr">
              <a:solidFill>
                <a:srgbClr val="2980B9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2980B9"/>
              </a:solidFill>
              <a:ln w="9525" cap="flat" cmpd="sng" algn="ctr">
                <a:solidFill>
                  <a:srgbClr val="2980B9"/>
                </a:solidFill>
                <a:prstDash val="solid"/>
                <a:round/>
              </a:ln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Sheet1!$B$1:$D$1</c:f>
              <c:strCache>
                <c:ptCount val="4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</c:strCache>
            </c:strRef>
          </c:cat>
          <c:val>
            <c:numRef>
              <c:f>Sheet1!$B2:$D2</c:f>
              <c:numCache>
                <c:formatCode>0.0</c:formatCode>
                <c:ptCount val="4"/>
                <c:pt idx="0">
                  <c:v>1.023</c:v>
                </c:pt>
                <c:pt idx="1">
                  <c:v>0.39</c:v>
                </c:pt>
                <c:pt idx="2">
                  <c:v>0.819</c:v>
                </c:pt>
                <c:pt idx="3">
                  <c:v>0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Sheet1!$A$1</c:f>
              <c:strCache>
                <c:ptCount val="1"/>
                <c:pt idx="0">
                  <c:v>签单</c:v>
                </c:pt>
              </c:strCache>
            </c:strRef>
          </c:tx>
          <c:spPr>
            <a:ln w="22225" cap="rnd" cmpd="sng" algn="ctr">
              <a:solidFill>
                <a:srgbClr val="1A7A3F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1A7A3F"/>
              </a:solidFill>
              <a:ln w="9525" cap="flat" cmpd="sng" algn="ctr">
                <a:solidFill>
                  <a:srgbClr val="1A7A3F"/>
                </a:solidFill>
                <a:prstDash val="solid"/>
                <a:round/>
              </a:ln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Sheet1!$B$1:$D$1</c:f>
              <c:strCache>
                <c:ptCount val="4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</c:strCache>
            </c:strRef>
          </c:cat>
          <c:val>
            <c:numRef>
              <c:f>Sheet1!$B3:$D3</c:f>
              <c:numCache>
                <c:formatCode>0.0</c:formatCode>
                <c:ptCount val="4"/>
                <c:pt idx="0">
                  <c:v>1.023</c:v>
                </c:pt>
                <c:pt idx="1">
                  <c:v>0.39</c:v>
                </c:pt>
                <c:pt idx="2">
                  <c:v>0.234</c:v>
                </c:pt>
                <c:pt idx="3">
                  <c:v>0</c:v>
                </c:pt>
              </c:numCache>
            </c:numRef>
          </c:val>
          <c:smooth val="1"/>
        </c:ser>
        <c:ser>
          <c:idx val="2"/>
          <c:order val="2"/>
          <c:tx>
            <c:strRef>
              <c:f>Sheet1!$A$1</c:f>
              <c:strCache>
                <c:ptCount val="1"/>
                <c:pt idx="0">
                  <c:v>批核</c:v>
                </c:pt>
              </c:strCache>
            </c:strRef>
          </c:tx>
          <c:spPr>
            <a:ln w="22225" cap="rnd" cmpd="sng" algn="ctr">
              <a:solidFill>
                <a:srgbClr val="C0392B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C0392B"/>
              </a:solidFill>
              <a:ln w="9525" cap="flat" cmpd="sng" algn="ctr">
                <a:solidFill>
                  <a:srgbClr val="C0392B"/>
                </a:solidFill>
                <a:prstDash val="solid"/>
                <a:round/>
              </a:ln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Sheet1!$B$1:$D$1</c:f>
              <c:strCache>
                <c:ptCount val="4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</c:strCache>
            </c:strRef>
          </c:cat>
          <c:val>
            <c:numRef>
              <c:f>Sheet1!$B4:$D4</c:f>
              <c:numCache>
                <c:formatCode>0.0</c:formatCode>
                <c:ptCount val="4"/>
                <c:pt idx="0">
                  <c:v>1.345</c:v>
                </c:pt>
                <c:pt idx="1">
                  <c:v>0.39</c:v>
                </c:pt>
                <c:pt idx="2">
                  <c:v>0.468</c:v>
                </c:pt>
                <c:pt idx="3">
                  <c:v>0</c:v>
                </c:pt>
              </c:numCache>
            </c:numRef>
          </c:val>
          <c:smooth val="1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1"/>
        <c:axId val="82510401"/>
        <c:axId val="82510402"/>
      </c:lineChart>
      <c:catAx>
        <c:axId val="82510401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 w="9525" cap="flat" cmpd="sng" algn="ctr">
            <a:solidFill>
              <a:srgbClr val="D0D8E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850" b="1" i="0" u="none" strike="noStrike" kern="1200" baseline="0">
                <a:solidFill>
                  <a:srgbClr val="374151"/>
                </a:solidFill>
                <a:latin typeface="Calibri" panose="020F0502020204030204"/>
                <a:ea typeface="+mn-ea"/>
                <a:cs typeface="+mn-cs"/>
              </a:defRPr>
            </a:pPr>
          </a:p>
        </c:txPr>
        <c:crossAx val="82510402"/>
        <c:crosses val="autoZero"/>
        <c:auto val="1"/>
        <c:lblAlgn val="ctr"/>
        <c:lblOffset val="100"/>
        <c:noMultiLvlLbl val="1"/>
      </c:catAx>
      <c:valAx>
        <c:axId val="82510402"/>
        <c:scaling>
          <c:orientation val="minMax"/>
        </c:scaling>
        <c:delete val="0"/>
        <c:axPos val="l"/>
        <c:majorGridlines>
          <c:spPr>
            <a:ln w="6350" cap="flat" cmpd="sng" algn="ctr">
              <a:solidFill>
                <a:srgbClr val="E8ECF0"/>
              </a:solidFill>
              <a:prstDash val="solid"/>
              <a:round/>
            </a:ln>
          </c:spPr>
        </c:majorGridlines>
        <c:numFmt formatCode="0" sourceLinked="0"/>
        <c:majorTickMark val="none"/>
        <c:minorTickMark val="none"/>
        <c:tickLblPos val="nextTo"/>
        <c:spPr>
          <a:ln w="9525" cap="flat" cmpd="sng" algn="ctr">
            <a:solidFill>
              <a:srgbClr val="D0D8E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700" b="0" i="0" u="none" strike="noStrike" kern="1200" baseline="0">
                <a:solidFill>
                  <a:srgbClr val="94A3B8"/>
                </a:solidFill>
                <a:latin typeface="Calibri" panose="020F0502020204030204"/>
                <a:ea typeface="+mn-ea"/>
                <a:cs typeface="+mn-cs"/>
              </a:defRPr>
            </a:pPr>
          </a:p>
        </c:txPr>
        <c:crossAx val="82510401"/>
        <c:crosses val="autoZero"/>
        <c:crossBetween val="between"/>
      </c:valAx>
      <c:spPr>
        <a:solidFill>
          <a:srgbClr val="FFFFFF"/>
        </a:solidFill>
        <a:ln>
          <a:noFill/>
        </a:ln>
      </c:spPr>
    </c:plotArea>
    <c:plotVisOnly val="1"/>
    <c:dispBlanksAs val="gap"/>
    <c:showDLblsOverMax val="0"/>
    <c:extLst>
      <c:ext uri="{0b15fc19-7d7d-44ad-8c2d-2c3a37ce22c3}">
        <chartProps xmlns="https://web.wps.cn/et/2018/main" chartId="{e914a25b-3f80-4275-962b-bd972c75c976}"/>
      </c:ext>
    </c:extLst>
  </c:chart>
  <c:spPr>
    <a:solidFill>
      <a:srgbClr val="FFFFFF"/>
    </a:solidFill>
    <a:ln>
      <a:noFill/>
    </a:ln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08"/>
          <c:y val="0.04"/>
          <c:w val="0.88"/>
          <c:h val="0.88"/>
        </c:manualLayout>
      </c:layout>
      <c:lineChart>
        <c:grouping val="standard"/>
        <c:varyColors val="0"/>
        <c:ser>
          <c:idx val="0"/>
          <c:order val="0"/>
          <c:tx>
            <c:strRef>
              <c:f>Sheet1!$A$1</c:f>
              <c:strCache>
                <c:ptCount val="1"/>
                <c:pt idx="0">
                  <c:v>预约</c:v>
                </c:pt>
              </c:strCache>
            </c:strRef>
          </c:tx>
          <c:spPr>
            <a:ln w="22225" cap="rnd" cmpd="sng" algn="ctr">
              <a:solidFill>
                <a:srgbClr val="2980B9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2980B9"/>
              </a:solidFill>
              <a:ln w="9525" cap="flat" cmpd="sng" algn="ctr">
                <a:solidFill>
                  <a:srgbClr val="2980B9"/>
                </a:solidFill>
                <a:prstDash val="solid"/>
                <a:round/>
              </a:ln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Sheet1!$B$1:$D$1</c:f>
              <c:strCache>
                <c:ptCount val="4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</c:strCache>
            </c:strRef>
          </c:cat>
          <c:val>
            <c:numRef>
              <c:f>Sheet1!$B2:$D2</c:f>
              <c:numCache>
                <c:formatCode>0.0</c:formatCode>
                <c:ptCount val="4"/>
                <c:pt idx="0">
                  <c:v>14.252</c:v>
                </c:pt>
                <c:pt idx="1">
                  <c:v>7.363</c:v>
                </c:pt>
                <c:pt idx="2">
                  <c:v>14.82</c:v>
                </c:pt>
                <c:pt idx="3">
                  <c:v>0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Sheet1!$A$1</c:f>
              <c:strCache>
                <c:ptCount val="1"/>
                <c:pt idx="0">
                  <c:v>签单</c:v>
                </c:pt>
              </c:strCache>
            </c:strRef>
          </c:tx>
          <c:spPr>
            <a:ln w="22225" cap="rnd" cmpd="sng" algn="ctr">
              <a:solidFill>
                <a:srgbClr val="1A7A3F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1A7A3F"/>
              </a:solidFill>
              <a:ln w="9525" cap="flat" cmpd="sng" algn="ctr">
                <a:solidFill>
                  <a:srgbClr val="1A7A3F"/>
                </a:solidFill>
                <a:prstDash val="solid"/>
                <a:round/>
              </a:ln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Sheet1!$B$1:$D$1</c:f>
              <c:strCache>
                <c:ptCount val="4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</c:strCache>
            </c:strRef>
          </c:cat>
          <c:val>
            <c:numRef>
              <c:f>Sheet1!$B3:$D3</c:f>
              <c:numCache>
                <c:formatCode>0.0</c:formatCode>
                <c:ptCount val="4"/>
                <c:pt idx="0">
                  <c:v>17.528</c:v>
                </c:pt>
                <c:pt idx="1">
                  <c:v>8.377</c:v>
                </c:pt>
                <c:pt idx="2">
                  <c:v>12.09</c:v>
                </c:pt>
                <c:pt idx="3">
                  <c:v>1.56</c:v>
                </c:pt>
              </c:numCache>
            </c:numRef>
          </c:val>
          <c:smooth val="1"/>
        </c:ser>
        <c:ser>
          <c:idx val="2"/>
          <c:order val="2"/>
          <c:tx>
            <c:strRef>
              <c:f>Sheet1!$A$1</c:f>
              <c:strCache>
                <c:ptCount val="1"/>
                <c:pt idx="0">
                  <c:v>批核</c:v>
                </c:pt>
              </c:strCache>
            </c:strRef>
          </c:tx>
          <c:spPr>
            <a:ln w="22225" cap="rnd" cmpd="sng" algn="ctr">
              <a:solidFill>
                <a:srgbClr val="C0392B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C0392B"/>
              </a:solidFill>
              <a:ln w="9525" cap="flat" cmpd="sng" algn="ctr">
                <a:solidFill>
                  <a:srgbClr val="C0392B"/>
                </a:solidFill>
                <a:prstDash val="solid"/>
                <a:round/>
              </a:ln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Sheet1!$B$1:$D$1</c:f>
              <c:strCache>
                <c:ptCount val="4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</c:strCache>
            </c:strRef>
          </c:cat>
          <c:val>
            <c:numRef>
              <c:f>Sheet1!$B4:$D4</c:f>
              <c:numCache>
                <c:formatCode>0.0</c:formatCode>
                <c:ptCount val="4"/>
                <c:pt idx="0">
                  <c:v>18.26</c:v>
                </c:pt>
                <c:pt idx="1">
                  <c:v>93.94</c:v>
                </c:pt>
                <c:pt idx="2">
                  <c:v>56.906</c:v>
                </c:pt>
                <c:pt idx="3">
                  <c:v>0</c:v>
                </c:pt>
              </c:numCache>
            </c:numRef>
          </c:val>
          <c:smooth val="1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1"/>
        <c:axId val="86601"/>
        <c:axId val="86602"/>
      </c:lineChart>
      <c:catAx>
        <c:axId val="86601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 w="9525" cap="flat" cmpd="sng" algn="ctr">
            <a:solidFill>
              <a:srgbClr val="D0D8E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850" b="1" i="0" u="none" strike="noStrike" kern="1200" baseline="0">
                <a:solidFill>
                  <a:srgbClr val="374151"/>
                </a:solidFill>
                <a:latin typeface="Calibri" panose="020F0502020204030204"/>
                <a:ea typeface="+mn-ea"/>
                <a:cs typeface="+mn-cs"/>
              </a:defRPr>
            </a:pPr>
          </a:p>
        </c:txPr>
        <c:crossAx val="86602"/>
        <c:crosses val="autoZero"/>
        <c:auto val="1"/>
        <c:lblAlgn val="ctr"/>
        <c:lblOffset val="100"/>
        <c:noMultiLvlLbl val="1"/>
      </c:catAx>
      <c:valAx>
        <c:axId val="86602"/>
        <c:scaling>
          <c:orientation val="minMax"/>
        </c:scaling>
        <c:delete val="0"/>
        <c:axPos val="l"/>
        <c:majorGridlines>
          <c:spPr>
            <a:ln w="6350" cap="flat" cmpd="sng" algn="ctr">
              <a:solidFill>
                <a:srgbClr val="E8ECF0"/>
              </a:solidFill>
              <a:prstDash val="solid"/>
              <a:round/>
            </a:ln>
          </c:spPr>
        </c:majorGridlines>
        <c:numFmt formatCode="0" sourceLinked="0"/>
        <c:majorTickMark val="none"/>
        <c:minorTickMark val="none"/>
        <c:tickLblPos val="nextTo"/>
        <c:spPr>
          <a:ln w="9525" cap="flat" cmpd="sng" algn="ctr">
            <a:solidFill>
              <a:srgbClr val="D0D8E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700" b="0" i="0" u="none" strike="noStrike" kern="1200" baseline="0">
                <a:solidFill>
                  <a:srgbClr val="94A3B8"/>
                </a:solidFill>
                <a:latin typeface="Calibri" panose="020F0502020204030204"/>
                <a:ea typeface="+mn-ea"/>
                <a:cs typeface="+mn-cs"/>
              </a:defRPr>
            </a:pPr>
          </a:p>
        </c:txPr>
        <c:crossAx val="86601"/>
        <c:crosses val="autoZero"/>
        <c:crossBetween val="between"/>
      </c:valAx>
      <c:spPr>
        <a:solidFill>
          <a:srgbClr val="FFFFFF"/>
        </a:solidFill>
        <a:ln>
          <a:noFill/>
        </a:ln>
      </c:spPr>
    </c:plotArea>
    <c:plotVisOnly val="1"/>
    <c:dispBlanksAs val="gap"/>
    <c:showDLblsOverMax val="0"/>
    <c:extLst>
      <c:ext uri="{0b15fc19-7d7d-44ad-8c2d-2c3a37ce22c3}">
        <chartProps xmlns="https://web.wps.cn/et/2018/main" chartId="{f5b30b2d-c004-4cc1-a046-98d8cdcaee1c}"/>
      </c:ext>
    </c:extLst>
  </c:chart>
  <c:spPr>
    <a:solidFill>
      <a:srgbClr val="FFFFFF"/>
    </a:solidFill>
    <a:ln>
      <a:noFill/>
    </a:ln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08"/>
          <c:y val="0.04"/>
          <c:w val="0.88"/>
          <c:h val="0.88"/>
        </c:manualLayout>
      </c:layout>
      <c:lineChart>
        <c:grouping val="standard"/>
        <c:varyColors val="0"/>
        <c:ser>
          <c:idx val="0"/>
          <c:order val="0"/>
          <c:tx>
            <c:strRef>
              <c:f>Sheet1!$A$1</c:f>
              <c:strCache>
                <c:ptCount val="1"/>
                <c:pt idx="0">
                  <c:v>预约</c:v>
                </c:pt>
              </c:strCache>
            </c:strRef>
          </c:tx>
          <c:spPr>
            <a:ln w="22225" cap="rnd" cmpd="sng" algn="ctr">
              <a:solidFill>
                <a:srgbClr val="2980B9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2980B9"/>
              </a:solidFill>
              <a:ln w="9525" cap="flat" cmpd="sng" algn="ctr">
                <a:solidFill>
                  <a:srgbClr val="2980B9"/>
                </a:solidFill>
                <a:prstDash val="solid"/>
                <a:round/>
              </a:ln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Sheet1!$B$1:$D$1</c:f>
              <c:strCache>
                <c:ptCount val="4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</c:strCache>
            </c:strRef>
          </c:cat>
          <c:val>
            <c:numRef>
              <c:f>Sheet1!$B2:$D2</c:f>
              <c:numCache>
                <c:formatCode>0.0</c:formatCode>
                <c:ptCount val="4"/>
                <c:pt idx="0">
                  <c:v>6.176</c:v>
                </c:pt>
                <c:pt idx="1">
                  <c:v>2.445</c:v>
                </c:pt>
                <c:pt idx="2">
                  <c:v>6.436</c:v>
                </c:pt>
                <c:pt idx="3">
                  <c:v>0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Sheet1!$A$1</c:f>
              <c:strCache>
                <c:ptCount val="1"/>
                <c:pt idx="0">
                  <c:v>签单</c:v>
                </c:pt>
              </c:strCache>
            </c:strRef>
          </c:tx>
          <c:spPr>
            <a:ln w="22225" cap="rnd" cmpd="sng" algn="ctr">
              <a:solidFill>
                <a:srgbClr val="1A7A3F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1A7A3F"/>
              </a:solidFill>
              <a:ln w="9525" cap="flat" cmpd="sng" algn="ctr">
                <a:solidFill>
                  <a:srgbClr val="1A7A3F"/>
                </a:solidFill>
                <a:prstDash val="solid"/>
                <a:round/>
              </a:ln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Sheet1!$B$1:$D$1</c:f>
              <c:strCache>
                <c:ptCount val="4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</c:strCache>
            </c:strRef>
          </c:cat>
          <c:val>
            <c:numRef>
              <c:f>Sheet1!$B3:$D3</c:f>
              <c:numCache>
                <c:formatCode>0.0</c:formatCode>
                <c:ptCount val="4"/>
                <c:pt idx="0">
                  <c:v>2.588</c:v>
                </c:pt>
                <c:pt idx="1">
                  <c:v>5.799</c:v>
                </c:pt>
                <c:pt idx="2">
                  <c:v>5.787</c:v>
                </c:pt>
                <c:pt idx="3">
                  <c:v>0</c:v>
                </c:pt>
              </c:numCache>
            </c:numRef>
          </c:val>
          <c:smooth val="1"/>
        </c:ser>
        <c:ser>
          <c:idx val="2"/>
          <c:order val="2"/>
          <c:tx>
            <c:strRef>
              <c:f>Sheet1!$A$1</c:f>
              <c:strCache>
                <c:ptCount val="1"/>
                <c:pt idx="0">
                  <c:v>批核</c:v>
                </c:pt>
              </c:strCache>
            </c:strRef>
          </c:tx>
          <c:spPr>
            <a:ln w="22225" cap="rnd" cmpd="sng" algn="ctr">
              <a:solidFill>
                <a:srgbClr val="C0392B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C0392B"/>
              </a:solidFill>
              <a:ln w="9525" cap="flat" cmpd="sng" algn="ctr">
                <a:solidFill>
                  <a:srgbClr val="C0392B"/>
                </a:solidFill>
                <a:prstDash val="solid"/>
                <a:round/>
              </a:ln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Sheet1!$B$1:$D$1</c:f>
              <c:strCache>
                <c:ptCount val="4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</c:strCache>
            </c:strRef>
          </c:cat>
          <c:val>
            <c:numRef>
              <c:f>Sheet1!$B4:$D4</c:f>
              <c:numCache>
                <c:formatCode>0.0</c:formatCode>
                <c:ptCount val="4"/>
                <c:pt idx="0">
                  <c:v>41.794</c:v>
                </c:pt>
                <c:pt idx="1">
                  <c:v>5.672</c:v>
                </c:pt>
                <c:pt idx="2">
                  <c:v>1.018</c:v>
                </c:pt>
                <c:pt idx="3">
                  <c:v>0.82</c:v>
                </c:pt>
              </c:numCache>
            </c:numRef>
          </c:val>
          <c:smooth val="1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1"/>
        <c:axId val="82151601"/>
        <c:axId val="82151602"/>
      </c:lineChart>
      <c:catAx>
        <c:axId val="82151601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 w="9525" cap="flat" cmpd="sng" algn="ctr">
            <a:solidFill>
              <a:srgbClr val="D0D8E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850" b="1" i="0" u="none" strike="noStrike" kern="1200" baseline="0">
                <a:solidFill>
                  <a:srgbClr val="374151"/>
                </a:solidFill>
                <a:latin typeface="Calibri" panose="020F0502020204030204"/>
                <a:ea typeface="+mn-ea"/>
                <a:cs typeface="+mn-cs"/>
              </a:defRPr>
            </a:pPr>
          </a:p>
        </c:txPr>
        <c:crossAx val="82151602"/>
        <c:crosses val="autoZero"/>
        <c:auto val="1"/>
        <c:lblAlgn val="ctr"/>
        <c:lblOffset val="100"/>
        <c:noMultiLvlLbl val="1"/>
      </c:catAx>
      <c:valAx>
        <c:axId val="82151602"/>
        <c:scaling>
          <c:orientation val="minMax"/>
        </c:scaling>
        <c:delete val="0"/>
        <c:axPos val="l"/>
        <c:majorGridlines>
          <c:spPr>
            <a:ln w="6350" cap="flat" cmpd="sng" algn="ctr">
              <a:solidFill>
                <a:srgbClr val="E8ECF0"/>
              </a:solidFill>
              <a:prstDash val="solid"/>
              <a:round/>
            </a:ln>
          </c:spPr>
        </c:majorGridlines>
        <c:numFmt formatCode="0" sourceLinked="0"/>
        <c:majorTickMark val="none"/>
        <c:minorTickMark val="none"/>
        <c:tickLblPos val="nextTo"/>
        <c:spPr>
          <a:ln w="9525" cap="flat" cmpd="sng" algn="ctr">
            <a:solidFill>
              <a:srgbClr val="D0D8E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700" b="0" i="0" u="none" strike="noStrike" kern="1200" baseline="0">
                <a:solidFill>
                  <a:srgbClr val="94A3B8"/>
                </a:solidFill>
                <a:latin typeface="Calibri" panose="020F0502020204030204"/>
                <a:ea typeface="+mn-ea"/>
                <a:cs typeface="+mn-cs"/>
              </a:defRPr>
            </a:pPr>
          </a:p>
        </c:txPr>
        <c:crossAx val="82151601"/>
        <c:crosses val="autoZero"/>
        <c:crossBetween val="between"/>
      </c:valAx>
      <c:spPr>
        <a:solidFill>
          <a:srgbClr val="FFFFFF"/>
        </a:solidFill>
        <a:ln>
          <a:noFill/>
        </a:ln>
      </c:spPr>
    </c:plotArea>
    <c:plotVisOnly val="1"/>
    <c:dispBlanksAs val="gap"/>
    <c:showDLblsOverMax val="0"/>
    <c:extLst>
      <c:ext uri="{0b15fc19-7d7d-44ad-8c2d-2c3a37ce22c3}">
        <chartProps xmlns="https://web.wps.cn/et/2018/main" chartId="{b3516c40-ccd4-4b1d-8f3c-fe1cd0f34671}"/>
      </c:ext>
    </c:extLst>
  </c:chart>
  <c:spPr>
    <a:solidFill>
      <a:srgbClr val="FFFFFF"/>
    </a:solidFill>
    <a:ln>
      <a:noFill/>
    </a:ln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08"/>
          <c:y val="0.04"/>
          <c:w val="0.88"/>
          <c:h val="0.88"/>
        </c:manualLayout>
      </c:layout>
      <c:lineChart>
        <c:grouping val="standard"/>
        <c:varyColors val="0"/>
        <c:ser>
          <c:idx val="0"/>
          <c:order val="0"/>
          <c:tx>
            <c:strRef>
              <c:f>Sheet1!$A$1</c:f>
              <c:strCache>
                <c:ptCount val="1"/>
                <c:pt idx="0">
                  <c:v>预约</c:v>
                </c:pt>
              </c:strCache>
            </c:strRef>
          </c:tx>
          <c:spPr>
            <a:ln w="22225" cap="rnd" cmpd="sng" algn="ctr">
              <a:solidFill>
                <a:srgbClr val="2980B9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2980B9"/>
              </a:solidFill>
              <a:ln w="9525" cap="flat" cmpd="sng" algn="ctr">
                <a:solidFill>
                  <a:srgbClr val="2980B9"/>
                </a:solidFill>
                <a:prstDash val="solid"/>
                <a:round/>
              </a:ln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Sheet1!$B$1:$D$1</c:f>
              <c:strCache>
                <c:ptCount val="4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</c:strCache>
            </c:strRef>
          </c:cat>
          <c:val>
            <c:numRef>
              <c:f>Sheet1!$B2:$D2</c:f>
              <c:numCache>
                <c:formatCode>0.0</c:formatCode>
                <c:ptCount val="4"/>
                <c:pt idx="0">
                  <c:v>18.804</c:v>
                </c:pt>
                <c:pt idx="1">
                  <c:v>22.192</c:v>
                </c:pt>
                <c:pt idx="2">
                  <c:v>32.582</c:v>
                </c:pt>
                <c:pt idx="3">
                  <c:v>0.11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Sheet1!$A$1</c:f>
              <c:strCache>
                <c:ptCount val="1"/>
                <c:pt idx="0">
                  <c:v>签单</c:v>
                </c:pt>
              </c:strCache>
            </c:strRef>
          </c:tx>
          <c:spPr>
            <a:ln w="22225" cap="rnd" cmpd="sng" algn="ctr">
              <a:solidFill>
                <a:srgbClr val="1A7A3F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1A7A3F"/>
              </a:solidFill>
              <a:ln w="9525" cap="flat" cmpd="sng" algn="ctr">
                <a:solidFill>
                  <a:srgbClr val="1A7A3F"/>
                </a:solidFill>
                <a:prstDash val="solid"/>
                <a:round/>
              </a:ln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Sheet1!$B$1:$D$1</c:f>
              <c:strCache>
                <c:ptCount val="4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</c:strCache>
            </c:strRef>
          </c:cat>
          <c:val>
            <c:numRef>
              <c:f>Sheet1!$B3:$D3</c:f>
              <c:numCache>
                <c:formatCode>0.0</c:formatCode>
                <c:ptCount val="4"/>
                <c:pt idx="0">
                  <c:v>15.538</c:v>
                </c:pt>
                <c:pt idx="1">
                  <c:v>20.145</c:v>
                </c:pt>
                <c:pt idx="2">
                  <c:v>33.629</c:v>
                </c:pt>
                <c:pt idx="3">
                  <c:v>0.86</c:v>
                </c:pt>
              </c:numCache>
            </c:numRef>
          </c:val>
          <c:smooth val="1"/>
        </c:ser>
        <c:ser>
          <c:idx val="2"/>
          <c:order val="2"/>
          <c:tx>
            <c:strRef>
              <c:f>Sheet1!$A$1</c:f>
              <c:strCache>
                <c:ptCount val="1"/>
                <c:pt idx="0">
                  <c:v>批核</c:v>
                </c:pt>
              </c:strCache>
            </c:strRef>
          </c:tx>
          <c:spPr>
            <a:ln w="22225" cap="rnd" cmpd="sng" algn="ctr">
              <a:solidFill>
                <a:srgbClr val="C0392B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C0392B"/>
              </a:solidFill>
              <a:ln w="9525" cap="flat" cmpd="sng" algn="ctr">
                <a:solidFill>
                  <a:srgbClr val="C0392B"/>
                </a:solidFill>
                <a:prstDash val="solid"/>
                <a:round/>
              </a:ln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Sheet1!$B$1:$D$1</c:f>
              <c:strCache>
                <c:ptCount val="4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</c:strCache>
            </c:strRef>
          </c:cat>
          <c:val>
            <c:numRef>
              <c:f>Sheet1!$B4:$D4</c:f>
              <c:numCache>
                <c:formatCode>0.0</c:formatCode>
                <c:ptCount val="4"/>
                <c:pt idx="0">
                  <c:v>45.963</c:v>
                </c:pt>
                <c:pt idx="1">
                  <c:v>20.312</c:v>
                </c:pt>
                <c:pt idx="2">
                  <c:v>10.447</c:v>
                </c:pt>
                <c:pt idx="3">
                  <c:v>2.68</c:v>
                </c:pt>
              </c:numCache>
            </c:numRef>
          </c:val>
          <c:smooth val="1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1"/>
        <c:axId val="82770401"/>
        <c:axId val="82770402"/>
      </c:lineChart>
      <c:catAx>
        <c:axId val="82770401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 w="9525" cap="flat" cmpd="sng" algn="ctr">
            <a:solidFill>
              <a:srgbClr val="D0D8E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850" b="1" i="0" u="none" strike="noStrike" kern="1200" baseline="0">
                <a:solidFill>
                  <a:srgbClr val="374151"/>
                </a:solidFill>
                <a:latin typeface="Calibri" panose="020F0502020204030204"/>
                <a:ea typeface="+mn-ea"/>
                <a:cs typeface="+mn-cs"/>
              </a:defRPr>
            </a:pPr>
          </a:p>
        </c:txPr>
        <c:crossAx val="82770402"/>
        <c:crosses val="autoZero"/>
        <c:auto val="1"/>
        <c:lblAlgn val="ctr"/>
        <c:lblOffset val="100"/>
        <c:noMultiLvlLbl val="1"/>
      </c:catAx>
      <c:valAx>
        <c:axId val="82770402"/>
        <c:scaling>
          <c:orientation val="minMax"/>
        </c:scaling>
        <c:delete val="0"/>
        <c:axPos val="l"/>
        <c:majorGridlines>
          <c:spPr>
            <a:ln w="6350" cap="flat" cmpd="sng" algn="ctr">
              <a:solidFill>
                <a:srgbClr val="E8ECF0"/>
              </a:solidFill>
              <a:prstDash val="solid"/>
              <a:round/>
            </a:ln>
          </c:spPr>
        </c:majorGridlines>
        <c:numFmt formatCode="0" sourceLinked="0"/>
        <c:majorTickMark val="none"/>
        <c:minorTickMark val="none"/>
        <c:tickLblPos val="nextTo"/>
        <c:spPr>
          <a:ln w="9525" cap="flat" cmpd="sng" algn="ctr">
            <a:solidFill>
              <a:srgbClr val="D0D8E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700" b="0" i="0" u="none" strike="noStrike" kern="1200" baseline="0">
                <a:solidFill>
                  <a:srgbClr val="94A3B8"/>
                </a:solidFill>
                <a:latin typeface="Calibri" panose="020F0502020204030204"/>
                <a:ea typeface="+mn-ea"/>
                <a:cs typeface="+mn-cs"/>
              </a:defRPr>
            </a:pPr>
          </a:p>
        </c:txPr>
        <c:crossAx val="82770401"/>
        <c:crosses val="autoZero"/>
        <c:crossBetween val="between"/>
      </c:valAx>
      <c:spPr>
        <a:solidFill>
          <a:srgbClr val="FFFFFF"/>
        </a:solidFill>
        <a:ln>
          <a:noFill/>
        </a:ln>
      </c:spPr>
    </c:plotArea>
    <c:plotVisOnly val="1"/>
    <c:dispBlanksAs val="gap"/>
    <c:showDLblsOverMax val="0"/>
    <c:extLst>
      <c:ext uri="{0b15fc19-7d7d-44ad-8c2d-2c3a37ce22c3}">
        <chartProps xmlns="https://web.wps.cn/et/2018/main" chartId="{0810f2af-9c7c-41f8-a26d-4e4109e73045}"/>
      </c:ext>
    </c:extLst>
  </c:chart>
  <c:spPr>
    <a:solidFill>
      <a:srgbClr val="FFFFFF"/>
    </a:solidFill>
    <a:ln>
      <a:noFill/>
    </a:ln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08"/>
          <c:y val="0.04"/>
          <c:w val="0.88"/>
          <c:h val="0.88"/>
        </c:manualLayout>
      </c:layout>
      <c:lineChart>
        <c:grouping val="standard"/>
        <c:varyColors val="0"/>
        <c:ser>
          <c:idx val="0"/>
          <c:order val="0"/>
          <c:tx>
            <c:strRef>
              <c:f>Sheet1!$A$1</c:f>
              <c:strCache>
                <c:ptCount val="1"/>
                <c:pt idx="0">
                  <c:v>预约</c:v>
                </c:pt>
              </c:strCache>
            </c:strRef>
          </c:tx>
          <c:spPr>
            <a:ln w="22225" cap="rnd" cmpd="sng" algn="ctr">
              <a:solidFill>
                <a:srgbClr val="2980B9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2980B9"/>
              </a:solidFill>
              <a:ln w="9525" cap="flat" cmpd="sng" algn="ctr">
                <a:solidFill>
                  <a:srgbClr val="2980B9"/>
                </a:solidFill>
                <a:prstDash val="solid"/>
                <a:round/>
              </a:ln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Sheet1!$B$1:$D$1</c:f>
              <c:strCache>
                <c:ptCount val="4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</c:strCache>
            </c:strRef>
          </c:cat>
          <c:val>
            <c:numRef>
              <c:f>Sheet1!$B2:$D2</c:f>
              <c:numCache>
                <c:formatCode>0.0</c:formatCode>
                <c:ptCount val="4"/>
                <c:pt idx="0">
                  <c:v>0.437</c:v>
                </c:pt>
                <c:pt idx="1">
                  <c:v>0.158</c:v>
                </c:pt>
                <c:pt idx="2">
                  <c:v>1.964</c:v>
                </c:pt>
                <c:pt idx="3">
                  <c:v>0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Sheet1!$A$1</c:f>
              <c:strCache>
                <c:ptCount val="1"/>
                <c:pt idx="0">
                  <c:v>签单</c:v>
                </c:pt>
              </c:strCache>
            </c:strRef>
          </c:tx>
          <c:spPr>
            <a:ln w="22225" cap="rnd" cmpd="sng" algn="ctr">
              <a:solidFill>
                <a:srgbClr val="1A7A3F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1A7A3F"/>
              </a:solidFill>
              <a:ln w="9525" cap="flat" cmpd="sng" algn="ctr">
                <a:solidFill>
                  <a:srgbClr val="1A7A3F"/>
                </a:solidFill>
                <a:prstDash val="solid"/>
                <a:round/>
              </a:ln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Sheet1!$B$1:$D$1</c:f>
              <c:strCache>
                <c:ptCount val="4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</c:strCache>
            </c:strRef>
          </c:cat>
          <c:val>
            <c:numRef>
              <c:f>Sheet1!$B3:$D3</c:f>
              <c:numCache>
                <c:formatCode>0.0</c:formatCode>
                <c:ptCount val="4"/>
                <c:pt idx="0">
                  <c:v>0.09</c:v>
                </c:pt>
                <c:pt idx="1">
                  <c:v>0.515</c:v>
                </c:pt>
                <c:pt idx="2">
                  <c:v>1.966</c:v>
                </c:pt>
                <c:pt idx="3">
                  <c:v>0</c:v>
                </c:pt>
              </c:numCache>
            </c:numRef>
          </c:val>
          <c:smooth val="1"/>
        </c:ser>
        <c:ser>
          <c:idx val="2"/>
          <c:order val="2"/>
          <c:tx>
            <c:strRef>
              <c:f>Sheet1!$A$1</c:f>
              <c:strCache>
                <c:ptCount val="1"/>
                <c:pt idx="0">
                  <c:v>批核</c:v>
                </c:pt>
              </c:strCache>
            </c:strRef>
          </c:tx>
          <c:spPr>
            <a:ln w="22225" cap="rnd" cmpd="sng" algn="ctr">
              <a:solidFill>
                <a:srgbClr val="C0392B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C0392B"/>
              </a:solidFill>
              <a:ln w="9525" cap="flat" cmpd="sng" algn="ctr">
                <a:solidFill>
                  <a:srgbClr val="C0392B"/>
                </a:solidFill>
                <a:prstDash val="solid"/>
                <a:round/>
              </a:ln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Sheet1!$B$1:$D$1</c:f>
              <c:strCache>
                <c:ptCount val="4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</c:strCache>
            </c:strRef>
          </c:cat>
          <c:val>
            <c:numRef>
              <c:f>Sheet1!$B4:$D4</c:f>
              <c:numCache>
                <c:formatCode>0.0</c:formatCode>
                <c:ptCount val="4"/>
                <c:pt idx="0">
                  <c:v>0.58</c:v>
                </c:pt>
                <c:pt idx="1">
                  <c:v>0.897</c:v>
                </c:pt>
                <c:pt idx="2">
                  <c:v>0.127</c:v>
                </c:pt>
                <c:pt idx="3">
                  <c:v>0.47</c:v>
                </c:pt>
              </c:numCache>
            </c:numRef>
          </c:val>
          <c:smooth val="1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1"/>
        <c:axId val="82151201"/>
        <c:axId val="82151202"/>
      </c:lineChart>
      <c:catAx>
        <c:axId val="82151201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 w="9525" cap="flat" cmpd="sng" algn="ctr">
            <a:solidFill>
              <a:srgbClr val="D0D8E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850" b="1" i="0" u="none" strike="noStrike" kern="1200" baseline="0">
                <a:solidFill>
                  <a:srgbClr val="374151"/>
                </a:solidFill>
                <a:latin typeface="Calibri" panose="020F0502020204030204"/>
                <a:ea typeface="+mn-ea"/>
                <a:cs typeface="+mn-cs"/>
              </a:defRPr>
            </a:pPr>
          </a:p>
        </c:txPr>
        <c:crossAx val="82151202"/>
        <c:crosses val="autoZero"/>
        <c:auto val="1"/>
        <c:lblAlgn val="ctr"/>
        <c:lblOffset val="100"/>
        <c:noMultiLvlLbl val="1"/>
      </c:catAx>
      <c:valAx>
        <c:axId val="82151202"/>
        <c:scaling>
          <c:orientation val="minMax"/>
        </c:scaling>
        <c:delete val="0"/>
        <c:axPos val="l"/>
        <c:majorGridlines>
          <c:spPr>
            <a:ln w="6350" cap="flat" cmpd="sng" algn="ctr">
              <a:solidFill>
                <a:srgbClr val="E8ECF0"/>
              </a:solidFill>
              <a:prstDash val="solid"/>
              <a:round/>
            </a:ln>
          </c:spPr>
        </c:majorGridlines>
        <c:numFmt formatCode="0" sourceLinked="0"/>
        <c:majorTickMark val="none"/>
        <c:minorTickMark val="none"/>
        <c:tickLblPos val="nextTo"/>
        <c:spPr>
          <a:ln w="9525" cap="flat" cmpd="sng" algn="ctr">
            <a:solidFill>
              <a:srgbClr val="D0D8E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700" b="0" i="0" u="none" strike="noStrike" kern="1200" baseline="0">
                <a:solidFill>
                  <a:srgbClr val="94A3B8"/>
                </a:solidFill>
                <a:latin typeface="Calibri" panose="020F0502020204030204"/>
                <a:ea typeface="+mn-ea"/>
                <a:cs typeface="+mn-cs"/>
              </a:defRPr>
            </a:pPr>
          </a:p>
        </c:txPr>
        <c:crossAx val="82151201"/>
        <c:crosses val="autoZero"/>
        <c:crossBetween val="between"/>
      </c:valAx>
      <c:spPr>
        <a:solidFill>
          <a:srgbClr val="FFFFFF"/>
        </a:solidFill>
        <a:ln>
          <a:noFill/>
        </a:ln>
      </c:spPr>
    </c:plotArea>
    <c:plotVisOnly val="1"/>
    <c:dispBlanksAs val="gap"/>
    <c:showDLblsOverMax val="0"/>
    <c:extLst>
      <c:ext uri="{0b15fc19-7d7d-44ad-8c2d-2c3a37ce22c3}">
        <chartProps xmlns="https://web.wps.cn/et/2018/main" chartId="{8da179a0-edd7-4fc5-8553-973b2140e5e7}"/>
      </c:ext>
    </c:extLst>
  </c:chart>
  <c:spPr>
    <a:solidFill>
      <a:srgbClr val="FFFFFF"/>
    </a:solidFill>
    <a:ln>
      <a:noFill/>
    </a:ln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08"/>
          <c:y val="0.04"/>
          <c:w val="0.88"/>
          <c:h val="0.88"/>
        </c:manualLayout>
      </c:layout>
      <c:lineChart>
        <c:grouping val="standard"/>
        <c:varyColors val="0"/>
        <c:ser>
          <c:idx val="0"/>
          <c:order val="0"/>
          <c:tx>
            <c:strRef>
              <c:f>Sheet1!$A$1</c:f>
              <c:strCache>
                <c:ptCount val="1"/>
                <c:pt idx="0">
                  <c:v>预约</c:v>
                </c:pt>
              </c:strCache>
            </c:strRef>
          </c:tx>
          <c:spPr>
            <a:ln w="22225" cap="rnd" cmpd="sng" algn="ctr">
              <a:solidFill>
                <a:srgbClr val="2980B9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2980B9"/>
              </a:solidFill>
              <a:ln w="9525" cap="flat" cmpd="sng" algn="ctr">
                <a:solidFill>
                  <a:srgbClr val="2980B9"/>
                </a:solidFill>
                <a:prstDash val="solid"/>
                <a:round/>
              </a:ln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Sheet1!$B$1:$D$1</c:f>
              <c:strCache>
                <c:ptCount val="4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</c:strCache>
            </c:strRef>
          </c:cat>
          <c:val>
            <c:numRef>
              <c:f>Sheet1!$B2:$D2</c:f>
              <c:numCache>
                <c:formatCode>0.0</c:formatCode>
                <c:ptCount val="4"/>
                <c:pt idx="0">
                  <c:v>2.39</c:v>
                </c:pt>
                <c:pt idx="1">
                  <c:v>12.109</c:v>
                </c:pt>
                <c:pt idx="2">
                  <c:v>3.4</c:v>
                </c:pt>
                <c:pt idx="3">
                  <c:v>0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Sheet1!$A$1</c:f>
              <c:strCache>
                <c:ptCount val="1"/>
                <c:pt idx="0">
                  <c:v>签单</c:v>
                </c:pt>
              </c:strCache>
            </c:strRef>
          </c:tx>
          <c:spPr>
            <a:ln w="22225" cap="rnd" cmpd="sng" algn="ctr">
              <a:solidFill>
                <a:srgbClr val="1A7A3F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1A7A3F"/>
              </a:solidFill>
              <a:ln w="9525" cap="flat" cmpd="sng" algn="ctr">
                <a:solidFill>
                  <a:srgbClr val="1A7A3F"/>
                </a:solidFill>
                <a:prstDash val="solid"/>
                <a:round/>
              </a:ln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Sheet1!$B$1:$D$1</c:f>
              <c:strCache>
                <c:ptCount val="4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</c:strCache>
            </c:strRef>
          </c:cat>
          <c:val>
            <c:numRef>
              <c:f>Sheet1!$B3:$D3</c:f>
              <c:numCache>
                <c:formatCode>0.0</c:formatCode>
                <c:ptCount val="4"/>
                <c:pt idx="0">
                  <c:v>2.39</c:v>
                </c:pt>
                <c:pt idx="1">
                  <c:v>12.109</c:v>
                </c:pt>
                <c:pt idx="2">
                  <c:v>0</c:v>
                </c:pt>
              </c:numCache>
            </c:numRef>
          </c:val>
          <c:smooth val="1"/>
        </c:ser>
        <c:ser>
          <c:idx val="2"/>
          <c:order val="2"/>
          <c:tx>
            <c:strRef>
              <c:f>Sheet1!$A$1</c:f>
              <c:strCache>
                <c:ptCount val="1"/>
                <c:pt idx="0">
                  <c:v>批核</c:v>
                </c:pt>
              </c:strCache>
            </c:strRef>
          </c:tx>
          <c:spPr>
            <a:ln w="22225" cap="rnd" cmpd="sng" algn="ctr">
              <a:solidFill>
                <a:srgbClr val="C0392B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C0392B"/>
              </a:solidFill>
              <a:ln w="9525" cap="flat" cmpd="sng" algn="ctr">
                <a:solidFill>
                  <a:srgbClr val="C0392B"/>
                </a:solidFill>
                <a:prstDash val="solid"/>
                <a:round/>
              </a:ln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Sheet1!$B$1:$D$1</c:f>
              <c:strCache>
                <c:ptCount val="4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</c:strCache>
            </c:strRef>
          </c:cat>
          <c:val>
            <c:numRef>
              <c:f>Sheet1!$B4:$D4</c:f>
              <c:numCache>
                <c:formatCode>0.0</c:formatCode>
                <c:ptCount val="4"/>
                <c:pt idx="0">
                  <c:v>2.078</c:v>
                </c:pt>
                <c:pt idx="1">
                  <c:v>12</c:v>
                </c:pt>
                <c:pt idx="2">
                  <c:v>0.109</c:v>
                </c:pt>
                <c:pt idx="3">
                  <c:v>0</c:v>
                </c:pt>
              </c:numCache>
            </c:numRef>
          </c:val>
          <c:smooth val="1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1"/>
        <c:axId val="87301"/>
        <c:axId val="87302"/>
      </c:lineChart>
      <c:catAx>
        <c:axId val="87301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 w="9525" cap="flat" cmpd="sng" algn="ctr">
            <a:solidFill>
              <a:srgbClr val="D0D8E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850" b="1" i="0" u="none" strike="noStrike" kern="1200" baseline="0">
                <a:solidFill>
                  <a:srgbClr val="374151"/>
                </a:solidFill>
                <a:latin typeface="Calibri" panose="020F0502020204030204"/>
                <a:ea typeface="+mn-ea"/>
                <a:cs typeface="+mn-cs"/>
              </a:defRPr>
            </a:pPr>
          </a:p>
        </c:txPr>
        <c:crossAx val="87302"/>
        <c:crosses val="autoZero"/>
        <c:auto val="1"/>
        <c:lblAlgn val="ctr"/>
        <c:lblOffset val="100"/>
        <c:noMultiLvlLbl val="1"/>
      </c:catAx>
      <c:valAx>
        <c:axId val="87302"/>
        <c:scaling>
          <c:orientation val="minMax"/>
        </c:scaling>
        <c:delete val="0"/>
        <c:axPos val="l"/>
        <c:majorGridlines>
          <c:spPr>
            <a:ln w="6350" cap="flat" cmpd="sng" algn="ctr">
              <a:solidFill>
                <a:srgbClr val="E8ECF0"/>
              </a:solidFill>
              <a:prstDash val="solid"/>
              <a:round/>
            </a:ln>
          </c:spPr>
        </c:majorGridlines>
        <c:numFmt formatCode="0" sourceLinked="0"/>
        <c:majorTickMark val="none"/>
        <c:minorTickMark val="none"/>
        <c:tickLblPos val="nextTo"/>
        <c:spPr>
          <a:ln w="9525" cap="flat" cmpd="sng" algn="ctr">
            <a:solidFill>
              <a:srgbClr val="D0D8E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700" b="0" i="0" u="none" strike="noStrike" kern="1200" baseline="0">
                <a:solidFill>
                  <a:srgbClr val="94A3B8"/>
                </a:solidFill>
                <a:latin typeface="Calibri" panose="020F0502020204030204"/>
                <a:ea typeface="+mn-ea"/>
                <a:cs typeface="+mn-cs"/>
              </a:defRPr>
            </a:pPr>
          </a:p>
        </c:txPr>
        <c:crossAx val="87301"/>
        <c:crosses val="autoZero"/>
        <c:crossBetween val="between"/>
      </c:valAx>
      <c:spPr>
        <a:solidFill>
          <a:srgbClr val="FFFFFF"/>
        </a:solidFill>
        <a:ln>
          <a:noFill/>
        </a:ln>
      </c:spPr>
    </c:plotArea>
    <c:plotVisOnly val="1"/>
    <c:dispBlanksAs val="gap"/>
    <c:showDLblsOverMax val="0"/>
    <c:extLst>
      <c:ext uri="{0b15fc19-7d7d-44ad-8c2d-2c3a37ce22c3}">
        <chartProps xmlns="https://web.wps.cn/et/2018/main" chartId="{375a80eb-c526-4ac3-8945-2c4dde78ddea}"/>
      </c:ext>
    </c:extLst>
  </c:chart>
  <c:spPr>
    <a:solidFill>
      <a:srgbClr val="FFFFFF"/>
    </a:solidFill>
    <a:ln>
      <a:noFill/>
    </a:ln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APE构成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explosion val="0"/>
          <c:dPt>
            <c:idx val="0"/>
            <c:bubble3D val="0"/>
            <c:spPr>
              <a:solidFill>
                <a:srgbClr val="00796B"/>
              </a:solidFill>
              <a:effectLst/>
            </c:spPr>
          </c:dPt>
          <c:dPt>
            <c:idx val="1"/>
            <c:bubble3D val="0"/>
            <c:spPr>
              <a:solidFill>
                <a:srgbClr val="C8890A"/>
              </a:solidFill>
              <a:effectLst/>
            </c:spPr>
          </c:dPt>
          <c:dPt>
            <c:idx val="2"/>
            <c:bubble3D val="0"/>
            <c:spPr>
              <a:solidFill>
                <a:srgbClr val="2E86C1"/>
              </a:solidFill>
              <a:effectLst/>
            </c:spPr>
          </c:dPt>
          <c:dLbls>
            <c:dLbl>
              <c:idx val="0"/>
              <c:layout/>
              <c:numFmt formatCode="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zh-CN" sz="1200" b="0" i="0" u="none" strike="noStrike" kern="1200" baseline="0">
                      <a:solidFill>
                        <a:srgbClr val="000000"/>
                      </a:solid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1"/>
              <c:layout/>
              <c:numFmt formatCode="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zh-CN" sz="1200" b="0" i="0" u="none" strike="noStrike" kern="1200" baseline="0">
                      <a:solidFill>
                        <a:srgbClr val="000000"/>
                      </a:solid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2"/>
              <c:layout/>
              <c:numFmt formatCode="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zh-CN" sz="1200" b="0" i="0" u="none" strike="noStrike" kern="1200" baseline="0">
                      <a:solidFill>
                        <a:srgbClr val="000000"/>
                      </a:solid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800" b="0" i="0" u="none" strike="noStrike" kern="1200" baseline="0">
                    <a:solidFill>
                      <a:srgbClr val="000000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Sheet1!$A$2:$A$4</c:f>
              <c:strCache>
                <c:ptCount val="3"/>
                <c:pt idx="0">
                  <c:v>已批核</c:v>
                </c:pt>
                <c:pt idx="1">
                  <c:v>未批核</c:v>
                </c:pt>
                <c:pt idx="2">
                  <c:v>待签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350.4</c:v>
                </c:pt>
                <c:pt idx="1">
                  <c:v>167.9</c:v>
                </c:pt>
                <c:pt idx="2">
                  <c:v>3.9</c:v>
                </c:pt>
              </c:numCache>
            </c:numRef>
          </c:val>
        </c:ser>
        <c:dLbls>
          <c:showLegendKey val="0"/>
          <c:showVal val="0"/>
          <c:showCatName val="1"/>
          <c:showSerName val="0"/>
          <c:showPercent val="1"/>
          <c:showBubbleSize val="0"/>
          <c:showLeaderLines val="1"/>
        </c:dLbls>
        <c:firstSliceAng val="0"/>
        <c:holeSize val="52"/>
      </c:doughnutChart>
      <c:spPr>
        <a:noFill/>
        <a:ln>
          <a:noFill/>
        </a:ln>
        <a:effectLst/>
      </c:spPr>
    </c:plotArea>
    <c:legend>
      <c:legendPos val="b"/>
      <c:layout/>
      <c:overlay val="0"/>
      <c:txPr>
        <a:bodyPr rot="0" spcFirstLastPara="0" vertOverflow="ellipsis" vert="horz" wrap="square" anchor="ctr" anchorCtr="1"/>
        <a:lstStyle/>
        <a:p>
          <a:pPr>
            <a:defRPr lang="zh-CN" sz="8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span"/>
    <c:showDLblsOverMax val="0"/>
    <c:extLst>
      <c:ext uri="{0b15fc19-7d7d-44ad-8c2d-2c3a37ce22c3}">
        <chartProps xmlns="https://web.wps.cn/et/2018/main" chartId="{20a6ab99-be55-4806-a3dd-2f3f6e3251c2}"/>
      </c:ext>
    </c:extLst>
  </c:chart>
  <c:spPr>
    <a:solidFill>
      <a:srgbClr val="FFFFFF"/>
    </a:solidFill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55926430517711"/>
          <c:y val="0.0733187040144572"/>
          <c:w val="0.838709128065395"/>
          <c:h val="0.866244998063767"/>
        </c:manualLayout>
      </c:layout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已批核 APE(M)</c:v>
                </c:pt>
              </c:strCache>
            </c:strRef>
          </c:tx>
          <c:spPr>
            <a:solidFill>
              <a:srgbClr val="1A7A3F"/>
            </a:solidFill>
            <a:effectLst/>
          </c:spPr>
          <c:invertIfNegative val="0"/>
          <c:dLbls>
            <c:dLbl>
              <c:idx val="3"/>
              <c:layout>
                <c:manualLayout>
                  <c:x val="-0.00728079874685725"/>
                  <c:y val="0.00371333813054721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0536444141689373"/>
                      <c:h val="0.0300761585129728"/>
                    </c:manualLayout>
                  </c15:layout>
                </c:ext>
              </c:extLst>
            </c:dLbl>
            <c:dLbl>
              <c:idx val="4"/>
              <c:layout>
                <c:manualLayout>
                  <c:x val="-0.00683525516987192"/>
                  <c:y val="-0.00170143473541093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5"/>
              <c:layout>
                <c:manualLayout>
                  <c:x val="-0.0148160762942779"/>
                  <c:y val="0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6"/>
              <c:layout>
                <c:manualLayout>
                  <c:x val="-0.00358636417486077"/>
                  <c:y val="0.00174595034254693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0379710144927536"/>
                      <c:h val="0.0585710679121434"/>
                    </c:manualLayout>
                  </c15:layout>
                </c:ext>
              </c:extLst>
            </c:dLbl>
            <c:dLbl>
              <c:idx val="7"/>
              <c:layout>
                <c:manualLayout>
                  <c:x val="-0.00809047411918225"/>
                  <c:y val="-0.00403704583234386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numFmt formatCode="#,##0.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700" b="1" i="0" u="none" strike="noStrike" kern="1200" baseline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Sheet1!$A$2:$A$9</c:f>
              <c:strCache>
                <c:ptCount val="8"/>
                <c:pt idx="0">
                  <c:v>永明经代</c:v>
                </c:pt>
                <c:pt idx="1">
                  <c:v>天领业务</c:v>
                </c:pt>
                <c:pt idx="2">
                  <c:v>BK业务</c:v>
                </c:pt>
                <c:pt idx="3">
                  <c:v>合伙转介</c:v>
                </c:pt>
                <c:pt idx="4">
                  <c:v>成事家办</c:v>
                </c:pt>
                <c:pt idx="5">
                  <c:v>同行经代</c:v>
                </c:pt>
                <c:pt idx="6">
                  <c:v>ICLUB</c:v>
                </c:pt>
                <c:pt idx="7">
                  <c:v>IFA业务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86.1</c:v>
                </c:pt>
                <c:pt idx="1">
                  <c:v>23.7</c:v>
                </c:pt>
                <c:pt idx="2">
                  <c:v>170.9</c:v>
                </c:pt>
                <c:pt idx="3">
                  <c:v>2.3</c:v>
                </c:pt>
                <c:pt idx="4">
                  <c:v>2.2</c:v>
                </c:pt>
                <c:pt idx="5">
                  <c:v>50.8</c:v>
                </c:pt>
                <c:pt idx="6">
                  <c:v>14.6</c:v>
                </c:pt>
                <c:pt idx="7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未批核 APE(M)</c:v>
                </c:pt>
              </c:strCache>
            </c:strRef>
          </c:tx>
          <c:spPr>
            <a:solidFill>
              <a:srgbClr val="EB954B"/>
            </a:solidFill>
            <a:effectLst/>
          </c:spPr>
          <c:invertIfNegative val="0"/>
          <c:dLbls>
            <c:delete val="1"/>
          </c:dLbls>
          <c:cat>
            <c:strRef>
              <c:f>Sheet1!$A$2:$A$9</c:f>
              <c:strCache>
                <c:ptCount val="8"/>
                <c:pt idx="0">
                  <c:v>永明经代</c:v>
                </c:pt>
                <c:pt idx="1">
                  <c:v>天领业务</c:v>
                </c:pt>
                <c:pt idx="2">
                  <c:v>BK业务</c:v>
                </c:pt>
                <c:pt idx="3">
                  <c:v>合伙转介</c:v>
                </c:pt>
                <c:pt idx="4">
                  <c:v>成事家办</c:v>
                </c:pt>
                <c:pt idx="5">
                  <c:v>同行经代</c:v>
                </c:pt>
                <c:pt idx="6">
                  <c:v>ICLUB</c:v>
                </c:pt>
                <c:pt idx="7">
                  <c:v>IFA业务</c:v>
                </c:pt>
              </c:strCache>
            </c: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43.1</c:v>
                </c:pt>
                <c:pt idx="1">
                  <c:v>15.3</c:v>
                </c:pt>
                <c:pt idx="2">
                  <c:v>81.5</c:v>
                </c:pt>
                <c:pt idx="3">
                  <c:v>3.3</c:v>
                </c:pt>
                <c:pt idx="4">
                  <c:v>1.1</c:v>
                </c:pt>
                <c:pt idx="5">
                  <c:v>21.4</c:v>
                </c:pt>
                <c:pt idx="6">
                  <c:v>1.8</c:v>
                </c:pt>
                <c:pt idx="7">
                  <c:v>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待签 APE(M)</c:v>
                </c:pt>
              </c:strCache>
            </c:strRef>
          </c:tx>
          <c:spPr>
            <a:solidFill>
              <a:srgbClr val="C0392B"/>
            </a:solidFill>
            <a:effectLst/>
          </c:spPr>
          <c:invertIfNegative val="0"/>
          <c:dLbls>
            <c:delete val="1"/>
          </c:dLbls>
          <c:cat>
            <c:strRef>
              <c:f>Sheet1!$A$2:$A$9</c:f>
              <c:strCache>
                <c:ptCount val="8"/>
                <c:pt idx="0">
                  <c:v>永明经代</c:v>
                </c:pt>
                <c:pt idx="1">
                  <c:v>天领业务</c:v>
                </c:pt>
                <c:pt idx="2">
                  <c:v>BK业务</c:v>
                </c:pt>
                <c:pt idx="3">
                  <c:v>合伙转介</c:v>
                </c:pt>
                <c:pt idx="4">
                  <c:v>成事家办</c:v>
                </c:pt>
                <c:pt idx="5">
                  <c:v>同行经代</c:v>
                </c:pt>
                <c:pt idx="6">
                  <c:v>ICLUB</c:v>
                </c:pt>
                <c:pt idx="7">
                  <c:v>IFA业务</c:v>
                </c:pt>
              </c:strCache>
            </c:strRef>
          </c:cat>
          <c:val>
            <c:numRef>
              <c:f>Sheet1!$D$2:$D$9</c:f>
              <c:numCache>
                <c:formatCode>General</c:formatCode>
                <c:ptCount val="8"/>
                <c:pt idx="0">
                  <c:v>1.5</c:v>
                </c:pt>
                <c:pt idx="1">
                  <c:v>5</c:v>
                </c:pt>
                <c:pt idx="2">
                  <c:v>0.78</c:v>
                </c:pt>
                <c:pt idx="3">
                  <c:v>0</c:v>
                </c:pt>
                <c:pt idx="4">
                  <c:v>0.6</c:v>
                </c:pt>
                <c:pt idx="5">
                  <c:v>1</c:v>
                </c:pt>
                <c:pt idx="6">
                  <c:v>0</c:v>
                </c:pt>
                <c:pt idx="7">
                  <c:v>0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目标缺口 APE(M)</c:v>
                </c:pt>
              </c:strCache>
            </c:strRef>
          </c:tx>
          <c:spPr>
            <a:solidFill>
              <a:srgbClr val="C8C8C8"/>
            </a:solidFill>
            <a:ln w="9525">
              <a:solidFill>
                <a:srgbClr val="999999"/>
              </a:solidFill>
              <a:prstDash val="dash"/>
            </a:ln>
            <a:effectLst/>
          </c:spPr>
          <c:invertIfNegative val="0"/>
          <c:dLbls>
            <c:dLbl>
              <c:idx val="3"/>
              <c:layout>
                <c:manualLayout>
                  <c:x val="-0.000119306107500867"/>
                  <c:y val="0.0064896081145176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6"/>
              <c:layout>
                <c:manualLayout>
                  <c:x val="0.00122805437265101"/>
                  <c:y val="0.00186523968938481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7"/>
              <c:layout>
                <c:manualLayout>
                  <c:x val="0.00699732616834952"/>
                  <c:y val="-0.00519878586074195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0341887777294476"/>
                      <c:h val="0.0508192828306816"/>
                    </c:manualLayout>
                  </c15:layout>
                </c:ext>
              </c:extLst>
            </c:dLbl>
            <c:numFmt formatCode="#,##0.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700" b="1" i="0" u="none" strike="noStrike" kern="1200" baseline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Sheet1!$A$2:$A$9</c:f>
              <c:strCache>
                <c:ptCount val="8"/>
                <c:pt idx="0">
                  <c:v>永明经代</c:v>
                </c:pt>
                <c:pt idx="1">
                  <c:v>天领业务</c:v>
                </c:pt>
                <c:pt idx="2">
                  <c:v>BK业务</c:v>
                </c:pt>
                <c:pt idx="3">
                  <c:v>合伙转介</c:v>
                </c:pt>
                <c:pt idx="4">
                  <c:v>成事家办</c:v>
                </c:pt>
                <c:pt idx="5">
                  <c:v>同行经代</c:v>
                </c:pt>
                <c:pt idx="6">
                  <c:v>ICLUB</c:v>
                </c:pt>
                <c:pt idx="7">
                  <c:v>IFA业务</c:v>
                </c:pt>
              </c:strCache>
            </c:strRef>
          </c:cat>
          <c:val>
            <c:numRef>
              <c:f>Sheet1!$E$2:$E$9</c:f>
              <c:numCache>
                <c:formatCode>General</c:formatCode>
                <c:ptCount val="8"/>
                <c:pt idx="0">
                  <c:v>215.7</c:v>
                </c:pt>
                <c:pt idx="1">
                  <c:v>154.9</c:v>
                </c:pt>
                <c:pt idx="2">
                  <c:v>-53.2</c:v>
                </c:pt>
                <c:pt idx="3">
                  <c:v>67.4</c:v>
                </c:pt>
                <c:pt idx="4">
                  <c:v>66.1</c:v>
                </c:pt>
                <c:pt idx="5">
                  <c:v>88.3</c:v>
                </c:pt>
                <c:pt idx="6">
                  <c:v>34</c:v>
                </c:pt>
                <c:pt idx="7">
                  <c:v>25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60"/>
        <c:overlap val="10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low"/>
        <c:txPr>
          <a:bodyPr rot="0" spcFirstLastPara="0" vertOverflow="ellipsis" vert="horz" wrap="square" anchor="ctr" anchorCtr="1"/>
          <a:lstStyle/>
          <a:p>
            <a:pPr>
              <a:defRPr lang="zh-CN" sz="800" b="0" i="0" u="none" strike="noStrike" kern="1200" cap="none" spc="0" normalizeH="0" baseline="0">
                <a:solidFill>
                  <a:schemeClr val="tx1">
                    <a:lumMod val="95000"/>
                    <a:lumOff val="5000"/>
                  </a:schemeClr>
                </a:solidFill>
                <a:uFill>
                  <a:solidFill>
                    <a:schemeClr val="tx1">
                      <a:lumMod val="95000"/>
                      <a:lumOff val="5000"/>
                    </a:schemeClr>
                  </a:solidFill>
                </a:uFill>
                <a:latin typeface="+mn-lt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 cmpd="sng" algn="ctr">
              <a:solidFill>
                <a:srgbClr val="E8ECF0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legend>
      <c:legendPos val="t"/>
      <c:legendEntry>
        <c:idx val="0"/>
        <c:txPr>
          <a:bodyPr rot="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</c:legendEntry>
      <c:legendEntry>
        <c:idx val="1"/>
        <c:txPr>
          <a:bodyPr rot="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</c:legendEntry>
      <c:legendEntry>
        <c:idx val="2"/>
        <c:txPr>
          <a:bodyPr rot="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</c:legendEntry>
      <c:legendEntry>
        <c:idx val="3"/>
        <c:txPr>
          <a:bodyPr rot="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</c:legendEntry>
      <c:layout>
        <c:manualLayout>
          <c:xMode val="edge"/>
          <c:yMode val="edge"/>
          <c:x val="0.50161406025825"/>
          <c:y val="0.0127129417747267"/>
        </c:manualLayout>
      </c:layout>
      <c:overlay val="0"/>
      <c:txPr>
        <a:bodyPr rot="0" spcFirstLastPara="0" vertOverflow="ellipsis" vert="horz" wrap="square" anchor="ctr" anchorCtr="1"/>
        <a:lstStyle/>
        <a:p>
          <a:pPr>
            <a:defRPr lang="zh-CN" sz="800" b="0" i="0" u="none" strike="noStrike" kern="1200" baseline="0">
              <a:solidFill>
                <a:schemeClr val="tx1">
                  <a:lumMod val="95000"/>
                  <a:lumOff val="5000"/>
                </a:schemeClr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aef7c81c-81d3-4615-8274-f7afca748f52}"/>
      </c:ext>
    </c:extLst>
  </c:chart>
  <c:spPr>
    <a:solidFill>
      <a:srgbClr val="FFFFFF"/>
    </a:solidFill>
    <a:ln>
      <a:noFill/>
    </a:ln>
    <a:effectLst/>
  </c:spPr>
  <c:txPr>
    <a:bodyPr/>
    <a:lstStyle/>
    <a:p>
      <a:pPr>
        <a:defRPr lang="zh-CN">
          <a:solidFill>
            <a:schemeClr val="tx1">
              <a:lumMod val="95000"/>
              <a:lumOff val="5000"/>
            </a:schemeClr>
          </a:solidFill>
        </a:defRPr>
      </a:pPr>
    </a:p>
  </c:txPr>
  <c:externalData r:id="rId1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none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预约</c:v>
                </c:pt>
              </c:strCache>
            </c:strRef>
          </c:tx>
          <c:spPr>
            <a:ln w="22860" cap="flat" cmpd="sng" algn="ctr">
              <a:solidFill>
                <a:srgbClr val="2980B9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980B9"/>
              </a:solidFill>
              <a:ln w="9525" cap="flat" cmpd="sng" algn="ctr">
                <a:solidFill>
                  <a:srgbClr val="2980B9"/>
                </a:solidFill>
                <a:prstDash val="solid"/>
                <a:round/>
              </a:ln>
              <a:effectLst/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dLbl>
              <c:idx val="5"/>
              <c:delete val="1"/>
            </c:dLbl>
            <c:dLbl>
              <c:idx val="6"/>
              <c:delete val="1"/>
            </c:dLbl>
            <c:dLbl>
              <c:idx val="7"/>
              <c:delete val="1"/>
            </c:dLbl>
            <c:dLbl>
              <c:idx val="8"/>
              <c:delete val="1"/>
            </c:dLbl>
            <c:dLbl>
              <c:idx val="9"/>
              <c:delete val="1"/>
            </c:dLbl>
            <c:dLbl>
              <c:idx val="10"/>
              <c:delete val="1"/>
            </c:dLbl>
            <c:dLbl>
              <c:idx val="11"/>
              <c:delete val="1"/>
            </c:dLbl>
            <c:dLbl>
              <c:idx val="12"/>
              <c:delete val="1"/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200" b="0" i="0" u="none" strike="noStrike" kern="1200" baseline="0">
                    <a:solidFill>
                      <a:srgbClr val="000000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Sheet1!$A$2:$A$13</c:f>
              <c:strCache>
                <c:ptCount val="13"/>
                <c:pt idx="0">
                  <c:v>W01</c:v>
                </c:pt>
                <c:pt idx="1">
                  <c:v>W02</c:v>
                </c:pt>
                <c:pt idx="2">
                  <c:v>W03</c:v>
                </c:pt>
                <c:pt idx="3">
                  <c:v>W04</c:v>
                </c:pt>
                <c:pt idx="4">
                  <c:v>W05</c:v>
                </c:pt>
                <c:pt idx="5">
                  <c:v>W06</c:v>
                </c:pt>
                <c:pt idx="6">
                  <c:v>W07</c:v>
                </c:pt>
                <c:pt idx="7">
                  <c:v>W08</c:v>
                </c:pt>
                <c:pt idx="8">
                  <c:v>W09</c:v>
                </c:pt>
                <c:pt idx="9">
                  <c:v>W10</c:v>
                </c:pt>
                <c:pt idx="10">
                  <c:v>W11</c:v>
                </c:pt>
                <c:pt idx="11">
                  <c:v>W12</c:v>
                </c:pt>
                <c:pt idx="12">
                  <c:v>W13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3"/>
                <c:pt idx="0">
                  <c:v>6.5</c:v>
                </c:pt>
                <c:pt idx="1">
                  <c:v>14</c:v>
                </c:pt>
                <c:pt idx="2">
                  <c:v>18.7</c:v>
                </c:pt>
                <c:pt idx="3">
                  <c:v>10.2</c:v>
                </c:pt>
                <c:pt idx="4">
                  <c:v>29.1</c:v>
                </c:pt>
                <c:pt idx="5">
                  <c:v>16.4</c:v>
                </c:pt>
                <c:pt idx="6">
                  <c:v>2.7</c:v>
                </c:pt>
                <c:pt idx="7">
                  <c:v>6.8</c:v>
                </c:pt>
                <c:pt idx="8">
                  <c:v>5.9</c:v>
                </c:pt>
                <c:pt idx="9">
                  <c:v>20.6</c:v>
                </c:pt>
                <c:pt idx="10">
                  <c:v>19.6</c:v>
                </c:pt>
                <c:pt idx="11">
                  <c:v>25.9</c:v>
                </c:pt>
                <c:pt idx="12">
                  <c:v>6.01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签单</c:v>
                </c:pt>
              </c:strCache>
            </c:strRef>
          </c:tx>
          <c:spPr>
            <a:ln w="22860" cap="flat" cmpd="sng" algn="ctr">
              <a:solidFill>
                <a:srgbClr val="00796B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0796B"/>
              </a:solidFill>
              <a:ln w="9525" cap="flat" cmpd="sng" algn="ctr">
                <a:solidFill>
                  <a:srgbClr val="00796B"/>
                </a:solidFill>
                <a:prstDash val="solid"/>
                <a:round/>
              </a:ln>
              <a:effectLst/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dLbl>
              <c:idx val="5"/>
              <c:delete val="1"/>
            </c:dLbl>
            <c:dLbl>
              <c:idx val="6"/>
              <c:delete val="1"/>
            </c:dLbl>
            <c:dLbl>
              <c:idx val="7"/>
              <c:delete val="1"/>
            </c:dLbl>
            <c:dLbl>
              <c:idx val="8"/>
              <c:delete val="1"/>
            </c:dLbl>
            <c:dLbl>
              <c:idx val="9"/>
              <c:delete val="1"/>
            </c:dLbl>
            <c:dLbl>
              <c:idx val="10"/>
              <c:delete val="1"/>
            </c:dLbl>
            <c:dLbl>
              <c:idx val="11"/>
              <c:delete val="1"/>
            </c:dLbl>
            <c:dLbl>
              <c:idx val="12"/>
              <c:delete val="1"/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200" b="0" i="0" u="none" strike="noStrike" kern="1200" baseline="0">
                    <a:solidFill>
                      <a:srgbClr val="000000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Sheet1!$A$2:$A$13</c:f>
              <c:strCache>
                <c:ptCount val="13"/>
                <c:pt idx="0">
                  <c:v>W01</c:v>
                </c:pt>
                <c:pt idx="1">
                  <c:v>W02</c:v>
                </c:pt>
                <c:pt idx="2">
                  <c:v>W03</c:v>
                </c:pt>
                <c:pt idx="3">
                  <c:v>W04</c:v>
                </c:pt>
                <c:pt idx="4">
                  <c:v>W05</c:v>
                </c:pt>
                <c:pt idx="5">
                  <c:v>W06</c:v>
                </c:pt>
                <c:pt idx="6">
                  <c:v>W07</c:v>
                </c:pt>
                <c:pt idx="7">
                  <c:v>W08</c:v>
                </c:pt>
                <c:pt idx="8">
                  <c:v>W09</c:v>
                </c:pt>
                <c:pt idx="9">
                  <c:v>W10</c:v>
                </c:pt>
                <c:pt idx="10">
                  <c:v>W11</c:v>
                </c:pt>
                <c:pt idx="11">
                  <c:v>W12</c:v>
                </c:pt>
                <c:pt idx="12">
                  <c:v>W13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3"/>
                <c:pt idx="0">
                  <c:v>2.6</c:v>
                </c:pt>
                <c:pt idx="1">
                  <c:v>10.2</c:v>
                </c:pt>
                <c:pt idx="2">
                  <c:v>14.6</c:v>
                </c:pt>
                <c:pt idx="3">
                  <c:v>11.8</c:v>
                </c:pt>
                <c:pt idx="4">
                  <c:v>32.3</c:v>
                </c:pt>
                <c:pt idx="5">
                  <c:v>14.4</c:v>
                </c:pt>
                <c:pt idx="6">
                  <c:v>4.9</c:v>
                </c:pt>
                <c:pt idx="7">
                  <c:v>7.8</c:v>
                </c:pt>
                <c:pt idx="8">
                  <c:v>4.8</c:v>
                </c:pt>
                <c:pt idx="9">
                  <c:v>11.4</c:v>
                </c:pt>
                <c:pt idx="10">
                  <c:v>21.4</c:v>
                </c:pt>
                <c:pt idx="11">
                  <c:v>23.2</c:v>
                </c:pt>
                <c:pt idx="12">
                  <c:v>17.47</c:v>
                </c:pt>
              </c:numCache>
            </c:numRef>
          </c:val>
          <c:smooth val="1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递交</c:v>
                </c:pt>
              </c:strCache>
            </c:strRef>
          </c:tx>
          <c:spPr>
            <a:ln w="22860" cap="flat" cmpd="sng" algn="ctr">
              <a:solidFill>
                <a:srgbClr val="C8890A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C8890A"/>
              </a:solidFill>
              <a:ln w="9525" cap="flat" cmpd="sng" algn="ctr">
                <a:solidFill>
                  <a:srgbClr val="C8890A"/>
                </a:solidFill>
                <a:prstDash val="solid"/>
                <a:round/>
              </a:ln>
              <a:effectLst/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dLbl>
              <c:idx val="5"/>
              <c:delete val="1"/>
            </c:dLbl>
            <c:dLbl>
              <c:idx val="6"/>
              <c:delete val="1"/>
            </c:dLbl>
            <c:dLbl>
              <c:idx val="7"/>
              <c:delete val="1"/>
            </c:dLbl>
            <c:dLbl>
              <c:idx val="8"/>
              <c:delete val="1"/>
            </c:dLbl>
            <c:dLbl>
              <c:idx val="9"/>
              <c:delete val="1"/>
            </c:dLbl>
            <c:dLbl>
              <c:idx val="10"/>
              <c:delete val="1"/>
            </c:dLbl>
            <c:dLbl>
              <c:idx val="11"/>
              <c:delete val="1"/>
            </c:dLbl>
            <c:dLbl>
              <c:idx val="12"/>
              <c:delete val="1"/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200" b="0" i="0" u="none" strike="noStrike" kern="1200" baseline="0">
                    <a:solidFill>
                      <a:srgbClr val="000000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Sheet1!$A$2:$A$13</c:f>
              <c:strCache>
                <c:ptCount val="13"/>
                <c:pt idx="0">
                  <c:v>W01</c:v>
                </c:pt>
                <c:pt idx="1">
                  <c:v>W02</c:v>
                </c:pt>
                <c:pt idx="2">
                  <c:v>W03</c:v>
                </c:pt>
                <c:pt idx="3">
                  <c:v>W04</c:v>
                </c:pt>
                <c:pt idx="4">
                  <c:v>W05</c:v>
                </c:pt>
                <c:pt idx="5">
                  <c:v>W06</c:v>
                </c:pt>
                <c:pt idx="6">
                  <c:v>W07</c:v>
                </c:pt>
                <c:pt idx="7">
                  <c:v>W08</c:v>
                </c:pt>
                <c:pt idx="8">
                  <c:v>W09</c:v>
                </c:pt>
                <c:pt idx="9">
                  <c:v>W10</c:v>
                </c:pt>
                <c:pt idx="10">
                  <c:v>W11</c:v>
                </c:pt>
                <c:pt idx="11">
                  <c:v>W12</c:v>
                </c:pt>
                <c:pt idx="12">
                  <c:v>W13</c:v>
                </c:pt>
              </c:strCache>
            </c:strRef>
          </c:cat>
          <c:val>
            <c:numRef>
              <c:f>Sheet1!$D$2:$D$13</c:f>
              <c:numCache>
                <c:formatCode>General</c:formatCode>
                <c:ptCount val="13"/>
                <c:pt idx="0">
                  <c:v>10</c:v>
                </c:pt>
                <c:pt idx="1">
                  <c:v>7.9</c:v>
                </c:pt>
                <c:pt idx="2">
                  <c:v>11.3</c:v>
                </c:pt>
                <c:pt idx="3">
                  <c:v>13.5</c:v>
                </c:pt>
                <c:pt idx="4">
                  <c:v>17.3</c:v>
                </c:pt>
                <c:pt idx="5">
                  <c:v>15</c:v>
                </c:pt>
                <c:pt idx="6">
                  <c:v>0</c:v>
                </c:pt>
                <c:pt idx="7">
                  <c:v>6.3</c:v>
                </c:pt>
                <c:pt idx="8">
                  <c:v>10.8</c:v>
                </c:pt>
                <c:pt idx="9">
                  <c:v>10.1</c:v>
                </c:pt>
                <c:pt idx="10">
                  <c:v>12.3</c:v>
                </c:pt>
                <c:pt idx="11">
                  <c:v>7.2</c:v>
                </c:pt>
                <c:pt idx="12">
                  <c:v>39.7</c:v>
                </c:pt>
              </c:numCache>
            </c:numRef>
          </c:val>
          <c:smooth val="1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批核</c:v>
                </c:pt>
              </c:strCache>
            </c:strRef>
          </c:tx>
          <c:spPr>
            <a:ln w="22860" cap="flat" cmpd="sng" algn="ctr">
              <a:solidFill>
                <a:srgbClr val="1F3864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1F3864"/>
              </a:solidFill>
              <a:ln w="9525" cap="flat" cmpd="sng" algn="ctr">
                <a:solidFill>
                  <a:srgbClr val="1F3864"/>
                </a:solidFill>
                <a:prstDash val="solid"/>
                <a:round/>
              </a:ln>
              <a:effectLst/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dLbl>
              <c:idx val="5"/>
              <c:delete val="1"/>
            </c:dLbl>
            <c:dLbl>
              <c:idx val="6"/>
              <c:delete val="1"/>
            </c:dLbl>
            <c:dLbl>
              <c:idx val="7"/>
              <c:delete val="1"/>
            </c:dLbl>
            <c:dLbl>
              <c:idx val="8"/>
              <c:delete val="1"/>
            </c:dLbl>
            <c:dLbl>
              <c:idx val="9"/>
              <c:delete val="1"/>
            </c:dLbl>
            <c:dLbl>
              <c:idx val="10"/>
              <c:delete val="1"/>
            </c:dLbl>
            <c:dLbl>
              <c:idx val="11"/>
              <c:delete val="1"/>
            </c:dLbl>
            <c:dLbl>
              <c:idx val="12"/>
              <c:delete val="1"/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200" b="0" i="0" u="none" strike="noStrike" kern="1200" baseline="0">
                    <a:solidFill>
                      <a:srgbClr val="000000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Sheet1!$A$2:$A$13</c:f>
              <c:strCache>
                <c:ptCount val="13"/>
                <c:pt idx="0">
                  <c:v>W01</c:v>
                </c:pt>
                <c:pt idx="1">
                  <c:v>W02</c:v>
                </c:pt>
                <c:pt idx="2">
                  <c:v>W03</c:v>
                </c:pt>
                <c:pt idx="3">
                  <c:v>W04</c:v>
                </c:pt>
                <c:pt idx="4">
                  <c:v>W05</c:v>
                </c:pt>
                <c:pt idx="5">
                  <c:v>W06</c:v>
                </c:pt>
                <c:pt idx="6">
                  <c:v>W07</c:v>
                </c:pt>
                <c:pt idx="7">
                  <c:v>W08</c:v>
                </c:pt>
                <c:pt idx="8">
                  <c:v>W09</c:v>
                </c:pt>
                <c:pt idx="9">
                  <c:v>W10</c:v>
                </c:pt>
                <c:pt idx="10">
                  <c:v>W11</c:v>
                </c:pt>
                <c:pt idx="11">
                  <c:v>W12</c:v>
                </c:pt>
                <c:pt idx="12">
                  <c:v>W13</c:v>
                </c:pt>
              </c:strCache>
            </c:strRef>
          </c:cat>
          <c:val>
            <c:numRef>
              <c:f>Sheet1!$E$2:$E$13</c:f>
              <c:numCache>
                <c:formatCode>General</c:formatCode>
                <c:ptCount val="13"/>
                <c:pt idx="0">
                  <c:v>18</c:v>
                </c:pt>
                <c:pt idx="1">
                  <c:v>46.3</c:v>
                </c:pt>
                <c:pt idx="2">
                  <c:v>29.2</c:v>
                </c:pt>
                <c:pt idx="3">
                  <c:v>20.1</c:v>
                </c:pt>
                <c:pt idx="4">
                  <c:v>30</c:v>
                </c:pt>
                <c:pt idx="5">
                  <c:v>39.5</c:v>
                </c:pt>
                <c:pt idx="6">
                  <c:v>7.3</c:v>
                </c:pt>
                <c:pt idx="7">
                  <c:v>67</c:v>
                </c:pt>
                <c:pt idx="8">
                  <c:v>15.8</c:v>
                </c:pt>
                <c:pt idx="9">
                  <c:v>11.7</c:v>
                </c:pt>
                <c:pt idx="10">
                  <c:v>40.9</c:v>
                </c:pt>
                <c:pt idx="11">
                  <c:v>6.3</c:v>
                </c:pt>
                <c:pt idx="12">
                  <c:v>13.51</c:v>
                </c:pt>
              </c:numCache>
            </c:numRef>
          </c:val>
          <c:smooth val="1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1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750" b="0" i="0" u="none" strike="noStrike" kern="1200" baseline="0">
                <a:solidFill>
                  <a:srgbClr val="6B7280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75"/>
        </c:scaling>
        <c:delete val="0"/>
        <c:axPos val="l"/>
        <c:majorGridlines>
          <c:spPr>
            <a:ln w="6350" cap="flat" cmpd="sng" algn="ctr">
              <a:solidFill>
                <a:srgbClr val="E8EC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750" b="0" i="0" u="none" strike="noStrike" kern="1200" baseline="0">
                <a:solidFill>
                  <a:srgbClr val="6B7280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legend>
      <c:legendPos val="t"/>
      <c:layout/>
      <c:overlay val="0"/>
      <c:txPr>
        <a:bodyPr rot="0" spcFirstLastPara="0" vertOverflow="ellipsis" vert="horz" wrap="square" anchor="ctr" anchorCtr="1"/>
        <a:lstStyle/>
        <a:p>
          <a:pPr>
            <a:defRPr lang="zh-CN" sz="75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span"/>
    <c:showDLblsOverMax val="0"/>
    <c:extLst>
      <c:ext uri="{0b15fc19-7d7d-44ad-8c2d-2c3a37ce22c3}">
        <chartProps xmlns="https://web.wps.cn/et/2018/main" chartId="{e2502c51-a1de-4bca-bfdc-f4099c23b2f1}"/>
      </c:ext>
    </c:extLst>
  </c:chart>
  <c:spPr>
    <a:solidFill>
      <a:srgbClr val="FFFFFF"/>
    </a:solidFill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0651515151515152"/>
          <c:y val="0.0566666666666667"/>
          <c:w val="0.913383838383838"/>
          <c:h val="0.689277777777778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批核 APE(M)</c:v>
                </c:pt>
              </c:strCache>
            </c:strRef>
          </c:tx>
          <c:spPr>
            <a:solidFill>
              <a:srgbClr val="00796B"/>
            </a:solidFill>
            <a:effectLst/>
          </c:spPr>
          <c:invertIfNegative val="0"/>
          <c:dLbls>
            <c:dLbl>
              <c:idx val="5"/>
              <c:layout>
                <c:manualLayout>
                  <c:x val="-0.00852272727272727"/>
                  <c:y val="-0.0269444444444444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numFmt formatCode="#,##0.#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750" b="0" i="0" u="none" strike="noStrike" kern="1200" baseline="0">
                    <a:solidFill>
                      <a:schemeClr val="tx1"/>
                    </a:solidFill>
                    <a:latin typeface="Calibri" panose="020F0502020204030204"/>
                    <a:ea typeface="+mn-ea"/>
                    <a:cs typeface="+mn-c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Sheet1!$A$2:$A$7</c:f>
              <c:strCache>
                <c:ptCount val="6"/>
                <c:pt idx="0">
                  <c:v>姜通</c:v>
                </c:pt>
                <c:pt idx="1">
                  <c:v>战略合作</c:v>
                </c:pt>
                <c:pt idx="2">
                  <c:v>高瑶</c:v>
                </c:pt>
                <c:pt idx="3">
                  <c:v>Mark</c:v>
                </c:pt>
                <c:pt idx="4">
                  <c:v>白博文</c:v>
                </c:pt>
                <c:pt idx="5">
                  <c:v>魏子璐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118.66</c:v>
                </c:pt>
                <c:pt idx="1">
                  <c:v>39.39</c:v>
                </c:pt>
                <c:pt idx="2">
                  <c:v>26.1</c:v>
                </c:pt>
                <c:pt idx="3">
                  <c:v>13.28</c:v>
                </c:pt>
                <c:pt idx="4">
                  <c:v>12.88</c:v>
                </c:pt>
                <c:pt idx="5">
                  <c:v>1.88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未批核 APE(M)</c:v>
                </c:pt>
              </c:strCache>
            </c:strRef>
          </c:tx>
          <c:spPr>
            <a:solidFill>
              <a:srgbClr val="94A3B8"/>
            </a:solidFill>
            <a:effectLst/>
          </c:spPr>
          <c:invertIfNegative val="0"/>
          <c:dLbls>
            <c:dLbl>
              <c:idx val="5"/>
              <c:layout>
                <c:manualLayout>
                  <c:x val="0.864583333333333"/>
                  <c:y val="0.654008820049478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numFmt formatCode="#,##0.#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750" b="0" i="0" u="none" strike="noStrike" kern="1200" baseline="0">
                    <a:solidFill>
                      <a:schemeClr val="tx1"/>
                    </a:solidFill>
                    <a:latin typeface="Calibri" panose="020F0502020204030204"/>
                    <a:ea typeface="+mn-ea"/>
                    <a:cs typeface="+mn-c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Sheet1!$A$2:$A$7</c:f>
              <c:strCache>
                <c:ptCount val="6"/>
                <c:pt idx="0">
                  <c:v>姜通</c:v>
                </c:pt>
                <c:pt idx="1">
                  <c:v>战略合作</c:v>
                </c:pt>
                <c:pt idx="2">
                  <c:v>高瑶</c:v>
                </c:pt>
                <c:pt idx="3">
                  <c:v>Mark</c:v>
                </c:pt>
                <c:pt idx="4">
                  <c:v>白博文</c:v>
                </c:pt>
                <c:pt idx="5">
                  <c:v>魏子璐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37.33</c:v>
                </c:pt>
                <c:pt idx="1">
                  <c:v>5.77</c:v>
                </c:pt>
                <c:pt idx="2">
                  <c:v>3.02</c:v>
                </c:pt>
                <c:pt idx="3">
                  <c:v>0</c:v>
                </c:pt>
                <c:pt idx="4">
                  <c:v>6.86</c:v>
                </c:pt>
                <c:pt idx="5">
                  <c:v>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待签 APE(M)</c:v>
                </c:pt>
              </c:strCache>
            </c:strRef>
          </c:tx>
          <c:spPr>
            <a:solidFill>
              <a:srgbClr val="F5A623"/>
            </a:solidFill>
            <a:effectLst/>
          </c:spPr>
          <c:invertIfNegative val="0"/>
          <c:dLbls>
            <c:dLbl>
              <c:idx val="3"/>
              <c:layout>
                <c:manualLayout>
                  <c:x val="0.890467171717172"/>
                  <c:y val="0.653678606001936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4"/>
              <c:layout>
                <c:manualLayout>
                  <c:x val="-0.0266203703703704"/>
                  <c:y val="0.00388888888888889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5"/>
              <c:layout>
                <c:manualLayout>
                  <c:x val="0.534722222222222"/>
                  <c:y val="0.532641981284285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numFmt formatCode="#,##0.#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750" b="0" i="0" u="none" strike="noStrike" kern="1200" baseline="0">
                    <a:solidFill>
                      <a:schemeClr val="tx1"/>
                    </a:solidFill>
                    <a:latin typeface="Calibri" panose="020F0502020204030204"/>
                    <a:ea typeface="+mn-ea"/>
                    <a:cs typeface="+mn-c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Sheet1!$A$2:$A$7</c:f>
              <c:strCache>
                <c:ptCount val="6"/>
                <c:pt idx="0">
                  <c:v>姜通</c:v>
                </c:pt>
                <c:pt idx="1">
                  <c:v>战略合作</c:v>
                </c:pt>
                <c:pt idx="2">
                  <c:v>高瑶</c:v>
                </c:pt>
                <c:pt idx="3">
                  <c:v>Mark</c:v>
                </c:pt>
                <c:pt idx="4">
                  <c:v>白博文</c:v>
                </c:pt>
                <c:pt idx="5">
                  <c:v>魏子璐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12.04</c:v>
                </c:pt>
                <c:pt idx="1">
                  <c:v>1.87</c:v>
                </c:pt>
                <c:pt idx="2">
                  <c:v>0</c:v>
                </c:pt>
                <c:pt idx="3">
                  <c:v>0</c:v>
                </c:pt>
                <c:pt idx="4">
                  <c:v>0.78</c:v>
                </c:pt>
                <c:pt idx="5">
                  <c:v>0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0"/>
        <c:overlap val="10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rgbClr val="374151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 cmpd="sng" algn="ctr">
              <a:solidFill>
                <a:srgbClr val="D0D8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rgbClr val="6B7280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txPr>
        <a:bodyPr rot="0" spcFirstLastPara="0" vertOverflow="ellipsis" vert="horz" wrap="square" anchor="ctr" anchorCtr="1"/>
        <a:lstStyle/>
        <a:p>
          <a:pPr>
            <a:defRPr lang="zh-CN" sz="800" b="0" i="0" u="none" strike="noStrike" kern="1200" baseline="0">
              <a:solidFill>
                <a:srgbClr val="374151"/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span"/>
    <c:showDLblsOverMax val="0"/>
    <c:extLst>
      <c:ext uri="{0b15fc19-7d7d-44ad-8c2d-2c3a37ce22c3}">
        <chartProps xmlns="https://web.wps.cn/et/2018/main" chartId="{9109a323-4fec-471e-ba7d-9a6a58acaf36}"/>
      </c:ext>
    </c:extLst>
  </c:chart>
  <c:spPr>
    <a:solidFill>
      <a:srgbClr val="FFFFFF"/>
    </a:solidFill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0948572650486475"/>
          <c:y val="0.0500227376080036"/>
          <c:w val="0.8376777504544"/>
          <c:h val="0.755297862664848"/>
        </c:manualLayout>
      </c:layout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批核 APE(M)</c:v>
                </c:pt>
              </c:strCache>
            </c:strRef>
          </c:tx>
          <c:spPr>
            <a:solidFill>
              <a:srgbClr val="00796B"/>
            </a:solidFill>
            <a:effectLst/>
          </c:spPr>
          <c:invertIfNegative val="0"/>
          <c:dLbls>
            <c:numFmt formatCode="#,##0.#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750" b="0" i="0" u="none" strike="noStrike" kern="1200" baseline="0">
                    <a:solidFill>
                      <a:schemeClr val="tx1"/>
                    </a:solidFill>
                    <a:latin typeface="Calibri" panose="020F0502020204030204"/>
                    <a:ea typeface="+mn-ea"/>
                    <a:cs typeface="+mn-c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Sheet1!$A$2:$A$11</c:f>
              <c:strCache>
                <c:ptCount val="10"/>
                <c:pt idx="0">
                  <c:v>万城保险</c:v>
                </c:pt>
                <c:pt idx="1">
                  <c:v>宏鑫资产</c:v>
                </c:pt>
                <c:pt idx="2">
                  <c:v>企鹅保险</c:v>
                </c:pt>
                <c:pt idx="3">
                  <c:v>天誉国际(MGA)</c:v>
                </c:pt>
                <c:pt idx="4">
                  <c:v>万森保险</c:v>
                </c:pt>
                <c:pt idx="5">
                  <c:v>堡盛国际</c:v>
                </c:pt>
                <c:pt idx="6">
                  <c:v>利泰丰</c:v>
                </c:pt>
                <c:pt idx="7">
                  <c:v>紫荆保险</c:v>
                </c:pt>
                <c:pt idx="8">
                  <c:v>唯思</c:v>
                </c:pt>
                <c:pt idx="9">
                  <c:v>天誉国际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8.35</c:v>
                </c:pt>
                <c:pt idx="1">
                  <c:v>12.48</c:v>
                </c:pt>
                <c:pt idx="2">
                  <c:v>18.86</c:v>
                </c:pt>
                <c:pt idx="3">
                  <c:v>19.38</c:v>
                </c:pt>
                <c:pt idx="4">
                  <c:v>25.92</c:v>
                </c:pt>
                <c:pt idx="5">
                  <c:v>27.18</c:v>
                </c:pt>
                <c:pt idx="6">
                  <c:v>27.82</c:v>
                </c:pt>
                <c:pt idx="7">
                  <c:v>34.91</c:v>
                </c:pt>
                <c:pt idx="8">
                  <c:v>39.39</c:v>
                </c:pt>
                <c:pt idx="9">
                  <c:v>42.7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未批核 APE(M)</c:v>
                </c:pt>
              </c:strCache>
            </c:strRef>
          </c:tx>
          <c:spPr>
            <a:solidFill>
              <a:srgbClr val="94A3B8"/>
            </a:solidFill>
            <a:effectLst/>
          </c:spPr>
          <c:invertIfNegative val="0"/>
          <c:dLbls>
            <c:dLbl>
              <c:idx val="8"/>
              <c:layout>
                <c:manualLayout>
                  <c:x val="-0.00758636788048553"/>
                  <c:y val="0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numFmt formatCode="#,##0.#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750" b="0" i="0" u="none" strike="noStrike" kern="1200" baseline="0">
                    <a:solidFill>
                      <a:schemeClr val="tx1"/>
                    </a:solidFill>
                    <a:latin typeface="Calibri" panose="020F0502020204030204"/>
                    <a:ea typeface="+mn-ea"/>
                    <a:cs typeface="+mn-c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Sheet1!$A$2:$A$11</c:f>
              <c:strCache>
                <c:ptCount val="10"/>
                <c:pt idx="0">
                  <c:v>万城保险</c:v>
                </c:pt>
                <c:pt idx="1">
                  <c:v>宏鑫资产</c:v>
                </c:pt>
                <c:pt idx="2">
                  <c:v>企鹅保险</c:v>
                </c:pt>
                <c:pt idx="3">
                  <c:v>天誉国际(MGA)</c:v>
                </c:pt>
                <c:pt idx="4">
                  <c:v>万森保险</c:v>
                </c:pt>
                <c:pt idx="5">
                  <c:v>堡盛国际</c:v>
                </c:pt>
                <c:pt idx="6">
                  <c:v>利泰丰</c:v>
                </c:pt>
                <c:pt idx="7">
                  <c:v>紫荆保险</c:v>
                </c:pt>
                <c:pt idx="8">
                  <c:v>唯思</c:v>
                </c:pt>
                <c:pt idx="9">
                  <c:v>天誉国际</c:v>
                </c:pt>
              </c:strCache>
            </c: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1.27</c:v>
                </c:pt>
                <c:pt idx="1">
                  <c:v>0</c:v>
                </c:pt>
                <c:pt idx="2">
                  <c:v>0.78</c:v>
                </c:pt>
                <c:pt idx="3">
                  <c:v>23.97</c:v>
                </c:pt>
                <c:pt idx="4">
                  <c:v>3.02</c:v>
                </c:pt>
                <c:pt idx="5">
                  <c:v>2.38</c:v>
                </c:pt>
                <c:pt idx="6">
                  <c:v>1.01</c:v>
                </c:pt>
                <c:pt idx="7">
                  <c:v>4.54</c:v>
                </c:pt>
                <c:pt idx="8">
                  <c:v>5.77</c:v>
                </c:pt>
                <c:pt idx="9">
                  <c:v>8.93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待签 APE(M)</c:v>
                </c:pt>
              </c:strCache>
            </c:strRef>
          </c:tx>
          <c:spPr>
            <a:solidFill>
              <a:srgbClr val="F5A623"/>
            </a:solidFill>
            <a:effectLst/>
          </c:spPr>
          <c:invertIfNegative val="0"/>
          <c:dLbls>
            <c:dLbl>
              <c:idx val="8"/>
              <c:layout>
                <c:manualLayout>
                  <c:x val="0.00373482726423903"/>
                  <c:y val="0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046218487394958"/>
                      <c:h val="0.0406144781144781"/>
                    </c:manualLayout>
                  </c15:layout>
                </c:ext>
              </c:extLst>
            </c:dLbl>
            <c:numFmt formatCode="#,##0.#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750" b="0" i="0" u="none" strike="noStrike" kern="1200" baseline="0">
                    <a:solidFill>
                      <a:schemeClr val="tx1"/>
                    </a:solidFill>
                    <a:latin typeface="Calibri" panose="020F0502020204030204"/>
                    <a:ea typeface="+mn-ea"/>
                    <a:cs typeface="+mn-c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Sheet1!$A$2:$A$11</c:f>
              <c:strCache>
                <c:ptCount val="10"/>
                <c:pt idx="0">
                  <c:v>万城保险</c:v>
                </c:pt>
                <c:pt idx="1">
                  <c:v>宏鑫资产</c:v>
                </c:pt>
                <c:pt idx="2">
                  <c:v>企鹅保险</c:v>
                </c:pt>
                <c:pt idx="3">
                  <c:v>天誉国际(MGA)</c:v>
                </c:pt>
                <c:pt idx="4">
                  <c:v>万森保险</c:v>
                </c:pt>
                <c:pt idx="5">
                  <c:v>堡盛国际</c:v>
                </c:pt>
                <c:pt idx="6">
                  <c:v>利泰丰</c:v>
                </c:pt>
                <c:pt idx="7">
                  <c:v>紫荆保险</c:v>
                </c:pt>
                <c:pt idx="8">
                  <c:v>唯思</c:v>
                </c:pt>
                <c:pt idx="9">
                  <c:v>天誉国际</c:v>
                </c:pt>
              </c:strCache>
            </c:strRef>
          </c:cat>
          <c:val>
            <c:numRef>
              <c:f>Sheet1!$D$2:$D$11</c:f>
              <c:numCache>
                <c:formatCode>General</c:formatCode>
                <c:ptCount val="10"/>
                <c:pt idx="0">
                  <c:v>0</c:v>
                </c:pt>
                <c:pt idx="1">
                  <c:v>0</c:v>
                </c:pt>
                <c:pt idx="2">
                  <c:v>0.78</c:v>
                </c:pt>
                <c:pt idx="3">
                  <c:v>9.24</c:v>
                </c:pt>
                <c:pt idx="4">
                  <c:v>0</c:v>
                </c:pt>
                <c:pt idx="5">
                  <c:v>0.28</c:v>
                </c:pt>
                <c:pt idx="6">
                  <c:v>0</c:v>
                </c:pt>
                <c:pt idx="7">
                  <c:v>0.96</c:v>
                </c:pt>
                <c:pt idx="8">
                  <c:v>1.87</c:v>
                </c:pt>
                <c:pt idx="9">
                  <c:v>1.74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0"/>
        <c:overlap val="10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 cmpd="sng" algn="ctr">
              <a:solidFill>
                <a:srgbClr val="D0D8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egendEntry>
        <c:idx val="0"/>
        <c:txPr>
          <a:bodyPr rot="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</c:legendEntry>
      <c:legendEntry>
        <c:idx val="1"/>
        <c:txPr>
          <a:bodyPr rot="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</c:legendEntry>
      <c:legendEntry>
        <c:idx val="2"/>
        <c:txPr>
          <a:bodyPr rot="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</c:legendEntry>
      <c:layout/>
      <c:overlay val="0"/>
      <c:txPr>
        <a:bodyPr rot="0" spcFirstLastPara="0" vertOverflow="ellipsis" vert="horz" wrap="square" anchor="ctr" anchorCtr="1"/>
        <a:lstStyle/>
        <a:p>
          <a:pPr>
            <a:defRPr lang="zh-CN" sz="8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span"/>
    <c:showDLblsOverMax val="0"/>
    <c:extLst>
      <c:ext uri="{0b15fc19-7d7d-44ad-8c2d-2c3a37ce22c3}">
        <chartProps xmlns="https://web.wps.cn/et/2018/main" chartId="{05197ed0-b174-4c93-ab25-51cdc9fa0e6e}"/>
      </c:ext>
    </c:extLst>
  </c:chart>
  <c:spPr>
    <a:solidFill>
      <a:srgbClr val="FFFFFF"/>
    </a:solidFill>
    <a:ln>
      <a:noFill/>
    </a:ln>
    <a:effectLst/>
  </c:spPr>
  <c:txPr>
    <a:bodyPr/>
    <a:lstStyle/>
    <a:p>
      <a:pPr>
        <a:defRPr lang="zh-CN">
          <a:solidFill>
            <a:schemeClr val="tx1"/>
          </a:solidFill>
        </a:defRPr>
      </a:pPr>
    </a:p>
  </c:txPr>
  <c:externalData r:id="rId1">
    <c:autoUpdate val="0"/>
  </c:externalData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0332088285229202"/>
          <c:y val="0.0662225705329154"/>
          <c:w val="0.954340690435767"/>
          <c:h val="0.531818181818182"/>
        </c:manualLayout>
      </c:layout>
      <c:lineChart>
        <c:grouping val="none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同行预约(M)</c:v>
                </c:pt>
              </c:strCache>
            </c:strRef>
          </c:tx>
          <c:spPr>
            <a:ln w="19050" cap="rnd" cmpd="sng" algn="ctr">
              <a:solidFill>
                <a:schemeClr val="accent2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chemeClr val="accent2"/>
              </a:solidFill>
              <a:ln w="6350" cap="flat" cmpd="sng" algn="ctr">
                <a:solidFill>
                  <a:schemeClr val="accent2"/>
                </a:solidFill>
                <a:prstDash val="solid"/>
                <a:round/>
              </a:ln>
              <a:effectLst/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dLbl>
              <c:idx val="5"/>
              <c:delete val="1"/>
            </c:dLbl>
            <c:dLbl>
              <c:idx val="6"/>
              <c:delete val="1"/>
            </c:dLbl>
            <c:dLbl>
              <c:idx val="7"/>
              <c:delete val="1"/>
            </c:dLbl>
            <c:dLbl>
              <c:idx val="8"/>
              <c:delete val="1"/>
            </c:dLbl>
            <c:dLbl>
              <c:idx val="9"/>
              <c:delete val="1"/>
            </c:dLbl>
            <c:dLbl>
              <c:idx val="10"/>
              <c:delete val="1"/>
            </c:dLbl>
            <c:dLbl>
              <c:idx val="11"/>
              <c:delete val="1"/>
            </c:dLbl>
            <c:dLbl>
              <c:idx val="12"/>
              <c:delete val="1"/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200" b="0" i="0" u="none" strike="noStrike" kern="1200" baseline="0">
                    <a:solidFill>
                      <a:srgbClr val="000000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>
                  <c:spPr>
                    <a:ln w="6350" cap="flat" cmpd="sng" algn="ctr">
                      <a:solidFill>
                        <a:schemeClr val="tx1"/>
                      </a:solidFill>
                      <a:prstDash val="solid"/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Sheet1!$A$2:$A$13</c:f>
              <c:strCache>
                <c:ptCount val="13"/>
                <c:pt idx="0">
                  <c:v>W01</c:v>
                </c:pt>
                <c:pt idx="1">
                  <c:v>W02</c:v>
                </c:pt>
                <c:pt idx="2">
                  <c:v>W03</c:v>
                </c:pt>
                <c:pt idx="3">
                  <c:v>W04</c:v>
                </c:pt>
                <c:pt idx="4">
                  <c:v>W05</c:v>
                </c:pt>
                <c:pt idx="5">
                  <c:v>W06</c:v>
                </c:pt>
                <c:pt idx="6">
                  <c:v>W07</c:v>
                </c:pt>
                <c:pt idx="7">
                  <c:v>W08</c:v>
                </c:pt>
                <c:pt idx="8">
                  <c:v>W09</c:v>
                </c:pt>
                <c:pt idx="9">
                  <c:v>W10</c:v>
                </c:pt>
                <c:pt idx="10">
                  <c:v>W11</c:v>
                </c:pt>
                <c:pt idx="11">
                  <c:v>W12</c:v>
                </c:pt>
                <c:pt idx="12">
                  <c:v>W13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3"/>
                <c:pt idx="0">
                  <c:v>3.15</c:v>
                </c:pt>
                <c:pt idx="1">
                  <c:v>6.39</c:v>
                </c:pt>
                <c:pt idx="2">
                  <c:v>9.86</c:v>
                </c:pt>
                <c:pt idx="3">
                  <c:v>5.58</c:v>
                </c:pt>
                <c:pt idx="4">
                  <c:v>6.97</c:v>
                </c:pt>
                <c:pt idx="5">
                  <c:v>9.18</c:v>
                </c:pt>
                <c:pt idx="6">
                  <c:v>2.11</c:v>
                </c:pt>
                <c:pt idx="7">
                  <c:v>6.38</c:v>
                </c:pt>
                <c:pt idx="8">
                  <c:v>3.39</c:v>
                </c:pt>
                <c:pt idx="9">
                  <c:v>12.3</c:v>
                </c:pt>
                <c:pt idx="10">
                  <c:v>11.16</c:v>
                </c:pt>
                <c:pt idx="11">
                  <c:v>15.27</c:v>
                </c:pt>
                <c:pt idx="12">
                  <c:v>3.58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同行签单(M)</c:v>
                </c:pt>
              </c:strCache>
            </c:strRef>
          </c:tx>
          <c:spPr>
            <a:ln w="19050" cap="rnd" cmpd="sng" algn="ctr">
              <a:solidFill>
                <a:schemeClr val="accent4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chemeClr val="accent4"/>
              </a:solidFill>
              <a:ln w="6350" cap="flat" cmpd="sng" algn="ctr">
                <a:solidFill>
                  <a:schemeClr val="accent4"/>
                </a:solidFill>
                <a:prstDash val="solid"/>
                <a:round/>
              </a:ln>
              <a:effectLst/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dLbl>
              <c:idx val="5"/>
              <c:delete val="1"/>
            </c:dLbl>
            <c:dLbl>
              <c:idx val="6"/>
              <c:delete val="1"/>
            </c:dLbl>
            <c:dLbl>
              <c:idx val="7"/>
              <c:delete val="1"/>
            </c:dLbl>
            <c:dLbl>
              <c:idx val="8"/>
              <c:delete val="1"/>
            </c:dLbl>
            <c:dLbl>
              <c:idx val="9"/>
              <c:delete val="1"/>
            </c:dLbl>
            <c:dLbl>
              <c:idx val="10"/>
              <c:delete val="1"/>
            </c:dLbl>
            <c:dLbl>
              <c:idx val="11"/>
              <c:delete val="1"/>
            </c:dLbl>
            <c:dLbl>
              <c:idx val="12"/>
              <c:delete val="1"/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200" b="0" i="0" u="none" strike="noStrike" kern="1200" baseline="0">
                    <a:solidFill>
                      <a:srgbClr val="000000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>
                  <c:spPr>
                    <a:ln w="6350" cap="flat" cmpd="sng" algn="ctr">
                      <a:solidFill>
                        <a:schemeClr val="tx1"/>
                      </a:solidFill>
                      <a:prstDash val="solid"/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Sheet1!$A$2:$A$13</c:f>
              <c:strCache>
                <c:ptCount val="13"/>
                <c:pt idx="0">
                  <c:v>W01</c:v>
                </c:pt>
                <c:pt idx="1">
                  <c:v>W02</c:v>
                </c:pt>
                <c:pt idx="2">
                  <c:v>W03</c:v>
                </c:pt>
                <c:pt idx="3">
                  <c:v>W04</c:v>
                </c:pt>
                <c:pt idx="4">
                  <c:v>W05</c:v>
                </c:pt>
                <c:pt idx="5">
                  <c:v>W06</c:v>
                </c:pt>
                <c:pt idx="6">
                  <c:v>W07</c:v>
                </c:pt>
                <c:pt idx="7">
                  <c:v>W08</c:v>
                </c:pt>
                <c:pt idx="8">
                  <c:v>W09</c:v>
                </c:pt>
                <c:pt idx="9">
                  <c:v>W10</c:v>
                </c:pt>
                <c:pt idx="10">
                  <c:v>W11</c:v>
                </c:pt>
                <c:pt idx="11">
                  <c:v>W12</c:v>
                </c:pt>
                <c:pt idx="12">
                  <c:v>W13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3"/>
                <c:pt idx="0">
                  <c:v>1.17</c:v>
                </c:pt>
                <c:pt idx="1">
                  <c:v>3.68</c:v>
                </c:pt>
                <c:pt idx="2">
                  <c:v>6.9</c:v>
                </c:pt>
                <c:pt idx="3">
                  <c:v>6.23</c:v>
                </c:pt>
                <c:pt idx="4">
                  <c:v>12.16</c:v>
                </c:pt>
                <c:pt idx="5">
                  <c:v>5.88</c:v>
                </c:pt>
                <c:pt idx="6">
                  <c:v>3.82</c:v>
                </c:pt>
                <c:pt idx="7">
                  <c:v>4.09</c:v>
                </c:pt>
                <c:pt idx="8">
                  <c:v>2.65</c:v>
                </c:pt>
                <c:pt idx="9">
                  <c:v>8.54</c:v>
                </c:pt>
                <c:pt idx="10">
                  <c:v>10.94</c:v>
                </c:pt>
                <c:pt idx="11">
                  <c:v>20.39</c:v>
                </c:pt>
                <c:pt idx="12">
                  <c:v>7.55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同行批核(M)</c:v>
                </c:pt>
              </c:strCache>
            </c:strRef>
          </c:tx>
          <c:spPr>
            <a:ln w="19050" cap="rnd" cmpd="sng" algn="ctr">
              <a:solidFill>
                <a:schemeClr val="accent6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chemeClr val="accent6"/>
              </a:solidFill>
              <a:ln w="6350" cap="flat" cmpd="sng" algn="ctr">
                <a:solidFill>
                  <a:schemeClr val="accent6"/>
                </a:solidFill>
                <a:prstDash val="solid"/>
                <a:round/>
              </a:ln>
              <a:effectLst/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dLbl>
              <c:idx val="5"/>
              <c:delete val="1"/>
            </c:dLbl>
            <c:dLbl>
              <c:idx val="6"/>
              <c:delete val="1"/>
            </c:dLbl>
            <c:dLbl>
              <c:idx val="7"/>
              <c:delete val="1"/>
            </c:dLbl>
            <c:dLbl>
              <c:idx val="8"/>
              <c:delete val="1"/>
            </c:dLbl>
            <c:dLbl>
              <c:idx val="9"/>
              <c:delete val="1"/>
            </c:dLbl>
            <c:dLbl>
              <c:idx val="10"/>
              <c:delete val="1"/>
            </c:dLbl>
            <c:dLbl>
              <c:idx val="11"/>
              <c:delete val="1"/>
            </c:dLbl>
            <c:dLbl>
              <c:idx val="12"/>
              <c:delete val="1"/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200" b="0" i="0" u="none" strike="noStrike" kern="1200" baseline="0">
                    <a:solidFill>
                      <a:srgbClr val="000000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>
                  <c:spPr>
                    <a:ln w="6350" cap="flat" cmpd="sng" algn="ctr">
                      <a:solidFill>
                        <a:schemeClr val="tx1"/>
                      </a:solidFill>
                      <a:prstDash val="solid"/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Sheet1!$A$2:$A$13</c:f>
              <c:strCache>
                <c:ptCount val="13"/>
                <c:pt idx="0">
                  <c:v>W01</c:v>
                </c:pt>
                <c:pt idx="1">
                  <c:v>W02</c:v>
                </c:pt>
                <c:pt idx="2">
                  <c:v>W03</c:v>
                </c:pt>
                <c:pt idx="3">
                  <c:v>W04</c:v>
                </c:pt>
                <c:pt idx="4">
                  <c:v>W05</c:v>
                </c:pt>
                <c:pt idx="5">
                  <c:v>W06</c:v>
                </c:pt>
                <c:pt idx="6">
                  <c:v>W07</c:v>
                </c:pt>
                <c:pt idx="7">
                  <c:v>W08</c:v>
                </c:pt>
                <c:pt idx="8">
                  <c:v>W09</c:v>
                </c:pt>
                <c:pt idx="9">
                  <c:v>W10</c:v>
                </c:pt>
                <c:pt idx="10">
                  <c:v>W11</c:v>
                </c:pt>
                <c:pt idx="11">
                  <c:v>W12</c:v>
                </c:pt>
                <c:pt idx="12">
                  <c:v>W13</c:v>
                </c:pt>
              </c:strCache>
            </c:strRef>
          </c:cat>
          <c:val>
            <c:numRef>
              <c:f>Sheet1!$D$2:$D$13</c:f>
              <c:numCache>
                <c:formatCode>General</c:formatCode>
                <c:ptCount val="13"/>
                <c:pt idx="0">
                  <c:v>13.66</c:v>
                </c:pt>
                <c:pt idx="1">
                  <c:v>40.4</c:v>
                </c:pt>
                <c:pt idx="2">
                  <c:v>17.31</c:v>
                </c:pt>
                <c:pt idx="3">
                  <c:v>16.39</c:v>
                </c:pt>
                <c:pt idx="4">
                  <c:v>8.47</c:v>
                </c:pt>
                <c:pt idx="5">
                  <c:v>5.19</c:v>
                </c:pt>
                <c:pt idx="6">
                  <c:v>5.3</c:v>
                </c:pt>
                <c:pt idx="7">
                  <c:v>7.02</c:v>
                </c:pt>
                <c:pt idx="8">
                  <c:v>3.17</c:v>
                </c:pt>
                <c:pt idx="9">
                  <c:v>4.99</c:v>
                </c:pt>
                <c:pt idx="10">
                  <c:v>2.85</c:v>
                </c:pt>
                <c:pt idx="11">
                  <c:v>2.01</c:v>
                </c:pt>
                <c:pt idx="12">
                  <c:v>10.05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noFill/>
          <a:ln w="12700" cap="flat" cmpd="sng" algn="ctr">
            <a:solidFill>
              <a:srgbClr val="888888"/>
            </a:solidFill>
            <a:prstDash val="solid"/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1200" b="0" i="0" u="none" strike="noStrike" kern="1200" baseline="0">
                <a:solidFill>
                  <a:srgbClr val="6B7280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 cmpd="sng" algn="ctr">
              <a:solidFill>
                <a:srgbClr val="E8ECF0"/>
              </a:solidFill>
              <a:prstDash val="solid"/>
              <a:round/>
            </a:ln>
            <a:effectLst/>
          </c:spPr>
        </c:majorGridlines>
        <c:numFmt formatCode="General" sourceLinked="0"/>
        <c:majorTickMark val="out"/>
        <c:minorTickMark val="none"/>
        <c:tickLblPos val="nextTo"/>
        <c:spPr>
          <a:noFill/>
          <a:ln w="12700" cap="flat" cmpd="sng" algn="ctr">
            <a:solidFill>
              <a:srgbClr val="888888"/>
            </a:solidFill>
            <a:prstDash val="solid"/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1200" b="0" i="0" u="none" strike="noStrike" kern="1200" baseline="0">
                <a:solidFill>
                  <a:srgbClr val="6B7280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381465761177136"/>
          <c:y val="0.871865203761755"/>
        </c:manualLayout>
      </c:layout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zh-CN" sz="8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span"/>
    <c:showDLblsOverMax val="0"/>
    <c:extLst>
      <c:ext uri="{0b15fc19-7d7d-44ad-8c2d-2c3a37ce22c3}">
        <chartProps xmlns="https://web.wps.cn/et/2018/main" chartId="{927977ba-dfe8-49e2-a067-6da98031ba51}"/>
      </c:ext>
    </c:extLst>
  </c:chart>
  <c:spPr>
    <a:solidFill>
      <a:srgbClr val="FFFFFF"/>
    </a:solidFill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2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0512861522057844"/>
          <c:y val="0.101338432122371"/>
          <c:w val="0.919392243102759"/>
          <c:h val="0.523996175908222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民生银行</c:v>
                </c:pt>
              </c:strCache>
            </c:strRef>
          </c:tx>
          <c:spPr>
            <a:solidFill>
              <a:srgbClr val="922B21"/>
            </a:solidFill>
            <a:effectLst/>
          </c:spPr>
          <c:invertIfNegative val="0"/>
          <c:dLbls>
            <c:dLbl>
              <c:idx val="0"/>
              <c:layout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600" b="1" i="0" u="none" strike="noStrike" kern="1200" cap="none" spc="0" normalizeH="0" baseline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 lang="zh-CN" sz="600" b="1" u="none" strike="noStrike" cap="none" normalizeH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</a:rPr>
                      <a:t>民生 6.86M/11件</a:t>
                    </a:r>
                    <a:endParaRPr altLang="en-US" sz="600" u="none" strike="noStrike" cap="none" normalizeH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</a:endParaRPr>
                  </a:p>
                </c:rich>
              </c:tx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zh-CN" sz="600" b="1" i="0" u="none" strike="noStrike" kern="1200" cap="none" spc="0" normalizeH="0" baseline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1"/>
              <c:layout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600" b="1" i="0" u="none" strike="noStrike" kern="1200" cap="none" spc="0" normalizeH="0" baseline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 lang="zh-CN" sz="600" b="1" u="none" strike="noStrike" cap="none" normalizeH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</a:rPr>
                      <a:t>民生 3.9M/6件</a:t>
                    </a:r>
                    <a:endParaRPr altLang="en-US" sz="600" u="none" strike="noStrike" cap="none" normalizeH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</a:endParaRPr>
                  </a:p>
                </c:rich>
              </c:tx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zh-CN" sz="600" b="1" i="0" u="none" strike="noStrike" kern="1200" cap="none" spc="0" normalizeH="0" baseline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2"/>
              <c:layout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600" b="1" i="0" u="none" strike="noStrike" kern="1200" cap="none" spc="0" normalizeH="0" baseline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 lang="zh-CN" sz="600" b="1" u="none" strike="noStrike" cap="none" normalizeH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</a:rPr>
                      <a:t>民生 10.53M/19件</a:t>
                    </a:r>
                    <a:endParaRPr altLang="en-US" sz="600" u="none" strike="noStrike" cap="none" normalizeH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</a:endParaRPr>
                  </a:p>
                </c:rich>
              </c:tx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zh-CN" sz="600" b="1" i="0" u="none" strike="noStrike" kern="1200" cap="none" spc="0" normalizeH="0" baseline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3"/>
              <c:layout>
                <c:manualLayout>
                  <c:x val="-0.0365187258429961"/>
                  <c:y val="-0.0458891013384321"/>
                </c:manualLayout>
              </c:layout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600" b="1" i="0" u="none" strike="noStrike" kern="1200" cap="none" spc="0" normalizeH="0" baseline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 lang="zh-CN" sz="600" b="1" u="none" strike="noStrike" cap="none" normalizeH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</a:rPr>
                      <a:t>民生 0M</a:t>
                    </a:r>
                    <a:endParaRPr altLang="en-US" sz="600" u="none" strike="noStrike" cap="none" normalizeH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</a:endParaRPr>
                  </a:p>
                </c:rich>
              </c:tx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zh-CN" sz="600" b="1" i="0" u="none" strike="noStrike" kern="1200" cap="none" spc="0" normalizeH="0" baseline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600" b="0" i="0" u="none" strike="noStrike" kern="1200" cap="none" spc="0" normalizeH="0" baseline="0">
                    <a:solidFill>
                      <a:schemeClr val="tx1"/>
                    </a:solidFill>
                    <a:uFill>
                      <a:solidFill>
                        <a:schemeClr val="tx1"/>
                      </a:solidFill>
                    </a:uFill>
                    <a:latin typeface="+mn-lt"/>
                    <a:ea typeface="+mn-ea"/>
                    <a:cs typeface="+mn-cs"/>
                  </a:defRPr>
                </a:pPr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Sheet1!$A$2:$A$5</c:f>
              <c:strCache>
                <c:ptCount val="4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6.86</c:v>
                </c:pt>
                <c:pt idx="1">
                  <c:v>3.9</c:v>
                </c:pt>
                <c:pt idx="2">
                  <c:v>10.53</c:v>
                </c:pt>
                <c:pt idx="3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Sheet1!$B$1</c:f>
              <c:strCache>
                <c:ptCount val="1"/>
                <c:pt idx="0">
                  <c:v>平安银行</c:v>
                </c:pt>
              </c:strCache>
            </c:strRef>
          </c:tx>
          <c:spPr>
            <a:solidFill>
              <a:srgbClr val="E8A5A0"/>
            </a:solidFill>
            <a:effectLst/>
          </c:spPr>
          <c:invertIfNegative val="0"/>
          <c:dLbls>
            <c:dLbl>
              <c:idx val="0"/>
              <c:layout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600" b="1" i="0" u="none" strike="noStrike" kern="1200" cap="none" spc="0" normalizeH="0" baseline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 lang="zh-CN" sz="600" b="1" u="none" strike="noStrike" cap="none" normalizeH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</a:rPr>
                      <a:t>平安 7.39M/7件</a:t>
                    </a:r>
                    <a:endParaRPr altLang="en-US" sz="600" u="none" strike="noStrike" cap="none" normalizeH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</a:endParaRPr>
                  </a:p>
                </c:rich>
              </c:tx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zh-CN" sz="600" b="1" i="0" u="none" strike="noStrike" kern="1200" cap="none" spc="0" normalizeH="0" baseline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1"/>
              <c:layout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600" b="1" i="0" u="none" strike="noStrike" kern="1200" cap="none" spc="0" normalizeH="0" baseline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 lang="zh-CN" sz="600" b="1" u="none" strike="noStrike" cap="none" normalizeH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</a:rPr>
                      <a:t>平安 3.46M/2件</a:t>
                    </a:r>
                    <a:endParaRPr altLang="en-US" sz="600" u="none" strike="noStrike" cap="none" normalizeH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</a:endParaRPr>
                  </a:p>
                </c:rich>
              </c:tx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zh-CN" sz="600" b="1" i="0" u="none" strike="noStrike" kern="1200" cap="none" spc="0" normalizeH="0" baseline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2"/>
              <c:layout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600" b="1" i="0" u="none" strike="noStrike" kern="1200" cap="none" spc="0" normalizeH="0" baseline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 lang="zh-CN" sz="600" b="1" u="none" strike="noStrike" cap="none" normalizeH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</a:rPr>
                      <a:t>平安 4.29M/3件</a:t>
                    </a:r>
                    <a:endParaRPr altLang="en-US" sz="600" u="none" strike="noStrike" cap="none" normalizeH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</a:endParaRPr>
                  </a:p>
                </c:rich>
              </c:tx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zh-CN" sz="600" b="1" i="0" u="none" strike="noStrike" kern="1200" cap="none" spc="0" normalizeH="0" baseline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3"/>
              <c:layout>
                <c:manualLayout>
                  <c:x val="0.0453518592562976"/>
                  <c:y val="-0.0564053537284895"/>
                </c:manualLayout>
              </c:layout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600" b="1" i="0" u="none" strike="noStrike" kern="1200" cap="none" spc="0" normalizeH="0" baseline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 lang="zh-CN" sz="600" b="1" u="none" strike="noStrike" cap="none" normalizeH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</a:rPr>
                      <a:t>平安 0M</a:t>
                    </a:r>
                    <a:endParaRPr altLang="en-US" sz="600" u="none" strike="noStrike" cap="none" normalizeH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</a:endParaRPr>
                  </a:p>
                </c:rich>
              </c:tx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zh-CN" sz="600" b="1" i="0" u="none" strike="noStrike" kern="1200" cap="none" spc="0" normalizeH="0" baseline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600" b="0" i="0" u="none" strike="noStrike" kern="1200" cap="none" spc="0" normalizeH="0" baseline="0">
                    <a:solidFill>
                      <a:schemeClr val="tx1"/>
                    </a:solidFill>
                    <a:uFill>
                      <a:solidFill>
                        <a:schemeClr val="tx1"/>
                      </a:solidFill>
                    </a:uFill>
                    <a:latin typeface="+mn-lt"/>
                    <a:ea typeface="+mn-ea"/>
                    <a:cs typeface="+mn-cs"/>
                  </a:defRPr>
                </a:pPr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Sheet1!$A$2:$A$5</c:f>
              <c:strCache>
                <c:ptCount val="4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7.39</c:v>
                </c:pt>
                <c:pt idx="1">
                  <c:v>3.46</c:v>
                </c:pt>
                <c:pt idx="2">
                  <c:v>4.29</c:v>
                </c:pt>
                <c:pt idx="3">
                  <c:v>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2094734601"/>
        <c:axId val="2094734602"/>
      </c:barChart>
      <c:catAx>
        <c:axId val="209473460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0" spcFirstLastPara="0" vertOverflow="ellipsis" vert="horz" wrap="square" anchor="ctr" anchorCtr="1"/>
          <a:lstStyle/>
          <a:p>
            <a:pPr>
              <a:defRPr lang="zh-CN" sz="700" b="1" i="0" u="none" strike="noStrike" kern="1200" baseline="0">
                <a:solidFill>
                  <a:srgbClr val="1A1A2E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602"/>
        <c:crosses val="autoZero"/>
        <c:auto val="1"/>
        <c:lblAlgn val="ctr"/>
        <c:lblOffset val="100"/>
        <c:noMultiLvlLbl val="1"/>
      </c:catAx>
      <c:valAx>
        <c:axId val="2094734602"/>
        <c:scaling>
          <c:orientation val="minMax"/>
        </c:scaling>
        <c:delete val="0"/>
        <c:axPos val="l"/>
        <c:majorGridlines>
          <c:spPr>
            <a:ln w="6350" cap="flat" cmpd="sng" algn="ctr">
              <a:solidFill>
                <a:srgbClr val="E8EC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0" spcFirstLastPara="0" vertOverflow="ellipsis" vert="horz" wrap="square" anchor="ctr" anchorCtr="1"/>
          <a:lstStyle/>
          <a:p>
            <a:pPr>
              <a:defRPr lang="zh-CN" sz="600" b="0" i="0" u="none" strike="noStrike" kern="1200" baseline="0">
                <a:solidFill>
                  <a:srgbClr val="6B7280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601"/>
        <c:crosses val="autoZero"/>
        <c:crossBetween val="between"/>
      </c:valAx>
    </c:plotArea>
    <c:plotVisOnly val="1"/>
    <c:dispBlanksAs val="gap"/>
    <c:showDLblsOverMax val="0"/>
    <c:extLst>
      <c:ext uri="{0b15fc19-7d7d-44ad-8c2d-2c3a37ce22c3}">
        <chartProps xmlns="https://web.wps.cn/et/2018/main" chartId="{97005763-4f22-4efc-bf15-1e3cf181811e}"/>
      </c:ext>
    </c:extLst>
  </c:chart>
  <c:spPr>
    <a:solidFill>
      <a:srgbClr val="FFFFFF"/>
    </a:solidFill>
    <a:ln>
      <a:noFill/>
    </a:ln>
    <a:effectLst/>
  </c:spPr>
  <c:txPr>
    <a:bodyPr/>
    <a:lstStyle/>
    <a:p>
      <a:pPr>
        <a:defRPr lang="zh-CN" sz="700"/>
      </a:pPr>
    </a:p>
  </c:txPr>
  <c:externalData r:id="rId1">
    <c:autoUpdate val="0"/>
  </c:externalData>
</c:chartSpace>
</file>

<file path=ppt/charts/chart2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0514644911060586"/>
          <c:y val="0.0476398601398601"/>
          <c:w val="0.919111943292764"/>
          <c:h val="0.73041958041958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民生银行</c:v>
                </c:pt>
              </c:strCache>
            </c:strRef>
          </c:tx>
          <c:spPr>
            <a:solidFill>
              <a:srgbClr val="C8890A"/>
            </a:solidFill>
            <a:effectLst/>
          </c:spPr>
          <c:invertIfNegative val="0"/>
          <c:dLbls>
            <c:dLbl>
              <c:idx val="0"/>
              <c:layout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600" b="1" i="0" u="none" strike="noStrike" kern="1200" cap="none" normalizeH="0" baseline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 lang="zh-CN" sz="600" b="1" u="none" strike="noStrike" cap="none" normalizeH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</a:rPr>
                      <a:t>民生 6.24M/10件</a:t>
                    </a:r>
                    <a:endParaRPr altLang="en-US" sz="600" u="none" strike="noStrike" cap="none" normalizeH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</a:endParaRPr>
                  </a:p>
                </c:rich>
              </c:tx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zh-CN" sz="600" b="1" i="0" u="none" strike="noStrike" kern="1200" cap="none" normalizeH="0" baseline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1"/>
              <c:layout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600" b="1" i="0" u="none" strike="noStrike" kern="1200" cap="none" normalizeH="0" baseline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 lang="zh-CN" sz="600" b="1" u="none" strike="noStrike" cap="none" normalizeH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</a:rPr>
                      <a:t>民生 4.91M/8件</a:t>
                    </a:r>
                    <a:endParaRPr altLang="en-US" sz="600" u="none" strike="noStrike" cap="none" normalizeH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</a:endParaRPr>
                  </a:p>
                </c:rich>
              </c:tx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zh-CN" sz="600" b="1" i="0" u="none" strike="noStrike" kern="1200" cap="none" normalizeH="0" baseline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2"/>
              <c:layout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600" b="1" i="0" u="none" strike="noStrike" kern="1200" cap="none" normalizeH="0" baseline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 lang="zh-CN" sz="600" b="1" u="none" strike="noStrike" cap="none" normalizeH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</a:rPr>
                      <a:t>民生 8.19M/14件</a:t>
                    </a:r>
                    <a:endParaRPr altLang="en-US" sz="600" u="none" strike="noStrike" cap="none" normalizeH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</a:endParaRPr>
                  </a:p>
                </c:rich>
              </c:tx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zh-CN" sz="600" b="1" i="0" u="none" strike="noStrike" kern="1200" cap="none" normalizeH="0" baseline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3"/>
              <c:layout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600" b="1" i="0" u="none" strike="noStrike" kern="1200" cap="none" normalizeH="0" baseline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 lang="zh-CN" sz="600" b="1" u="none" strike="noStrike" cap="none" normalizeH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</a:rPr>
                      <a:t>民生 3.51M/6件</a:t>
                    </a:r>
                    <a:endParaRPr altLang="en-US" sz="600" u="none" strike="noStrike" cap="none" normalizeH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</a:endParaRPr>
                  </a:p>
                </c:rich>
              </c:tx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zh-CN" sz="600" b="1" i="0" u="none" strike="noStrike" kern="1200" cap="none" normalizeH="0" baseline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600" b="0" i="0" u="none" strike="noStrike" kern="1200" cap="none" spc="0" normalizeH="0" baseline="0">
                    <a:solidFill>
                      <a:schemeClr val="tx1"/>
                    </a:solidFill>
                    <a:uFill>
                      <a:solidFill>
                        <a:schemeClr val="tx1"/>
                      </a:solidFill>
                    </a:uFill>
                    <a:latin typeface="+mn-lt"/>
                    <a:ea typeface="+mn-ea"/>
                    <a:cs typeface="+mn-cs"/>
                  </a:defRPr>
                </a:pPr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Sheet1!$A$2:$A$5</c:f>
              <c:strCache>
                <c:ptCount val="4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6.24</c:v>
                </c:pt>
                <c:pt idx="1">
                  <c:v>4.91</c:v>
                </c:pt>
                <c:pt idx="2">
                  <c:v>8.19</c:v>
                </c:pt>
                <c:pt idx="3">
                  <c:v>3.51</c:v>
                </c:pt>
              </c:numCache>
            </c:numRef>
          </c:val>
        </c:ser>
        <c:ser>
          <c:idx val="1"/>
          <c:order val="1"/>
          <c:tx>
            <c:strRef>
              <c:f>Sheet1!$B$1</c:f>
              <c:strCache>
                <c:ptCount val="1"/>
                <c:pt idx="0">
                  <c:v>平安银行</c:v>
                </c:pt>
              </c:strCache>
            </c:strRef>
          </c:tx>
          <c:spPr>
            <a:solidFill>
              <a:srgbClr val="F5D5A0"/>
            </a:solidFill>
            <a:effectLst/>
          </c:spPr>
          <c:invertIfNegative val="0"/>
          <c:dLbls>
            <c:dLbl>
              <c:idx val="0"/>
              <c:layout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600" b="1" i="0" u="none" strike="noStrike" kern="1200" cap="none" normalizeH="0" baseline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 lang="zh-CN" sz="600" b="1" u="none" strike="noStrike" cap="none" normalizeH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</a:rPr>
                      <a:t>平安 11.29M/7件</a:t>
                    </a:r>
                    <a:endParaRPr altLang="en-US" sz="600" u="none" strike="noStrike" cap="none" normalizeH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</a:endParaRPr>
                  </a:p>
                </c:rich>
              </c:tx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zh-CN" sz="600" b="1" i="0" u="none" strike="noStrike" kern="1200" cap="none" normalizeH="0" baseline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1"/>
              <c:layout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600" b="1" i="0" u="none" strike="noStrike" kern="1200" cap="none" normalizeH="0" baseline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 lang="zh-CN" sz="600" b="1" u="none" strike="noStrike" cap="none" normalizeH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</a:rPr>
                      <a:t>平安 3.46M/2件</a:t>
                    </a:r>
                    <a:endParaRPr altLang="en-US" sz="600" u="none" strike="noStrike" cap="none" normalizeH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</a:endParaRPr>
                  </a:p>
                </c:rich>
              </c:tx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zh-CN" sz="600" b="1" i="0" u="none" strike="noStrike" kern="1200" cap="none" normalizeH="0" baseline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2"/>
              <c:layout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600" b="1" i="0" u="none" strike="noStrike" kern="1200" cap="none" normalizeH="0" baseline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 lang="zh-CN" sz="600" b="1" u="none" strike="noStrike" cap="none" normalizeH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</a:rPr>
                      <a:t>平安 5.07M/4件</a:t>
                    </a:r>
                    <a:endParaRPr altLang="en-US" sz="600" u="none" strike="noStrike" cap="none" normalizeH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</a:endParaRPr>
                  </a:p>
                </c:rich>
              </c:tx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zh-CN" sz="600" b="1" i="0" u="none" strike="noStrike" kern="1200" cap="none" normalizeH="0" baseline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3"/>
              <c:layout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600" b="1" i="0" u="none" strike="noStrike" kern="1200" cap="none" normalizeH="0" baseline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 lang="zh-CN" sz="600" b="1" u="none" strike="noStrike" cap="none" normalizeH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</a:rPr>
                      <a:t>平安 0.78M/1件</a:t>
                    </a:r>
                    <a:endParaRPr altLang="en-US" sz="600" u="none" strike="noStrike" cap="none" normalizeH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</a:endParaRPr>
                  </a:p>
                </c:rich>
              </c:tx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zh-CN" sz="600" b="1" i="0" u="none" strike="noStrike" kern="1200" cap="none" normalizeH="0" baseline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600" b="0" i="0" u="none" strike="noStrike" kern="1200" cap="none" spc="0" normalizeH="0" baseline="0">
                    <a:solidFill>
                      <a:schemeClr val="tx1"/>
                    </a:solidFill>
                    <a:uFill>
                      <a:solidFill>
                        <a:schemeClr val="tx1"/>
                      </a:solidFill>
                    </a:uFill>
                    <a:latin typeface="+mn-lt"/>
                    <a:ea typeface="+mn-ea"/>
                    <a:cs typeface="+mn-cs"/>
                  </a:defRPr>
                </a:pPr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Sheet1!$A$2:$A$5</c:f>
              <c:strCache>
                <c:ptCount val="4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11.29</c:v>
                </c:pt>
                <c:pt idx="1">
                  <c:v>3.46</c:v>
                </c:pt>
                <c:pt idx="2">
                  <c:v>5.07</c:v>
                </c:pt>
                <c:pt idx="3">
                  <c:v>0.78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2094734611"/>
        <c:axId val="2094734612"/>
      </c:barChart>
      <c:catAx>
        <c:axId val="209473461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0" spcFirstLastPara="0" vertOverflow="ellipsis" vert="horz" wrap="square" anchor="ctr" anchorCtr="1"/>
          <a:lstStyle/>
          <a:p>
            <a:pPr>
              <a:defRPr lang="zh-CN" sz="600" b="1" i="0" u="none" strike="noStrike" kern="1200" baseline="0">
                <a:solidFill>
                  <a:srgbClr val="1A1A2E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612"/>
        <c:crosses val="autoZero"/>
        <c:auto val="1"/>
        <c:lblAlgn val="ctr"/>
        <c:lblOffset val="100"/>
        <c:noMultiLvlLbl val="1"/>
      </c:catAx>
      <c:valAx>
        <c:axId val="2094734612"/>
        <c:scaling>
          <c:orientation val="minMax"/>
        </c:scaling>
        <c:delete val="0"/>
        <c:axPos val="l"/>
        <c:majorGridlines>
          <c:spPr>
            <a:ln w="6350" cap="flat" cmpd="sng" algn="ctr">
              <a:solidFill>
                <a:srgbClr val="E8ECF0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0" spcFirstLastPara="0" vertOverflow="ellipsis" vert="horz" wrap="square" anchor="ctr" anchorCtr="1"/>
          <a:lstStyle/>
          <a:p>
            <a:pPr>
              <a:defRPr lang="zh-CN" sz="600" b="0" i="0" u="none" strike="noStrike" kern="1200" baseline="0">
                <a:solidFill>
                  <a:srgbClr val="6B7280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611"/>
        <c:crosses val="autoZero"/>
        <c:crossBetween val="between"/>
      </c:valAx>
    </c:plotArea>
    <c:plotVisOnly val="1"/>
    <c:dispBlanksAs val="gap"/>
    <c:showDLblsOverMax val="0"/>
    <c:extLst>
      <c:ext uri="{0b15fc19-7d7d-44ad-8c2d-2c3a37ce22c3}">
        <chartProps xmlns="https://web.wps.cn/et/2018/main" chartId="{e991f72a-4d5a-403a-a640-30fd215da8a0}"/>
      </c:ext>
    </c:extLst>
  </c:chart>
  <c:spPr>
    <a:solidFill>
      <a:srgbClr val="FFFFFF"/>
    </a:solidFill>
    <a:ln>
      <a:noFill/>
    </a:ln>
    <a:effectLst/>
  </c:spPr>
  <c:txPr>
    <a:bodyPr/>
    <a:lstStyle/>
    <a:p>
      <a:pPr>
        <a:defRPr lang="zh-CN" sz="600"/>
      </a:pPr>
    </a:p>
  </c:txPr>
  <c:externalData r:id="rId1">
    <c:autoUpdate val="0"/>
  </c:externalData>
</c:chartSpace>
</file>

<file path=ppt/charts/chart2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民生银行</c:v>
                </c:pt>
              </c:strCache>
            </c:strRef>
          </c:tx>
          <c:spPr>
            <a:solidFill>
              <a:srgbClr val="1A6B3A"/>
            </a:solidFill>
            <a:effectLst/>
          </c:spPr>
          <c:invertIfNegative val="0"/>
          <c:dLbls>
            <c:dLbl>
              <c:idx val="0"/>
              <c:layout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600" b="1" i="0" u="none" strike="noStrike" kern="1200" cap="none" normalizeH="0" baseline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 lang="zh-CN" sz="600" b="1" u="none" strike="noStrike" cap="none" normalizeH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</a:rPr>
                      <a:t>民生 12.8M/23件</a:t>
                    </a:r>
                    <a:endParaRPr altLang="en-US" sz="600" u="none" strike="noStrike" cap="none" normalizeH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</a:endParaRPr>
                  </a:p>
                </c:rich>
              </c:tx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zh-CN" sz="600" b="1" i="0" u="none" strike="noStrike" kern="1200" cap="none" normalizeH="0" baseline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1"/>
              <c:layout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600" b="1" i="0" u="none" strike="noStrike" kern="1200" cap="none" normalizeH="0" baseline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 lang="zh-CN" sz="600" b="1" u="none" strike="noStrike" cap="none" normalizeH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</a:rPr>
                      <a:t>民生 84.79M/61件</a:t>
                    </a:r>
                    <a:endParaRPr altLang="en-US" sz="600" u="none" strike="noStrike" cap="none" normalizeH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</a:endParaRPr>
                  </a:p>
                </c:rich>
              </c:tx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zh-CN" sz="600" b="1" i="0" u="none" strike="noStrike" kern="1200" cap="none" normalizeH="0" baseline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2"/>
              <c:layout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600" b="1" i="0" u="none" strike="noStrike" kern="1200" cap="none" normalizeH="0" baseline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 lang="zh-CN" sz="600" b="1" u="none" strike="noStrike" cap="none" normalizeH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</a:rPr>
                      <a:t>民生 44.52M/37件</a:t>
                    </a:r>
                    <a:endParaRPr altLang="en-US" sz="600" u="none" strike="noStrike" cap="none" normalizeH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</a:endParaRPr>
                  </a:p>
                </c:rich>
              </c:tx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zh-CN" sz="600" b="1" i="0" u="none" strike="noStrike" kern="1200" cap="none" normalizeH="0" baseline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3"/>
              <c:layout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600" b="1" i="0" u="none" strike="noStrike" kern="1200" cap="none" normalizeH="0" baseline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 lang="zh-CN" sz="600" b="1" u="none" strike="noStrike" cap="none" normalizeH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</a:rPr>
                      <a:t>民生 1.79M/3件</a:t>
                    </a:r>
                    <a:endParaRPr altLang="en-US" sz="600" u="none" strike="noStrike" cap="none" normalizeH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</a:endParaRPr>
                  </a:p>
                </c:rich>
              </c:tx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zh-CN" sz="600" b="1" i="0" u="none" strike="noStrike" kern="1200" cap="none" normalizeH="0" baseline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600" b="0" i="0" u="none" strike="noStrike" kern="1200" cap="none" spc="0" normalizeH="0" baseline="0">
                    <a:solidFill>
                      <a:schemeClr val="tx1"/>
                    </a:solidFill>
                    <a:uFill>
                      <a:solidFill>
                        <a:schemeClr val="tx1"/>
                      </a:solidFill>
                    </a:uFill>
                    <a:latin typeface="+mn-lt"/>
                    <a:ea typeface="+mn-ea"/>
                    <a:cs typeface="+mn-cs"/>
                  </a:defRPr>
                </a:pPr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Sheet1!$A$2:$A$5</c:f>
              <c:strCache>
                <c:ptCount val="4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12.8</c:v>
                </c:pt>
                <c:pt idx="1">
                  <c:v>84.79</c:v>
                </c:pt>
                <c:pt idx="2">
                  <c:v>44.52</c:v>
                </c:pt>
                <c:pt idx="3">
                  <c:v>1.79</c:v>
                </c:pt>
              </c:numCache>
            </c:numRef>
          </c:val>
        </c:ser>
        <c:ser>
          <c:idx val="1"/>
          <c:order val="1"/>
          <c:tx>
            <c:strRef>
              <c:f>Sheet1!$B$1</c:f>
              <c:strCache>
                <c:ptCount val="1"/>
                <c:pt idx="0">
                  <c:v>平安银行</c:v>
                </c:pt>
              </c:strCache>
            </c:strRef>
          </c:tx>
          <c:spPr>
            <a:solidFill>
              <a:srgbClr val="82C89A"/>
            </a:solidFill>
            <a:effectLst/>
          </c:spPr>
          <c:invertIfNegative val="0"/>
          <c:dLbls>
            <c:dLbl>
              <c:idx val="0"/>
              <c:layout>
                <c:manualLayout>
                  <c:x val="0"/>
                  <c:y val="-0.0401459854014599"/>
                </c:manualLayout>
              </c:layout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600" b="1" i="0" u="none" strike="noStrike" kern="1200" cap="none" normalizeH="0" baseline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 lang="zh-CN" sz="600" b="1" u="none" strike="noStrike" cap="none" normalizeH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</a:rPr>
                      <a:t>平安 5.46M/2件</a:t>
                    </a:r>
                    <a:endParaRPr altLang="en-US" sz="600" u="none" strike="noStrike" cap="none" normalizeH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</a:endParaRPr>
                  </a:p>
                </c:rich>
              </c:tx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zh-CN" sz="600" b="1" i="0" u="none" strike="noStrike" kern="1200" cap="none" normalizeH="0" baseline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1"/>
              <c:layout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600" b="1" i="0" u="none" strike="noStrike" kern="1200" cap="none" normalizeH="0" baseline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 lang="zh-CN" sz="600" b="1" u="none" strike="noStrike" cap="none" normalizeH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</a:rPr>
                      <a:t>平安 9.15M/6件</a:t>
                    </a:r>
                    <a:endParaRPr altLang="en-US" sz="600" u="none" strike="noStrike" cap="none" normalizeH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</a:endParaRPr>
                  </a:p>
                </c:rich>
              </c:tx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zh-CN" sz="600" b="1" i="0" u="none" strike="noStrike" kern="1200" cap="none" normalizeH="0" baseline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2"/>
              <c:layout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600" b="1" i="0" u="none" strike="noStrike" kern="1200" cap="none" normalizeH="0" baseline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 lang="zh-CN" sz="600" b="1" u="none" strike="noStrike" cap="none" normalizeH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</a:rPr>
                      <a:t>平安 14.18M/5件</a:t>
                    </a:r>
                    <a:endParaRPr altLang="en-US" sz="600" u="none" strike="noStrike" cap="none" normalizeH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</a:endParaRPr>
                  </a:p>
                </c:rich>
              </c:tx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zh-CN" sz="600" b="1" i="0" u="none" strike="noStrike" kern="1200" cap="none" normalizeH="0" baseline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3"/>
              <c:layout>
                <c:manualLayout>
                  <c:x val="0.00199893390191898"/>
                  <c:y val="-0.091004277695757"/>
                </c:manualLayout>
              </c:layout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600" b="1" i="0" u="none" strike="noStrike" kern="1200" cap="none" normalizeH="0" baseline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 lang="zh-CN" sz="600" b="1" u="none" strike="noStrike" cap="none" normalizeH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</a:rPr>
                      <a:t>平安 0.78M/1件</a:t>
                    </a:r>
                    <a:endParaRPr altLang="en-US" sz="600" u="none" strike="noStrike" cap="none" normalizeH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</a:endParaRPr>
                  </a:p>
                </c:rich>
              </c:tx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zh-CN" sz="600" b="1" i="0" u="none" strike="noStrike" kern="1200" cap="none" normalizeH="0" baseline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600" b="0" i="0" u="none" strike="noStrike" kern="1200" cap="none" spc="0" normalizeH="0" baseline="0">
                    <a:solidFill>
                      <a:schemeClr val="tx1"/>
                    </a:solidFill>
                    <a:uFill>
                      <a:solidFill>
                        <a:schemeClr val="tx1"/>
                      </a:solidFill>
                    </a:uFill>
                    <a:latin typeface="+mn-lt"/>
                    <a:ea typeface="+mn-ea"/>
                    <a:cs typeface="+mn-cs"/>
                  </a:defRPr>
                </a:pPr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Sheet1!$A$2:$A$5</c:f>
              <c:strCache>
                <c:ptCount val="4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5.46</c:v>
                </c:pt>
                <c:pt idx="1">
                  <c:v>9.15</c:v>
                </c:pt>
                <c:pt idx="2">
                  <c:v>14.18</c:v>
                </c:pt>
                <c:pt idx="3">
                  <c:v>0.78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2094734621"/>
        <c:axId val="2094734622"/>
      </c:barChart>
      <c:catAx>
        <c:axId val="209473462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0" spcFirstLastPara="0" vertOverflow="ellipsis" vert="horz" wrap="square" anchor="ctr" anchorCtr="1"/>
          <a:lstStyle/>
          <a:p>
            <a:pPr>
              <a:defRPr lang="zh-CN" sz="700" b="1" i="0" u="none" strike="noStrike" kern="1200" baseline="0">
                <a:solidFill>
                  <a:srgbClr val="1A1A2E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622"/>
        <c:crosses val="autoZero"/>
        <c:auto val="1"/>
        <c:lblAlgn val="ctr"/>
        <c:lblOffset val="100"/>
        <c:noMultiLvlLbl val="1"/>
      </c:catAx>
      <c:valAx>
        <c:axId val="2094734622"/>
        <c:scaling>
          <c:orientation val="minMax"/>
        </c:scaling>
        <c:delete val="0"/>
        <c:axPos val="l"/>
        <c:majorGridlines>
          <c:spPr>
            <a:ln w="6350" cap="flat" cmpd="sng" algn="ctr">
              <a:solidFill>
                <a:srgbClr val="E8ECF0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0" spcFirstLastPara="0" vertOverflow="ellipsis" vert="horz" wrap="square" anchor="ctr" anchorCtr="1"/>
          <a:lstStyle/>
          <a:p>
            <a:pPr>
              <a:defRPr lang="zh-CN" sz="600" b="0" i="0" u="none" strike="noStrike" kern="1200" baseline="0">
                <a:solidFill>
                  <a:srgbClr val="6B7280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621"/>
        <c:crosses val="autoZero"/>
        <c:crossBetween val="between"/>
      </c:valAx>
    </c:plotArea>
    <c:plotVisOnly val="1"/>
    <c:dispBlanksAs val="gap"/>
    <c:showDLblsOverMax val="0"/>
    <c:extLst>
      <c:ext uri="{0b15fc19-7d7d-44ad-8c2d-2c3a37ce22c3}">
        <chartProps xmlns="https://web.wps.cn/et/2018/main" chartId="{ef6b1759-8741-4a5a-8d20-0511a974491d}"/>
      </c:ext>
    </c:extLst>
  </c:chart>
  <c:spPr>
    <a:solidFill>
      <a:srgbClr val="FFFFFF"/>
    </a:solidFill>
    <a:ln>
      <a:noFill/>
    </a:ln>
    <a:effectLst/>
  </c:spPr>
  <c:txPr>
    <a:bodyPr/>
    <a:lstStyle/>
    <a:p>
      <a:pPr>
        <a:defRPr lang="zh-CN" sz="700"/>
      </a:pPr>
    </a:p>
  </c:txPr>
  <c:externalData r:id="rId1">
    <c:autoUpdate val="0"/>
  </c:externalData>
</c:chartSpace>
</file>

<file path=ppt/charts/chart2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094880619488062"/>
          <c:y val="0.05"/>
          <c:w val="0.837631748763175"/>
          <c:h val="0.659350649350649"/>
        </c:manualLayout>
      </c:layout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批核APE(M)</c:v>
                </c:pt>
              </c:strCache>
            </c:strRef>
          </c:tx>
          <c:spPr>
            <a:solidFill>
              <a:srgbClr val="00796B"/>
            </a:solidFill>
            <a:effectLst/>
          </c:spPr>
          <c:invertIfNegative val="0"/>
          <c:dLbls>
            <c:numFmt formatCode="#,##0.#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750" b="0" i="0" u="none" strike="noStrike" kern="1200" baseline="0">
                    <a:solidFill>
                      <a:schemeClr val="tx1"/>
                    </a:solidFill>
                    <a:latin typeface="Calibri" panose="020F0502020204030204"/>
                    <a:ea typeface="+mn-ea"/>
                    <a:cs typeface="+mn-c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Sheet1!$A$2:$A$3</c:f>
              <c:strCache>
                <c:ptCount val="2"/>
                <c:pt idx="0">
                  <c:v>民生银行</c:v>
                </c:pt>
                <c:pt idx="1">
                  <c:v>平安银行</c:v>
                </c:pt>
              </c:strCache>
            </c:strRef>
          </c:cat>
          <c:val>
            <c:numRef>
              <c:f>Sheet1!$B$2:$B$3</c:f>
              <c:numCache>
                <c:formatCode>0.00_ </c:formatCode>
                <c:ptCount val="2"/>
                <c:pt idx="0">
                  <c:v>142.1082</c:v>
                </c:pt>
                <c:pt idx="1" c:formatCode="_ * #,##0.00_ ;_ * \-#,##0.00_ ;_ * &quot;-&quot;??.00_ ;_ @_ ">
                  <c:v>28.79136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未批核APE(M)</c:v>
                </c:pt>
              </c:strCache>
            </c:strRef>
          </c:tx>
          <c:spPr>
            <a:solidFill>
              <a:srgbClr val="94A3B8"/>
            </a:solidFill>
            <a:effectLst/>
          </c:spPr>
          <c:invertIfNegative val="0"/>
          <c:dLbls>
            <c:numFmt formatCode="#,##0.#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750" b="0" i="0" u="none" strike="noStrike" kern="1200" baseline="0">
                    <a:solidFill>
                      <a:schemeClr val="tx1"/>
                    </a:solidFill>
                    <a:latin typeface="Calibri" panose="020F0502020204030204"/>
                    <a:ea typeface="+mn-ea"/>
                    <a:cs typeface="+mn-c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Sheet1!$A$2:$A$3</c:f>
              <c:strCache>
                <c:ptCount val="2"/>
                <c:pt idx="0">
                  <c:v>民生银行</c:v>
                </c:pt>
                <c:pt idx="1">
                  <c:v>平安银行</c:v>
                </c:pt>
              </c:strCache>
            </c:strRef>
          </c:cat>
          <c:val>
            <c:numRef>
              <c:f>Sheet1!$C$2:$C$3</c:f>
              <c:numCache>
                <c:formatCode>0.00_ </c:formatCode>
                <c:ptCount val="2"/>
                <c:pt idx="0">
                  <c:v>63.54924342</c:v>
                </c:pt>
                <c:pt idx="1" c:formatCode="_ * #,##0.00_ ;_ * \-#,##0.00_ ;_ * &quot;-&quot;??.00_ ;_ @_ ">
                  <c:v>17.94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待签APE(M)</c:v>
                </c:pt>
              </c:strCache>
            </c:strRef>
          </c:tx>
          <c:spPr>
            <a:solidFill>
              <a:srgbClr val="F5A623"/>
            </a:solidFill>
            <a:effectLst/>
          </c:spPr>
          <c:invertIfNegative val="0"/>
          <c:dLbls>
            <c:numFmt formatCode="#,##0.#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750" b="0" i="0" u="none" strike="noStrike" kern="1200" baseline="0">
                    <a:solidFill>
                      <a:schemeClr val="tx1"/>
                    </a:solidFill>
                    <a:latin typeface="Calibri" panose="020F0502020204030204"/>
                    <a:ea typeface="+mn-ea"/>
                    <a:cs typeface="+mn-c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Sheet1!$A$2:$A$3</c:f>
              <c:strCache>
                <c:ptCount val="2"/>
                <c:pt idx="0">
                  <c:v>民生银行</c:v>
                </c:pt>
                <c:pt idx="1">
                  <c:v>平安银行</c:v>
                </c:pt>
              </c:strCache>
            </c:strRef>
          </c:cat>
          <c:val>
            <c:numRef>
              <c:f>Sheet1!$D$2:$D$3</c:f>
              <c:numCache>
                <c:formatCode>0.00_ </c:formatCode>
                <c:ptCount val="2"/>
                <c:pt idx="0">
                  <c:v>0.78</c:v>
                </c:pt>
                <c:pt idx="1" c:formatCode="General">
                  <c:v>0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0"/>
        <c:overlap val="10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 cmpd="sng" algn="ctr">
              <a:solidFill>
                <a:srgbClr val="D0D8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egendEntry>
        <c:idx val="0"/>
        <c:txPr>
          <a:bodyPr rot="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</c:legendEntry>
      <c:legendEntry>
        <c:idx val="1"/>
        <c:txPr>
          <a:bodyPr rot="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</c:legendEntry>
      <c:legendEntry>
        <c:idx val="2"/>
        <c:txPr>
          <a:bodyPr rot="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</c:legendEntry>
      <c:layout>
        <c:manualLayout>
          <c:xMode val="edge"/>
          <c:yMode val="edge"/>
          <c:x val="0.322614801604993"/>
          <c:y val="0.876466275659824"/>
        </c:manualLayout>
      </c:layout>
      <c:overlay val="0"/>
      <c:txPr>
        <a:bodyPr rot="0" spcFirstLastPara="0" vertOverflow="ellipsis" vert="horz" wrap="square" anchor="ctr" anchorCtr="1"/>
        <a:lstStyle/>
        <a:p>
          <a:pPr>
            <a:defRPr lang="zh-CN" sz="8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span"/>
    <c:showDLblsOverMax val="0"/>
    <c:extLst>
      <c:ext uri="{0b15fc19-7d7d-44ad-8c2d-2c3a37ce22c3}">
        <chartProps xmlns="https://web.wps.cn/et/2018/main" chartId="{05197ed0-b174-4c93-ab25-51cdc9fa0e6e}"/>
      </c:ext>
    </c:extLst>
  </c:chart>
  <c:spPr>
    <a:solidFill>
      <a:srgbClr val="FFFFFF"/>
    </a:solidFill>
    <a:ln>
      <a:noFill/>
    </a:ln>
    <a:effectLst/>
  </c:spPr>
  <c:txPr>
    <a:bodyPr/>
    <a:lstStyle/>
    <a:p>
      <a:pPr>
        <a:defRPr lang="zh-CN">
          <a:solidFill>
            <a:schemeClr val="tx1"/>
          </a:solidFill>
        </a:defRPr>
      </a:pPr>
    </a:p>
  </c:txPr>
  <c:externalData r:id="rId1">
    <c:autoUpdate val="0"/>
  </c:externalData>
</c:chartSpace>
</file>

<file path=ppt/charts/chart2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APE构成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explosion val="0"/>
          <c:dPt>
            <c:idx val="0"/>
            <c:bubble3D val="0"/>
            <c:spPr>
              <a:solidFill>
                <a:srgbClr val="00796B"/>
              </a:solidFill>
              <a:effectLst/>
            </c:spPr>
          </c:dPt>
          <c:dPt>
            <c:idx val="1"/>
            <c:bubble3D val="0"/>
            <c:spPr>
              <a:solidFill>
                <a:srgbClr val="C8890A"/>
              </a:solidFill>
              <a:effectLst/>
            </c:spPr>
          </c:dPt>
          <c:dLbls>
            <c:dLbl>
              <c:idx val="0"/>
              <c:layout/>
              <c:numFmt formatCode="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zh-CN" sz="1200" b="0" i="0" u="none" strike="noStrike" kern="1200" baseline="0">
                      <a:solidFill>
                        <a:srgbClr val="000000"/>
                      </a:solid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1"/>
              <c:layout/>
              <c:numFmt formatCode="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zh-CN" sz="1200" b="0" i="0" u="none" strike="noStrike" kern="1200" baseline="0">
                      <a:solidFill>
                        <a:srgbClr val="000000"/>
                      </a:solid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800" b="0" i="0" u="none" strike="noStrike" kern="1200" baseline="0">
                    <a:solidFill>
                      <a:srgbClr val="000000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Sheet1!$A$2:$A$3</c:f>
              <c:strCache>
                <c:ptCount val="2"/>
                <c:pt idx="0">
                  <c:v>已批核</c:v>
                </c:pt>
                <c:pt idx="1">
                  <c:v>目标剩余</c:v>
                </c:pt>
              </c:strCache>
            </c:strRef>
          </c:cat>
          <c:val>
            <c:numRef>
              <c:f>Sheet1!$B$2:$B$3</c:f>
              <c:numCache>
                <c:formatCode>_ * #,##0_ ;_ * \-#,##0_ ;_ * "-"??_ ;_ @_ </c:formatCode>
                <c:ptCount val="2"/>
                <c:pt idx="0">
                  <c:v>170.9</c:v>
                </c:pt>
                <c:pt idx="1">
                  <c:v>29.1</c:v>
                </c:pt>
              </c:numCache>
            </c:numRef>
          </c:val>
        </c:ser>
        <c:dLbls>
          <c:showLegendKey val="0"/>
          <c:showVal val="0"/>
          <c:showCatName val="1"/>
          <c:showSerName val="0"/>
          <c:showPercent val="1"/>
          <c:showBubbleSize val="0"/>
          <c:showLeaderLines val="1"/>
        </c:dLbls>
        <c:firstSliceAng val="0"/>
        <c:holeSize val="52"/>
      </c:doughnutChart>
      <c:spPr>
        <a:noFill/>
        <a:ln>
          <a:noFill/>
        </a:ln>
        <a:effectLst/>
      </c:spPr>
    </c:plotArea>
    <c:legend>
      <c:legendPos val="b"/>
      <c:layout/>
      <c:overlay val="0"/>
      <c:txPr>
        <a:bodyPr rot="0" spcFirstLastPara="0" vertOverflow="ellipsis" vert="horz" wrap="square" anchor="ctr" anchorCtr="1"/>
        <a:lstStyle/>
        <a:p>
          <a:pPr>
            <a:defRPr lang="zh-CN" sz="8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span"/>
    <c:showDLblsOverMax val="0"/>
    <c:extLst>
      <c:ext uri="{0b15fc19-7d7d-44ad-8c2d-2c3a37ce22c3}">
        <chartProps xmlns="https://web.wps.cn/et/2018/main" chartId="{20a6ab99-be55-4806-a3dd-2f3f6e3251c2}"/>
      </c:ext>
    </c:extLst>
  </c:chart>
  <c:spPr>
    <a:solidFill>
      <a:srgbClr val="FFFFFF"/>
    </a:solidFill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2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none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银行预约(M)</c:v>
                </c:pt>
              </c:strCache>
            </c:strRef>
          </c:tx>
          <c:spPr>
            <a:ln w="25400" cap="flat" cmpd="sng" algn="ctr">
              <a:solidFill>
                <a:srgbClr val="9B2335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9B2335"/>
              </a:solidFill>
              <a:ln w="9525" cap="flat" cmpd="sng" algn="ctr">
                <a:solidFill>
                  <a:srgbClr val="9B2335"/>
                </a:solidFill>
                <a:prstDash val="solid"/>
                <a:round/>
              </a:ln>
              <a:effectLst/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dLbl>
              <c:idx val="5"/>
              <c:delete val="1"/>
            </c:dLbl>
            <c:dLbl>
              <c:idx val="6"/>
              <c:delete val="1"/>
            </c:dLbl>
            <c:dLbl>
              <c:idx val="7"/>
              <c:delete val="1"/>
            </c:dLbl>
            <c:dLbl>
              <c:idx val="8"/>
              <c:delete val="1"/>
            </c:dLbl>
            <c:dLbl>
              <c:idx val="9"/>
              <c:delete val="1"/>
            </c:dLbl>
            <c:dLbl>
              <c:idx val="10"/>
              <c:delete val="1"/>
            </c:dLbl>
            <c:dLbl>
              <c:idx val="11"/>
              <c:delete val="1"/>
            </c:dLbl>
            <c:dLbl>
              <c:idx val="12"/>
              <c:delete val="1"/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200" b="0" i="0" u="none" strike="noStrike" kern="1200" baseline="0">
                    <a:solidFill>
                      <a:srgbClr val="000000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Sheet1!$A$2:$A$13</c:f>
              <c:strCache>
                <c:ptCount val="13"/>
                <c:pt idx="0">
                  <c:v>W01</c:v>
                </c:pt>
                <c:pt idx="1">
                  <c:v>W02</c:v>
                </c:pt>
                <c:pt idx="2">
                  <c:v>W03</c:v>
                </c:pt>
                <c:pt idx="3">
                  <c:v>W04</c:v>
                </c:pt>
                <c:pt idx="4">
                  <c:v>W05</c:v>
                </c:pt>
                <c:pt idx="5">
                  <c:v>W06</c:v>
                </c:pt>
                <c:pt idx="6">
                  <c:v>W07</c:v>
                </c:pt>
                <c:pt idx="7">
                  <c:v>W08</c:v>
                </c:pt>
                <c:pt idx="8">
                  <c:v>W09</c:v>
                </c:pt>
                <c:pt idx="9">
                  <c:v>W10</c:v>
                </c:pt>
                <c:pt idx="10">
                  <c:v>W11</c:v>
                </c:pt>
                <c:pt idx="11">
                  <c:v>W12</c:v>
                </c:pt>
                <c:pt idx="12">
                  <c:v>W13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3"/>
                <c:pt idx="0">
                  <c:v>2.34</c:v>
                </c:pt>
                <c:pt idx="1">
                  <c:v>4.08</c:v>
                </c:pt>
                <c:pt idx="2">
                  <c:v>6.03</c:v>
                </c:pt>
                <c:pt idx="3">
                  <c:v>1.79</c:v>
                </c:pt>
                <c:pt idx="4">
                  <c:v>4.29</c:v>
                </c:pt>
                <c:pt idx="5">
                  <c:v>3.07</c:v>
                </c:pt>
                <c:pt idx="6">
                  <c:v>0</c:v>
                </c:pt>
                <c:pt idx="7">
                  <c:v>0</c:v>
                </c:pt>
                <c:pt idx="8">
                  <c:v>2.34</c:v>
                </c:pt>
                <c:pt idx="9">
                  <c:v>6.24</c:v>
                </c:pt>
                <c:pt idx="10">
                  <c:v>4.29</c:v>
                </c:pt>
                <c:pt idx="11">
                  <c:v>1.95</c:v>
                </c:pt>
                <c:pt idx="12">
                  <c:v>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银行签单(M)</c:v>
                </c:pt>
              </c:strCache>
            </c:strRef>
          </c:tx>
          <c:spPr>
            <a:ln w="25400" cap="flat" cmpd="sng" algn="ctr">
              <a:solidFill>
                <a:srgbClr val="6B2737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6B2737"/>
              </a:solidFill>
              <a:ln w="9525" cap="flat" cmpd="sng" algn="ctr">
                <a:solidFill>
                  <a:srgbClr val="6B2737"/>
                </a:solidFill>
                <a:prstDash val="solid"/>
                <a:round/>
              </a:ln>
              <a:effectLst/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dLbl>
              <c:idx val="5"/>
              <c:delete val="1"/>
            </c:dLbl>
            <c:dLbl>
              <c:idx val="6"/>
              <c:delete val="1"/>
            </c:dLbl>
            <c:dLbl>
              <c:idx val="7"/>
              <c:delete val="1"/>
            </c:dLbl>
            <c:dLbl>
              <c:idx val="8"/>
              <c:delete val="1"/>
            </c:dLbl>
            <c:dLbl>
              <c:idx val="9"/>
              <c:delete val="1"/>
            </c:dLbl>
            <c:dLbl>
              <c:idx val="10"/>
              <c:delete val="1"/>
            </c:dLbl>
            <c:dLbl>
              <c:idx val="11"/>
              <c:delete val="1"/>
            </c:dLbl>
            <c:dLbl>
              <c:idx val="12"/>
              <c:delete val="1"/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200" b="0" i="0" u="none" strike="noStrike" kern="1200" baseline="0">
                    <a:solidFill>
                      <a:srgbClr val="000000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Sheet1!$A$2:$A$13</c:f>
              <c:strCache>
                <c:ptCount val="13"/>
                <c:pt idx="0">
                  <c:v>W01</c:v>
                </c:pt>
                <c:pt idx="1">
                  <c:v>W02</c:v>
                </c:pt>
                <c:pt idx="2">
                  <c:v>W03</c:v>
                </c:pt>
                <c:pt idx="3">
                  <c:v>W04</c:v>
                </c:pt>
                <c:pt idx="4">
                  <c:v>W05</c:v>
                </c:pt>
                <c:pt idx="5">
                  <c:v>W06</c:v>
                </c:pt>
                <c:pt idx="6">
                  <c:v>W07</c:v>
                </c:pt>
                <c:pt idx="7">
                  <c:v>W08</c:v>
                </c:pt>
                <c:pt idx="8">
                  <c:v>W09</c:v>
                </c:pt>
                <c:pt idx="9">
                  <c:v>W10</c:v>
                </c:pt>
                <c:pt idx="10">
                  <c:v>W11</c:v>
                </c:pt>
                <c:pt idx="11">
                  <c:v>W12</c:v>
                </c:pt>
                <c:pt idx="12">
                  <c:v>W13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3"/>
                <c:pt idx="0">
                  <c:v>0.78</c:v>
                </c:pt>
                <c:pt idx="1">
                  <c:v>3.69</c:v>
                </c:pt>
                <c:pt idx="2">
                  <c:v>5.64</c:v>
                </c:pt>
                <c:pt idx="3">
                  <c:v>2.73</c:v>
                </c:pt>
                <c:pt idx="4">
                  <c:v>2.18</c:v>
                </c:pt>
                <c:pt idx="5">
                  <c:v>5.8</c:v>
                </c:pt>
                <c:pt idx="6">
                  <c:v>0.39</c:v>
                </c:pt>
                <c:pt idx="7">
                  <c:v>0</c:v>
                </c:pt>
                <c:pt idx="8">
                  <c:v>1.95</c:v>
                </c:pt>
                <c:pt idx="9">
                  <c:v>1.95</c:v>
                </c:pt>
                <c:pt idx="10">
                  <c:v>5.46</c:v>
                </c:pt>
                <c:pt idx="11">
                  <c:v>2.73</c:v>
                </c:pt>
                <c:pt idx="12">
                  <c:v>3.51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银行批核(M)</c:v>
                </c:pt>
              </c:strCache>
            </c:strRef>
          </c:tx>
          <c:spPr>
            <a:ln w="25400" cap="flat" cmpd="sng" algn="ctr">
              <a:solidFill>
                <a:srgbClr val="6C3483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6C3483"/>
              </a:solidFill>
              <a:ln w="9525" cap="flat" cmpd="sng" algn="ctr">
                <a:solidFill>
                  <a:srgbClr val="6C3483"/>
                </a:solidFill>
                <a:prstDash val="solid"/>
                <a:round/>
              </a:ln>
              <a:effectLst/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dLbl>
              <c:idx val="5"/>
              <c:delete val="1"/>
            </c:dLbl>
            <c:dLbl>
              <c:idx val="6"/>
              <c:delete val="1"/>
            </c:dLbl>
            <c:dLbl>
              <c:idx val="7"/>
              <c:delete val="1"/>
            </c:dLbl>
            <c:dLbl>
              <c:idx val="8"/>
              <c:delete val="1"/>
            </c:dLbl>
            <c:dLbl>
              <c:idx val="9"/>
              <c:delete val="1"/>
            </c:dLbl>
            <c:dLbl>
              <c:idx val="10"/>
              <c:delete val="1"/>
            </c:dLbl>
            <c:dLbl>
              <c:idx val="11"/>
              <c:delete val="1"/>
            </c:dLbl>
            <c:dLbl>
              <c:idx val="12"/>
              <c:delete val="1"/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200" b="0" i="0" u="none" strike="noStrike" kern="1200" baseline="0">
                    <a:solidFill>
                      <a:srgbClr val="000000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Sheet1!$A$2:$A$13</c:f>
              <c:strCache>
                <c:ptCount val="13"/>
                <c:pt idx="0">
                  <c:v>W01</c:v>
                </c:pt>
                <c:pt idx="1">
                  <c:v>W02</c:v>
                </c:pt>
                <c:pt idx="2">
                  <c:v>W03</c:v>
                </c:pt>
                <c:pt idx="3">
                  <c:v>W04</c:v>
                </c:pt>
                <c:pt idx="4">
                  <c:v>W05</c:v>
                </c:pt>
                <c:pt idx="5">
                  <c:v>W06</c:v>
                </c:pt>
                <c:pt idx="6">
                  <c:v>W07</c:v>
                </c:pt>
                <c:pt idx="7">
                  <c:v>W08</c:v>
                </c:pt>
                <c:pt idx="8">
                  <c:v>W09</c:v>
                </c:pt>
                <c:pt idx="9">
                  <c:v>W10</c:v>
                </c:pt>
                <c:pt idx="10">
                  <c:v>W11</c:v>
                </c:pt>
                <c:pt idx="11">
                  <c:v>W12</c:v>
                </c:pt>
                <c:pt idx="12">
                  <c:v>W13</c:v>
                </c:pt>
              </c:strCache>
            </c:strRef>
          </c:cat>
          <c:val>
            <c:numRef>
              <c:f>Sheet1!$D$2:$D$13</c:f>
              <c:numCache>
                <c:formatCode>General</c:formatCode>
                <c:ptCount val="13"/>
                <c:pt idx="0">
                  <c:v>1.95</c:v>
                </c:pt>
                <c:pt idx="1">
                  <c:v>3.36</c:v>
                </c:pt>
                <c:pt idx="2">
                  <c:v>8.03</c:v>
                </c:pt>
                <c:pt idx="3">
                  <c:v>1.79</c:v>
                </c:pt>
                <c:pt idx="4">
                  <c:v>17.16</c:v>
                </c:pt>
                <c:pt idx="5">
                  <c:v>27.95</c:v>
                </c:pt>
                <c:pt idx="6">
                  <c:v>1.95</c:v>
                </c:pt>
                <c:pt idx="7">
                  <c:v>46.88</c:v>
                </c:pt>
                <c:pt idx="8">
                  <c:v>10.42</c:v>
                </c:pt>
                <c:pt idx="9">
                  <c:v>4.68</c:v>
                </c:pt>
                <c:pt idx="10">
                  <c:v>35.96</c:v>
                </c:pt>
                <c:pt idx="11">
                  <c:v>5.85</c:v>
                </c:pt>
                <c:pt idx="12">
                  <c:v>1.79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200" b="0" i="0" u="none" strike="noStrike" kern="1200" baseline="0">
                <a:solidFill>
                  <a:srgbClr val="6B7280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 cmpd="sng" algn="ctr">
              <a:solidFill>
                <a:srgbClr val="E8EC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200" b="0" i="0" u="none" strike="noStrike" kern="1200" baseline="0">
                <a:solidFill>
                  <a:srgbClr val="6B7280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txPr>
        <a:bodyPr rot="0" spcFirstLastPara="0" vertOverflow="ellipsis" vert="horz" wrap="square" anchor="ctr" anchorCtr="1"/>
        <a:lstStyle/>
        <a:p>
          <a:pPr>
            <a:defRPr lang="zh-CN" sz="8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span"/>
    <c:showDLblsOverMax val="0"/>
    <c:extLst>
      <c:ext uri="{0b15fc19-7d7d-44ad-8c2d-2c3a37ce22c3}">
        <chartProps xmlns="https://web.wps.cn/et/2018/main" chartId="{88d0edca-b3ca-4875-b8a4-188427696a72}"/>
      </c:ext>
    </c:extLst>
  </c:chart>
  <c:spPr>
    <a:solidFill>
      <a:srgbClr val="FFFFFF"/>
    </a:solidFill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2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4"/>
    </mc:Choice>
    <mc:Fallback>
      <c:style val="4"/>
    </mc:Fallback>
  </mc:AlternateContent>
  <c:chart>
    <c:autoTitleDeleted val="1"/>
    <c:plotArea>
      <c:layout>
        <c:manualLayout>
          <c:layoutTarget val="inner"/>
          <c:xMode val="edge"/>
          <c:yMode val="edge"/>
          <c:x val="0.0651515151515152"/>
          <c:y val="0.0566666666666667"/>
          <c:w val="0.913383838383838"/>
          <c:h val="0.689277777777778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批核APE(万)</c:v>
                </c:pt>
              </c:strCache>
            </c:strRef>
          </c:tx>
          <c:spPr>
            <a:solidFill>
              <a:srgbClr val="6B2737"/>
            </a:solidFill>
            <a:ln>
              <a:noFill/>
            </a:ln>
            <a:effectLst/>
            <a:sp3d>
              <a:extrusionClr>
                <a:srgbClr val="FFFFFF"/>
              </a:extrusionClr>
              <a:contourClr>
                <a:srgbClr val="FFFFFF"/>
              </a:contourClr>
            </a:sp3d>
          </c:spPr>
          <c:invertIfNegative val="0"/>
          <c:dLbls>
            <c:dLbl>
              <c:idx val="5"/>
              <c:layout>
                <c:manualLayout>
                  <c:x val="-0.00852272727272727"/>
                  <c:y val="-0.0269444444444444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numFmt formatCode="#,##0.#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750" b="0" i="0" u="none" strike="noStrike" kern="1200" cap="none" spc="0" normalizeH="0" baseline="0">
                    <a:solidFill>
                      <a:schemeClr val="bg1"/>
                    </a:solidFill>
                    <a:uFill>
                      <a:solidFill>
                        <a:schemeClr val="tx1"/>
                      </a:solidFill>
                    </a:uFill>
                    <a:latin typeface="Calibri" panose="020F0502020204030204"/>
                    <a:ea typeface="+mn-ea"/>
                    <a:cs typeface="+mn-c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>
                  <c:spPr>
                    <a:ln w="6350" cap="flat" cmpd="sng" algn="ctr">
                      <a:solidFill>
                        <a:schemeClr val="tx1"/>
                      </a:solidFill>
                      <a:prstDash val="solid"/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Sheet1!$A$2:$A$18</c:f>
              <c:strCache>
                <c:ptCount val="17"/>
                <c:pt idx="0">
                  <c:v>民生广州</c:v>
                </c:pt>
                <c:pt idx="1">
                  <c:v>平安香港</c:v>
                </c:pt>
                <c:pt idx="2">
                  <c:v>民生上海</c:v>
                </c:pt>
                <c:pt idx="3">
                  <c:v>民生南京</c:v>
                </c:pt>
                <c:pt idx="4">
                  <c:v>民生深圳</c:v>
                </c:pt>
                <c:pt idx="5">
                  <c:v>民生北京</c:v>
                </c:pt>
                <c:pt idx="6">
                  <c:v>民生杭州</c:v>
                </c:pt>
                <c:pt idx="7">
                  <c:v>民生重庆</c:v>
                </c:pt>
                <c:pt idx="8">
                  <c:v>民生嘉兴</c:v>
                </c:pt>
                <c:pt idx="9">
                  <c:v>民生温州</c:v>
                </c:pt>
                <c:pt idx="10">
                  <c:v>民生香港</c:v>
                </c:pt>
                <c:pt idx="11">
                  <c:v>民生贵阳</c:v>
                </c:pt>
                <c:pt idx="12">
                  <c:v>民生合肥</c:v>
                </c:pt>
                <c:pt idx="13">
                  <c:v>民生泉州</c:v>
                </c:pt>
                <c:pt idx="14">
                  <c:v>民生厦门</c:v>
                </c:pt>
                <c:pt idx="15">
                  <c:v>民生沈阳</c:v>
                </c:pt>
                <c:pt idx="16">
                  <c:v>民生武汉</c:v>
                </c:pt>
              </c:strCache>
            </c:strRef>
          </c:cat>
          <c:val>
            <c:numRef>
              <c:f>Sheet1!$B$2:$B$18</c:f>
              <c:numCache>
                <c:formatCode>General</c:formatCode>
                <c:ptCount val="17"/>
                <c:pt idx="0">
                  <c:v>29.25</c:v>
                </c:pt>
                <c:pt idx="1">
                  <c:v>28.79136</c:v>
                </c:pt>
                <c:pt idx="2">
                  <c:v>26.4108</c:v>
                </c:pt>
                <c:pt idx="3">
                  <c:v>21.801</c:v>
                </c:pt>
                <c:pt idx="4">
                  <c:v>18.72</c:v>
                </c:pt>
                <c:pt idx="5">
                  <c:v>15.5844</c:v>
                </c:pt>
                <c:pt idx="6">
                  <c:v>7.02</c:v>
                </c:pt>
                <c:pt idx="7">
                  <c:v>5.46</c:v>
                </c:pt>
                <c:pt idx="8">
                  <c:v>3.12</c:v>
                </c:pt>
                <c:pt idx="9">
                  <c:v>2.808</c:v>
                </c:pt>
                <c:pt idx="10">
                  <c:v>2.184</c:v>
                </c:pt>
                <c:pt idx="11">
                  <c:v>1.95</c:v>
                </c:pt>
                <c:pt idx="12">
                  <c:v>1.56</c:v>
                </c:pt>
                <c:pt idx="13">
                  <c:v>1.56</c:v>
                </c:pt>
                <c:pt idx="14">
                  <c:v>1.56</c:v>
                </c:pt>
                <c:pt idx="15">
                  <c:v>1.56</c:v>
                </c:pt>
                <c:pt idx="16">
                  <c:v>1.56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0"/>
        <c:overlap val="10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noFill/>
          <a:ln w="12700" cap="flat" cmpd="sng" algn="ctr">
            <a:solidFill>
              <a:srgbClr val="888888"/>
            </a:solidFill>
            <a:prstDash val="solid"/>
            <a:round/>
          </a:ln>
          <a:effectLst/>
        </c:spPr>
        <c:txPr>
          <a:bodyPr rot="0" spcFirstLastPara="0" vertOverflow="ellipsis" vert="wordArtVertRtl" wrap="square" anchor="ctr" anchorCtr="1"/>
          <a:lstStyle/>
          <a:p>
            <a:pPr>
              <a:defRPr lang="zh-CN" sz="900" b="0" i="0" u="none" strike="noStrike" kern="1200" baseline="0">
                <a:solidFill>
                  <a:srgbClr val="374151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 cmpd="sng" algn="ctr">
              <a:solidFill>
                <a:srgbClr val="D0D8E8"/>
              </a:solidFill>
              <a:prstDash val="solid"/>
              <a:round/>
            </a:ln>
            <a:effectLst/>
          </c:spPr>
        </c:majorGridlines>
        <c:numFmt formatCode="General" sourceLinked="0"/>
        <c:majorTickMark val="out"/>
        <c:minorTickMark val="none"/>
        <c:tickLblPos val="nextTo"/>
        <c:spPr>
          <a:noFill/>
          <a:ln w="12700" cap="flat" cmpd="sng" algn="ctr">
            <a:solidFill>
              <a:srgbClr val="888888"/>
            </a:solidFill>
            <a:prstDash val="solid"/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rgbClr val="6B7280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0"/>
    <c:extLst>
      <c:ext uri="{0b15fc19-7d7d-44ad-8c2d-2c3a37ce22c3}">
        <chartProps xmlns="https://web.wps.cn/et/2018/main" chartId="{9109a323-4fec-471e-ba7d-9a6a58acaf36}"/>
      </c:ext>
    </c:extLst>
  </c:chart>
  <c:spPr>
    <a:solidFill>
      <a:srgbClr val="FFFFFF"/>
    </a:solidFill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2">
  <a:schemeClr val="accent2"/>
  <a:schemeClr val="accent4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withinLinearReversed" id="22">
  <a:schemeClr val="accent2"/>
</cs:colorStyle>
</file>

<file path=ppt/charts/style1.xml><?xml version="1.0" encoding="utf-8"?>
<cs:chartStyle xmlns:cs="http://schemas.microsoft.com/office/drawing/2012/chartStyle" xmlns:a="http://schemas.openxmlformats.org/drawingml/2006/main" id="102">
  <cs:axisTitle>
    <cs:lnRef idx="0"/>
    <cs:fillRef idx="0"/>
    <cs:effectRef idx="0"/>
    <cs:fontRef idx="minor">
      <a:schemeClr val="tx1"/>
    </cs:fontRef>
    <cs:defRPr sz="1000" b="1" kern="1200"/>
  </cs:axisTitle>
  <cs:category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categoryAxis>
  <cs:chartArea mods="allowNoFillOverride allowNoLineOverride">
    <cs:lnRef idx="1">
      <a:schemeClr val="tx1">
        <a:tint val="75000"/>
      </a:schemeClr>
    </cs:lnRef>
    <cs:fillRef idx="1">
      <a:schemeClr val="bg1"/>
    </cs:fillRef>
    <cs:effectRef idx="0"/>
    <cs:fontRef idx="minor">
      <a:schemeClr val="tx1"/>
    </cs:fontRef>
    <cs:spPr>
      <a:ln>
        <a:round/>
      </a:ln>
    </cs:spPr>
    <cs:defRPr sz="1000" kern="1200"/>
  </cs:chartArea>
  <cs:dataLabel>
    <cs:lnRef idx="0"/>
    <cs:fillRef idx="0"/>
    <cs:effectRef idx="0"/>
    <cs:fontRef idx="minor">
      <a:schemeClr val="tx1"/>
    </cs:fontRef>
    <cs:defRPr sz="1000" kern="1200"/>
  </cs:dataLabel>
  <cs:dataLabelCallout>
    <cs:lnRef idx="0"/>
    <cs:fillRef idx="0"/>
    <cs:effectRef idx="0"/>
    <cs:fontRef idx="minor">
      <a:schemeClr val="dk1"/>
    </cs:fontRef>
    <cs:spPr>
      <a:solidFill>
        <a:schemeClr val="lt1"/>
      </a:solidFill>
      <a:ln>
        <a:solidFill>
          <a:schemeClr val="dk1">
            <a:lumMod val="65000"/>
            <a:lumOff val="35000"/>
          </a:schemeClr>
        </a:solidFill>
      </a:ln>
    </cs:spPr>
    <cs:defRPr sz="1000" kern="1200"/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1">
      <cs:styleClr val="auto"/>
    </cs:lnRef>
    <cs:lineWidthScale>3</cs:lineWidthScale>
    <cs:fillRef idx="0"/>
    <cs:effectRef idx="0"/>
    <cs:fontRef idx="minor">
      <a:schemeClr val="tx1"/>
    </cs:fontRef>
    <cs:spPr>
      <a:ln cap="rnd">
        <a:round/>
      </a:ln>
    </cs:spPr>
  </cs:dataPointLine>
  <cs:dataPointMarker>
    <cs:lnRef idx="1">
      <cs:styleClr val="auto"/>
    </cs:lnRef>
    <cs:fillRef idx="1">
      <cs:styleClr val="auto"/>
    </cs:fillRef>
    <cs:effectRef idx="0"/>
    <cs:fontRef idx="minor">
      <a:schemeClr val="tx1"/>
    </cs:fontRef>
    <cs:spPr>
      <a:ln>
        <a:round/>
      </a:ln>
    </cs:spPr>
  </cs:dataPointMarker>
  <cs:dataPointMarkerLayout/>
  <cs:dataPointWireframe>
    <cs:lnRef idx="1">
      <cs:styleClr val="auto"/>
    </cs:lnRef>
    <cs:fillRef idx="0"/>
    <cs:effectRef idx="0"/>
    <cs:fontRef idx="minor">
      <a:schemeClr val="tx1"/>
    </cs:fontRef>
    <cs:spPr>
      <a:ln>
        <a:round/>
      </a:ln>
    </cs:spPr>
  </cs:dataPointWireframe>
  <cs:dataTable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dataTable>
  <cs:downBar>
    <cs:lnRef idx="1">
      <a:schemeClr val="tx1"/>
    </cs:lnRef>
    <cs:fillRef idx="1">
      <a:schemeClr val="dk1">
        <a:tint val="95000"/>
      </a:schemeClr>
    </cs:fillRef>
    <cs:effectRef idx="0"/>
    <cs:fontRef idx="minor">
      <a:schemeClr val="tx1"/>
    </cs:fontRef>
    <cs:spPr>
      <a:ln>
        <a:round/>
      </a:ln>
    </cs:spPr>
  </cs:downBar>
  <cs:drop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dropLine>
  <cs:errorBar>
    <cs:lnRef idx="1">
      <a:schemeClr val="tx1"/>
    </cs:lnRef>
    <cs:fillRef idx="1">
      <a:schemeClr val="tx1"/>
    </cs:fillRef>
    <cs:effectRef idx="0"/>
    <cs:fontRef idx="minor">
      <a:schemeClr val="tx1"/>
    </cs:fontRef>
    <cs:spPr>
      <a:ln>
        <a:round/>
      </a:ln>
    </cs:spPr>
  </cs:errorBar>
  <cs:floor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</cs:floor>
  <cs:gridlineMajor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</cs:gridlineMajor>
  <cs:gridlineMinor>
    <cs:lnRef idx="1">
      <a:schemeClr val="tx1">
        <a:tint val="50000"/>
      </a:schemeClr>
    </cs:lnRef>
    <cs:fillRef idx="0"/>
    <cs:effectRef idx="0"/>
    <cs:fontRef idx="minor">
      <a:schemeClr val="tx1"/>
    </cs:fontRef>
    <cs:spPr>
      <a:ln>
        <a:round/>
      </a:ln>
    </cs:spPr>
  </cs:gridlineMinor>
  <cs:hiLo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hiLoLine>
  <cs:leader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leaderLine>
  <cs:legend>
    <cs:lnRef idx="0"/>
    <cs:fillRef idx="0"/>
    <cs:effectRef idx="0"/>
    <cs:fontRef idx="minor">
      <a:schemeClr val="tx1"/>
    </cs:fontRef>
    <cs:defRPr sz="1000" kern="1200"/>
  </cs:legend>
  <cs:plotArea mods="allowNoFillOverride allowNoLineOverride">
    <cs:lnRef idx="0"/>
    <cs:fillRef idx="1">
      <a:schemeClr val="bg1"/>
    </cs:fillRef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seriesAxis>
  <cs:series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seriesLine>
  <cs:title>
    <cs:lnRef idx="0"/>
    <cs:fillRef idx="0"/>
    <cs:effectRef idx="0"/>
    <cs:fontRef idx="minor">
      <a:schemeClr val="tx1"/>
    </cs:fontRef>
    <cs:defRPr sz="1800" b="1" kern="1200"/>
  </cs:title>
  <cs:trendline>
    <cs:lnRef idx="1">
      <a:schemeClr val="tx1"/>
    </cs:lnRef>
    <cs:fillRef idx="0"/>
    <cs:effectRef idx="0"/>
    <cs:fontRef idx="minor">
      <a:schemeClr val="tx1"/>
    </cs:fontRef>
    <cs:spPr>
      <a:ln cap="rnd">
        <a:round/>
      </a:ln>
    </cs:spPr>
  </cs:trendline>
  <cs:trendlineLabel>
    <cs:lnRef idx="0"/>
    <cs:fillRef idx="0"/>
    <cs:effectRef idx="0"/>
    <cs:fontRef idx="minor">
      <a:schemeClr val="tx1"/>
    </cs:fontRef>
    <cs:defRPr sz="1000" kern="1200"/>
  </cs:trendlineLabel>
  <cs:upBar>
    <cs:lnRef idx="1">
      <a:schemeClr val="tx1"/>
    </cs:lnRef>
    <cs:fillRef idx="1">
      <a:schemeClr val="dk1">
        <a:tint val="5000"/>
      </a:schemeClr>
    </cs:fillRef>
    <cs:effectRef idx="0"/>
    <cs:fontRef idx="minor">
      <a:schemeClr val="tx1"/>
    </cs:fontRef>
    <cs:spPr>
      <a:ln>
        <a:round/>
      </a:ln>
    </cs:spPr>
  </cs:upBar>
  <cs:value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valueAxis>
  <cs:wall>
    <cs:lnRef idx="0"/>
    <cs:fillRef idx="0"/>
    <cs:effectRef idx="0"/>
    <cs:fontRef idx="minor">
      <a:schemeClr val="tx1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102">
  <cs:axisTitle>
    <cs:lnRef idx="0"/>
    <cs:fillRef idx="0"/>
    <cs:effectRef idx="0"/>
    <cs:fontRef idx="minor">
      <a:schemeClr val="tx1"/>
    </cs:fontRef>
    <cs:defRPr sz="1000" b="1" kern="1200"/>
  </cs:axisTitle>
  <cs:category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categoryAxis>
  <cs:chartArea mods="allowNoFillOverride allowNoLineOverride">
    <cs:lnRef idx="1">
      <a:schemeClr val="tx1">
        <a:tint val="75000"/>
      </a:schemeClr>
    </cs:lnRef>
    <cs:fillRef idx="1">
      <a:schemeClr val="bg1"/>
    </cs:fillRef>
    <cs:effectRef idx="0"/>
    <cs:fontRef idx="minor">
      <a:schemeClr val="tx1"/>
    </cs:fontRef>
    <cs:spPr>
      <a:ln>
        <a:round/>
      </a:ln>
    </cs:spPr>
    <cs:defRPr sz="1000" kern="1200"/>
  </cs:chartArea>
  <cs:dataLabel>
    <cs:lnRef idx="0"/>
    <cs:fillRef idx="0"/>
    <cs:effectRef idx="0"/>
    <cs:fontRef idx="minor">
      <a:schemeClr val="tx1"/>
    </cs:fontRef>
    <cs:defRPr sz="1000" kern="1200"/>
  </cs:dataLabel>
  <cs:dataLabelCallout>
    <cs:lnRef idx="0"/>
    <cs:fillRef idx="0"/>
    <cs:effectRef idx="0"/>
    <cs:fontRef idx="minor">
      <a:schemeClr val="dk1"/>
    </cs:fontRef>
    <cs:spPr>
      <a:solidFill>
        <a:schemeClr val="lt1"/>
      </a:solidFill>
      <a:ln>
        <a:solidFill>
          <a:schemeClr val="dk1">
            <a:lumMod val="65000"/>
            <a:lumOff val="35000"/>
          </a:schemeClr>
        </a:solidFill>
      </a:ln>
    </cs:spPr>
    <cs:defRPr sz="1000" kern="1200"/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1">
      <cs:styleClr val="auto"/>
    </cs:lnRef>
    <cs:lineWidthScale>3</cs:lineWidthScale>
    <cs:fillRef idx="0"/>
    <cs:effectRef idx="0"/>
    <cs:fontRef idx="minor">
      <a:schemeClr val="tx1"/>
    </cs:fontRef>
    <cs:spPr>
      <a:ln cap="rnd">
        <a:round/>
      </a:ln>
    </cs:spPr>
  </cs:dataPointLine>
  <cs:dataPointMarker>
    <cs:lnRef idx="1">
      <cs:styleClr val="auto"/>
    </cs:lnRef>
    <cs:fillRef idx="1">
      <cs:styleClr val="auto"/>
    </cs:fillRef>
    <cs:effectRef idx="0"/>
    <cs:fontRef idx="minor">
      <a:schemeClr val="tx1"/>
    </cs:fontRef>
    <cs:spPr>
      <a:ln>
        <a:round/>
      </a:ln>
    </cs:spPr>
  </cs:dataPointMarker>
  <cs:dataPointMarkerLayout/>
  <cs:dataPointWireframe>
    <cs:lnRef idx="1">
      <cs:styleClr val="auto"/>
    </cs:lnRef>
    <cs:fillRef idx="0"/>
    <cs:effectRef idx="0"/>
    <cs:fontRef idx="minor">
      <a:schemeClr val="tx1"/>
    </cs:fontRef>
    <cs:spPr>
      <a:ln>
        <a:round/>
      </a:ln>
    </cs:spPr>
  </cs:dataPointWireframe>
  <cs:dataTable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dataTable>
  <cs:downBar>
    <cs:lnRef idx="1">
      <a:schemeClr val="tx1"/>
    </cs:lnRef>
    <cs:fillRef idx="1">
      <a:schemeClr val="dk1">
        <a:tint val="95000"/>
      </a:schemeClr>
    </cs:fillRef>
    <cs:effectRef idx="0"/>
    <cs:fontRef idx="minor">
      <a:schemeClr val="tx1"/>
    </cs:fontRef>
    <cs:spPr>
      <a:ln>
        <a:round/>
      </a:ln>
    </cs:spPr>
  </cs:downBar>
  <cs:drop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dropLine>
  <cs:errorBar>
    <cs:lnRef idx="1">
      <a:schemeClr val="tx1"/>
    </cs:lnRef>
    <cs:fillRef idx="1">
      <a:schemeClr val="tx1"/>
    </cs:fillRef>
    <cs:effectRef idx="0"/>
    <cs:fontRef idx="minor">
      <a:schemeClr val="tx1"/>
    </cs:fontRef>
    <cs:spPr>
      <a:ln>
        <a:round/>
      </a:ln>
    </cs:spPr>
  </cs:errorBar>
  <cs:floor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</cs:floor>
  <cs:gridlineMajor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</cs:gridlineMajor>
  <cs:gridlineMinor>
    <cs:lnRef idx="1">
      <a:schemeClr val="tx1">
        <a:tint val="50000"/>
      </a:schemeClr>
    </cs:lnRef>
    <cs:fillRef idx="0"/>
    <cs:effectRef idx="0"/>
    <cs:fontRef idx="minor">
      <a:schemeClr val="tx1"/>
    </cs:fontRef>
    <cs:spPr>
      <a:ln>
        <a:round/>
      </a:ln>
    </cs:spPr>
  </cs:gridlineMinor>
  <cs:hiLo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hiLoLine>
  <cs:leader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leaderLine>
  <cs:legend>
    <cs:lnRef idx="0"/>
    <cs:fillRef idx="0"/>
    <cs:effectRef idx="0"/>
    <cs:fontRef idx="minor">
      <a:schemeClr val="tx1"/>
    </cs:fontRef>
    <cs:defRPr sz="1000" kern="1200"/>
  </cs:legend>
  <cs:plotArea mods="allowNoFillOverride allowNoLineOverride">
    <cs:lnRef idx="0"/>
    <cs:fillRef idx="1">
      <a:schemeClr val="bg1"/>
    </cs:fillRef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seriesAxis>
  <cs:series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seriesLine>
  <cs:title>
    <cs:lnRef idx="0"/>
    <cs:fillRef idx="0"/>
    <cs:effectRef idx="0"/>
    <cs:fontRef idx="minor">
      <a:schemeClr val="tx1"/>
    </cs:fontRef>
    <cs:defRPr sz="1800" b="1" kern="1200"/>
  </cs:title>
  <cs:trendline>
    <cs:lnRef idx="1">
      <a:schemeClr val="tx1"/>
    </cs:lnRef>
    <cs:fillRef idx="0"/>
    <cs:effectRef idx="0"/>
    <cs:fontRef idx="minor">
      <a:schemeClr val="tx1"/>
    </cs:fontRef>
    <cs:spPr>
      <a:ln cap="rnd">
        <a:round/>
      </a:ln>
    </cs:spPr>
  </cs:trendline>
  <cs:trendlineLabel>
    <cs:lnRef idx="0"/>
    <cs:fillRef idx="0"/>
    <cs:effectRef idx="0"/>
    <cs:fontRef idx="minor">
      <a:schemeClr val="tx1"/>
    </cs:fontRef>
    <cs:defRPr sz="1000" kern="1200"/>
  </cs:trendlineLabel>
  <cs:upBar>
    <cs:lnRef idx="1">
      <a:schemeClr val="tx1"/>
    </cs:lnRef>
    <cs:fillRef idx="1">
      <a:schemeClr val="dk1">
        <a:tint val="5000"/>
      </a:schemeClr>
    </cs:fillRef>
    <cs:effectRef idx="0"/>
    <cs:fontRef idx="minor">
      <a:schemeClr val="tx1"/>
    </cs:fontRef>
    <cs:spPr>
      <a:ln>
        <a:round/>
      </a:ln>
    </cs:spPr>
  </cs:upBar>
  <cs:value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valueAxis>
  <cs:wall>
    <cs:lnRef idx="0"/>
    <cs:fillRef idx="0"/>
    <cs:effectRef idx="0"/>
    <cs:fontRef idx="minor">
      <a:schemeClr val="tx1"/>
    </cs:fontRef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.xml"/><Relationship Id="rId2" Type="http://schemas.openxmlformats.org/officeDocument/2006/relationships/chart" Target="../charts/chart2.xml"/><Relationship Id="rId1" Type="http://schemas.openxmlformats.org/officeDocument/2006/relationships/chart" Target="../charts/chart1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image" Target="../media/image3.png"/><Relationship Id="rId8" Type="http://schemas.openxmlformats.org/officeDocument/2006/relationships/tags" Target="../tags/tag2.xml"/><Relationship Id="rId7" Type="http://schemas.openxmlformats.org/officeDocument/2006/relationships/image" Target="../media/image2.svg"/><Relationship Id="rId6" Type="http://schemas.openxmlformats.org/officeDocument/2006/relationships/image" Target="../media/image1.png"/><Relationship Id="rId5" Type="http://schemas.openxmlformats.org/officeDocument/2006/relationships/tags" Target="../tags/tag1.xml"/><Relationship Id="rId4" Type="http://schemas.openxmlformats.org/officeDocument/2006/relationships/chart" Target="../charts/chart6.xml"/><Relationship Id="rId3" Type="http://schemas.openxmlformats.org/officeDocument/2006/relationships/chart" Target="../charts/chart5.xml"/><Relationship Id="rId27" Type="http://schemas.openxmlformats.org/officeDocument/2006/relationships/notesSlide" Target="../notesSlides/notesSlide2.xml"/><Relationship Id="rId26" Type="http://schemas.openxmlformats.org/officeDocument/2006/relationships/slideLayout" Target="../slideLayouts/slideLayout1.xml"/><Relationship Id="rId25" Type="http://schemas.openxmlformats.org/officeDocument/2006/relationships/image" Target="../media/image12.png"/><Relationship Id="rId24" Type="http://schemas.openxmlformats.org/officeDocument/2006/relationships/tags" Target="../tags/tag9.xml"/><Relationship Id="rId23" Type="http://schemas.openxmlformats.org/officeDocument/2006/relationships/image" Target="../media/image11.png"/><Relationship Id="rId22" Type="http://schemas.openxmlformats.org/officeDocument/2006/relationships/tags" Target="../tags/tag8.xml"/><Relationship Id="rId21" Type="http://schemas.openxmlformats.org/officeDocument/2006/relationships/image" Target="../media/image10.png"/><Relationship Id="rId20" Type="http://schemas.openxmlformats.org/officeDocument/2006/relationships/tags" Target="../tags/tag7.xml"/><Relationship Id="rId2" Type="http://schemas.openxmlformats.org/officeDocument/2006/relationships/chart" Target="../charts/chart4.xml"/><Relationship Id="rId19" Type="http://schemas.openxmlformats.org/officeDocument/2006/relationships/image" Target="../media/image9.svg"/><Relationship Id="rId18" Type="http://schemas.openxmlformats.org/officeDocument/2006/relationships/tags" Target="../tags/tag6.xml"/><Relationship Id="rId17" Type="http://schemas.openxmlformats.org/officeDocument/2006/relationships/image" Target="../media/image8.svg"/><Relationship Id="rId16" Type="http://schemas.openxmlformats.org/officeDocument/2006/relationships/tags" Target="../tags/tag5.xml"/><Relationship Id="rId15" Type="http://schemas.openxmlformats.org/officeDocument/2006/relationships/image" Target="../media/image7.svg"/><Relationship Id="rId14" Type="http://schemas.openxmlformats.org/officeDocument/2006/relationships/image" Target="../media/image6.png"/><Relationship Id="rId13" Type="http://schemas.openxmlformats.org/officeDocument/2006/relationships/tags" Target="../tags/tag4.xml"/><Relationship Id="rId12" Type="http://schemas.openxmlformats.org/officeDocument/2006/relationships/image" Target="../media/image5.svg"/><Relationship Id="rId11" Type="http://schemas.openxmlformats.org/officeDocument/2006/relationships/tags" Target="../tags/tag3.xml"/><Relationship Id="rId10" Type="http://schemas.openxmlformats.org/officeDocument/2006/relationships/image" Target="../media/image4.svg"/><Relationship Id="rId1" Type="http://schemas.openxmlformats.org/officeDocument/2006/relationships/chart" Target="../charts/char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chart" Target="../charts/chart7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4.xml"/><Relationship Id="rId8" Type="http://schemas.openxmlformats.org/officeDocument/2006/relationships/slideLayout" Target="../slideLayouts/slideLayout1.xml"/><Relationship Id="rId7" Type="http://schemas.openxmlformats.org/officeDocument/2006/relationships/chart" Target="../charts/chart14.xml"/><Relationship Id="rId6" Type="http://schemas.openxmlformats.org/officeDocument/2006/relationships/chart" Target="../charts/chart13.xml"/><Relationship Id="rId5" Type="http://schemas.openxmlformats.org/officeDocument/2006/relationships/chart" Target="../charts/chart12.xml"/><Relationship Id="rId4" Type="http://schemas.openxmlformats.org/officeDocument/2006/relationships/chart" Target="../charts/chart11.xml"/><Relationship Id="rId3" Type="http://schemas.openxmlformats.org/officeDocument/2006/relationships/chart" Target="../charts/chart10.xml"/><Relationship Id="rId2" Type="http://schemas.openxmlformats.org/officeDocument/2006/relationships/chart" Target="../charts/chart9.xml"/><Relationship Id="rId1" Type="http://schemas.openxmlformats.org/officeDocument/2006/relationships/chart" Target="../charts/chart8.xml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1.xml"/><Relationship Id="rId2" Type="http://schemas.openxmlformats.org/officeDocument/2006/relationships/chart" Target="../charts/chart16.xml"/><Relationship Id="rId1" Type="http://schemas.openxmlformats.org/officeDocument/2006/relationships/chart" Target="../charts/chart1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chart" Target="../charts/chart1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tags" Target="../tags/tag16.xml"/><Relationship Id="rId8" Type="http://schemas.openxmlformats.org/officeDocument/2006/relationships/tags" Target="../tags/tag15.xml"/><Relationship Id="rId7" Type="http://schemas.openxmlformats.org/officeDocument/2006/relationships/tags" Target="../tags/tag14.xml"/><Relationship Id="rId6" Type="http://schemas.openxmlformats.org/officeDocument/2006/relationships/tags" Target="../tags/tag13.xml"/><Relationship Id="rId5" Type="http://schemas.openxmlformats.org/officeDocument/2006/relationships/tags" Target="../tags/tag12.xml"/><Relationship Id="rId4" Type="http://schemas.openxmlformats.org/officeDocument/2006/relationships/tags" Target="../tags/tag11.xml"/><Relationship Id="rId32" Type="http://schemas.openxmlformats.org/officeDocument/2006/relationships/notesSlide" Target="../notesSlides/notesSlide8.xml"/><Relationship Id="rId31" Type="http://schemas.openxmlformats.org/officeDocument/2006/relationships/slideLayout" Target="../slideLayouts/slideLayout1.xml"/><Relationship Id="rId30" Type="http://schemas.openxmlformats.org/officeDocument/2006/relationships/tags" Target="../tags/tag37.xml"/><Relationship Id="rId3" Type="http://schemas.openxmlformats.org/officeDocument/2006/relationships/tags" Target="../tags/tag10.xml"/><Relationship Id="rId29" Type="http://schemas.openxmlformats.org/officeDocument/2006/relationships/tags" Target="../tags/tag36.xml"/><Relationship Id="rId28" Type="http://schemas.openxmlformats.org/officeDocument/2006/relationships/tags" Target="../tags/tag35.xml"/><Relationship Id="rId27" Type="http://schemas.openxmlformats.org/officeDocument/2006/relationships/tags" Target="../tags/tag34.xml"/><Relationship Id="rId26" Type="http://schemas.openxmlformats.org/officeDocument/2006/relationships/tags" Target="../tags/tag33.xml"/><Relationship Id="rId25" Type="http://schemas.openxmlformats.org/officeDocument/2006/relationships/tags" Target="../tags/tag32.xml"/><Relationship Id="rId24" Type="http://schemas.openxmlformats.org/officeDocument/2006/relationships/tags" Target="../tags/tag31.xml"/><Relationship Id="rId23" Type="http://schemas.openxmlformats.org/officeDocument/2006/relationships/tags" Target="../tags/tag30.xml"/><Relationship Id="rId22" Type="http://schemas.openxmlformats.org/officeDocument/2006/relationships/tags" Target="../tags/tag29.xml"/><Relationship Id="rId21" Type="http://schemas.openxmlformats.org/officeDocument/2006/relationships/tags" Target="../tags/tag28.xml"/><Relationship Id="rId20" Type="http://schemas.openxmlformats.org/officeDocument/2006/relationships/tags" Target="../tags/tag27.xml"/><Relationship Id="rId2" Type="http://schemas.openxmlformats.org/officeDocument/2006/relationships/chart" Target="../charts/chart19.xml"/><Relationship Id="rId19" Type="http://schemas.openxmlformats.org/officeDocument/2006/relationships/tags" Target="../tags/tag26.xml"/><Relationship Id="rId18" Type="http://schemas.openxmlformats.org/officeDocument/2006/relationships/tags" Target="../tags/tag25.xml"/><Relationship Id="rId17" Type="http://schemas.openxmlformats.org/officeDocument/2006/relationships/tags" Target="../tags/tag24.xml"/><Relationship Id="rId16" Type="http://schemas.openxmlformats.org/officeDocument/2006/relationships/tags" Target="../tags/tag23.xml"/><Relationship Id="rId15" Type="http://schemas.openxmlformats.org/officeDocument/2006/relationships/tags" Target="../tags/tag22.xml"/><Relationship Id="rId14" Type="http://schemas.openxmlformats.org/officeDocument/2006/relationships/tags" Target="../tags/tag21.xml"/><Relationship Id="rId13" Type="http://schemas.openxmlformats.org/officeDocument/2006/relationships/tags" Target="../tags/tag20.xml"/><Relationship Id="rId12" Type="http://schemas.openxmlformats.org/officeDocument/2006/relationships/tags" Target="../tags/tag19.xml"/><Relationship Id="rId11" Type="http://schemas.openxmlformats.org/officeDocument/2006/relationships/tags" Target="../tags/tag18.xml"/><Relationship Id="rId10" Type="http://schemas.openxmlformats.org/officeDocument/2006/relationships/tags" Target="../tags/tag17.xml"/><Relationship Id="rId1" Type="http://schemas.openxmlformats.org/officeDocument/2006/relationships/chart" Target="../charts/chart18.xml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tags" Target="../tags/tag45.xml"/><Relationship Id="rId8" Type="http://schemas.openxmlformats.org/officeDocument/2006/relationships/tags" Target="../tags/tag44.xml"/><Relationship Id="rId7" Type="http://schemas.openxmlformats.org/officeDocument/2006/relationships/tags" Target="../tags/tag43.xml"/><Relationship Id="rId6" Type="http://schemas.openxmlformats.org/officeDocument/2006/relationships/tags" Target="../tags/tag42.xml"/><Relationship Id="rId5" Type="http://schemas.openxmlformats.org/officeDocument/2006/relationships/tags" Target="../tags/tag41.xml"/><Relationship Id="rId4" Type="http://schemas.openxmlformats.org/officeDocument/2006/relationships/tags" Target="../tags/tag40.xml"/><Relationship Id="rId3" Type="http://schemas.openxmlformats.org/officeDocument/2006/relationships/tags" Target="../tags/tag39.xml"/><Relationship Id="rId2" Type="http://schemas.openxmlformats.org/officeDocument/2006/relationships/tags" Target="../tags/tag38.xml"/><Relationship Id="rId19" Type="http://schemas.openxmlformats.org/officeDocument/2006/relationships/notesSlide" Target="../notesSlides/notesSlide9.xml"/><Relationship Id="rId18" Type="http://schemas.openxmlformats.org/officeDocument/2006/relationships/slideLayout" Target="../slideLayouts/slideLayout1.xml"/><Relationship Id="rId17" Type="http://schemas.openxmlformats.org/officeDocument/2006/relationships/tags" Target="../tags/tag53.xml"/><Relationship Id="rId16" Type="http://schemas.openxmlformats.org/officeDocument/2006/relationships/tags" Target="../tags/tag52.xml"/><Relationship Id="rId15" Type="http://schemas.openxmlformats.org/officeDocument/2006/relationships/tags" Target="../tags/tag51.xml"/><Relationship Id="rId14" Type="http://schemas.openxmlformats.org/officeDocument/2006/relationships/tags" Target="../tags/tag50.xml"/><Relationship Id="rId13" Type="http://schemas.openxmlformats.org/officeDocument/2006/relationships/tags" Target="../tags/tag49.xml"/><Relationship Id="rId12" Type="http://schemas.openxmlformats.org/officeDocument/2006/relationships/tags" Target="../tags/tag48.xml"/><Relationship Id="rId11" Type="http://schemas.openxmlformats.org/officeDocument/2006/relationships/tags" Target="../tags/tag47.xml"/><Relationship Id="rId10" Type="http://schemas.openxmlformats.org/officeDocument/2006/relationships/tags" Target="../tags/tag46.xml"/><Relationship Id="rId1" Type="http://schemas.openxmlformats.org/officeDocument/2006/relationships/chart" Target="../charts/chart20.xml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tags" Target="../tags/tag57.xml"/><Relationship Id="rId8" Type="http://schemas.openxmlformats.org/officeDocument/2006/relationships/tags" Target="../tags/tag56.xml"/><Relationship Id="rId7" Type="http://schemas.openxmlformats.org/officeDocument/2006/relationships/tags" Target="../tags/tag55.xml"/><Relationship Id="rId6" Type="http://schemas.openxmlformats.org/officeDocument/2006/relationships/tags" Target="../tags/tag54.xml"/><Relationship Id="rId5" Type="http://schemas.openxmlformats.org/officeDocument/2006/relationships/chart" Target="../charts/chart25.xml"/><Relationship Id="rId41" Type="http://schemas.openxmlformats.org/officeDocument/2006/relationships/notesSlide" Target="../notesSlides/notesSlide10.xml"/><Relationship Id="rId40" Type="http://schemas.openxmlformats.org/officeDocument/2006/relationships/slideLayout" Target="../slideLayouts/slideLayout1.xml"/><Relationship Id="rId4" Type="http://schemas.openxmlformats.org/officeDocument/2006/relationships/chart" Target="../charts/chart24.xml"/><Relationship Id="rId39" Type="http://schemas.openxmlformats.org/officeDocument/2006/relationships/tags" Target="../tags/tag87.xml"/><Relationship Id="rId38" Type="http://schemas.openxmlformats.org/officeDocument/2006/relationships/tags" Target="../tags/tag86.xml"/><Relationship Id="rId37" Type="http://schemas.openxmlformats.org/officeDocument/2006/relationships/tags" Target="../tags/tag85.xml"/><Relationship Id="rId36" Type="http://schemas.openxmlformats.org/officeDocument/2006/relationships/tags" Target="../tags/tag84.xml"/><Relationship Id="rId35" Type="http://schemas.openxmlformats.org/officeDocument/2006/relationships/tags" Target="../tags/tag83.xml"/><Relationship Id="rId34" Type="http://schemas.openxmlformats.org/officeDocument/2006/relationships/tags" Target="../tags/tag82.xml"/><Relationship Id="rId33" Type="http://schemas.openxmlformats.org/officeDocument/2006/relationships/tags" Target="../tags/tag81.xml"/><Relationship Id="rId32" Type="http://schemas.openxmlformats.org/officeDocument/2006/relationships/tags" Target="../tags/tag80.xml"/><Relationship Id="rId31" Type="http://schemas.openxmlformats.org/officeDocument/2006/relationships/tags" Target="../tags/tag79.xml"/><Relationship Id="rId30" Type="http://schemas.openxmlformats.org/officeDocument/2006/relationships/tags" Target="../tags/tag78.xml"/><Relationship Id="rId3" Type="http://schemas.openxmlformats.org/officeDocument/2006/relationships/chart" Target="../charts/chart23.xml"/><Relationship Id="rId29" Type="http://schemas.openxmlformats.org/officeDocument/2006/relationships/tags" Target="../tags/tag77.xml"/><Relationship Id="rId28" Type="http://schemas.openxmlformats.org/officeDocument/2006/relationships/tags" Target="../tags/tag76.xml"/><Relationship Id="rId27" Type="http://schemas.openxmlformats.org/officeDocument/2006/relationships/tags" Target="../tags/tag75.xml"/><Relationship Id="rId26" Type="http://schemas.openxmlformats.org/officeDocument/2006/relationships/tags" Target="../tags/tag74.xml"/><Relationship Id="rId25" Type="http://schemas.openxmlformats.org/officeDocument/2006/relationships/tags" Target="../tags/tag73.xml"/><Relationship Id="rId24" Type="http://schemas.openxmlformats.org/officeDocument/2006/relationships/tags" Target="../tags/tag72.xml"/><Relationship Id="rId23" Type="http://schemas.openxmlformats.org/officeDocument/2006/relationships/tags" Target="../tags/tag71.xml"/><Relationship Id="rId22" Type="http://schemas.openxmlformats.org/officeDocument/2006/relationships/tags" Target="../tags/tag70.xml"/><Relationship Id="rId21" Type="http://schemas.openxmlformats.org/officeDocument/2006/relationships/tags" Target="../tags/tag69.xml"/><Relationship Id="rId20" Type="http://schemas.openxmlformats.org/officeDocument/2006/relationships/tags" Target="../tags/tag68.xml"/><Relationship Id="rId2" Type="http://schemas.openxmlformats.org/officeDocument/2006/relationships/chart" Target="../charts/chart22.xml"/><Relationship Id="rId19" Type="http://schemas.openxmlformats.org/officeDocument/2006/relationships/tags" Target="../tags/tag67.xml"/><Relationship Id="rId18" Type="http://schemas.openxmlformats.org/officeDocument/2006/relationships/tags" Target="../tags/tag66.xml"/><Relationship Id="rId17" Type="http://schemas.openxmlformats.org/officeDocument/2006/relationships/tags" Target="../tags/tag65.xml"/><Relationship Id="rId16" Type="http://schemas.openxmlformats.org/officeDocument/2006/relationships/tags" Target="../tags/tag64.xml"/><Relationship Id="rId15" Type="http://schemas.openxmlformats.org/officeDocument/2006/relationships/tags" Target="../tags/tag63.xml"/><Relationship Id="rId14" Type="http://schemas.openxmlformats.org/officeDocument/2006/relationships/tags" Target="../tags/tag62.xml"/><Relationship Id="rId13" Type="http://schemas.openxmlformats.org/officeDocument/2006/relationships/tags" Target="../tags/tag61.xml"/><Relationship Id="rId12" Type="http://schemas.openxmlformats.org/officeDocument/2006/relationships/tags" Target="../tags/tag60.xml"/><Relationship Id="rId11" Type="http://schemas.openxmlformats.org/officeDocument/2006/relationships/tags" Target="../tags/tag59.xml"/><Relationship Id="rId10" Type="http://schemas.openxmlformats.org/officeDocument/2006/relationships/tags" Target="../tags/tag58.xml"/><Relationship Id="rId1" Type="http://schemas.openxmlformats.org/officeDocument/2006/relationships/chart" Target="../charts/chart21.xml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tags" Target="../tags/tag94.xml"/><Relationship Id="rId8" Type="http://schemas.openxmlformats.org/officeDocument/2006/relationships/tags" Target="../tags/tag93.xml"/><Relationship Id="rId7" Type="http://schemas.openxmlformats.org/officeDocument/2006/relationships/tags" Target="../tags/tag92.xml"/><Relationship Id="rId6" Type="http://schemas.openxmlformats.org/officeDocument/2006/relationships/tags" Target="../tags/tag91.xml"/><Relationship Id="rId5" Type="http://schemas.openxmlformats.org/officeDocument/2006/relationships/tags" Target="../tags/tag90.xml"/><Relationship Id="rId4" Type="http://schemas.openxmlformats.org/officeDocument/2006/relationships/tags" Target="../tags/tag89.xml"/><Relationship Id="rId3" Type="http://schemas.openxmlformats.org/officeDocument/2006/relationships/tags" Target="../tags/tag88.xml"/><Relationship Id="rId21" Type="http://schemas.openxmlformats.org/officeDocument/2006/relationships/notesSlide" Target="../notesSlides/notesSlide11.xml"/><Relationship Id="rId20" Type="http://schemas.openxmlformats.org/officeDocument/2006/relationships/slideLayout" Target="../slideLayouts/slideLayout1.xml"/><Relationship Id="rId2" Type="http://schemas.openxmlformats.org/officeDocument/2006/relationships/chart" Target="../charts/chart27.xml"/><Relationship Id="rId19" Type="http://schemas.openxmlformats.org/officeDocument/2006/relationships/tags" Target="../tags/tag104.xml"/><Relationship Id="rId18" Type="http://schemas.openxmlformats.org/officeDocument/2006/relationships/tags" Target="../tags/tag103.xml"/><Relationship Id="rId17" Type="http://schemas.openxmlformats.org/officeDocument/2006/relationships/tags" Target="../tags/tag102.xml"/><Relationship Id="rId16" Type="http://schemas.openxmlformats.org/officeDocument/2006/relationships/tags" Target="../tags/tag101.xml"/><Relationship Id="rId15" Type="http://schemas.openxmlformats.org/officeDocument/2006/relationships/tags" Target="../tags/tag100.xml"/><Relationship Id="rId14" Type="http://schemas.openxmlformats.org/officeDocument/2006/relationships/tags" Target="../tags/tag99.xml"/><Relationship Id="rId13" Type="http://schemas.openxmlformats.org/officeDocument/2006/relationships/tags" Target="../tags/tag98.xml"/><Relationship Id="rId12" Type="http://schemas.openxmlformats.org/officeDocument/2006/relationships/tags" Target="../tags/tag97.xml"/><Relationship Id="rId11" Type="http://schemas.openxmlformats.org/officeDocument/2006/relationships/tags" Target="../tags/tag96.xml"/><Relationship Id="rId10" Type="http://schemas.openxmlformats.org/officeDocument/2006/relationships/tags" Target="../tags/tag95.xml"/><Relationship Id="rId1" Type="http://schemas.openxmlformats.org/officeDocument/2006/relationships/chart" Target="../charts/chart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47548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64592" y="73152"/>
            <a:ext cx="914400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全维度业绩分析仪表盘  |   生成日期：2026-04-04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0515600" y="109728"/>
            <a:ext cx="15087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BC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内部文件 · 仅供使用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91440" y="548640"/>
            <a:ext cx="3840480" cy="2788920"/>
          </a:xfrm>
          <a:prstGeom prst="rect">
            <a:avLst/>
          </a:prstGeom>
          <a:solidFill>
            <a:srgbClr val="FFFFFF"/>
          </a:solidFill>
          <a:ln w="9525">
            <a:solidFill>
              <a:srgbClr val="D0D8E8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" y="548640"/>
            <a:ext cx="3840480" cy="27432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2880" y="585216"/>
            <a:ext cx="3675888" cy="2103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 年度目标达成率 — 2026 全业务 &amp; 永明业务 APE 达成状况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4069080" y="548640"/>
            <a:ext cx="4206240" cy="2788920"/>
          </a:xfrm>
          <a:prstGeom prst="rect">
            <a:avLst/>
          </a:prstGeom>
          <a:solidFill>
            <a:srgbClr val="FFFFFF"/>
          </a:solidFill>
          <a:ln w="9525">
            <a:solidFill>
              <a:srgbClr val="D0D8E8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069080" y="548640"/>
            <a:ext cx="4206240" cy="274320"/>
          </a:xfrm>
          <a:prstGeom prst="rect">
            <a:avLst/>
          </a:prstGeom>
          <a:solidFill>
            <a:srgbClr val="922B21"/>
          </a:solidFill>
          <a:ln w="12700">
            <a:solidFill>
              <a:srgbClr val="922B2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60520" y="585216"/>
            <a:ext cx="4041648" cy="2103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  保单阶段分布 — 2026 批核 / 未批核 / 待签 APE 构成分析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8412480" y="548640"/>
            <a:ext cx="3639312" cy="2788920"/>
          </a:xfrm>
          <a:prstGeom prst="rect">
            <a:avLst/>
          </a:prstGeom>
          <a:solidFill>
            <a:srgbClr val="FFFFFF"/>
          </a:solidFill>
          <a:ln w="9525">
            <a:solidFill>
              <a:srgbClr val="D0D8E8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8412480" y="548640"/>
            <a:ext cx="3639312" cy="27432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503920" y="585216"/>
            <a:ext cx="3474720" cy="2103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  业务类型业绩 — 渠道批核 / 未批核 / 待签（APE in M）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91440" y="3429000"/>
            <a:ext cx="11960352" cy="3246120"/>
          </a:xfrm>
          <a:prstGeom prst="rect">
            <a:avLst/>
          </a:prstGeom>
          <a:solidFill>
            <a:srgbClr val="FFFFFF"/>
          </a:solidFill>
          <a:ln w="9525">
            <a:solidFill>
              <a:srgbClr val="D0D8E8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>
            <a:endParaRPr lang="zh-CN" altLang="en-US"/>
          </a:p>
        </p:txBody>
      </p:sp>
      <p:sp>
        <p:nvSpPr>
          <p:cNvPr id="15" name="Shape 13"/>
          <p:cNvSpPr/>
          <p:nvPr/>
        </p:nvSpPr>
        <p:spPr>
          <a:xfrm>
            <a:off x="91440" y="3429000"/>
            <a:ext cx="11960352" cy="274320"/>
          </a:xfrm>
          <a:prstGeom prst="rect">
            <a:avLst/>
          </a:prstGeom>
          <a:solidFill>
            <a:srgbClr val="1A6B3A"/>
          </a:solidFill>
          <a:ln w="12700">
            <a:solidFill>
              <a:srgbClr val="1A6B3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82880" y="3465576"/>
            <a:ext cx="11795760" cy="2103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  预约 / 签单 / 批核月度趋势三线图 </a:t>
            </a: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（APE in M）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219456" y="877824"/>
            <a:ext cx="15087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C039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31.5%</a:t>
            </a:r>
            <a:endParaRPr lang="en-US" sz="4400" dirty="0"/>
          </a:p>
        </p:txBody>
      </p:sp>
      <p:sp>
        <p:nvSpPr>
          <p:cNvPr id="18" name="Text 16"/>
          <p:cNvSpPr/>
          <p:nvPr/>
        </p:nvSpPr>
        <p:spPr>
          <a:xfrm>
            <a:off x="219456" y="1435608"/>
            <a:ext cx="150876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2026 全业务目标达成率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1956816" y="877824"/>
            <a:ext cx="1828800" cy="329184"/>
          </a:xfrm>
          <a:prstGeom prst="rect">
            <a:avLst/>
          </a:prstGeom>
          <a:solidFill>
            <a:srgbClr val="F5F7FA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956816" y="877824"/>
            <a:ext cx="45720" cy="329184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048256" y="896112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350M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2048256" y="1069848"/>
            <a:ext cx="1691640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已批核 APE（2026）</a:t>
            </a:r>
            <a:endParaRPr lang="en-US" sz="700" dirty="0"/>
          </a:p>
        </p:txBody>
      </p:sp>
      <p:sp>
        <p:nvSpPr>
          <p:cNvPr id="23" name="Shape 21"/>
          <p:cNvSpPr/>
          <p:nvPr/>
        </p:nvSpPr>
        <p:spPr>
          <a:xfrm>
            <a:off x="1956816" y="1243584"/>
            <a:ext cx="1828800" cy="329184"/>
          </a:xfrm>
          <a:prstGeom prst="rect">
            <a:avLst/>
          </a:prstGeom>
          <a:solidFill>
            <a:srgbClr val="F5F7FA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956816" y="1243584"/>
            <a:ext cx="45720" cy="329184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048256" y="1261872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533 件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2048256" y="1435608"/>
            <a:ext cx="1691640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批核件数（2026）</a:t>
            </a:r>
            <a:endParaRPr lang="en-US" sz="700" dirty="0"/>
          </a:p>
        </p:txBody>
      </p:sp>
      <p:sp>
        <p:nvSpPr>
          <p:cNvPr id="27" name="Shape 25"/>
          <p:cNvSpPr/>
          <p:nvPr/>
        </p:nvSpPr>
        <p:spPr>
          <a:xfrm>
            <a:off x="1956816" y="1609344"/>
            <a:ext cx="1828800" cy="329184"/>
          </a:xfrm>
          <a:prstGeom prst="rect">
            <a:avLst/>
          </a:prstGeom>
          <a:solidFill>
            <a:srgbClr val="F5F7FA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956816" y="1609344"/>
            <a:ext cx="45720" cy="32918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048256" y="1627632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039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-763M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2048256" y="1801368"/>
            <a:ext cx="1691640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700" dirty="0">
                <a:solidFill>
                  <a:srgbClr val="6B7280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剩余</a:t>
            </a:r>
            <a:r>
              <a:rPr lang="en-US" sz="7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缺口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219456" y="1984248"/>
            <a:ext cx="2331720" cy="1554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全业务目标（1,113M）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219456" y="2148840"/>
            <a:ext cx="2331720" cy="146304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19456" y="2148840"/>
            <a:ext cx="697184" cy="146304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606040" y="2112264"/>
            <a:ext cx="12344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31.5%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219456" y="2304288"/>
            <a:ext cx="3611880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已批 350M / </a:t>
            </a:r>
            <a:r>
              <a:rPr lang="zh-CN" altLang="en-US" sz="700" dirty="0">
                <a:solidFill>
                  <a:srgbClr val="6B7280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  <a:sym typeface="+mn-ea"/>
              </a:rPr>
              <a:t>剩余缺口</a:t>
            </a:r>
            <a:r>
              <a:rPr lang="en-US" sz="7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763M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219456" y="2441448"/>
            <a:ext cx="2331720" cy="1554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永明业务目标（976M）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219456" y="2606040"/>
            <a:ext cx="2331720" cy="146304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19456" y="2606040"/>
            <a:ext cx="666872" cy="146304"/>
          </a:xfrm>
          <a:prstGeom prst="rect">
            <a:avLst/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606040" y="2569464"/>
            <a:ext cx="12344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79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30.4%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219456" y="2761488"/>
            <a:ext cx="3611880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已批 297M / </a:t>
            </a:r>
            <a:r>
              <a:rPr lang="zh-CN" altLang="en-US" sz="700" dirty="0">
                <a:solidFill>
                  <a:srgbClr val="6B7280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  <a:sym typeface="+mn-ea"/>
              </a:rPr>
              <a:t>剩余缺口</a:t>
            </a:r>
            <a:r>
              <a:rPr lang="en-US" sz="7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679</a:t>
            </a:r>
            <a:r>
              <a:rPr lang="en-US" sz="7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M</a:t>
            </a:r>
            <a:endParaRPr lang="en-US" sz="700" dirty="0"/>
          </a:p>
        </p:txBody>
      </p:sp>
      <p:sp>
        <p:nvSpPr>
          <p:cNvPr id="41" name="Shape 39"/>
          <p:cNvSpPr/>
          <p:nvPr/>
        </p:nvSpPr>
        <p:spPr>
          <a:xfrm>
            <a:off x="91440" y="2971800"/>
            <a:ext cx="3840480" cy="365760"/>
          </a:xfrm>
          <a:prstGeom prst="rect">
            <a:avLst/>
          </a:prstGeom>
          <a:solidFill>
            <a:srgbClr val="EEF2FF"/>
          </a:solidFill>
          <a:ln w="6350">
            <a:solidFill>
              <a:srgbClr val="C5CEE8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91440" y="2944495"/>
            <a:ext cx="3840480" cy="2743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25095" y="2952115"/>
            <a:ext cx="477520" cy="18923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 What：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123190" y="3056255"/>
            <a:ext cx="3778250" cy="31178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2026 全业务批核 APE 达 354.5M（含4月初4.1M），达成率 31.8%，全年目标 1,113M 缺口约 758M。3 月预约件数环比 +86.0%（199 件），4 月初已预约6件/0.8M，前端动能持续，Q2 转化批核可期。</a:t>
            </a:r>
            <a:endParaRPr lang="en-US" sz="650" dirty="0">
              <a:solidFill>
                <a:srgbClr val="1A1A2E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45" name="Shape 43"/>
          <p:cNvSpPr/>
          <p:nvPr/>
        </p:nvSpPr>
        <p:spPr>
          <a:xfrm>
            <a:off x="4197096" y="877824"/>
            <a:ext cx="2573763" cy="219456"/>
          </a:xfrm>
          <a:prstGeom prst="rect">
            <a:avLst/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770859" y="877824"/>
            <a:ext cx="1172844" cy="219456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943703" y="877824"/>
            <a:ext cx="178594" cy="219456"/>
          </a:xfrm>
          <a:prstGeom prst="rect">
            <a:avLst/>
          </a:prstGeom>
          <a:solidFill>
            <a:srgbClr val="C8890A"/>
          </a:solidFill>
          <a:ln w="12700">
            <a:solidFill>
              <a:srgbClr val="C8890A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8122297" y="877824"/>
            <a:ext cx="43295" cy="219456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4197096" y="1207008"/>
            <a:ext cx="1901952" cy="786384"/>
          </a:xfrm>
          <a:prstGeom prst="rect">
            <a:avLst/>
          </a:prstGeom>
          <a:solidFill>
            <a:srgbClr val="F5F7FA"/>
          </a:solidFill>
          <a:ln w="9525">
            <a:solidFill>
              <a:srgbClr val="00796B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4197096" y="1207008"/>
            <a:ext cx="1901952" cy="36576"/>
          </a:xfrm>
          <a:prstGeom prst="rect">
            <a:avLst/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288536" y="1271016"/>
            <a:ext cx="1719072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批核（生效）</a:t>
            </a:r>
            <a:endParaRPr lang="en-US" sz="750" dirty="0"/>
          </a:p>
        </p:txBody>
      </p:sp>
      <p:sp>
        <p:nvSpPr>
          <p:cNvPr id="52" name="Text 50"/>
          <p:cNvSpPr/>
          <p:nvPr/>
        </p:nvSpPr>
        <p:spPr>
          <a:xfrm>
            <a:off x="4288536" y="1444752"/>
            <a:ext cx="10058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79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350.4M</a:t>
            </a:r>
            <a:endParaRPr lang="en-US" sz="2200" dirty="0"/>
          </a:p>
        </p:txBody>
      </p:sp>
      <p:sp>
        <p:nvSpPr>
          <p:cNvPr id="53" name="Text 51"/>
          <p:cNvSpPr/>
          <p:nvPr/>
        </p:nvSpPr>
        <p:spPr>
          <a:xfrm>
            <a:off x="4288536" y="1755648"/>
            <a:ext cx="1719072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533 件  |  占比 66.5%</a:t>
            </a:r>
            <a:endParaRPr lang="en-US" sz="750" dirty="0"/>
          </a:p>
        </p:txBody>
      </p:sp>
      <p:sp>
        <p:nvSpPr>
          <p:cNvPr id="54" name="Shape 52"/>
          <p:cNvSpPr/>
          <p:nvPr/>
        </p:nvSpPr>
        <p:spPr>
          <a:xfrm>
            <a:off x="5340096" y="1463040"/>
            <a:ext cx="658368" cy="237744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5340096" y="1463040"/>
            <a:ext cx="426984" cy="237744"/>
          </a:xfrm>
          <a:prstGeom prst="rect">
            <a:avLst/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6208776" y="1207008"/>
            <a:ext cx="1901952" cy="786384"/>
          </a:xfrm>
          <a:prstGeom prst="rect">
            <a:avLst/>
          </a:prstGeom>
          <a:solidFill>
            <a:srgbClr val="F5F7FA"/>
          </a:solidFill>
          <a:ln w="9525">
            <a:solidFill>
              <a:srgbClr val="C0392B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6208776" y="1207008"/>
            <a:ext cx="1901952" cy="36576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300216" y="1271016"/>
            <a:ext cx="1719072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未批核</a:t>
            </a:r>
            <a:endParaRPr lang="en-US" sz="750" dirty="0"/>
          </a:p>
        </p:txBody>
      </p:sp>
      <p:sp>
        <p:nvSpPr>
          <p:cNvPr id="59" name="Text 57"/>
          <p:cNvSpPr/>
          <p:nvPr/>
        </p:nvSpPr>
        <p:spPr>
          <a:xfrm>
            <a:off x="6300216" y="1444752"/>
            <a:ext cx="10058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039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167.9M</a:t>
            </a:r>
            <a:endParaRPr lang="en-US" sz="2200" dirty="0"/>
          </a:p>
        </p:txBody>
      </p:sp>
      <p:sp>
        <p:nvSpPr>
          <p:cNvPr id="60" name="Text 58"/>
          <p:cNvSpPr/>
          <p:nvPr/>
        </p:nvSpPr>
        <p:spPr>
          <a:xfrm>
            <a:off x="6300216" y="1755648"/>
            <a:ext cx="1719072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242 件  |  占比 30.2%</a:t>
            </a:r>
            <a:endParaRPr lang="en-US" sz="750" dirty="0"/>
          </a:p>
        </p:txBody>
      </p:sp>
      <p:sp>
        <p:nvSpPr>
          <p:cNvPr id="61" name="Shape 59"/>
          <p:cNvSpPr/>
          <p:nvPr/>
        </p:nvSpPr>
        <p:spPr>
          <a:xfrm>
            <a:off x="7351776" y="1463040"/>
            <a:ext cx="658368" cy="237744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7351776" y="1463040"/>
            <a:ext cx="194573" cy="23774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4197096" y="2084832"/>
            <a:ext cx="1901952" cy="786384"/>
          </a:xfrm>
          <a:prstGeom prst="rect">
            <a:avLst/>
          </a:prstGeom>
          <a:solidFill>
            <a:srgbClr val="F5F7FA"/>
          </a:solidFill>
          <a:ln w="9525">
            <a:solidFill>
              <a:srgbClr val="C8890A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4197096" y="2084832"/>
            <a:ext cx="1901952" cy="36576"/>
          </a:xfrm>
          <a:prstGeom prst="rect">
            <a:avLst/>
          </a:prstGeom>
          <a:solidFill>
            <a:srgbClr val="C8890A"/>
          </a:solidFill>
          <a:ln w="12700">
            <a:solidFill>
              <a:srgbClr val="C8890A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288536" y="2148840"/>
            <a:ext cx="1719072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待签</a:t>
            </a:r>
            <a:endParaRPr lang="en-US" sz="750" dirty="0"/>
          </a:p>
        </p:txBody>
      </p:sp>
      <p:sp>
        <p:nvSpPr>
          <p:cNvPr id="66" name="Text 64"/>
          <p:cNvSpPr/>
          <p:nvPr/>
        </p:nvSpPr>
        <p:spPr>
          <a:xfrm>
            <a:off x="4288536" y="2322576"/>
            <a:ext cx="10058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889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3.9M</a:t>
            </a:r>
            <a:endParaRPr lang="en-US" sz="2200" dirty="0"/>
          </a:p>
        </p:txBody>
      </p:sp>
      <p:sp>
        <p:nvSpPr>
          <p:cNvPr id="67" name="Text 65"/>
          <p:cNvSpPr/>
          <p:nvPr/>
        </p:nvSpPr>
        <p:spPr>
          <a:xfrm>
            <a:off x="4288536" y="2633472"/>
            <a:ext cx="1719072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12 件  |  占比 1.5%</a:t>
            </a:r>
            <a:endParaRPr lang="en-US" sz="750" dirty="0"/>
          </a:p>
        </p:txBody>
      </p:sp>
      <p:sp>
        <p:nvSpPr>
          <p:cNvPr id="68" name="Shape 66"/>
          <p:cNvSpPr/>
          <p:nvPr/>
        </p:nvSpPr>
        <p:spPr>
          <a:xfrm>
            <a:off x="5340096" y="2340864"/>
            <a:ext cx="658368" cy="237744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5340096" y="2340864"/>
            <a:ext cx="29628" cy="237744"/>
          </a:xfrm>
          <a:prstGeom prst="rect">
            <a:avLst/>
          </a:prstGeom>
          <a:solidFill>
            <a:srgbClr val="C8890A"/>
          </a:solidFill>
          <a:ln w="12700">
            <a:solidFill>
              <a:srgbClr val="C8890A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6208776" y="2084832"/>
            <a:ext cx="1901952" cy="786384"/>
          </a:xfrm>
          <a:prstGeom prst="rect">
            <a:avLst/>
          </a:prstGeom>
          <a:solidFill>
            <a:srgbClr val="F5F7FA"/>
          </a:solidFill>
          <a:ln w="9525">
            <a:solidFill>
              <a:srgbClr val="94A3B8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6208776" y="2084832"/>
            <a:ext cx="1901952" cy="36576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6300216" y="2148840"/>
            <a:ext cx="1719072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流失（2026）</a:t>
            </a:r>
            <a:endParaRPr lang="en-US" sz="750" dirty="0"/>
          </a:p>
        </p:txBody>
      </p:sp>
      <p:sp>
        <p:nvSpPr>
          <p:cNvPr id="73" name="Text 71"/>
          <p:cNvSpPr/>
          <p:nvPr/>
        </p:nvSpPr>
        <p:spPr>
          <a:xfrm>
            <a:off x="6300216" y="2322576"/>
            <a:ext cx="10058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6.4M</a:t>
            </a:r>
            <a:endParaRPr lang="en-US" sz="2200" dirty="0"/>
          </a:p>
        </p:txBody>
      </p:sp>
      <p:sp>
        <p:nvSpPr>
          <p:cNvPr id="74" name="Text 72"/>
          <p:cNvSpPr/>
          <p:nvPr/>
        </p:nvSpPr>
        <p:spPr>
          <a:xfrm>
            <a:off x="6300216" y="2633472"/>
            <a:ext cx="1719072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14 件  |  占比 1.7%</a:t>
            </a:r>
            <a:endParaRPr lang="en-US" sz="750" dirty="0"/>
          </a:p>
        </p:txBody>
      </p:sp>
      <p:sp>
        <p:nvSpPr>
          <p:cNvPr id="75" name="Shape 73"/>
          <p:cNvSpPr/>
          <p:nvPr/>
        </p:nvSpPr>
        <p:spPr>
          <a:xfrm>
            <a:off x="7351776" y="2340864"/>
            <a:ext cx="658368" cy="237744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7351776" y="2340864"/>
            <a:ext cx="7183" cy="237744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4069080" y="2971800"/>
            <a:ext cx="4206240" cy="365760"/>
          </a:xfrm>
          <a:prstGeom prst="rect">
            <a:avLst/>
          </a:prstGeom>
          <a:solidFill>
            <a:srgbClr val="EEF2FF"/>
          </a:solidFill>
          <a:ln w="6350">
            <a:solidFill>
              <a:srgbClr val="C5CEE8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4069080" y="2944495"/>
            <a:ext cx="4206240" cy="27432"/>
          </a:xfrm>
          <a:prstGeom prst="rect">
            <a:avLst/>
          </a:prstGeom>
          <a:solidFill>
            <a:srgbClr val="922B21"/>
          </a:solidFill>
          <a:ln w="12700">
            <a:solidFill>
              <a:srgbClr val="922B21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4110355" y="2967355"/>
            <a:ext cx="781685" cy="1644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922B2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 What：</a:t>
            </a:r>
            <a:endParaRPr lang="en-US" sz="800" dirty="0"/>
          </a:p>
        </p:txBody>
      </p:sp>
      <p:sp>
        <p:nvSpPr>
          <p:cNvPr id="80" name="Text 78"/>
          <p:cNvSpPr/>
          <p:nvPr/>
        </p:nvSpPr>
        <p:spPr>
          <a:xfrm>
            <a:off x="4097020" y="3041015"/>
            <a:ext cx="4105275" cy="34861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未批核（167.9M，242 件）与待签（3.9M，12 件）合计 171.8M 在管道中，占批核 APE 的 49%。未批核融资占比 16.7% 为最大风险敞口，若能快速推进至生效，可直接拉升达成率逾 15 个百分点。</a:t>
            </a:r>
            <a:endParaRPr lang="en-US" sz="650" dirty="0">
              <a:solidFill>
                <a:srgbClr val="1A1A2E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graphicFrame>
        <p:nvGraphicFramePr>
          <p:cNvPr id="81" name="Chart 0"/>
          <p:cNvGraphicFramePr/>
          <p:nvPr/>
        </p:nvGraphicFramePr>
        <p:xfrm>
          <a:off x="8503920" y="859536"/>
          <a:ext cx="3474720" cy="1965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82" name="Shape 79"/>
          <p:cNvSpPr/>
          <p:nvPr/>
        </p:nvSpPr>
        <p:spPr>
          <a:xfrm>
            <a:off x="8412480" y="2971800"/>
            <a:ext cx="3639185" cy="365760"/>
          </a:xfrm>
          <a:prstGeom prst="rect">
            <a:avLst/>
          </a:prstGeom>
          <a:solidFill>
            <a:srgbClr val="EEF2FF"/>
          </a:solidFill>
          <a:ln w="6350">
            <a:solidFill>
              <a:srgbClr val="C5CEE8"/>
            </a:solidFill>
            <a:prstDash val="solid"/>
          </a:ln>
        </p:spPr>
      </p:sp>
      <p:sp>
        <p:nvSpPr>
          <p:cNvPr id="83" name="Shape 80"/>
          <p:cNvSpPr/>
          <p:nvPr/>
        </p:nvSpPr>
        <p:spPr>
          <a:xfrm>
            <a:off x="8412480" y="2944495"/>
            <a:ext cx="3639312" cy="27432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84" name="Text 81"/>
          <p:cNvSpPr/>
          <p:nvPr/>
        </p:nvSpPr>
        <p:spPr>
          <a:xfrm>
            <a:off x="8446135" y="2952115"/>
            <a:ext cx="705485" cy="1619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A527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 What：</a:t>
            </a:r>
            <a:endParaRPr lang="en-US" sz="800" dirty="0"/>
          </a:p>
        </p:txBody>
      </p:sp>
      <p:sp>
        <p:nvSpPr>
          <p:cNvPr id="85" name="Text 82"/>
          <p:cNvSpPr/>
          <p:nvPr/>
        </p:nvSpPr>
        <p:spPr>
          <a:xfrm>
            <a:off x="8453120" y="3141345"/>
            <a:ext cx="3507105" cy="14859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经代业务批核 307.7M 占全渠道 87.8%，是唯一业绩主力；未批核 145.9M 融资率较高，是最大转化机会。代理人（批核 25.9M）与 KA（批核 16.9M）体量极小，需明确各渠道扩量优先级</a:t>
            </a:r>
            <a:r>
              <a:rPr lang="en-US" sz="7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。</a:t>
            </a:r>
            <a:endParaRPr lang="en-US" sz="750" dirty="0"/>
          </a:p>
        </p:txBody>
      </p:sp>
      <p:graphicFrame>
        <p:nvGraphicFramePr>
          <p:cNvPr id="86" name="Chart 1"/>
          <p:cNvGraphicFramePr/>
          <p:nvPr/>
        </p:nvGraphicFramePr>
        <p:xfrm>
          <a:off x="219583" y="3804158"/>
          <a:ext cx="7680960" cy="24048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87" name="Shape 83"/>
          <p:cNvSpPr/>
          <p:nvPr/>
        </p:nvSpPr>
        <p:spPr>
          <a:xfrm>
            <a:off x="6557825" y="3977640"/>
            <a:ext cx="1324303" cy="2148840"/>
          </a:xfrm>
          <a:prstGeom prst="rect">
            <a:avLst/>
          </a:prstGeom>
          <a:solidFill>
            <a:srgbClr val="1F3864">
              <a:alpha val="10000"/>
            </a:srgbClr>
          </a:solidFill>
          <a:ln w="6350">
            <a:solidFill>
              <a:srgbClr val="1F3864"/>
            </a:solidFill>
            <a:prstDash val="solid"/>
          </a:ln>
        </p:spPr>
      </p:sp>
      <p:sp>
        <p:nvSpPr>
          <p:cNvPr id="88" name="Text 84"/>
          <p:cNvSpPr/>
          <p:nvPr/>
        </p:nvSpPr>
        <p:spPr>
          <a:xfrm>
            <a:off x="6557825" y="3995928"/>
            <a:ext cx="1324303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i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2026 </a:t>
            </a:r>
            <a:endParaRPr lang="en-US" sz="750" dirty="0"/>
          </a:p>
        </p:txBody>
      </p:sp>
      <p:sp>
        <p:nvSpPr>
          <p:cNvPr id="89" name="Text 85"/>
          <p:cNvSpPr/>
          <p:nvPr/>
        </p:nvSpPr>
        <p:spPr>
          <a:xfrm>
            <a:off x="8028432" y="3721608"/>
            <a:ext cx="39319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2026 年月度明细</a:t>
            </a:r>
            <a:r>
              <a:rPr lang="zh-CN" altLang="en-US" sz="900" b="1" dirty="0">
                <a:solidFill>
                  <a:srgbClr val="1A1A2E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（包含流失单）</a:t>
            </a:r>
            <a:endParaRPr lang="zh-CN" altLang="en-US" sz="900" b="1" dirty="0">
              <a:solidFill>
                <a:srgbClr val="1A1A2E"/>
              </a:solidFill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-120"/>
            </a:endParaRPr>
          </a:p>
        </p:txBody>
      </p:sp>
      <p:sp>
        <p:nvSpPr>
          <p:cNvPr id="90" name="Shape 86"/>
          <p:cNvSpPr/>
          <p:nvPr/>
        </p:nvSpPr>
        <p:spPr>
          <a:xfrm>
            <a:off x="8028432" y="3959352"/>
            <a:ext cx="3931920" cy="219456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91" name="Text 87"/>
          <p:cNvSpPr/>
          <p:nvPr/>
        </p:nvSpPr>
        <p:spPr>
          <a:xfrm>
            <a:off x="8065008" y="3995928"/>
            <a:ext cx="502920" cy="1554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月份</a:t>
            </a:r>
            <a:endParaRPr lang="en-US" sz="750" dirty="0"/>
          </a:p>
        </p:txBody>
      </p:sp>
      <p:sp>
        <p:nvSpPr>
          <p:cNvPr id="92" name="Text 88"/>
          <p:cNvSpPr/>
          <p:nvPr/>
        </p:nvSpPr>
        <p:spPr>
          <a:xfrm>
            <a:off x="8487918" y="3995928"/>
            <a:ext cx="566928" cy="1554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26-Jan</a:t>
            </a:r>
            <a:endParaRPr lang="en-US" sz="750" dirty="0"/>
          </a:p>
        </p:txBody>
      </p:sp>
      <p:sp>
        <p:nvSpPr>
          <p:cNvPr id="93" name="Text 89"/>
          <p:cNvSpPr/>
          <p:nvPr/>
        </p:nvSpPr>
        <p:spPr>
          <a:xfrm>
            <a:off x="9054846" y="3995928"/>
            <a:ext cx="566928" cy="1554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26-Feb</a:t>
            </a:r>
            <a:endParaRPr lang="en-US" sz="750" dirty="0"/>
          </a:p>
        </p:txBody>
      </p:sp>
      <p:sp>
        <p:nvSpPr>
          <p:cNvPr id="94" name="Text 90"/>
          <p:cNvSpPr/>
          <p:nvPr/>
        </p:nvSpPr>
        <p:spPr>
          <a:xfrm>
            <a:off x="9621774" y="3995928"/>
            <a:ext cx="566928" cy="1554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26-Mar</a:t>
            </a:r>
            <a:endParaRPr lang="en-US" sz="750" dirty="0"/>
          </a:p>
        </p:txBody>
      </p:sp>
      <p:sp>
        <p:nvSpPr>
          <p:cNvPr id="95" name="Shape 91"/>
          <p:cNvSpPr/>
          <p:nvPr/>
        </p:nvSpPr>
        <p:spPr>
          <a:xfrm>
            <a:off x="8028432" y="4197096"/>
            <a:ext cx="3931920" cy="256032"/>
          </a:xfrm>
          <a:prstGeom prst="rect">
            <a:avLst/>
          </a:prstGeom>
          <a:solidFill>
            <a:srgbClr val="1F3864">
              <a:alpha val="12000"/>
            </a:srgbClr>
          </a:solidFill>
          <a:ln w="6350">
            <a:solidFill>
              <a:srgbClr val="1F3864"/>
            </a:solidFill>
            <a:prstDash val="solid"/>
          </a:ln>
        </p:spPr>
      </p:sp>
      <p:sp>
        <p:nvSpPr>
          <p:cNvPr id="96" name="Shape 92"/>
          <p:cNvSpPr/>
          <p:nvPr/>
        </p:nvSpPr>
        <p:spPr>
          <a:xfrm>
            <a:off x="8028432" y="4197096"/>
            <a:ext cx="36576" cy="25603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97" name="Text 93"/>
          <p:cNvSpPr/>
          <p:nvPr/>
        </p:nvSpPr>
        <p:spPr>
          <a:xfrm>
            <a:off x="8072628" y="4251960"/>
            <a:ext cx="50292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预约 APE</a:t>
            </a:r>
            <a:endParaRPr lang="en-US" sz="750" dirty="0"/>
          </a:p>
        </p:txBody>
      </p:sp>
      <p:sp>
        <p:nvSpPr>
          <p:cNvPr id="98" name="Text 94"/>
          <p:cNvSpPr/>
          <p:nvPr/>
        </p:nvSpPr>
        <p:spPr>
          <a:xfrm>
            <a:off x="8487918" y="4251960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53.9</a:t>
            </a:r>
            <a:endParaRPr lang="en-US" sz="900" dirty="0"/>
          </a:p>
        </p:txBody>
      </p:sp>
      <p:sp>
        <p:nvSpPr>
          <p:cNvPr id="99" name="Text 95"/>
          <p:cNvSpPr/>
          <p:nvPr/>
        </p:nvSpPr>
        <p:spPr>
          <a:xfrm>
            <a:off x="9054846" y="4251960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56.1</a:t>
            </a:r>
            <a:endParaRPr lang="en-US" sz="900" dirty="0"/>
          </a:p>
        </p:txBody>
      </p:sp>
      <p:sp>
        <p:nvSpPr>
          <p:cNvPr id="100" name="Text 96"/>
          <p:cNvSpPr/>
          <p:nvPr/>
        </p:nvSpPr>
        <p:spPr>
          <a:xfrm>
            <a:off x="9621774" y="4251960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80.0</a:t>
            </a:r>
            <a:endParaRPr lang="en-US" sz="900" dirty="0"/>
          </a:p>
        </p:txBody>
      </p:sp>
      <p:sp>
        <p:nvSpPr>
          <p:cNvPr id="101" name="Shape 97"/>
          <p:cNvSpPr/>
          <p:nvPr/>
        </p:nvSpPr>
        <p:spPr>
          <a:xfrm>
            <a:off x="8028432" y="4453128"/>
            <a:ext cx="3931920" cy="256032"/>
          </a:xfrm>
          <a:prstGeom prst="rect">
            <a:avLst/>
          </a:prstGeom>
          <a:solidFill>
            <a:srgbClr val="F5F7FA"/>
          </a:solidFill>
          <a:ln w="3810">
            <a:solidFill>
              <a:srgbClr val="E8ECF0"/>
            </a:solidFill>
            <a:prstDash val="solid"/>
          </a:ln>
        </p:spPr>
      </p:sp>
      <p:sp>
        <p:nvSpPr>
          <p:cNvPr id="102" name="Shape 98"/>
          <p:cNvSpPr/>
          <p:nvPr/>
        </p:nvSpPr>
        <p:spPr>
          <a:xfrm>
            <a:off x="8028432" y="4453128"/>
            <a:ext cx="36576" cy="25603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03" name="Text 99"/>
          <p:cNvSpPr/>
          <p:nvPr/>
        </p:nvSpPr>
        <p:spPr>
          <a:xfrm>
            <a:off x="8073898" y="4507992"/>
            <a:ext cx="50292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预约 件数</a:t>
            </a:r>
            <a:endParaRPr lang="en-US" sz="750" dirty="0"/>
          </a:p>
        </p:txBody>
      </p:sp>
      <p:sp>
        <p:nvSpPr>
          <p:cNvPr id="104" name="Text 100"/>
          <p:cNvSpPr/>
          <p:nvPr/>
        </p:nvSpPr>
        <p:spPr>
          <a:xfrm>
            <a:off x="8487918" y="4507992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133件</a:t>
            </a:r>
            <a:endParaRPr lang="en-US" sz="900" dirty="0"/>
          </a:p>
        </p:txBody>
      </p:sp>
      <p:sp>
        <p:nvSpPr>
          <p:cNvPr id="105" name="Text 101"/>
          <p:cNvSpPr/>
          <p:nvPr/>
        </p:nvSpPr>
        <p:spPr>
          <a:xfrm>
            <a:off x="9054846" y="4507992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107件</a:t>
            </a:r>
            <a:endParaRPr lang="en-US" sz="900" dirty="0"/>
          </a:p>
        </p:txBody>
      </p:sp>
      <p:sp>
        <p:nvSpPr>
          <p:cNvPr id="106" name="Text 102"/>
          <p:cNvSpPr/>
          <p:nvPr/>
        </p:nvSpPr>
        <p:spPr>
          <a:xfrm>
            <a:off x="9621774" y="4507992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199件</a:t>
            </a:r>
            <a:endParaRPr lang="en-US" sz="900" dirty="0"/>
          </a:p>
        </p:txBody>
      </p:sp>
      <p:sp>
        <p:nvSpPr>
          <p:cNvPr id="107" name="Shape 103"/>
          <p:cNvSpPr/>
          <p:nvPr/>
        </p:nvSpPr>
        <p:spPr>
          <a:xfrm>
            <a:off x="8028432" y="4709160"/>
            <a:ext cx="3931920" cy="0"/>
          </a:xfrm>
          <a:prstGeom prst="line">
            <a:avLst/>
          </a:prstGeom>
          <a:noFill/>
          <a:ln w="10160">
            <a:solidFill>
              <a:srgbClr val="E8ECF0"/>
            </a:solidFill>
            <a:prstDash val="solid"/>
          </a:ln>
        </p:spPr>
      </p:sp>
      <p:sp>
        <p:nvSpPr>
          <p:cNvPr id="108" name="Shape 104"/>
          <p:cNvSpPr/>
          <p:nvPr/>
        </p:nvSpPr>
        <p:spPr>
          <a:xfrm>
            <a:off x="8028432" y="4764024"/>
            <a:ext cx="3931920" cy="256032"/>
          </a:xfrm>
          <a:prstGeom prst="rect">
            <a:avLst/>
          </a:prstGeom>
          <a:solidFill>
            <a:srgbClr val="00796B">
              <a:alpha val="12000"/>
            </a:srgbClr>
          </a:solidFill>
          <a:ln w="6350">
            <a:solidFill>
              <a:srgbClr val="00796B"/>
            </a:solidFill>
            <a:prstDash val="solid"/>
          </a:ln>
        </p:spPr>
      </p:sp>
      <p:sp>
        <p:nvSpPr>
          <p:cNvPr id="109" name="Shape 105"/>
          <p:cNvSpPr/>
          <p:nvPr/>
        </p:nvSpPr>
        <p:spPr>
          <a:xfrm>
            <a:off x="8028432" y="4764024"/>
            <a:ext cx="36576" cy="256032"/>
          </a:xfrm>
          <a:prstGeom prst="rect">
            <a:avLst/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</p:spPr>
      </p:sp>
      <p:sp>
        <p:nvSpPr>
          <p:cNvPr id="110" name="Text 106"/>
          <p:cNvSpPr/>
          <p:nvPr/>
        </p:nvSpPr>
        <p:spPr>
          <a:xfrm>
            <a:off x="8072628" y="4818888"/>
            <a:ext cx="50292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0079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签单 APE</a:t>
            </a:r>
            <a:endParaRPr lang="en-US" sz="750" dirty="0"/>
          </a:p>
        </p:txBody>
      </p:sp>
      <p:sp>
        <p:nvSpPr>
          <p:cNvPr id="111" name="Text 107"/>
          <p:cNvSpPr/>
          <p:nvPr/>
        </p:nvSpPr>
        <p:spPr>
          <a:xfrm>
            <a:off x="8487918" y="4818888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79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47.9</a:t>
            </a:r>
            <a:endParaRPr lang="en-US" sz="900" dirty="0"/>
          </a:p>
        </p:txBody>
      </p:sp>
      <p:sp>
        <p:nvSpPr>
          <p:cNvPr id="112" name="Text 108"/>
          <p:cNvSpPr/>
          <p:nvPr/>
        </p:nvSpPr>
        <p:spPr>
          <a:xfrm>
            <a:off x="9054846" y="4818888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79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60.8</a:t>
            </a:r>
            <a:endParaRPr lang="en-US" sz="900" dirty="0"/>
          </a:p>
        </p:txBody>
      </p:sp>
      <p:sp>
        <p:nvSpPr>
          <p:cNvPr id="113" name="Text 109"/>
          <p:cNvSpPr/>
          <p:nvPr/>
        </p:nvSpPr>
        <p:spPr>
          <a:xfrm>
            <a:off x="9621774" y="4818888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79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80.6</a:t>
            </a:r>
            <a:endParaRPr lang="en-US" sz="900" dirty="0"/>
          </a:p>
        </p:txBody>
      </p:sp>
      <p:sp>
        <p:nvSpPr>
          <p:cNvPr id="114" name="Shape 110"/>
          <p:cNvSpPr/>
          <p:nvPr/>
        </p:nvSpPr>
        <p:spPr>
          <a:xfrm>
            <a:off x="8028432" y="5020056"/>
            <a:ext cx="3931920" cy="256032"/>
          </a:xfrm>
          <a:prstGeom prst="rect">
            <a:avLst/>
          </a:prstGeom>
          <a:solidFill>
            <a:srgbClr val="FFFFFF"/>
          </a:solidFill>
          <a:ln w="3810">
            <a:solidFill>
              <a:srgbClr val="E8ECF0"/>
            </a:solidFill>
            <a:prstDash val="solid"/>
          </a:ln>
        </p:spPr>
      </p:sp>
      <p:sp>
        <p:nvSpPr>
          <p:cNvPr id="115" name="Shape 111"/>
          <p:cNvSpPr/>
          <p:nvPr/>
        </p:nvSpPr>
        <p:spPr>
          <a:xfrm>
            <a:off x="8028432" y="5020056"/>
            <a:ext cx="36576" cy="256032"/>
          </a:xfrm>
          <a:prstGeom prst="rect">
            <a:avLst/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</p:spPr>
      </p:sp>
      <p:sp>
        <p:nvSpPr>
          <p:cNvPr id="116" name="Text 112"/>
          <p:cNvSpPr/>
          <p:nvPr/>
        </p:nvSpPr>
        <p:spPr>
          <a:xfrm>
            <a:off x="8073898" y="5074920"/>
            <a:ext cx="50292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签单 件数</a:t>
            </a:r>
            <a:endParaRPr lang="en-US" sz="750" dirty="0"/>
          </a:p>
        </p:txBody>
      </p:sp>
      <p:sp>
        <p:nvSpPr>
          <p:cNvPr id="117" name="Text 113"/>
          <p:cNvSpPr/>
          <p:nvPr/>
        </p:nvSpPr>
        <p:spPr>
          <a:xfrm>
            <a:off x="8487918" y="5074920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115件</a:t>
            </a:r>
            <a:endParaRPr lang="en-US" sz="900" dirty="0"/>
          </a:p>
        </p:txBody>
      </p:sp>
      <p:sp>
        <p:nvSpPr>
          <p:cNvPr id="118" name="Text 114"/>
          <p:cNvSpPr/>
          <p:nvPr/>
        </p:nvSpPr>
        <p:spPr>
          <a:xfrm>
            <a:off x="9054846" y="5074920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118件</a:t>
            </a:r>
            <a:endParaRPr lang="en-US" sz="900" dirty="0"/>
          </a:p>
        </p:txBody>
      </p:sp>
      <p:sp>
        <p:nvSpPr>
          <p:cNvPr id="119" name="Text 115"/>
          <p:cNvSpPr/>
          <p:nvPr/>
        </p:nvSpPr>
        <p:spPr>
          <a:xfrm>
            <a:off x="9621774" y="5074920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195件</a:t>
            </a:r>
            <a:endParaRPr lang="en-US" sz="900" dirty="0"/>
          </a:p>
        </p:txBody>
      </p:sp>
      <p:sp>
        <p:nvSpPr>
          <p:cNvPr id="120" name="Shape 116"/>
          <p:cNvSpPr/>
          <p:nvPr/>
        </p:nvSpPr>
        <p:spPr>
          <a:xfrm>
            <a:off x="8028432" y="5276088"/>
            <a:ext cx="3931920" cy="0"/>
          </a:xfrm>
          <a:prstGeom prst="line">
            <a:avLst/>
          </a:prstGeom>
          <a:noFill/>
          <a:ln w="10160">
            <a:solidFill>
              <a:srgbClr val="E8ECF0"/>
            </a:solidFill>
            <a:prstDash val="solid"/>
          </a:ln>
        </p:spPr>
      </p:sp>
      <p:sp>
        <p:nvSpPr>
          <p:cNvPr id="121" name="Shape 117"/>
          <p:cNvSpPr/>
          <p:nvPr/>
        </p:nvSpPr>
        <p:spPr>
          <a:xfrm>
            <a:off x="8028432" y="5330952"/>
            <a:ext cx="3931920" cy="256032"/>
          </a:xfrm>
          <a:prstGeom prst="rect">
            <a:avLst/>
          </a:prstGeom>
          <a:solidFill>
            <a:srgbClr val="1A7A3F">
              <a:alpha val="12000"/>
            </a:srgbClr>
          </a:solidFill>
          <a:ln w="6350">
            <a:solidFill>
              <a:srgbClr val="1A7A3F"/>
            </a:solidFill>
            <a:prstDash val="solid"/>
          </a:ln>
        </p:spPr>
      </p:sp>
      <p:sp>
        <p:nvSpPr>
          <p:cNvPr id="122" name="Shape 118"/>
          <p:cNvSpPr/>
          <p:nvPr/>
        </p:nvSpPr>
        <p:spPr>
          <a:xfrm>
            <a:off x="8028432" y="5330952"/>
            <a:ext cx="36576" cy="256032"/>
          </a:xfrm>
          <a:prstGeom prst="rect">
            <a:avLst/>
          </a:prstGeom>
          <a:solidFill>
            <a:srgbClr val="1A7A3F"/>
          </a:solidFill>
          <a:ln w="12700">
            <a:solidFill>
              <a:srgbClr val="1A7A3F"/>
            </a:solidFill>
            <a:prstDash val="solid"/>
          </a:ln>
        </p:spPr>
      </p:sp>
      <p:sp>
        <p:nvSpPr>
          <p:cNvPr id="123" name="Text 119"/>
          <p:cNvSpPr/>
          <p:nvPr/>
        </p:nvSpPr>
        <p:spPr>
          <a:xfrm>
            <a:off x="8072628" y="5385816"/>
            <a:ext cx="50292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1A7A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批核 APE</a:t>
            </a:r>
            <a:endParaRPr lang="en-US" sz="750" dirty="0"/>
          </a:p>
        </p:txBody>
      </p:sp>
      <p:sp>
        <p:nvSpPr>
          <p:cNvPr id="124" name="Text 120"/>
          <p:cNvSpPr/>
          <p:nvPr/>
        </p:nvSpPr>
        <p:spPr>
          <a:xfrm>
            <a:off x="8487918" y="5385816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7A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116.8</a:t>
            </a:r>
            <a:endParaRPr lang="en-US" sz="900" dirty="0"/>
          </a:p>
        </p:txBody>
      </p:sp>
      <p:sp>
        <p:nvSpPr>
          <p:cNvPr id="125" name="Text 121"/>
          <p:cNvSpPr/>
          <p:nvPr/>
        </p:nvSpPr>
        <p:spPr>
          <a:xfrm>
            <a:off x="9054846" y="5385816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7A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143.7</a:t>
            </a:r>
            <a:endParaRPr lang="en-US" sz="900" dirty="0"/>
          </a:p>
        </p:txBody>
      </p:sp>
      <p:sp>
        <p:nvSpPr>
          <p:cNvPr id="126" name="Text 122"/>
          <p:cNvSpPr/>
          <p:nvPr/>
        </p:nvSpPr>
        <p:spPr>
          <a:xfrm>
            <a:off x="9621774" y="5385816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7A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85.9</a:t>
            </a:r>
            <a:endParaRPr lang="en-US" sz="900" dirty="0"/>
          </a:p>
        </p:txBody>
      </p:sp>
      <p:sp>
        <p:nvSpPr>
          <p:cNvPr id="127" name="Shape 123"/>
          <p:cNvSpPr/>
          <p:nvPr/>
        </p:nvSpPr>
        <p:spPr>
          <a:xfrm>
            <a:off x="8028432" y="5586984"/>
            <a:ext cx="3931920" cy="256032"/>
          </a:xfrm>
          <a:prstGeom prst="rect">
            <a:avLst/>
          </a:prstGeom>
          <a:solidFill>
            <a:srgbClr val="F5F7FA"/>
          </a:solidFill>
          <a:ln w="3810">
            <a:solidFill>
              <a:srgbClr val="E8ECF0"/>
            </a:solidFill>
            <a:prstDash val="solid"/>
          </a:ln>
        </p:spPr>
      </p:sp>
      <p:sp>
        <p:nvSpPr>
          <p:cNvPr id="128" name="Shape 124"/>
          <p:cNvSpPr/>
          <p:nvPr/>
        </p:nvSpPr>
        <p:spPr>
          <a:xfrm>
            <a:off x="8028432" y="5586984"/>
            <a:ext cx="36576" cy="256032"/>
          </a:xfrm>
          <a:prstGeom prst="rect">
            <a:avLst/>
          </a:prstGeom>
          <a:solidFill>
            <a:srgbClr val="1A7A3F"/>
          </a:solidFill>
          <a:ln w="12700">
            <a:solidFill>
              <a:srgbClr val="1A7A3F"/>
            </a:solidFill>
            <a:prstDash val="solid"/>
          </a:ln>
        </p:spPr>
      </p:sp>
      <p:sp>
        <p:nvSpPr>
          <p:cNvPr id="129" name="Text 125"/>
          <p:cNvSpPr/>
          <p:nvPr/>
        </p:nvSpPr>
        <p:spPr>
          <a:xfrm>
            <a:off x="8073898" y="5641848"/>
            <a:ext cx="50292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批核 件数</a:t>
            </a:r>
            <a:endParaRPr lang="en-US" sz="750" dirty="0"/>
          </a:p>
        </p:txBody>
      </p:sp>
      <p:sp>
        <p:nvSpPr>
          <p:cNvPr id="130" name="Text 126"/>
          <p:cNvSpPr/>
          <p:nvPr/>
        </p:nvSpPr>
        <p:spPr>
          <a:xfrm>
            <a:off x="8487918" y="5641848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203件</a:t>
            </a:r>
            <a:endParaRPr lang="en-US" sz="900" dirty="0"/>
          </a:p>
        </p:txBody>
      </p:sp>
      <p:sp>
        <p:nvSpPr>
          <p:cNvPr id="131" name="Text 127"/>
          <p:cNvSpPr/>
          <p:nvPr/>
        </p:nvSpPr>
        <p:spPr>
          <a:xfrm>
            <a:off x="9054846" y="5641848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180件</a:t>
            </a:r>
            <a:endParaRPr lang="en-US" sz="900" dirty="0"/>
          </a:p>
        </p:txBody>
      </p:sp>
      <p:sp>
        <p:nvSpPr>
          <p:cNvPr id="132" name="Text 128"/>
          <p:cNvSpPr/>
          <p:nvPr/>
        </p:nvSpPr>
        <p:spPr>
          <a:xfrm>
            <a:off x="9621774" y="5641848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139件</a:t>
            </a:r>
            <a:endParaRPr lang="en-US" sz="900" dirty="0"/>
          </a:p>
        </p:txBody>
      </p:sp>
      <p:sp>
        <p:nvSpPr>
          <p:cNvPr id="133" name="Shape 129"/>
          <p:cNvSpPr/>
          <p:nvPr/>
        </p:nvSpPr>
        <p:spPr>
          <a:xfrm>
            <a:off x="91440" y="6181344"/>
            <a:ext cx="11960352" cy="493776"/>
          </a:xfrm>
          <a:prstGeom prst="rect">
            <a:avLst/>
          </a:prstGeom>
          <a:solidFill>
            <a:srgbClr val="EEF2FF"/>
          </a:solidFill>
          <a:ln w="6350">
            <a:solidFill>
              <a:srgbClr val="C5CEE8"/>
            </a:solidFill>
            <a:prstDash val="solid"/>
          </a:ln>
        </p:spPr>
      </p:sp>
      <p:sp>
        <p:nvSpPr>
          <p:cNvPr id="134" name="Shape 130"/>
          <p:cNvSpPr/>
          <p:nvPr/>
        </p:nvSpPr>
        <p:spPr>
          <a:xfrm>
            <a:off x="91440" y="6181344"/>
            <a:ext cx="11960352" cy="27432"/>
          </a:xfrm>
          <a:prstGeom prst="rect">
            <a:avLst/>
          </a:prstGeom>
          <a:solidFill>
            <a:srgbClr val="1A6B3A"/>
          </a:solidFill>
          <a:ln w="12700">
            <a:solidFill>
              <a:srgbClr val="1A6B3A"/>
            </a:solidFill>
            <a:prstDash val="solid"/>
          </a:ln>
        </p:spPr>
      </p:sp>
      <p:sp>
        <p:nvSpPr>
          <p:cNvPr id="135" name="Text 131"/>
          <p:cNvSpPr/>
          <p:nvPr/>
        </p:nvSpPr>
        <p:spPr>
          <a:xfrm>
            <a:off x="165735" y="6245225"/>
            <a:ext cx="649605" cy="18923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A6B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 What：</a:t>
            </a:r>
            <a:endParaRPr lang="en-US" sz="800" dirty="0"/>
          </a:p>
        </p:txBody>
      </p:sp>
      <p:sp>
        <p:nvSpPr>
          <p:cNvPr id="136" name="Text 132"/>
          <p:cNvSpPr/>
          <p:nvPr/>
        </p:nvSpPr>
        <p:spPr>
          <a:xfrm>
            <a:off x="124968" y="6419088"/>
            <a:ext cx="11759184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2025年具明显季节性高峰（6月/9月/11月）。2026年Q1批核存量驱动（1-2月超100M），3月预约/签单同步走强（均达80M+），前端动能复苏。4月初（W13）预约0.8M/签单3.1M/批核4.1M，节后正常启动，Q2批核可期。</a:t>
            </a:r>
            <a:endParaRPr lang="en-US" sz="750" dirty="0"/>
          </a:p>
        </p:txBody>
      </p:sp>
      <p:sp>
        <p:nvSpPr>
          <p:cNvPr id="137" name="Shape 133"/>
          <p:cNvSpPr/>
          <p:nvPr/>
        </p:nvSpPr>
        <p:spPr>
          <a:xfrm>
            <a:off x="91440" y="6729984"/>
            <a:ext cx="11978640" cy="0"/>
          </a:xfrm>
          <a:prstGeom prst="line">
            <a:avLst/>
          </a:prstGeom>
          <a:noFill/>
          <a:ln w="6350">
            <a:solidFill>
              <a:srgbClr val="E8ECF0"/>
            </a:solidFill>
            <a:prstDash val="solid"/>
          </a:ln>
        </p:spPr>
      </p:sp>
      <p:sp>
        <p:nvSpPr>
          <p:cNvPr id="138" name="Text 90"/>
          <p:cNvSpPr/>
          <p:nvPr/>
        </p:nvSpPr>
        <p:spPr>
          <a:xfrm>
            <a:off x="10129139" y="3995928"/>
            <a:ext cx="566928" cy="1554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altLang="en-US" sz="750" b="1" dirty="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26-Apr</a:t>
            </a:r>
            <a:endParaRPr lang="zh-CN" altLang="en-US" sz="750" b="1" dirty="0">
              <a:solidFill>
                <a:srgbClr val="FFFFFF"/>
              </a:solidFill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-120"/>
            </a:endParaRPr>
          </a:p>
        </p:txBody>
      </p:sp>
      <p:sp>
        <p:nvSpPr>
          <p:cNvPr id="139" name="Text 96"/>
          <p:cNvSpPr/>
          <p:nvPr/>
        </p:nvSpPr>
        <p:spPr>
          <a:xfrm>
            <a:off x="10129139" y="4251960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0.8</a:t>
            </a:r>
            <a:endParaRPr lang="en-US" sz="900" dirty="0"/>
          </a:p>
        </p:txBody>
      </p:sp>
      <p:sp>
        <p:nvSpPr>
          <p:cNvPr id="140" name="Text 102"/>
          <p:cNvSpPr/>
          <p:nvPr/>
        </p:nvSpPr>
        <p:spPr>
          <a:xfrm>
            <a:off x="10129139" y="4507992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6件</a:t>
            </a:r>
            <a:endParaRPr lang="en-US" sz="900" dirty="0"/>
          </a:p>
        </p:txBody>
      </p:sp>
      <p:sp>
        <p:nvSpPr>
          <p:cNvPr id="141" name="Text 109"/>
          <p:cNvSpPr/>
          <p:nvPr/>
        </p:nvSpPr>
        <p:spPr>
          <a:xfrm>
            <a:off x="10129139" y="4818888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79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3.1</a:t>
            </a:r>
            <a:endParaRPr lang="en-US" sz="900" dirty="0"/>
          </a:p>
        </p:txBody>
      </p:sp>
      <p:sp>
        <p:nvSpPr>
          <p:cNvPr id="142" name="Text 115"/>
          <p:cNvSpPr/>
          <p:nvPr/>
        </p:nvSpPr>
        <p:spPr>
          <a:xfrm>
            <a:off x="10129139" y="5074920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10件</a:t>
            </a:r>
            <a:endParaRPr lang="en-US" sz="900" dirty="0"/>
          </a:p>
        </p:txBody>
      </p:sp>
      <p:sp>
        <p:nvSpPr>
          <p:cNvPr id="143" name="Text 122"/>
          <p:cNvSpPr/>
          <p:nvPr/>
        </p:nvSpPr>
        <p:spPr>
          <a:xfrm>
            <a:off x="10129139" y="5385816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7A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4.1</a:t>
            </a:r>
            <a:endParaRPr lang="en-US" sz="900" dirty="0"/>
          </a:p>
        </p:txBody>
      </p:sp>
      <p:sp>
        <p:nvSpPr>
          <p:cNvPr id="144" name="Text 128"/>
          <p:cNvSpPr/>
          <p:nvPr/>
        </p:nvSpPr>
        <p:spPr>
          <a:xfrm>
            <a:off x="10129139" y="5641848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11件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60"/>
          <p:cNvSpPr/>
          <p:nvPr/>
        </p:nvSpPr>
        <p:spPr>
          <a:xfrm>
            <a:off x="190500" y="538480"/>
            <a:ext cx="5432425" cy="6099810"/>
          </a:xfrm>
          <a:prstGeom prst="rect">
            <a:avLst/>
          </a:prstGeom>
          <a:solidFill>
            <a:srgbClr val="FFFFFF"/>
          </a:solidFill>
          <a:ln w="9525">
            <a:solidFill>
              <a:srgbClr val="D0D8E8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" name="Shape 0"/>
          <p:cNvSpPr/>
          <p:nvPr/>
        </p:nvSpPr>
        <p:spPr>
          <a:xfrm>
            <a:off x="0" y="0"/>
            <a:ext cx="12161520" cy="47548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64592" y="73152"/>
            <a:ext cx="1005840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月度效能深析  |  预约 / 签单 / 批核 三维 YoY 对比 &amp; 2026 达标路径管控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172200" y="548640"/>
            <a:ext cx="5532120" cy="6144768"/>
          </a:xfrm>
          <a:prstGeom prst="rect">
            <a:avLst/>
          </a:prstGeom>
          <a:solidFill>
            <a:srgbClr val="FFFFFF"/>
          </a:solidFill>
          <a:ln w="9525">
            <a:solidFill>
              <a:srgbClr val="D0D8E8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9" name="Shape 56"/>
          <p:cNvSpPr/>
          <p:nvPr/>
        </p:nvSpPr>
        <p:spPr>
          <a:xfrm>
            <a:off x="91440" y="6071616"/>
            <a:ext cx="5532120" cy="621792"/>
          </a:xfrm>
          <a:prstGeom prst="rect">
            <a:avLst/>
          </a:prstGeom>
          <a:solidFill>
            <a:srgbClr val="EEF2FF"/>
          </a:solidFill>
          <a:ln w="6350">
            <a:solidFill>
              <a:srgbClr val="C5CEE8"/>
            </a:solidFill>
            <a:prstDash val="solid"/>
          </a:ln>
        </p:spPr>
      </p:sp>
      <p:sp>
        <p:nvSpPr>
          <p:cNvPr id="60" name="Shape 57"/>
          <p:cNvSpPr/>
          <p:nvPr/>
        </p:nvSpPr>
        <p:spPr>
          <a:xfrm>
            <a:off x="91440" y="6071616"/>
            <a:ext cx="5532120" cy="27432"/>
          </a:xfrm>
          <a:prstGeom prst="rect">
            <a:avLst/>
          </a:prstGeom>
          <a:solidFill>
            <a:srgbClr val="1A6B3A"/>
          </a:solidFill>
          <a:ln w="12700">
            <a:solidFill>
              <a:srgbClr val="1A6B3A"/>
            </a:solidFill>
            <a:prstDash val="solid"/>
          </a:ln>
        </p:spPr>
      </p:sp>
      <p:sp>
        <p:nvSpPr>
          <p:cNvPr id="61" name="Text 58"/>
          <p:cNvSpPr/>
          <p:nvPr/>
        </p:nvSpPr>
        <p:spPr>
          <a:xfrm>
            <a:off x="153670" y="6154420"/>
            <a:ext cx="638810" cy="1428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A6B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 What：</a:t>
            </a:r>
            <a:endParaRPr lang="en-US" sz="800" dirty="0"/>
          </a:p>
        </p:txBody>
      </p:sp>
      <p:sp>
        <p:nvSpPr>
          <p:cNvPr id="62" name="Text 59"/>
          <p:cNvSpPr/>
          <p:nvPr/>
        </p:nvSpPr>
        <p:spPr>
          <a:xfrm>
            <a:off x="155575" y="6333490"/>
            <a:ext cx="5367020" cy="3524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altLang="zh-CN" sz="750" dirty="0"/>
              <a:t> 2026</a:t>
            </a:r>
            <a:r>
              <a:rPr lang="zh-CN" altLang="en-US" sz="750" dirty="0"/>
              <a:t>年</a:t>
            </a:r>
            <a:r>
              <a:rPr lang="en-US" altLang="zh-CN" sz="750" dirty="0"/>
              <a:t>3</a:t>
            </a:r>
            <a:r>
              <a:rPr lang="zh-CN" altLang="en-US" sz="750" dirty="0"/>
              <a:t>月的预约件数从</a:t>
            </a:r>
            <a:r>
              <a:rPr lang="en-US" altLang="zh-CN" sz="750" dirty="0"/>
              <a:t>2</a:t>
            </a:r>
            <a:r>
              <a:rPr lang="zh-CN" altLang="en-US" sz="750" dirty="0"/>
              <a:t>月的</a:t>
            </a:r>
            <a:r>
              <a:rPr lang="en-US" altLang="zh-CN" sz="750" dirty="0"/>
              <a:t>107</a:t>
            </a:r>
            <a:r>
              <a:rPr lang="zh-CN" altLang="en-US" sz="750" dirty="0"/>
              <a:t>件猛增至</a:t>
            </a:r>
            <a:r>
              <a:rPr lang="en-US" altLang="zh-CN" sz="750" dirty="0"/>
              <a:t>199</a:t>
            </a:r>
            <a:r>
              <a:rPr lang="zh-CN" altLang="en-US" sz="750" dirty="0"/>
              <a:t>件（环比增长</a:t>
            </a:r>
            <a:r>
              <a:rPr lang="en-US" altLang="zh-CN" sz="750" dirty="0"/>
              <a:t>30.1%</a:t>
            </a:r>
            <a:r>
              <a:rPr lang="zh-CN" altLang="en-US" sz="750" dirty="0"/>
              <a:t>），</a:t>
            </a:r>
            <a:r>
              <a:rPr lang="en-US" altLang="zh-CN" sz="750" dirty="0"/>
              <a:t>3</a:t>
            </a:r>
            <a:r>
              <a:rPr lang="zh-CN" altLang="en-US" sz="750" dirty="0"/>
              <a:t>月市场活跃度大幅回升，属于典型的</a:t>
            </a:r>
            <a:r>
              <a:rPr lang="en-US" altLang="zh-CN" sz="750" dirty="0"/>
              <a:t>“</a:t>
            </a:r>
            <a:r>
              <a:rPr lang="zh-CN" altLang="en-US" sz="750" dirty="0"/>
              <a:t>小阳春</a:t>
            </a:r>
            <a:r>
              <a:rPr lang="en-US" altLang="zh-CN" sz="750" dirty="0"/>
              <a:t>”</a:t>
            </a:r>
            <a:r>
              <a:rPr lang="zh-CN" altLang="en-US" sz="750" dirty="0"/>
              <a:t>行情。需要关注的是，</a:t>
            </a:r>
            <a:r>
              <a:rPr lang="en-US" altLang="zh-CN" sz="750" dirty="0"/>
              <a:t>3</a:t>
            </a:r>
            <a:r>
              <a:rPr lang="zh-CN" altLang="en-US" sz="750" dirty="0"/>
              <a:t>月件均</a:t>
            </a:r>
            <a:r>
              <a:rPr lang="en-US" altLang="zh-CN" sz="750" dirty="0"/>
              <a:t>APE</a:t>
            </a:r>
            <a:r>
              <a:rPr lang="zh-CN" altLang="en-US" sz="750" dirty="0"/>
              <a:t>（</a:t>
            </a:r>
            <a:r>
              <a:rPr lang="en-US" altLang="zh-CN" sz="750" dirty="0"/>
              <a:t>40.2</a:t>
            </a:r>
            <a:r>
              <a:rPr lang="zh-CN" altLang="en-US" sz="750" dirty="0"/>
              <a:t>万）低于</a:t>
            </a:r>
            <a:r>
              <a:rPr lang="en-US" altLang="zh-CN" sz="750" dirty="0"/>
              <a:t>2</a:t>
            </a:r>
            <a:r>
              <a:rPr lang="zh-CN" altLang="en-US" sz="750" dirty="0"/>
              <a:t>月（</a:t>
            </a:r>
            <a:r>
              <a:rPr lang="en-US" altLang="zh-CN" sz="750" dirty="0"/>
              <a:t>52.4</a:t>
            </a:r>
            <a:r>
              <a:rPr lang="zh-CN" altLang="en-US" sz="750" dirty="0"/>
              <a:t>万），说明</a:t>
            </a:r>
            <a:r>
              <a:rPr lang="en-US" altLang="zh-CN" sz="750" dirty="0"/>
              <a:t>3</a:t>
            </a:r>
            <a:r>
              <a:rPr lang="zh-CN" altLang="en-US" sz="750" dirty="0"/>
              <a:t>月的大规模增量主要由中小型保单驱动。</a:t>
            </a:r>
            <a:r>
              <a:rPr lang="en-US" altLang="zh-CN" sz="750" dirty="0"/>
              <a:t>1-2</a:t>
            </a:r>
            <a:r>
              <a:rPr lang="zh-CN" altLang="en-US" sz="750" dirty="0"/>
              <a:t>月的高额批核主要是消耗</a:t>
            </a:r>
            <a:r>
              <a:rPr lang="en-US" altLang="zh-CN" sz="750" dirty="0"/>
              <a:t>2025</a:t>
            </a:r>
            <a:r>
              <a:rPr lang="zh-CN" altLang="en-US" sz="750" dirty="0"/>
              <a:t>年底及</a:t>
            </a:r>
            <a:r>
              <a:rPr lang="en-US" altLang="zh-CN" sz="750" dirty="0"/>
              <a:t>2026</a:t>
            </a:r>
            <a:r>
              <a:rPr lang="zh-CN" altLang="en-US" sz="750" dirty="0"/>
              <a:t>年初的积压件。</a:t>
            </a:r>
            <a:r>
              <a:rPr lang="en-US" altLang="zh-CN" sz="750" dirty="0"/>
              <a:t>3</a:t>
            </a:r>
            <a:r>
              <a:rPr lang="zh-CN" altLang="en-US" sz="750" dirty="0"/>
              <a:t>月的批核下滑预示着批核时效可能变长，或者存在大量</a:t>
            </a:r>
            <a:r>
              <a:rPr lang="en-US" altLang="zh-CN" sz="750" dirty="0"/>
              <a:t>3</a:t>
            </a:r>
            <a:r>
              <a:rPr lang="zh-CN" altLang="en-US" sz="750" dirty="0"/>
              <a:t>月签单件尚未走完流程。</a:t>
            </a:r>
            <a:endParaRPr lang="zh-CN" altLang="en-US" sz="750" dirty="0"/>
          </a:p>
          <a:p>
            <a:pPr marL="0" indent="0">
              <a:buNone/>
            </a:pPr>
            <a:endParaRPr lang="zh-CN" altLang="en-US" sz="750" dirty="0"/>
          </a:p>
        </p:txBody>
      </p:sp>
      <p:sp>
        <p:nvSpPr>
          <p:cNvPr id="63" name="Shape 60"/>
          <p:cNvSpPr/>
          <p:nvPr/>
        </p:nvSpPr>
        <p:spPr>
          <a:xfrm>
            <a:off x="5760720" y="538480"/>
            <a:ext cx="6305550" cy="6144895"/>
          </a:xfrm>
          <a:prstGeom prst="rect">
            <a:avLst/>
          </a:prstGeom>
          <a:solidFill>
            <a:srgbClr val="FFFFFF"/>
          </a:solidFill>
          <a:ln w="9525">
            <a:solidFill>
              <a:srgbClr val="D0D8E8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>
            <a:endParaRPr lang="zh-CN" altLang="en-US"/>
          </a:p>
        </p:txBody>
      </p:sp>
      <p:sp>
        <p:nvSpPr>
          <p:cNvPr id="64" name="Shape 61"/>
          <p:cNvSpPr/>
          <p:nvPr/>
        </p:nvSpPr>
        <p:spPr>
          <a:xfrm>
            <a:off x="5760720" y="548640"/>
            <a:ext cx="6291072" cy="274320"/>
          </a:xfrm>
          <a:prstGeom prst="rect">
            <a:avLst/>
          </a:prstGeom>
          <a:solidFill>
            <a:srgbClr val="154360"/>
          </a:solidFill>
          <a:ln w="12700">
            <a:solidFill>
              <a:srgbClr val="154360"/>
            </a:solidFill>
            <a:prstDash val="solid"/>
          </a:ln>
        </p:spPr>
      </p:sp>
      <p:sp>
        <p:nvSpPr>
          <p:cNvPr id="65" name="Text 62"/>
          <p:cNvSpPr/>
          <p:nvPr/>
        </p:nvSpPr>
        <p:spPr>
          <a:xfrm>
            <a:off x="5852160" y="585216"/>
            <a:ext cx="6126480" cy="2103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  2026 年批核 APE 月度走势与目标达标路径管控</a:t>
            </a:r>
            <a:endParaRPr lang="en-US" sz="850" dirty="0"/>
          </a:p>
        </p:txBody>
      </p:sp>
      <p:graphicFrame>
        <p:nvGraphicFramePr>
          <p:cNvPr id="66" name="Chart 1"/>
          <p:cNvGraphicFramePr/>
          <p:nvPr/>
        </p:nvGraphicFramePr>
        <p:xfrm>
          <a:off x="5897880" y="868680"/>
          <a:ext cx="6062345" cy="377888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67" name="Shape 63"/>
          <p:cNvSpPr/>
          <p:nvPr/>
        </p:nvSpPr>
        <p:spPr>
          <a:xfrm>
            <a:off x="8067040" y="1137285"/>
            <a:ext cx="3999230" cy="3203575"/>
          </a:xfrm>
          <a:prstGeom prst="rect">
            <a:avLst/>
          </a:prstGeom>
          <a:solidFill>
            <a:srgbClr val="D6E8FF">
              <a:alpha val="60000"/>
            </a:srgbClr>
          </a:solidFill>
          <a:ln w="10160">
            <a:solidFill>
              <a:srgbClr val="9BBDE8"/>
            </a:solidFill>
            <a:prstDash val="dash"/>
          </a:ln>
        </p:spPr>
        <p:txBody>
          <a:bodyPr/>
          <a:p>
            <a:endParaRPr lang="zh-CN" altLang="en-US"/>
          </a:p>
        </p:txBody>
      </p:sp>
      <p:sp>
        <p:nvSpPr>
          <p:cNvPr id="68" name="Text 64"/>
          <p:cNvSpPr/>
          <p:nvPr/>
        </p:nvSpPr>
        <p:spPr>
          <a:xfrm>
            <a:off x="7866380" y="1197610"/>
            <a:ext cx="3911600" cy="2432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4A7FC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← 预测区间（5–12 月）→</a:t>
            </a:r>
            <a:endParaRPr lang="en-US" sz="800" dirty="0"/>
          </a:p>
        </p:txBody>
      </p:sp>
      <p:sp>
        <p:nvSpPr>
          <p:cNvPr id="69" name="Shape 65"/>
          <p:cNvSpPr/>
          <p:nvPr/>
        </p:nvSpPr>
        <p:spPr>
          <a:xfrm>
            <a:off x="5925185" y="3042285"/>
            <a:ext cx="6035040" cy="635"/>
          </a:xfrm>
          <a:prstGeom prst="line">
            <a:avLst/>
          </a:prstGeom>
          <a:noFill/>
          <a:ln w="12700">
            <a:solidFill>
              <a:srgbClr val="C8890A"/>
            </a:solidFill>
            <a:prstDash val="sysDot"/>
          </a:ln>
        </p:spPr>
      </p:sp>
      <p:sp>
        <p:nvSpPr>
          <p:cNvPr id="70" name="Text 66"/>
          <p:cNvSpPr/>
          <p:nvPr/>
        </p:nvSpPr>
        <p:spPr>
          <a:xfrm>
            <a:off x="8313420" y="2645410"/>
            <a:ext cx="3017520" cy="2190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889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达标节奏线  84.8M/月（剩余 763M ÷ 9mo）</a:t>
            </a:r>
            <a:endParaRPr lang="en-US" sz="850" b="1" dirty="0">
              <a:solidFill>
                <a:srgbClr val="C8890A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71" name="Shape 67"/>
          <p:cNvSpPr/>
          <p:nvPr/>
        </p:nvSpPr>
        <p:spPr>
          <a:xfrm>
            <a:off x="5925185" y="3263900"/>
            <a:ext cx="6035040" cy="635"/>
          </a:xfrm>
          <a:prstGeom prst="line">
            <a:avLst/>
          </a:prstGeom>
          <a:noFill/>
          <a:ln w="12700">
            <a:solidFill>
              <a:srgbClr val="C0392B"/>
            </a:solidFill>
            <a:prstDash val="sysDot"/>
          </a:ln>
        </p:spPr>
      </p:sp>
      <p:sp>
        <p:nvSpPr>
          <p:cNvPr id="72" name="Text 68"/>
          <p:cNvSpPr/>
          <p:nvPr/>
        </p:nvSpPr>
        <p:spPr>
          <a:xfrm>
            <a:off x="8787130" y="3264535"/>
            <a:ext cx="1599565" cy="2616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039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最低月底线  69.5M</a:t>
            </a:r>
            <a:endParaRPr lang="en-US" sz="850" b="1" dirty="0">
              <a:solidFill>
                <a:srgbClr val="C0392B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73" name="Shape 69"/>
          <p:cNvSpPr/>
          <p:nvPr/>
        </p:nvSpPr>
        <p:spPr>
          <a:xfrm>
            <a:off x="5897880" y="5127879"/>
            <a:ext cx="1444752" cy="731520"/>
          </a:xfrm>
          <a:prstGeom prst="rect">
            <a:avLst/>
          </a:prstGeom>
          <a:solidFill>
            <a:srgbClr val="F5F7FA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74" name="Shape 70"/>
          <p:cNvSpPr/>
          <p:nvPr/>
        </p:nvSpPr>
        <p:spPr>
          <a:xfrm>
            <a:off x="5897880" y="5127879"/>
            <a:ext cx="1444752" cy="4572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75" name="Text 71"/>
          <p:cNvSpPr/>
          <p:nvPr/>
        </p:nvSpPr>
        <p:spPr>
          <a:xfrm>
            <a:off x="5989320" y="5201031"/>
            <a:ext cx="1261872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354.5M</a:t>
            </a:r>
            <a:endParaRPr lang="en-US" sz="2000" dirty="0"/>
          </a:p>
        </p:txBody>
      </p:sp>
      <p:sp>
        <p:nvSpPr>
          <p:cNvPr id="76" name="Text 72"/>
          <p:cNvSpPr/>
          <p:nvPr/>
        </p:nvSpPr>
        <p:spPr>
          <a:xfrm>
            <a:off x="5989320" y="5530215"/>
            <a:ext cx="1261872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1–4 月已批核</a:t>
            </a:r>
            <a:endParaRPr lang="en-US" sz="800" dirty="0"/>
          </a:p>
        </p:txBody>
      </p:sp>
      <p:sp>
        <p:nvSpPr>
          <p:cNvPr id="77" name="Text 73"/>
          <p:cNvSpPr/>
          <p:nvPr/>
        </p:nvSpPr>
        <p:spPr>
          <a:xfrm>
            <a:off x="5989320" y="5676519"/>
            <a:ext cx="1261872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31.5% </a:t>
            </a:r>
            <a:r>
              <a:rPr lang="zh-CN" altLang="en-US" sz="700" dirty="0">
                <a:solidFill>
                  <a:srgbClr val="6B7280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达成率</a:t>
            </a:r>
            <a:endParaRPr lang="zh-CN" altLang="en-US" sz="700" dirty="0">
              <a:solidFill>
                <a:srgbClr val="6B7280"/>
              </a:solidFill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-120"/>
            </a:endParaRPr>
          </a:p>
        </p:txBody>
      </p:sp>
      <p:sp>
        <p:nvSpPr>
          <p:cNvPr id="78" name="Shape 74"/>
          <p:cNvSpPr/>
          <p:nvPr/>
        </p:nvSpPr>
        <p:spPr>
          <a:xfrm>
            <a:off x="7434072" y="5127879"/>
            <a:ext cx="1444752" cy="731520"/>
          </a:xfrm>
          <a:prstGeom prst="rect">
            <a:avLst/>
          </a:prstGeom>
          <a:solidFill>
            <a:srgbClr val="F5F7FA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79" name="Shape 75"/>
          <p:cNvSpPr/>
          <p:nvPr/>
        </p:nvSpPr>
        <p:spPr>
          <a:xfrm>
            <a:off x="7434072" y="5127879"/>
            <a:ext cx="1444752" cy="457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80" name="Text 76"/>
          <p:cNvSpPr/>
          <p:nvPr/>
        </p:nvSpPr>
        <p:spPr>
          <a:xfrm>
            <a:off x="7525512" y="5201031"/>
            <a:ext cx="1261872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039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763M</a:t>
            </a:r>
            <a:endParaRPr lang="en-US" sz="2000" dirty="0"/>
          </a:p>
        </p:txBody>
      </p:sp>
      <p:sp>
        <p:nvSpPr>
          <p:cNvPr id="81" name="Text 77"/>
          <p:cNvSpPr/>
          <p:nvPr/>
        </p:nvSpPr>
        <p:spPr>
          <a:xfrm>
            <a:off x="7525512" y="5530215"/>
            <a:ext cx="1261872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剩余目标缺口</a:t>
            </a:r>
            <a:endParaRPr lang="en-US" sz="800" dirty="0"/>
          </a:p>
        </p:txBody>
      </p:sp>
      <p:sp>
        <p:nvSpPr>
          <p:cNvPr id="82" name="Text 78"/>
          <p:cNvSpPr/>
          <p:nvPr/>
        </p:nvSpPr>
        <p:spPr>
          <a:xfrm>
            <a:off x="7525512" y="5676519"/>
            <a:ext cx="1261872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68.1% </a:t>
            </a:r>
            <a:r>
              <a:rPr lang="zh-CN" altLang="en-US" sz="700" dirty="0">
                <a:solidFill>
                  <a:srgbClr val="6B7280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目标剩余</a:t>
            </a:r>
            <a:endParaRPr lang="zh-CN" altLang="en-US" sz="700" dirty="0">
              <a:solidFill>
                <a:srgbClr val="6B7280"/>
              </a:solidFill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-120"/>
            </a:endParaRPr>
          </a:p>
        </p:txBody>
      </p:sp>
      <p:sp>
        <p:nvSpPr>
          <p:cNvPr id="83" name="Shape 79"/>
          <p:cNvSpPr/>
          <p:nvPr/>
        </p:nvSpPr>
        <p:spPr>
          <a:xfrm>
            <a:off x="8970264" y="5127879"/>
            <a:ext cx="1444752" cy="731520"/>
          </a:xfrm>
          <a:prstGeom prst="rect">
            <a:avLst/>
          </a:prstGeom>
          <a:solidFill>
            <a:srgbClr val="F5F7FA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84" name="Shape 80"/>
          <p:cNvSpPr/>
          <p:nvPr/>
        </p:nvSpPr>
        <p:spPr>
          <a:xfrm>
            <a:off x="8970264" y="5127879"/>
            <a:ext cx="1444752" cy="45720"/>
          </a:xfrm>
          <a:prstGeom prst="rect">
            <a:avLst/>
          </a:prstGeom>
          <a:solidFill>
            <a:srgbClr val="C8890A"/>
          </a:solidFill>
          <a:ln w="12700">
            <a:solidFill>
              <a:srgbClr val="C8890A"/>
            </a:solidFill>
            <a:prstDash val="solid"/>
          </a:ln>
        </p:spPr>
      </p:sp>
      <p:sp>
        <p:nvSpPr>
          <p:cNvPr id="85" name="Text 81"/>
          <p:cNvSpPr/>
          <p:nvPr/>
        </p:nvSpPr>
        <p:spPr>
          <a:xfrm>
            <a:off x="9061704" y="5201031"/>
            <a:ext cx="1261872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889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84.8M</a:t>
            </a:r>
            <a:endParaRPr lang="en-US" sz="2000" dirty="0"/>
          </a:p>
        </p:txBody>
      </p:sp>
      <p:sp>
        <p:nvSpPr>
          <p:cNvPr id="86" name="Text 82"/>
          <p:cNvSpPr/>
          <p:nvPr/>
        </p:nvSpPr>
        <p:spPr>
          <a:xfrm>
            <a:off x="9061704" y="5530215"/>
            <a:ext cx="1261872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月均需达成</a:t>
            </a:r>
            <a:endParaRPr lang="en-US" sz="800" dirty="0"/>
          </a:p>
        </p:txBody>
      </p:sp>
      <p:sp>
        <p:nvSpPr>
          <p:cNvPr id="87" name="Text 83"/>
          <p:cNvSpPr/>
          <p:nvPr/>
        </p:nvSpPr>
        <p:spPr>
          <a:xfrm>
            <a:off x="9061704" y="5676519"/>
            <a:ext cx="1261872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剩余缺口÷剩余月份</a:t>
            </a:r>
            <a:endParaRPr lang="en-US" sz="700" dirty="0"/>
          </a:p>
        </p:txBody>
      </p:sp>
      <p:sp>
        <p:nvSpPr>
          <p:cNvPr id="88" name="Shape 84"/>
          <p:cNvSpPr/>
          <p:nvPr/>
        </p:nvSpPr>
        <p:spPr>
          <a:xfrm>
            <a:off x="10506456" y="5127879"/>
            <a:ext cx="1444752" cy="731520"/>
          </a:xfrm>
          <a:prstGeom prst="rect">
            <a:avLst/>
          </a:prstGeom>
          <a:solidFill>
            <a:srgbClr val="F5F7FA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89" name="Shape 85"/>
          <p:cNvSpPr/>
          <p:nvPr/>
        </p:nvSpPr>
        <p:spPr>
          <a:xfrm>
            <a:off x="10506456" y="5127879"/>
            <a:ext cx="1444752" cy="45720"/>
          </a:xfrm>
          <a:prstGeom prst="rect">
            <a:avLst/>
          </a:prstGeom>
          <a:solidFill>
            <a:srgbClr val="8B4513"/>
          </a:solidFill>
          <a:ln w="12700">
            <a:solidFill>
              <a:srgbClr val="8B4513"/>
            </a:solidFill>
            <a:prstDash val="solid"/>
          </a:ln>
        </p:spPr>
      </p:sp>
      <p:sp>
        <p:nvSpPr>
          <p:cNvPr id="90" name="Text 86"/>
          <p:cNvSpPr/>
          <p:nvPr/>
        </p:nvSpPr>
        <p:spPr>
          <a:xfrm>
            <a:off x="10597896" y="5201031"/>
            <a:ext cx="1261872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8B451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69.5M</a:t>
            </a:r>
            <a:endParaRPr lang="en-US" sz="2000" dirty="0"/>
          </a:p>
        </p:txBody>
      </p:sp>
      <p:sp>
        <p:nvSpPr>
          <p:cNvPr id="91" name="Text 87"/>
          <p:cNvSpPr/>
          <p:nvPr/>
        </p:nvSpPr>
        <p:spPr>
          <a:xfrm>
            <a:off x="10597896" y="5530215"/>
            <a:ext cx="1261872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最低月底线</a:t>
            </a:r>
            <a:endParaRPr lang="en-US" sz="800" dirty="0"/>
          </a:p>
        </p:txBody>
      </p:sp>
      <p:sp>
        <p:nvSpPr>
          <p:cNvPr id="92" name="Text 88"/>
          <p:cNvSpPr/>
          <p:nvPr/>
        </p:nvSpPr>
        <p:spPr>
          <a:xfrm>
            <a:off x="10597896" y="5676519"/>
            <a:ext cx="1261872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700" dirty="0">
                <a:solidFill>
                  <a:srgbClr val="6B7280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最低月度目标</a:t>
            </a:r>
            <a:endParaRPr lang="zh-CN" altLang="en-US" sz="700" dirty="0">
              <a:solidFill>
                <a:srgbClr val="6B7280"/>
              </a:solidFill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-120"/>
            </a:endParaRPr>
          </a:p>
        </p:txBody>
      </p:sp>
      <p:sp>
        <p:nvSpPr>
          <p:cNvPr id="93" name="Shape 89"/>
          <p:cNvSpPr/>
          <p:nvPr/>
        </p:nvSpPr>
        <p:spPr>
          <a:xfrm>
            <a:off x="5760720" y="6066155"/>
            <a:ext cx="6290945" cy="626745"/>
          </a:xfrm>
          <a:prstGeom prst="rect">
            <a:avLst/>
          </a:prstGeom>
          <a:solidFill>
            <a:srgbClr val="EEF2FF"/>
          </a:solidFill>
          <a:ln w="6350">
            <a:solidFill>
              <a:srgbClr val="C5CEE8"/>
            </a:solidFill>
            <a:prstDash val="solid"/>
          </a:ln>
        </p:spPr>
      </p:sp>
      <p:sp>
        <p:nvSpPr>
          <p:cNvPr id="94" name="Shape 90"/>
          <p:cNvSpPr/>
          <p:nvPr/>
        </p:nvSpPr>
        <p:spPr>
          <a:xfrm>
            <a:off x="5760720" y="6065139"/>
            <a:ext cx="6291072" cy="27432"/>
          </a:xfrm>
          <a:prstGeom prst="rect">
            <a:avLst/>
          </a:prstGeom>
          <a:solidFill>
            <a:srgbClr val="154360"/>
          </a:solidFill>
          <a:ln w="12700">
            <a:solidFill>
              <a:srgbClr val="154360"/>
            </a:solidFill>
            <a:prstDash val="solid"/>
          </a:ln>
        </p:spPr>
      </p:sp>
      <p:sp>
        <p:nvSpPr>
          <p:cNvPr id="95" name="Text 91"/>
          <p:cNvSpPr/>
          <p:nvPr/>
        </p:nvSpPr>
        <p:spPr>
          <a:xfrm>
            <a:off x="5870575" y="6109970"/>
            <a:ext cx="514985" cy="1689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5436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 What：</a:t>
            </a:r>
            <a:endParaRPr lang="en-US" sz="800" dirty="0"/>
          </a:p>
        </p:txBody>
      </p:sp>
      <p:sp>
        <p:nvSpPr>
          <p:cNvPr id="96" name="Text 92"/>
          <p:cNvSpPr/>
          <p:nvPr/>
        </p:nvSpPr>
        <p:spPr>
          <a:xfrm>
            <a:off x="5852160" y="6255385"/>
            <a:ext cx="6160135" cy="43053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含4月初达 354.5M（达成率 31.8%），完成全年目标 1,113M 还需约 763M（剩余8个月月均需 95.3M）。4月 W13 批核 13.5M 节后回暖；若 4–12 月维持 80–100M 节奏，全年可达标。</a:t>
            </a:r>
            <a:endParaRPr lang="en-US" sz="750" dirty="0"/>
          </a:p>
        </p:txBody>
      </p:sp>
      <p:sp>
        <p:nvSpPr>
          <p:cNvPr id="98" name="Text 2"/>
          <p:cNvSpPr/>
          <p:nvPr/>
        </p:nvSpPr>
        <p:spPr>
          <a:xfrm>
            <a:off x="10515600" y="109728"/>
            <a:ext cx="15087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BC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内部文件 · 仅供使用</a:t>
            </a:r>
            <a:endParaRPr lang="en-US" sz="900" dirty="0"/>
          </a:p>
        </p:txBody>
      </p:sp>
      <p:sp>
        <p:nvSpPr>
          <p:cNvPr id="97" name="Label_YY"/>
          <p:cNvSpPr/>
          <p:nvPr/>
        </p:nvSpPr>
        <p:spPr>
          <a:xfrm>
            <a:off x="190500" y="556895"/>
            <a:ext cx="5421630" cy="26543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altLang="zh-CN" sz="900" b="1" dirty="0">
                <a:solidFill>
                  <a:srgbClr val="FFFFFF"/>
                </a:solidFill>
                <a:ea typeface="Calibri" panose="020F0502020204030204" pitchFamily="34" charset="-122"/>
                <a:cs typeface="+mn-lt"/>
              </a:rPr>
              <a:t>E </a:t>
            </a:r>
            <a:r>
              <a:rPr lang="zh-CN" sz="900" b="1" dirty="0">
                <a:solidFill>
                  <a:srgbClr val="FFFFFF"/>
                </a:solidFill>
                <a:ea typeface="Calibri" panose="020F0502020204030204" pitchFamily="34" charset="-122"/>
                <a:cs typeface="+mn-lt"/>
              </a:rPr>
              <a:t>预约 Appointment  |  APE(M)  件数</a:t>
            </a:r>
            <a:endParaRPr lang="zh-CN" sz="900" b="1" dirty="0">
              <a:solidFill>
                <a:srgbClr val="FFFFFF"/>
              </a:solidFill>
              <a:ea typeface="Calibri" panose="020F0502020204030204" pitchFamily="34" charset="-122"/>
              <a:cs typeface="+mn-lt"/>
            </a:endParaRPr>
          </a:p>
        </p:txBody>
      </p:sp>
      <p:graphicFrame>
        <p:nvGraphicFramePr>
          <p:cNvPr id="99" name="Chart_YY"/>
          <p:cNvGraphicFramePr/>
          <p:nvPr/>
        </p:nvGraphicFramePr>
        <p:xfrm>
          <a:off x="198755" y="828675"/>
          <a:ext cx="4764405" cy="13284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00" name="Ann_YY"/>
          <p:cNvSpPr/>
          <p:nvPr/>
        </p:nvSpPr>
        <p:spPr>
          <a:xfrm>
            <a:off x="4392930" y="1038225"/>
            <a:ext cx="1205230" cy="264160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marL="0" indent="0">
              <a:buNone/>
            </a:pPr>
            <a:r>
              <a:rPr lang="zh-CN" sz="1000" dirty="0">
                <a:solidFill>
                  <a:srgbClr val="922B21"/>
                </a:solidFill>
                <a:latin typeface="Calibri" panose="020F0502020204030204" pitchFamily="34" charset="0"/>
                <a:ea typeface="Calibri" panose="020F0502020204030204" pitchFamily="34" charset="-122"/>
              </a:rPr>
              <a:t> ▼ 环比 −99.0%</a:t>
            </a:r>
            <a:endParaRPr lang="zh-CN" sz="1000" dirty="0">
              <a:solidFill>
                <a:srgbClr val="922B21"/>
              </a:solidFill>
              <a:latin typeface="Calibri" panose="020F0502020204030204" pitchFamily="34" charset="0"/>
              <a:ea typeface="Calibri" panose="020F0502020204030204" pitchFamily="34" charset="-122"/>
            </a:endParaRPr>
          </a:p>
        </p:txBody>
      </p:sp>
      <p:pic>
        <p:nvPicPr>
          <p:cNvPr id="101" name="图片 100" descr="中括号右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204845" y="1517650"/>
            <a:ext cx="235585" cy="293370"/>
          </a:xfrm>
          <a:prstGeom prst="rect">
            <a:avLst/>
          </a:prstGeom>
        </p:spPr>
      </p:pic>
      <p:sp>
        <p:nvSpPr>
          <p:cNvPr id="102" name="Ann_YY"/>
          <p:cNvSpPr/>
          <p:nvPr/>
        </p:nvSpPr>
        <p:spPr>
          <a:xfrm>
            <a:off x="3349625" y="1534795"/>
            <a:ext cx="1145540" cy="229235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marL="0" indent="0">
              <a:buNone/>
            </a:pPr>
            <a:r>
              <a:rPr lang="zh-CN" sz="1000" b="0" dirty="0">
                <a:solidFill>
                  <a:srgbClr val="922B21"/>
                </a:solidFill>
                <a:latin typeface="Calibri" panose="020F0502020204030204" pitchFamily="34" charset="0"/>
                <a:ea typeface="Calibri" panose="020F0502020204030204" pitchFamily="34" charset="-122"/>
              </a:rPr>
              <a:t>▲ 环比 +4.1%</a:t>
            </a:r>
            <a:endParaRPr lang="zh-CN" sz="1000" b="0" dirty="0">
              <a:solidFill>
                <a:srgbClr val="922B21"/>
              </a:solidFill>
              <a:latin typeface="Calibri" panose="020F0502020204030204" pitchFamily="34" charset="0"/>
              <a:ea typeface="Calibri" panose="020F0502020204030204" pitchFamily="34" charset="-122"/>
            </a:endParaRPr>
          </a:p>
        </p:txBody>
      </p:sp>
      <p:sp>
        <p:nvSpPr>
          <p:cNvPr id="104" name="Label_QD"/>
          <p:cNvSpPr/>
          <p:nvPr/>
        </p:nvSpPr>
        <p:spPr>
          <a:xfrm>
            <a:off x="190500" y="2350770"/>
            <a:ext cx="5432425" cy="29464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altLang="zh-CN" sz="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 </a:t>
            </a:r>
            <a:r>
              <a:rPr lang="zh-CN" sz="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签单 Signed  |  APE(M)  件数</a:t>
            </a:r>
            <a:endParaRPr lang="zh-CN" sz="900" b="1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graphicFrame>
        <p:nvGraphicFramePr>
          <p:cNvPr id="105" name="Chart_QD"/>
          <p:cNvGraphicFramePr/>
          <p:nvPr/>
        </p:nvGraphicFramePr>
        <p:xfrm>
          <a:off x="190500" y="2666365"/>
          <a:ext cx="4747895" cy="14528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06" name="Ann_QD"/>
          <p:cNvSpPr/>
          <p:nvPr/>
        </p:nvSpPr>
        <p:spPr>
          <a:xfrm>
            <a:off x="4450715" y="2971165"/>
            <a:ext cx="1146175" cy="267335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marL="0" indent="0">
              <a:buNone/>
            </a:pPr>
            <a:r>
              <a:rPr lang="zh-CN" sz="1000" dirty="0">
                <a:solidFill>
                  <a:srgbClr val="C8890A"/>
                </a:solidFill>
                <a:latin typeface="Calibri" panose="020F0502020204030204" pitchFamily="34" charset="0"/>
                <a:ea typeface="Calibri" panose="020F0502020204030204" pitchFamily="34" charset="-122"/>
              </a:rPr>
              <a:t>▼ 环比 −96.2%</a:t>
            </a:r>
            <a:endParaRPr lang="zh-CN" sz="1000" dirty="0">
              <a:solidFill>
                <a:srgbClr val="C8890A"/>
              </a:solidFill>
              <a:latin typeface="Calibri" panose="020F0502020204030204" pitchFamily="34" charset="0"/>
              <a:ea typeface="Calibri" panose="020F0502020204030204" pitchFamily="34" charset="-122"/>
            </a:endParaRPr>
          </a:p>
        </p:txBody>
      </p:sp>
      <p:sp>
        <p:nvSpPr>
          <p:cNvPr id="108" name="Ann_QD"/>
          <p:cNvSpPr/>
          <p:nvPr/>
        </p:nvSpPr>
        <p:spPr>
          <a:xfrm>
            <a:off x="3520440" y="3525520"/>
            <a:ext cx="1151255" cy="292735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marL="0" indent="0">
              <a:buNone/>
            </a:pPr>
            <a:r>
              <a:rPr lang="zh-CN" sz="1000" b="0" dirty="0">
                <a:solidFill>
                  <a:srgbClr val="C8890A"/>
                </a:solidFill>
                <a:latin typeface="Calibri" panose="020F0502020204030204" pitchFamily="34" charset="0"/>
                <a:ea typeface="Calibri" panose="020F0502020204030204" pitchFamily="34" charset="-122"/>
              </a:rPr>
              <a:t>  ▲ 环比 +27.0%</a:t>
            </a:r>
            <a:endParaRPr lang="zh-CN" sz="1000" b="0" dirty="0">
              <a:solidFill>
                <a:srgbClr val="C8890A"/>
              </a:solidFill>
              <a:latin typeface="Calibri" panose="020F0502020204030204" pitchFamily="34" charset="0"/>
              <a:ea typeface="Calibri" panose="020F0502020204030204" pitchFamily="34" charset="-122"/>
            </a:endParaRPr>
          </a:p>
        </p:txBody>
      </p:sp>
      <p:pic>
        <p:nvPicPr>
          <p:cNvPr id="111" name="图片 110" descr="中括号右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421380" y="3525520"/>
            <a:ext cx="224155" cy="200025"/>
          </a:xfrm>
          <a:prstGeom prst="rect">
            <a:avLst/>
          </a:prstGeom>
        </p:spPr>
      </p:pic>
      <p:pic>
        <p:nvPicPr>
          <p:cNvPr id="112" name="图片 111" descr="中括号右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308475" y="2931795"/>
            <a:ext cx="226060" cy="284480"/>
          </a:xfrm>
          <a:prstGeom prst="rect">
            <a:avLst/>
          </a:prstGeom>
        </p:spPr>
      </p:pic>
      <p:sp>
        <p:nvSpPr>
          <p:cNvPr id="113" name="Label_PH"/>
          <p:cNvSpPr/>
          <p:nvPr/>
        </p:nvSpPr>
        <p:spPr>
          <a:xfrm>
            <a:off x="190500" y="4175760"/>
            <a:ext cx="5432425" cy="2667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altLang="zh-CN" sz="900" b="1" dirty="0">
                <a:solidFill>
                  <a:srgbClr val="FFFFFF"/>
                </a:solidFill>
                <a:ea typeface="Calibri" panose="020F0502020204030204" pitchFamily="34" charset="-122"/>
                <a:cs typeface="+mn-lt"/>
              </a:rPr>
              <a:t>E </a:t>
            </a:r>
            <a:r>
              <a:rPr lang="zh-CN" sz="900" b="1" dirty="0">
                <a:solidFill>
                  <a:srgbClr val="FFFFFF"/>
                </a:solidFill>
                <a:ea typeface="Calibri" panose="020F0502020204030204" pitchFamily="34" charset="-122"/>
                <a:cs typeface="+mn-lt"/>
              </a:rPr>
              <a:t>批核 Approved  |  APE(M)  件数</a:t>
            </a:r>
            <a:endParaRPr lang="zh-CN" sz="900" b="1" dirty="0">
              <a:solidFill>
                <a:srgbClr val="FFFFFF"/>
              </a:solidFill>
              <a:ea typeface="Calibri" panose="020F0502020204030204" pitchFamily="34" charset="-122"/>
              <a:cs typeface="+mn-lt"/>
            </a:endParaRPr>
          </a:p>
        </p:txBody>
      </p:sp>
      <p:graphicFrame>
        <p:nvGraphicFramePr>
          <p:cNvPr id="114" name="Chart_PH"/>
          <p:cNvGraphicFramePr/>
          <p:nvPr/>
        </p:nvGraphicFramePr>
        <p:xfrm>
          <a:off x="229235" y="4500245"/>
          <a:ext cx="4522470" cy="134683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16" name="Ann_PH"/>
          <p:cNvSpPr/>
          <p:nvPr/>
        </p:nvSpPr>
        <p:spPr>
          <a:xfrm>
            <a:off x="2872740" y="4720590"/>
            <a:ext cx="1263650" cy="259715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marL="0" indent="0">
              <a:buNone/>
            </a:pPr>
            <a:r>
              <a:rPr lang="zh-CN" sz="1000" dirty="0">
                <a:solidFill>
                  <a:srgbClr val="1A6B3A"/>
                </a:solidFill>
                <a:latin typeface="Calibri" panose="020F0502020204030204" pitchFamily="34" charset="0"/>
                <a:ea typeface="Calibri" panose="020F0502020204030204" pitchFamily="34" charset="-122"/>
              </a:rPr>
              <a:t> ▼ 环比 −95.2%</a:t>
            </a:r>
            <a:endParaRPr lang="zh-CN" sz="1000" b="0" dirty="0">
              <a:solidFill>
                <a:srgbClr val="1A6B3A"/>
              </a:solidFill>
              <a:latin typeface="Calibri" panose="020F0502020204030204" pitchFamily="34" charset="0"/>
              <a:ea typeface="Calibri" panose="020F0502020204030204" pitchFamily="34" charset="-122"/>
            </a:endParaRPr>
          </a:p>
        </p:txBody>
      </p:sp>
      <p:sp>
        <p:nvSpPr>
          <p:cNvPr id="117" name="Ann_PH"/>
          <p:cNvSpPr/>
          <p:nvPr/>
        </p:nvSpPr>
        <p:spPr>
          <a:xfrm>
            <a:off x="4264025" y="5303520"/>
            <a:ext cx="1276985" cy="139700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marL="0" indent="0">
              <a:buNone/>
            </a:pPr>
            <a:r>
              <a:rPr lang="zh-CN" sz="1000" dirty="0">
                <a:solidFill>
                  <a:srgbClr val="1A6B3A"/>
                </a:solidFill>
                <a:latin typeface="Calibri" panose="020F0502020204030204" pitchFamily="34" charset="0"/>
                <a:ea typeface="Calibri" panose="020F0502020204030204" pitchFamily="34" charset="-122"/>
              </a:rPr>
              <a:t>▲ 环比 +23.1%</a:t>
            </a:r>
            <a:endParaRPr lang="zh-CN" sz="1000" b="0" dirty="0">
              <a:solidFill>
                <a:srgbClr val="1A6B3A"/>
              </a:solidFill>
              <a:latin typeface="Calibri" panose="020F0502020204030204" pitchFamily="34" charset="0"/>
              <a:ea typeface="Calibri" panose="020F0502020204030204" pitchFamily="34" charset="-122"/>
            </a:endParaRPr>
          </a:p>
        </p:txBody>
      </p:sp>
      <p:pic>
        <p:nvPicPr>
          <p:cNvPr id="119" name="图片 118" descr="中括号右"/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2786380" y="4711700"/>
            <a:ext cx="229235" cy="265430"/>
          </a:xfrm>
          <a:prstGeom prst="rect">
            <a:avLst/>
          </a:prstGeom>
        </p:spPr>
      </p:pic>
      <p:pic>
        <p:nvPicPr>
          <p:cNvPr id="120" name="图片 119" descr="中括号右"/>
          <p:cNvPicPr>
            <a:picLocks noChangeAspect="1"/>
          </p:cNvPicPr>
          <p:nvPr>
            <p:custDataLst>
              <p:tags r:id="rId16"/>
            </p:custDataLst>
          </p:nvPr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4136390" y="5232400"/>
            <a:ext cx="229235" cy="210820"/>
          </a:xfrm>
          <a:prstGeom prst="rect">
            <a:avLst/>
          </a:prstGeom>
        </p:spPr>
      </p:pic>
      <p:pic>
        <p:nvPicPr>
          <p:cNvPr id="121" name="图片 120" descr="中括号右"/>
          <p:cNvPicPr>
            <a:picLocks noChangeAspect="1"/>
          </p:cNvPicPr>
          <p:nvPr>
            <p:custDataLst>
              <p:tags r:id="rId18"/>
            </p:custDataLst>
          </p:nvPr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4284345" y="1062990"/>
            <a:ext cx="235585" cy="281305"/>
          </a:xfrm>
          <a:prstGeom prst="rect">
            <a:avLst/>
          </a:prstGeom>
        </p:spPr>
      </p:pic>
      <p:sp>
        <p:nvSpPr>
          <p:cNvPr id="6" name="Ann_YY"/>
          <p:cNvSpPr/>
          <p:nvPr/>
        </p:nvSpPr>
        <p:spPr>
          <a:xfrm>
            <a:off x="4424680" y="1374775"/>
            <a:ext cx="1066800" cy="251460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marL="0" indent="0">
              <a:buNone/>
            </a:pPr>
            <a:r>
              <a:rPr lang="zh-CN" sz="1000" dirty="0">
                <a:solidFill>
                  <a:srgbClr val="922B21"/>
                </a:solidFill>
                <a:latin typeface="Calibri" panose="020F0502020204030204" pitchFamily="34" charset="0"/>
                <a:ea typeface="Calibri" panose="020F0502020204030204" pitchFamily="34" charset="-122"/>
              </a:rPr>
              <a:t> </a:t>
            </a:r>
            <a:r>
              <a:rPr lang="zh-CN" sz="1000" dirty="0">
                <a:solidFill>
                  <a:srgbClr val="922B21"/>
                </a:solidFill>
                <a:latin typeface="Calibri" panose="020F0502020204030204" pitchFamily="34" charset="0"/>
                <a:ea typeface="Calibri" panose="020F0502020204030204" pitchFamily="34" charset="-122"/>
                <a:sym typeface="+mn-ea"/>
              </a:rPr>
              <a:t>▲</a:t>
            </a:r>
            <a:r>
              <a:rPr lang="zh-CN" sz="1000" dirty="0">
                <a:solidFill>
                  <a:srgbClr val="922B21"/>
                </a:solidFill>
                <a:latin typeface="Calibri" panose="020F0502020204030204" pitchFamily="34" charset="0"/>
                <a:ea typeface="Calibri" panose="020F0502020204030204" pitchFamily="34" charset="-122"/>
              </a:rPr>
              <a:t> 环比 </a:t>
            </a:r>
            <a:r>
              <a:rPr lang="en-US" altLang="zh-CN" sz="1000" dirty="0">
                <a:solidFill>
                  <a:srgbClr val="922B21"/>
                </a:solidFill>
                <a:latin typeface="Calibri" panose="020F0502020204030204" pitchFamily="34" charset="0"/>
                <a:ea typeface="Calibri" panose="020F0502020204030204" pitchFamily="34" charset="-122"/>
              </a:rPr>
              <a:t>42.5</a:t>
            </a:r>
            <a:r>
              <a:rPr lang="zh-CN" sz="1000" dirty="0">
                <a:solidFill>
                  <a:srgbClr val="922B21"/>
                </a:solidFill>
                <a:latin typeface="Calibri" panose="020F0502020204030204" pitchFamily="34" charset="0"/>
                <a:ea typeface="Calibri" panose="020F0502020204030204" pitchFamily="34" charset="-122"/>
              </a:rPr>
              <a:t>%</a:t>
            </a:r>
            <a:endParaRPr lang="zh-CN" sz="1000" dirty="0">
              <a:solidFill>
                <a:srgbClr val="922B21"/>
              </a:solidFill>
              <a:latin typeface="Calibri" panose="020F0502020204030204" pitchFamily="34" charset="0"/>
              <a:ea typeface="Calibri" panose="020F0502020204030204" pitchFamily="34" charset="-122"/>
            </a:endParaRPr>
          </a:p>
        </p:txBody>
      </p:sp>
      <p:pic>
        <p:nvPicPr>
          <p:cNvPr id="7" name="图片 6" descr="中括号右"/>
          <p:cNvPicPr>
            <a:picLocks noChangeAspect="1"/>
          </p:cNvPicPr>
          <p:nvPr>
            <p:custDataLst>
              <p:tags r:id="rId20"/>
            </p:custDataLst>
          </p:nvPr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4297045" y="1350010"/>
            <a:ext cx="235585" cy="276225"/>
          </a:xfrm>
          <a:prstGeom prst="rect">
            <a:avLst/>
          </a:prstGeom>
        </p:spPr>
      </p:pic>
      <p:pic>
        <p:nvPicPr>
          <p:cNvPr id="8" name="图片 7" descr="中括号右"/>
          <p:cNvPicPr>
            <a:picLocks noChangeAspect="1"/>
          </p:cNvPicPr>
          <p:nvPr>
            <p:custDataLst>
              <p:tags r:id="rId22"/>
            </p:custDataLst>
          </p:nvPr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311650" y="3249295"/>
            <a:ext cx="226060" cy="264160"/>
          </a:xfrm>
          <a:prstGeom prst="rect">
            <a:avLst/>
          </a:prstGeom>
        </p:spPr>
      </p:pic>
      <p:sp>
        <p:nvSpPr>
          <p:cNvPr id="10" name="Ann_QD"/>
          <p:cNvSpPr/>
          <p:nvPr/>
        </p:nvSpPr>
        <p:spPr>
          <a:xfrm>
            <a:off x="4478020" y="3302000"/>
            <a:ext cx="1062990" cy="292735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marL="0" indent="0">
              <a:buNone/>
            </a:pPr>
            <a:r>
              <a:rPr lang="zh-CN" sz="1000" b="0" dirty="0">
                <a:solidFill>
                  <a:srgbClr val="C8890A"/>
                </a:solidFill>
                <a:latin typeface="Calibri" panose="020F0502020204030204" pitchFamily="34" charset="0"/>
                <a:ea typeface="Calibri" panose="020F0502020204030204" pitchFamily="34" charset="-122"/>
              </a:rPr>
              <a:t>  ▲ 环比 +</a:t>
            </a:r>
            <a:r>
              <a:rPr lang="en-US" altLang="zh-CN" sz="1000" b="0" dirty="0">
                <a:solidFill>
                  <a:srgbClr val="C8890A"/>
                </a:solidFill>
                <a:latin typeface="Calibri" panose="020F0502020204030204" pitchFamily="34" charset="0"/>
                <a:ea typeface="Calibri" panose="020F0502020204030204" pitchFamily="34" charset="-122"/>
              </a:rPr>
              <a:t>32.5</a:t>
            </a:r>
            <a:r>
              <a:rPr lang="zh-CN" sz="1000" b="0" dirty="0">
                <a:solidFill>
                  <a:srgbClr val="C8890A"/>
                </a:solidFill>
                <a:latin typeface="Calibri" panose="020F0502020204030204" pitchFamily="34" charset="0"/>
                <a:ea typeface="Calibri" panose="020F0502020204030204" pitchFamily="34" charset="-122"/>
              </a:rPr>
              <a:t>%</a:t>
            </a:r>
            <a:endParaRPr lang="zh-CN" sz="1000" b="0" dirty="0">
              <a:solidFill>
                <a:srgbClr val="C8890A"/>
              </a:solidFill>
              <a:latin typeface="Calibri" panose="020F0502020204030204" pitchFamily="34" charset="0"/>
              <a:ea typeface="Calibri" panose="020F0502020204030204" pitchFamily="34" charset="-122"/>
            </a:endParaRPr>
          </a:p>
        </p:txBody>
      </p:sp>
      <p:sp>
        <p:nvSpPr>
          <p:cNvPr id="11" name="Ann_PH"/>
          <p:cNvSpPr/>
          <p:nvPr/>
        </p:nvSpPr>
        <p:spPr>
          <a:xfrm>
            <a:off x="4227830" y="4941570"/>
            <a:ext cx="1263650" cy="259715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marL="0" indent="0">
              <a:buNone/>
            </a:pPr>
            <a:r>
              <a:rPr lang="zh-CN" sz="1000" dirty="0">
                <a:solidFill>
                  <a:srgbClr val="1A6B3A"/>
                </a:solidFill>
                <a:latin typeface="Calibri" panose="020F0502020204030204" pitchFamily="34" charset="0"/>
                <a:ea typeface="Calibri" panose="020F0502020204030204" pitchFamily="34" charset="-122"/>
              </a:rPr>
              <a:t> ▼ 环比 −</a:t>
            </a:r>
            <a:r>
              <a:rPr lang="en-US" altLang="zh-CN" sz="1000" dirty="0">
                <a:solidFill>
                  <a:srgbClr val="1A6B3A"/>
                </a:solidFill>
                <a:latin typeface="Calibri" panose="020F0502020204030204" pitchFamily="34" charset="0"/>
                <a:ea typeface="Calibri" panose="020F0502020204030204" pitchFamily="34" charset="-122"/>
              </a:rPr>
              <a:t>40</a:t>
            </a:r>
            <a:r>
              <a:rPr lang="zh-CN" sz="1000" dirty="0">
                <a:solidFill>
                  <a:srgbClr val="1A6B3A"/>
                </a:solidFill>
                <a:latin typeface="Calibri" panose="020F0502020204030204" pitchFamily="34" charset="0"/>
                <a:ea typeface="Calibri" panose="020F0502020204030204" pitchFamily="34" charset="-122"/>
              </a:rPr>
              <a:t>.</a:t>
            </a:r>
            <a:r>
              <a:rPr lang="en-US" altLang="zh-CN" sz="1000" dirty="0">
                <a:solidFill>
                  <a:srgbClr val="1A6B3A"/>
                </a:solidFill>
                <a:latin typeface="Calibri" panose="020F0502020204030204" pitchFamily="34" charset="0"/>
                <a:ea typeface="Calibri" panose="020F0502020204030204" pitchFamily="34" charset="-122"/>
              </a:rPr>
              <a:t>3</a:t>
            </a:r>
            <a:r>
              <a:rPr lang="zh-CN" sz="1000" dirty="0">
                <a:solidFill>
                  <a:srgbClr val="1A6B3A"/>
                </a:solidFill>
                <a:latin typeface="Calibri" panose="020F0502020204030204" pitchFamily="34" charset="0"/>
                <a:ea typeface="Calibri" panose="020F0502020204030204" pitchFamily="34" charset="-122"/>
              </a:rPr>
              <a:t>%</a:t>
            </a:r>
            <a:endParaRPr lang="zh-CN" sz="1000" b="0" dirty="0">
              <a:solidFill>
                <a:srgbClr val="1A6B3A"/>
              </a:solidFill>
              <a:latin typeface="Calibri" panose="020F0502020204030204" pitchFamily="34" charset="0"/>
              <a:ea typeface="Calibri" panose="020F0502020204030204" pitchFamily="34" charset="-122"/>
            </a:endParaRPr>
          </a:p>
        </p:txBody>
      </p:sp>
      <p:pic>
        <p:nvPicPr>
          <p:cNvPr id="12" name="图片 11" descr="中括号右"/>
          <p:cNvPicPr>
            <a:picLocks noChangeAspect="1"/>
          </p:cNvPicPr>
          <p:nvPr>
            <p:custDataLst>
              <p:tags r:id="rId24"/>
            </p:custDataLst>
          </p:nvPr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4136390" y="4935855"/>
            <a:ext cx="229235" cy="26543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4572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64008"/>
            <a:ext cx="987552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永明业绩汇报 </a:t>
            </a: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| Sun Life</a:t>
            </a: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 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0241280" y="109728"/>
            <a:ext cx="18288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BC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内部文件 · 仅供使用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521585" y="501015"/>
            <a:ext cx="2071370" cy="675005"/>
          </a:xfrm>
          <a:prstGeom prst="rect">
            <a:avLst/>
          </a:prstGeom>
          <a:solidFill>
            <a:srgbClr val="FFFFFF"/>
          </a:solidFill>
          <a:ln w="15240">
            <a:solidFill>
              <a:srgbClr val="1F386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521585" y="501015"/>
            <a:ext cx="2071370" cy="762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631440" y="574040"/>
            <a:ext cx="1954530" cy="1625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永明批核APE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2631440" y="700405"/>
            <a:ext cx="1954530" cy="3422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296.9M</a:t>
            </a:r>
            <a:endParaRPr lang="en-US" sz="2400" b="1" dirty="0">
              <a:solidFill>
                <a:srgbClr val="1F3864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2631440" y="1027430"/>
            <a:ext cx="1173480" cy="15303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504件  |  达成率30.4%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144780" y="508635"/>
            <a:ext cx="2187575" cy="678815"/>
          </a:xfrm>
          <a:prstGeom prst="rect">
            <a:avLst/>
          </a:prstGeom>
          <a:solidFill>
            <a:srgbClr val="FFFFFF"/>
          </a:solidFill>
          <a:ln w="15240">
            <a:solidFill>
              <a:srgbClr val="C0392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4780" y="508635"/>
            <a:ext cx="2187575" cy="762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4635" y="581660"/>
            <a:ext cx="2063750" cy="16573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永明年度达成率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254635" y="698500"/>
            <a:ext cx="2063750" cy="350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C039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30.4%</a:t>
            </a:r>
            <a:endParaRPr lang="en-US" sz="2400" b="1" dirty="0">
              <a:solidFill>
                <a:srgbClr val="C0392B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254635" y="1030605"/>
            <a:ext cx="1320800" cy="16065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目标</a:t>
            </a:r>
            <a:r>
              <a:rPr lang="en-US" sz="7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976M</a:t>
            </a:r>
            <a:r>
              <a:rPr lang="en-US" sz="7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 |  缺口679M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4818380" y="510540"/>
            <a:ext cx="2206625" cy="662940"/>
          </a:xfrm>
          <a:prstGeom prst="rect">
            <a:avLst/>
          </a:prstGeom>
          <a:solidFill>
            <a:srgbClr val="FFFFFF"/>
          </a:solidFill>
          <a:ln w="15240">
            <a:solidFill>
              <a:srgbClr val="C8890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818380" y="510540"/>
            <a:ext cx="2206625" cy="76200"/>
          </a:xfrm>
          <a:prstGeom prst="rect">
            <a:avLst/>
          </a:prstGeom>
          <a:solidFill>
            <a:srgbClr val="C8890A"/>
          </a:solidFill>
          <a:ln w="12700">
            <a:solidFill>
              <a:srgbClr val="C8890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28235" y="583565"/>
            <a:ext cx="2082165" cy="157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永明未批核APE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4928235" y="709930"/>
            <a:ext cx="2082165" cy="3321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C889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163.6M</a:t>
            </a:r>
            <a:endParaRPr lang="en-US" sz="2400" b="1" dirty="0">
              <a:solidFill>
                <a:srgbClr val="C8890A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4928235" y="1085850"/>
            <a:ext cx="1855470" cy="1301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未批核235件</a:t>
            </a:r>
            <a:r>
              <a:rPr lang="en-US" sz="7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|  件均69.7万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7252970" y="510540"/>
            <a:ext cx="2232660" cy="662940"/>
          </a:xfrm>
          <a:prstGeom prst="rect">
            <a:avLst/>
          </a:prstGeom>
          <a:solidFill>
            <a:srgbClr val="FFFFFF"/>
          </a:solidFill>
          <a:ln w="15240">
            <a:solidFill>
              <a:srgbClr val="B7950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252970" y="510540"/>
            <a:ext cx="2232660" cy="76200"/>
          </a:xfrm>
          <a:prstGeom prst="rect">
            <a:avLst/>
          </a:prstGeom>
          <a:solidFill>
            <a:srgbClr val="B7950B"/>
          </a:solidFill>
          <a:ln w="12700">
            <a:solidFill>
              <a:srgbClr val="B7950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362825" y="583565"/>
            <a:ext cx="2106295" cy="1568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永明待签APE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7362825" y="709930"/>
            <a:ext cx="2106295" cy="33147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B7950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3.9M</a:t>
            </a:r>
            <a:endParaRPr lang="en-US" sz="2400" b="1" dirty="0">
              <a:solidFill>
                <a:srgbClr val="B7950B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7362825" y="1031875"/>
            <a:ext cx="2105025" cy="15303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待签9件  |  件均43.3万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167640" y="3905250"/>
            <a:ext cx="5803265" cy="2816860"/>
          </a:xfrm>
          <a:prstGeom prst="rect">
            <a:avLst/>
          </a:prstGeom>
          <a:solidFill>
            <a:srgbClr val="FFFFFF"/>
          </a:solidFill>
          <a:ln w="7620">
            <a:solidFill>
              <a:srgbClr val="D0D8E8"/>
            </a:solidFill>
            <a:prstDash val="solid"/>
          </a:ln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167640" y="3898265"/>
            <a:ext cx="5803265" cy="226695"/>
          </a:xfrm>
          <a:prstGeom prst="rect">
            <a:avLst/>
          </a:prstGeom>
          <a:solidFill>
            <a:srgbClr val="1A7A3F"/>
          </a:solidFill>
          <a:ln w="12700">
            <a:solidFill>
              <a:srgbClr val="1A7A3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59080" y="3932555"/>
            <a:ext cx="2362200" cy="17399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 永明月度预约/签单/批核 APE 趋势</a:t>
            </a:r>
            <a:endParaRPr lang="en-US" sz="750" dirty="0"/>
          </a:p>
        </p:txBody>
      </p:sp>
      <p:graphicFrame>
        <p:nvGraphicFramePr>
          <p:cNvPr id="29" name="Chart 0"/>
          <p:cNvGraphicFramePr/>
          <p:nvPr/>
        </p:nvGraphicFramePr>
        <p:xfrm>
          <a:off x="240030" y="4187825"/>
          <a:ext cx="5572125" cy="20878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30" name="Shape 27"/>
          <p:cNvSpPr/>
          <p:nvPr/>
        </p:nvSpPr>
        <p:spPr>
          <a:xfrm>
            <a:off x="167640" y="6337935"/>
            <a:ext cx="5803265" cy="367665"/>
          </a:xfrm>
          <a:prstGeom prst="rect">
            <a:avLst/>
          </a:prstGeom>
          <a:solidFill>
            <a:srgbClr val="EEF2FF"/>
          </a:solidFill>
          <a:ln w="5080">
            <a:solidFill>
              <a:srgbClr val="C5CEE8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167640" y="6308090"/>
            <a:ext cx="5803265" cy="28800"/>
          </a:xfrm>
          <a:prstGeom prst="rect">
            <a:avLst/>
          </a:prstGeom>
          <a:solidFill>
            <a:srgbClr val="1A7A3F"/>
          </a:solidFill>
          <a:ln w="3175">
            <a:solidFill>
              <a:srgbClr val="1A7A3F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250190" y="6374765"/>
            <a:ext cx="635635" cy="1193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1A7A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 What：</a:t>
            </a:r>
            <a:endParaRPr lang="en-US" sz="650" b="1" dirty="0">
              <a:solidFill>
                <a:srgbClr val="1A7A3F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3" name="Text 30"/>
          <p:cNvSpPr/>
          <p:nvPr/>
        </p:nvSpPr>
        <p:spPr>
          <a:xfrm>
            <a:off x="219456" y="6502273"/>
            <a:ext cx="5157216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批核APE（绿线）2月冲高至143.7M后3月骤降至72.4M，为存量积压集中释放所致。预约持续上升（+30.3%），签单3月环比下滑，前端动能正在积蓄但转化仍有时滞</a:t>
            </a:r>
            <a:r>
              <a:rPr lang="en-US" sz="5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。</a:t>
            </a:r>
            <a:endParaRPr lang="en-US" sz="550" dirty="0"/>
          </a:p>
        </p:txBody>
      </p:sp>
      <p:sp>
        <p:nvSpPr>
          <p:cNvPr id="34" name="Shape 31"/>
          <p:cNvSpPr/>
          <p:nvPr/>
        </p:nvSpPr>
        <p:spPr>
          <a:xfrm>
            <a:off x="144780" y="1240790"/>
            <a:ext cx="11828145" cy="2524760"/>
          </a:xfrm>
          <a:prstGeom prst="rect">
            <a:avLst/>
          </a:prstGeom>
          <a:solidFill>
            <a:srgbClr val="FFFFFF"/>
          </a:solidFill>
          <a:ln w="7620">
            <a:solidFill>
              <a:srgbClr val="D0D8E8"/>
            </a:solidFill>
            <a:prstDash val="solid"/>
          </a:ln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p>
            <a:endParaRPr lang="zh-CN" altLang="en-US"/>
          </a:p>
        </p:txBody>
      </p:sp>
      <p:sp>
        <p:nvSpPr>
          <p:cNvPr id="35" name="Shape 32"/>
          <p:cNvSpPr/>
          <p:nvPr/>
        </p:nvSpPr>
        <p:spPr>
          <a:xfrm>
            <a:off x="144780" y="1278890"/>
            <a:ext cx="11828145" cy="24130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236220" y="1306830"/>
            <a:ext cx="11683365" cy="1949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G.  永明业绩汇报数据-2026  |</a:t>
            </a:r>
            <a:endParaRPr lang="en-US" sz="750" dirty="0"/>
          </a:p>
        </p:txBody>
      </p:sp>
      <p:sp>
        <p:nvSpPr>
          <p:cNvPr id="98" name="Shape 95"/>
          <p:cNvSpPr/>
          <p:nvPr/>
        </p:nvSpPr>
        <p:spPr>
          <a:xfrm>
            <a:off x="6243320" y="3890645"/>
            <a:ext cx="5667375" cy="2838450"/>
          </a:xfrm>
          <a:prstGeom prst="rect">
            <a:avLst/>
          </a:prstGeom>
          <a:solidFill>
            <a:srgbClr val="FFFFFF"/>
          </a:solidFill>
          <a:ln w="7620">
            <a:solidFill>
              <a:srgbClr val="D0D8E8"/>
            </a:solidFill>
            <a:prstDash val="solid"/>
          </a:ln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99" name="Shape 96"/>
          <p:cNvSpPr/>
          <p:nvPr/>
        </p:nvSpPr>
        <p:spPr>
          <a:xfrm>
            <a:off x="6244590" y="3896995"/>
            <a:ext cx="5674360" cy="208280"/>
          </a:xfrm>
          <a:prstGeom prst="rect">
            <a:avLst/>
          </a:prstGeom>
          <a:solidFill>
            <a:srgbClr val="6D4C41"/>
          </a:solidFill>
          <a:ln w="12700">
            <a:solidFill>
              <a:srgbClr val="6D4C41"/>
            </a:solidFill>
            <a:prstDash val="solid"/>
          </a:ln>
        </p:spPr>
      </p:sp>
      <p:sp>
        <p:nvSpPr>
          <p:cNvPr id="100" name="Text 97"/>
          <p:cNvSpPr/>
          <p:nvPr/>
        </p:nvSpPr>
        <p:spPr>
          <a:xfrm>
            <a:off x="6386195" y="3903980"/>
            <a:ext cx="1629410" cy="19177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  永明 2026年签单产品排名  </a:t>
            </a:r>
            <a:endParaRPr lang="en-US" sz="750" dirty="0"/>
          </a:p>
        </p:txBody>
      </p:sp>
      <p:sp>
        <p:nvSpPr>
          <p:cNvPr id="101" name="Shape 98"/>
          <p:cNvSpPr/>
          <p:nvPr/>
        </p:nvSpPr>
        <p:spPr>
          <a:xfrm>
            <a:off x="6271895" y="4171315"/>
            <a:ext cx="5600065" cy="219710"/>
          </a:xfrm>
          <a:prstGeom prst="rect">
            <a:avLst/>
          </a:prstGeom>
          <a:solidFill>
            <a:srgbClr val="6D4C41"/>
          </a:solidFill>
          <a:ln w="12700">
            <a:solidFill>
              <a:srgbClr val="6D4C41"/>
            </a:solidFill>
            <a:prstDash val="solid"/>
          </a:ln>
        </p:spPr>
      </p:sp>
      <p:sp>
        <p:nvSpPr>
          <p:cNvPr id="102" name="Text 99"/>
          <p:cNvSpPr/>
          <p:nvPr/>
        </p:nvSpPr>
        <p:spPr>
          <a:xfrm>
            <a:off x="6496812" y="4208018"/>
            <a:ext cx="219456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#</a:t>
            </a:r>
            <a:endParaRPr lang="en-US" sz="650" dirty="0"/>
          </a:p>
        </p:txBody>
      </p:sp>
      <p:sp>
        <p:nvSpPr>
          <p:cNvPr id="103" name="Text 100"/>
          <p:cNvSpPr/>
          <p:nvPr/>
        </p:nvSpPr>
        <p:spPr>
          <a:xfrm>
            <a:off x="6752844" y="4208018"/>
            <a:ext cx="420624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保司</a:t>
            </a:r>
            <a:endParaRPr lang="en-US" sz="650" dirty="0"/>
          </a:p>
        </p:txBody>
      </p:sp>
      <p:sp>
        <p:nvSpPr>
          <p:cNvPr id="104" name="Text 101"/>
          <p:cNvSpPr/>
          <p:nvPr/>
        </p:nvSpPr>
        <p:spPr>
          <a:xfrm>
            <a:off x="7137400" y="4226560"/>
            <a:ext cx="1285875" cy="12763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产品名称（签单期）</a:t>
            </a:r>
            <a:endParaRPr lang="en-US" sz="650" dirty="0"/>
          </a:p>
        </p:txBody>
      </p:sp>
      <p:sp>
        <p:nvSpPr>
          <p:cNvPr id="105" name="Text 102"/>
          <p:cNvSpPr/>
          <p:nvPr/>
        </p:nvSpPr>
        <p:spPr>
          <a:xfrm>
            <a:off x="9606534" y="4217543"/>
            <a:ext cx="621792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altLang="en-US" sz="650" b="1" dirty="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总</a:t>
            </a:r>
            <a:r>
              <a:rPr lang="en-US" sz="6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签单件数</a:t>
            </a:r>
            <a:endParaRPr lang="en-US" sz="650" dirty="0"/>
          </a:p>
        </p:txBody>
      </p:sp>
      <p:sp>
        <p:nvSpPr>
          <p:cNvPr id="106" name="Text 103"/>
          <p:cNvSpPr/>
          <p:nvPr/>
        </p:nvSpPr>
        <p:spPr>
          <a:xfrm>
            <a:off x="10264902" y="4217543"/>
            <a:ext cx="859536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altLang="en-US" sz="650" b="1" dirty="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总</a:t>
            </a:r>
            <a:r>
              <a:rPr lang="en-US" sz="6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签单APE(M)</a:t>
            </a:r>
            <a:endParaRPr lang="en-US" sz="650" dirty="0"/>
          </a:p>
        </p:txBody>
      </p:sp>
      <p:sp>
        <p:nvSpPr>
          <p:cNvPr id="107" name="Text 104"/>
          <p:cNvSpPr/>
          <p:nvPr/>
        </p:nvSpPr>
        <p:spPr>
          <a:xfrm>
            <a:off x="11161014" y="4217543"/>
            <a:ext cx="768096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件均(万)</a:t>
            </a:r>
            <a:endParaRPr lang="en-US" sz="650" dirty="0"/>
          </a:p>
        </p:txBody>
      </p:sp>
      <p:sp>
        <p:nvSpPr>
          <p:cNvPr id="108" name="Shape 105"/>
          <p:cNvSpPr/>
          <p:nvPr/>
        </p:nvSpPr>
        <p:spPr>
          <a:xfrm>
            <a:off x="6270625" y="4407535"/>
            <a:ext cx="5601335" cy="201295"/>
          </a:xfrm>
          <a:prstGeom prst="rect">
            <a:avLst/>
          </a:prstGeom>
          <a:solidFill>
            <a:srgbClr val="FFF8F5"/>
          </a:solidFill>
          <a:ln w="7620">
            <a:solidFill>
              <a:srgbClr val="D4875A"/>
            </a:solidFill>
            <a:prstDash val="solid"/>
          </a:ln>
        </p:spPr>
      </p:sp>
      <p:sp>
        <p:nvSpPr>
          <p:cNvPr id="109" name="Shape 106"/>
          <p:cNvSpPr/>
          <p:nvPr/>
        </p:nvSpPr>
        <p:spPr>
          <a:xfrm>
            <a:off x="6460236" y="4409186"/>
            <a:ext cx="36576" cy="199339"/>
          </a:xfrm>
          <a:prstGeom prst="rect">
            <a:avLst/>
          </a:prstGeom>
          <a:solidFill>
            <a:srgbClr val="6D4C41"/>
          </a:solidFill>
          <a:ln w="12700">
            <a:solidFill>
              <a:srgbClr val="6D4C41"/>
            </a:solidFill>
            <a:prstDash val="solid"/>
          </a:ln>
        </p:spPr>
      </p:sp>
      <p:sp>
        <p:nvSpPr>
          <p:cNvPr id="110" name="Text 107"/>
          <p:cNvSpPr/>
          <p:nvPr/>
        </p:nvSpPr>
        <p:spPr>
          <a:xfrm>
            <a:off x="6515100" y="4436618"/>
            <a:ext cx="201168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800" dirty="0"/>
          </a:p>
        </p:txBody>
      </p:sp>
      <p:sp>
        <p:nvSpPr>
          <p:cNvPr id="111" name="Text 108"/>
          <p:cNvSpPr/>
          <p:nvPr/>
        </p:nvSpPr>
        <p:spPr>
          <a:xfrm>
            <a:off x="6771132" y="4436618"/>
            <a:ext cx="402336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永明</a:t>
            </a:r>
            <a:endParaRPr lang="en-US" sz="800" dirty="0"/>
          </a:p>
        </p:txBody>
      </p:sp>
      <p:sp>
        <p:nvSpPr>
          <p:cNvPr id="112" name="Text 109"/>
          <p:cNvSpPr/>
          <p:nvPr/>
        </p:nvSpPr>
        <p:spPr>
          <a:xfrm>
            <a:off x="7228205" y="4435475"/>
            <a:ext cx="1398270" cy="1447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万年青星河尊享保险计划II（2年）</a:t>
            </a:r>
            <a:endParaRPr lang="en-US" sz="750" dirty="0"/>
          </a:p>
        </p:txBody>
      </p:sp>
      <p:sp>
        <p:nvSpPr>
          <p:cNvPr id="113" name="Text 110"/>
          <p:cNvSpPr/>
          <p:nvPr/>
        </p:nvSpPr>
        <p:spPr>
          <a:xfrm>
            <a:off x="9624822" y="4446143"/>
            <a:ext cx="603504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110</a:t>
            </a:r>
            <a:endParaRPr lang="en-US" sz="800" dirty="0"/>
          </a:p>
        </p:txBody>
      </p:sp>
      <p:sp>
        <p:nvSpPr>
          <p:cNvPr id="114" name="Text 111"/>
          <p:cNvSpPr/>
          <p:nvPr/>
        </p:nvSpPr>
        <p:spPr>
          <a:xfrm>
            <a:off x="10283190" y="4446143"/>
            <a:ext cx="841248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45.64M</a:t>
            </a:r>
            <a:endParaRPr lang="en-US" sz="800" dirty="0"/>
          </a:p>
        </p:txBody>
      </p:sp>
      <p:sp>
        <p:nvSpPr>
          <p:cNvPr id="115" name="Text 112"/>
          <p:cNvSpPr/>
          <p:nvPr/>
        </p:nvSpPr>
        <p:spPr>
          <a:xfrm>
            <a:off x="11179302" y="4446143"/>
            <a:ext cx="749808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79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41.5万</a:t>
            </a:r>
            <a:endParaRPr lang="en-US" sz="800" dirty="0"/>
          </a:p>
        </p:txBody>
      </p:sp>
      <p:sp>
        <p:nvSpPr>
          <p:cNvPr id="117" name="Shape 114"/>
          <p:cNvSpPr/>
          <p:nvPr/>
        </p:nvSpPr>
        <p:spPr>
          <a:xfrm>
            <a:off x="6270625" y="4608830"/>
            <a:ext cx="5601335" cy="208280"/>
          </a:xfrm>
          <a:prstGeom prst="rect">
            <a:avLst/>
          </a:prstGeom>
          <a:solidFill>
            <a:srgbClr val="FFF8F5"/>
          </a:solidFill>
          <a:ln w="7620">
            <a:solidFill>
              <a:srgbClr val="D4875A"/>
            </a:solidFill>
            <a:prstDash val="solid"/>
          </a:ln>
        </p:spPr>
      </p:sp>
      <p:sp>
        <p:nvSpPr>
          <p:cNvPr id="118" name="Shape 115"/>
          <p:cNvSpPr/>
          <p:nvPr/>
        </p:nvSpPr>
        <p:spPr>
          <a:xfrm>
            <a:off x="6460236" y="4617669"/>
            <a:ext cx="36576" cy="199339"/>
          </a:xfrm>
          <a:prstGeom prst="rect">
            <a:avLst/>
          </a:prstGeom>
          <a:solidFill>
            <a:srgbClr val="6D4C41"/>
          </a:solidFill>
          <a:ln w="12700">
            <a:solidFill>
              <a:srgbClr val="6D4C41"/>
            </a:solidFill>
            <a:prstDash val="solid"/>
          </a:ln>
        </p:spPr>
      </p:sp>
      <p:sp>
        <p:nvSpPr>
          <p:cNvPr id="119" name="Text 116"/>
          <p:cNvSpPr/>
          <p:nvPr/>
        </p:nvSpPr>
        <p:spPr>
          <a:xfrm>
            <a:off x="6515100" y="4645101"/>
            <a:ext cx="201168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800" dirty="0"/>
          </a:p>
        </p:txBody>
      </p:sp>
      <p:sp>
        <p:nvSpPr>
          <p:cNvPr id="120" name="Text 117"/>
          <p:cNvSpPr/>
          <p:nvPr/>
        </p:nvSpPr>
        <p:spPr>
          <a:xfrm>
            <a:off x="6771132" y="4645101"/>
            <a:ext cx="402336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永明</a:t>
            </a:r>
            <a:endParaRPr lang="en-US" sz="800" dirty="0"/>
          </a:p>
        </p:txBody>
      </p:sp>
      <p:sp>
        <p:nvSpPr>
          <p:cNvPr id="121" name="Text 118"/>
          <p:cNvSpPr/>
          <p:nvPr/>
        </p:nvSpPr>
        <p:spPr>
          <a:xfrm>
            <a:off x="7228332" y="4645101"/>
            <a:ext cx="2779776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万年青星河尊享保险计划II（5年）</a:t>
            </a:r>
            <a:endParaRPr lang="en-US" sz="750" dirty="0"/>
          </a:p>
        </p:txBody>
      </p:sp>
      <p:sp>
        <p:nvSpPr>
          <p:cNvPr id="122" name="Text 119"/>
          <p:cNvSpPr/>
          <p:nvPr/>
        </p:nvSpPr>
        <p:spPr>
          <a:xfrm>
            <a:off x="9624822" y="4654626"/>
            <a:ext cx="603504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141</a:t>
            </a:r>
            <a:endParaRPr lang="en-US" sz="800" dirty="0"/>
          </a:p>
        </p:txBody>
      </p:sp>
      <p:sp>
        <p:nvSpPr>
          <p:cNvPr id="123" name="Text 120"/>
          <p:cNvSpPr/>
          <p:nvPr/>
        </p:nvSpPr>
        <p:spPr>
          <a:xfrm>
            <a:off x="10283190" y="4654626"/>
            <a:ext cx="841248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26.52M</a:t>
            </a:r>
            <a:endParaRPr lang="en-US" sz="800" dirty="0"/>
          </a:p>
        </p:txBody>
      </p:sp>
      <p:sp>
        <p:nvSpPr>
          <p:cNvPr id="124" name="Text 121"/>
          <p:cNvSpPr/>
          <p:nvPr/>
        </p:nvSpPr>
        <p:spPr>
          <a:xfrm>
            <a:off x="11179302" y="4654626"/>
            <a:ext cx="749808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79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18.8万</a:t>
            </a:r>
            <a:endParaRPr lang="en-US" sz="800" dirty="0"/>
          </a:p>
        </p:txBody>
      </p:sp>
      <p:sp>
        <p:nvSpPr>
          <p:cNvPr id="126" name="Shape 123"/>
          <p:cNvSpPr/>
          <p:nvPr/>
        </p:nvSpPr>
        <p:spPr>
          <a:xfrm>
            <a:off x="6272530" y="4826000"/>
            <a:ext cx="5599430" cy="199390"/>
          </a:xfrm>
          <a:prstGeom prst="rect">
            <a:avLst/>
          </a:prstGeom>
          <a:solidFill>
            <a:srgbClr val="FFF8F5"/>
          </a:solidFill>
          <a:ln w="7620">
            <a:solidFill>
              <a:srgbClr val="D4875A"/>
            </a:solidFill>
            <a:prstDash val="solid"/>
          </a:ln>
        </p:spPr>
      </p:sp>
      <p:sp>
        <p:nvSpPr>
          <p:cNvPr id="127" name="Shape 124"/>
          <p:cNvSpPr/>
          <p:nvPr/>
        </p:nvSpPr>
        <p:spPr>
          <a:xfrm>
            <a:off x="6460236" y="4826152"/>
            <a:ext cx="36576" cy="199339"/>
          </a:xfrm>
          <a:prstGeom prst="rect">
            <a:avLst/>
          </a:prstGeom>
          <a:solidFill>
            <a:srgbClr val="6D4C41"/>
          </a:solidFill>
          <a:ln w="12700">
            <a:solidFill>
              <a:srgbClr val="6D4C41"/>
            </a:solidFill>
            <a:prstDash val="solid"/>
          </a:ln>
        </p:spPr>
      </p:sp>
      <p:sp>
        <p:nvSpPr>
          <p:cNvPr id="128" name="Text 125"/>
          <p:cNvSpPr/>
          <p:nvPr/>
        </p:nvSpPr>
        <p:spPr>
          <a:xfrm>
            <a:off x="6515100" y="4853584"/>
            <a:ext cx="201168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800" dirty="0"/>
          </a:p>
        </p:txBody>
      </p:sp>
      <p:sp>
        <p:nvSpPr>
          <p:cNvPr id="129" name="Text 126"/>
          <p:cNvSpPr/>
          <p:nvPr/>
        </p:nvSpPr>
        <p:spPr>
          <a:xfrm>
            <a:off x="6771132" y="4853584"/>
            <a:ext cx="402336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永明</a:t>
            </a:r>
            <a:endParaRPr lang="en-US" sz="800" dirty="0"/>
          </a:p>
        </p:txBody>
      </p:sp>
      <p:sp>
        <p:nvSpPr>
          <p:cNvPr id="130" name="Text 127"/>
          <p:cNvSpPr/>
          <p:nvPr/>
        </p:nvSpPr>
        <p:spPr>
          <a:xfrm>
            <a:off x="7228332" y="4853584"/>
            <a:ext cx="2779776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万年青卓金保险计划II（5年）</a:t>
            </a:r>
            <a:endParaRPr lang="en-US" sz="750" dirty="0"/>
          </a:p>
        </p:txBody>
      </p:sp>
      <p:sp>
        <p:nvSpPr>
          <p:cNvPr id="131" name="Text 128"/>
          <p:cNvSpPr/>
          <p:nvPr/>
        </p:nvSpPr>
        <p:spPr>
          <a:xfrm>
            <a:off x="9624822" y="4863109"/>
            <a:ext cx="603504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19</a:t>
            </a:r>
            <a:endParaRPr lang="en-US" sz="800" dirty="0"/>
          </a:p>
        </p:txBody>
      </p:sp>
      <p:sp>
        <p:nvSpPr>
          <p:cNvPr id="132" name="Text 129"/>
          <p:cNvSpPr/>
          <p:nvPr/>
        </p:nvSpPr>
        <p:spPr>
          <a:xfrm>
            <a:off x="10283190" y="4863109"/>
            <a:ext cx="841248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13.84M</a:t>
            </a:r>
            <a:endParaRPr lang="en-US" sz="800" dirty="0"/>
          </a:p>
        </p:txBody>
      </p:sp>
      <p:sp>
        <p:nvSpPr>
          <p:cNvPr id="133" name="Text 130"/>
          <p:cNvSpPr/>
          <p:nvPr/>
        </p:nvSpPr>
        <p:spPr>
          <a:xfrm>
            <a:off x="11179302" y="4863109"/>
            <a:ext cx="749808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79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72.8万</a:t>
            </a:r>
            <a:endParaRPr lang="en-US" sz="800" dirty="0"/>
          </a:p>
        </p:txBody>
      </p:sp>
      <p:sp>
        <p:nvSpPr>
          <p:cNvPr id="135" name="Shape 132"/>
          <p:cNvSpPr/>
          <p:nvPr/>
        </p:nvSpPr>
        <p:spPr>
          <a:xfrm>
            <a:off x="6270625" y="5034280"/>
            <a:ext cx="5601335" cy="200025"/>
          </a:xfrm>
          <a:prstGeom prst="rect">
            <a:avLst/>
          </a:prstGeom>
          <a:solidFill>
            <a:srgbClr val="FFFFFF"/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136" name="Shape 133"/>
          <p:cNvSpPr/>
          <p:nvPr/>
        </p:nvSpPr>
        <p:spPr>
          <a:xfrm>
            <a:off x="6460236" y="5034636"/>
            <a:ext cx="36576" cy="199339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37" name="Text 134"/>
          <p:cNvSpPr/>
          <p:nvPr/>
        </p:nvSpPr>
        <p:spPr>
          <a:xfrm>
            <a:off x="6515100" y="5062068"/>
            <a:ext cx="201168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800" dirty="0"/>
          </a:p>
        </p:txBody>
      </p:sp>
      <p:sp>
        <p:nvSpPr>
          <p:cNvPr id="138" name="Text 135"/>
          <p:cNvSpPr/>
          <p:nvPr/>
        </p:nvSpPr>
        <p:spPr>
          <a:xfrm>
            <a:off x="6771132" y="5062068"/>
            <a:ext cx="402336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永明</a:t>
            </a:r>
            <a:endParaRPr lang="en-US" sz="800" dirty="0"/>
          </a:p>
        </p:txBody>
      </p:sp>
      <p:sp>
        <p:nvSpPr>
          <p:cNvPr id="139" name="Text 136"/>
          <p:cNvSpPr/>
          <p:nvPr/>
        </p:nvSpPr>
        <p:spPr>
          <a:xfrm>
            <a:off x="7228332" y="5062068"/>
            <a:ext cx="2779776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永誉传承储蓄计划（1年）</a:t>
            </a:r>
            <a:endParaRPr lang="en-US" sz="750" dirty="0"/>
          </a:p>
        </p:txBody>
      </p:sp>
      <p:sp>
        <p:nvSpPr>
          <p:cNvPr id="140" name="Text 137"/>
          <p:cNvSpPr/>
          <p:nvPr/>
        </p:nvSpPr>
        <p:spPr>
          <a:xfrm>
            <a:off x="9624822" y="5071593"/>
            <a:ext cx="603504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</a:t>
            </a:r>
            <a:endParaRPr lang="en-US" sz="800" dirty="0"/>
          </a:p>
        </p:txBody>
      </p:sp>
      <p:sp>
        <p:nvSpPr>
          <p:cNvPr id="141" name="Text 138"/>
          <p:cNvSpPr/>
          <p:nvPr/>
        </p:nvSpPr>
        <p:spPr>
          <a:xfrm>
            <a:off x="10283190" y="5071593"/>
            <a:ext cx="841248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10.14M</a:t>
            </a:r>
            <a:endParaRPr lang="en-US" sz="800" dirty="0"/>
          </a:p>
        </p:txBody>
      </p:sp>
      <p:sp>
        <p:nvSpPr>
          <p:cNvPr id="142" name="Text 139"/>
          <p:cNvSpPr/>
          <p:nvPr/>
        </p:nvSpPr>
        <p:spPr>
          <a:xfrm>
            <a:off x="11179302" y="5071593"/>
            <a:ext cx="749808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79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202.8万</a:t>
            </a:r>
            <a:endParaRPr lang="en-US" sz="800" dirty="0"/>
          </a:p>
        </p:txBody>
      </p:sp>
      <p:sp>
        <p:nvSpPr>
          <p:cNvPr id="144" name="Shape 141"/>
          <p:cNvSpPr/>
          <p:nvPr/>
        </p:nvSpPr>
        <p:spPr>
          <a:xfrm>
            <a:off x="6270625" y="5239385"/>
            <a:ext cx="5601335" cy="203200"/>
          </a:xfrm>
          <a:prstGeom prst="rect">
            <a:avLst/>
          </a:prstGeom>
          <a:solidFill>
            <a:srgbClr val="F5F7FA"/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145" name="Shape 142"/>
          <p:cNvSpPr/>
          <p:nvPr/>
        </p:nvSpPr>
        <p:spPr>
          <a:xfrm>
            <a:off x="6460236" y="5243119"/>
            <a:ext cx="36576" cy="199339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46" name="Text 143"/>
          <p:cNvSpPr/>
          <p:nvPr/>
        </p:nvSpPr>
        <p:spPr>
          <a:xfrm>
            <a:off x="6515100" y="5270551"/>
            <a:ext cx="201168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</a:t>
            </a:r>
            <a:endParaRPr lang="en-US" sz="800" dirty="0"/>
          </a:p>
        </p:txBody>
      </p:sp>
      <p:sp>
        <p:nvSpPr>
          <p:cNvPr id="147" name="Text 144"/>
          <p:cNvSpPr/>
          <p:nvPr/>
        </p:nvSpPr>
        <p:spPr>
          <a:xfrm>
            <a:off x="6771132" y="5270551"/>
            <a:ext cx="402336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永明</a:t>
            </a:r>
            <a:endParaRPr lang="en-US" sz="800" dirty="0"/>
          </a:p>
        </p:txBody>
      </p:sp>
      <p:sp>
        <p:nvSpPr>
          <p:cNvPr id="148" name="Text 145"/>
          <p:cNvSpPr/>
          <p:nvPr/>
        </p:nvSpPr>
        <p:spPr>
          <a:xfrm>
            <a:off x="7228332" y="5270551"/>
            <a:ext cx="2779776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万年青星河传承保险计划II（5年）</a:t>
            </a:r>
            <a:endParaRPr lang="en-US" sz="750" dirty="0"/>
          </a:p>
        </p:txBody>
      </p:sp>
      <p:sp>
        <p:nvSpPr>
          <p:cNvPr id="149" name="Text 146"/>
          <p:cNvSpPr/>
          <p:nvPr/>
        </p:nvSpPr>
        <p:spPr>
          <a:xfrm>
            <a:off x="9624822" y="5280076"/>
            <a:ext cx="603504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27</a:t>
            </a:r>
            <a:endParaRPr lang="en-US" sz="800" dirty="0"/>
          </a:p>
        </p:txBody>
      </p:sp>
      <p:sp>
        <p:nvSpPr>
          <p:cNvPr id="150" name="Text 147"/>
          <p:cNvSpPr/>
          <p:nvPr/>
        </p:nvSpPr>
        <p:spPr>
          <a:xfrm>
            <a:off x="10283190" y="5280076"/>
            <a:ext cx="841248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9.97M</a:t>
            </a:r>
            <a:endParaRPr lang="en-US" sz="800" dirty="0"/>
          </a:p>
        </p:txBody>
      </p:sp>
      <p:sp>
        <p:nvSpPr>
          <p:cNvPr id="151" name="Text 148"/>
          <p:cNvSpPr/>
          <p:nvPr/>
        </p:nvSpPr>
        <p:spPr>
          <a:xfrm>
            <a:off x="11179302" y="5280076"/>
            <a:ext cx="749808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79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36.9万</a:t>
            </a:r>
            <a:endParaRPr lang="en-US" sz="800" dirty="0"/>
          </a:p>
        </p:txBody>
      </p:sp>
      <p:sp>
        <p:nvSpPr>
          <p:cNvPr id="153" name="Shape 150"/>
          <p:cNvSpPr/>
          <p:nvPr/>
        </p:nvSpPr>
        <p:spPr>
          <a:xfrm>
            <a:off x="6270625" y="5456555"/>
            <a:ext cx="5601335" cy="194310"/>
          </a:xfrm>
          <a:prstGeom prst="rect">
            <a:avLst/>
          </a:prstGeom>
          <a:solidFill>
            <a:srgbClr val="FFFFFF"/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154" name="Shape 151"/>
          <p:cNvSpPr/>
          <p:nvPr/>
        </p:nvSpPr>
        <p:spPr>
          <a:xfrm>
            <a:off x="6460236" y="5451602"/>
            <a:ext cx="36576" cy="199339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55" name="Text 152"/>
          <p:cNvSpPr/>
          <p:nvPr/>
        </p:nvSpPr>
        <p:spPr>
          <a:xfrm>
            <a:off x="6515100" y="5479034"/>
            <a:ext cx="201168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</a:t>
            </a:r>
            <a:endParaRPr lang="en-US" sz="800" dirty="0"/>
          </a:p>
        </p:txBody>
      </p:sp>
      <p:sp>
        <p:nvSpPr>
          <p:cNvPr id="156" name="Text 153"/>
          <p:cNvSpPr/>
          <p:nvPr/>
        </p:nvSpPr>
        <p:spPr>
          <a:xfrm>
            <a:off x="6771132" y="5479034"/>
            <a:ext cx="402336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永明</a:t>
            </a:r>
            <a:endParaRPr lang="en-US" sz="800" dirty="0"/>
          </a:p>
        </p:txBody>
      </p:sp>
      <p:sp>
        <p:nvSpPr>
          <p:cNvPr id="158" name="Text 155"/>
          <p:cNvSpPr/>
          <p:nvPr/>
        </p:nvSpPr>
        <p:spPr>
          <a:xfrm>
            <a:off x="9615297" y="5479034"/>
            <a:ext cx="603504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</a:t>
            </a:r>
            <a:endParaRPr lang="en-US" sz="800" dirty="0"/>
          </a:p>
        </p:txBody>
      </p:sp>
      <p:sp>
        <p:nvSpPr>
          <p:cNvPr id="159" name="Text 156"/>
          <p:cNvSpPr/>
          <p:nvPr/>
        </p:nvSpPr>
        <p:spPr>
          <a:xfrm>
            <a:off x="10283190" y="5488559"/>
            <a:ext cx="841248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9.36M</a:t>
            </a:r>
            <a:endParaRPr lang="en-US" sz="800" dirty="0"/>
          </a:p>
        </p:txBody>
      </p:sp>
      <p:sp>
        <p:nvSpPr>
          <p:cNvPr id="160" name="Text 157"/>
          <p:cNvSpPr/>
          <p:nvPr/>
        </p:nvSpPr>
        <p:spPr>
          <a:xfrm>
            <a:off x="11179302" y="5488559"/>
            <a:ext cx="749808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79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117.0万</a:t>
            </a:r>
            <a:endParaRPr lang="en-US" sz="800" dirty="0"/>
          </a:p>
        </p:txBody>
      </p:sp>
      <p:sp>
        <p:nvSpPr>
          <p:cNvPr id="162" name="Shape 159"/>
          <p:cNvSpPr/>
          <p:nvPr/>
        </p:nvSpPr>
        <p:spPr>
          <a:xfrm>
            <a:off x="6270625" y="5660390"/>
            <a:ext cx="5601335" cy="199390"/>
          </a:xfrm>
          <a:prstGeom prst="rect">
            <a:avLst/>
          </a:prstGeom>
          <a:solidFill>
            <a:srgbClr val="F5F7FA"/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163" name="Shape 160"/>
          <p:cNvSpPr/>
          <p:nvPr/>
        </p:nvSpPr>
        <p:spPr>
          <a:xfrm>
            <a:off x="6460236" y="5660085"/>
            <a:ext cx="36576" cy="199339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64" name="Text 161"/>
          <p:cNvSpPr/>
          <p:nvPr/>
        </p:nvSpPr>
        <p:spPr>
          <a:xfrm>
            <a:off x="6515100" y="5687517"/>
            <a:ext cx="201168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</a:t>
            </a:r>
            <a:endParaRPr lang="en-US" sz="800" dirty="0"/>
          </a:p>
        </p:txBody>
      </p:sp>
      <p:sp>
        <p:nvSpPr>
          <p:cNvPr id="165" name="Text 162"/>
          <p:cNvSpPr/>
          <p:nvPr/>
        </p:nvSpPr>
        <p:spPr>
          <a:xfrm>
            <a:off x="6771132" y="5687517"/>
            <a:ext cx="402336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永明</a:t>
            </a:r>
            <a:endParaRPr lang="en-US" sz="800" dirty="0"/>
          </a:p>
        </p:txBody>
      </p:sp>
      <p:sp>
        <p:nvSpPr>
          <p:cNvPr id="167" name="Text 164"/>
          <p:cNvSpPr/>
          <p:nvPr/>
        </p:nvSpPr>
        <p:spPr>
          <a:xfrm>
            <a:off x="9624822" y="5697042"/>
            <a:ext cx="603504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17</a:t>
            </a:r>
            <a:endParaRPr lang="en-US" sz="800" dirty="0"/>
          </a:p>
        </p:txBody>
      </p:sp>
      <p:sp>
        <p:nvSpPr>
          <p:cNvPr id="168" name="Text 165"/>
          <p:cNvSpPr/>
          <p:nvPr/>
        </p:nvSpPr>
        <p:spPr>
          <a:xfrm>
            <a:off x="10283190" y="5697042"/>
            <a:ext cx="841248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7.49M</a:t>
            </a:r>
            <a:endParaRPr lang="en-US" sz="800" dirty="0"/>
          </a:p>
        </p:txBody>
      </p:sp>
      <p:sp>
        <p:nvSpPr>
          <p:cNvPr id="171" name="Shape 168"/>
          <p:cNvSpPr/>
          <p:nvPr/>
        </p:nvSpPr>
        <p:spPr>
          <a:xfrm>
            <a:off x="6270625" y="5868035"/>
            <a:ext cx="5601335" cy="200025"/>
          </a:xfrm>
          <a:prstGeom prst="rect">
            <a:avLst/>
          </a:prstGeom>
          <a:solidFill>
            <a:srgbClr val="FFFFFF"/>
          </a:solidFill>
          <a:ln w="2540">
            <a:solidFill>
              <a:srgbClr val="E8ECF0"/>
            </a:solidFill>
            <a:prstDash val="solid"/>
          </a:ln>
        </p:spPr>
        <p:txBody>
          <a:bodyPr/>
          <a:p>
            <a:endParaRPr lang="zh-CN" altLang="en-US"/>
          </a:p>
        </p:txBody>
      </p:sp>
      <p:sp>
        <p:nvSpPr>
          <p:cNvPr id="172" name="Shape 169"/>
          <p:cNvSpPr/>
          <p:nvPr/>
        </p:nvSpPr>
        <p:spPr>
          <a:xfrm>
            <a:off x="6460236" y="5868568"/>
            <a:ext cx="36576" cy="199339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73" name="Text 170"/>
          <p:cNvSpPr/>
          <p:nvPr/>
        </p:nvSpPr>
        <p:spPr>
          <a:xfrm>
            <a:off x="6515100" y="5896000"/>
            <a:ext cx="201168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</a:t>
            </a:r>
            <a:endParaRPr lang="en-US" sz="800" dirty="0"/>
          </a:p>
        </p:txBody>
      </p:sp>
      <p:sp>
        <p:nvSpPr>
          <p:cNvPr id="174" name="Text 171"/>
          <p:cNvSpPr/>
          <p:nvPr/>
        </p:nvSpPr>
        <p:spPr>
          <a:xfrm>
            <a:off x="6771132" y="5896000"/>
            <a:ext cx="402336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永明</a:t>
            </a:r>
            <a:endParaRPr lang="en-US" sz="800" dirty="0"/>
          </a:p>
        </p:txBody>
      </p:sp>
      <p:sp>
        <p:nvSpPr>
          <p:cNvPr id="176" name="Text 173"/>
          <p:cNvSpPr/>
          <p:nvPr/>
        </p:nvSpPr>
        <p:spPr>
          <a:xfrm>
            <a:off x="9624822" y="5905525"/>
            <a:ext cx="603504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800" dirty="0"/>
          </a:p>
        </p:txBody>
      </p:sp>
      <p:sp>
        <p:nvSpPr>
          <p:cNvPr id="177" name="Text 174"/>
          <p:cNvSpPr/>
          <p:nvPr/>
        </p:nvSpPr>
        <p:spPr>
          <a:xfrm>
            <a:off x="10283190" y="5905525"/>
            <a:ext cx="841248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5.82M</a:t>
            </a:r>
            <a:endParaRPr lang="en-US" sz="800" dirty="0"/>
          </a:p>
        </p:txBody>
      </p:sp>
      <p:sp>
        <p:nvSpPr>
          <p:cNvPr id="180" name="Shape 177"/>
          <p:cNvSpPr/>
          <p:nvPr/>
        </p:nvSpPr>
        <p:spPr>
          <a:xfrm>
            <a:off x="6270625" y="6085840"/>
            <a:ext cx="5601335" cy="190500"/>
          </a:xfrm>
          <a:prstGeom prst="rect">
            <a:avLst/>
          </a:prstGeom>
          <a:solidFill>
            <a:srgbClr val="F5F7FA"/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181" name="Shape 178"/>
          <p:cNvSpPr/>
          <p:nvPr/>
        </p:nvSpPr>
        <p:spPr>
          <a:xfrm>
            <a:off x="6460236" y="6077052"/>
            <a:ext cx="36576" cy="199339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82" name="Text 179"/>
          <p:cNvSpPr/>
          <p:nvPr/>
        </p:nvSpPr>
        <p:spPr>
          <a:xfrm>
            <a:off x="6515100" y="6104484"/>
            <a:ext cx="201168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9</a:t>
            </a:r>
            <a:endParaRPr lang="en-US" sz="800" dirty="0"/>
          </a:p>
        </p:txBody>
      </p:sp>
      <p:sp>
        <p:nvSpPr>
          <p:cNvPr id="183" name="Text 180"/>
          <p:cNvSpPr/>
          <p:nvPr/>
        </p:nvSpPr>
        <p:spPr>
          <a:xfrm>
            <a:off x="6771132" y="6104484"/>
            <a:ext cx="402336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永明</a:t>
            </a:r>
            <a:endParaRPr lang="en-US" sz="800" dirty="0"/>
          </a:p>
        </p:txBody>
      </p:sp>
      <p:sp>
        <p:nvSpPr>
          <p:cNvPr id="185" name="Text 182"/>
          <p:cNvSpPr/>
          <p:nvPr/>
        </p:nvSpPr>
        <p:spPr>
          <a:xfrm>
            <a:off x="9624822" y="6114009"/>
            <a:ext cx="603504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800" dirty="0"/>
          </a:p>
        </p:txBody>
      </p:sp>
      <p:sp>
        <p:nvSpPr>
          <p:cNvPr id="186" name="Text 183"/>
          <p:cNvSpPr/>
          <p:nvPr/>
        </p:nvSpPr>
        <p:spPr>
          <a:xfrm>
            <a:off x="10283190" y="6114009"/>
            <a:ext cx="841248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4.68M</a:t>
            </a:r>
            <a:endParaRPr lang="en-US" sz="800" dirty="0"/>
          </a:p>
        </p:txBody>
      </p:sp>
      <p:sp>
        <p:nvSpPr>
          <p:cNvPr id="187" name="Text 184"/>
          <p:cNvSpPr/>
          <p:nvPr/>
        </p:nvSpPr>
        <p:spPr>
          <a:xfrm>
            <a:off x="11179302" y="6114009"/>
            <a:ext cx="749808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79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117.0万</a:t>
            </a:r>
            <a:endParaRPr lang="en-US" sz="800" dirty="0"/>
          </a:p>
        </p:txBody>
      </p:sp>
      <p:sp>
        <p:nvSpPr>
          <p:cNvPr id="190" name="Shape 187"/>
          <p:cNvSpPr/>
          <p:nvPr/>
        </p:nvSpPr>
        <p:spPr>
          <a:xfrm>
            <a:off x="6460236" y="6285535"/>
            <a:ext cx="36576" cy="199339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91" name="Text 188"/>
          <p:cNvSpPr/>
          <p:nvPr/>
        </p:nvSpPr>
        <p:spPr>
          <a:xfrm>
            <a:off x="6515100" y="6312967"/>
            <a:ext cx="201168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</a:t>
            </a:r>
            <a:endParaRPr lang="en-US" sz="800" dirty="0"/>
          </a:p>
        </p:txBody>
      </p:sp>
      <p:sp>
        <p:nvSpPr>
          <p:cNvPr id="192" name="Text 189"/>
          <p:cNvSpPr/>
          <p:nvPr/>
        </p:nvSpPr>
        <p:spPr>
          <a:xfrm>
            <a:off x="6771132" y="6312967"/>
            <a:ext cx="402336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永明</a:t>
            </a:r>
            <a:endParaRPr lang="en-US" sz="800" dirty="0"/>
          </a:p>
        </p:txBody>
      </p:sp>
      <p:sp>
        <p:nvSpPr>
          <p:cNvPr id="193" name="Text 190"/>
          <p:cNvSpPr/>
          <p:nvPr/>
        </p:nvSpPr>
        <p:spPr>
          <a:xfrm>
            <a:off x="7228332" y="6312967"/>
            <a:ext cx="2779776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CN" altLang="en-US" sz="750" dirty="0">
                <a:solidFill>
                  <a:srgbClr val="1A1A2E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万年青卓金保险计划</a:t>
            </a:r>
            <a:r>
              <a:rPr lang="en-US" sz="7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II（5年）</a:t>
            </a:r>
            <a:endParaRPr lang="en-US" sz="750" dirty="0"/>
          </a:p>
        </p:txBody>
      </p:sp>
      <p:sp>
        <p:nvSpPr>
          <p:cNvPr id="194" name="Text 191"/>
          <p:cNvSpPr/>
          <p:nvPr/>
        </p:nvSpPr>
        <p:spPr>
          <a:xfrm>
            <a:off x="9624822" y="6322492"/>
            <a:ext cx="603504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</a:t>
            </a:r>
            <a:endParaRPr lang="en-US" sz="800" dirty="0"/>
          </a:p>
        </p:txBody>
      </p:sp>
      <p:sp>
        <p:nvSpPr>
          <p:cNvPr id="195" name="Text 192"/>
          <p:cNvSpPr/>
          <p:nvPr/>
        </p:nvSpPr>
        <p:spPr>
          <a:xfrm>
            <a:off x="10283190" y="6322492"/>
            <a:ext cx="841248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3.90M</a:t>
            </a:r>
            <a:endParaRPr lang="en-US" sz="800" dirty="0"/>
          </a:p>
        </p:txBody>
      </p:sp>
      <p:sp>
        <p:nvSpPr>
          <p:cNvPr id="196" name="Text 193"/>
          <p:cNvSpPr/>
          <p:nvPr/>
        </p:nvSpPr>
        <p:spPr>
          <a:xfrm>
            <a:off x="11179302" y="6322492"/>
            <a:ext cx="749808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79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48.0万</a:t>
            </a:r>
            <a:endParaRPr lang="en-US" sz="800" dirty="0"/>
          </a:p>
        </p:txBody>
      </p:sp>
      <p:sp>
        <p:nvSpPr>
          <p:cNvPr id="199" name="Shape 196"/>
          <p:cNvSpPr/>
          <p:nvPr/>
        </p:nvSpPr>
        <p:spPr>
          <a:xfrm>
            <a:off x="6242685" y="6502400"/>
            <a:ext cx="5658485" cy="216535"/>
          </a:xfrm>
          <a:prstGeom prst="rect">
            <a:avLst/>
          </a:prstGeom>
          <a:solidFill>
            <a:srgbClr val="EDE7F6"/>
          </a:solidFill>
          <a:ln w="6350">
            <a:solidFill>
              <a:srgbClr val="9575CD"/>
            </a:solidFill>
            <a:prstDash val="solid"/>
          </a:ln>
        </p:spPr>
      </p:sp>
      <p:sp>
        <p:nvSpPr>
          <p:cNvPr id="200" name="Text 197"/>
          <p:cNvSpPr/>
          <p:nvPr/>
        </p:nvSpPr>
        <p:spPr>
          <a:xfrm>
            <a:off x="6501130" y="6539865"/>
            <a:ext cx="2577465" cy="1651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4A235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合计 (TOP10产品)</a:t>
            </a:r>
            <a:endParaRPr lang="en-US" sz="800" dirty="0"/>
          </a:p>
        </p:txBody>
      </p:sp>
      <p:sp>
        <p:nvSpPr>
          <p:cNvPr id="201" name="Text 198"/>
          <p:cNvSpPr/>
          <p:nvPr/>
        </p:nvSpPr>
        <p:spPr>
          <a:xfrm>
            <a:off x="9606534" y="6540119"/>
            <a:ext cx="621792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4A235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343件</a:t>
            </a:r>
            <a:endParaRPr lang="en-US" sz="800" dirty="0"/>
          </a:p>
        </p:txBody>
      </p:sp>
      <p:sp>
        <p:nvSpPr>
          <p:cNvPr id="202" name="Text 199"/>
          <p:cNvSpPr/>
          <p:nvPr/>
        </p:nvSpPr>
        <p:spPr>
          <a:xfrm>
            <a:off x="10246614" y="6540119"/>
            <a:ext cx="859536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137.3M</a:t>
            </a:r>
            <a:endParaRPr lang="en-US" sz="900" dirty="0"/>
          </a:p>
        </p:txBody>
      </p:sp>
      <p:sp>
        <p:nvSpPr>
          <p:cNvPr id="3" name="Shape 19"/>
          <p:cNvSpPr/>
          <p:nvPr/>
        </p:nvSpPr>
        <p:spPr>
          <a:xfrm>
            <a:off x="9718040" y="504190"/>
            <a:ext cx="2232660" cy="662940"/>
          </a:xfrm>
          <a:prstGeom prst="rect">
            <a:avLst/>
          </a:prstGeom>
          <a:solidFill>
            <a:srgbClr val="FFFFFF"/>
          </a:solidFill>
          <a:ln w="15240">
            <a:solidFill>
              <a:srgbClr val="6D4C41"/>
            </a:solidFill>
            <a:prstDash val="solid"/>
          </a:ln>
        </p:spPr>
      </p:sp>
      <p:sp>
        <p:nvSpPr>
          <p:cNvPr id="88" name="Shape 20"/>
          <p:cNvSpPr/>
          <p:nvPr/>
        </p:nvSpPr>
        <p:spPr>
          <a:xfrm>
            <a:off x="9718040" y="504190"/>
            <a:ext cx="2232660" cy="76200"/>
          </a:xfrm>
          <a:prstGeom prst="rect">
            <a:avLst/>
          </a:prstGeom>
          <a:solidFill>
            <a:srgbClr val="6D4C41"/>
          </a:solidFill>
          <a:ln w="12700">
            <a:solidFill>
              <a:srgbClr val="B7950B"/>
            </a:solidFill>
            <a:prstDash val="solid"/>
          </a:ln>
        </p:spPr>
      </p:sp>
      <p:sp>
        <p:nvSpPr>
          <p:cNvPr id="90" name="Text 21"/>
          <p:cNvSpPr/>
          <p:nvPr/>
        </p:nvSpPr>
        <p:spPr>
          <a:xfrm>
            <a:off x="9827895" y="577215"/>
            <a:ext cx="2106295" cy="1568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永明</a:t>
            </a:r>
            <a:r>
              <a:rPr lang="zh-CN" altLang="en-US" sz="850" dirty="0">
                <a:solidFill>
                  <a:srgbClr val="6B7280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合计</a:t>
            </a:r>
            <a:r>
              <a:rPr lang="en-US" sz="8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APE</a:t>
            </a:r>
            <a:endParaRPr lang="en-US" sz="850" dirty="0"/>
          </a:p>
        </p:txBody>
      </p:sp>
      <p:sp>
        <p:nvSpPr>
          <p:cNvPr id="91" name="Text 22"/>
          <p:cNvSpPr/>
          <p:nvPr/>
        </p:nvSpPr>
        <p:spPr>
          <a:xfrm>
            <a:off x="9827895" y="703580"/>
            <a:ext cx="2106295" cy="33147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6D4C4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667.2M</a:t>
            </a:r>
            <a:endParaRPr lang="en-US" sz="2400" b="1" dirty="0">
              <a:solidFill>
                <a:srgbClr val="6D4C41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92" name="Text 23"/>
          <p:cNvSpPr/>
          <p:nvPr/>
        </p:nvSpPr>
        <p:spPr>
          <a:xfrm>
            <a:off x="9827895" y="1016635"/>
            <a:ext cx="2105025" cy="15303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750" dirty="0">
                <a:solidFill>
                  <a:srgbClr val="374151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中台</a:t>
            </a:r>
            <a:r>
              <a:rPr lang="en-US" altLang="zh-CN" sz="750" dirty="0">
                <a:solidFill>
                  <a:srgbClr val="374151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+TA</a:t>
            </a:r>
            <a:r>
              <a:rPr lang="zh-CN" altLang="en-US" sz="750" dirty="0">
                <a:solidFill>
                  <a:srgbClr val="374151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（批核</a:t>
            </a:r>
            <a:r>
              <a:rPr lang="en-US" altLang="zh-CN" sz="750" dirty="0">
                <a:solidFill>
                  <a:srgbClr val="374151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+</a:t>
            </a:r>
            <a:r>
              <a:rPr lang="zh-CN" altLang="en-US" sz="750" dirty="0">
                <a:solidFill>
                  <a:srgbClr val="374151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未批</a:t>
            </a:r>
            <a:r>
              <a:rPr lang="en-US" altLang="zh-CN" sz="750" dirty="0">
                <a:solidFill>
                  <a:srgbClr val="374151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+</a:t>
            </a:r>
            <a:r>
              <a:rPr lang="zh-CN" altLang="en-US" sz="750" dirty="0">
                <a:solidFill>
                  <a:srgbClr val="374151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待签）</a:t>
            </a:r>
            <a:endParaRPr lang="zh-CN" altLang="en-US" sz="750" dirty="0">
              <a:solidFill>
                <a:srgbClr val="374151"/>
              </a:solidFill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-120"/>
            </a:endParaRPr>
          </a:p>
        </p:txBody>
      </p:sp>
      <p:sp>
        <p:nvSpPr>
          <p:cNvPr id="179" name="Text 102"/>
          <p:cNvSpPr/>
          <p:nvPr/>
        </p:nvSpPr>
        <p:spPr>
          <a:xfrm>
            <a:off x="8812530" y="4226560"/>
            <a:ext cx="621665" cy="1460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650" b="1" dirty="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折扣</a:t>
            </a:r>
            <a:endParaRPr lang="zh-CN" sz="650" dirty="0"/>
          </a:p>
        </p:txBody>
      </p:sp>
      <p:sp>
        <p:nvSpPr>
          <p:cNvPr id="188" name="Text 110"/>
          <p:cNvSpPr/>
          <p:nvPr/>
        </p:nvSpPr>
        <p:spPr>
          <a:xfrm>
            <a:off x="8834882" y="4435348"/>
            <a:ext cx="603504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-</a:t>
            </a:r>
            <a:endParaRPr lang="en-US" sz="800" dirty="0"/>
          </a:p>
        </p:txBody>
      </p:sp>
      <p:sp>
        <p:nvSpPr>
          <p:cNvPr id="197" name="Text 110"/>
          <p:cNvSpPr/>
          <p:nvPr/>
        </p:nvSpPr>
        <p:spPr>
          <a:xfrm>
            <a:off x="8847582" y="4638548"/>
            <a:ext cx="603504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-</a:t>
            </a:r>
            <a:endParaRPr lang="en-US" sz="800" dirty="0"/>
          </a:p>
        </p:txBody>
      </p:sp>
      <p:sp>
        <p:nvSpPr>
          <p:cNvPr id="198" name="Text 110"/>
          <p:cNvSpPr/>
          <p:nvPr/>
        </p:nvSpPr>
        <p:spPr>
          <a:xfrm>
            <a:off x="8869807" y="4841748"/>
            <a:ext cx="603504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21%</a:t>
            </a:r>
            <a:endParaRPr lang="en-US" sz="800" dirty="0"/>
          </a:p>
        </p:txBody>
      </p:sp>
      <p:sp>
        <p:nvSpPr>
          <p:cNvPr id="203" name="Text 110"/>
          <p:cNvSpPr/>
          <p:nvPr/>
        </p:nvSpPr>
        <p:spPr>
          <a:xfrm>
            <a:off x="8871712" y="5062093"/>
            <a:ext cx="603504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7%</a:t>
            </a:r>
            <a:endParaRPr lang="en-US" sz="800" dirty="0"/>
          </a:p>
        </p:txBody>
      </p:sp>
      <p:sp>
        <p:nvSpPr>
          <p:cNvPr id="204" name="Text 110"/>
          <p:cNvSpPr/>
          <p:nvPr/>
        </p:nvSpPr>
        <p:spPr>
          <a:xfrm>
            <a:off x="8864727" y="5279898"/>
            <a:ext cx="603504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-</a:t>
            </a:r>
            <a:endParaRPr lang="en-US" sz="800" dirty="0"/>
          </a:p>
        </p:txBody>
      </p:sp>
      <p:sp>
        <p:nvSpPr>
          <p:cNvPr id="205" name="Text 110"/>
          <p:cNvSpPr/>
          <p:nvPr/>
        </p:nvSpPr>
        <p:spPr>
          <a:xfrm>
            <a:off x="8867902" y="5454523"/>
            <a:ext cx="603504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8%</a:t>
            </a:r>
            <a:endParaRPr lang="en-US" sz="800" dirty="0"/>
          </a:p>
        </p:txBody>
      </p:sp>
      <p:sp>
        <p:nvSpPr>
          <p:cNvPr id="206" name="Text 109"/>
          <p:cNvSpPr/>
          <p:nvPr/>
        </p:nvSpPr>
        <p:spPr>
          <a:xfrm>
            <a:off x="7243445" y="5464175"/>
            <a:ext cx="1398270" cy="1447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万年青星河尊享保险计划II（2年）</a:t>
            </a:r>
            <a:endParaRPr lang="en-US" sz="750" dirty="0"/>
          </a:p>
        </p:txBody>
      </p:sp>
      <p:sp>
        <p:nvSpPr>
          <p:cNvPr id="207" name="Text 109"/>
          <p:cNvSpPr/>
          <p:nvPr/>
        </p:nvSpPr>
        <p:spPr>
          <a:xfrm>
            <a:off x="7237095" y="5686425"/>
            <a:ext cx="1398270" cy="1447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万年青星河尊享保险计划II（2年）</a:t>
            </a:r>
            <a:endParaRPr lang="en-US" sz="750" dirty="0"/>
          </a:p>
        </p:txBody>
      </p:sp>
      <p:sp>
        <p:nvSpPr>
          <p:cNvPr id="245" name="Text 110"/>
          <p:cNvSpPr/>
          <p:nvPr/>
        </p:nvSpPr>
        <p:spPr>
          <a:xfrm>
            <a:off x="8861552" y="5676773"/>
            <a:ext cx="603504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6%</a:t>
            </a:r>
            <a:endParaRPr lang="en-US" sz="800" dirty="0"/>
          </a:p>
        </p:txBody>
      </p:sp>
      <p:sp>
        <p:nvSpPr>
          <p:cNvPr id="247" name="Text 110"/>
          <p:cNvSpPr/>
          <p:nvPr/>
        </p:nvSpPr>
        <p:spPr>
          <a:xfrm>
            <a:off x="8883777" y="6127623"/>
            <a:ext cx="603504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20%</a:t>
            </a:r>
            <a:endParaRPr lang="en-US" sz="800" dirty="0"/>
          </a:p>
        </p:txBody>
      </p:sp>
      <p:sp>
        <p:nvSpPr>
          <p:cNvPr id="248" name="Text 136"/>
          <p:cNvSpPr/>
          <p:nvPr/>
        </p:nvSpPr>
        <p:spPr>
          <a:xfrm>
            <a:off x="7228205" y="5901690"/>
            <a:ext cx="1417320" cy="1562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永誉传承储蓄计划（1年）</a:t>
            </a:r>
            <a:endParaRPr lang="en-US" sz="750" dirty="0"/>
          </a:p>
        </p:txBody>
      </p:sp>
      <p:sp>
        <p:nvSpPr>
          <p:cNvPr id="249" name="Text 110"/>
          <p:cNvSpPr/>
          <p:nvPr/>
        </p:nvSpPr>
        <p:spPr>
          <a:xfrm>
            <a:off x="8884412" y="5905373"/>
            <a:ext cx="603504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8%</a:t>
            </a:r>
            <a:endParaRPr lang="en-US" sz="800" dirty="0"/>
          </a:p>
        </p:txBody>
      </p:sp>
      <p:sp>
        <p:nvSpPr>
          <p:cNvPr id="255" name="Text 166"/>
          <p:cNvSpPr/>
          <p:nvPr/>
        </p:nvSpPr>
        <p:spPr>
          <a:xfrm>
            <a:off x="11182477" y="5881192"/>
            <a:ext cx="749808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79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145.7万</a:t>
            </a:r>
            <a:endParaRPr lang="en-US" sz="800" dirty="0"/>
          </a:p>
        </p:txBody>
      </p:sp>
      <p:sp>
        <p:nvSpPr>
          <p:cNvPr id="256" name="Text 157"/>
          <p:cNvSpPr/>
          <p:nvPr/>
        </p:nvSpPr>
        <p:spPr>
          <a:xfrm>
            <a:off x="11182477" y="5682234"/>
            <a:ext cx="749808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79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44.1万</a:t>
            </a:r>
            <a:endParaRPr lang="en-US" sz="800" dirty="0"/>
          </a:p>
        </p:txBody>
      </p:sp>
      <p:sp>
        <p:nvSpPr>
          <p:cNvPr id="257" name="Text 118"/>
          <p:cNvSpPr/>
          <p:nvPr/>
        </p:nvSpPr>
        <p:spPr>
          <a:xfrm>
            <a:off x="7228205" y="6130290"/>
            <a:ext cx="1569720" cy="132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万年青星河尊享保险计划II（5年）</a:t>
            </a:r>
            <a:endParaRPr lang="en-US" sz="750" dirty="0"/>
          </a:p>
        </p:txBody>
      </p:sp>
      <p:sp>
        <p:nvSpPr>
          <p:cNvPr id="258" name="Text 110"/>
          <p:cNvSpPr/>
          <p:nvPr/>
        </p:nvSpPr>
        <p:spPr>
          <a:xfrm>
            <a:off x="8886952" y="6311773"/>
            <a:ext cx="603504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20%</a:t>
            </a:r>
            <a:endParaRPr lang="en-US" sz="800" dirty="0"/>
          </a:p>
        </p:txBody>
      </p:sp>
      <p:sp>
        <p:nvSpPr>
          <p:cNvPr id="89" name="Shape 34"/>
          <p:cNvSpPr/>
          <p:nvPr/>
        </p:nvSpPr>
        <p:spPr>
          <a:xfrm>
            <a:off x="236220" y="1553845"/>
            <a:ext cx="11664950" cy="20447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p/>
        </p:txBody>
      </p:sp>
      <p:sp>
        <p:nvSpPr>
          <p:cNvPr id="228" name="Text 35"/>
          <p:cNvSpPr/>
          <p:nvPr/>
        </p:nvSpPr>
        <p:spPr>
          <a:xfrm>
            <a:off x="273050" y="1591945"/>
            <a:ext cx="1139190" cy="1301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牌照</a:t>
            </a:r>
            <a:endParaRPr lang="en-US" sz="700" dirty="0"/>
          </a:p>
        </p:txBody>
      </p:sp>
      <p:sp>
        <p:nvSpPr>
          <p:cNvPr id="229" name="Text 36"/>
          <p:cNvSpPr/>
          <p:nvPr/>
        </p:nvSpPr>
        <p:spPr>
          <a:xfrm>
            <a:off x="784860" y="1591945"/>
            <a:ext cx="1736725" cy="1301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Jan-26 批核APE（M）</a:t>
            </a:r>
            <a:endParaRPr lang="en-US" sz="700" dirty="0"/>
          </a:p>
        </p:txBody>
      </p:sp>
      <p:sp>
        <p:nvSpPr>
          <p:cNvPr id="230" name="Text 37"/>
          <p:cNvSpPr/>
          <p:nvPr/>
        </p:nvSpPr>
        <p:spPr>
          <a:xfrm>
            <a:off x="2430780" y="1591945"/>
            <a:ext cx="1736725" cy="1301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Feb-26 批核APE（M）</a:t>
            </a:r>
            <a:endParaRPr lang="en-US" sz="700" dirty="0"/>
          </a:p>
        </p:txBody>
      </p:sp>
      <p:sp>
        <p:nvSpPr>
          <p:cNvPr id="231" name="Text 38"/>
          <p:cNvSpPr/>
          <p:nvPr/>
        </p:nvSpPr>
        <p:spPr>
          <a:xfrm>
            <a:off x="4222750" y="1591945"/>
            <a:ext cx="1736725" cy="1301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Mar-26 批核APE（M）</a:t>
            </a:r>
            <a:endParaRPr lang="en-US" sz="700" dirty="0"/>
          </a:p>
        </p:txBody>
      </p:sp>
      <p:sp>
        <p:nvSpPr>
          <p:cNvPr id="232" name="Text 39"/>
          <p:cNvSpPr/>
          <p:nvPr/>
        </p:nvSpPr>
        <p:spPr>
          <a:xfrm>
            <a:off x="7697470" y="1572895"/>
            <a:ext cx="1736725" cy="1301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未批核 APE（M）</a:t>
            </a:r>
            <a:endParaRPr lang="en-US" sz="700" dirty="0"/>
          </a:p>
        </p:txBody>
      </p:sp>
      <p:sp>
        <p:nvSpPr>
          <p:cNvPr id="233" name="Text 40"/>
          <p:cNvSpPr/>
          <p:nvPr/>
        </p:nvSpPr>
        <p:spPr>
          <a:xfrm>
            <a:off x="9560560" y="1572895"/>
            <a:ext cx="1718310" cy="1301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本月已递交 APE（M）</a:t>
            </a:r>
            <a:endParaRPr lang="en-US" sz="700" dirty="0"/>
          </a:p>
        </p:txBody>
      </p:sp>
      <p:sp>
        <p:nvSpPr>
          <p:cNvPr id="234" name="Shape 41"/>
          <p:cNvSpPr/>
          <p:nvPr/>
        </p:nvSpPr>
        <p:spPr>
          <a:xfrm>
            <a:off x="236220" y="1772920"/>
            <a:ext cx="11664950" cy="241300"/>
          </a:xfrm>
          <a:prstGeom prst="rect">
            <a:avLst/>
          </a:prstGeom>
          <a:solidFill>
            <a:srgbClr val="F5F7FA"/>
          </a:solidFill>
          <a:ln w="381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235" name="Shape 42"/>
          <p:cNvSpPr/>
          <p:nvPr/>
        </p:nvSpPr>
        <p:spPr>
          <a:xfrm>
            <a:off x="236220" y="1772920"/>
            <a:ext cx="76200" cy="24130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p/>
        </p:txBody>
      </p:sp>
      <p:sp>
        <p:nvSpPr>
          <p:cNvPr id="236" name="Text 43"/>
          <p:cNvSpPr/>
          <p:nvPr/>
        </p:nvSpPr>
        <p:spPr>
          <a:xfrm>
            <a:off x="326390" y="1809750"/>
            <a:ext cx="1122045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JF</a:t>
            </a:r>
            <a:endParaRPr lang="en-US" sz="800" dirty="0"/>
          </a:p>
        </p:txBody>
      </p:sp>
      <p:sp>
        <p:nvSpPr>
          <p:cNvPr id="237" name="Text 44"/>
          <p:cNvSpPr/>
          <p:nvPr/>
        </p:nvSpPr>
        <p:spPr>
          <a:xfrm>
            <a:off x="740410" y="1809750"/>
            <a:ext cx="1718310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45.86M</a:t>
            </a:r>
            <a:endParaRPr lang="en-US" sz="850" dirty="0"/>
          </a:p>
        </p:txBody>
      </p:sp>
      <p:sp>
        <p:nvSpPr>
          <p:cNvPr id="238" name="Text 45"/>
          <p:cNvSpPr/>
          <p:nvPr/>
        </p:nvSpPr>
        <p:spPr>
          <a:xfrm>
            <a:off x="2449195" y="1809750"/>
            <a:ext cx="1718310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14.90M</a:t>
            </a:r>
            <a:endParaRPr lang="en-US" sz="850" dirty="0"/>
          </a:p>
        </p:txBody>
      </p:sp>
      <p:sp>
        <p:nvSpPr>
          <p:cNvPr id="239" name="Text 46"/>
          <p:cNvSpPr/>
          <p:nvPr/>
        </p:nvSpPr>
        <p:spPr>
          <a:xfrm>
            <a:off x="4241165" y="1809750"/>
            <a:ext cx="1718310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13.68M</a:t>
            </a:r>
            <a:endParaRPr lang="en-US" sz="850" dirty="0"/>
          </a:p>
        </p:txBody>
      </p:sp>
      <p:sp>
        <p:nvSpPr>
          <p:cNvPr id="240" name="Text 47"/>
          <p:cNvSpPr/>
          <p:nvPr/>
        </p:nvSpPr>
        <p:spPr>
          <a:xfrm>
            <a:off x="7715885" y="1790700"/>
            <a:ext cx="1718310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889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36.34M</a:t>
            </a:r>
            <a:endParaRPr lang="en-US" sz="850" dirty="0"/>
          </a:p>
        </p:txBody>
      </p:sp>
      <p:sp>
        <p:nvSpPr>
          <p:cNvPr id="241" name="Text 48"/>
          <p:cNvSpPr/>
          <p:nvPr/>
        </p:nvSpPr>
        <p:spPr>
          <a:xfrm>
            <a:off x="9578975" y="1790700"/>
            <a:ext cx="1699895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2E86C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10.31M</a:t>
            </a:r>
            <a:endParaRPr lang="en-US" sz="850" dirty="0"/>
          </a:p>
        </p:txBody>
      </p:sp>
      <p:sp>
        <p:nvSpPr>
          <p:cNvPr id="253" name="Shape 49"/>
          <p:cNvSpPr/>
          <p:nvPr/>
        </p:nvSpPr>
        <p:spPr>
          <a:xfrm>
            <a:off x="236220" y="2019935"/>
            <a:ext cx="11664950" cy="241300"/>
          </a:xfrm>
          <a:prstGeom prst="rect">
            <a:avLst/>
          </a:prstGeom>
          <a:solidFill>
            <a:srgbClr val="FFFFFF"/>
          </a:solidFill>
          <a:ln w="381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254" name="Shape 50"/>
          <p:cNvSpPr/>
          <p:nvPr/>
        </p:nvSpPr>
        <p:spPr>
          <a:xfrm>
            <a:off x="236220" y="2019935"/>
            <a:ext cx="76200" cy="24130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p/>
        </p:txBody>
      </p:sp>
      <p:sp>
        <p:nvSpPr>
          <p:cNvPr id="273" name="Text 51"/>
          <p:cNvSpPr/>
          <p:nvPr/>
        </p:nvSpPr>
        <p:spPr>
          <a:xfrm>
            <a:off x="326390" y="2056765"/>
            <a:ext cx="1122045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UNINWIN</a:t>
            </a:r>
            <a:endParaRPr lang="en-US" sz="800" dirty="0"/>
          </a:p>
        </p:txBody>
      </p:sp>
      <p:sp>
        <p:nvSpPr>
          <p:cNvPr id="274" name="Text 52"/>
          <p:cNvSpPr/>
          <p:nvPr/>
        </p:nvSpPr>
        <p:spPr>
          <a:xfrm>
            <a:off x="740410" y="2056765"/>
            <a:ext cx="1718310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21.65M</a:t>
            </a:r>
            <a:endParaRPr lang="en-US" sz="850" dirty="0"/>
          </a:p>
        </p:txBody>
      </p:sp>
      <p:sp>
        <p:nvSpPr>
          <p:cNvPr id="275" name="Text 53"/>
          <p:cNvSpPr/>
          <p:nvPr/>
        </p:nvSpPr>
        <p:spPr>
          <a:xfrm>
            <a:off x="2449195" y="2056765"/>
            <a:ext cx="1718310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15.15M</a:t>
            </a:r>
            <a:endParaRPr lang="en-US" sz="850" dirty="0"/>
          </a:p>
        </p:txBody>
      </p:sp>
      <p:sp>
        <p:nvSpPr>
          <p:cNvPr id="276" name="Text 54"/>
          <p:cNvSpPr/>
          <p:nvPr/>
        </p:nvSpPr>
        <p:spPr>
          <a:xfrm>
            <a:off x="4241165" y="2056765"/>
            <a:ext cx="1718310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8.65M</a:t>
            </a:r>
            <a:endParaRPr lang="en-US" sz="850" dirty="0"/>
          </a:p>
        </p:txBody>
      </p:sp>
      <p:sp>
        <p:nvSpPr>
          <p:cNvPr id="277" name="Text 55"/>
          <p:cNvSpPr/>
          <p:nvPr/>
        </p:nvSpPr>
        <p:spPr>
          <a:xfrm>
            <a:off x="7715885" y="2037715"/>
            <a:ext cx="1718310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889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12.82M</a:t>
            </a:r>
            <a:endParaRPr lang="en-US" sz="850" dirty="0"/>
          </a:p>
        </p:txBody>
      </p:sp>
      <p:sp>
        <p:nvSpPr>
          <p:cNvPr id="278" name="Text 56"/>
          <p:cNvSpPr/>
          <p:nvPr/>
        </p:nvSpPr>
        <p:spPr>
          <a:xfrm>
            <a:off x="9578975" y="2037715"/>
            <a:ext cx="1699895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2E86C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6.05M</a:t>
            </a:r>
            <a:endParaRPr lang="en-US" sz="850" dirty="0"/>
          </a:p>
        </p:txBody>
      </p:sp>
      <p:sp>
        <p:nvSpPr>
          <p:cNvPr id="279" name="Shape 57"/>
          <p:cNvSpPr/>
          <p:nvPr/>
        </p:nvSpPr>
        <p:spPr>
          <a:xfrm>
            <a:off x="236220" y="2266315"/>
            <a:ext cx="11664950" cy="241300"/>
          </a:xfrm>
          <a:prstGeom prst="rect">
            <a:avLst/>
          </a:prstGeom>
          <a:solidFill>
            <a:srgbClr val="F5F7FA"/>
          </a:solidFill>
          <a:ln w="381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280" name="Shape 58"/>
          <p:cNvSpPr/>
          <p:nvPr/>
        </p:nvSpPr>
        <p:spPr>
          <a:xfrm>
            <a:off x="236220" y="2266315"/>
            <a:ext cx="76200" cy="24130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p/>
        </p:txBody>
      </p:sp>
      <p:sp>
        <p:nvSpPr>
          <p:cNvPr id="281" name="Text 59"/>
          <p:cNvSpPr/>
          <p:nvPr/>
        </p:nvSpPr>
        <p:spPr>
          <a:xfrm>
            <a:off x="335280" y="2303780"/>
            <a:ext cx="1122045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DW-Non-Bank</a:t>
            </a:r>
            <a:endParaRPr lang="en-US" sz="800" dirty="0"/>
          </a:p>
        </p:txBody>
      </p:sp>
      <p:sp>
        <p:nvSpPr>
          <p:cNvPr id="282" name="Text 60"/>
          <p:cNvSpPr/>
          <p:nvPr/>
        </p:nvSpPr>
        <p:spPr>
          <a:xfrm>
            <a:off x="749300" y="2303780"/>
            <a:ext cx="1718310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0.40M</a:t>
            </a:r>
            <a:endParaRPr lang="en-US" sz="850" dirty="0"/>
          </a:p>
        </p:txBody>
      </p:sp>
      <p:sp>
        <p:nvSpPr>
          <p:cNvPr id="283" name="Text 61"/>
          <p:cNvSpPr/>
          <p:nvPr/>
        </p:nvSpPr>
        <p:spPr>
          <a:xfrm>
            <a:off x="2449195" y="2303780"/>
            <a:ext cx="1718310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0.08M</a:t>
            </a:r>
            <a:endParaRPr lang="en-US" sz="850" dirty="0"/>
          </a:p>
        </p:txBody>
      </p:sp>
      <p:sp>
        <p:nvSpPr>
          <p:cNvPr id="284" name="Text 62"/>
          <p:cNvSpPr/>
          <p:nvPr/>
        </p:nvSpPr>
        <p:spPr>
          <a:xfrm>
            <a:off x="4241165" y="2303780"/>
            <a:ext cx="1718310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0M</a:t>
            </a:r>
            <a:endParaRPr lang="en-US" sz="850" dirty="0"/>
          </a:p>
        </p:txBody>
      </p:sp>
      <p:sp>
        <p:nvSpPr>
          <p:cNvPr id="285" name="Text 63"/>
          <p:cNvSpPr/>
          <p:nvPr/>
        </p:nvSpPr>
        <p:spPr>
          <a:xfrm>
            <a:off x="7715885" y="2284730"/>
            <a:ext cx="1718310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889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14.04M</a:t>
            </a:r>
            <a:endParaRPr lang="en-US" sz="850" dirty="0"/>
          </a:p>
        </p:txBody>
      </p:sp>
      <p:sp>
        <p:nvSpPr>
          <p:cNvPr id="286" name="Text 64"/>
          <p:cNvSpPr/>
          <p:nvPr/>
        </p:nvSpPr>
        <p:spPr>
          <a:xfrm>
            <a:off x="9578975" y="2284730"/>
            <a:ext cx="1699895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2E86C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0.01M</a:t>
            </a:r>
            <a:endParaRPr lang="en-US" sz="850" dirty="0"/>
          </a:p>
        </p:txBody>
      </p:sp>
      <p:sp>
        <p:nvSpPr>
          <p:cNvPr id="287" name="Shape 65"/>
          <p:cNvSpPr/>
          <p:nvPr/>
        </p:nvSpPr>
        <p:spPr>
          <a:xfrm>
            <a:off x="236220" y="2770505"/>
            <a:ext cx="11664950" cy="241300"/>
          </a:xfrm>
          <a:prstGeom prst="rect">
            <a:avLst/>
          </a:prstGeom>
          <a:solidFill>
            <a:srgbClr val="EBF5FB"/>
          </a:solidFill>
          <a:ln w="8890">
            <a:solidFill>
              <a:srgbClr val="2E86C1"/>
            </a:solidFill>
            <a:prstDash val="solid"/>
          </a:ln>
        </p:spPr>
        <p:txBody>
          <a:bodyPr/>
          <a:p/>
        </p:txBody>
      </p:sp>
      <p:sp>
        <p:nvSpPr>
          <p:cNvPr id="288" name="Shape 66"/>
          <p:cNvSpPr/>
          <p:nvPr/>
        </p:nvSpPr>
        <p:spPr>
          <a:xfrm>
            <a:off x="236220" y="2770505"/>
            <a:ext cx="76200" cy="24130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p/>
        </p:txBody>
      </p:sp>
      <p:sp>
        <p:nvSpPr>
          <p:cNvPr id="289" name="Text 67"/>
          <p:cNvSpPr/>
          <p:nvPr/>
        </p:nvSpPr>
        <p:spPr>
          <a:xfrm>
            <a:off x="344170" y="2807970"/>
            <a:ext cx="1122045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2E86C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Sub Total</a:t>
            </a:r>
            <a:endParaRPr lang="en-US" sz="800" dirty="0"/>
          </a:p>
        </p:txBody>
      </p:sp>
      <p:sp>
        <p:nvSpPr>
          <p:cNvPr id="290" name="Text 68"/>
          <p:cNvSpPr/>
          <p:nvPr/>
        </p:nvSpPr>
        <p:spPr>
          <a:xfrm>
            <a:off x="740410" y="2807970"/>
            <a:ext cx="1718310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67.92M</a:t>
            </a:r>
            <a:endParaRPr lang="en-US" sz="850" dirty="0"/>
          </a:p>
        </p:txBody>
      </p:sp>
      <p:sp>
        <p:nvSpPr>
          <p:cNvPr id="291" name="Text 69"/>
          <p:cNvSpPr/>
          <p:nvPr/>
        </p:nvSpPr>
        <p:spPr>
          <a:xfrm>
            <a:off x="2449195" y="2807970"/>
            <a:ext cx="1718310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30.12M</a:t>
            </a:r>
            <a:endParaRPr lang="en-US" sz="850" dirty="0"/>
          </a:p>
        </p:txBody>
      </p:sp>
      <p:sp>
        <p:nvSpPr>
          <p:cNvPr id="292" name="Text 70"/>
          <p:cNvSpPr/>
          <p:nvPr/>
        </p:nvSpPr>
        <p:spPr>
          <a:xfrm>
            <a:off x="4551045" y="2785110"/>
            <a:ext cx="1096645" cy="2000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22.33M</a:t>
            </a:r>
            <a:endParaRPr lang="en-US" sz="850" dirty="0"/>
          </a:p>
        </p:txBody>
      </p:sp>
      <p:sp>
        <p:nvSpPr>
          <p:cNvPr id="293" name="Text 71"/>
          <p:cNvSpPr/>
          <p:nvPr/>
        </p:nvSpPr>
        <p:spPr>
          <a:xfrm>
            <a:off x="7715885" y="2788920"/>
            <a:ext cx="1718310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C889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63.20M</a:t>
            </a:r>
            <a:endParaRPr lang="en-US" sz="850" dirty="0"/>
          </a:p>
        </p:txBody>
      </p:sp>
      <p:sp>
        <p:nvSpPr>
          <p:cNvPr id="294" name="Text 72"/>
          <p:cNvSpPr/>
          <p:nvPr/>
        </p:nvSpPr>
        <p:spPr>
          <a:xfrm>
            <a:off x="9578975" y="2788920"/>
            <a:ext cx="1699895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E86C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16.38M</a:t>
            </a:r>
            <a:endParaRPr lang="en-US" sz="850" dirty="0"/>
          </a:p>
        </p:txBody>
      </p:sp>
      <p:sp>
        <p:nvSpPr>
          <p:cNvPr id="295" name="Shape 73"/>
          <p:cNvSpPr/>
          <p:nvPr/>
        </p:nvSpPr>
        <p:spPr>
          <a:xfrm>
            <a:off x="236220" y="3017520"/>
            <a:ext cx="11664950" cy="241300"/>
          </a:xfrm>
          <a:prstGeom prst="rect">
            <a:avLst/>
          </a:prstGeom>
          <a:solidFill>
            <a:srgbClr val="FFF8E1"/>
          </a:solidFill>
          <a:ln w="381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296" name="Shape 74"/>
          <p:cNvSpPr/>
          <p:nvPr/>
        </p:nvSpPr>
        <p:spPr>
          <a:xfrm>
            <a:off x="236220" y="3017520"/>
            <a:ext cx="76200" cy="241300"/>
          </a:xfrm>
          <a:prstGeom prst="rect">
            <a:avLst/>
          </a:prstGeom>
          <a:solidFill>
            <a:srgbClr val="C8890A"/>
          </a:solidFill>
          <a:ln w="12700">
            <a:solidFill>
              <a:srgbClr val="C8890A"/>
            </a:solidFill>
            <a:prstDash val="solid"/>
          </a:ln>
        </p:spPr>
        <p:txBody>
          <a:bodyPr/>
          <a:p/>
        </p:txBody>
      </p:sp>
      <p:sp>
        <p:nvSpPr>
          <p:cNvPr id="297" name="Text 75"/>
          <p:cNvSpPr/>
          <p:nvPr/>
        </p:nvSpPr>
        <p:spPr>
          <a:xfrm>
            <a:off x="335280" y="3054985"/>
            <a:ext cx="1122045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C889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DW Bank</a:t>
            </a:r>
            <a:endParaRPr lang="en-US" sz="800" dirty="0"/>
          </a:p>
        </p:txBody>
      </p:sp>
      <p:sp>
        <p:nvSpPr>
          <p:cNvPr id="298" name="Text 76"/>
          <p:cNvSpPr/>
          <p:nvPr/>
        </p:nvSpPr>
        <p:spPr>
          <a:xfrm>
            <a:off x="722630" y="3054985"/>
            <a:ext cx="1718310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18.26M</a:t>
            </a:r>
            <a:endParaRPr lang="en-US" sz="850" dirty="0"/>
          </a:p>
        </p:txBody>
      </p:sp>
      <p:sp>
        <p:nvSpPr>
          <p:cNvPr id="299" name="Text 77"/>
          <p:cNvSpPr/>
          <p:nvPr/>
        </p:nvSpPr>
        <p:spPr>
          <a:xfrm>
            <a:off x="2449195" y="3054985"/>
            <a:ext cx="1718310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93.94M</a:t>
            </a:r>
            <a:endParaRPr lang="en-US" sz="850" dirty="0"/>
          </a:p>
        </p:txBody>
      </p:sp>
      <p:sp>
        <p:nvSpPr>
          <p:cNvPr id="300" name="Text 78"/>
          <p:cNvSpPr/>
          <p:nvPr/>
        </p:nvSpPr>
        <p:spPr>
          <a:xfrm>
            <a:off x="4241165" y="3054985"/>
            <a:ext cx="1718310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58.70M</a:t>
            </a:r>
            <a:endParaRPr lang="en-US" sz="850" dirty="0"/>
          </a:p>
        </p:txBody>
      </p:sp>
      <p:sp>
        <p:nvSpPr>
          <p:cNvPr id="301" name="Text 79"/>
          <p:cNvSpPr/>
          <p:nvPr/>
        </p:nvSpPr>
        <p:spPr>
          <a:xfrm>
            <a:off x="7715885" y="3035935"/>
            <a:ext cx="1718310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889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64.49M</a:t>
            </a:r>
            <a:endParaRPr lang="en-US" sz="850" dirty="0"/>
          </a:p>
        </p:txBody>
      </p:sp>
      <p:sp>
        <p:nvSpPr>
          <p:cNvPr id="302" name="Text 80"/>
          <p:cNvSpPr/>
          <p:nvPr/>
        </p:nvSpPr>
        <p:spPr>
          <a:xfrm>
            <a:off x="9578975" y="3035935"/>
            <a:ext cx="1699895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2E86C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6.79M</a:t>
            </a:r>
            <a:endParaRPr lang="en-US" sz="850" dirty="0"/>
          </a:p>
        </p:txBody>
      </p:sp>
      <p:sp>
        <p:nvSpPr>
          <p:cNvPr id="303" name="Shape 81"/>
          <p:cNvSpPr/>
          <p:nvPr/>
        </p:nvSpPr>
        <p:spPr>
          <a:xfrm>
            <a:off x="236220" y="3264535"/>
            <a:ext cx="11664950" cy="241300"/>
          </a:xfrm>
          <a:prstGeom prst="rect">
            <a:avLst/>
          </a:prstGeom>
          <a:solidFill>
            <a:srgbClr val="EDE7F6"/>
          </a:solidFill>
          <a:ln w="8890">
            <a:solidFill>
              <a:srgbClr val="9575CD"/>
            </a:solidFill>
            <a:prstDash val="solid"/>
          </a:ln>
        </p:spPr>
        <p:txBody>
          <a:bodyPr/>
          <a:p/>
        </p:txBody>
      </p:sp>
      <p:sp>
        <p:nvSpPr>
          <p:cNvPr id="304" name="Shape 82"/>
          <p:cNvSpPr/>
          <p:nvPr/>
        </p:nvSpPr>
        <p:spPr>
          <a:xfrm>
            <a:off x="236220" y="3264535"/>
            <a:ext cx="76200" cy="241300"/>
          </a:xfrm>
          <a:prstGeom prst="rect">
            <a:avLst/>
          </a:prstGeom>
          <a:solidFill>
            <a:srgbClr val="4A235A"/>
          </a:solidFill>
          <a:ln w="12700">
            <a:solidFill>
              <a:srgbClr val="4A235A"/>
            </a:solidFill>
            <a:prstDash val="solid"/>
          </a:ln>
        </p:spPr>
        <p:txBody>
          <a:bodyPr/>
          <a:p/>
        </p:txBody>
      </p:sp>
      <p:sp>
        <p:nvSpPr>
          <p:cNvPr id="305" name="Text 83"/>
          <p:cNvSpPr/>
          <p:nvPr/>
        </p:nvSpPr>
        <p:spPr>
          <a:xfrm>
            <a:off x="353060" y="3301365"/>
            <a:ext cx="1122045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4A235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TA</a:t>
            </a:r>
            <a:endParaRPr lang="en-US" sz="800" dirty="0"/>
          </a:p>
        </p:txBody>
      </p:sp>
      <p:sp>
        <p:nvSpPr>
          <p:cNvPr id="306" name="Text 84"/>
          <p:cNvSpPr/>
          <p:nvPr/>
        </p:nvSpPr>
        <p:spPr>
          <a:xfrm>
            <a:off x="2191385" y="3299460"/>
            <a:ext cx="5207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48.43</a:t>
            </a:r>
            <a:r>
              <a:rPr lang="en-US" sz="85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</a:t>
            </a:r>
            <a:endParaRPr lang="en-US" sz="850" b="1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07" name="Text 44"/>
          <p:cNvSpPr/>
          <p:nvPr/>
        </p:nvSpPr>
        <p:spPr>
          <a:xfrm>
            <a:off x="2115820" y="1809115"/>
            <a:ext cx="631190" cy="177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14.67</a:t>
            </a: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</a:t>
            </a:r>
            <a:endParaRPr lang="en-US" sz="85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08" name="Text 36"/>
          <p:cNvSpPr/>
          <p:nvPr/>
        </p:nvSpPr>
        <p:spPr>
          <a:xfrm>
            <a:off x="2058670" y="1602105"/>
            <a:ext cx="793750" cy="12001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altLang="zh-CN" sz="700" b="1" dirty="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ALICE</a:t>
            </a:r>
            <a:r>
              <a:rPr lang="zh-CN" altLang="en-US" sz="700" b="1" dirty="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数据</a:t>
            </a:r>
            <a:endParaRPr lang="zh-CN" altLang="en-US" sz="700" b="1" dirty="0">
              <a:solidFill>
                <a:srgbClr val="FFFFFF"/>
              </a:solidFill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-120"/>
            </a:endParaRPr>
          </a:p>
        </p:txBody>
      </p:sp>
      <p:sp>
        <p:nvSpPr>
          <p:cNvPr id="309" name="Text 76"/>
          <p:cNvSpPr/>
          <p:nvPr/>
        </p:nvSpPr>
        <p:spPr>
          <a:xfrm>
            <a:off x="2138680" y="3058795"/>
            <a:ext cx="608330" cy="17335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94.72</a:t>
            </a: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</a:t>
            </a:r>
            <a:endParaRPr lang="en-US" sz="85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10" name="Text 60"/>
          <p:cNvSpPr/>
          <p:nvPr/>
        </p:nvSpPr>
        <p:spPr>
          <a:xfrm>
            <a:off x="2118995" y="2313305"/>
            <a:ext cx="628650" cy="167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0.08</a:t>
            </a: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</a:t>
            </a:r>
            <a:endParaRPr lang="en-US" sz="85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11" name="Text 52"/>
          <p:cNvSpPr/>
          <p:nvPr/>
        </p:nvSpPr>
        <p:spPr>
          <a:xfrm>
            <a:off x="2115820" y="2056765"/>
            <a:ext cx="631190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15.02</a:t>
            </a: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</a:t>
            </a:r>
            <a:endParaRPr lang="en-US" sz="85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12" name="Text 68"/>
          <p:cNvSpPr/>
          <p:nvPr/>
        </p:nvSpPr>
        <p:spPr>
          <a:xfrm>
            <a:off x="2141855" y="2796540"/>
            <a:ext cx="587375" cy="21653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29.77</a:t>
            </a:r>
            <a:r>
              <a:rPr lang="en-US" sz="85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</a:t>
            </a:r>
            <a:endParaRPr lang="en-US" sz="850" b="1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13" name="Text 84"/>
          <p:cNvSpPr/>
          <p:nvPr/>
        </p:nvSpPr>
        <p:spPr>
          <a:xfrm>
            <a:off x="3871595" y="3302000"/>
            <a:ext cx="5207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31.37</a:t>
            </a:r>
            <a:r>
              <a:rPr lang="en-US" sz="85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</a:t>
            </a:r>
            <a:endParaRPr lang="en-US" sz="850" b="1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14" name="Text 44"/>
          <p:cNvSpPr/>
          <p:nvPr/>
        </p:nvSpPr>
        <p:spPr>
          <a:xfrm>
            <a:off x="3804920" y="1811655"/>
            <a:ext cx="631190" cy="1714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13.81</a:t>
            </a: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</a:t>
            </a:r>
            <a:endParaRPr lang="en-US" sz="85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15" name="Text 36"/>
          <p:cNvSpPr/>
          <p:nvPr/>
        </p:nvSpPr>
        <p:spPr>
          <a:xfrm>
            <a:off x="3747770" y="1604645"/>
            <a:ext cx="793750" cy="12001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altLang="zh-CN" sz="700" b="1" dirty="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ALICE</a:t>
            </a:r>
            <a:r>
              <a:rPr lang="zh-CN" altLang="en-US" sz="700" b="1" dirty="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数据</a:t>
            </a:r>
            <a:endParaRPr lang="zh-CN" altLang="en-US" sz="700" b="1" dirty="0">
              <a:solidFill>
                <a:srgbClr val="FFFFFF"/>
              </a:solidFill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-120"/>
            </a:endParaRPr>
          </a:p>
        </p:txBody>
      </p:sp>
      <p:sp>
        <p:nvSpPr>
          <p:cNvPr id="316" name="Text 76"/>
          <p:cNvSpPr/>
          <p:nvPr/>
        </p:nvSpPr>
        <p:spPr>
          <a:xfrm>
            <a:off x="3827780" y="3061335"/>
            <a:ext cx="608330" cy="17335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58.70</a:t>
            </a: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</a:t>
            </a:r>
            <a:endParaRPr lang="en-US" sz="85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17" name="Text 60"/>
          <p:cNvSpPr/>
          <p:nvPr/>
        </p:nvSpPr>
        <p:spPr>
          <a:xfrm>
            <a:off x="3808095" y="2315845"/>
            <a:ext cx="628650" cy="167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0.00M</a:t>
            </a:r>
            <a:endParaRPr lang="en-US" sz="85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18" name="Text 52"/>
          <p:cNvSpPr/>
          <p:nvPr/>
        </p:nvSpPr>
        <p:spPr>
          <a:xfrm>
            <a:off x="3804920" y="2059305"/>
            <a:ext cx="631190" cy="1752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8.68</a:t>
            </a: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</a:t>
            </a:r>
            <a:endParaRPr lang="en-US" sz="85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19" name="Text 68"/>
          <p:cNvSpPr/>
          <p:nvPr/>
        </p:nvSpPr>
        <p:spPr>
          <a:xfrm>
            <a:off x="3830955" y="2799080"/>
            <a:ext cx="587375" cy="21653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22.48</a:t>
            </a:r>
            <a:r>
              <a:rPr lang="en-US" sz="85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</a:t>
            </a:r>
            <a:endParaRPr lang="en-US" sz="850" b="1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20" name="Text 84"/>
          <p:cNvSpPr/>
          <p:nvPr/>
        </p:nvSpPr>
        <p:spPr>
          <a:xfrm>
            <a:off x="5722620" y="3276600"/>
            <a:ext cx="5207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53.92</a:t>
            </a:r>
            <a:r>
              <a:rPr lang="en-US" sz="85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</a:t>
            </a:r>
            <a:endParaRPr lang="en-US" sz="850" b="1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21" name="Text 44"/>
          <p:cNvSpPr/>
          <p:nvPr/>
        </p:nvSpPr>
        <p:spPr>
          <a:xfrm>
            <a:off x="5655945" y="1786255"/>
            <a:ext cx="631190" cy="177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39.50</a:t>
            </a: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</a:t>
            </a:r>
            <a:endParaRPr lang="en-US" sz="85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22" name="Text 36"/>
          <p:cNvSpPr/>
          <p:nvPr/>
        </p:nvSpPr>
        <p:spPr>
          <a:xfrm>
            <a:off x="5598795" y="1579245"/>
            <a:ext cx="793750" cy="12001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altLang="zh-CN" sz="700" b="1" dirty="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ALICE</a:t>
            </a:r>
            <a:r>
              <a:rPr lang="zh-CN" altLang="en-US" sz="700" b="1" dirty="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数据</a:t>
            </a:r>
            <a:r>
              <a:rPr lang="en-US" altLang="zh-CN" sz="700" b="1" dirty="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( 17 Apr)</a:t>
            </a:r>
            <a:endParaRPr lang="en-US" altLang="zh-CN" sz="700" b="1" dirty="0">
              <a:solidFill>
                <a:srgbClr val="FFFFFF"/>
              </a:solidFill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-120"/>
            </a:endParaRPr>
          </a:p>
        </p:txBody>
      </p:sp>
      <p:sp>
        <p:nvSpPr>
          <p:cNvPr id="323" name="Text 76"/>
          <p:cNvSpPr/>
          <p:nvPr/>
        </p:nvSpPr>
        <p:spPr>
          <a:xfrm>
            <a:off x="5678805" y="3035300"/>
            <a:ext cx="608330" cy="17653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27.22</a:t>
            </a: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</a:t>
            </a:r>
            <a:endParaRPr lang="en-US" sz="85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24" name="Text 60"/>
          <p:cNvSpPr/>
          <p:nvPr/>
        </p:nvSpPr>
        <p:spPr>
          <a:xfrm>
            <a:off x="5659120" y="2290445"/>
            <a:ext cx="628650" cy="167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0.48M</a:t>
            </a:r>
            <a:endParaRPr lang="en-US" sz="85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25" name="Text 52"/>
          <p:cNvSpPr/>
          <p:nvPr/>
        </p:nvSpPr>
        <p:spPr>
          <a:xfrm>
            <a:off x="5655945" y="2033905"/>
            <a:ext cx="631190" cy="1752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15.68</a:t>
            </a: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</a:t>
            </a:r>
            <a:endParaRPr lang="en-US" sz="85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26" name="Text 68"/>
          <p:cNvSpPr/>
          <p:nvPr/>
        </p:nvSpPr>
        <p:spPr>
          <a:xfrm>
            <a:off x="5681980" y="2783205"/>
            <a:ext cx="587375" cy="21653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59.18</a:t>
            </a:r>
            <a:r>
              <a:rPr lang="en-US" sz="85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</a:t>
            </a:r>
            <a:endParaRPr lang="en-US" sz="850" b="1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27" name="Shape 57"/>
          <p:cNvSpPr/>
          <p:nvPr/>
        </p:nvSpPr>
        <p:spPr>
          <a:xfrm>
            <a:off x="240030" y="3514090"/>
            <a:ext cx="11664950" cy="241300"/>
          </a:xfrm>
          <a:prstGeom prst="rect">
            <a:avLst/>
          </a:prstGeom>
          <a:solidFill>
            <a:srgbClr val="F5F7FA"/>
          </a:solidFill>
          <a:ln w="381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328" name="Shape 58"/>
          <p:cNvSpPr/>
          <p:nvPr/>
        </p:nvSpPr>
        <p:spPr>
          <a:xfrm>
            <a:off x="240030" y="3514090"/>
            <a:ext cx="76200" cy="24130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p/>
        </p:txBody>
      </p:sp>
      <p:sp>
        <p:nvSpPr>
          <p:cNvPr id="329" name="Text 59"/>
          <p:cNvSpPr/>
          <p:nvPr/>
        </p:nvSpPr>
        <p:spPr>
          <a:xfrm>
            <a:off x="347980" y="3551555"/>
            <a:ext cx="1122045" cy="179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altLang="zh-CN" sz="800" b="1" dirty="0"/>
              <a:t>3 Items Total</a:t>
            </a:r>
            <a:endParaRPr lang="en-US" altLang="zh-CN" sz="800" b="1" dirty="0"/>
          </a:p>
        </p:txBody>
      </p:sp>
      <p:sp>
        <p:nvSpPr>
          <p:cNvPr id="330" name="Text 60"/>
          <p:cNvSpPr/>
          <p:nvPr/>
        </p:nvSpPr>
        <p:spPr>
          <a:xfrm>
            <a:off x="2122805" y="3561080"/>
            <a:ext cx="628650" cy="167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172.92</a:t>
            </a: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</a:t>
            </a:r>
            <a:endParaRPr lang="en-US" sz="85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31" name="Text 60"/>
          <p:cNvSpPr/>
          <p:nvPr/>
        </p:nvSpPr>
        <p:spPr>
          <a:xfrm>
            <a:off x="3811905" y="3563620"/>
            <a:ext cx="628650" cy="167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112.55</a:t>
            </a: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</a:t>
            </a:r>
            <a:endParaRPr lang="en-US" sz="85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32" name="Text 60"/>
          <p:cNvSpPr/>
          <p:nvPr/>
        </p:nvSpPr>
        <p:spPr>
          <a:xfrm>
            <a:off x="5662930" y="3538220"/>
            <a:ext cx="628650" cy="167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140.32</a:t>
            </a: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</a:t>
            </a:r>
            <a:endParaRPr lang="en-US" sz="85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33" name="Text 38"/>
          <p:cNvSpPr/>
          <p:nvPr/>
        </p:nvSpPr>
        <p:spPr>
          <a:xfrm>
            <a:off x="6478905" y="1582420"/>
            <a:ext cx="984250" cy="1187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Apr26 批核APE（M）</a:t>
            </a:r>
            <a:endParaRPr lang="en-US" sz="700" dirty="0"/>
          </a:p>
        </p:txBody>
      </p:sp>
      <p:sp>
        <p:nvSpPr>
          <p:cNvPr id="334" name="Text 46"/>
          <p:cNvSpPr/>
          <p:nvPr/>
        </p:nvSpPr>
        <p:spPr>
          <a:xfrm>
            <a:off x="6057265" y="1793240"/>
            <a:ext cx="1718310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26.21M</a:t>
            </a:r>
            <a:endParaRPr lang="en-US" sz="850" dirty="0"/>
          </a:p>
        </p:txBody>
      </p:sp>
      <p:sp>
        <p:nvSpPr>
          <p:cNvPr id="335" name="Text 54"/>
          <p:cNvSpPr/>
          <p:nvPr/>
        </p:nvSpPr>
        <p:spPr>
          <a:xfrm>
            <a:off x="6057265" y="2040255"/>
            <a:ext cx="1718310" cy="17589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11.18M</a:t>
            </a:r>
            <a:endParaRPr lang="en-US" sz="850" dirty="0"/>
          </a:p>
        </p:txBody>
      </p:sp>
      <p:sp>
        <p:nvSpPr>
          <p:cNvPr id="336" name="Text 62"/>
          <p:cNvSpPr/>
          <p:nvPr/>
        </p:nvSpPr>
        <p:spPr>
          <a:xfrm>
            <a:off x="6057265" y="2287270"/>
            <a:ext cx="1718310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0.48M</a:t>
            </a:r>
            <a:endParaRPr lang="en-US" sz="850" dirty="0"/>
          </a:p>
        </p:txBody>
      </p:sp>
      <p:sp>
        <p:nvSpPr>
          <p:cNvPr id="337" name="Text 70"/>
          <p:cNvSpPr/>
          <p:nvPr/>
        </p:nvSpPr>
        <p:spPr>
          <a:xfrm>
            <a:off x="6367145" y="2768600"/>
            <a:ext cx="1096645" cy="2000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37.88M</a:t>
            </a:r>
            <a:endParaRPr lang="en-US" sz="850" dirty="0"/>
          </a:p>
        </p:txBody>
      </p:sp>
      <p:sp>
        <p:nvSpPr>
          <p:cNvPr id="338" name="Text 78"/>
          <p:cNvSpPr/>
          <p:nvPr/>
        </p:nvSpPr>
        <p:spPr>
          <a:xfrm>
            <a:off x="6057265" y="3038475"/>
            <a:ext cx="1718310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16.61M</a:t>
            </a:r>
            <a:endParaRPr lang="en-US" sz="850" dirty="0"/>
          </a:p>
        </p:txBody>
      </p:sp>
      <p:sp>
        <p:nvSpPr>
          <p:cNvPr id="339" name="Text 36"/>
          <p:cNvSpPr/>
          <p:nvPr/>
        </p:nvSpPr>
        <p:spPr>
          <a:xfrm>
            <a:off x="7355205" y="1572895"/>
            <a:ext cx="793750" cy="12001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altLang="zh-CN" sz="700" b="1" dirty="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ALICE</a:t>
            </a:r>
            <a:r>
              <a:rPr lang="zh-CN" altLang="en-US" sz="700" b="1" dirty="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数据</a:t>
            </a:r>
            <a:r>
              <a:rPr lang="en-US" altLang="zh-CN" sz="700" b="1" dirty="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( 28 Apr)</a:t>
            </a:r>
            <a:endParaRPr lang="en-US" altLang="zh-CN" sz="700" b="1" dirty="0">
              <a:solidFill>
                <a:srgbClr val="FFFFFF"/>
              </a:solidFill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-120"/>
            </a:endParaRPr>
          </a:p>
        </p:txBody>
      </p:sp>
      <p:sp>
        <p:nvSpPr>
          <p:cNvPr id="340" name="Text 84"/>
          <p:cNvSpPr/>
          <p:nvPr/>
        </p:nvSpPr>
        <p:spPr>
          <a:xfrm>
            <a:off x="7479030" y="3289300"/>
            <a:ext cx="5207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5.62M</a:t>
            </a:r>
            <a:endParaRPr lang="en-US" sz="850" b="1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41" name="Text 44"/>
          <p:cNvSpPr/>
          <p:nvPr/>
        </p:nvSpPr>
        <p:spPr>
          <a:xfrm>
            <a:off x="7412355" y="1798955"/>
            <a:ext cx="631190" cy="177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3.57M</a:t>
            </a:r>
            <a:endParaRPr lang="en-US" sz="85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42" name="Text 76"/>
          <p:cNvSpPr/>
          <p:nvPr/>
        </p:nvSpPr>
        <p:spPr>
          <a:xfrm>
            <a:off x="7435215" y="3048000"/>
            <a:ext cx="608330" cy="17653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1.117M</a:t>
            </a:r>
            <a:endParaRPr lang="en-US" sz="85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43" name="Text 60"/>
          <p:cNvSpPr/>
          <p:nvPr/>
        </p:nvSpPr>
        <p:spPr>
          <a:xfrm>
            <a:off x="7415530" y="2303145"/>
            <a:ext cx="628650" cy="167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0M</a:t>
            </a:r>
            <a:endParaRPr lang="en-US" sz="85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44" name="Text 52"/>
          <p:cNvSpPr/>
          <p:nvPr/>
        </p:nvSpPr>
        <p:spPr>
          <a:xfrm>
            <a:off x="7412355" y="2046605"/>
            <a:ext cx="631190" cy="1701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1.68M</a:t>
            </a:r>
            <a:endParaRPr lang="en-US" sz="85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45" name="Text 68"/>
          <p:cNvSpPr/>
          <p:nvPr/>
        </p:nvSpPr>
        <p:spPr>
          <a:xfrm>
            <a:off x="7438390" y="2780665"/>
            <a:ext cx="587375" cy="21653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5.25M</a:t>
            </a:r>
            <a:endParaRPr lang="en-US" sz="850" b="1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46" name="Text 60"/>
          <p:cNvSpPr/>
          <p:nvPr/>
        </p:nvSpPr>
        <p:spPr>
          <a:xfrm>
            <a:off x="7419340" y="3550920"/>
            <a:ext cx="628650" cy="167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12.04M</a:t>
            </a:r>
            <a:endParaRPr lang="en-US" sz="85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47" name="Text 84"/>
          <p:cNvSpPr/>
          <p:nvPr/>
        </p:nvSpPr>
        <p:spPr>
          <a:xfrm>
            <a:off x="9183370" y="3281680"/>
            <a:ext cx="5207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41.09M</a:t>
            </a:r>
            <a:endParaRPr lang="en-US" sz="850" b="1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48" name="Text 44"/>
          <p:cNvSpPr/>
          <p:nvPr/>
        </p:nvSpPr>
        <p:spPr>
          <a:xfrm>
            <a:off x="9116695" y="1791335"/>
            <a:ext cx="631190" cy="17653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28.04M</a:t>
            </a:r>
            <a:endParaRPr lang="en-US" sz="85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49" name="Text 36"/>
          <p:cNvSpPr/>
          <p:nvPr/>
        </p:nvSpPr>
        <p:spPr>
          <a:xfrm>
            <a:off x="9059545" y="1584325"/>
            <a:ext cx="793750" cy="12001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altLang="zh-CN" sz="700" b="1" dirty="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ALICE</a:t>
            </a:r>
            <a:r>
              <a:rPr lang="zh-CN" altLang="en-US" sz="700" b="1" dirty="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数据</a:t>
            </a:r>
            <a:r>
              <a:rPr lang="en-US" altLang="zh-CN" sz="700" b="1" dirty="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(</a:t>
            </a:r>
            <a:r>
              <a:rPr lang="en-US" altLang="zh-CN" sz="700" b="1" dirty="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  <a:sym typeface="+mn-ea"/>
              </a:rPr>
              <a:t>17</a:t>
            </a:r>
            <a:r>
              <a:rPr lang="en-US" altLang="zh-CN" sz="700" b="1" dirty="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  <a:sym typeface="+mn-ea"/>
              </a:rPr>
              <a:t> Apr</a:t>
            </a:r>
            <a:r>
              <a:rPr lang="en-US" altLang="zh-CN" sz="700" b="1" dirty="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)</a:t>
            </a:r>
            <a:endParaRPr lang="en-US" altLang="zh-CN" sz="700" b="1" dirty="0">
              <a:solidFill>
                <a:srgbClr val="FFFFFF"/>
              </a:solidFill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-120"/>
            </a:endParaRPr>
          </a:p>
        </p:txBody>
      </p:sp>
      <p:sp>
        <p:nvSpPr>
          <p:cNvPr id="350" name="Text 76"/>
          <p:cNvSpPr/>
          <p:nvPr/>
        </p:nvSpPr>
        <p:spPr>
          <a:xfrm>
            <a:off x="9139555" y="3040380"/>
            <a:ext cx="608330" cy="17653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68.28M</a:t>
            </a:r>
            <a:endParaRPr lang="en-US" sz="85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51" name="Text 60"/>
          <p:cNvSpPr/>
          <p:nvPr/>
        </p:nvSpPr>
        <p:spPr>
          <a:xfrm>
            <a:off x="9119870" y="2295525"/>
            <a:ext cx="628650" cy="167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14.04M</a:t>
            </a:r>
            <a:endParaRPr lang="en-US" sz="85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52" name="Text 52"/>
          <p:cNvSpPr/>
          <p:nvPr/>
        </p:nvSpPr>
        <p:spPr>
          <a:xfrm>
            <a:off x="9116695" y="2038985"/>
            <a:ext cx="631190" cy="1752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14.04M</a:t>
            </a:r>
            <a:endParaRPr lang="en-US" sz="85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53" name="Text 68"/>
          <p:cNvSpPr/>
          <p:nvPr/>
        </p:nvSpPr>
        <p:spPr>
          <a:xfrm>
            <a:off x="9142730" y="2769235"/>
            <a:ext cx="587375" cy="21653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56.12M</a:t>
            </a:r>
            <a:endParaRPr lang="en-US" sz="850" b="1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54" name="Text 60"/>
          <p:cNvSpPr/>
          <p:nvPr/>
        </p:nvSpPr>
        <p:spPr>
          <a:xfrm>
            <a:off x="9123680" y="3543300"/>
            <a:ext cx="628650" cy="167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163.49M</a:t>
            </a:r>
            <a:endParaRPr lang="en-US" sz="85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55" name="Text 84"/>
          <p:cNvSpPr/>
          <p:nvPr/>
        </p:nvSpPr>
        <p:spPr>
          <a:xfrm>
            <a:off x="11068050" y="3276600"/>
            <a:ext cx="5207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</a:t>
            </a:r>
            <a:endParaRPr lang="en-US" sz="850" b="1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56" name="Text 44"/>
          <p:cNvSpPr/>
          <p:nvPr/>
        </p:nvSpPr>
        <p:spPr>
          <a:xfrm>
            <a:off x="11001375" y="1786255"/>
            <a:ext cx="631190" cy="177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</a:t>
            </a:r>
            <a:endParaRPr lang="en-US" sz="85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57" name="Text 36"/>
          <p:cNvSpPr/>
          <p:nvPr/>
        </p:nvSpPr>
        <p:spPr>
          <a:xfrm>
            <a:off x="10944225" y="1579245"/>
            <a:ext cx="793750" cy="12001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altLang="zh-CN" sz="700" b="1" dirty="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ALICE</a:t>
            </a:r>
            <a:r>
              <a:rPr lang="zh-CN" altLang="en-US" sz="700" b="1" dirty="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数据</a:t>
            </a:r>
            <a:r>
              <a:rPr lang="en-US" altLang="zh-CN" sz="700" b="1" dirty="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(</a:t>
            </a:r>
            <a:r>
              <a:rPr lang="en-US" altLang="zh-CN" sz="700" b="1" dirty="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  <a:sym typeface="+mn-ea"/>
              </a:rPr>
              <a:t>16</a:t>
            </a:r>
            <a:r>
              <a:rPr lang="en-US" altLang="zh-CN" sz="700" b="1" dirty="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  <a:sym typeface="+mn-ea"/>
              </a:rPr>
              <a:t> Apr</a:t>
            </a:r>
            <a:r>
              <a:rPr lang="en-US" altLang="zh-CN" sz="700" b="1" dirty="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)</a:t>
            </a:r>
            <a:endParaRPr lang="en-US" altLang="zh-CN" sz="700" b="1" dirty="0">
              <a:solidFill>
                <a:srgbClr val="FFFFFF"/>
              </a:solidFill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-120"/>
            </a:endParaRPr>
          </a:p>
        </p:txBody>
      </p:sp>
      <p:sp>
        <p:nvSpPr>
          <p:cNvPr id="358" name="Text 76"/>
          <p:cNvSpPr/>
          <p:nvPr/>
        </p:nvSpPr>
        <p:spPr>
          <a:xfrm>
            <a:off x="11024235" y="3035300"/>
            <a:ext cx="608330" cy="17653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</a:t>
            </a:r>
            <a:endParaRPr lang="en-US" sz="85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59" name="Text 60"/>
          <p:cNvSpPr/>
          <p:nvPr/>
        </p:nvSpPr>
        <p:spPr>
          <a:xfrm>
            <a:off x="11004550" y="2290445"/>
            <a:ext cx="628650" cy="167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</a:t>
            </a:r>
            <a:endParaRPr lang="en-US" sz="85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60" name="Text 52"/>
          <p:cNvSpPr/>
          <p:nvPr/>
        </p:nvSpPr>
        <p:spPr>
          <a:xfrm>
            <a:off x="11001375" y="2033905"/>
            <a:ext cx="631190" cy="1752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</a:t>
            </a:r>
            <a:endParaRPr lang="en-US" sz="85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61" name="Text 68"/>
          <p:cNvSpPr/>
          <p:nvPr/>
        </p:nvSpPr>
        <p:spPr>
          <a:xfrm>
            <a:off x="11027410" y="2783840"/>
            <a:ext cx="587375" cy="21653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</a:t>
            </a:r>
            <a:endParaRPr lang="en-US" sz="850" b="1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62" name="Text 60"/>
          <p:cNvSpPr/>
          <p:nvPr/>
        </p:nvSpPr>
        <p:spPr>
          <a:xfrm>
            <a:off x="11008360" y="3538220"/>
            <a:ext cx="628650" cy="167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</a:t>
            </a:r>
            <a:endParaRPr lang="en-US" sz="85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63" name="Shape 49"/>
          <p:cNvSpPr/>
          <p:nvPr/>
        </p:nvSpPr>
        <p:spPr>
          <a:xfrm>
            <a:off x="229870" y="2518410"/>
            <a:ext cx="11664950" cy="241300"/>
          </a:xfrm>
          <a:prstGeom prst="rect">
            <a:avLst/>
          </a:prstGeom>
          <a:solidFill>
            <a:srgbClr val="FFFFFF"/>
          </a:solidFill>
          <a:ln w="381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364" name="Shape 50"/>
          <p:cNvSpPr/>
          <p:nvPr/>
        </p:nvSpPr>
        <p:spPr>
          <a:xfrm>
            <a:off x="239395" y="2518410"/>
            <a:ext cx="76200" cy="24130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p/>
        </p:txBody>
      </p:sp>
      <p:sp>
        <p:nvSpPr>
          <p:cNvPr id="365" name="Text 51"/>
          <p:cNvSpPr/>
          <p:nvPr/>
        </p:nvSpPr>
        <p:spPr>
          <a:xfrm>
            <a:off x="320040" y="2555240"/>
            <a:ext cx="1122045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EG</a:t>
            </a:r>
            <a:endParaRPr lang="en-US" sz="800" dirty="0"/>
          </a:p>
        </p:txBody>
      </p:sp>
      <p:sp>
        <p:nvSpPr>
          <p:cNvPr id="366" name="Text 52"/>
          <p:cNvSpPr/>
          <p:nvPr/>
        </p:nvSpPr>
        <p:spPr>
          <a:xfrm>
            <a:off x="734060" y="2555240"/>
            <a:ext cx="1718310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0.00M</a:t>
            </a:r>
            <a:endParaRPr lang="en-US" sz="850" dirty="0"/>
          </a:p>
        </p:txBody>
      </p:sp>
      <p:sp>
        <p:nvSpPr>
          <p:cNvPr id="367" name="Text 53"/>
          <p:cNvSpPr/>
          <p:nvPr/>
        </p:nvSpPr>
        <p:spPr>
          <a:xfrm>
            <a:off x="2442845" y="2555240"/>
            <a:ext cx="1718310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0.00M</a:t>
            </a:r>
            <a:endParaRPr lang="en-US" sz="850" dirty="0"/>
          </a:p>
        </p:txBody>
      </p:sp>
      <p:sp>
        <p:nvSpPr>
          <p:cNvPr id="368" name="Text 54"/>
          <p:cNvSpPr/>
          <p:nvPr/>
        </p:nvSpPr>
        <p:spPr>
          <a:xfrm>
            <a:off x="4234815" y="2555240"/>
            <a:ext cx="1718310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0.00M</a:t>
            </a:r>
            <a:endParaRPr lang="en-US" sz="850" dirty="0"/>
          </a:p>
        </p:txBody>
      </p:sp>
      <p:sp>
        <p:nvSpPr>
          <p:cNvPr id="369" name="Text 55"/>
          <p:cNvSpPr/>
          <p:nvPr/>
        </p:nvSpPr>
        <p:spPr>
          <a:xfrm>
            <a:off x="7709535" y="2536190"/>
            <a:ext cx="1718310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889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12.82M</a:t>
            </a:r>
            <a:endParaRPr lang="en-US" sz="850" dirty="0"/>
          </a:p>
        </p:txBody>
      </p:sp>
      <p:sp>
        <p:nvSpPr>
          <p:cNvPr id="370" name="Text 56"/>
          <p:cNvSpPr/>
          <p:nvPr/>
        </p:nvSpPr>
        <p:spPr>
          <a:xfrm>
            <a:off x="9572625" y="2536190"/>
            <a:ext cx="1699895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2E86C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6.05M</a:t>
            </a:r>
            <a:endParaRPr lang="en-US" sz="850" dirty="0"/>
          </a:p>
        </p:txBody>
      </p:sp>
      <p:sp>
        <p:nvSpPr>
          <p:cNvPr id="371" name="Text 52"/>
          <p:cNvSpPr/>
          <p:nvPr/>
        </p:nvSpPr>
        <p:spPr>
          <a:xfrm>
            <a:off x="2109470" y="2555240"/>
            <a:ext cx="631190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0.00M</a:t>
            </a:r>
            <a:endParaRPr lang="en-US" sz="85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72" name="Text 52"/>
          <p:cNvSpPr/>
          <p:nvPr/>
        </p:nvSpPr>
        <p:spPr>
          <a:xfrm>
            <a:off x="3798570" y="2557780"/>
            <a:ext cx="631190" cy="1752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0.00M</a:t>
            </a:r>
            <a:endParaRPr lang="en-US" sz="85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73" name="Text 52"/>
          <p:cNvSpPr/>
          <p:nvPr/>
        </p:nvSpPr>
        <p:spPr>
          <a:xfrm>
            <a:off x="5649595" y="2532380"/>
            <a:ext cx="631190" cy="1752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3.51M</a:t>
            </a:r>
            <a:endParaRPr lang="en-US" sz="85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74" name="Text 54"/>
          <p:cNvSpPr/>
          <p:nvPr/>
        </p:nvSpPr>
        <p:spPr>
          <a:xfrm>
            <a:off x="6050915" y="2538730"/>
            <a:ext cx="1718310" cy="17589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11.18M</a:t>
            </a:r>
            <a:endParaRPr lang="en-US" sz="850" dirty="0"/>
          </a:p>
        </p:txBody>
      </p:sp>
      <p:sp>
        <p:nvSpPr>
          <p:cNvPr id="375" name="Text 52"/>
          <p:cNvSpPr/>
          <p:nvPr/>
        </p:nvSpPr>
        <p:spPr>
          <a:xfrm>
            <a:off x="7406005" y="2545080"/>
            <a:ext cx="631190" cy="1701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0M</a:t>
            </a:r>
            <a:endParaRPr lang="en-US" sz="85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76" name="Text 52"/>
          <p:cNvSpPr/>
          <p:nvPr/>
        </p:nvSpPr>
        <p:spPr>
          <a:xfrm>
            <a:off x="9110345" y="2537460"/>
            <a:ext cx="631190" cy="1752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0.00M</a:t>
            </a:r>
            <a:endParaRPr lang="en-US" sz="85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77" name="Text 52"/>
          <p:cNvSpPr/>
          <p:nvPr/>
        </p:nvSpPr>
        <p:spPr>
          <a:xfrm>
            <a:off x="10995025" y="2532380"/>
            <a:ext cx="631190" cy="1752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</a:t>
            </a:r>
            <a:endParaRPr lang="en-US" sz="85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Shape 85"/>
          <p:cNvSpPr/>
          <p:nvPr/>
        </p:nvSpPr>
        <p:spPr>
          <a:xfrm>
            <a:off x="7700645" y="1009015"/>
            <a:ext cx="4323715" cy="5687695"/>
          </a:xfrm>
          <a:prstGeom prst="rect">
            <a:avLst/>
          </a:prstGeom>
          <a:solidFill>
            <a:srgbClr val="FFFFFF"/>
          </a:solidFill>
          <a:ln w="9525">
            <a:solidFill>
              <a:srgbClr val="D0D8E8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>
            <a:endParaRPr lang="zh-CN" altLang="en-US"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12161520" cy="47548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64592" y="73152"/>
            <a:ext cx="1005840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业务端视角仪表盘  |  Sales &amp; Channel View  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0058400" y="109728"/>
            <a:ext cx="19659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BC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内部文件 · 仅供使用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109728" y="530352"/>
            <a:ext cx="2231136" cy="365760"/>
          </a:xfrm>
          <a:prstGeom prst="rect">
            <a:avLst/>
          </a:prstGeom>
          <a:solidFill>
            <a:srgbClr val="F5F7FA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9728" y="530352"/>
            <a:ext cx="2231136" cy="36576"/>
          </a:xfrm>
          <a:prstGeom prst="rect">
            <a:avLst/>
          </a:prstGeom>
          <a:solidFill>
            <a:srgbClr val="C8890A"/>
          </a:solidFill>
          <a:ln w="12700">
            <a:solidFill>
              <a:srgbClr val="C8890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01168" y="566928"/>
            <a:ext cx="13716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889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31.5%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01168" y="758952"/>
            <a:ext cx="2011680" cy="1188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全业务达成率</a:t>
            </a:r>
            <a:endParaRPr lang="en-US" sz="650" dirty="0"/>
          </a:p>
        </p:txBody>
      </p:sp>
      <p:sp>
        <p:nvSpPr>
          <p:cNvPr id="9" name="Shape 7"/>
          <p:cNvSpPr/>
          <p:nvPr/>
        </p:nvSpPr>
        <p:spPr>
          <a:xfrm>
            <a:off x="2487168" y="530352"/>
            <a:ext cx="2231136" cy="365760"/>
          </a:xfrm>
          <a:prstGeom prst="rect">
            <a:avLst/>
          </a:prstGeom>
          <a:solidFill>
            <a:srgbClr val="F5F7FA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487168" y="530352"/>
            <a:ext cx="2231136" cy="36576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78608" y="566928"/>
            <a:ext cx="13716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350M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578608" y="758952"/>
            <a:ext cx="2011680" cy="1188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已批核APE</a:t>
            </a:r>
            <a:endParaRPr lang="en-US" sz="650" dirty="0"/>
          </a:p>
        </p:txBody>
      </p:sp>
      <p:sp>
        <p:nvSpPr>
          <p:cNvPr id="13" name="Shape 11"/>
          <p:cNvSpPr/>
          <p:nvPr/>
        </p:nvSpPr>
        <p:spPr>
          <a:xfrm>
            <a:off x="4864608" y="530352"/>
            <a:ext cx="2231136" cy="365760"/>
          </a:xfrm>
          <a:prstGeom prst="rect">
            <a:avLst/>
          </a:prstGeom>
          <a:solidFill>
            <a:srgbClr val="F5F7FA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864608" y="530352"/>
            <a:ext cx="2231136" cy="36576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56048" y="566928"/>
            <a:ext cx="13716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1,113M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956048" y="758952"/>
            <a:ext cx="2011680" cy="1188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年度目标</a:t>
            </a:r>
            <a:endParaRPr lang="en-US" sz="650" dirty="0"/>
          </a:p>
        </p:txBody>
      </p:sp>
      <p:sp>
        <p:nvSpPr>
          <p:cNvPr id="17" name="Shape 15"/>
          <p:cNvSpPr/>
          <p:nvPr/>
        </p:nvSpPr>
        <p:spPr>
          <a:xfrm>
            <a:off x="7242048" y="530352"/>
            <a:ext cx="2231136" cy="365760"/>
          </a:xfrm>
          <a:prstGeom prst="rect">
            <a:avLst/>
          </a:prstGeom>
          <a:solidFill>
            <a:srgbClr val="F5F7FA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242048" y="530352"/>
            <a:ext cx="2231136" cy="36576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33488" y="566928"/>
            <a:ext cx="13716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039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763M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333488" y="758952"/>
            <a:ext cx="2011680" cy="1188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剩余缺口</a:t>
            </a:r>
            <a:endParaRPr lang="en-US" sz="650" dirty="0"/>
          </a:p>
        </p:txBody>
      </p:sp>
      <p:sp>
        <p:nvSpPr>
          <p:cNvPr id="21" name="Shape 19"/>
          <p:cNvSpPr/>
          <p:nvPr/>
        </p:nvSpPr>
        <p:spPr>
          <a:xfrm>
            <a:off x="9619488" y="530352"/>
            <a:ext cx="2231136" cy="365760"/>
          </a:xfrm>
          <a:prstGeom prst="rect">
            <a:avLst/>
          </a:prstGeom>
          <a:solidFill>
            <a:srgbClr val="F5F7FA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619488" y="530352"/>
            <a:ext cx="2231136" cy="36576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710928" y="566928"/>
            <a:ext cx="13716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533件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9710928" y="758952"/>
            <a:ext cx="2011680" cy="1188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已批核件数</a:t>
            </a:r>
            <a:endParaRPr lang="en-US" sz="650" dirty="0"/>
          </a:p>
        </p:txBody>
      </p:sp>
      <p:sp>
        <p:nvSpPr>
          <p:cNvPr id="33" name="Shape 30"/>
          <p:cNvSpPr/>
          <p:nvPr/>
        </p:nvSpPr>
        <p:spPr>
          <a:xfrm>
            <a:off x="109855" y="996950"/>
            <a:ext cx="3782695" cy="5687695"/>
          </a:xfrm>
          <a:prstGeom prst="rect">
            <a:avLst/>
          </a:prstGeom>
          <a:solidFill>
            <a:srgbClr val="FFFFFF"/>
          </a:solidFill>
          <a:ln w="9525">
            <a:solidFill>
              <a:srgbClr val="D0D8E8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4" name="Shape 31"/>
          <p:cNvSpPr/>
          <p:nvPr/>
        </p:nvSpPr>
        <p:spPr>
          <a:xfrm>
            <a:off x="109855" y="996950"/>
            <a:ext cx="3793490" cy="255905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201041" y="1033526"/>
            <a:ext cx="3767328" cy="1920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  达成率 × 目标规模 × 件数 — 业务线战略象限气泡图</a:t>
            </a:r>
            <a:endParaRPr lang="en-US" sz="850" dirty="0"/>
          </a:p>
        </p:txBody>
      </p:sp>
      <p:sp>
        <p:nvSpPr>
          <p:cNvPr id="36" name="Shape 33"/>
          <p:cNvSpPr/>
          <p:nvPr/>
        </p:nvSpPr>
        <p:spPr>
          <a:xfrm>
            <a:off x="488569" y="1290574"/>
            <a:ext cx="0" cy="4846320"/>
          </a:xfrm>
          <a:prstGeom prst="line">
            <a:avLst/>
          </a:prstGeom>
          <a:noFill/>
          <a:ln w="3810">
            <a:solidFill>
              <a:srgbClr val="E8ECF0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318897" y="6169406"/>
            <a:ext cx="347472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0M</a:t>
            </a:r>
            <a:endParaRPr lang="en-US" sz="600" dirty="0"/>
          </a:p>
        </p:txBody>
      </p:sp>
      <p:sp>
        <p:nvSpPr>
          <p:cNvPr id="38" name="Shape 35"/>
          <p:cNvSpPr/>
          <p:nvPr/>
        </p:nvSpPr>
        <p:spPr>
          <a:xfrm>
            <a:off x="1357249" y="1290574"/>
            <a:ext cx="0" cy="4846320"/>
          </a:xfrm>
          <a:prstGeom prst="line">
            <a:avLst/>
          </a:prstGeom>
          <a:noFill/>
          <a:ln w="3810">
            <a:solidFill>
              <a:srgbClr val="E8ECF0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1187577" y="6169406"/>
            <a:ext cx="347472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100M</a:t>
            </a:r>
            <a:endParaRPr lang="en-US" sz="600" dirty="0"/>
          </a:p>
        </p:txBody>
      </p:sp>
      <p:sp>
        <p:nvSpPr>
          <p:cNvPr id="40" name="Shape 37"/>
          <p:cNvSpPr/>
          <p:nvPr/>
        </p:nvSpPr>
        <p:spPr>
          <a:xfrm>
            <a:off x="2225929" y="1290574"/>
            <a:ext cx="0" cy="4846320"/>
          </a:xfrm>
          <a:prstGeom prst="line">
            <a:avLst/>
          </a:prstGeom>
          <a:noFill/>
          <a:ln w="3810">
            <a:solidFill>
              <a:srgbClr val="E8ECF0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2056257" y="6169406"/>
            <a:ext cx="347472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200M</a:t>
            </a:r>
            <a:endParaRPr lang="en-US" sz="600" dirty="0"/>
          </a:p>
        </p:txBody>
      </p:sp>
      <p:sp>
        <p:nvSpPr>
          <p:cNvPr id="42" name="Shape 39"/>
          <p:cNvSpPr/>
          <p:nvPr/>
        </p:nvSpPr>
        <p:spPr>
          <a:xfrm>
            <a:off x="3094609" y="1290574"/>
            <a:ext cx="0" cy="4846320"/>
          </a:xfrm>
          <a:prstGeom prst="line">
            <a:avLst/>
          </a:prstGeom>
          <a:noFill/>
          <a:ln w="3810">
            <a:solidFill>
              <a:srgbClr val="E8ECF0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2924937" y="6169406"/>
            <a:ext cx="347472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300M</a:t>
            </a:r>
            <a:endParaRPr lang="en-US" sz="600" dirty="0"/>
          </a:p>
        </p:txBody>
      </p:sp>
      <p:sp>
        <p:nvSpPr>
          <p:cNvPr id="44" name="Shape 41"/>
          <p:cNvSpPr/>
          <p:nvPr/>
        </p:nvSpPr>
        <p:spPr>
          <a:xfrm>
            <a:off x="3615817" y="1290574"/>
            <a:ext cx="0" cy="4846320"/>
          </a:xfrm>
          <a:prstGeom prst="line">
            <a:avLst/>
          </a:prstGeom>
          <a:noFill/>
          <a:ln w="3810">
            <a:solidFill>
              <a:srgbClr val="E8ECF0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3446145" y="6169406"/>
            <a:ext cx="347472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360M</a:t>
            </a:r>
            <a:endParaRPr lang="en-US" sz="600" dirty="0"/>
          </a:p>
        </p:txBody>
      </p:sp>
      <p:sp>
        <p:nvSpPr>
          <p:cNvPr id="46" name="Shape 43"/>
          <p:cNvSpPr/>
          <p:nvPr/>
        </p:nvSpPr>
        <p:spPr>
          <a:xfrm>
            <a:off x="488569" y="6136894"/>
            <a:ext cx="3127248" cy="0"/>
          </a:xfrm>
          <a:prstGeom prst="line">
            <a:avLst/>
          </a:prstGeom>
          <a:noFill/>
          <a:ln w="3810">
            <a:solidFill>
              <a:srgbClr val="E8ECF0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-78359" y="6063742"/>
            <a:ext cx="50292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0%</a:t>
            </a:r>
            <a:endParaRPr lang="en-US" sz="650" dirty="0"/>
          </a:p>
        </p:txBody>
      </p:sp>
      <p:sp>
        <p:nvSpPr>
          <p:cNvPr id="48" name="Shape 45"/>
          <p:cNvSpPr/>
          <p:nvPr/>
        </p:nvSpPr>
        <p:spPr>
          <a:xfrm>
            <a:off x="488569" y="5059934"/>
            <a:ext cx="3127248" cy="0"/>
          </a:xfrm>
          <a:prstGeom prst="line">
            <a:avLst/>
          </a:prstGeom>
          <a:noFill/>
          <a:ln w="3810">
            <a:solidFill>
              <a:srgbClr val="E8ECF0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-78359" y="4986782"/>
            <a:ext cx="50292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20%</a:t>
            </a:r>
            <a:endParaRPr lang="en-US" sz="650" dirty="0"/>
          </a:p>
        </p:txBody>
      </p:sp>
      <p:sp>
        <p:nvSpPr>
          <p:cNvPr id="50" name="Shape 47"/>
          <p:cNvSpPr/>
          <p:nvPr/>
        </p:nvSpPr>
        <p:spPr>
          <a:xfrm>
            <a:off x="488569" y="3982974"/>
            <a:ext cx="3127248" cy="0"/>
          </a:xfrm>
          <a:prstGeom prst="line">
            <a:avLst/>
          </a:prstGeom>
          <a:noFill/>
          <a:ln w="3810">
            <a:solidFill>
              <a:srgbClr val="E8ECF0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-78359" y="3909822"/>
            <a:ext cx="50292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40%</a:t>
            </a:r>
            <a:endParaRPr lang="en-US" sz="650" dirty="0"/>
          </a:p>
        </p:txBody>
      </p:sp>
      <p:sp>
        <p:nvSpPr>
          <p:cNvPr id="52" name="Shape 49"/>
          <p:cNvSpPr/>
          <p:nvPr/>
        </p:nvSpPr>
        <p:spPr>
          <a:xfrm>
            <a:off x="488569" y="2906014"/>
            <a:ext cx="3127248" cy="0"/>
          </a:xfrm>
          <a:prstGeom prst="line">
            <a:avLst/>
          </a:prstGeom>
          <a:noFill/>
          <a:ln w="3810">
            <a:solidFill>
              <a:srgbClr val="E8ECF0"/>
            </a:solidFill>
            <a:prstDash val="solid"/>
          </a:ln>
        </p:spPr>
      </p:sp>
      <p:sp>
        <p:nvSpPr>
          <p:cNvPr id="53" name="Text 50"/>
          <p:cNvSpPr/>
          <p:nvPr/>
        </p:nvSpPr>
        <p:spPr>
          <a:xfrm>
            <a:off x="-78359" y="2832862"/>
            <a:ext cx="50292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60%</a:t>
            </a:r>
            <a:endParaRPr lang="en-US" sz="650" dirty="0"/>
          </a:p>
        </p:txBody>
      </p:sp>
      <p:sp>
        <p:nvSpPr>
          <p:cNvPr id="54" name="Shape 51"/>
          <p:cNvSpPr/>
          <p:nvPr/>
        </p:nvSpPr>
        <p:spPr>
          <a:xfrm>
            <a:off x="488569" y="1829054"/>
            <a:ext cx="3127248" cy="0"/>
          </a:xfrm>
          <a:prstGeom prst="line">
            <a:avLst/>
          </a:prstGeom>
          <a:noFill/>
          <a:ln w="3810">
            <a:solidFill>
              <a:srgbClr val="E8ECF0"/>
            </a:solidFill>
            <a:prstDash val="solid"/>
          </a:ln>
        </p:spPr>
      </p:sp>
      <p:sp>
        <p:nvSpPr>
          <p:cNvPr id="55" name="Text 52"/>
          <p:cNvSpPr/>
          <p:nvPr/>
        </p:nvSpPr>
        <p:spPr>
          <a:xfrm>
            <a:off x="-78359" y="1755902"/>
            <a:ext cx="50292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80%</a:t>
            </a:r>
            <a:endParaRPr lang="en-US" sz="650" dirty="0"/>
          </a:p>
        </p:txBody>
      </p:sp>
      <p:sp>
        <p:nvSpPr>
          <p:cNvPr id="56" name="Shape 53"/>
          <p:cNvSpPr/>
          <p:nvPr/>
        </p:nvSpPr>
        <p:spPr>
          <a:xfrm>
            <a:off x="488569" y="4359910"/>
            <a:ext cx="3127248" cy="0"/>
          </a:xfrm>
          <a:prstGeom prst="line">
            <a:avLst/>
          </a:prstGeom>
          <a:noFill/>
          <a:ln w="10160">
            <a:solidFill>
              <a:srgbClr val="C0392B"/>
            </a:solidFill>
            <a:prstDash val="dash"/>
          </a:ln>
        </p:spPr>
      </p:sp>
      <p:sp>
        <p:nvSpPr>
          <p:cNvPr id="57" name="Text 54"/>
          <p:cNvSpPr/>
          <p:nvPr/>
        </p:nvSpPr>
        <p:spPr>
          <a:xfrm>
            <a:off x="525145" y="4222750"/>
            <a:ext cx="914400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C039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时间基准33%</a:t>
            </a:r>
            <a:endParaRPr lang="en-US" sz="650" dirty="0"/>
          </a:p>
        </p:txBody>
      </p:sp>
      <p:sp>
        <p:nvSpPr>
          <p:cNvPr id="58" name="Text 55"/>
          <p:cNvSpPr/>
          <p:nvPr/>
        </p:nvSpPr>
        <p:spPr>
          <a:xfrm>
            <a:off x="2057273" y="6337046"/>
            <a:ext cx="77724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目标APE →</a:t>
            </a:r>
            <a:endParaRPr lang="en-US" sz="700" dirty="0"/>
          </a:p>
        </p:txBody>
      </p:sp>
      <p:sp>
        <p:nvSpPr>
          <p:cNvPr id="59" name="Text 56"/>
          <p:cNvSpPr/>
          <p:nvPr/>
        </p:nvSpPr>
        <p:spPr>
          <a:xfrm>
            <a:off x="135001" y="3269742"/>
            <a:ext cx="201168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达</a:t>
            </a:r>
            <a:endParaRPr lang="en-US" sz="650" dirty="0"/>
          </a:p>
          <a:p>
            <a:pPr marL="0" indent="0">
              <a:buNone/>
            </a:pPr>
            <a:r>
              <a:rPr lang="en-US" sz="6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成</a:t>
            </a:r>
            <a:endParaRPr lang="en-US" sz="650" dirty="0"/>
          </a:p>
          <a:p>
            <a:pPr marL="0" indent="0">
              <a:buNone/>
            </a:pPr>
            <a:r>
              <a:rPr lang="en-US" sz="6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率</a:t>
            </a:r>
            <a:endParaRPr lang="en-US" sz="650" dirty="0"/>
          </a:p>
          <a:p>
            <a:pPr marL="0" indent="0">
              <a:buNone/>
            </a:pPr>
            <a:r>
              <a:rPr lang="en-US" sz="6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↑</a:t>
            </a:r>
            <a:endParaRPr lang="en-US" sz="650" dirty="0"/>
          </a:p>
        </p:txBody>
      </p:sp>
      <p:sp>
        <p:nvSpPr>
          <p:cNvPr id="60" name="Shape 57"/>
          <p:cNvSpPr/>
          <p:nvPr/>
        </p:nvSpPr>
        <p:spPr>
          <a:xfrm>
            <a:off x="488569" y="1290574"/>
            <a:ext cx="1563624" cy="3069336"/>
          </a:xfrm>
          <a:prstGeom prst="rect">
            <a:avLst/>
          </a:prstGeom>
          <a:solidFill>
            <a:srgbClr val="FEF9C3">
              <a:alpha val="50000"/>
            </a:srgbClr>
          </a:solidFill>
          <a:ln w="3810">
            <a:solidFill>
              <a:srgbClr val="F5A623"/>
            </a:solidFill>
            <a:prstDash val="solid"/>
          </a:ln>
        </p:spPr>
      </p:sp>
      <p:sp>
        <p:nvSpPr>
          <p:cNvPr id="61" name="Shape 58"/>
          <p:cNvSpPr/>
          <p:nvPr/>
        </p:nvSpPr>
        <p:spPr>
          <a:xfrm>
            <a:off x="2052193" y="1290574"/>
            <a:ext cx="1563624" cy="3069336"/>
          </a:xfrm>
          <a:prstGeom prst="rect">
            <a:avLst/>
          </a:prstGeom>
          <a:solidFill>
            <a:srgbClr val="DCFCE7">
              <a:alpha val="50000"/>
            </a:srgbClr>
          </a:solidFill>
          <a:ln w="3810">
            <a:solidFill>
              <a:srgbClr val="1A7A3F"/>
            </a:solidFill>
            <a:prstDash val="solid"/>
          </a:ln>
        </p:spPr>
      </p:sp>
      <p:sp>
        <p:nvSpPr>
          <p:cNvPr id="62" name="Shape 59"/>
          <p:cNvSpPr/>
          <p:nvPr/>
        </p:nvSpPr>
        <p:spPr>
          <a:xfrm>
            <a:off x="488569" y="4359910"/>
            <a:ext cx="1563624" cy="1776984"/>
          </a:xfrm>
          <a:prstGeom prst="rect">
            <a:avLst/>
          </a:prstGeom>
          <a:solidFill>
            <a:srgbClr val="FEE2E2">
              <a:alpha val="50000"/>
            </a:srgbClr>
          </a:solidFill>
          <a:ln w="3810">
            <a:solidFill>
              <a:srgbClr val="C0392B"/>
            </a:solidFill>
            <a:prstDash val="solid"/>
          </a:ln>
        </p:spPr>
      </p:sp>
      <p:sp>
        <p:nvSpPr>
          <p:cNvPr id="63" name="Shape 60"/>
          <p:cNvSpPr/>
          <p:nvPr/>
        </p:nvSpPr>
        <p:spPr>
          <a:xfrm>
            <a:off x="2052193" y="4359910"/>
            <a:ext cx="1563624" cy="1776984"/>
          </a:xfrm>
          <a:prstGeom prst="rect">
            <a:avLst/>
          </a:prstGeom>
          <a:solidFill>
            <a:srgbClr val="FEE2E2">
              <a:alpha val="50000"/>
            </a:srgbClr>
          </a:solidFill>
          <a:ln w="3810">
            <a:solidFill>
              <a:srgbClr val="C0392B"/>
            </a:solidFill>
            <a:prstDash val="solid"/>
          </a:ln>
        </p:spPr>
      </p:sp>
      <p:sp>
        <p:nvSpPr>
          <p:cNvPr id="64" name="Text 61"/>
          <p:cNvSpPr/>
          <p:nvPr/>
        </p:nvSpPr>
        <p:spPr>
          <a:xfrm>
            <a:off x="543433" y="1345438"/>
            <a:ext cx="7315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B4530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小目标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B4530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达标</a:t>
            </a:r>
            <a:endParaRPr lang="en-US" sz="600" dirty="0"/>
          </a:p>
        </p:txBody>
      </p:sp>
      <p:sp>
        <p:nvSpPr>
          <p:cNvPr id="65" name="Text 62"/>
          <p:cNvSpPr/>
          <p:nvPr/>
        </p:nvSpPr>
        <p:spPr>
          <a:xfrm>
            <a:off x="2107057" y="1345438"/>
            <a:ext cx="7315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1A7A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大目标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1A7A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达标</a:t>
            </a:r>
            <a:endParaRPr lang="en-US" sz="600" dirty="0"/>
          </a:p>
        </p:txBody>
      </p:sp>
      <p:sp>
        <p:nvSpPr>
          <p:cNvPr id="66" name="Text 63"/>
          <p:cNvSpPr/>
          <p:nvPr/>
        </p:nvSpPr>
        <p:spPr>
          <a:xfrm>
            <a:off x="543433" y="4414774"/>
            <a:ext cx="64008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C039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待激活</a:t>
            </a:r>
            <a:endParaRPr lang="en-US" sz="600" dirty="0"/>
          </a:p>
        </p:txBody>
      </p:sp>
      <p:sp>
        <p:nvSpPr>
          <p:cNvPr id="67" name="Text 64"/>
          <p:cNvSpPr/>
          <p:nvPr/>
        </p:nvSpPr>
        <p:spPr>
          <a:xfrm>
            <a:off x="2107057" y="4414774"/>
            <a:ext cx="7315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C039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大目标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C039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落后</a:t>
            </a:r>
            <a:endParaRPr lang="en-US" sz="600" dirty="0"/>
          </a:p>
        </p:txBody>
      </p:sp>
      <p:sp>
        <p:nvSpPr>
          <p:cNvPr id="68" name="Shape 65"/>
          <p:cNvSpPr/>
          <p:nvPr/>
        </p:nvSpPr>
        <p:spPr>
          <a:xfrm>
            <a:off x="2022699" y="1442741"/>
            <a:ext cx="406459" cy="406459"/>
          </a:xfrm>
          <a:prstGeom prst="ellipse">
            <a:avLst/>
          </a:prstGeom>
          <a:solidFill>
            <a:srgbClr val="1F3864">
              <a:alpha val="80000"/>
            </a:srgbClr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69" name="Text 66"/>
          <p:cNvSpPr/>
          <p:nvPr/>
        </p:nvSpPr>
        <p:spPr>
          <a:xfrm>
            <a:off x="2429159" y="1554531"/>
            <a:ext cx="68580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BK</a:t>
            </a:r>
            <a:endParaRPr lang="en-US" sz="650" dirty="0"/>
          </a:p>
        </p:txBody>
      </p:sp>
      <p:sp>
        <p:nvSpPr>
          <p:cNvPr id="70" name="Shape 67"/>
          <p:cNvSpPr/>
          <p:nvPr/>
        </p:nvSpPr>
        <p:spPr>
          <a:xfrm>
            <a:off x="3200185" y="4678034"/>
            <a:ext cx="483791" cy="483791"/>
          </a:xfrm>
          <a:prstGeom prst="ellipse">
            <a:avLst/>
          </a:prstGeom>
          <a:solidFill>
            <a:srgbClr val="1A7A3F">
              <a:alpha val="80000"/>
            </a:srgbClr>
          </a:solidFill>
          <a:ln w="12700">
            <a:solidFill>
              <a:srgbClr val="1A7A3F"/>
            </a:solidFill>
            <a:prstDash val="solid"/>
          </a:ln>
        </p:spPr>
      </p:sp>
      <p:sp>
        <p:nvSpPr>
          <p:cNvPr id="71" name="Text 68"/>
          <p:cNvSpPr/>
          <p:nvPr/>
        </p:nvSpPr>
        <p:spPr>
          <a:xfrm>
            <a:off x="3200107" y="4571314"/>
            <a:ext cx="68580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1A7A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永明</a:t>
            </a:r>
            <a:r>
              <a:rPr lang="zh-CN" altLang="en-US" sz="650" b="1" dirty="0">
                <a:solidFill>
                  <a:srgbClr val="1A7A3F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经</a:t>
            </a:r>
            <a:r>
              <a:rPr lang="en-US" sz="650" b="1" dirty="0">
                <a:solidFill>
                  <a:srgbClr val="1A7A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代</a:t>
            </a:r>
            <a:endParaRPr lang="en-US" sz="650" dirty="0"/>
          </a:p>
        </p:txBody>
      </p:sp>
      <p:sp>
        <p:nvSpPr>
          <p:cNvPr id="72" name="Shape 69"/>
          <p:cNvSpPr/>
          <p:nvPr/>
        </p:nvSpPr>
        <p:spPr>
          <a:xfrm>
            <a:off x="1726716" y="4353559"/>
            <a:ext cx="303481" cy="303481"/>
          </a:xfrm>
          <a:prstGeom prst="ellipse">
            <a:avLst/>
          </a:prstGeom>
          <a:solidFill>
            <a:srgbClr val="E67E22">
              <a:alpha val="80000"/>
            </a:srgbClr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73" name="Text 70"/>
          <p:cNvSpPr/>
          <p:nvPr/>
        </p:nvSpPr>
        <p:spPr>
          <a:xfrm>
            <a:off x="1686560" y="4189730"/>
            <a:ext cx="685800" cy="24257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E67E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同行</a:t>
            </a:r>
            <a:r>
              <a:rPr lang="zh-CN" altLang="en-US" sz="650" b="1" dirty="0">
                <a:solidFill>
                  <a:srgbClr val="E67E22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经</a:t>
            </a:r>
            <a:r>
              <a:rPr lang="en-US" sz="650" b="1" dirty="0">
                <a:solidFill>
                  <a:srgbClr val="E67E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代</a:t>
            </a:r>
            <a:endParaRPr lang="en-US" sz="650" dirty="0"/>
          </a:p>
        </p:txBody>
      </p:sp>
      <p:sp>
        <p:nvSpPr>
          <p:cNvPr id="74" name="Shape 71"/>
          <p:cNvSpPr/>
          <p:nvPr/>
        </p:nvSpPr>
        <p:spPr>
          <a:xfrm>
            <a:off x="2003333" y="5334315"/>
            <a:ext cx="323576" cy="323576"/>
          </a:xfrm>
          <a:prstGeom prst="ellipse">
            <a:avLst/>
          </a:prstGeom>
          <a:solidFill>
            <a:srgbClr val="2980B9">
              <a:alpha val="80000"/>
            </a:srgbClr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75" name="Text 72"/>
          <p:cNvSpPr/>
          <p:nvPr/>
        </p:nvSpPr>
        <p:spPr>
          <a:xfrm>
            <a:off x="2326909" y="5404663"/>
            <a:ext cx="68580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2980B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天领</a:t>
            </a:r>
            <a:endParaRPr lang="en-US" sz="650" dirty="0"/>
          </a:p>
        </p:txBody>
      </p:sp>
      <p:sp>
        <p:nvSpPr>
          <p:cNvPr id="76" name="Shape 73"/>
          <p:cNvSpPr/>
          <p:nvPr/>
        </p:nvSpPr>
        <p:spPr>
          <a:xfrm>
            <a:off x="853421" y="4579982"/>
            <a:ext cx="173723" cy="173723"/>
          </a:xfrm>
          <a:prstGeom prst="ellipse">
            <a:avLst/>
          </a:prstGeom>
          <a:solidFill>
            <a:srgbClr val="8E44AD">
              <a:alpha val="80000"/>
            </a:srgbClr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77" name="Text 74"/>
          <p:cNvSpPr/>
          <p:nvPr/>
        </p:nvSpPr>
        <p:spPr>
          <a:xfrm>
            <a:off x="1027144" y="4575404"/>
            <a:ext cx="68580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8E44A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ICLUB</a:t>
            </a:r>
            <a:endParaRPr lang="en-US" sz="650" dirty="0"/>
          </a:p>
        </p:txBody>
      </p:sp>
      <p:sp>
        <p:nvSpPr>
          <p:cNvPr id="78" name="Shape 75"/>
          <p:cNvSpPr/>
          <p:nvPr/>
        </p:nvSpPr>
        <p:spPr>
          <a:xfrm>
            <a:off x="1002592" y="5875913"/>
            <a:ext cx="188105" cy="188105"/>
          </a:xfrm>
          <a:prstGeom prst="ellipse">
            <a:avLst/>
          </a:prstGeom>
          <a:solidFill>
            <a:srgbClr val="16A085">
              <a:alpha val="80000"/>
            </a:srgbClr>
          </a:solidFill>
          <a:ln w="12700">
            <a:solidFill>
              <a:srgbClr val="16A085"/>
            </a:solidFill>
            <a:prstDash val="solid"/>
          </a:ln>
        </p:spPr>
      </p:sp>
      <p:sp>
        <p:nvSpPr>
          <p:cNvPr id="79" name="Text 76"/>
          <p:cNvSpPr/>
          <p:nvPr/>
        </p:nvSpPr>
        <p:spPr>
          <a:xfrm>
            <a:off x="1190698" y="5860745"/>
            <a:ext cx="68580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16A08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成事家办</a:t>
            </a:r>
            <a:endParaRPr lang="en-US" sz="650" dirty="0"/>
          </a:p>
        </p:txBody>
      </p:sp>
      <p:sp>
        <p:nvSpPr>
          <p:cNvPr id="80" name="Shape 77"/>
          <p:cNvSpPr/>
          <p:nvPr/>
        </p:nvSpPr>
        <p:spPr>
          <a:xfrm>
            <a:off x="1028653" y="5924376"/>
            <a:ext cx="188105" cy="188105"/>
          </a:xfrm>
          <a:prstGeom prst="ellipse">
            <a:avLst/>
          </a:prstGeom>
          <a:solidFill>
            <a:srgbClr val="C0392B">
              <a:alpha val="80000"/>
            </a:srgbClr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81" name="Text 78"/>
          <p:cNvSpPr/>
          <p:nvPr/>
        </p:nvSpPr>
        <p:spPr>
          <a:xfrm>
            <a:off x="1216758" y="5962548"/>
            <a:ext cx="68580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C039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合伙转介</a:t>
            </a:r>
            <a:endParaRPr lang="en-US" sz="650" dirty="0"/>
          </a:p>
        </p:txBody>
      </p:sp>
      <p:sp>
        <p:nvSpPr>
          <p:cNvPr id="82" name="Shape 79"/>
          <p:cNvSpPr/>
          <p:nvPr/>
        </p:nvSpPr>
        <p:spPr>
          <a:xfrm>
            <a:off x="650875" y="6082030"/>
            <a:ext cx="109728" cy="109728"/>
          </a:xfrm>
          <a:prstGeom prst="ellipse">
            <a:avLst/>
          </a:prstGeom>
          <a:solidFill>
            <a:srgbClr val="B0B0B0">
              <a:alpha val="80000"/>
            </a:srgbClr>
          </a:solidFill>
          <a:ln w="12700">
            <a:solidFill>
              <a:srgbClr val="B0B0B0"/>
            </a:solidFill>
            <a:prstDash val="solid"/>
          </a:ln>
        </p:spPr>
      </p:sp>
      <p:sp>
        <p:nvSpPr>
          <p:cNvPr id="83" name="Text 80"/>
          <p:cNvSpPr/>
          <p:nvPr/>
        </p:nvSpPr>
        <p:spPr>
          <a:xfrm>
            <a:off x="760603" y="6045454"/>
            <a:ext cx="68580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B0B0B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IFA</a:t>
            </a:r>
            <a:endParaRPr lang="en-US" sz="650" dirty="0"/>
          </a:p>
        </p:txBody>
      </p:sp>
      <p:sp>
        <p:nvSpPr>
          <p:cNvPr id="84" name="Shape 81"/>
          <p:cNvSpPr/>
          <p:nvPr/>
        </p:nvSpPr>
        <p:spPr>
          <a:xfrm>
            <a:off x="109855" y="6300470"/>
            <a:ext cx="3776345" cy="396240"/>
          </a:xfrm>
          <a:prstGeom prst="rect">
            <a:avLst/>
          </a:prstGeom>
          <a:solidFill>
            <a:srgbClr val="EEF2FF"/>
          </a:solidFill>
          <a:ln w="6350">
            <a:solidFill>
              <a:srgbClr val="C5CEE8"/>
            </a:solidFill>
            <a:prstDash val="solid"/>
          </a:ln>
        </p:spPr>
      </p:sp>
      <p:sp>
        <p:nvSpPr>
          <p:cNvPr id="85" name="Shape 82"/>
          <p:cNvSpPr/>
          <p:nvPr/>
        </p:nvSpPr>
        <p:spPr>
          <a:xfrm flipV="1">
            <a:off x="114935" y="6297295"/>
            <a:ext cx="3783330" cy="288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86" name="Text 83"/>
          <p:cNvSpPr/>
          <p:nvPr/>
        </p:nvSpPr>
        <p:spPr>
          <a:xfrm>
            <a:off x="201041" y="6337046"/>
            <a:ext cx="3767328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 What：</a:t>
            </a:r>
            <a:endParaRPr lang="en-US" sz="550" dirty="0"/>
          </a:p>
        </p:txBody>
      </p:sp>
      <p:sp>
        <p:nvSpPr>
          <p:cNvPr id="87" name="Text 84"/>
          <p:cNvSpPr/>
          <p:nvPr/>
        </p:nvSpPr>
        <p:spPr>
          <a:xfrm>
            <a:off x="186055" y="6456045"/>
            <a:ext cx="3606800" cy="21018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K业务（右上绿区）是唯一超越基准的「大目标达标」渠道（达成率85.4%）。永明经代（右下红区）规模最大但达成率仅25.3%，是最大战略风险点。ICLUB、同行经代处于「小目标待激活」区，成事/合伙/IFA几乎无效能输出。</a:t>
            </a:r>
            <a:endParaRPr lang="en-US" sz="550" dirty="0"/>
          </a:p>
        </p:txBody>
      </p:sp>
      <p:sp>
        <p:nvSpPr>
          <p:cNvPr id="88" name="Shape 85"/>
          <p:cNvSpPr/>
          <p:nvPr/>
        </p:nvSpPr>
        <p:spPr>
          <a:xfrm>
            <a:off x="3952875" y="996950"/>
            <a:ext cx="3702685" cy="5687695"/>
          </a:xfrm>
          <a:prstGeom prst="rect">
            <a:avLst/>
          </a:prstGeom>
          <a:solidFill>
            <a:srgbClr val="FFFFFF"/>
          </a:solidFill>
          <a:ln w="9525">
            <a:solidFill>
              <a:srgbClr val="D0D8E8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>
            <a:endParaRPr lang="zh-CN" altLang="en-US"/>
          </a:p>
        </p:txBody>
      </p:sp>
      <p:sp>
        <p:nvSpPr>
          <p:cNvPr id="89" name="Shape 86"/>
          <p:cNvSpPr/>
          <p:nvPr/>
        </p:nvSpPr>
        <p:spPr>
          <a:xfrm>
            <a:off x="3964305" y="993140"/>
            <a:ext cx="3691255" cy="259715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90" name="Text 87"/>
          <p:cNvSpPr/>
          <p:nvPr/>
        </p:nvSpPr>
        <p:spPr>
          <a:xfrm>
            <a:off x="4055745" y="1038225"/>
            <a:ext cx="3380105" cy="1873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  全业务目标缺口分解 — Gap Waterfall</a:t>
            </a: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（APE in M）</a:t>
            </a:r>
            <a:endParaRPr lang="en-US" sz="850" dirty="0"/>
          </a:p>
        </p:txBody>
      </p:sp>
      <p:sp>
        <p:nvSpPr>
          <p:cNvPr id="127" name="Shape 124"/>
          <p:cNvSpPr/>
          <p:nvPr/>
        </p:nvSpPr>
        <p:spPr>
          <a:xfrm>
            <a:off x="4074160" y="5974715"/>
            <a:ext cx="3467100" cy="285115"/>
          </a:xfrm>
          <a:prstGeom prst="rect">
            <a:avLst/>
          </a:prstGeom>
          <a:solidFill>
            <a:srgbClr val="FDECEA"/>
          </a:solidFill>
          <a:ln w="10160">
            <a:solidFill>
              <a:srgbClr val="C0392B"/>
            </a:solidFill>
            <a:prstDash val="solid"/>
          </a:ln>
        </p:spPr>
      </p:sp>
      <p:sp>
        <p:nvSpPr>
          <p:cNvPr id="128" name="Text 125"/>
          <p:cNvSpPr/>
          <p:nvPr/>
        </p:nvSpPr>
        <p:spPr>
          <a:xfrm>
            <a:off x="4110736" y="6044438"/>
            <a:ext cx="356616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C039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已达成仅 31.5%  |  剩余缺口 763M  |  需 9 个月完成 68.5%</a:t>
            </a:r>
            <a:endParaRPr lang="en-US" sz="800" dirty="0"/>
          </a:p>
        </p:txBody>
      </p:sp>
      <p:sp>
        <p:nvSpPr>
          <p:cNvPr id="129" name="Shape 126"/>
          <p:cNvSpPr/>
          <p:nvPr/>
        </p:nvSpPr>
        <p:spPr>
          <a:xfrm>
            <a:off x="3964305" y="6300470"/>
            <a:ext cx="3690620" cy="410210"/>
          </a:xfrm>
          <a:prstGeom prst="rect">
            <a:avLst/>
          </a:prstGeom>
          <a:solidFill>
            <a:srgbClr val="EEF2FF"/>
          </a:solidFill>
          <a:ln w="6350">
            <a:solidFill>
              <a:srgbClr val="C5CEE8"/>
            </a:solidFill>
            <a:prstDash val="solid"/>
          </a:ln>
        </p:spPr>
        <p:txBody>
          <a:bodyPr/>
          <a:p>
            <a:endParaRPr lang="zh-CN" altLang="en-US"/>
          </a:p>
        </p:txBody>
      </p:sp>
      <p:sp>
        <p:nvSpPr>
          <p:cNvPr id="130" name="Shape 127"/>
          <p:cNvSpPr/>
          <p:nvPr/>
        </p:nvSpPr>
        <p:spPr>
          <a:xfrm>
            <a:off x="3964305" y="6308725"/>
            <a:ext cx="3686400" cy="288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p>
            <a:endParaRPr lang="zh-CN" altLang="en-US"/>
          </a:p>
        </p:txBody>
      </p:sp>
      <p:sp>
        <p:nvSpPr>
          <p:cNvPr id="131" name="Text 128"/>
          <p:cNvSpPr/>
          <p:nvPr/>
        </p:nvSpPr>
        <p:spPr>
          <a:xfrm>
            <a:off x="4055745" y="6327775"/>
            <a:ext cx="3672840" cy="13779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 What：</a:t>
            </a:r>
            <a:endParaRPr lang="en-US" sz="550" dirty="0"/>
          </a:p>
        </p:txBody>
      </p:sp>
      <p:sp>
        <p:nvSpPr>
          <p:cNvPr id="132" name="Text 129"/>
          <p:cNvSpPr/>
          <p:nvPr/>
        </p:nvSpPr>
        <p:spPr>
          <a:xfrm>
            <a:off x="4055745" y="6438900"/>
            <a:ext cx="3401060" cy="22733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BK贡献最大批核（170.9M），但仍距目标29M。全部已批核+在途（522M）仍距目标591M。如未批核（167.9M）和待签（3.9M）能快速推进，可直接减少缺口约31%，是最快的短期行动杠杆。</a:t>
            </a:r>
            <a:endParaRPr lang="en-US" sz="550" dirty="0"/>
          </a:p>
        </p:txBody>
      </p:sp>
      <p:sp>
        <p:nvSpPr>
          <p:cNvPr id="28" name="Shape 88"/>
          <p:cNvSpPr/>
          <p:nvPr/>
        </p:nvSpPr>
        <p:spPr>
          <a:xfrm>
            <a:off x="4402455" y="5625084"/>
            <a:ext cx="3108960" cy="0"/>
          </a:xfrm>
          <a:prstGeom prst="line">
            <a:avLst/>
          </a:prstGeom>
          <a:noFill/>
          <a:ln w="3810">
            <a:solidFill>
              <a:srgbClr val="E8ECF0"/>
            </a:solidFill>
            <a:prstDash val="solid"/>
          </a:ln>
        </p:spPr>
      </p:sp>
      <p:sp>
        <p:nvSpPr>
          <p:cNvPr id="133" name="Text 89"/>
          <p:cNvSpPr/>
          <p:nvPr/>
        </p:nvSpPr>
        <p:spPr>
          <a:xfrm>
            <a:off x="3868039" y="5551932"/>
            <a:ext cx="347472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0M</a:t>
            </a:r>
            <a:endParaRPr lang="en-US" sz="650" dirty="0"/>
          </a:p>
        </p:txBody>
      </p:sp>
      <p:sp>
        <p:nvSpPr>
          <p:cNvPr id="134" name="Shape 90"/>
          <p:cNvSpPr/>
          <p:nvPr/>
        </p:nvSpPr>
        <p:spPr>
          <a:xfrm>
            <a:off x="4407535" y="4527804"/>
            <a:ext cx="3108960" cy="0"/>
          </a:xfrm>
          <a:prstGeom prst="line">
            <a:avLst/>
          </a:prstGeom>
          <a:noFill/>
          <a:ln w="3810">
            <a:solidFill>
              <a:srgbClr val="E8ECF0"/>
            </a:solidFill>
            <a:prstDash val="solid"/>
          </a:ln>
        </p:spPr>
      </p:sp>
      <p:sp>
        <p:nvSpPr>
          <p:cNvPr id="135" name="Text 91"/>
          <p:cNvSpPr/>
          <p:nvPr/>
        </p:nvSpPr>
        <p:spPr>
          <a:xfrm>
            <a:off x="3868039" y="4454652"/>
            <a:ext cx="347472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300M</a:t>
            </a:r>
            <a:endParaRPr lang="en-US" sz="650" dirty="0"/>
          </a:p>
        </p:txBody>
      </p:sp>
      <p:sp>
        <p:nvSpPr>
          <p:cNvPr id="136" name="Shape 92"/>
          <p:cNvSpPr/>
          <p:nvPr/>
        </p:nvSpPr>
        <p:spPr>
          <a:xfrm>
            <a:off x="4407535" y="3430524"/>
            <a:ext cx="3108960" cy="0"/>
          </a:xfrm>
          <a:prstGeom prst="line">
            <a:avLst/>
          </a:prstGeom>
          <a:noFill/>
          <a:ln w="3810">
            <a:solidFill>
              <a:srgbClr val="E8ECF0"/>
            </a:solidFill>
            <a:prstDash val="solid"/>
          </a:ln>
        </p:spPr>
      </p:sp>
      <p:sp>
        <p:nvSpPr>
          <p:cNvPr id="137" name="Text 93"/>
          <p:cNvSpPr/>
          <p:nvPr/>
        </p:nvSpPr>
        <p:spPr>
          <a:xfrm>
            <a:off x="3868039" y="3357372"/>
            <a:ext cx="347472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600M</a:t>
            </a:r>
            <a:endParaRPr lang="en-US" sz="650" dirty="0"/>
          </a:p>
        </p:txBody>
      </p:sp>
      <p:sp>
        <p:nvSpPr>
          <p:cNvPr id="138" name="Shape 94"/>
          <p:cNvSpPr/>
          <p:nvPr/>
        </p:nvSpPr>
        <p:spPr>
          <a:xfrm>
            <a:off x="4407535" y="2333244"/>
            <a:ext cx="3108960" cy="0"/>
          </a:xfrm>
          <a:prstGeom prst="line">
            <a:avLst/>
          </a:prstGeom>
          <a:noFill/>
          <a:ln w="3810">
            <a:solidFill>
              <a:srgbClr val="E8ECF0"/>
            </a:solidFill>
            <a:prstDash val="solid"/>
          </a:ln>
        </p:spPr>
      </p:sp>
      <p:sp>
        <p:nvSpPr>
          <p:cNvPr id="139" name="Text 95"/>
          <p:cNvSpPr/>
          <p:nvPr/>
        </p:nvSpPr>
        <p:spPr>
          <a:xfrm>
            <a:off x="3868039" y="2260092"/>
            <a:ext cx="347472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900M</a:t>
            </a:r>
            <a:endParaRPr lang="en-US" sz="650" dirty="0"/>
          </a:p>
        </p:txBody>
      </p:sp>
      <p:sp>
        <p:nvSpPr>
          <p:cNvPr id="140" name="Shape 96"/>
          <p:cNvSpPr/>
          <p:nvPr/>
        </p:nvSpPr>
        <p:spPr>
          <a:xfrm>
            <a:off x="4407535" y="1554175"/>
            <a:ext cx="3108960" cy="0"/>
          </a:xfrm>
          <a:prstGeom prst="line">
            <a:avLst/>
          </a:prstGeom>
          <a:noFill/>
          <a:ln w="3810">
            <a:solidFill>
              <a:srgbClr val="E8ECF0"/>
            </a:solidFill>
            <a:prstDash val="solid"/>
          </a:ln>
        </p:spPr>
      </p:sp>
      <p:sp>
        <p:nvSpPr>
          <p:cNvPr id="141" name="Text 97"/>
          <p:cNvSpPr/>
          <p:nvPr/>
        </p:nvSpPr>
        <p:spPr>
          <a:xfrm>
            <a:off x="3868039" y="1481023"/>
            <a:ext cx="347472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1113M</a:t>
            </a:r>
            <a:endParaRPr lang="en-US" sz="650" dirty="0"/>
          </a:p>
        </p:txBody>
      </p:sp>
      <p:sp>
        <p:nvSpPr>
          <p:cNvPr id="142" name="Shape 98"/>
          <p:cNvSpPr/>
          <p:nvPr/>
        </p:nvSpPr>
        <p:spPr>
          <a:xfrm>
            <a:off x="4270375" y="1554480"/>
            <a:ext cx="241300" cy="4070985"/>
          </a:xfrm>
          <a:prstGeom prst="rect">
            <a:avLst/>
          </a:prstGeom>
          <a:solidFill>
            <a:srgbClr val="CBD5E0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143" name="Text 99"/>
          <p:cNvSpPr/>
          <p:nvPr/>
        </p:nvSpPr>
        <p:spPr>
          <a:xfrm>
            <a:off x="4194175" y="3498190"/>
            <a:ext cx="38404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1,113</a:t>
            </a:r>
            <a:endParaRPr lang="en-US" sz="750" dirty="0"/>
          </a:p>
        </p:txBody>
      </p:sp>
      <p:sp>
        <p:nvSpPr>
          <p:cNvPr id="144" name="Text 100"/>
          <p:cNvSpPr/>
          <p:nvPr/>
        </p:nvSpPr>
        <p:spPr>
          <a:xfrm>
            <a:off x="4177919" y="5670804"/>
            <a:ext cx="4572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年度</a:t>
            </a:r>
            <a:endParaRPr lang="en-US" sz="650" dirty="0"/>
          </a:p>
          <a:p>
            <a:pPr marL="0" indent="0" algn="ctr">
              <a:buNone/>
            </a:pPr>
            <a:r>
              <a:rPr lang="en-US" sz="6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目标</a:t>
            </a:r>
            <a:endParaRPr lang="en-US" sz="650" dirty="0"/>
          </a:p>
        </p:txBody>
      </p:sp>
      <p:sp>
        <p:nvSpPr>
          <p:cNvPr id="145" name="Shape 101"/>
          <p:cNvSpPr/>
          <p:nvPr/>
        </p:nvSpPr>
        <p:spPr>
          <a:xfrm>
            <a:off x="4654423" y="5625084"/>
            <a:ext cx="91440" cy="0"/>
          </a:xfrm>
          <a:prstGeom prst="line">
            <a:avLst/>
          </a:prstGeom>
          <a:noFill/>
          <a:ln w="5080">
            <a:solidFill>
              <a:srgbClr val="94A3B8"/>
            </a:solidFill>
            <a:prstDash val="sysDot"/>
          </a:ln>
        </p:spPr>
      </p:sp>
      <p:sp>
        <p:nvSpPr>
          <p:cNvPr id="146" name="Shape 102"/>
          <p:cNvSpPr/>
          <p:nvPr/>
        </p:nvSpPr>
        <p:spPr>
          <a:xfrm>
            <a:off x="4563110" y="1554480"/>
            <a:ext cx="241200" cy="610235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47" name="Text 103"/>
          <p:cNvSpPr/>
          <p:nvPr/>
        </p:nvSpPr>
        <p:spPr>
          <a:xfrm>
            <a:off x="4480433" y="1391859"/>
            <a:ext cx="38404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−170</a:t>
            </a:r>
            <a:endParaRPr lang="en-US" sz="750" b="1" dirty="0">
              <a:solidFill>
                <a:srgbClr val="1F3864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48" name="Text 104"/>
          <p:cNvSpPr/>
          <p:nvPr/>
        </p:nvSpPr>
        <p:spPr>
          <a:xfrm>
            <a:off x="4495165" y="5658485"/>
            <a:ext cx="338455" cy="2559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BK</a:t>
            </a:r>
            <a:endParaRPr lang="en-US" sz="650" dirty="0">
              <a:solidFill>
                <a:srgbClr val="374151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  <a:p>
            <a:pPr marL="0" indent="0" algn="ctr">
              <a:buNone/>
            </a:pPr>
            <a:r>
              <a:rPr lang="zh-CN" altLang="en-US" sz="650" dirty="0">
                <a:solidFill>
                  <a:srgbClr val="374151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业务</a:t>
            </a:r>
            <a:endParaRPr lang="en-US" sz="650" dirty="0"/>
          </a:p>
          <a:p>
            <a:pPr marL="0" indent="0" algn="ctr">
              <a:buNone/>
            </a:pPr>
            <a:r>
              <a:rPr lang="en-US" sz="6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批核</a:t>
            </a:r>
            <a:endParaRPr lang="en-US" sz="650" dirty="0"/>
          </a:p>
        </p:txBody>
      </p:sp>
      <p:sp>
        <p:nvSpPr>
          <p:cNvPr id="150" name="Shape 106"/>
          <p:cNvSpPr/>
          <p:nvPr/>
        </p:nvSpPr>
        <p:spPr>
          <a:xfrm>
            <a:off x="4860925" y="2164080"/>
            <a:ext cx="241200" cy="280670"/>
          </a:xfrm>
          <a:prstGeom prst="rect">
            <a:avLst/>
          </a:prstGeom>
          <a:solidFill>
            <a:srgbClr val="1A7A3F"/>
          </a:solidFill>
          <a:ln w="12700">
            <a:solidFill>
              <a:srgbClr val="1A7A3F"/>
            </a:solidFill>
            <a:prstDash val="solid"/>
          </a:ln>
        </p:spPr>
      </p:sp>
      <p:sp>
        <p:nvSpPr>
          <p:cNvPr id="151" name="Text 107"/>
          <p:cNvSpPr/>
          <p:nvPr/>
        </p:nvSpPr>
        <p:spPr>
          <a:xfrm>
            <a:off x="4785106" y="2007352"/>
            <a:ext cx="38404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A7A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−86</a:t>
            </a:r>
            <a:endParaRPr lang="en-US" sz="750" b="1" dirty="0">
              <a:solidFill>
                <a:srgbClr val="1A7A3F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52" name="Text 108"/>
          <p:cNvSpPr/>
          <p:nvPr/>
        </p:nvSpPr>
        <p:spPr>
          <a:xfrm>
            <a:off x="4789805" y="5657850"/>
            <a:ext cx="334645" cy="2559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永明</a:t>
            </a:r>
            <a:endParaRPr lang="en-US" sz="650" dirty="0">
              <a:solidFill>
                <a:srgbClr val="374151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  <a:p>
            <a:pPr marL="0" indent="0" algn="ctr">
              <a:buNone/>
            </a:pPr>
            <a:r>
              <a:rPr lang="en-US" sz="6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经代</a:t>
            </a:r>
            <a:endParaRPr lang="en-US" sz="650" dirty="0"/>
          </a:p>
          <a:p>
            <a:pPr marL="0" indent="0" algn="ctr">
              <a:buNone/>
            </a:pPr>
            <a:r>
              <a:rPr lang="en-US" sz="6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批核</a:t>
            </a:r>
            <a:endParaRPr lang="en-US" sz="650" dirty="0"/>
          </a:p>
        </p:txBody>
      </p:sp>
      <p:sp>
        <p:nvSpPr>
          <p:cNvPr id="313" name="Shape_313"/>
          <p:cNvSpPr/>
          <p:nvPr/>
        </p:nvSpPr>
        <p:spPr>
          <a:xfrm>
            <a:off x="5178425" y="2444750"/>
            <a:ext cx="241200" cy="178435"/>
          </a:xfrm>
          <a:prstGeom prst="rect">
            <a:avLst/>
          </a:prstGeom>
          <a:solidFill>
            <a:srgbClr val="EB954B"/>
          </a:solidFill>
          <a:ln w="9525">
            <a:solidFill>
              <a:srgbClr val="EB954B"/>
            </a:solidFill>
          </a:ln>
        </p:spPr>
      </p:sp>
      <p:sp>
        <p:nvSpPr>
          <p:cNvPr id="155" name="Shape 114"/>
          <p:cNvSpPr/>
          <p:nvPr/>
        </p:nvSpPr>
        <p:spPr>
          <a:xfrm>
            <a:off x="6605905" y="2787015"/>
            <a:ext cx="244475" cy="610235"/>
          </a:xfrm>
          <a:prstGeom prst="rect">
            <a:avLst/>
          </a:prstGeom>
          <a:solidFill>
            <a:srgbClr val="C8890A"/>
          </a:solidFill>
          <a:ln w="12700">
            <a:solidFill>
              <a:srgbClr val="C8890A"/>
            </a:solidFill>
            <a:prstDash val="solid"/>
          </a:ln>
        </p:spPr>
      </p:sp>
      <p:sp>
        <p:nvSpPr>
          <p:cNvPr id="156" name="Text 115"/>
          <p:cNvSpPr/>
          <p:nvPr/>
        </p:nvSpPr>
        <p:spPr>
          <a:xfrm>
            <a:off x="6517767" y="2627579"/>
            <a:ext cx="38404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chemeClr val="accent4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−167</a:t>
            </a:r>
            <a:endParaRPr lang="en-US" sz="750" b="1" dirty="0">
              <a:solidFill>
                <a:schemeClr val="accent4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57" name="Text 116"/>
          <p:cNvSpPr/>
          <p:nvPr/>
        </p:nvSpPr>
        <p:spPr>
          <a:xfrm>
            <a:off x="6577711" y="5660644"/>
            <a:ext cx="4572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未</a:t>
            </a:r>
            <a:endParaRPr lang="en-US" sz="650" dirty="0"/>
          </a:p>
          <a:p>
            <a:pPr marL="0" indent="0" algn="ctr">
              <a:buNone/>
            </a:pPr>
            <a:r>
              <a:rPr lang="en-US" sz="6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批核</a:t>
            </a:r>
            <a:endParaRPr lang="en-US" sz="650" dirty="0"/>
          </a:p>
        </p:txBody>
      </p:sp>
      <p:sp>
        <p:nvSpPr>
          <p:cNvPr id="159" name="Shape 118"/>
          <p:cNvSpPr/>
          <p:nvPr/>
        </p:nvSpPr>
        <p:spPr>
          <a:xfrm>
            <a:off x="6917055" y="3395980"/>
            <a:ext cx="241300" cy="5400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p>
            <a:endParaRPr lang="zh-CN" altLang="en-US"/>
          </a:p>
        </p:txBody>
      </p:sp>
      <p:sp>
        <p:nvSpPr>
          <p:cNvPr id="160" name="Text 119"/>
          <p:cNvSpPr/>
          <p:nvPr/>
        </p:nvSpPr>
        <p:spPr>
          <a:xfrm>
            <a:off x="6850380" y="3273425"/>
            <a:ext cx="349885" cy="1371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2E86C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−4</a:t>
            </a:r>
            <a:endParaRPr lang="en-US" sz="700" dirty="0"/>
          </a:p>
        </p:txBody>
      </p:sp>
      <p:sp>
        <p:nvSpPr>
          <p:cNvPr id="161" name="Text 120"/>
          <p:cNvSpPr/>
          <p:nvPr/>
        </p:nvSpPr>
        <p:spPr>
          <a:xfrm>
            <a:off x="6943090" y="5668010"/>
            <a:ext cx="278130" cy="2559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待</a:t>
            </a:r>
            <a:endParaRPr lang="en-US" sz="650" dirty="0"/>
          </a:p>
          <a:p>
            <a:pPr marL="0" indent="0" algn="ctr">
              <a:buNone/>
            </a:pPr>
            <a:r>
              <a:rPr lang="en-US" sz="6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签</a:t>
            </a:r>
            <a:endParaRPr lang="en-US" sz="650" dirty="0"/>
          </a:p>
        </p:txBody>
      </p:sp>
      <p:sp>
        <p:nvSpPr>
          <p:cNvPr id="162" name="Shape 121"/>
          <p:cNvSpPr/>
          <p:nvPr/>
        </p:nvSpPr>
        <p:spPr>
          <a:xfrm>
            <a:off x="7194550" y="3463290"/>
            <a:ext cx="238760" cy="2162175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63" name="Text 122"/>
          <p:cNvSpPr/>
          <p:nvPr/>
        </p:nvSpPr>
        <p:spPr>
          <a:xfrm>
            <a:off x="7118223" y="4426671"/>
            <a:ext cx="38404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592</a:t>
            </a:r>
            <a:endParaRPr lang="en-US" sz="750" dirty="0"/>
          </a:p>
        </p:txBody>
      </p:sp>
      <p:sp>
        <p:nvSpPr>
          <p:cNvPr id="164" name="Text 123"/>
          <p:cNvSpPr/>
          <p:nvPr/>
        </p:nvSpPr>
        <p:spPr>
          <a:xfrm>
            <a:off x="7081647" y="5670804"/>
            <a:ext cx="4572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altLang="en-US" sz="6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预估</a:t>
            </a:r>
            <a:endParaRPr lang="zh-CN" altLang="en-US" sz="650" dirty="0">
              <a:solidFill>
                <a:srgbClr val="374151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  <a:p>
            <a:pPr marL="0" indent="0" algn="ctr">
              <a:buNone/>
            </a:pPr>
            <a:r>
              <a:rPr lang="en-US" sz="6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缺口</a:t>
            </a:r>
            <a:endParaRPr lang="en-US" sz="650" dirty="0"/>
          </a:p>
        </p:txBody>
      </p:sp>
      <p:sp>
        <p:nvSpPr>
          <p:cNvPr id="165" name="Text 108"/>
          <p:cNvSpPr/>
          <p:nvPr/>
        </p:nvSpPr>
        <p:spPr>
          <a:xfrm>
            <a:off x="5117465" y="5671185"/>
            <a:ext cx="334645" cy="2559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altLang="en-US" sz="650" dirty="0">
                <a:solidFill>
                  <a:srgbClr val="374151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同行</a:t>
            </a:r>
            <a:endParaRPr lang="zh-CN" altLang="en-US" sz="650" dirty="0">
              <a:solidFill>
                <a:srgbClr val="374151"/>
              </a:solidFill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-120"/>
            </a:endParaRPr>
          </a:p>
          <a:p>
            <a:pPr marL="0" indent="0" algn="ctr">
              <a:buNone/>
            </a:pPr>
            <a:r>
              <a:rPr lang="en-US" sz="6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经代</a:t>
            </a:r>
            <a:endParaRPr lang="en-US" sz="650" dirty="0"/>
          </a:p>
          <a:p>
            <a:pPr marL="0" indent="0" algn="ctr">
              <a:buNone/>
            </a:pPr>
            <a:r>
              <a:rPr lang="en-US" sz="6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批核</a:t>
            </a:r>
            <a:endParaRPr lang="en-US" sz="650" dirty="0"/>
          </a:p>
        </p:txBody>
      </p:sp>
      <p:sp>
        <p:nvSpPr>
          <p:cNvPr id="168" name="Text 104"/>
          <p:cNvSpPr/>
          <p:nvPr/>
        </p:nvSpPr>
        <p:spPr>
          <a:xfrm>
            <a:off x="5420995" y="5673090"/>
            <a:ext cx="360045" cy="2559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altLang="en-US" sz="6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天领</a:t>
            </a:r>
            <a:endParaRPr lang="zh-CN" altLang="en-US" sz="650" dirty="0">
              <a:solidFill>
                <a:srgbClr val="374151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  <a:p>
            <a:pPr marL="0" indent="0" algn="ctr">
              <a:buNone/>
            </a:pPr>
            <a:r>
              <a:rPr lang="zh-CN" altLang="en-US" sz="6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业务</a:t>
            </a:r>
            <a:endParaRPr lang="zh-CN" altLang="en-US" sz="650" dirty="0">
              <a:solidFill>
                <a:srgbClr val="374151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  <a:p>
            <a:pPr marL="0" indent="0" algn="ctr">
              <a:buNone/>
            </a:pPr>
            <a:r>
              <a:rPr lang="en-US" sz="6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批核</a:t>
            </a:r>
            <a:endParaRPr lang="en-US" sz="650" dirty="0"/>
          </a:p>
        </p:txBody>
      </p:sp>
      <p:sp>
        <p:nvSpPr>
          <p:cNvPr id="169" name="Text 107"/>
          <p:cNvSpPr/>
          <p:nvPr/>
        </p:nvSpPr>
        <p:spPr>
          <a:xfrm>
            <a:off x="5104765" y="2347595"/>
            <a:ext cx="384175" cy="9715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EB954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−51</a:t>
            </a:r>
            <a:endParaRPr lang="en-US" sz="750" b="1" dirty="0">
              <a:solidFill>
                <a:srgbClr val="EB954B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70" name="Shape_315"/>
          <p:cNvSpPr/>
          <p:nvPr/>
        </p:nvSpPr>
        <p:spPr>
          <a:xfrm>
            <a:off x="5488940" y="2627630"/>
            <a:ext cx="241200" cy="76200"/>
          </a:xfrm>
          <a:prstGeom prst="rect">
            <a:avLst/>
          </a:prstGeom>
          <a:solidFill>
            <a:srgbClr val="5295C3"/>
          </a:solidFill>
          <a:ln w="9525">
            <a:solidFill>
              <a:srgbClr val="2980B9"/>
            </a:solidFill>
          </a:ln>
        </p:spPr>
      </p:sp>
      <p:sp>
        <p:nvSpPr>
          <p:cNvPr id="171" name="Text_314"/>
          <p:cNvSpPr/>
          <p:nvPr/>
        </p:nvSpPr>
        <p:spPr>
          <a:xfrm>
            <a:off x="5525135" y="2457450"/>
            <a:ext cx="249555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750" b="1" dirty="0">
                <a:solidFill>
                  <a:srgbClr val="5295C3"/>
                </a:solidFill>
                <a:cs typeface="+mn-lt"/>
              </a:rPr>
              <a:t>-</a:t>
            </a:r>
            <a:r>
              <a:rPr lang="en-US" altLang="zh-CN" sz="750" b="1" dirty="0">
                <a:solidFill>
                  <a:srgbClr val="5295C3"/>
                </a:solidFill>
                <a:cs typeface="+mn-lt"/>
              </a:rPr>
              <a:t>23</a:t>
            </a:r>
            <a:endParaRPr lang="en-US" altLang="zh-CN" sz="750" b="1" dirty="0">
              <a:solidFill>
                <a:srgbClr val="5295C3"/>
              </a:solidFill>
              <a:cs typeface="+mn-lt"/>
            </a:endParaRPr>
          </a:p>
        </p:txBody>
      </p:sp>
      <p:sp>
        <p:nvSpPr>
          <p:cNvPr id="172" name="Shape_315"/>
          <p:cNvSpPr/>
          <p:nvPr/>
        </p:nvSpPr>
        <p:spPr>
          <a:xfrm>
            <a:off x="5778500" y="2708910"/>
            <a:ext cx="241300" cy="76200"/>
          </a:xfrm>
          <a:prstGeom prst="rect">
            <a:avLst/>
          </a:prstGeom>
          <a:solidFill>
            <a:srgbClr val="7030A0"/>
          </a:solidFill>
          <a:ln w="9525">
            <a:solidFill>
              <a:srgbClr val="7030A0"/>
            </a:solidFill>
          </a:ln>
        </p:spPr>
      </p:sp>
      <p:sp>
        <p:nvSpPr>
          <p:cNvPr id="173" name="Text_314"/>
          <p:cNvSpPr/>
          <p:nvPr/>
        </p:nvSpPr>
        <p:spPr>
          <a:xfrm>
            <a:off x="5805805" y="2548890"/>
            <a:ext cx="249555" cy="1600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750" b="1" dirty="0">
                <a:solidFill>
                  <a:srgbClr val="7030A0"/>
                </a:solidFill>
                <a:cs typeface="+mn-lt"/>
              </a:rPr>
              <a:t>-</a:t>
            </a:r>
            <a:r>
              <a:rPr lang="en-US" altLang="zh-CN" sz="750" b="1" dirty="0">
                <a:solidFill>
                  <a:srgbClr val="7030A0"/>
                </a:solidFill>
                <a:cs typeface="+mn-lt"/>
              </a:rPr>
              <a:t>14</a:t>
            </a:r>
            <a:endParaRPr lang="en-US" altLang="zh-CN" sz="750" b="1" dirty="0">
              <a:solidFill>
                <a:srgbClr val="7030A0"/>
              </a:solidFill>
              <a:cs typeface="+mn-lt"/>
            </a:endParaRPr>
          </a:p>
        </p:txBody>
      </p:sp>
      <p:sp>
        <p:nvSpPr>
          <p:cNvPr id="175" name="Text 104"/>
          <p:cNvSpPr/>
          <p:nvPr/>
        </p:nvSpPr>
        <p:spPr>
          <a:xfrm>
            <a:off x="5738495" y="5668010"/>
            <a:ext cx="360045" cy="2559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altLang="zh-CN" sz="6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ICLUB</a:t>
            </a:r>
            <a:endParaRPr lang="en-US" altLang="zh-CN" sz="650" dirty="0">
              <a:solidFill>
                <a:srgbClr val="374151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  <a:p>
            <a:pPr marL="0" indent="0" algn="ctr">
              <a:buNone/>
            </a:pPr>
            <a:r>
              <a:rPr lang="en-US" sz="6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批核</a:t>
            </a:r>
            <a:endParaRPr lang="en-US" sz="650" dirty="0"/>
          </a:p>
        </p:txBody>
      </p:sp>
      <p:sp>
        <p:nvSpPr>
          <p:cNvPr id="176" name="Text 104"/>
          <p:cNvSpPr/>
          <p:nvPr/>
        </p:nvSpPr>
        <p:spPr>
          <a:xfrm>
            <a:off x="5946775" y="5683250"/>
            <a:ext cx="360045" cy="2559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zh-CN" altLang="en-US" sz="650" dirty="0">
              <a:solidFill>
                <a:srgbClr val="374151"/>
              </a:solidFill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-120"/>
            </a:endParaRPr>
          </a:p>
          <a:p>
            <a:pPr marL="0" indent="0" algn="ctr">
              <a:buNone/>
            </a:pPr>
            <a:endParaRPr lang="zh-CN" altLang="en-US" sz="650" dirty="0">
              <a:solidFill>
                <a:srgbClr val="374151"/>
              </a:solidFill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-120"/>
            </a:endParaRPr>
          </a:p>
          <a:p>
            <a:pPr marL="0" indent="0" algn="ctr">
              <a:buNone/>
            </a:pPr>
            <a:endParaRPr lang="zh-CN" altLang="en-US" sz="650" dirty="0">
              <a:solidFill>
                <a:srgbClr val="374151"/>
              </a:solidFill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-120"/>
            </a:endParaRPr>
          </a:p>
        </p:txBody>
      </p:sp>
      <p:sp>
        <p:nvSpPr>
          <p:cNvPr id="177" name="Shape_315"/>
          <p:cNvSpPr/>
          <p:nvPr/>
        </p:nvSpPr>
        <p:spPr>
          <a:xfrm>
            <a:off x="6337300" y="2792730"/>
            <a:ext cx="241300" cy="36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9525">
            <a:solidFill>
              <a:schemeClr val="accent6">
                <a:lumMod val="60000"/>
                <a:lumOff val="40000"/>
              </a:schemeClr>
            </a:solidFill>
          </a:ln>
        </p:spPr>
      </p:sp>
      <p:sp>
        <p:nvSpPr>
          <p:cNvPr id="178" name="Text_314"/>
          <p:cNvSpPr/>
          <p:nvPr/>
        </p:nvSpPr>
        <p:spPr>
          <a:xfrm>
            <a:off x="6356985" y="2668270"/>
            <a:ext cx="249555" cy="1333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750" b="1" dirty="0">
                <a:solidFill>
                  <a:schemeClr val="accent6">
                    <a:lumMod val="60000"/>
                    <a:lumOff val="40000"/>
                  </a:schemeClr>
                </a:solidFill>
                <a:cs typeface="+mn-lt"/>
              </a:rPr>
              <a:t>-</a:t>
            </a:r>
            <a:r>
              <a:rPr lang="en-US" sz="750" b="1" dirty="0">
                <a:solidFill>
                  <a:schemeClr val="accent6">
                    <a:lumMod val="60000"/>
                    <a:lumOff val="40000"/>
                  </a:schemeClr>
                </a:solidFill>
                <a:cs typeface="+mn-lt"/>
              </a:rPr>
              <a:t>2</a:t>
            </a:r>
            <a:endParaRPr lang="en-US" sz="750" b="1" dirty="0">
              <a:solidFill>
                <a:schemeClr val="accent6">
                  <a:lumMod val="60000"/>
                  <a:lumOff val="40000"/>
                </a:schemeClr>
              </a:solidFill>
              <a:cs typeface="+mn-lt"/>
            </a:endParaRPr>
          </a:p>
        </p:txBody>
      </p:sp>
      <p:sp>
        <p:nvSpPr>
          <p:cNvPr id="180" name="Text 104"/>
          <p:cNvSpPr/>
          <p:nvPr/>
        </p:nvSpPr>
        <p:spPr>
          <a:xfrm>
            <a:off x="6311900" y="5673090"/>
            <a:ext cx="360045" cy="2559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altLang="en-US" sz="650" dirty="0">
                <a:solidFill>
                  <a:srgbClr val="374151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成事</a:t>
            </a:r>
            <a:endParaRPr lang="zh-CN" altLang="en-US" sz="650" dirty="0">
              <a:solidFill>
                <a:srgbClr val="374151"/>
              </a:solidFill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-120"/>
            </a:endParaRPr>
          </a:p>
          <a:p>
            <a:pPr marL="0" indent="0" algn="ctr">
              <a:buNone/>
            </a:pPr>
            <a:r>
              <a:rPr lang="zh-CN" altLang="en-US" sz="650" dirty="0">
                <a:solidFill>
                  <a:srgbClr val="374151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家办</a:t>
            </a:r>
            <a:endParaRPr lang="zh-CN" altLang="en-US" sz="650" dirty="0">
              <a:solidFill>
                <a:srgbClr val="374151"/>
              </a:solidFill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-120"/>
            </a:endParaRPr>
          </a:p>
          <a:p>
            <a:pPr marL="0" indent="0" algn="ctr">
              <a:buNone/>
            </a:pPr>
            <a:r>
              <a:rPr lang="en-US" sz="6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批核</a:t>
            </a:r>
            <a:endParaRPr lang="en-US" sz="650" dirty="0"/>
          </a:p>
        </p:txBody>
      </p:sp>
      <p:sp>
        <p:nvSpPr>
          <p:cNvPr id="182" name="Shape_315"/>
          <p:cNvSpPr/>
          <p:nvPr/>
        </p:nvSpPr>
        <p:spPr>
          <a:xfrm flipV="1">
            <a:off x="6057900" y="2795270"/>
            <a:ext cx="241300" cy="3600"/>
          </a:xfrm>
          <a:prstGeom prst="rect">
            <a:avLst/>
          </a:prstGeom>
          <a:solidFill>
            <a:srgbClr val="C0392B"/>
          </a:solidFill>
          <a:ln w="9525">
            <a:solidFill>
              <a:srgbClr val="C0392B"/>
            </a:solidFill>
          </a:ln>
        </p:spPr>
      </p:sp>
      <p:sp>
        <p:nvSpPr>
          <p:cNvPr id="183" name="Text_314"/>
          <p:cNvSpPr/>
          <p:nvPr/>
        </p:nvSpPr>
        <p:spPr>
          <a:xfrm>
            <a:off x="6128385" y="2637790"/>
            <a:ext cx="249555" cy="139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750" b="1" dirty="0">
                <a:solidFill>
                  <a:srgbClr val="C00000"/>
                </a:solidFill>
                <a:cs typeface="+mn-lt"/>
              </a:rPr>
              <a:t>-</a:t>
            </a:r>
            <a:r>
              <a:rPr lang="en-US" sz="750" b="1" dirty="0">
                <a:solidFill>
                  <a:srgbClr val="C00000"/>
                </a:solidFill>
                <a:cs typeface="+mn-lt"/>
              </a:rPr>
              <a:t>2</a:t>
            </a:r>
            <a:endParaRPr lang="en-US" sz="750" b="1" dirty="0">
              <a:solidFill>
                <a:srgbClr val="C00000"/>
              </a:solidFill>
              <a:cs typeface="+mn-lt"/>
            </a:endParaRPr>
          </a:p>
        </p:txBody>
      </p:sp>
      <p:sp>
        <p:nvSpPr>
          <p:cNvPr id="185" name="Text 104"/>
          <p:cNvSpPr/>
          <p:nvPr/>
        </p:nvSpPr>
        <p:spPr>
          <a:xfrm>
            <a:off x="6007100" y="5662930"/>
            <a:ext cx="360045" cy="2559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altLang="en-US" sz="650" dirty="0">
                <a:solidFill>
                  <a:srgbClr val="374151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合伙</a:t>
            </a:r>
            <a:endParaRPr lang="zh-CN" altLang="en-US" sz="650" dirty="0">
              <a:solidFill>
                <a:srgbClr val="374151"/>
              </a:solidFill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-120"/>
            </a:endParaRPr>
          </a:p>
          <a:p>
            <a:pPr marL="0" indent="0" algn="ctr">
              <a:buNone/>
            </a:pPr>
            <a:r>
              <a:rPr lang="zh-CN" altLang="en-US" sz="650" dirty="0">
                <a:solidFill>
                  <a:srgbClr val="374151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转介</a:t>
            </a:r>
            <a:endParaRPr lang="zh-CN" altLang="en-US" sz="650" dirty="0">
              <a:solidFill>
                <a:srgbClr val="374151"/>
              </a:solidFill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-120"/>
            </a:endParaRPr>
          </a:p>
          <a:p>
            <a:pPr marL="0" indent="0" algn="ctr">
              <a:buNone/>
            </a:pPr>
            <a:r>
              <a:rPr lang="en-US" sz="6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批核</a:t>
            </a:r>
            <a:endParaRPr lang="en-US" sz="650" dirty="0"/>
          </a:p>
        </p:txBody>
      </p:sp>
      <p:sp>
        <p:nvSpPr>
          <p:cNvPr id="9002" name="s9002"/>
          <p:cNvSpPr/>
          <p:nvPr/>
        </p:nvSpPr>
        <p:spPr>
          <a:xfrm>
            <a:off x="7700450" y="992604"/>
            <a:ext cx="4323220" cy="255006"/>
          </a:xfrm>
          <a:prstGeom prst="rect">
            <a:avLst/>
          </a:prstGeom>
          <a:solidFill>
            <a:srgbClr val="1F3864"/>
          </a:solidFill>
          <a:ln>
            <a:noFill/>
          </a:ln>
        </p:spPr>
      </p:sp>
      <p:sp>
        <p:nvSpPr>
          <p:cNvPr id="9003" name="s9003"/>
          <p:cNvSpPr/>
          <p:nvPr/>
        </p:nvSpPr>
        <p:spPr>
          <a:xfrm>
            <a:off x="7700450" y="992604"/>
            <a:ext cx="5484" cy="255006"/>
          </a:xfrm>
          <a:prstGeom prst="rect">
            <a:avLst/>
          </a:prstGeom>
          <a:solidFill>
            <a:srgbClr val="C0392B"/>
          </a:solidFill>
          <a:ln>
            <a:noFill/>
          </a:ln>
        </p:spPr>
      </p:sp>
      <p:sp>
        <p:nvSpPr>
          <p:cNvPr id="9004" name="s9004"/>
          <p:cNvSpPr/>
          <p:nvPr/>
        </p:nvSpPr>
        <p:spPr>
          <a:xfrm>
            <a:off x="7774052" y="992604"/>
            <a:ext cx="4295800" cy="25500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altLang="zh-CN" sz="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</a:rPr>
              <a:t>I</a:t>
            </a:r>
            <a:r>
              <a:rPr lang="zh-CN" sz="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</a:rPr>
              <a:t>  业务线月度三线趋势 — 预约 / 签单 / 批核（APE in M，Jan–Mar 2026）</a:t>
            </a:r>
            <a:endParaRPr lang="zh-CN" sz="900" b="1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-122"/>
            </a:endParaRPr>
          </a:p>
        </p:txBody>
      </p:sp>
      <p:sp>
        <p:nvSpPr>
          <p:cNvPr id="9090" name="ld0"/>
          <p:cNvSpPr/>
          <p:nvPr/>
        </p:nvSpPr>
        <p:spPr>
          <a:xfrm>
            <a:off x="10232480" y="6143402"/>
            <a:ext cx="36560" cy="36560"/>
          </a:xfrm>
          <a:prstGeom prst="ellipse">
            <a:avLst/>
          </a:prstGeom>
          <a:solidFill>
            <a:srgbClr val="2980B9"/>
          </a:solidFill>
          <a:ln>
            <a:noFill/>
          </a:ln>
        </p:spPr>
      </p:sp>
      <p:sp>
        <p:nvSpPr>
          <p:cNvPr id="9093" name="lt0"/>
          <p:cNvSpPr/>
          <p:nvPr/>
        </p:nvSpPr>
        <p:spPr>
          <a:xfrm>
            <a:off x="10287705" y="6096162"/>
            <a:ext cx="475280" cy="5027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800" b="1" dirty="0">
                <a:solidFill>
                  <a:srgbClr val="2980B9"/>
                </a:solidFill>
                <a:latin typeface="Calibri" panose="020F0502020204030204" pitchFamily="34" charset="0"/>
                <a:ea typeface="Calibri" panose="020F0502020204030204" pitchFamily="34" charset="-122"/>
              </a:rPr>
              <a:t>预约</a:t>
            </a:r>
            <a:endParaRPr lang="zh-CN" sz="800" b="1" dirty="0">
              <a:solidFill>
                <a:srgbClr val="2980B9"/>
              </a:solidFill>
              <a:latin typeface="Calibri" panose="020F0502020204030204" pitchFamily="34" charset="0"/>
              <a:ea typeface="Calibri" panose="020F0502020204030204" pitchFamily="34" charset="-122"/>
            </a:endParaRPr>
          </a:p>
        </p:txBody>
      </p:sp>
      <p:sp>
        <p:nvSpPr>
          <p:cNvPr id="9091" name="ld1"/>
          <p:cNvSpPr/>
          <p:nvPr/>
        </p:nvSpPr>
        <p:spPr>
          <a:xfrm>
            <a:off x="10780880" y="6143402"/>
            <a:ext cx="36560" cy="36560"/>
          </a:xfrm>
          <a:prstGeom prst="ellipse">
            <a:avLst/>
          </a:prstGeom>
          <a:solidFill>
            <a:srgbClr val="1A7A3F"/>
          </a:solidFill>
          <a:ln>
            <a:noFill/>
          </a:ln>
        </p:spPr>
      </p:sp>
      <p:sp>
        <p:nvSpPr>
          <p:cNvPr id="9094" name="lt1"/>
          <p:cNvSpPr/>
          <p:nvPr/>
        </p:nvSpPr>
        <p:spPr>
          <a:xfrm>
            <a:off x="10836105" y="6096162"/>
            <a:ext cx="475280" cy="5027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800" b="1" dirty="0">
                <a:solidFill>
                  <a:srgbClr val="1A7A3F"/>
                </a:solidFill>
                <a:latin typeface="Calibri" panose="020F0502020204030204" pitchFamily="34" charset="0"/>
                <a:ea typeface="Calibri" panose="020F0502020204030204" pitchFamily="34" charset="-122"/>
              </a:rPr>
              <a:t>签单</a:t>
            </a:r>
            <a:endParaRPr lang="zh-CN" sz="800" b="1" dirty="0">
              <a:solidFill>
                <a:srgbClr val="1A7A3F"/>
              </a:solidFill>
              <a:latin typeface="Calibri" panose="020F0502020204030204" pitchFamily="34" charset="0"/>
              <a:ea typeface="Calibri" panose="020F0502020204030204" pitchFamily="34" charset="-122"/>
            </a:endParaRPr>
          </a:p>
        </p:txBody>
      </p:sp>
      <p:sp>
        <p:nvSpPr>
          <p:cNvPr id="9092" name="ld2"/>
          <p:cNvSpPr/>
          <p:nvPr/>
        </p:nvSpPr>
        <p:spPr>
          <a:xfrm>
            <a:off x="11329280" y="6143402"/>
            <a:ext cx="36560" cy="36560"/>
          </a:xfrm>
          <a:prstGeom prst="ellipse">
            <a:avLst/>
          </a:prstGeom>
          <a:solidFill>
            <a:srgbClr val="C0392B"/>
          </a:solidFill>
          <a:ln>
            <a:noFill/>
          </a:ln>
        </p:spPr>
      </p:sp>
      <p:sp>
        <p:nvSpPr>
          <p:cNvPr id="9095" name="lt2"/>
          <p:cNvSpPr/>
          <p:nvPr/>
        </p:nvSpPr>
        <p:spPr>
          <a:xfrm>
            <a:off x="11384505" y="6096162"/>
            <a:ext cx="475280" cy="5027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800" b="1" dirty="0">
                <a:solidFill>
                  <a:srgbClr val="C0392B"/>
                </a:solidFill>
                <a:latin typeface="Calibri" panose="020F0502020204030204" pitchFamily="34" charset="0"/>
                <a:ea typeface="Calibri" panose="020F0502020204030204" pitchFamily="34" charset="-122"/>
              </a:rPr>
              <a:t>批核</a:t>
            </a:r>
            <a:endParaRPr lang="zh-CN" sz="800" b="1" dirty="0">
              <a:solidFill>
                <a:srgbClr val="C0392B"/>
              </a:solidFill>
              <a:latin typeface="Calibri" panose="020F0502020204030204" pitchFamily="34" charset="0"/>
              <a:ea typeface="Calibri" panose="020F0502020204030204" pitchFamily="34" charset="-122"/>
            </a:endParaRPr>
          </a:p>
        </p:txBody>
      </p:sp>
      <p:sp>
        <p:nvSpPr>
          <p:cNvPr id="9010" name="s9010"/>
          <p:cNvSpPr/>
          <p:nvPr/>
        </p:nvSpPr>
        <p:spPr>
          <a:xfrm>
            <a:off x="7750335" y="1287826"/>
            <a:ext cx="2072038" cy="12064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</p:sp>
      <p:sp>
        <p:nvSpPr>
          <p:cNvPr id="9012" name="s9012"/>
          <p:cNvSpPr/>
          <p:nvPr/>
        </p:nvSpPr>
        <p:spPr>
          <a:xfrm>
            <a:off x="7759475" y="1296966"/>
            <a:ext cx="2053758" cy="146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850" b="1" dirty="0">
                <a:solidFill>
                  <a:srgbClr val="5295C3"/>
                </a:solidFill>
                <a:latin typeface="Calibri" panose="020F0502020204030204" pitchFamily="34" charset="0"/>
                <a:ea typeface="Calibri" panose="020F0502020204030204" pitchFamily="34" charset="-122"/>
              </a:rPr>
              <a:t>天领业务</a:t>
            </a:r>
            <a:endParaRPr lang="zh-CN" sz="850" b="1" dirty="0">
              <a:solidFill>
                <a:srgbClr val="5295C3"/>
              </a:solidFill>
              <a:latin typeface="Calibri" panose="020F0502020204030204" pitchFamily="34" charset="0"/>
              <a:ea typeface="Calibri" panose="020F0502020204030204" pitchFamily="34" charset="-122"/>
            </a:endParaRPr>
          </a:p>
        </p:txBody>
      </p:sp>
      <p:graphicFrame>
        <p:nvGraphicFramePr>
          <p:cNvPr id="9013" name="C9013"/>
          <p:cNvGraphicFramePr>
            <a:graphicFrameLocks noGrp="1"/>
          </p:cNvGraphicFramePr>
          <p:nvPr/>
        </p:nvGraphicFramePr>
        <p:xfrm>
          <a:off x="7750175" y="1447800"/>
          <a:ext cx="2072005" cy="9620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9014" name="s9014"/>
          <p:cNvSpPr/>
          <p:nvPr/>
        </p:nvSpPr>
        <p:spPr>
          <a:xfrm>
            <a:off x="9881783" y="1287826"/>
            <a:ext cx="2072038" cy="12064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</p:sp>
      <p:sp>
        <p:nvSpPr>
          <p:cNvPr id="9016" name="s9016"/>
          <p:cNvSpPr/>
          <p:nvPr/>
        </p:nvSpPr>
        <p:spPr>
          <a:xfrm>
            <a:off x="9890923" y="1296966"/>
            <a:ext cx="2053758" cy="146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850" b="1" dirty="0">
                <a:solidFill>
                  <a:srgbClr val="16A085"/>
                </a:solidFill>
                <a:latin typeface="Calibri" panose="020F0502020204030204" pitchFamily="34" charset="0"/>
                <a:ea typeface="Calibri" panose="020F0502020204030204" pitchFamily="34" charset="-122"/>
              </a:rPr>
              <a:t>成事家办</a:t>
            </a:r>
            <a:endParaRPr lang="zh-CN" sz="850" b="1" dirty="0">
              <a:solidFill>
                <a:srgbClr val="16A085"/>
              </a:solidFill>
              <a:latin typeface="Calibri" panose="020F0502020204030204" pitchFamily="34" charset="0"/>
              <a:ea typeface="Calibri" panose="020F0502020204030204" pitchFamily="34" charset="-122"/>
            </a:endParaRPr>
          </a:p>
        </p:txBody>
      </p:sp>
      <p:graphicFrame>
        <p:nvGraphicFramePr>
          <p:cNvPr id="9017" name="C9017"/>
          <p:cNvGraphicFramePr>
            <a:graphicFrameLocks noGrp="1"/>
          </p:cNvGraphicFramePr>
          <p:nvPr/>
        </p:nvGraphicFramePr>
        <p:xfrm>
          <a:off x="9881870" y="1447800"/>
          <a:ext cx="2072005" cy="10223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9018" name="s9018"/>
          <p:cNvSpPr/>
          <p:nvPr/>
        </p:nvSpPr>
        <p:spPr>
          <a:xfrm>
            <a:off x="7759860" y="2524997"/>
            <a:ext cx="2072038" cy="12064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</p:sp>
      <p:sp>
        <p:nvSpPr>
          <p:cNvPr id="9020" name="s9020"/>
          <p:cNvSpPr/>
          <p:nvPr/>
        </p:nvSpPr>
        <p:spPr>
          <a:xfrm>
            <a:off x="7769000" y="2534137"/>
            <a:ext cx="2053758" cy="146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850" b="1" dirty="0">
                <a:solidFill>
                  <a:srgbClr val="1A7A3F"/>
                </a:solidFill>
                <a:latin typeface="Calibri" panose="020F0502020204030204" pitchFamily="34" charset="0"/>
                <a:ea typeface="Calibri" panose="020F0502020204030204" pitchFamily="34" charset="-122"/>
              </a:rPr>
              <a:t>BK业务</a:t>
            </a:r>
            <a:endParaRPr lang="zh-CN" sz="850" b="1" dirty="0">
              <a:solidFill>
                <a:srgbClr val="1A7A3F"/>
              </a:solidFill>
              <a:latin typeface="Calibri" panose="020F0502020204030204" pitchFamily="34" charset="0"/>
              <a:ea typeface="Calibri" panose="020F0502020204030204" pitchFamily="34" charset="-122"/>
            </a:endParaRPr>
          </a:p>
        </p:txBody>
      </p:sp>
      <p:graphicFrame>
        <p:nvGraphicFramePr>
          <p:cNvPr id="9021" name="C9021"/>
          <p:cNvGraphicFramePr>
            <a:graphicFrameLocks noGrp="1"/>
          </p:cNvGraphicFramePr>
          <p:nvPr/>
        </p:nvGraphicFramePr>
        <p:xfrm>
          <a:off x="7759700" y="2684780"/>
          <a:ext cx="2072005" cy="100393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022" name="s9022"/>
          <p:cNvSpPr/>
          <p:nvPr/>
        </p:nvSpPr>
        <p:spPr>
          <a:xfrm>
            <a:off x="9891308" y="2524997"/>
            <a:ext cx="2072038" cy="12064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</p:sp>
      <p:sp>
        <p:nvSpPr>
          <p:cNvPr id="9024" name="s9024"/>
          <p:cNvSpPr/>
          <p:nvPr/>
        </p:nvSpPr>
        <p:spPr>
          <a:xfrm>
            <a:off x="9900448" y="2534137"/>
            <a:ext cx="2053758" cy="146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850" b="1" dirty="0">
                <a:solidFill>
                  <a:srgbClr val="E67E22"/>
                </a:solidFill>
                <a:latin typeface="Calibri" panose="020F0502020204030204" pitchFamily="34" charset="0"/>
                <a:ea typeface="Calibri" panose="020F0502020204030204" pitchFamily="34" charset="-122"/>
              </a:rPr>
              <a:t>同行经代</a:t>
            </a:r>
            <a:endParaRPr lang="zh-CN" sz="850" b="1" dirty="0">
              <a:solidFill>
                <a:srgbClr val="E67E22"/>
              </a:solidFill>
              <a:latin typeface="Calibri" panose="020F0502020204030204" pitchFamily="34" charset="0"/>
              <a:ea typeface="Calibri" panose="020F0502020204030204" pitchFamily="34" charset="-122"/>
            </a:endParaRPr>
          </a:p>
        </p:txBody>
      </p:sp>
      <p:graphicFrame>
        <p:nvGraphicFramePr>
          <p:cNvPr id="9025" name="C9025"/>
          <p:cNvGraphicFramePr>
            <a:graphicFrameLocks noGrp="1"/>
          </p:cNvGraphicFramePr>
          <p:nvPr/>
        </p:nvGraphicFramePr>
        <p:xfrm>
          <a:off x="9891395" y="2684780"/>
          <a:ext cx="2072005" cy="100393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9026" name="s9026"/>
          <p:cNvSpPr/>
          <p:nvPr/>
        </p:nvSpPr>
        <p:spPr>
          <a:xfrm>
            <a:off x="7759860" y="3781218"/>
            <a:ext cx="2072038" cy="12064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</p:sp>
      <p:sp>
        <p:nvSpPr>
          <p:cNvPr id="9028" name="s9028"/>
          <p:cNvSpPr/>
          <p:nvPr/>
        </p:nvSpPr>
        <p:spPr>
          <a:xfrm>
            <a:off x="7769000" y="3790358"/>
            <a:ext cx="2053758" cy="146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850" b="1" dirty="0">
                <a:solidFill>
                  <a:srgbClr val="2980B9"/>
                </a:solidFill>
                <a:latin typeface="Calibri" panose="020F0502020204030204" pitchFamily="34" charset="0"/>
                <a:ea typeface="Calibri" panose="020F0502020204030204" pitchFamily="34" charset="-122"/>
              </a:rPr>
              <a:t>永明经代</a:t>
            </a:r>
            <a:endParaRPr lang="zh-CN" sz="850" b="1" dirty="0">
              <a:solidFill>
                <a:srgbClr val="2980B9"/>
              </a:solidFill>
              <a:latin typeface="Calibri" panose="020F0502020204030204" pitchFamily="34" charset="0"/>
              <a:ea typeface="Calibri" panose="020F0502020204030204" pitchFamily="34" charset="-122"/>
            </a:endParaRPr>
          </a:p>
        </p:txBody>
      </p:sp>
      <p:graphicFrame>
        <p:nvGraphicFramePr>
          <p:cNvPr id="9029" name="C9029"/>
          <p:cNvGraphicFramePr>
            <a:graphicFrameLocks noGrp="1"/>
          </p:cNvGraphicFramePr>
          <p:nvPr/>
        </p:nvGraphicFramePr>
        <p:xfrm>
          <a:off x="7759860" y="3941168"/>
          <a:ext cx="2072038" cy="104653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9030" name="s9030"/>
          <p:cNvSpPr/>
          <p:nvPr/>
        </p:nvSpPr>
        <p:spPr>
          <a:xfrm>
            <a:off x="9891308" y="3781218"/>
            <a:ext cx="2072038" cy="12064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</p:sp>
      <p:sp>
        <p:nvSpPr>
          <p:cNvPr id="9032" name="s9032"/>
          <p:cNvSpPr/>
          <p:nvPr/>
        </p:nvSpPr>
        <p:spPr>
          <a:xfrm>
            <a:off x="9900448" y="3790358"/>
            <a:ext cx="2053758" cy="146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850" b="1" dirty="0">
                <a:solidFill>
                  <a:srgbClr val="EB954B"/>
                </a:solidFill>
                <a:latin typeface="Calibri" panose="020F0502020204030204" pitchFamily="34" charset="0"/>
                <a:ea typeface="Calibri" panose="020F0502020204030204" pitchFamily="34" charset="-122"/>
              </a:rPr>
              <a:t>合伙转介</a:t>
            </a:r>
            <a:endParaRPr lang="zh-CN" sz="850" b="1" dirty="0">
              <a:solidFill>
                <a:srgbClr val="EB954B"/>
              </a:solidFill>
              <a:latin typeface="Calibri" panose="020F0502020204030204" pitchFamily="34" charset="0"/>
              <a:ea typeface="Calibri" panose="020F0502020204030204" pitchFamily="34" charset="-122"/>
            </a:endParaRPr>
          </a:p>
        </p:txBody>
      </p:sp>
      <p:graphicFrame>
        <p:nvGraphicFramePr>
          <p:cNvPr id="9033" name="C9033"/>
          <p:cNvGraphicFramePr>
            <a:graphicFrameLocks noGrp="1"/>
          </p:cNvGraphicFramePr>
          <p:nvPr/>
        </p:nvGraphicFramePr>
        <p:xfrm>
          <a:off x="9891308" y="3941168"/>
          <a:ext cx="2072038" cy="104653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9034" name="s9034"/>
          <p:cNvSpPr/>
          <p:nvPr/>
        </p:nvSpPr>
        <p:spPr>
          <a:xfrm>
            <a:off x="7759860" y="5027914"/>
            <a:ext cx="2072038" cy="12064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</p:sp>
      <p:sp>
        <p:nvSpPr>
          <p:cNvPr id="9036" name="s9036"/>
          <p:cNvSpPr/>
          <p:nvPr/>
        </p:nvSpPr>
        <p:spPr>
          <a:xfrm>
            <a:off x="7769000" y="5037054"/>
            <a:ext cx="2053758" cy="146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950" b="1" dirty="0">
                <a:solidFill>
                  <a:srgbClr val="7030A0"/>
                </a:solidFill>
                <a:latin typeface="Calibri" panose="020F0502020204030204" pitchFamily="34" charset="0"/>
                <a:ea typeface="Calibri" panose="020F0502020204030204" pitchFamily="34" charset="-122"/>
              </a:rPr>
              <a:t>ICLUB业务</a:t>
            </a:r>
            <a:endParaRPr lang="zh-CN" sz="950" b="1" dirty="0">
              <a:solidFill>
                <a:srgbClr val="7030A0"/>
              </a:solidFill>
              <a:latin typeface="Calibri" panose="020F0502020204030204" pitchFamily="34" charset="0"/>
              <a:ea typeface="Calibri" panose="020F0502020204030204" pitchFamily="34" charset="-122"/>
            </a:endParaRPr>
          </a:p>
        </p:txBody>
      </p:sp>
      <p:graphicFrame>
        <p:nvGraphicFramePr>
          <p:cNvPr id="9037" name="C9037"/>
          <p:cNvGraphicFramePr>
            <a:graphicFrameLocks noGrp="1"/>
          </p:cNvGraphicFramePr>
          <p:nvPr/>
        </p:nvGraphicFramePr>
        <p:xfrm>
          <a:off x="7759860" y="5187864"/>
          <a:ext cx="2072038" cy="104653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sp>
        <p:nvSpPr>
          <p:cNvPr id="26" name="Shape 126"/>
          <p:cNvSpPr/>
          <p:nvPr/>
        </p:nvSpPr>
        <p:spPr>
          <a:xfrm>
            <a:off x="7700010" y="6308725"/>
            <a:ext cx="4323715" cy="375920"/>
          </a:xfrm>
          <a:prstGeom prst="rect">
            <a:avLst/>
          </a:prstGeom>
          <a:solidFill>
            <a:srgbClr val="EEF2FF"/>
          </a:solidFill>
          <a:ln w="6350">
            <a:solidFill>
              <a:srgbClr val="C5CEE8"/>
            </a:solidFill>
            <a:prstDash val="solid"/>
          </a:ln>
        </p:spPr>
        <p:txBody>
          <a:bodyPr/>
          <a:p>
            <a:endParaRPr lang="zh-CN" altLang="en-US"/>
          </a:p>
        </p:txBody>
      </p:sp>
      <p:sp>
        <p:nvSpPr>
          <p:cNvPr id="27" name="Shape 127"/>
          <p:cNvSpPr/>
          <p:nvPr/>
        </p:nvSpPr>
        <p:spPr>
          <a:xfrm flipV="1">
            <a:off x="7709535" y="6313805"/>
            <a:ext cx="4298315" cy="324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p>
            <a:endParaRPr lang="zh-CN" altLang="en-US"/>
          </a:p>
        </p:txBody>
      </p:sp>
      <p:sp>
        <p:nvSpPr>
          <p:cNvPr id="29" name="Text 128"/>
          <p:cNvSpPr/>
          <p:nvPr/>
        </p:nvSpPr>
        <p:spPr>
          <a:xfrm>
            <a:off x="7820025" y="6336030"/>
            <a:ext cx="3672840" cy="13779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 What：</a:t>
            </a:r>
            <a:endParaRPr lang="en-US" sz="550" dirty="0"/>
          </a:p>
        </p:txBody>
      </p:sp>
      <p:sp>
        <p:nvSpPr>
          <p:cNvPr id="30" name="Text 129"/>
          <p:cNvSpPr/>
          <p:nvPr/>
        </p:nvSpPr>
        <p:spPr>
          <a:xfrm>
            <a:off x="7802880" y="6452235"/>
            <a:ext cx="4047490" cy="2025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5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sym typeface="+mn-ea"/>
              </a:rPr>
              <a:t>永明经代：预约↑持续放量，3月达32.6M，前端动能最强；</a:t>
            </a:r>
            <a:r>
              <a:rPr lang="en-US" altLang="zh-CN" sz="5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sym typeface="+mn-ea"/>
              </a:rPr>
              <a:t>BK</a:t>
            </a:r>
            <a:r>
              <a:rPr lang="zh-CN" altLang="en-US" sz="550" dirty="0">
                <a:solidFill>
                  <a:srgbClr val="374151"/>
                </a:solidFill>
                <a:latin typeface="Calibri" panose="020F0502020204030204" pitchFamily="34" charset="0"/>
                <a:ea typeface="宋体" panose="02010600030101010101" pitchFamily="2" charset="-122"/>
                <a:sym typeface="+mn-ea"/>
              </a:rPr>
              <a:t>业务：</a:t>
            </a:r>
            <a:r>
              <a:rPr lang="zh-CN" sz="5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sym typeface="+mn-ea"/>
              </a:rPr>
              <a:t>批核</a:t>
            </a:r>
            <a:r>
              <a:rPr lang="en-US" altLang="zh-CN" sz="5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sym typeface="+mn-ea"/>
              </a:rPr>
              <a:t>2</a:t>
            </a:r>
            <a:r>
              <a:rPr lang="zh-CN" altLang="en-US" sz="550" dirty="0">
                <a:solidFill>
                  <a:srgbClr val="374151"/>
                </a:solidFill>
                <a:latin typeface="Calibri" panose="020F0502020204030204" pitchFamily="34" charset="0"/>
                <a:ea typeface="宋体" panose="02010600030101010101" pitchFamily="2" charset="-122"/>
                <a:sym typeface="+mn-ea"/>
              </a:rPr>
              <a:t>月</a:t>
            </a:r>
            <a:r>
              <a:rPr lang="zh-CN" sz="5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sym typeface="+mn-ea"/>
              </a:rPr>
              <a:t>峰93.9M为存量集中放款，</a:t>
            </a:r>
            <a:r>
              <a:rPr lang="en-US" altLang="zh-CN" sz="5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sym typeface="+mn-ea"/>
              </a:rPr>
              <a:t>3</a:t>
            </a:r>
            <a:r>
              <a:rPr lang="zh-CN" altLang="en-US" sz="550" dirty="0">
                <a:solidFill>
                  <a:srgbClr val="374151"/>
                </a:solidFill>
                <a:latin typeface="Calibri" panose="020F0502020204030204" pitchFamily="34" charset="0"/>
                <a:ea typeface="宋体" panose="02010600030101010101" pitchFamily="2" charset="-122"/>
                <a:sym typeface="+mn-ea"/>
              </a:rPr>
              <a:t>月</a:t>
            </a:r>
            <a:r>
              <a:rPr lang="zh-CN" sz="5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sym typeface="+mn-ea"/>
              </a:rPr>
              <a:t>仍56.9M；同行经代：批核</a:t>
            </a:r>
            <a:r>
              <a:rPr lang="en-US" altLang="zh-CN" sz="5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sym typeface="+mn-ea"/>
              </a:rPr>
              <a:t>1</a:t>
            </a:r>
            <a:r>
              <a:rPr lang="zh-CN" altLang="en-US" sz="550" dirty="0">
                <a:solidFill>
                  <a:srgbClr val="374151"/>
                </a:solidFill>
                <a:latin typeface="Calibri" panose="020F0502020204030204" pitchFamily="34" charset="0"/>
                <a:ea typeface="宋体" panose="02010600030101010101" pitchFamily="2" charset="-122"/>
                <a:sym typeface="+mn-ea"/>
              </a:rPr>
              <a:t>月</a:t>
            </a:r>
            <a:r>
              <a:rPr lang="zh-CN" sz="5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sym typeface="+mn-ea"/>
              </a:rPr>
              <a:t>爆发41.8M后断崖收缩，须警惕转化断层；</a:t>
            </a:r>
            <a:r>
              <a:rPr lang="en-US" altLang="zh-CN" sz="5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sym typeface="+mn-ea"/>
              </a:rPr>
              <a:t>ICLUB</a:t>
            </a:r>
            <a:r>
              <a:rPr lang="zh-CN" altLang="en-US" sz="550" dirty="0">
                <a:solidFill>
                  <a:srgbClr val="374151"/>
                </a:solidFill>
                <a:latin typeface="Calibri" panose="020F0502020204030204" pitchFamily="34" charset="0"/>
                <a:ea typeface="宋体" panose="02010600030101010101" pitchFamily="2" charset="-122"/>
                <a:sym typeface="+mn-ea"/>
              </a:rPr>
              <a:t>：</a:t>
            </a:r>
            <a:r>
              <a:rPr lang="zh-CN" sz="5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sym typeface="+mn-ea"/>
              </a:rPr>
              <a:t>三线均在</a:t>
            </a:r>
            <a:r>
              <a:rPr lang="en-US" altLang="zh-CN" sz="5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sym typeface="+mn-ea"/>
              </a:rPr>
              <a:t>2</a:t>
            </a:r>
            <a:r>
              <a:rPr lang="zh-CN" altLang="en-US" sz="550" dirty="0">
                <a:solidFill>
                  <a:srgbClr val="374151"/>
                </a:solidFill>
                <a:latin typeface="Calibri" panose="020F0502020204030204" pitchFamily="34" charset="0"/>
                <a:ea typeface="宋体" panose="02010600030101010101" pitchFamily="2" charset="-122"/>
                <a:sym typeface="+mn-ea"/>
              </a:rPr>
              <a:t>月</a:t>
            </a:r>
            <a:r>
              <a:rPr lang="zh-CN" sz="5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sym typeface="+mn-ea"/>
              </a:rPr>
              <a:t>形成双峰，脉冲式大单渠道</a:t>
            </a:r>
            <a:endParaRPr lang="en-US" sz="5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Shape 130"/>
          <p:cNvSpPr/>
          <p:nvPr/>
        </p:nvSpPr>
        <p:spPr>
          <a:xfrm>
            <a:off x="4608830" y="3375660"/>
            <a:ext cx="7461250" cy="3291840"/>
          </a:xfrm>
          <a:prstGeom prst="rect">
            <a:avLst/>
          </a:prstGeom>
          <a:solidFill>
            <a:srgbClr val="FFFFFF"/>
          </a:solidFill>
          <a:ln w="9525">
            <a:solidFill>
              <a:srgbClr val="D0D8E8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" name="Shape 0"/>
          <p:cNvSpPr/>
          <p:nvPr/>
        </p:nvSpPr>
        <p:spPr>
          <a:xfrm>
            <a:off x="0" y="0"/>
            <a:ext cx="12161520" cy="47548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64592" y="73152"/>
            <a:ext cx="1005840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业务端视角仪表盘  |  Sales &amp; Channel View  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91440" y="558800"/>
            <a:ext cx="4389120" cy="6144768"/>
          </a:xfrm>
          <a:prstGeom prst="rect">
            <a:avLst/>
          </a:prstGeom>
          <a:solidFill>
            <a:srgbClr val="FFFFFF"/>
          </a:solidFill>
          <a:ln w="9525">
            <a:solidFill>
              <a:srgbClr val="D0D8E8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91440" y="548640"/>
            <a:ext cx="4389120" cy="256032"/>
          </a:xfrm>
          <a:prstGeom prst="rect">
            <a:avLst/>
          </a:prstGeom>
          <a:solidFill>
            <a:srgbClr val="7B241C"/>
          </a:solidFill>
          <a:ln w="12700">
            <a:solidFill>
              <a:srgbClr val="7B241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2880" y="585216"/>
            <a:ext cx="4224528" cy="1920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  保单阶段构成（100%堆叠）— 各业务线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237744" y="877824"/>
            <a:ext cx="109728" cy="109728"/>
          </a:xfrm>
          <a:prstGeom prst="rect">
            <a:avLst/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74904" y="877824"/>
            <a:ext cx="914400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已批核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1627632" y="877824"/>
            <a:ext cx="109728" cy="109728"/>
          </a:xfrm>
          <a:prstGeom prst="rect">
            <a:avLst/>
          </a:prstGeom>
          <a:solidFill>
            <a:srgbClr val="C8890A"/>
          </a:solidFill>
          <a:ln w="12700">
            <a:solidFill>
              <a:srgbClr val="C8890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764792" y="877824"/>
            <a:ext cx="914400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未批核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3373120" y="886714"/>
            <a:ext cx="109728" cy="109728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93135" y="896239"/>
            <a:ext cx="914400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待签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226568" y="4436618"/>
            <a:ext cx="36576" cy="34747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99720" y="4436618"/>
            <a:ext cx="1243584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BK业务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299720" y="4619498"/>
            <a:ext cx="1243584" cy="1371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合计 253.2M</a:t>
            </a:r>
            <a:endParaRPr lang="en-US" sz="650" dirty="0"/>
          </a:p>
        </p:txBody>
      </p:sp>
      <p:sp>
        <p:nvSpPr>
          <p:cNvPr id="17" name="Shape 15"/>
          <p:cNvSpPr/>
          <p:nvPr/>
        </p:nvSpPr>
        <p:spPr>
          <a:xfrm>
            <a:off x="1579880" y="4454906"/>
            <a:ext cx="1572768" cy="274320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579880" y="4454906"/>
            <a:ext cx="1037460" cy="274320"/>
          </a:xfrm>
          <a:prstGeom prst="rect">
            <a:avLst/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616456" y="4509770"/>
            <a:ext cx="982596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67%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2617340" y="4454906"/>
            <a:ext cx="503520" cy="274320"/>
          </a:xfrm>
          <a:prstGeom prst="rect">
            <a:avLst/>
          </a:prstGeom>
          <a:solidFill>
            <a:srgbClr val="C8890A"/>
          </a:solidFill>
          <a:ln w="12700">
            <a:solidFill>
              <a:srgbClr val="C8890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653916" y="4509770"/>
            <a:ext cx="448656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32%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3120859" y="4454906"/>
            <a:ext cx="31789" cy="27432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198368" y="4500626"/>
            <a:ext cx="74980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170.9▌81.5▌0.8</a:t>
            </a:r>
            <a:endParaRPr lang="en-US" sz="700" dirty="0"/>
          </a:p>
        </p:txBody>
      </p:sp>
      <p:sp>
        <p:nvSpPr>
          <p:cNvPr id="24" name="Shape 22"/>
          <p:cNvSpPr/>
          <p:nvPr/>
        </p:nvSpPr>
        <p:spPr>
          <a:xfrm>
            <a:off x="226568" y="5662422"/>
            <a:ext cx="36576" cy="347472"/>
          </a:xfrm>
          <a:prstGeom prst="rect">
            <a:avLst/>
          </a:prstGeom>
          <a:solidFill>
            <a:srgbClr val="1A7A3F"/>
          </a:solidFill>
          <a:ln w="12700">
            <a:solidFill>
              <a:srgbClr val="1A7A3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99720" y="5662422"/>
            <a:ext cx="1243584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A7A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永明经代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299720" y="5845302"/>
            <a:ext cx="1243584" cy="1371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合计 124.3M</a:t>
            </a:r>
            <a:endParaRPr lang="en-US" sz="650" dirty="0"/>
          </a:p>
        </p:txBody>
      </p:sp>
      <p:sp>
        <p:nvSpPr>
          <p:cNvPr id="27" name="Shape 25"/>
          <p:cNvSpPr/>
          <p:nvPr/>
        </p:nvSpPr>
        <p:spPr>
          <a:xfrm>
            <a:off x="1579880" y="5680710"/>
            <a:ext cx="1572768" cy="274320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579880" y="5680710"/>
            <a:ext cx="976236" cy="274320"/>
          </a:xfrm>
          <a:prstGeom prst="rect">
            <a:avLst/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616456" y="5735574"/>
            <a:ext cx="921372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57%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2556116" y="5680710"/>
            <a:ext cx="494608" cy="274320"/>
          </a:xfrm>
          <a:prstGeom prst="rect">
            <a:avLst/>
          </a:prstGeom>
          <a:solidFill>
            <a:srgbClr val="C8890A"/>
          </a:solidFill>
          <a:ln w="12700">
            <a:solidFill>
              <a:srgbClr val="C8890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592692" y="5735574"/>
            <a:ext cx="439744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31%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3050723" y="5680710"/>
            <a:ext cx="101925" cy="27432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198368" y="5726430"/>
            <a:ext cx="74980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86.1▌43.1▌1.5</a:t>
            </a:r>
            <a:endParaRPr lang="en-US" sz="700" dirty="0"/>
          </a:p>
        </p:txBody>
      </p:sp>
      <p:sp>
        <p:nvSpPr>
          <p:cNvPr id="34" name="Shape 32"/>
          <p:cNvSpPr/>
          <p:nvPr/>
        </p:nvSpPr>
        <p:spPr>
          <a:xfrm>
            <a:off x="226568" y="2581021"/>
            <a:ext cx="36576" cy="347472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99720" y="2581021"/>
            <a:ext cx="1243584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E67E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同行经代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299720" y="2763901"/>
            <a:ext cx="1243584" cy="1371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合计 71.7M</a:t>
            </a:r>
            <a:endParaRPr lang="en-US" sz="650" dirty="0"/>
          </a:p>
        </p:txBody>
      </p:sp>
      <p:sp>
        <p:nvSpPr>
          <p:cNvPr id="37" name="Shape 35"/>
          <p:cNvSpPr/>
          <p:nvPr/>
        </p:nvSpPr>
        <p:spPr>
          <a:xfrm>
            <a:off x="1579880" y="2599309"/>
            <a:ext cx="1572768" cy="274320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579880" y="2599309"/>
            <a:ext cx="1071950" cy="274320"/>
          </a:xfrm>
          <a:prstGeom prst="rect">
            <a:avLst/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616456" y="2654173"/>
            <a:ext cx="1017086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68%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2651830" y="2599309"/>
            <a:ext cx="404856" cy="274320"/>
          </a:xfrm>
          <a:prstGeom prst="rect">
            <a:avLst/>
          </a:prstGeom>
          <a:solidFill>
            <a:srgbClr val="C8890A"/>
          </a:solidFill>
          <a:ln w="12700">
            <a:solidFill>
              <a:srgbClr val="C8890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688406" y="2654173"/>
            <a:ext cx="349992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28%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3056685" y="2599309"/>
            <a:ext cx="95963" cy="27432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198368" y="2645029"/>
            <a:ext cx="74980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50.8▌21.4▌0.0</a:t>
            </a:r>
            <a:endParaRPr lang="en-US" sz="700" dirty="0"/>
          </a:p>
        </p:txBody>
      </p:sp>
      <p:sp>
        <p:nvSpPr>
          <p:cNvPr id="44" name="Shape 42"/>
          <p:cNvSpPr/>
          <p:nvPr/>
        </p:nvSpPr>
        <p:spPr>
          <a:xfrm>
            <a:off x="226568" y="5058410"/>
            <a:ext cx="36576" cy="347472"/>
          </a:xfrm>
          <a:prstGeom prst="rect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99720" y="5058410"/>
            <a:ext cx="1243584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980B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天领业务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299720" y="5241290"/>
            <a:ext cx="1243584" cy="1371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合计 38.1M</a:t>
            </a:r>
            <a:endParaRPr lang="en-US" sz="650" dirty="0"/>
          </a:p>
        </p:txBody>
      </p:sp>
      <p:sp>
        <p:nvSpPr>
          <p:cNvPr id="47" name="Shape 45"/>
          <p:cNvSpPr/>
          <p:nvPr/>
        </p:nvSpPr>
        <p:spPr>
          <a:xfrm>
            <a:off x="1579880" y="5076698"/>
            <a:ext cx="1572768" cy="274320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579880" y="5076698"/>
            <a:ext cx="979456" cy="274320"/>
          </a:xfrm>
          <a:prstGeom prst="rect">
            <a:avLst/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1616456" y="5131562"/>
            <a:ext cx="924592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57%</a:t>
            </a:r>
            <a:endParaRPr lang="en-US" sz="750" dirty="0"/>
          </a:p>
        </p:txBody>
      </p:sp>
      <p:sp>
        <p:nvSpPr>
          <p:cNvPr id="50" name="Shape 48"/>
          <p:cNvSpPr/>
          <p:nvPr/>
        </p:nvSpPr>
        <p:spPr>
          <a:xfrm>
            <a:off x="2559336" y="5076698"/>
            <a:ext cx="365641" cy="274320"/>
          </a:xfrm>
          <a:prstGeom prst="rect">
            <a:avLst/>
          </a:prstGeom>
          <a:solidFill>
            <a:srgbClr val="C8890A"/>
          </a:solidFill>
          <a:ln w="12700">
            <a:solidFill>
              <a:srgbClr val="C8890A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2595912" y="5131562"/>
            <a:ext cx="310777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27%</a:t>
            </a:r>
            <a:endParaRPr lang="en-US" sz="750" dirty="0"/>
          </a:p>
        </p:txBody>
      </p:sp>
      <p:sp>
        <p:nvSpPr>
          <p:cNvPr id="52" name="Shape 50"/>
          <p:cNvSpPr/>
          <p:nvPr/>
        </p:nvSpPr>
        <p:spPr>
          <a:xfrm>
            <a:off x="2924977" y="5076698"/>
            <a:ext cx="227671" cy="27432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198368" y="5122418"/>
            <a:ext cx="74980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23.7▌15.3▌1.6</a:t>
            </a:r>
            <a:endParaRPr lang="en-US" sz="700" dirty="0"/>
          </a:p>
        </p:txBody>
      </p:sp>
      <p:sp>
        <p:nvSpPr>
          <p:cNvPr id="54" name="Shape 52"/>
          <p:cNvSpPr/>
          <p:nvPr/>
        </p:nvSpPr>
        <p:spPr>
          <a:xfrm>
            <a:off x="226568" y="1982724"/>
            <a:ext cx="36576" cy="347472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299720" y="1982724"/>
            <a:ext cx="1243584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8E44A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ICLUB</a:t>
            </a:r>
            <a:endParaRPr lang="en-US" sz="850" dirty="0"/>
          </a:p>
        </p:txBody>
      </p:sp>
      <p:sp>
        <p:nvSpPr>
          <p:cNvPr id="56" name="Text 54"/>
          <p:cNvSpPr/>
          <p:nvPr/>
        </p:nvSpPr>
        <p:spPr>
          <a:xfrm>
            <a:off x="299720" y="2165604"/>
            <a:ext cx="1243584" cy="1371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合计 18.0M</a:t>
            </a:r>
            <a:endParaRPr lang="en-US" sz="650" dirty="0"/>
          </a:p>
        </p:txBody>
      </p:sp>
      <p:sp>
        <p:nvSpPr>
          <p:cNvPr id="57" name="Shape 55"/>
          <p:cNvSpPr/>
          <p:nvPr/>
        </p:nvSpPr>
        <p:spPr>
          <a:xfrm>
            <a:off x="1579880" y="2001012"/>
            <a:ext cx="1572768" cy="274320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1579880" y="2001012"/>
            <a:ext cx="1530698" cy="274320"/>
          </a:xfrm>
          <a:prstGeom prst="rect">
            <a:avLst/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1616456" y="2055876"/>
            <a:ext cx="1475834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79%</a:t>
            </a:r>
            <a:endParaRPr lang="en-US" sz="750" dirty="0"/>
          </a:p>
        </p:txBody>
      </p:sp>
      <p:sp>
        <p:nvSpPr>
          <p:cNvPr id="60" name="Shape 58"/>
          <p:cNvSpPr/>
          <p:nvPr/>
        </p:nvSpPr>
        <p:spPr>
          <a:xfrm>
            <a:off x="3110578" y="2001012"/>
            <a:ext cx="42070" cy="274320"/>
          </a:xfrm>
          <a:prstGeom prst="rect">
            <a:avLst/>
          </a:prstGeom>
          <a:solidFill>
            <a:srgbClr val="C8890A"/>
          </a:solidFill>
          <a:ln w="12700">
            <a:solidFill>
              <a:srgbClr val="C8890A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3198368" y="2046732"/>
            <a:ext cx="74980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14.6▌1.8▌0.0</a:t>
            </a:r>
            <a:endParaRPr lang="en-US" sz="700" dirty="0"/>
          </a:p>
        </p:txBody>
      </p:sp>
      <p:sp>
        <p:nvSpPr>
          <p:cNvPr id="62" name="Shape 60"/>
          <p:cNvSpPr/>
          <p:nvPr/>
        </p:nvSpPr>
        <p:spPr>
          <a:xfrm>
            <a:off x="226568" y="3164078"/>
            <a:ext cx="36576" cy="347472"/>
          </a:xfrm>
          <a:prstGeom prst="rect">
            <a:avLst/>
          </a:prstGeom>
          <a:solidFill>
            <a:srgbClr val="16A085"/>
          </a:solidFill>
          <a:ln w="12700">
            <a:solidFill>
              <a:srgbClr val="16A085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299720" y="3164078"/>
            <a:ext cx="1243584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6A08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成事家办</a:t>
            </a:r>
            <a:endParaRPr lang="en-US" sz="850" dirty="0"/>
          </a:p>
        </p:txBody>
      </p:sp>
      <p:sp>
        <p:nvSpPr>
          <p:cNvPr id="64" name="Text 62"/>
          <p:cNvSpPr/>
          <p:nvPr/>
        </p:nvSpPr>
        <p:spPr>
          <a:xfrm>
            <a:off x="299720" y="3346958"/>
            <a:ext cx="1243584" cy="1371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合计 3.9M</a:t>
            </a:r>
            <a:endParaRPr lang="en-US" sz="650" dirty="0"/>
          </a:p>
        </p:txBody>
      </p:sp>
      <p:sp>
        <p:nvSpPr>
          <p:cNvPr id="65" name="Shape 63"/>
          <p:cNvSpPr/>
          <p:nvPr/>
        </p:nvSpPr>
        <p:spPr>
          <a:xfrm>
            <a:off x="1579880" y="3182366"/>
            <a:ext cx="1572768" cy="274320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1579880" y="3182366"/>
            <a:ext cx="1051699" cy="274320"/>
          </a:xfrm>
          <a:prstGeom prst="rect">
            <a:avLst/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1616456" y="3237230"/>
            <a:ext cx="996835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57%</a:t>
            </a:r>
            <a:endParaRPr lang="en-US" sz="750" dirty="0"/>
          </a:p>
        </p:txBody>
      </p:sp>
      <p:sp>
        <p:nvSpPr>
          <p:cNvPr id="68" name="Shape 66"/>
          <p:cNvSpPr/>
          <p:nvPr/>
        </p:nvSpPr>
        <p:spPr>
          <a:xfrm>
            <a:off x="2631579" y="3182366"/>
            <a:ext cx="411119" cy="274320"/>
          </a:xfrm>
          <a:prstGeom prst="rect">
            <a:avLst/>
          </a:prstGeom>
          <a:solidFill>
            <a:srgbClr val="C8890A"/>
          </a:solidFill>
          <a:ln w="12700">
            <a:solidFill>
              <a:srgbClr val="C8890A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2668155" y="3237230"/>
            <a:ext cx="356255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28%</a:t>
            </a:r>
            <a:endParaRPr lang="en-US" sz="750" dirty="0"/>
          </a:p>
        </p:txBody>
      </p:sp>
      <p:sp>
        <p:nvSpPr>
          <p:cNvPr id="70" name="Shape 68"/>
          <p:cNvSpPr/>
          <p:nvPr/>
        </p:nvSpPr>
        <p:spPr>
          <a:xfrm>
            <a:off x="3042698" y="3182366"/>
            <a:ext cx="109950" cy="27432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3198368" y="3228086"/>
            <a:ext cx="74980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2.2▌1.1▌0.6</a:t>
            </a:r>
            <a:endParaRPr lang="en-US" sz="700" dirty="0"/>
          </a:p>
        </p:txBody>
      </p:sp>
      <p:sp>
        <p:nvSpPr>
          <p:cNvPr id="87" name="Text 85"/>
          <p:cNvSpPr/>
          <p:nvPr/>
        </p:nvSpPr>
        <p:spPr>
          <a:xfrm>
            <a:off x="1697990" y="1056640"/>
            <a:ext cx="1421765" cy="2559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绿=批核 M  |  橙=未批核 M  |  蓝=待签 M</a:t>
            </a:r>
            <a:endParaRPr lang="en-US" sz="600" dirty="0"/>
          </a:p>
        </p:txBody>
      </p:sp>
      <p:sp>
        <p:nvSpPr>
          <p:cNvPr id="88" name="Shape 86"/>
          <p:cNvSpPr/>
          <p:nvPr/>
        </p:nvSpPr>
        <p:spPr>
          <a:xfrm>
            <a:off x="91440" y="6309360"/>
            <a:ext cx="4389120" cy="384048"/>
          </a:xfrm>
          <a:prstGeom prst="rect">
            <a:avLst/>
          </a:prstGeom>
          <a:solidFill>
            <a:srgbClr val="EEF2FF"/>
          </a:solidFill>
          <a:ln w="6350">
            <a:solidFill>
              <a:srgbClr val="C5CEE8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91440" y="6309360"/>
            <a:ext cx="4389120" cy="27432"/>
          </a:xfrm>
          <a:prstGeom prst="rect">
            <a:avLst/>
          </a:prstGeom>
          <a:solidFill>
            <a:srgbClr val="7B241C"/>
          </a:solidFill>
          <a:ln w="12700">
            <a:solidFill>
              <a:srgbClr val="7B241C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182880" y="6345936"/>
            <a:ext cx="4224528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b="1" dirty="0">
                <a:solidFill>
                  <a:srgbClr val="7B241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 What：</a:t>
            </a:r>
            <a:endParaRPr lang="en-US" sz="550" dirty="0"/>
          </a:p>
        </p:txBody>
      </p:sp>
      <p:sp>
        <p:nvSpPr>
          <p:cNvPr id="91" name="Text 89"/>
          <p:cNvSpPr/>
          <p:nvPr/>
        </p:nvSpPr>
        <p:spPr>
          <a:xfrm>
            <a:off x="182880" y="6474333"/>
            <a:ext cx="4224528" cy="2103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BK未批核占比高达32%，金额达80.9M，催核优先级最高。合伙转介未批核反超批核（69% vs 29%），漏斗倒置。ICLUB批核占97%，管道几乎清空，需新件补充。IFA全程归零。</a:t>
            </a:r>
            <a:endParaRPr lang="en-US" sz="550" dirty="0"/>
          </a:p>
        </p:txBody>
      </p:sp>
      <p:sp>
        <p:nvSpPr>
          <p:cNvPr id="92" name="Shape 90"/>
          <p:cNvSpPr/>
          <p:nvPr/>
        </p:nvSpPr>
        <p:spPr>
          <a:xfrm>
            <a:off x="4608830" y="548640"/>
            <a:ext cx="7461250" cy="2736850"/>
          </a:xfrm>
          <a:prstGeom prst="rect">
            <a:avLst/>
          </a:prstGeom>
          <a:solidFill>
            <a:srgbClr val="FFFFFF"/>
          </a:solidFill>
          <a:ln w="9525">
            <a:solidFill>
              <a:srgbClr val="D0D8E8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93" name="Shape 91"/>
          <p:cNvSpPr/>
          <p:nvPr/>
        </p:nvSpPr>
        <p:spPr>
          <a:xfrm>
            <a:off x="4608576" y="548640"/>
            <a:ext cx="7461504" cy="256032"/>
          </a:xfrm>
          <a:prstGeom prst="rect">
            <a:avLst/>
          </a:prstGeom>
          <a:solidFill>
            <a:srgbClr val="7B241C"/>
          </a:solidFill>
          <a:ln w="12700">
            <a:solidFill>
              <a:srgbClr val="7B241C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4700016" y="585216"/>
            <a:ext cx="7296912" cy="1920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  保单总量构成 — 甜甜圈 &amp; 阶段 KPI</a:t>
            </a:r>
            <a:endParaRPr lang="en-US" sz="850" dirty="0"/>
          </a:p>
        </p:txBody>
      </p:sp>
      <p:graphicFrame>
        <p:nvGraphicFramePr>
          <p:cNvPr id="95" name="Chart 0"/>
          <p:cNvGraphicFramePr/>
          <p:nvPr/>
        </p:nvGraphicFramePr>
        <p:xfrm>
          <a:off x="4700270" y="841375"/>
          <a:ext cx="2377440" cy="204533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96" name="Shape 93"/>
          <p:cNvSpPr/>
          <p:nvPr/>
        </p:nvSpPr>
        <p:spPr>
          <a:xfrm>
            <a:off x="7242175" y="852805"/>
            <a:ext cx="1444625" cy="1991360"/>
          </a:xfrm>
          <a:prstGeom prst="rect">
            <a:avLst/>
          </a:prstGeom>
          <a:solidFill>
            <a:srgbClr val="F5F7FA"/>
          </a:solidFill>
          <a:ln w="12700">
            <a:solidFill>
              <a:srgbClr val="00796B"/>
            </a:solidFill>
            <a:prstDash val="solid"/>
          </a:ln>
        </p:spPr>
      </p:sp>
      <p:sp>
        <p:nvSpPr>
          <p:cNvPr id="97" name="Shape 94"/>
          <p:cNvSpPr/>
          <p:nvPr/>
        </p:nvSpPr>
        <p:spPr>
          <a:xfrm>
            <a:off x="7242048" y="852678"/>
            <a:ext cx="1444752" cy="45720"/>
          </a:xfrm>
          <a:prstGeom prst="rect">
            <a:avLst/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</p:spPr>
      </p:sp>
      <p:sp>
        <p:nvSpPr>
          <p:cNvPr id="98" name="Text 95"/>
          <p:cNvSpPr/>
          <p:nvPr/>
        </p:nvSpPr>
        <p:spPr>
          <a:xfrm>
            <a:off x="7333488" y="944118"/>
            <a:ext cx="1316736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已批核</a:t>
            </a:r>
            <a:endParaRPr lang="en-US" sz="900" dirty="0"/>
          </a:p>
        </p:txBody>
      </p:sp>
      <p:sp>
        <p:nvSpPr>
          <p:cNvPr id="99" name="Text 96"/>
          <p:cNvSpPr/>
          <p:nvPr/>
        </p:nvSpPr>
        <p:spPr>
          <a:xfrm>
            <a:off x="7333488" y="1163574"/>
            <a:ext cx="1316736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79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350.4M</a:t>
            </a:r>
            <a:endParaRPr lang="en-US" sz="2200" dirty="0"/>
          </a:p>
        </p:txBody>
      </p:sp>
      <p:sp>
        <p:nvSpPr>
          <p:cNvPr id="100" name="Text 97"/>
          <p:cNvSpPr/>
          <p:nvPr/>
        </p:nvSpPr>
        <p:spPr>
          <a:xfrm>
            <a:off x="7333488" y="1584198"/>
            <a:ext cx="1316736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533件  65.1%</a:t>
            </a:r>
            <a:endParaRPr lang="en-US" sz="800" dirty="0"/>
          </a:p>
        </p:txBody>
      </p:sp>
      <p:sp>
        <p:nvSpPr>
          <p:cNvPr id="101" name="Shape 98"/>
          <p:cNvSpPr/>
          <p:nvPr/>
        </p:nvSpPr>
        <p:spPr>
          <a:xfrm>
            <a:off x="7333488" y="1821942"/>
            <a:ext cx="1280160" cy="146304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102" name="Shape 99"/>
          <p:cNvSpPr/>
          <p:nvPr/>
        </p:nvSpPr>
        <p:spPr>
          <a:xfrm>
            <a:off x="7333488" y="1821942"/>
            <a:ext cx="839785" cy="146304"/>
          </a:xfrm>
          <a:prstGeom prst="rect">
            <a:avLst/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</p:spPr>
      </p:sp>
      <p:sp>
        <p:nvSpPr>
          <p:cNvPr id="103" name="Text 100"/>
          <p:cNvSpPr/>
          <p:nvPr/>
        </p:nvSpPr>
        <p:spPr>
          <a:xfrm>
            <a:off x="7333488" y="2004822"/>
            <a:ext cx="1316736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0079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67.1%  占管道总量</a:t>
            </a:r>
            <a:endParaRPr lang="en-US" sz="700" dirty="0"/>
          </a:p>
        </p:txBody>
      </p:sp>
      <p:sp>
        <p:nvSpPr>
          <p:cNvPr id="104" name="Text 101"/>
          <p:cNvSpPr/>
          <p:nvPr/>
        </p:nvSpPr>
        <p:spPr>
          <a:xfrm>
            <a:off x="7333488" y="2205990"/>
            <a:ext cx="1316736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533件</a:t>
            </a:r>
            <a:endParaRPr lang="en-US" sz="900" dirty="0"/>
          </a:p>
        </p:txBody>
      </p:sp>
      <p:sp>
        <p:nvSpPr>
          <p:cNvPr id="105" name="Text 102"/>
          <p:cNvSpPr/>
          <p:nvPr/>
        </p:nvSpPr>
        <p:spPr>
          <a:xfrm>
            <a:off x="7333488" y="2407158"/>
            <a:ext cx="1316736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管道 522.2M 中占</a:t>
            </a:r>
            <a:endParaRPr lang="en-US" sz="650" dirty="0"/>
          </a:p>
        </p:txBody>
      </p:sp>
      <p:sp>
        <p:nvSpPr>
          <p:cNvPr id="106" name="Text 103"/>
          <p:cNvSpPr/>
          <p:nvPr/>
        </p:nvSpPr>
        <p:spPr>
          <a:xfrm>
            <a:off x="7333488" y="2571750"/>
            <a:ext cx="1316736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79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67.1%</a:t>
            </a:r>
            <a:endParaRPr lang="en-US" sz="1600" dirty="0"/>
          </a:p>
        </p:txBody>
      </p:sp>
      <p:sp>
        <p:nvSpPr>
          <p:cNvPr id="107" name="Shape 104"/>
          <p:cNvSpPr/>
          <p:nvPr/>
        </p:nvSpPr>
        <p:spPr>
          <a:xfrm>
            <a:off x="8815070" y="852805"/>
            <a:ext cx="1444625" cy="1991360"/>
          </a:xfrm>
          <a:prstGeom prst="rect">
            <a:avLst/>
          </a:prstGeom>
          <a:solidFill>
            <a:srgbClr val="F5F7FA"/>
          </a:solidFill>
          <a:ln w="12700">
            <a:solidFill>
              <a:srgbClr val="C8890A"/>
            </a:solidFill>
            <a:prstDash val="solid"/>
          </a:ln>
        </p:spPr>
      </p:sp>
      <p:sp>
        <p:nvSpPr>
          <p:cNvPr id="108" name="Shape 105"/>
          <p:cNvSpPr/>
          <p:nvPr/>
        </p:nvSpPr>
        <p:spPr>
          <a:xfrm>
            <a:off x="8814816" y="852678"/>
            <a:ext cx="1444752" cy="45720"/>
          </a:xfrm>
          <a:prstGeom prst="rect">
            <a:avLst/>
          </a:prstGeom>
          <a:solidFill>
            <a:srgbClr val="C8890A"/>
          </a:solidFill>
          <a:ln w="12700">
            <a:solidFill>
              <a:srgbClr val="C8890A"/>
            </a:solidFill>
            <a:prstDash val="solid"/>
          </a:ln>
        </p:spPr>
      </p:sp>
      <p:sp>
        <p:nvSpPr>
          <p:cNvPr id="109" name="Text 106"/>
          <p:cNvSpPr/>
          <p:nvPr/>
        </p:nvSpPr>
        <p:spPr>
          <a:xfrm>
            <a:off x="8906256" y="944118"/>
            <a:ext cx="1316736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未批核</a:t>
            </a:r>
            <a:endParaRPr lang="en-US" sz="900" dirty="0"/>
          </a:p>
        </p:txBody>
      </p:sp>
      <p:sp>
        <p:nvSpPr>
          <p:cNvPr id="110" name="Text 107"/>
          <p:cNvSpPr/>
          <p:nvPr/>
        </p:nvSpPr>
        <p:spPr>
          <a:xfrm>
            <a:off x="8906256" y="1163574"/>
            <a:ext cx="1316736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889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167.9M</a:t>
            </a:r>
            <a:endParaRPr lang="en-US" sz="2200" dirty="0"/>
          </a:p>
        </p:txBody>
      </p:sp>
      <p:sp>
        <p:nvSpPr>
          <p:cNvPr id="111" name="Text 108"/>
          <p:cNvSpPr/>
          <p:nvPr/>
        </p:nvSpPr>
        <p:spPr>
          <a:xfrm>
            <a:off x="8906256" y="1584198"/>
            <a:ext cx="1316736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239件  31.4%</a:t>
            </a:r>
            <a:endParaRPr lang="en-US" sz="800" dirty="0"/>
          </a:p>
        </p:txBody>
      </p:sp>
      <p:sp>
        <p:nvSpPr>
          <p:cNvPr id="112" name="Shape 109"/>
          <p:cNvSpPr/>
          <p:nvPr/>
        </p:nvSpPr>
        <p:spPr>
          <a:xfrm>
            <a:off x="8906256" y="1821942"/>
            <a:ext cx="1280160" cy="146304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113" name="Shape 110"/>
          <p:cNvSpPr/>
          <p:nvPr/>
        </p:nvSpPr>
        <p:spPr>
          <a:xfrm>
            <a:off x="8906256" y="1821942"/>
            <a:ext cx="382768" cy="146304"/>
          </a:xfrm>
          <a:prstGeom prst="rect">
            <a:avLst/>
          </a:prstGeom>
          <a:solidFill>
            <a:srgbClr val="C8890A"/>
          </a:solidFill>
          <a:ln w="12700">
            <a:solidFill>
              <a:srgbClr val="C8890A"/>
            </a:solidFill>
            <a:prstDash val="solid"/>
          </a:ln>
        </p:spPr>
      </p:sp>
      <p:sp>
        <p:nvSpPr>
          <p:cNvPr id="114" name="Text 111"/>
          <p:cNvSpPr/>
          <p:nvPr/>
        </p:nvSpPr>
        <p:spPr>
          <a:xfrm>
            <a:off x="8906256" y="2004822"/>
            <a:ext cx="1316736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C889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32.2%  占管道总量</a:t>
            </a:r>
            <a:endParaRPr lang="en-US" sz="700" dirty="0"/>
          </a:p>
        </p:txBody>
      </p:sp>
      <p:sp>
        <p:nvSpPr>
          <p:cNvPr id="115" name="Text 112"/>
          <p:cNvSpPr/>
          <p:nvPr/>
        </p:nvSpPr>
        <p:spPr>
          <a:xfrm>
            <a:off x="8906256" y="2205990"/>
            <a:ext cx="1316736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242件</a:t>
            </a:r>
            <a:endParaRPr lang="en-US" sz="900" dirty="0"/>
          </a:p>
        </p:txBody>
      </p:sp>
      <p:sp>
        <p:nvSpPr>
          <p:cNvPr id="116" name="Text 113"/>
          <p:cNvSpPr/>
          <p:nvPr/>
        </p:nvSpPr>
        <p:spPr>
          <a:xfrm>
            <a:off x="8906256" y="2407158"/>
            <a:ext cx="1316736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管道 522.2M 中占</a:t>
            </a:r>
            <a:endParaRPr lang="en-US" sz="650" dirty="0"/>
          </a:p>
        </p:txBody>
      </p:sp>
      <p:sp>
        <p:nvSpPr>
          <p:cNvPr id="117" name="Text 114"/>
          <p:cNvSpPr/>
          <p:nvPr/>
        </p:nvSpPr>
        <p:spPr>
          <a:xfrm>
            <a:off x="8906256" y="2571750"/>
            <a:ext cx="1316736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889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32.2%</a:t>
            </a:r>
            <a:endParaRPr lang="en-US" sz="1600" dirty="0"/>
          </a:p>
        </p:txBody>
      </p:sp>
      <p:sp>
        <p:nvSpPr>
          <p:cNvPr id="118" name="Shape 115"/>
          <p:cNvSpPr/>
          <p:nvPr/>
        </p:nvSpPr>
        <p:spPr>
          <a:xfrm>
            <a:off x="10387330" y="852805"/>
            <a:ext cx="1444625" cy="1990725"/>
          </a:xfrm>
          <a:prstGeom prst="rect">
            <a:avLst/>
          </a:prstGeom>
          <a:solidFill>
            <a:srgbClr val="F5F7FA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119" name="Shape 116"/>
          <p:cNvSpPr/>
          <p:nvPr/>
        </p:nvSpPr>
        <p:spPr>
          <a:xfrm>
            <a:off x="10387584" y="852678"/>
            <a:ext cx="1444752" cy="4572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120" name="Text 117"/>
          <p:cNvSpPr/>
          <p:nvPr/>
        </p:nvSpPr>
        <p:spPr>
          <a:xfrm>
            <a:off x="10479024" y="944118"/>
            <a:ext cx="1316736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待签</a:t>
            </a:r>
            <a:endParaRPr lang="en-US" sz="900" dirty="0"/>
          </a:p>
        </p:txBody>
      </p:sp>
      <p:sp>
        <p:nvSpPr>
          <p:cNvPr id="121" name="Text 118"/>
          <p:cNvSpPr/>
          <p:nvPr/>
        </p:nvSpPr>
        <p:spPr>
          <a:xfrm>
            <a:off x="10479024" y="1163574"/>
            <a:ext cx="1316736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E86C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3.9M</a:t>
            </a:r>
            <a:endParaRPr lang="en-US" sz="2200" dirty="0"/>
          </a:p>
        </p:txBody>
      </p:sp>
      <p:sp>
        <p:nvSpPr>
          <p:cNvPr id="122" name="Text 119"/>
          <p:cNvSpPr/>
          <p:nvPr/>
        </p:nvSpPr>
        <p:spPr>
          <a:xfrm>
            <a:off x="10479024" y="1584198"/>
            <a:ext cx="1316736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12件   0.7%</a:t>
            </a:r>
            <a:endParaRPr lang="en-US" sz="800" dirty="0"/>
          </a:p>
        </p:txBody>
      </p:sp>
      <p:sp>
        <p:nvSpPr>
          <p:cNvPr id="123" name="Shape 120"/>
          <p:cNvSpPr/>
          <p:nvPr/>
        </p:nvSpPr>
        <p:spPr>
          <a:xfrm>
            <a:off x="10479024" y="1821942"/>
            <a:ext cx="1280160" cy="146304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124" name="Shape 121"/>
          <p:cNvSpPr/>
          <p:nvPr/>
        </p:nvSpPr>
        <p:spPr>
          <a:xfrm>
            <a:off x="10479024" y="1821942"/>
            <a:ext cx="57607" cy="146304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125" name="Text 122"/>
          <p:cNvSpPr/>
          <p:nvPr/>
        </p:nvSpPr>
        <p:spPr>
          <a:xfrm>
            <a:off x="10479024" y="2004822"/>
            <a:ext cx="1316736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2E86C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0.7%  占管道总量</a:t>
            </a:r>
            <a:endParaRPr lang="en-US" sz="700" dirty="0"/>
          </a:p>
        </p:txBody>
      </p:sp>
      <p:sp>
        <p:nvSpPr>
          <p:cNvPr id="126" name="Text 123"/>
          <p:cNvSpPr/>
          <p:nvPr/>
        </p:nvSpPr>
        <p:spPr>
          <a:xfrm>
            <a:off x="10479024" y="2205990"/>
            <a:ext cx="1316736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46件</a:t>
            </a:r>
            <a:endParaRPr lang="en-US" sz="900" dirty="0"/>
          </a:p>
        </p:txBody>
      </p:sp>
      <p:sp>
        <p:nvSpPr>
          <p:cNvPr id="127" name="Text 124"/>
          <p:cNvSpPr/>
          <p:nvPr/>
        </p:nvSpPr>
        <p:spPr>
          <a:xfrm>
            <a:off x="10479024" y="2407158"/>
            <a:ext cx="1316736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管道 522.2M 中占</a:t>
            </a:r>
            <a:endParaRPr lang="en-US" sz="650" dirty="0"/>
          </a:p>
        </p:txBody>
      </p:sp>
      <p:sp>
        <p:nvSpPr>
          <p:cNvPr id="128" name="Text 125"/>
          <p:cNvSpPr/>
          <p:nvPr/>
        </p:nvSpPr>
        <p:spPr>
          <a:xfrm>
            <a:off x="10479024" y="2571750"/>
            <a:ext cx="1316736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E86C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0.7%</a:t>
            </a:r>
            <a:endParaRPr lang="en-US" sz="1600" dirty="0"/>
          </a:p>
        </p:txBody>
      </p:sp>
      <p:sp>
        <p:nvSpPr>
          <p:cNvPr id="129" name="Shape 126"/>
          <p:cNvSpPr/>
          <p:nvPr/>
        </p:nvSpPr>
        <p:spPr>
          <a:xfrm>
            <a:off x="4608576" y="2902077"/>
            <a:ext cx="7461504" cy="384048"/>
          </a:xfrm>
          <a:prstGeom prst="rect">
            <a:avLst/>
          </a:prstGeom>
          <a:solidFill>
            <a:srgbClr val="EEF2FF"/>
          </a:solidFill>
          <a:ln w="6350">
            <a:solidFill>
              <a:srgbClr val="C5CEE8"/>
            </a:solidFill>
            <a:prstDash val="solid"/>
          </a:ln>
        </p:spPr>
      </p:sp>
      <p:sp>
        <p:nvSpPr>
          <p:cNvPr id="130" name="Shape 127"/>
          <p:cNvSpPr/>
          <p:nvPr/>
        </p:nvSpPr>
        <p:spPr>
          <a:xfrm>
            <a:off x="4608576" y="2902077"/>
            <a:ext cx="7461504" cy="27432"/>
          </a:xfrm>
          <a:prstGeom prst="rect">
            <a:avLst/>
          </a:prstGeom>
          <a:solidFill>
            <a:srgbClr val="7B241C"/>
          </a:solidFill>
          <a:ln w="12700">
            <a:solidFill>
              <a:srgbClr val="7B241C"/>
            </a:solidFill>
            <a:prstDash val="solid"/>
          </a:ln>
        </p:spPr>
      </p:sp>
      <p:sp>
        <p:nvSpPr>
          <p:cNvPr id="131" name="Text 128"/>
          <p:cNvSpPr/>
          <p:nvPr/>
        </p:nvSpPr>
        <p:spPr>
          <a:xfrm>
            <a:off x="4700016" y="2938653"/>
            <a:ext cx="7296912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b="1" dirty="0">
                <a:solidFill>
                  <a:srgbClr val="7B241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 What：</a:t>
            </a:r>
            <a:endParaRPr lang="en-US" sz="550" dirty="0"/>
          </a:p>
        </p:txBody>
      </p:sp>
      <p:sp>
        <p:nvSpPr>
          <p:cNvPr id="132" name="Text 129"/>
          <p:cNvSpPr/>
          <p:nvPr/>
        </p:nvSpPr>
        <p:spPr>
          <a:xfrm>
            <a:off x="4700016" y="3057525"/>
            <a:ext cx="7296912" cy="2103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管道总值522.2M中，批核占67.1%（350.4M）。剩余171.8M（未批167.9M+待签3.9M）若转化可直接推高达成率15%+。</a:t>
            </a:r>
            <a:endParaRPr lang="en-US" sz="550" dirty="0"/>
          </a:p>
        </p:txBody>
      </p:sp>
      <p:sp>
        <p:nvSpPr>
          <p:cNvPr id="134" name="Shape 131"/>
          <p:cNvSpPr/>
          <p:nvPr/>
        </p:nvSpPr>
        <p:spPr>
          <a:xfrm>
            <a:off x="4608576" y="3362706"/>
            <a:ext cx="7461504" cy="256032"/>
          </a:xfrm>
          <a:prstGeom prst="rect">
            <a:avLst/>
          </a:prstGeom>
          <a:solidFill>
            <a:srgbClr val="1A6B3A"/>
          </a:solidFill>
          <a:ln w="12700">
            <a:solidFill>
              <a:srgbClr val="1A6B3A"/>
            </a:solidFill>
            <a:prstDash val="solid"/>
          </a:ln>
        </p:spPr>
      </p:sp>
      <p:sp>
        <p:nvSpPr>
          <p:cNvPr id="135" name="Text 132"/>
          <p:cNvSpPr/>
          <p:nvPr/>
        </p:nvSpPr>
        <p:spPr>
          <a:xfrm>
            <a:off x="4700016" y="3399282"/>
            <a:ext cx="7296912" cy="1920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  </a:t>
            </a: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目标 vs 已批核/</a:t>
            </a:r>
            <a:r>
              <a:rPr lang="zh-CN" alt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  <a:sym typeface="+mn-ea"/>
              </a:rPr>
              <a:t>未批核</a:t>
            </a:r>
            <a:r>
              <a:rPr lang="en-US" altLang="zh-CN" sz="850" b="1" dirty="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  <a:sym typeface="+mn-ea"/>
              </a:rPr>
              <a:t>/</a:t>
            </a:r>
            <a:r>
              <a:rPr lang="zh-CN" alt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  <a:sym typeface="+mn-ea"/>
              </a:rPr>
              <a:t>待签</a:t>
            </a: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 APE — 各业务线对比</a:t>
            </a: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（APE in M）</a:t>
            </a:r>
            <a:endParaRPr lang="en-US" sz="850" dirty="0"/>
          </a:p>
        </p:txBody>
      </p:sp>
      <p:sp>
        <p:nvSpPr>
          <p:cNvPr id="137" name="Shape 133"/>
          <p:cNvSpPr/>
          <p:nvPr/>
        </p:nvSpPr>
        <p:spPr>
          <a:xfrm>
            <a:off x="4608576" y="6309360"/>
            <a:ext cx="7461504" cy="384048"/>
          </a:xfrm>
          <a:prstGeom prst="rect">
            <a:avLst/>
          </a:prstGeom>
          <a:solidFill>
            <a:srgbClr val="EEF2FF"/>
          </a:solidFill>
          <a:ln w="6350">
            <a:solidFill>
              <a:srgbClr val="C5CEE8"/>
            </a:solidFill>
            <a:prstDash val="solid"/>
          </a:ln>
        </p:spPr>
      </p:sp>
      <p:sp>
        <p:nvSpPr>
          <p:cNvPr id="138" name="Shape 134"/>
          <p:cNvSpPr/>
          <p:nvPr/>
        </p:nvSpPr>
        <p:spPr>
          <a:xfrm>
            <a:off x="4608576" y="6309360"/>
            <a:ext cx="7461504" cy="27432"/>
          </a:xfrm>
          <a:prstGeom prst="rect">
            <a:avLst/>
          </a:prstGeom>
          <a:solidFill>
            <a:srgbClr val="1A6B3A"/>
          </a:solidFill>
          <a:ln w="12700">
            <a:solidFill>
              <a:srgbClr val="1A6B3A"/>
            </a:solidFill>
            <a:prstDash val="solid"/>
          </a:ln>
        </p:spPr>
      </p:sp>
      <p:sp>
        <p:nvSpPr>
          <p:cNvPr id="139" name="Text 135"/>
          <p:cNvSpPr/>
          <p:nvPr/>
        </p:nvSpPr>
        <p:spPr>
          <a:xfrm>
            <a:off x="4700016" y="6345936"/>
            <a:ext cx="7296912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b="1" dirty="0">
                <a:solidFill>
                  <a:srgbClr val="1A6B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 What：</a:t>
            </a:r>
            <a:endParaRPr lang="en-US" sz="550" dirty="0"/>
          </a:p>
        </p:txBody>
      </p:sp>
      <p:sp>
        <p:nvSpPr>
          <p:cNvPr id="142" name="Text 2"/>
          <p:cNvSpPr/>
          <p:nvPr/>
        </p:nvSpPr>
        <p:spPr>
          <a:xfrm>
            <a:off x="10515600" y="109728"/>
            <a:ext cx="15087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BC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内部文件 · 仅供使用</a:t>
            </a:r>
            <a:endParaRPr lang="en-US" sz="900" dirty="0"/>
          </a:p>
        </p:txBody>
      </p:sp>
      <p:graphicFrame>
        <p:nvGraphicFramePr>
          <p:cNvPr id="400" name="Chart_JM"/>
          <p:cNvGraphicFramePr/>
          <p:nvPr/>
        </p:nvGraphicFramePr>
        <p:xfrm>
          <a:off x="4698365" y="3629660"/>
          <a:ext cx="7299325" cy="267398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41" name="Text 29"/>
          <p:cNvSpPr/>
          <p:nvPr/>
        </p:nvSpPr>
        <p:spPr>
          <a:xfrm>
            <a:off x="4700270" y="6467475"/>
            <a:ext cx="6459220" cy="2000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BK业务批核170.9M逼近目标（200M），达成率85.4%。永明经代目标最大（340M）但实际仅86.1M，是最大绝对缺口（253.9M）。合伙转介与IFA批核几乎为零，战略价值存疑。</a:t>
            </a:r>
            <a:endParaRPr lang="en-US" sz="550" dirty="0"/>
          </a:p>
        </p:txBody>
      </p:sp>
      <p:sp>
        <p:nvSpPr>
          <p:cNvPr id="143" name="Shape 70"/>
          <p:cNvSpPr/>
          <p:nvPr/>
        </p:nvSpPr>
        <p:spPr>
          <a:xfrm>
            <a:off x="226568" y="3808222"/>
            <a:ext cx="36576" cy="34747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44" name="Text 71"/>
          <p:cNvSpPr/>
          <p:nvPr/>
        </p:nvSpPr>
        <p:spPr>
          <a:xfrm>
            <a:off x="299720" y="3808222"/>
            <a:ext cx="1243584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039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合伙转介</a:t>
            </a:r>
            <a:endParaRPr lang="en-US" sz="850" dirty="0"/>
          </a:p>
        </p:txBody>
      </p:sp>
      <p:sp>
        <p:nvSpPr>
          <p:cNvPr id="145" name="Text 72"/>
          <p:cNvSpPr/>
          <p:nvPr/>
        </p:nvSpPr>
        <p:spPr>
          <a:xfrm>
            <a:off x="299720" y="3991102"/>
            <a:ext cx="1243584" cy="1371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合计 5.6M</a:t>
            </a:r>
            <a:endParaRPr lang="en-US" sz="650" dirty="0"/>
          </a:p>
        </p:txBody>
      </p:sp>
      <p:sp>
        <p:nvSpPr>
          <p:cNvPr id="146" name="Shape 73"/>
          <p:cNvSpPr/>
          <p:nvPr/>
        </p:nvSpPr>
        <p:spPr>
          <a:xfrm>
            <a:off x="1579880" y="3826510"/>
            <a:ext cx="1572768" cy="274320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147" name="Shape 74"/>
          <p:cNvSpPr/>
          <p:nvPr/>
        </p:nvSpPr>
        <p:spPr>
          <a:xfrm>
            <a:off x="1579880" y="3826510"/>
            <a:ext cx="459202" cy="274320"/>
          </a:xfrm>
          <a:prstGeom prst="rect">
            <a:avLst/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</p:spPr>
      </p:sp>
      <p:sp>
        <p:nvSpPr>
          <p:cNvPr id="148" name="Text 75"/>
          <p:cNvSpPr/>
          <p:nvPr/>
        </p:nvSpPr>
        <p:spPr>
          <a:xfrm>
            <a:off x="1616456" y="3881374"/>
            <a:ext cx="40433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29%</a:t>
            </a:r>
            <a:endParaRPr lang="en-US" sz="750" dirty="0"/>
          </a:p>
        </p:txBody>
      </p:sp>
      <p:sp>
        <p:nvSpPr>
          <p:cNvPr id="149" name="Shape 76"/>
          <p:cNvSpPr/>
          <p:nvPr/>
        </p:nvSpPr>
        <p:spPr>
          <a:xfrm>
            <a:off x="2039082" y="3826510"/>
            <a:ext cx="1093476" cy="274320"/>
          </a:xfrm>
          <a:prstGeom prst="rect">
            <a:avLst/>
          </a:prstGeom>
          <a:solidFill>
            <a:srgbClr val="C8890A"/>
          </a:solidFill>
          <a:ln w="12700">
            <a:solidFill>
              <a:srgbClr val="C8890A"/>
            </a:solidFill>
            <a:prstDash val="solid"/>
          </a:ln>
        </p:spPr>
      </p:sp>
      <p:sp>
        <p:nvSpPr>
          <p:cNvPr id="150" name="Text 77"/>
          <p:cNvSpPr/>
          <p:nvPr/>
        </p:nvSpPr>
        <p:spPr>
          <a:xfrm>
            <a:off x="2075658" y="3881374"/>
            <a:ext cx="1038612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70%</a:t>
            </a:r>
            <a:endParaRPr lang="en-US" sz="750" dirty="0"/>
          </a:p>
        </p:txBody>
      </p:sp>
      <p:sp>
        <p:nvSpPr>
          <p:cNvPr id="151" name="Shape 78"/>
          <p:cNvSpPr/>
          <p:nvPr/>
        </p:nvSpPr>
        <p:spPr>
          <a:xfrm>
            <a:off x="3132558" y="3826510"/>
            <a:ext cx="20090" cy="27432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152" name="Text 79"/>
          <p:cNvSpPr/>
          <p:nvPr/>
        </p:nvSpPr>
        <p:spPr>
          <a:xfrm>
            <a:off x="3198368" y="3872230"/>
            <a:ext cx="74980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2.3▌3.3▌0.0</a:t>
            </a:r>
            <a:endParaRPr lang="en-US" sz="700" dirty="0"/>
          </a:p>
        </p:txBody>
      </p:sp>
      <p:sp>
        <p:nvSpPr>
          <p:cNvPr id="154" name="Shape 80"/>
          <p:cNvSpPr/>
          <p:nvPr/>
        </p:nvSpPr>
        <p:spPr>
          <a:xfrm>
            <a:off x="226568" y="1447546"/>
            <a:ext cx="36576" cy="347472"/>
          </a:xfrm>
          <a:prstGeom prst="rect">
            <a:avLst/>
          </a:prstGeom>
          <a:solidFill>
            <a:srgbClr val="B0B0B0"/>
          </a:solidFill>
          <a:ln w="12700">
            <a:solidFill>
              <a:srgbClr val="B0B0B0"/>
            </a:solidFill>
            <a:prstDash val="solid"/>
          </a:ln>
        </p:spPr>
      </p:sp>
      <p:sp>
        <p:nvSpPr>
          <p:cNvPr id="155" name="Text 81"/>
          <p:cNvSpPr/>
          <p:nvPr/>
        </p:nvSpPr>
        <p:spPr>
          <a:xfrm>
            <a:off x="299720" y="1447546"/>
            <a:ext cx="1243584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B0B0B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IFA业务</a:t>
            </a:r>
            <a:endParaRPr lang="en-US" sz="850" dirty="0"/>
          </a:p>
        </p:txBody>
      </p:sp>
      <p:sp>
        <p:nvSpPr>
          <p:cNvPr id="156" name="Text 82"/>
          <p:cNvSpPr/>
          <p:nvPr/>
        </p:nvSpPr>
        <p:spPr>
          <a:xfrm>
            <a:off x="299720" y="1630426"/>
            <a:ext cx="1243584" cy="1371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合计 0.0M</a:t>
            </a:r>
            <a:endParaRPr lang="en-US" sz="650" dirty="0"/>
          </a:p>
        </p:txBody>
      </p:sp>
      <p:sp>
        <p:nvSpPr>
          <p:cNvPr id="157" name="Shape 83"/>
          <p:cNvSpPr/>
          <p:nvPr/>
        </p:nvSpPr>
        <p:spPr>
          <a:xfrm>
            <a:off x="1579880" y="1465834"/>
            <a:ext cx="1572768" cy="274320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158" name="Text 84"/>
          <p:cNvSpPr/>
          <p:nvPr/>
        </p:nvSpPr>
        <p:spPr>
          <a:xfrm>
            <a:off x="3198368" y="1511554"/>
            <a:ext cx="74980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0.0▌0.0▌0.0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47548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64592" y="73152"/>
            <a:ext cx="1005840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执行管理端分析仪表盘  |  Execution Management View  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0058400" y="109728"/>
            <a:ext cx="19659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BC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内部文件 · 仅供使用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91440" y="585470"/>
            <a:ext cx="5943600" cy="2834640"/>
          </a:xfrm>
          <a:prstGeom prst="rect">
            <a:avLst/>
          </a:prstGeom>
          <a:solidFill>
            <a:srgbClr val="FFFFFF"/>
          </a:solidFill>
          <a:ln w="9525">
            <a:solidFill>
              <a:srgbClr val="D0D8E8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" y="548640"/>
            <a:ext cx="5943600" cy="25603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2880" y="585216"/>
            <a:ext cx="5779008" cy="1920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  全流程转化漏斗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603250" y="1050290"/>
            <a:ext cx="4699000" cy="270510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03250" y="1050290"/>
            <a:ext cx="2277110" cy="270510"/>
          </a:xfrm>
          <a:prstGeom prst="rect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01295" y="1121410"/>
            <a:ext cx="348615" cy="11493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980B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预约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658495" y="1094105"/>
            <a:ext cx="1044575" cy="12319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184.1M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051175" y="1094105"/>
            <a:ext cx="696595" cy="12319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980B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429件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03250" y="1482090"/>
            <a:ext cx="4699000" cy="270510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03250" y="1482090"/>
            <a:ext cx="1980565" cy="270510"/>
          </a:xfrm>
          <a:prstGeom prst="rect">
            <a:avLst/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01295" y="1526540"/>
            <a:ext cx="348615" cy="12319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79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签单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658495" y="1535430"/>
            <a:ext cx="1044575" cy="12319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181.2M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739390" y="1526540"/>
            <a:ext cx="696595" cy="12319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079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422件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603250" y="1941195"/>
            <a:ext cx="4699000" cy="270510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03250" y="1941195"/>
            <a:ext cx="1568450" cy="270510"/>
          </a:xfrm>
          <a:prstGeom prst="rect">
            <a:avLst/>
          </a:prstGeom>
          <a:solidFill>
            <a:srgbClr val="C8890A"/>
          </a:solidFill>
          <a:ln w="12700">
            <a:solidFill>
              <a:srgbClr val="C8890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01295" y="1967230"/>
            <a:ext cx="348615" cy="12319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889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递交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58495" y="1976120"/>
            <a:ext cx="1044575" cy="12319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164.5M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2306320" y="1985010"/>
            <a:ext cx="696595" cy="12319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889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414件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03250" y="2355215"/>
            <a:ext cx="4699000" cy="270510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03250" y="2355215"/>
            <a:ext cx="4426585" cy="27051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01295" y="2435225"/>
            <a:ext cx="348615" cy="12319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批核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658495" y="2425700"/>
            <a:ext cx="1044575" cy="12319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347.3M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088899" y="2419604"/>
            <a:ext cx="7315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532件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91440" y="2980944"/>
            <a:ext cx="5943600" cy="402336"/>
          </a:xfrm>
          <a:prstGeom prst="rect">
            <a:avLst/>
          </a:prstGeom>
          <a:solidFill>
            <a:srgbClr val="EEF2FF"/>
          </a:solidFill>
          <a:ln w="6350">
            <a:solidFill>
              <a:srgbClr val="C5CEE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1440" y="2980944"/>
            <a:ext cx="5943600" cy="2743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82880" y="3017520"/>
            <a:ext cx="5779008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 What：</a:t>
            </a:r>
            <a:endParaRPr lang="en-US" sz="550" dirty="0"/>
          </a:p>
        </p:txBody>
      </p:sp>
      <p:sp>
        <p:nvSpPr>
          <p:cNvPr id="33" name="Text 31"/>
          <p:cNvSpPr/>
          <p:nvPr/>
        </p:nvSpPr>
        <p:spPr>
          <a:xfrm>
            <a:off x="182880" y="3136392"/>
            <a:ext cx="5779008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批核APE(347.3M)高于预约(184.1M)，反映跨周积压存量消化效应。递交→批核转化率达211%，为典型「存量清仓」节奏。W07全线断崖（预约仅2.7M，递交归零），是执行管理最大异常点。W12预约28.1M创Q1单周新高，前端动能显著回升。</a:t>
            </a:r>
            <a:endParaRPr lang="en-US" sz="550" dirty="0"/>
          </a:p>
        </p:txBody>
      </p:sp>
      <p:sp>
        <p:nvSpPr>
          <p:cNvPr id="34" name="Shape 32"/>
          <p:cNvSpPr/>
          <p:nvPr/>
        </p:nvSpPr>
        <p:spPr>
          <a:xfrm>
            <a:off x="6163056" y="548640"/>
            <a:ext cx="5888736" cy="2834640"/>
          </a:xfrm>
          <a:prstGeom prst="rect">
            <a:avLst/>
          </a:prstGeom>
          <a:solidFill>
            <a:srgbClr val="FFFFFF"/>
          </a:solidFill>
          <a:ln w="9525">
            <a:solidFill>
              <a:srgbClr val="D0D8E8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163056" y="548640"/>
            <a:ext cx="5888736" cy="25603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254496" y="585216"/>
            <a:ext cx="5724144" cy="1920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  周度APE波动趋势（预约/签单/递交/批核）</a:t>
            </a:r>
            <a:endParaRPr lang="en-US" sz="850" dirty="0"/>
          </a:p>
        </p:txBody>
      </p:sp>
      <p:graphicFrame>
        <p:nvGraphicFramePr>
          <p:cNvPr id="37" name="Chart 0"/>
          <p:cNvGraphicFramePr/>
          <p:nvPr/>
        </p:nvGraphicFramePr>
        <p:xfrm>
          <a:off x="6272784" y="841248"/>
          <a:ext cx="5687568" cy="204825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38" name="Shape 35"/>
          <p:cNvSpPr/>
          <p:nvPr/>
        </p:nvSpPr>
        <p:spPr>
          <a:xfrm>
            <a:off x="6163056" y="2980944"/>
            <a:ext cx="5888736" cy="402336"/>
          </a:xfrm>
          <a:prstGeom prst="rect">
            <a:avLst/>
          </a:prstGeom>
          <a:solidFill>
            <a:srgbClr val="EEF2FF"/>
          </a:solidFill>
          <a:ln w="6350">
            <a:solidFill>
              <a:srgbClr val="C5CEE8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6163056" y="2980944"/>
            <a:ext cx="5888736" cy="2743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6254496" y="3017520"/>
            <a:ext cx="5724144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 What：</a:t>
            </a:r>
            <a:endParaRPr lang="en-US" sz="550" dirty="0"/>
          </a:p>
        </p:txBody>
      </p:sp>
      <p:sp>
        <p:nvSpPr>
          <p:cNvPr id="41" name="Text 38"/>
          <p:cNvSpPr/>
          <p:nvPr/>
        </p:nvSpPr>
        <p:spPr>
          <a:xfrm>
            <a:off x="6254496" y="3136392"/>
            <a:ext cx="5724144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W05签单爆发（32.3M）主因ICLUB大单；W07全线归零为执行断层；W08批核激增（67M）为存量集中消化；W12预约/签单均达28M+，前端同步发力，为Q2批核奠定良好基础。</a:t>
            </a:r>
            <a:endParaRPr lang="en-US" sz="550" dirty="0"/>
          </a:p>
        </p:txBody>
      </p:sp>
      <p:sp>
        <p:nvSpPr>
          <p:cNvPr id="42" name="Shape 39"/>
          <p:cNvSpPr/>
          <p:nvPr/>
        </p:nvSpPr>
        <p:spPr>
          <a:xfrm>
            <a:off x="91440" y="3493008"/>
            <a:ext cx="3840480" cy="3163824"/>
          </a:xfrm>
          <a:prstGeom prst="rect">
            <a:avLst/>
          </a:prstGeom>
          <a:solidFill>
            <a:srgbClr val="FFFFFF"/>
          </a:solidFill>
          <a:ln w="9525">
            <a:solidFill>
              <a:srgbClr val="D0D8E8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3" name="Shape 40"/>
          <p:cNvSpPr/>
          <p:nvPr/>
        </p:nvSpPr>
        <p:spPr>
          <a:xfrm>
            <a:off x="91440" y="3493008"/>
            <a:ext cx="3840480" cy="25603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182880" y="3529584"/>
            <a:ext cx="3675888" cy="1920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 本周业绩快报 — W13（2026）</a:t>
            </a:r>
            <a:endParaRPr lang="en-US" sz="850" dirty="0"/>
          </a:p>
        </p:txBody>
      </p:sp>
      <p:sp>
        <p:nvSpPr>
          <p:cNvPr id="45" name="Shape 42"/>
          <p:cNvSpPr/>
          <p:nvPr/>
        </p:nvSpPr>
        <p:spPr>
          <a:xfrm>
            <a:off x="201168" y="3803904"/>
            <a:ext cx="3639312" cy="2011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256032" y="3840480"/>
            <a:ext cx="685800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指标</a:t>
            </a:r>
            <a:endParaRPr lang="en-US" sz="750" dirty="0"/>
          </a:p>
        </p:txBody>
      </p:sp>
      <p:sp>
        <p:nvSpPr>
          <p:cNvPr id="47" name="Text 44"/>
          <p:cNvSpPr/>
          <p:nvPr/>
        </p:nvSpPr>
        <p:spPr>
          <a:xfrm>
            <a:off x="941832" y="3840480"/>
            <a:ext cx="960120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APE（M）</a:t>
            </a:r>
            <a:endParaRPr lang="en-US" sz="750" dirty="0"/>
          </a:p>
        </p:txBody>
      </p:sp>
      <p:sp>
        <p:nvSpPr>
          <p:cNvPr id="48" name="Text 45"/>
          <p:cNvSpPr/>
          <p:nvPr/>
        </p:nvSpPr>
        <p:spPr>
          <a:xfrm>
            <a:off x="1901952" y="3840480"/>
            <a:ext cx="594360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件数</a:t>
            </a:r>
            <a:endParaRPr lang="en-US" sz="750" dirty="0"/>
          </a:p>
        </p:txBody>
      </p:sp>
      <p:sp>
        <p:nvSpPr>
          <p:cNvPr id="49" name="Text 46"/>
          <p:cNvSpPr/>
          <p:nvPr/>
        </p:nvSpPr>
        <p:spPr>
          <a:xfrm>
            <a:off x="2496312" y="3840480"/>
            <a:ext cx="1389888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状态</a:t>
            </a:r>
            <a:endParaRPr lang="en-US" sz="750" dirty="0"/>
          </a:p>
        </p:txBody>
      </p:sp>
      <p:sp>
        <p:nvSpPr>
          <p:cNvPr id="50" name="Shape 47"/>
          <p:cNvSpPr/>
          <p:nvPr/>
        </p:nvSpPr>
        <p:spPr>
          <a:xfrm>
            <a:off x="201168" y="4023360"/>
            <a:ext cx="3639312" cy="402336"/>
          </a:xfrm>
          <a:prstGeom prst="rect">
            <a:avLst/>
          </a:prstGeom>
          <a:solidFill>
            <a:srgbClr val="F5F7FA"/>
          </a:solidFill>
          <a:ln w="3810">
            <a:solidFill>
              <a:srgbClr val="E8ECF0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201168" y="4023360"/>
            <a:ext cx="36576" cy="402336"/>
          </a:xfrm>
          <a:prstGeom prst="rect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274320" y="4114800"/>
            <a:ext cx="630936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980B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预约</a:t>
            </a:r>
            <a:endParaRPr lang="en-US" sz="1000" dirty="0"/>
          </a:p>
        </p:txBody>
      </p:sp>
      <p:sp>
        <p:nvSpPr>
          <p:cNvPr id="53" name="Text 50"/>
          <p:cNvSpPr/>
          <p:nvPr/>
        </p:nvSpPr>
        <p:spPr>
          <a:xfrm>
            <a:off x="941832" y="4096512"/>
            <a:ext cx="923544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980B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6.0M</a:t>
            </a:r>
            <a:endParaRPr lang="en-US" sz="1400" dirty="0"/>
          </a:p>
        </p:txBody>
      </p:sp>
      <p:sp>
        <p:nvSpPr>
          <p:cNvPr id="54" name="Text 51"/>
          <p:cNvSpPr/>
          <p:nvPr/>
        </p:nvSpPr>
        <p:spPr>
          <a:xfrm>
            <a:off x="1901952" y="4114800"/>
            <a:ext cx="557784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980B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22件</a:t>
            </a:r>
            <a:endParaRPr lang="en-US" sz="1000" dirty="0"/>
          </a:p>
        </p:txBody>
      </p:sp>
      <p:sp>
        <p:nvSpPr>
          <p:cNvPr id="55" name="Text 52"/>
          <p:cNvSpPr/>
          <p:nvPr/>
        </p:nvSpPr>
        <p:spPr>
          <a:xfrm>
            <a:off x="2496312" y="4114800"/>
            <a:ext cx="1335024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A7A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▼ 环比−78.7%</a:t>
            </a:r>
            <a:endParaRPr lang="en-US" sz="850" dirty="0"/>
          </a:p>
        </p:txBody>
      </p:sp>
      <p:sp>
        <p:nvSpPr>
          <p:cNvPr id="56" name="Shape 53"/>
          <p:cNvSpPr/>
          <p:nvPr/>
        </p:nvSpPr>
        <p:spPr>
          <a:xfrm>
            <a:off x="201168" y="4443984"/>
            <a:ext cx="3639312" cy="402336"/>
          </a:xfrm>
          <a:prstGeom prst="rect">
            <a:avLst/>
          </a:prstGeom>
          <a:solidFill>
            <a:srgbClr val="FFFFFF"/>
          </a:solidFill>
          <a:ln w="3810">
            <a:solidFill>
              <a:srgbClr val="E8ECF0"/>
            </a:solidFill>
            <a:prstDash val="solid"/>
          </a:ln>
        </p:spPr>
      </p:sp>
      <p:sp>
        <p:nvSpPr>
          <p:cNvPr id="57" name="Shape 54"/>
          <p:cNvSpPr/>
          <p:nvPr/>
        </p:nvSpPr>
        <p:spPr>
          <a:xfrm>
            <a:off x="201168" y="4443984"/>
            <a:ext cx="36576" cy="402336"/>
          </a:xfrm>
          <a:prstGeom prst="rect">
            <a:avLst/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</p:spPr>
      </p:sp>
      <p:sp>
        <p:nvSpPr>
          <p:cNvPr id="58" name="Text 55"/>
          <p:cNvSpPr/>
          <p:nvPr/>
        </p:nvSpPr>
        <p:spPr>
          <a:xfrm>
            <a:off x="274320" y="4535424"/>
            <a:ext cx="630936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79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签单</a:t>
            </a:r>
            <a:endParaRPr lang="en-US" sz="1000" dirty="0"/>
          </a:p>
        </p:txBody>
      </p:sp>
      <p:sp>
        <p:nvSpPr>
          <p:cNvPr id="59" name="Text 56"/>
          <p:cNvSpPr/>
          <p:nvPr/>
        </p:nvSpPr>
        <p:spPr>
          <a:xfrm>
            <a:off x="941832" y="4517136"/>
            <a:ext cx="923544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79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17.5M</a:t>
            </a:r>
            <a:endParaRPr lang="en-US" sz="1400" dirty="0"/>
          </a:p>
        </p:txBody>
      </p:sp>
      <p:sp>
        <p:nvSpPr>
          <p:cNvPr id="60" name="Text 57"/>
          <p:cNvSpPr/>
          <p:nvPr/>
        </p:nvSpPr>
        <p:spPr>
          <a:xfrm>
            <a:off x="1901952" y="4535424"/>
            <a:ext cx="557784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79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40件</a:t>
            </a:r>
            <a:endParaRPr lang="en-US" sz="1000" dirty="0"/>
          </a:p>
        </p:txBody>
      </p:sp>
      <p:sp>
        <p:nvSpPr>
          <p:cNvPr id="61" name="Text 58"/>
          <p:cNvSpPr/>
          <p:nvPr/>
        </p:nvSpPr>
        <p:spPr>
          <a:xfrm>
            <a:off x="2496312" y="4535424"/>
            <a:ext cx="1335024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039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▼ 环比−38.0%</a:t>
            </a:r>
            <a:endParaRPr lang="en-US" sz="850" dirty="0"/>
          </a:p>
        </p:txBody>
      </p:sp>
      <p:sp>
        <p:nvSpPr>
          <p:cNvPr id="62" name="Shape 59"/>
          <p:cNvSpPr/>
          <p:nvPr/>
        </p:nvSpPr>
        <p:spPr>
          <a:xfrm>
            <a:off x="201168" y="4864608"/>
            <a:ext cx="3639312" cy="402336"/>
          </a:xfrm>
          <a:prstGeom prst="rect">
            <a:avLst/>
          </a:prstGeom>
          <a:solidFill>
            <a:srgbClr val="F5F7FA"/>
          </a:solidFill>
          <a:ln w="3810">
            <a:solidFill>
              <a:srgbClr val="E8ECF0"/>
            </a:solidFill>
            <a:prstDash val="solid"/>
          </a:ln>
        </p:spPr>
      </p:sp>
      <p:sp>
        <p:nvSpPr>
          <p:cNvPr id="63" name="Shape 60"/>
          <p:cNvSpPr/>
          <p:nvPr/>
        </p:nvSpPr>
        <p:spPr>
          <a:xfrm>
            <a:off x="201168" y="4864608"/>
            <a:ext cx="36576" cy="402336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64" name="Text 61"/>
          <p:cNvSpPr/>
          <p:nvPr/>
        </p:nvSpPr>
        <p:spPr>
          <a:xfrm>
            <a:off x="274320" y="4956048"/>
            <a:ext cx="630936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批核</a:t>
            </a:r>
            <a:endParaRPr lang="en-US" sz="1000" dirty="0"/>
          </a:p>
        </p:txBody>
      </p:sp>
      <p:sp>
        <p:nvSpPr>
          <p:cNvPr id="65" name="Text 62"/>
          <p:cNvSpPr/>
          <p:nvPr/>
        </p:nvSpPr>
        <p:spPr>
          <a:xfrm>
            <a:off x="941832" y="4937760"/>
            <a:ext cx="923544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13.5M</a:t>
            </a:r>
            <a:endParaRPr lang="en-US" sz="1400" dirty="0"/>
          </a:p>
        </p:txBody>
      </p:sp>
      <p:sp>
        <p:nvSpPr>
          <p:cNvPr id="66" name="Text 63"/>
          <p:cNvSpPr/>
          <p:nvPr/>
        </p:nvSpPr>
        <p:spPr>
          <a:xfrm>
            <a:off x="1901952" y="4956048"/>
            <a:ext cx="557784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45件</a:t>
            </a:r>
            <a:endParaRPr lang="en-US" sz="1000" dirty="0"/>
          </a:p>
        </p:txBody>
      </p:sp>
      <p:sp>
        <p:nvSpPr>
          <p:cNvPr id="67" name="Text 64"/>
          <p:cNvSpPr/>
          <p:nvPr/>
        </p:nvSpPr>
        <p:spPr>
          <a:xfrm>
            <a:off x="2496312" y="4956048"/>
            <a:ext cx="1335024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039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▼ 历史最低</a:t>
            </a:r>
            <a:endParaRPr lang="en-US" sz="850" dirty="0"/>
          </a:p>
        </p:txBody>
      </p:sp>
      <p:sp>
        <p:nvSpPr>
          <p:cNvPr id="68" name="Shape 65"/>
          <p:cNvSpPr/>
          <p:nvPr/>
        </p:nvSpPr>
        <p:spPr>
          <a:xfrm>
            <a:off x="201168" y="5285232"/>
            <a:ext cx="3639312" cy="402336"/>
          </a:xfrm>
          <a:prstGeom prst="rect">
            <a:avLst/>
          </a:prstGeom>
          <a:solidFill>
            <a:srgbClr val="FFF8E1"/>
          </a:solidFill>
          <a:ln w="10160">
            <a:solidFill>
              <a:srgbClr val="C8890A"/>
            </a:solidFill>
            <a:prstDash val="solid"/>
          </a:ln>
        </p:spPr>
      </p:sp>
      <p:sp>
        <p:nvSpPr>
          <p:cNvPr id="69" name="Shape 66"/>
          <p:cNvSpPr/>
          <p:nvPr/>
        </p:nvSpPr>
        <p:spPr>
          <a:xfrm>
            <a:off x="201168" y="5285232"/>
            <a:ext cx="36576" cy="402336"/>
          </a:xfrm>
          <a:prstGeom prst="rect">
            <a:avLst/>
          </a:prstGeom>
          <a:solidFill>
            <a:srgbClr val="C8890A"/>
          </a:solidFill>
          <a:ln w="12700">
            <a:solidFill>
              <a:srgbClr val="C8890A"/>
            </a:solidFill>
            <a:prstDash val="solid"/>
          </a:ln>
        </p:spPr>
      </p:sp>
      <p:sp>
        <p:nvSpPr>
          <p:cNvPr id="70" name="Text 67"/>
          <p:cNvSpPr/>
          <p:nvPr/>
        </p:nvSpPr>
        <p:spPr>
          <a:xfrm>
            <a:off x="274320" y="5376672"/>
            <a:ext cx="630936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889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未批核</a:t>
            </a:r>
            <a:endParaRPr lang="en-US" sz="1000" dirty="0"/>
          </a:p>
        </p:txBody>
      </p:sp>
      <p:sp>
        <p:nvSpPr>
          <p:cNvPr id="71" name="Text 68"/>
          <p:cNvSpPr/>
          <p:nvPr/>
        </p:nvSpPr>
        <p:spPr>
          <a:xfrm>
            <a:off x="911352" y="5358384"/>
            <a:ext cx="923544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889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167.9M</a:t>
            </a:r>
            <a:endParaRPr lang="en-US" sz="1400" dirty="0"/>
          </a:p>
        </p:txBody>
      </p:sp>
      <p:sp>
        <p:nvSpPr>
          <p:cNvPr id="72" name="Text 69"/>
          <p:cNvSpPr/>
          <p:nvPr/>
        </p:nvSpPr>
        <p:spPr>
          <a:xfrm>
            <a:off x="1901952" y="5376672"/>
            <a:ext cx="557784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889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242件</a:t>
            </a:r>
            <a:endParaRPr lang="en-US" sz="1000" dirty="0"/>
          </a:p>
        </p:txBody>
      </p:sp>
      <p:sp>
        <p:nvSpPr>
          <p:cNvPr id="73" name="Text 70"/>
          <p:cNvSpPr/>
          <p:nvPr/>
        </p:nvSpPr>
        <p:spPr>
          <a:xfrm>
            <a:off x="2496312" y="5376672"/>
            <a:ext cx="1335024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889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⚠ 待转化优先</a:t>
            </a:r>
            <a:endParaRPr lang="en-US" sz="850" dirty="0"/>
          </a:p>
        </p:txBody>
      </p:sp>
      <p:sp>
        <p:nvSpPr>
          <p:cNvPr id="74" name="Shape 71"/>
          <p:cNvSpPr/>
          <p:nvPr/>
        </p:nvSpPr>
        <p:spPr>
          <a:xfrm>
            <a:off x="201168" y="5705856"/>
            <a:ext cx="3639312" cy="402336"/>
          </a:xfrm>
          <a:prstGeom prst="rect">
            <a:avLst/>
          </a:prstGeom>
          <a:solidFill>
            <a:srgbClr val="F5F7FA"/>
          </a:solidFill>
          <a:ln w="3810">
            <a:solidFill>
              <a:srgbClr val="E8ECF0"/>
            </a:solidFill>
            <a:prstDash val="solid"/>
          </a:ln>
        </p:spPr>
      </p:sp>
      <p:sp>
        <p:nvSpPr>
          <p:cNvPr id="75" name="Shape 72"/>
          <p:cNvSpPr/>
          <p:nvPr/>
        </p:nvSpPr>
        <p:spPr>
          <a:xfrm>
            <a:off x="201168" y="5705856"/>
            <a:ext cx="36576" cy="402336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76" name="Text 73"/>
          <p:cNvSpPr/>
          <p:nvPr/>
        </p:nvSpPr>
        <p:spPr>
          <a:xfrm>
            <a:off x="274320" y="5797296"/>
            <a:ext cx="630936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E44A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待签</a:t>
            </a:r>
            <a:endParaRPr lang="en-US" sz="1000" dirty="0"/>
          </a:p>
        </p:txBody>
      </p:sp>
      <p:sp>
        <p:nvSpPr>
          <p:cNvPr id="77" name="Text 74"/>
          <p:cNvSpPr/>
          <p:nvPr/>
        </p:nvSpPr>
        <p:spPr>
          <a:xfrm>
            <a:off x="941832" y="5779008"/>
            <a:ext cx="923544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E44A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3.9M</a:t>
            </a:r>
            <a:endParaRPr lang="en-US" sz="1400" dirty="0"/>
          </a:p>
        </p:txBody>
      </p:sp>
      <p:sp>
        <p:nvSpPr>
          <p:cNvPr id="78" name="Text 75"/>
          <p:cNvSpPr/>
          <p:nvPr/>
        </p:nvSpPr>
        <p:spPr>
          <a:xfrm>
            <a:off x="1901952" y="5797296"/>
            <a:ext cx="557784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E44A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12件</a:t>
            </a:r>
            <a:endParaRPr lang="en-US" sz="1000" dirty="0"/>
          </a:p>
        </p:txBody>
      </p:sp>
      <p:sp>
        <p:nvSpPr>
          <p:cNvPr id="79" name="Text 76"/>
          <p:cNvSpPr/>
          <p:nvPr/>
        </p:nvSpPr>
        <p:spPr>
          <a:xfrm>
            <a:off x="2496312" y="5797296"/>
            <a:ext cx="1335024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 尽快推进</a:t>
            </a:r>
            <a:endParaRPr lang="en-US" sz="850" dirty="0"/>
          </a:p>
        </p:txBody>
      </p:sp>
      <p:sp>
        <p:nvSpPr>
          <p:cNvPr id="80" name="Shape 77"/>
          <p:cNvSpPr/>
          <p:nvPr/>
        </p:nvSpPr>
        <p:spPr>
          <a:xfrm>
            <a:off x="91440" y="6254496"/>
            <a:ext cx="3840480" cy="402336"/>
          </a:xfrm>
          <a:prstGeom prst="rect">
            <a:avLst/>
          </a:prstGeom>
          <a:solidFill>
            <a:srgbClr val="EEF2FF"/>
          </a:solidFill>
          <a:ln w="6350">
            <a:solidFill>
              <a:srgbClr val="C5CEE8"/>
            </a:solidFill>
            <a:prstDash val="solid"/>
          </a:ln>
        </p:spPr>
      </p:sp>
      <p:sp>
        <p:nvSpPr>
          <p:cNvPr id="81" name="Shape 78"/>
          <p:cNvSpPr/>
          <p:nvPr/>
        </p:nvSpPr>
        <p:spPr>
          <a:xfrm>
            <a:off x="91440" y="6254496"/>
            <a:ext cx="3840480" cy="2743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82" name="Text 79"/>
          <p:cNvSpPr/>
          <p:nvPr/>
        </p:nvSpPr>
        <p:spPr>
          <a:xfrm>
            <a:off x="182880" y="6291072"/>
            <a:ext cx="3675888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 What：</a:t>
            </a:r>
            <a:endParaRPr lang="en-US" sz="550" dirty="0"/>
          </a:p>
        </p:txBody>
      </p:sp>
      <p:sp>
        <p:nvSpPr>
          <p:cNvPr id="83" name="Text 80"/>
          <p:cNvSpPr/>
          <p:nvPr/>
        </p:nvSpPr>
        <p:spPr>
          <a:xfrm>
            <a:off x="182880" y="6409944"/>
            <a:ext cx="3675888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W13（4月初）预约6.0M/22件，为节后正常低位；签单17.5M/40件仍强劲，递交39.7M/90件创单周新高——大量3月签单件正集中递交；批核13.5M/45件恢复正常。未批核167.9M（242件）是Q2批核的核心转化库存。</a:t>
            </a:r>
            <a:endParaRPr lang="en-US" sz="550" dirty="0"/>
          </a:p>
        </p:txBody>
      </p:sp>
      <p:sp>
        <p:nvSpPr>
          <p:cNvPr id="84" name="Shape 81"/>
          <p:cNvSpPr/>
          <p:nvPr/>
        </p:nvSpPr>
        <p:spPr>
          <a:xfrm>
            <a:off x="4059936" y="3493008"/>
            <a:ext cx="7991856" cy="3163824"/>
          </a:xfrm>
          <a:prstGeom prst="rect">
            <a:avLst/>
          </a:prstGeom>
          <a:solidFill>
            <a:srgbClr val="FFFFFF"/>
          </a:solidFill>
          <a:ln w="9525">
            <a:solidFill>
              <a:srgbClr val="D0D8E8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85" name="Shape 82"/>
          <p:cNvSpPr/>
          <p:nvPr/>
        </p:nvSpPr>
        <p:spPr>
          <a:xfrm>
            <a:off x="4059936" y="3493008"/>
            <a:ext cx="7991856" cy="256032"/>
          </a:xfrm>
          <a:prstGeom prst="rect">
            <a:avLst/>
          </a:prstGeom>
          <a:solidFill>
            <a:srgbClr val="4A235A"/>
          </a:solidFill>
          <a:ln w="12700">
            <a:solidFill>
              <a:srgbClr val="4A235A"/>
            </a:solidFill>
            <a:prstDash val="solid"/>
          </a:ln>
        </p:spPr>
      </p:sp>
      <p:sp>
        <p:nvSpPr>
          <p:cNvPr id="86" name="Text 83"/>
          <p:cNvSpPr/>
          <p:nvPr/>
        </p:nvSpPr>
        <p:spPr>
          <a:xfrm>
            <a:off x="4151376" y="3529584"/>
            <a:ext cx="7827264" cy="1920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  KEY ACCOUNT TOP10 排名 </a:t>
            </a:r>
            <a:endParaRPr lang="en-US" sz="850" dirty="0"/>
          </a:p>
        </p:txBody>
      </p:sp>
      <p:sp>
        <p:nvSpPr>
          <p:cNvPr id="87" name="Shape 84"/>
          <p:cNvSpPr/>
          <p:nvPr/>
        </p:nvSpPr>
        <p:spPr>
          <a:xfrm>
            <a:off x="4169664" y="3803904"/>
            <a:ext cx="7790688" cy="256032"/>
          </a:xfrm>
          <a:prstGeom prst="rect">
            <a:avLst/>
          </a:prstGeom>
          <a:solidFill>
            <a:srgbClr val="4A235A"/>
          </a:solidFill>
          <a:ln w="12700">
            <a:solidFill>
              <a:srgbClr val="4A235A"/>
            </a:solidFill>
            <a:prstDash val="solid"/>
          </a:ln>
        </p:spPr>
      </p:sp>
      <p:sp>
        <p:nvSpPr>
          <p:cNvPr id="88" name="Text 85"/>
          <p:cNvSpPr/>
          <p:nvPr/>
        </p:nvSpPr>
        <p:spPr>
          <a:xfrm>
            <a:off x="4206240" y="3840480"/>
            <a:ext cx="29260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#</a:t>
            </a:r>
            <a:endParaRPr lang="en-US" sz="700" dirty="0"/>
          </a:p>
        </p:txBody>
      </p:sp>
      <p:sp>
        <p:nvSpPr>
          <p:cNvPr id="89" name="Text 86"/>
          <p:cNvSpPr/>
          <p:nvPr/>
        </p:nvSpPr>
        <p:spPr>
          <a:xfrm>
            <a:off x="4517136" y="3840480"/>
            <a:ext cx="89611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KEY ACCOUNT</a:t>
            </a:r>
            <a:endParaRPr lang="en-US" sz="700" dirty="0"/>
          </a:p>
        </p:txBody>
      </p:sp>
      <p:sp>
        <p:nvSpPr>
          <p:cNvPr id="90" name="Text 87"/>
          <p:cNvSpPr/>
          <p:nvPr/>
        </p:nvSpPr>
        <p:spPr>
          <a:xfrm>
            <a:off x="5431536" y="3840480"/>
            <a:ext cx="768096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业务细分</a:t>
            </a:r>
            <a:endParaRPr lang="en-US" sz="700" dirty="0"/>
          </a:p>
        </p:txBody>
      </p:sp>
      <p:sp>
        <p:nvSpPr>
          <p:cNvPr id="91" name="Text 88"/>
          <p:cNvSpPr/>
          <p:nvPr/>
        </p:nvSpPr>
        <p:spPr>
          <a:xfrm>
            <a:off x="6217920" y="3840480"/>
            <a:ext cx="82296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批核APE</a:t>
            </a:r>
            <a:endParaRPr lang="en-US" sz="700" dirty="0"/>
          </a:p>
        </p:txBody>
      </p:sp>
      <p:sp>
        <p:nvSpPr>
          <p:cNvPr id="92" name="Text 89"/>
          <p:cNvSpPr/>
          <p:nvPr/>
        </p:nvSpPr>
        <p:spPr>
          <a:xfrm>
            <a:off x="7059168" y="3840480"/>
            <a:ext cx="54864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批核件数</a:t>
            </a:r>
            <a:endParaRPr lang="en-US" sz="700" dirty="0"/>
          </a:p>
        </p:txBody>
      </p:sp>
      <p:sp>
        <p:nvSpPr>
          <p:cNvPr id="93" name="Text 90"/>
          <p:cNvSpPr/>
          <p:nvPr/>
        </p:nvSpPr>
        <p:spPr>
          <a:xfrm>
            <a:off x="7626096" y="3840480"/>
            <a:ext cx="82296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未批核APE</a:t>
            </a:r>
            <a:endParaRPr lang="en-US" sz="700" dirty="0"/>
          </a:p>
        </p:txBody>
      </p:sp>
      <p:sp>
        <p:nvSpPr>
          <p:cNvPr id="94" name="Text 91"/>
          <p:cNvSpPr/>
          <p:nvPr/>
        </p:nvSpPr>
        <p:spPr>
          <a:xfrm>
            <a:off x="8467344" y="3840480"/>
            <a:ext cx="54864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未批核件数</a:t>
            </a:r>
            <a:endParaRPr lang="en-US" sz="700" dirty="0"/>
          </a:p>
        </p:txBody>
      </p:sp>
      <p:sp>
        <p:nvSpPr>
          <p:cNvPr id="95" name="Text 92"/>
          <p:cNvSpPr/>
          <p:nvPr/>
        </p:nvSpPr>
        <p:spPr>
          <a:xfrm>
            <a:off x="9034272" y="3840480"/>
            <a:ext cx="676656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待签APE</a:t>
            </a:r>
            <a:endParaRPr lang="en-US" sz="700" dirty="0"/>
          </a:p>
        </p:txBody>
      </p:sp>
      <p:sp>
        <p:nvSpPr>
          <p:cNvPr id="96" name="Text 93"/>
          <p:cNvSpPr/>
          <p:nvPr/>
        </p:nvSpPr>
        <p:spPr>
          <a:xfrm>
            <a:off x="9729216" y="3840480"/>
            <a:ext cx="54864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待签件数</a:t>
            </a:r>
            <a:endParaRPr lang="en-US" sz="700" dirty="0"/>
          </a:p>
        </p:txBody>
      </p:sp>
      <p:sp>
        <p:nvSpPr>
          <p:cNvPr id="97" name="Text 94"/>
          <p:cNvSpPr/>
          <p:nvPr/>
        </p:nvSpPr>
        <p:spPr>
          <a:xfrm>
            <a:off x="10296144" y="3840480"/>
            <a:ext cx="859536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合计APE</a:t>
            </a:r>
            <a:endParaRPr lang="en-US" sz="700" dirty="0"/>
          </a:p>
        </p:txBody>
      </p:sp>
      <p:sp>
        <p:nvSpPr>
          <p:cNvPr id="98" name="Text 95"/>
          <p:cNvSpPr/>
          <p:nvPr/>
        </p:nvSpPr>
        <p:spPr>
          <a:xfrm>
            <a:off x="11173968" y="3840480"/>
            <a:ext cx="585216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合计件数</a:t>
            </a:r>
            <a:endParaRPr lang="en-US" sz="700" dirty="0"/>
          </a:p>
        </p:txBody>
      </p:sp>
      <p:sp>
        <p:nvSpPr>
          <p:cNvPr id="99" name="Shape 96"/>
          <p:cNvSpPr/>
          <p:nvPr/>
        </p:nvSpPr>
        <p:spPr>
          <a:xfrm>
            <a:off x="4169664" y="4078224"/>
            <a:ext cx="7790688" cy="182880"/>
          </a:xfrm>
          <a:prstGeom prst="rect">
            <a:avLst/>
          </a:prstGeom>
          <a:solidFill>
            <a:srgbClr val="F5F0FA"/>
          </a:solidFill>
          <a:ln w="8890">
            <a:solidFill>
              <a:srgbClr val="C5A8E0"/>
            </a:solidFill>
            <a:prstDash val="solid"/>
          </a:ln>
        </p:spPr>
      </p:sp>
      <p:sp>
        <p:nvSpPr>
          <p:cNvPr id="100" name="Shape 97"/>
          <p:cNvSpPr/>
          <p:nvPr/>
        </p:nvSpPr>
        <p:spPr>
          <a:xfrm>
            <a:off x="4169664" y="4078224"/>
            <a:ext cx="36576" cy="18288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01" name="Shape 98"/>
          <p:cNvSpPr/>
          <p:nvPr/>
        </p:nvSpPr>
        <p:spPr>
          <a:xfrm>
            <a:off x="4279392" y="4133088"/>
            <a:ext cx="128016" cy="128016"/>
          </a:xfrm>
          <a:prstGeom prst="ellipse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102" name="Text 99"/>
          <p:cNvSpPr/>
          <p:nvPr/>
        </p:nvSpPr>
        <p:spPr>
          <a:xfrm>
            <a:off x="4242816" y="4114800"/>
            <a:ext cx="2743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800" dirty="0"/>
          </a:p>
        </p:txBody>
      </p:sp>
      <p:sp>
        <p:nvSpPr>
          <p:cNvPr id="103" name="Text 100"/>
          <p:cNvSpPr/>
          <p:nvPr/>
        </p:nvSpPr>
        <p:spPr>
          <a:xfrm>
            <a:off x="4553712" y="4114800"/>
            <a:ext cx="877824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民生银行</a:t>
            </a:r>
            <a:endParaRPr lang="en-US" sz="850" dirty="0"/>
          </a:p>
        </p:txBody>
      </p:sp>
      <p:sp>
        <p:nvSpPr>
          <p:cNvPr id="104" name="Text 101"/>
          <p:cNvSpPr/>
          <p:nvPr/>
        </p:nvSpPr>
        <p:spPr>
          <a:xfrm>
            <a:off x="5468112" y="4114800"/>
            <a:ext cx="74980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BK业务</a:t>
            </a:r>
            <a:endParaRPr lang="en-US" sz="800" dirty="0"/>
          </a:p>
        </p:txBody>
      </p:sp>
      <p:sp>
        <p:nvSpPr>
          <p:cNvPr id="105" name="Text 102"/>
          <p:cNvSpPr/>
          <p:nvPr/>
        </p:nvSpPr>
        <p:spPr>
          <a:xfrm>
            <a:off x="6254496" y="4114800"/>
            <a:ext cx="80467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142.1M</a:t>
            </a:r>
            <a:endParaRPr lang="en-US" sz="800" dirty="0"/>
          </a:p>
        </p:txBody>
      </p:sp>
      <p:sp>
        <p:nvSpPr>
          <p:cNvPr id="106" name="Text 103"/>
          <p:cNvSpPr/>
          <p:nvPr/>
        </p:nvSpPr>
        <p:spPr>
          <a:xfrm>
            <a:off x="7095744" y="4114800"/>
            <a:ext cx="53035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121</a:t>
            </a:r>
            <a:endParaRPr lang="en-US" sz="800" dirty="0"/>
          </a:p>
        </p:txBody>
      </p:sp>
      <p:sp>
        <p:nvSpPr>
          <p:cNvPr id="107" name="Text 104"/>
          <p:cNvSpPr/>
          <p:nvPr/>
        </p:nvSpPr>
        <p:spPr>
          <a:xfrm>
            <a:off x="7662672" y="4114800"/>
            <a:ext cx="80467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889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63.5M</a:t>
            </a:r>
            <a:endParaRPr lang="en-US" sz="800" dirty="0"/>
          </a:p>
        </p:txBody>
      </p:sp>
      <p:sp>
        <p:nvSpPr>
          <p:cNvPr id="108" name="Text 105"/>
          <p:cNvSpPr/>
          <p:nvPr/>
        </p:nvSpPr>
        <p:spPr>
          <a:xfrm>
            <a:off x="8503920" y="4114800"/>
            <a:ext cx="53035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55</a:t>
            </a:r>
            <a:endParaRPr lang="en-US" sz="800" dirty="0"/>
          </a:p>
        </p:txBody>
      </p:sp>
      <p:sp>
        <p:nvSpPr>
          <p:cNvPr id="109" name="Text 106"/>
          <p:cNvSpPr/>
          <p:nvPr/>
        </p:nvSpPr>
        <p:spPr>
          <a:xfrm>
            <a:off x="9070848" y="4114800"/>
            <a:ext cx="65836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E86C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2.7M</a:t>
            </a:r>
            <a:endParaRPr lang="en-US" sz="800" dirty="0"/>
          </a:p>
        </p:txBody>
      </p:sp>
      <p:sp>
        <p:nvSpPr>
          <p:cNvPr id="110" name="Text 107"/>
          <p:cNvSpPr/>
          <p:nvPr/>
        </p:nvSpPr>
        <p:spPr>
          <a:xfrm>
            <a:off x="9765792" y="4114800"/>
            <a:ext cx="53035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</a:t>
            </a:r>
            <a:endParaRPr lang="en-US" sz="800" dirty="0"/>
          </a:p>
        </p:txBody>
      </p:sp>
      <p:sp>
        <p:nvSpPr>
          <p:cNvPr id="111" name="Text 108"/>
          <p:cNvSpPr/>
          <p:nvPr/>
        </p:nvSpPr>
        <p:spPr>
          <a:xfrm>
            <a:off x="10332720" y="4114800"/>
            <a:ext cx="84124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206.6M</a:t>
            </a:r>
            <a:endParaRPr lang="en-US" sz="800" dirty="0"/>
          </a:p>
        </p:txBody>
      </p:sp>
      <p:sp>
        <p:nvSpPr>
          <p:cNvPr id="112" name="Text 109"/>
          <p:cNvSpPr/>
          <p:nvPr/>
        </p:nvSpPr>
        <p:spPr>
          <a:xfrm>
            <a:off x="11210544" y="4114800"/>
            <a:ext cx="56692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178</a:t>
            </a:r>
            <a:endParaRPr lang="en-US" sz="800" dirty="0"/>
          </a:p>
        </p:txBody>
      </p:sp>
      <p:sp>
        <p:nvSpPr>
          <p:cNvPr id="113" name="Shape 110"/>
          <p:cNvSpPr/>
          <p:nvPr/>
        </p:nvSpPr>
        <p:spPr>
          <a:xfrm>
            <a:off x="4169664" y="4279392"/>
            <a:ext cx="7790688" cy="182880"/>
          </a:xfrm>
          <a:prstGeom prst="rect">
            <a:avLst/>
          </a:prstGeom>
          <a:solidFill>
            <a:srgbClr val="F5F0FA"/>
          </a:solidFill>
          <a:ln w="8890">
            <a:solidFill>
              <a:srgbClr val="C5A8E0"/>
            </a:solidFill>
            <a:prstDash val="solid"/>
          </a:ln>
        </p:spPr>
      </p:sp>
      <p:sp>
        <p:nvSpPr>
          <p:cNvPr id="114" name="Shape 111"/>
          <p:cNvSpPr/>
          <p:nvPr/>
        </p:nvSpPr>
        <p:spPr>
          <a:xfrm>
            <a:off x="4169664" y="4279392"/>
            <a:ext cx="36576" cy="18288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15" name="Shape 112"/>
          <p:cNvSpPr/>
          <p:nvPr/>
        </p:nvSpPr>
        <p:spPr>
          <a:xfrm>
            <a:off x="4279392" y="4334256"/>
            <a:ext cx="128016" cy="128016"/>
          </a:xfrm>
          <a:prstGeom prst="ellipse">
            <a:avLst/>
          </a:prstGeom>
          <a:solidFill>
            <a:srgbClr val="C0C0C0"/>
          </a:solidFill>
          <a:ln w="12700">
            <a:solidFill>
              <a:srgbClr val="C0C0C0"/>
            </a:solidFill>
            <a:prstDash val="solid"/>
          </a:ln>
        </p:spPr>
      </p:sp>
      <p:sp>
        <p:nvSpPr>
          <p:cNvPr id="116" name="Text 113"/>
          <p:cNvSpPr/>
          <p:nvPr/>
        </p:nvSpPr>
        <p:spPr>
          <a:xfrm>
            <a:off x="4242816" y="4315968"/>
            <a:ext cx="2743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800" dirty="0"/>
          </a:p>
        </p:txBody>
      </p:sp>
      <p:sp>
        <p:nvSpPr>
          <p:cNvPr id="117" name="Text 114"/>
          <p:cNvSpPr/>
          <p:nvPr/>
        </p:nvSpPr>
        <p:spPr>
          <a:xfrm>
            <a:off x="4553712" y="4315968"/>
            <a:ext cx="877824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平安银行</a:t>
            </a:r>
            <a:endParaRPr lang="en-US" sz="850" dirty="0"/>
          </a:p>
        </p:txBody>
      </p:sp>
      <p:sp>
        <p:nvSpPr>
          <p:cNvPr id="118" name="Text 115"/>
          <p:cNvSpPr/>
          <p:nvPr/>
        </p:nvSpPr>
        <p:spPr>
          <a:xfrm>
            <a:off x="5468112" y="4315968"/>
            <a:ext cx="74980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BK业务</a:t>
            </a:r>
            <a:endParaRPr lang="en-US" sz="800" dirty="0"/>
          </a:p>
        </p:txBody>
      </p:sp>
      <p:sp>
        <p:nvSpPr>
          <p:cNvPr id="119" name="Text 116"/>
          <p:cNvSpPr/>
          <p:nvPr/>
        </p:nvSpPr>
        <p:spPr>
          <a:xfrm>
            <a:off x="6254496" y="4315968"/>
            <a:ext cx="80467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28.8M</a:t>
            </a:r>
            <a:endParaRPr lang="en-US" sz="800" dirty="0"/>
          </a:p>
        </p:txBody>
      </p:sp>
      <p:sp>
        <p:nvSpPr>
          <p:cNvPr id="120" name="Text 117"/>
          <p:cNvSpPr/>
          <p:nvPr/>
        </p:nvSpPr>
        <p:spPr>
          <a:xfrm>
            <a:off x="7095744" y="4315968"/>
            <a:ext cx="53035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12</a:t>
            </a:r>
            <a:endParaRPr lang="en-US" sz="800" dirty="0"/>
          </a:p>
        </p:txBody>
      </p:sp>
      <p:sp>
        <p:nvSpPr>
          <p:cNvPr id="121" name="Text 118"/>
          <p:cNvSpPr/>
          <p:nvPr/>
        </p:nvSpPr>
        <p:spPr>
          <a:xfrm>
            <a:off x="7662672" y="4315968"/>
            <a:ext cx="80467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889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17.2M</a:t>
            </a:r>
            <a:endParaRPr lang="en-US" sz="800" dirty="0"/>
          </a:p>
        </p:txBody>
      </p:sp>
      <p:sp>
        <p:nvSpPr>
          <p:cNvPr id="122" name="Text 119"/>
          <p:cNvSpPr/>
          <p:nvPr/>
        </p:nvSpPr>
        <p:spPr>
          <a:xfrm>
            <a:off x="8503920" y="4315968"/>
            <a:ext cx="53035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11</a:t>
            </a:r>
            <a:endParaRPr lang="en-US" sz="800" dirty="0"/>
          </a:p>
        </p:txBody>
      </p:sp>
      <p:sp>
        <p:nvSpPr>
          <p:cNvPr id="123" name="Text 120"/>
          <p:cNvSpPr/>
          <p:nvPr/>
        </p:nvSpPr>
        <p:spPr>
          <a:xfrm>
            <a:off x="9070848" y="4315968"/>
            <a:ext cx="65836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E86C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0.8M</a:t>
            </a:r>
            <a:endParaRPr lang="en-US" sz="800" dirty="0"/>
          </a:p>
        </p:txBody>
      </p:sp>
      <p:sp>
        <p:nvSpPr>
          <p:cNvPr id="124" name="Text 121"/>
          <p:cNvSpPr/>
          <p:nvPr/>
        </p:nvSpPr>
        <p:spPr>
          <a:xfrm>
            <a:off x="9765792" y="4315968"/>
            <a:ext cx="53035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800" dirty="0"/>
          </a:p>
        </p:txBody>
      </p:sp>
      <p:sp>
        <p:nvSpPr>
          <p:cNvPr id="125" name="Text 122"/>
          <p:cNvSpPr/>
          <p:nvPr/>
        </p:nvSpPr>
        <p:spPr>
          <a:xfrm>
            <a:off x="10332720" y="4315968"/>
            <a:ext cx="84124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46.7M</a:t>
            </a:r>
            <a:endParaRPr lang="en-US" sz="800" dirty="0"/>
          </a:p>
        </p:txBody>
      </p:sp>
      <p:sp>
        <p:nvSpPr>
          <p:cNvPr id="126" name="Text 123"/>
          <p:cNvSpPr/>
          <p:nvPr/>
        </p:nvSpPr>
        <p:spPr>
          <a:xfrm>
            <a:off x="11210544" y="4315968"/>
            <a:ext cx="56692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24</a:t>
            </a:r>
            <a:endParaRPr lang="en-US" sz="800" dirty="0"/>
          </a:p>
        </p:txBody>
      </p:sp>
      <p:sp>
        <p:nvSpPr>
          <p:cNvPr id="127" name="Shape 124"/>
          <p:cNvSpPr/>
          <p:nvPr/>
        </p:nvSpPr>
        <p:spPr>
          <a:xfrm>
            <a:off x="4169664" y="4480560"/>
            <a:ext cx="7790688" cy="182880"/>
          </a:xfrm>
          <a:prstGeom prst="rect">
            <a:avLst/>
          </a:prstGeom>
          <a:solidFill>
            <a:srgbClr val="F5F0FA"/>
          </a:solidFill>
          <a:ln w="8890">
            <a:solidFill>
              <a:srgbClr val="C5A8E0"/>
            </a:solidFill>
            <a:prstDash val="solid"/>
          </a:ln>
        </p:spPr>
      </p:sp>
      <p:sp>
        <p:nvSpPr>
          <p:cNvPr id="128" name="Shape 125"/>
          <p:cNvSpPr/>
          <p:nvPr/>
        </p:nvSpPr>
        <p:spPr>
          <a:xfrm>
            <a:off x="4169664" y="4480560"/>
            <a:ext cx="36576" cy="18288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29" name="Shape 126"/>
          <p:cNvSpPr/>
          <p:nvPr/>
        </p:nvSpPr>
        <p:spPr>
          <a:xfrm>
            <a:off x="4279392" y="4535424"/>
            <a:ext cx="128016" cy="128016"/>
          </a:xfrm>
          <a:prstGeom prst="ellipse">
            <a:avLst/>
          </a:prstGeom>
          <a:solidFill>
            <a:srgbClr val="CD7F32"/>
          </a:solidFill>
          <a:ln w="12700">
            <a:solidFill>
              <a:srgbClr val="CD7F32"/>
            </a:solidFill>
            <a:prstDash val="solid"/>
          </a:ln>
        </p:spPr>
      </p:sp>
      <p:sp>
        <p:nvSpPr>
          <p:cNvPr id="130" name="Text 127"/>
          <p:cNvSpPr/>
          <p:nvPr/>
        </p:nvSpPr>
        <p:spPr>
          <a:xfrm>
            <a:off x="4242816" y="4517136"/>
            <a:ext cx="2743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800" dirty="0"/>
          </a:p>
        </p:txBody>
      </p:sp>
      <p:sp>
        <p:nvSpPr>
          <p:cNvPr id="131" name="Text 128"/>
          <p:cNvSpPr/>
          <p:nvPr/>
        </p:nvSpPr>
        <p:spPr>
          <a:xfrm>
            <a:off x="4553712" y="4517136"/>
            <a:ext cx="877824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EGA</a:t>
            </a:r>
            <a:endParaRPr lang="en-US" sz="850" dirty="0"/>
          </a:p>
        </p:txBody>
      </p:sp>
      <p:sp>
        <p:nvSpPr>
          <p:cNvPr id="132" name="Text 129"/>
          <p:cNvSpPr/>
          <p:nvPr/>
        </p:nvSpPr>
        <p:spPr>
          <a:xfrm>
            <a:off x="5468112" y="4517136"/>
            <a:ext cx="74980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E67E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同行经代</a:t>
            </a:r>
            <a:endParaRPr lang="en-US" sz="800" dirty="0"/>
          </a:p>
        </p:txBody>
      </p:sp>
      <p:sp>
        <p:nvSpPr>
          <p:cNvPr id="133" name="Text 130"/>
          <p:cNvSpPr/>
          <p:nvPr/>
        </p:nvSpPr>
        <p:spPr>
          <a:xfrm>
            <a:off x="6254496" y="4517136"/>
            <a:ext cx="80467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27.2M</a:t>
            </a:r>
            <a:endParaRPr lang="en-US" sz="800" dirty="0"/>
          </a:p>
        </p:txBody>
      </p:sp>
      <p:sp>
        <p:nvSpPr>
          <p:cNvPr id="134" name="Text 131"/>
          <p:cNvSpPr/>
          <p:nvPr/>
        </p:nvSpPr>
        <p:spPr>
          <a:xfrm>
            <a:off x="7095744" y="4517136"/>
            <a:ext cx="53035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800" dirty="0"/>
          </a:p>
        </p:txBody>
      </p:sp>
      <p:sp>
        <p:nvSpPr>
          <p:cNvPr id="135" name="Text 132"/>
          <p:cNvSpPr/>
          <p:nvPr/>
        </p:nvSpPr>
        <p:spPr>
          <a:xfrm>
            <a:off x="7662672" y="4517136"/>
            <a:ext cx="80467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889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2.3M</a:t>
            </a:r>
            <a:endParaRPr lang="en-US" sz="800" dirty="0"/>
          </a:p>
        </p:txBody>
      </p:sp>
      <p:sp>
        <p:nvSpPr>
          <p:cNvPr id="136" name="Text 133"/>
          <p:cNvSpPr/>
          <p:nvPr/>
        </p:nvSpPr>
        <p:spPr>
          <a:xfrm>
            <a:off x="8503920" y="4517136"/>
            <a:ext cx="53035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800" dirty="0"/>
          </a:p>
        </p:txBody>
      </p:sp>
      <p:sp>
        <p:nvSpPr>
          <p:cNvPr id="137" name="Text 134"/>
          <p:cNvSpPr/>
          <p:nvPr/>
        </p:nvSpPr>
        <p:spPr>
          <a:xfrm>
            <a:off x="9070848" y="4517136"/>
            <a:ext cx="65836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E86C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0.5M</a:t>
            </a:r>
            <a:endParaRPr lang="en-US" sz="800" dirty="0"/>
          </a:p>
        </p:txBody>
      </p:sp>
      <p:sp>
        <p:nvSpPr>
          <p:cNvPr id="138" name="Text 135"/>
          <p:cNvSpPr/>
          <p:nvPr/>
        </p:nvSpPr>
        <p:spPr>
          <a:xfrm>
            <a:off x="9765792" y="4517136"/>
            <a:ext cx="53035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800" dirty="0"/>
          </a:p>
        </p:txBody>
      </p:sp>
      <p:sp>
        <p:nvSpPr>
          <p:cNvPr id="139" name="Text 136"/>
          <p:cNvSpPr/>
          <p:nvPr/>
        </p:nvSpPr>
        <p:spPr>
          <a:xfrm>
            <a:off x="10332720" y="4517136"/>
            <a:ext cx="84124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30.1M</a:t>
            </a:r>
            <a:endParaRPr lang="en-US" sz="800" dirty="0"/>
          </a:p>
        </p:txBody>
      </p:sp>
      <p:sp>
        <p:nvSpPr>
          <p:cNvPr id="140" name="Text 137"/>
          <p:cNvSpPr/>
          <p:nvPr/>
        </p:nvSpPr>
        <p:spPr>
          <a:xfrm>
            <a:off x="11210544" y="4517136"/>
            <a:ext cx="56692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</a:t>
            </a:r>
            <a:endParaRPr lang="en-US" sz="800" dirty="0"/>
          </a:p>
        </p:txBody>
      </p:sp>
      <p:sp>
        <p:nvSpPr>
          <p:cNvPr id="141" name="Shape 138"/>
          <p:cNvSpPr/>
          <p:nvPr/>
        </p:nvSpPr>
        <p:spPr>
          <a:xfrm>
            <a:off x="4169664" y="4681728"/>
            <a:ext cx="7790688" cy="182880"/>
          </a:xfrm>
          <a:prstGeom prst="rect">
            <a:avLst/>
          </a:prstGeom>
          <a:solidFill>
            <a:srgbClr val="FFFFFF"/>
          </a:solidFill>
          <a:ln w="3810">
            <a:solidFill>
              <a:srgbClr val="E8ECF0"/>
            </a:solidFill>
            <a:prstDash val="solid"/>
          </a:ln>
        </p:spPr>
      </p:sp>
      <p:sp>
        <p:nvSpPr>
          <p:cNvPr id="142" name="Shape 139"/>
          <p:cNvSpPr/>
          <p:nvPr/>
        </p:nvSpPr>
        <p:spPr>
          <a:xfrm>
            <a:off x="4169664" y="4681728"/>
            <a:ext cx="36576" cy="18288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43" name="Text 140"/>
          <p:cNvSpPr/>
          <p:nvPr/>
        </p:nvSpPr>
        <p:spPr>
          <a:xfrm>
            <a:off x="4242816" y="4718304"/>
            <a:ext cx="2743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800" dirty="0"/>
          </a:p>
        </p:txBody>
      </p:sp>
      <p:sp>
        <p:nvSpPr>
          <p:cNvPr id="144" name="Text 141"/>
          <p:cNvSpPr/>
          <p:nvPr/>
        </p:nvSpPr>
        <p:spPr>
          <a:xfrm>
            <a:off x="4553712" y="4718304"/>
            <a:ext cx="877824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唯思</a:t>
            </a:r>
            <a:endParaRPr lang="en-US" sz="850" dirty="0"/>
          </a:p>
        </p:txBody>
      </p:sp>
      <p:sp>
        <p:nvSpPr>
          <p:cNvPr id="145" name="Text 142"/>
          <p:cNvSpPr/>
          <p:nvPr/>
        </p:nvSpPr>
        <p:spPr>
          <a:xfrm>
            <a:off x="5468112" y="4718304"/>
            <a:ext cx="74980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E67E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同行经代</a:t>
            </a:r>
            <a:endParaRPr lang="en-US" sz="800" dirty="0"/>
          </a:p>
        </p:txBody>
      </p:sp>
      <p:sp>
        <p:nvSpPr>
          <p:cNvPr id="146" name="Text 143"/>
          <p:cNvSpPr/>
          <p:nvPr/>
        </p:nvSpPr>
        <p:spPr>
          <a:xfrm>
            <a:off x="6254496" y="4718304"/>
            <a:ext cx="80467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21.2M</a:t>
            </a:r>
            <a:endParaRPr lang="en-US" sz="800" dirty="0"/>
          </a:p>
        </p:txBody>
      </p:sp>
      <p:sp>
        <p:nvSpPr>
          <p:cNvPr id="147" name="Text 144"/>
          <p:cNvSpPr/>
          <p:nvPr/>
        </p:nvSpPr>
        <p:spPr>
          <a:xfrm>
            <a:off x="7095744" y="4718304"/>
            <a:ext cx="53035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51</a:t>
            </a:r>
            <a:endParaRPr lang="en-US" sz="800" dirty="0"/>
          </a:p>
        </p:txBody>
      </p:sp>
      <p:sp>
        <p:nvSpPr>
          <p:cNvPr id="148" name="Text 145"/>
          <p:cNvSpPr/>
          <p:nvPr/>
        </p:nvSpPr>
        <p:spPr>
          <a:xfrm>
            <a:off x="7662672" y="4718304"/>
            <a:ext cx="80467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889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8.2M</a:t>
            </a:r>
            <a:endParaRPr lang="en-US" sz="800" dirty="0"/>
          </a:p>
        </p:txBody>
      </p:sp>
      <p:sp>
        <p:nvSpPr>
          <p:cNvPr id="149" name="Text 146"/>
          <p:cNvSpPr/>
          <p:nvPr/>
        </p:nvSpPr>
        <p:spPr>
          <a:xfrm>
            <a:off x="8503920" y="4718304"/>
            <a:ext cx="53035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22</a:t>
            </a:r>
            <a:endParaRPr lang="en-US" sz="800" dirty="0"/>
          </a:p>
        </p:txBody>
      </p:sp>
      <p:sp>
        <p:nvSpPr>
          <p:cNvPr id="150" name="Text 147"/>
          <p:cNvSpPr/>
          <p:nvPr/>
        </p:nvSpPr>
        <p:spPr>
          <a:xfrm>
            <a:off x="9070848" y="4718304"/>
            <a:ext cx="65836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E86C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0.6M</a:t>
            </a:r>
            <a:endParaRPr lang="en-US" sz="800" dirty="0"/>
          </a:p>
        </p:txBody>
      </p:sp>
      <p:sp>
        <p:nvSpPr>
          <p:cNvPr id="151" name="Text 148"/>
          <p:cNvSpPr/>
          <p:nvPr/>
        </p:nvSpPr>
        <p:spPr>
          <a:xfrm>
            <a:off x="9765792" y="4718304"/>
            <a:ext cx="53035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800" dirty="0"/>
          </a:p>
        </p:txBody>
      </p:sp>
      <p:sp>
        <p:nvSpPr>
          <p:cNvPr id="152" name="Text 149"/>
          <p:cNvSpPr/>
          <p:nvPr/>
        </p:nvSpPr>
        <p:spPr>
          <a:xfrm>
            <a:off x="10332720" y="4718304"/>
            <a:ext cx="84124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30.0M</a:t>
            </a:r>
            <a:endParaRPr lang="en-US" sz="800" dirty="0"/>
          </a:p>
        </p:txBody>
      </p:sp>
      <p:sp>
        <p:nvSpPr>
          <p:cNvPr id="153" name="Text 150"/>
          <p:cNvSpPr/>
          <p:nvPr/>
        </p:nvSpPr>
        <p:spPr>
          <a:xfrm>
            <a:off x="11210544" y="4718304"/>
            <a:ext cx="56692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76</a:t>
            </a:r>
            <a:endParaRPr lang="en-US" sz="800" dirty="0"/>
          </a:p>
        </p:txBody>
      </p:sp>
      <p:sp>
        <p:nvSpPr>
          <p:cNvPr id="154" name="Shape 151"/>
          <p:cNvSpPr/>
          <p:nvPr/>
        </p:nvSpPr>
        <p:spPr>
          <a:xfrm>
            <a:off x="4169664" y="4882896"/>
            <a:ext cx="7790688" cy="182880"/>
          </a:xfrm>
          <a:prstGeom prst="rect">
            <a:avLst/>
          </a:prstGeom>
          <a:solidFill>
            <a:srgbClr val="F5F7FA"/>
          </a:solidFill>
          <a:ln w="3810">
            <a:solidFill>
              <a:srgbClr val="E8ECF0"/>
            </a:solidFill>
            <a:prstDash val="solid"/>
          </a:ln>
        </p:spPr>
        <p:txBody>
          <a:bodyPr/>
          <a:p>
            <a:endParaRPr lang="zh-CN" altLang="en-US"/>
          </a:p>
        </p:txBody>
      </p:sp>
      <p:sp>
        <p:nvSpPr>
          <p:cNvPr id="155" name="Shape 152"/>
          <p:cNvSpPr/>
          <p:nvPr/>
        </p:nvSpPr>
        <p:spPr>
          <a:xfrm>
            <a:off x="4169664" y="4882896"/>
            <a:ext cx="36576" cy="182880"/>
          </a:xfrm>
          <a:prstGeom prst="rect">
            <a:avLst/>
          </a:prstGeom>
          <a:solidFill>
            <a:srgbClr val="1A7A3F"/>
          </a:solidFill>
          <a:ln w="12700">
            <a:solidFill>
              <a:srgbClr val="1A7A3F"/>
            </a:solidFill>
            <a:prstDash val="solid"/>
          </a:ln>
        </p:spPr>
      </p:sp>
      <p:sp>
        <p:nvSpPr>
          <p:cNvPr id="156" name="Text 153"/>
          <p:cNvSpPr/>
          <p:nvPr/>
        </p:nvSpPr>
        <p:spPr>
          <a:xfrm>
            <a:off x="4242816" y="4919472"/>
            <a:ext cx="2743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</a:t>
            </a:r>
            <a:endParaRPr lang="en-US" sz="800" dirty="0"/>
          </a:p>
        </p:txBody>
      </p:sp>
      <p:sp>
        <p:nvSpPr>
          <p:cNvPr id="157" name="Text 154"/>
          <p:cNvSpPr/>
          <p:nvPr/>
        </p:nvSpPr>
        <p:spPr>
          <a:xfrm>
            <a:off x="4553712" y="4919472"/>
            <a:ext cx="877824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紫荆保险</a:t>
            </a:r>
            <a:endParaRPr lang="en-US" sz="850" dirty="0"/>
          </a:p>
        </p:txBody>
      </p:sp>
      <p:sp>
        <p:nvSpPr>
          <p:cNvPr id="158" name="Text 155"/>
          <p:cNvSpPr/>
          <p:nvPr/>
        </p:nvSpPr>
        <p:spPr>
          <a:xfrm>
            <a:off x="5468112" y="4919472"/>
            <a:ext cx="74980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1A7A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永明经代</a:t>
            </a:r>
            <a:endParaRPr lang="en-US" sz="800" dirty="0"/>
          </a:p>
        </p:txBody>
      </p:sp>
      <p:sp>
        <p:nvSpPr>
          <p:cNvPr id="159" name="Text 156"/>
          <p:cNvSpPr/>
          <p:nvPr/>
        </p:nvSpPr>
        <p:spPr>
          <a:xfrm>
            <a:off x="6254496" y="4919472"/>
            <a:ext cx="80467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17.7M</a:t>
            </a:r>
            <a:endParaRPr lang="en-US" sz="800" dirty="0"/>
          </a:p>
        </p:txBody>
      </p:sp>
      <p:sp>
        <p:nvSpPr>
          <p:cNvPr id="160" name="Text 157"/>
          <p:cNvSpPr/>
          <p:nvPr/>
        </p:nvSpPr>
        <p:spPr>
          <a:xfrm>
            <a:off x="7095744" y="4919472"/>
            <a:ext cx="53035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55</a:t>
            </a:r>
            <a:endParaRPr lang="en-US" sz="800" dirty="0"/>
          </a:p>
        </p:txBody>
      </p:sp>
      <p:sp>
        <p:nvSpPr>
          <p:cNvPr id="161" name="Text 158"/>
          <p:cNvSpPr/>
          <p:nvPr/>
        </p:nvSpPr>
        <p:spPr>
          <a:xfrm>
            <a:off x="7662672" y="4919472"/>
            <a:ext cx="80467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889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10.5M</a:t>
            </a:r>
            <a:endParaRPr lang="en-US" sz="800" dirty="0"/>
          </a:p>
        </p:txBody>
      </p:sp>
      <p:sp>
        <p:nvSpPr>
          <p:cNvPr id="162" name="Text 159"/>
          <p:cNvSpPr/>
          <p:nvPr/>
        </p:nvSpPr>
        <p:spPr>
          <a:xfrm>
            <a:off x="8503920" y="4919472"/>
            <a:ext cx="53035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22</a:t>
            </a:r>
            <a:endParaRPr lang="en-US" sz="800" dirty="0"/>
          </a:p>
        </p:txBody>
      </p:sp>
      <p:sp>
        <p:nvSpPr>
          <p:cNvPr id="163" name="Text 160"/>
          <p:cNvSpPr/>
          <p:nvPr/>
        </p:nvSpPr>
        <p:spPr>
          <a:xfrm>
            <a:off x="9070848" y="4919472"/>
            <a:ext cx="65836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E86C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0.9M</a:t>
            </a:r>
            <a:endParaRPr lang="en-US" sz="800" dirty="0"/>
          </a:p>
        </p:txBody>
      </p:sp>
      <p:sp>
        <p:nvSpPr>
          <p:cNvPr id="164" name="Text 161"/>
          <p:cNvSpPr/>
          <p:nvPr/>
        </p:nvSpPr>
        <p:spPr>
          <a:xfrm>
            <a:off x="9765792" y="4919472"/>
            <a:ext cx="53035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800" dirty="0"/>
          </a:p>
        </p:txBody>
      </p:sp>
      <p:sp>
        <p:nvSpPr>
          <p:cNvPr id="165" name="Text 162"/>
          <p:cNvSpPr/>
          <p:nvPr/>
        </p:nvSpPr>
        <p:spPr>
          <a:xfrm>
            <a:off x="10332720" y="4919472"/>
            <a:ext cx="84124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29.1M</a:t>
            </a:r>
            <a:endParaRPr lang="en-US" sz="800" dirty="0"/>
          </a:p>
        </p:txBody>
      </p:sp>
      <p:sp>
        <p:nvSpPr>
          <p:cNvPr id="166" name="Text 163"/>
          <p:cNvSpPr/>
          <p:nvPr/>
        </p:nvSpPr>
        <p:spPr>
          <a:xfrm>
            <a:off x="11210544" y="4919472"/>
            <a:ext cx="56692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81</a:t>
            </a:r>
            <a:endParaRPr lang="en-US" sz="800" dirty="0"/>
          </a:p>
        </p:txBody>
      </p:sp>
      <p:sp>
        <p:nvSpPr>
          <p:cNvPr id="167" name="Shape 164"/>
          <p:cNvSpPr/>
          <p:nvPr/>
        </p:nvSpPr>
        <p:spPr>
          <a:xfrm>
            <a:off x="4169664" y="5084064"/>
            <a:ext cx="7790688" cy="182880"/>
          </a:xfrm>
          <a:prstGeom prst="rect">
            <a:avLst/>
          </a:prstGeom>
          <a:solidFill>
            <a:srgbClr val="FFFFFF"/>
          </a:solidFill>
          <a:ln w="3810">
            <a:solidFill>
              <a:srgbClr val="E8ECF0"/>
            </a:solidFill>
            <a:prstDash val="solid"/>
          </a:ln>
        </p:spPr>
      </p:sp>
      <p:sp>
        <p:nvSpPr>
          <p:cNvPr id="168" name="Shape 165"/>
          <p:cNvSpPr/>
          <p:nvPr/>
        </p:nvSpPr>
        <p:spPr>
          <a:xfrm>
            <a:off x="4169664" y="5084064"/>
            <a:ext cx="36576" cy="182880"/>
          </a:xfrm>
          <a:prstGeom prst="rect">
            <a:avLst/>
          </a:prstGeom>
          <a:solidFill>
            <a:srgbClr val="1A7A3F"/>
          </a:solidFill>
          <a:ln w="12700">
            <a:solidFill>
              <a:srgbClr val="1A7A3F"/>
            </a:solidFill>
            <a:prstDash val="solid"/>
          </a:ln>
        </p:spPr>
      </p:sp>
      <p:sp>
        <p:nvSpPr>
          <p:cNvPr id="169" name="Text 166"/>
          <p:cNvSpPr/>
          <p:nvPr/>
        </p:nvSpPr>
        <p:spPr>
          <a:xfrm>
            <a:off x="4242816" y="5120640"/>
            <a:ext cx="2743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</a:t>
            </a:r>
            <a:endParaRPr lang="en-US" sz="800" dirty="0"/>
          </a:p>
        </p:txBody>
      </p:sp>
      <p:sp>
        <p:nvSpPr>
          <p:cNvPr id="170" name="Text 167"/>
          <p:cNvSpPr/>
          <p:nvPr/>
        </p:nvSpPr>
        <p:spPr>
          <a:xfrm>
            <a:off x="4553712" y="5120640"/>
            <a:ext cx="877824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堡盛国际</a:t>
            </a:r>
            <a:endParaRPr lang="en-US" sz="850" dirty="0"/>
          </a:p>
        </p:txBody>
      </p:sp>
      <p:sp>
        <p:nvSpPr>
          <p:cNvPr id="171" name="Text 168"/>
          <p:cNvSpPr/>
          <p:nvPr/>
        </p:nvSpPr>
        <p:spPr>
          <a:xfrm>
            <a:off x="5468112" y="5120640"/>
            <a:ext cx="74980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1A7A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永明经代</a:t>
            </a:r>
            <a:endParaRPr lang="en-US" sz="800" dirty="0"/>
          </a:p>
        </p:txBody>
      </p:sp>
      <p:sp>
        <p:nvSpPr>
          <p:cNvPr id="172" name="Text 169"/>
          <p:cNvSpPr/>
          <p:nvPr/>
        </p:nvSpPr>
        <p:spPr>
          <a:xfrm>
            <a:off x="6254496" y="5120640"/>
            <a:ext cx="80467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16.9M</a:t>
            </a:r>
            <a:endParaRPr lang="en-US" sz="800" dirty="0"/>
          </a:p>
        </p:txBody>
      </p:sp>
      <p:sp>
        <p:nvSpPr>
          <p:cNvPr id="173" name="Text 170"/>
          <p:cNvSpPr/>
          <p:nvPr/>
        </p:nvSpPr>
        <p:spPr>
          <a:xfrm>
            <a:off x="7095744" y="5120640"/>
            <a:ext cx="53035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46</a:t>
            </a:r>
            <a:endParaRPr lang="en-US" sz="800" dirty="0"/>
          </a:p>
        </p:txBody>
      </p:sp>
      <p:sp>
        <p:nvSpPr>
          <p:cNvPr id="174" name="Text 171"/>
          <p:cNvSpPr/>
          <p:nvPr/>
        </p:nvSpPr>
        <p:spPr>
          <a:xfrm>
            <a:off x="7662672" y="5120640"/>
            <a:ext cx="80467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889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5.7M</a:t>
            </a:r>
            <a:endParaRPr lang="en-US" sz="800" dirty="0"/>
          </a:p>
        </p:txBody>
      </p:sp>
      <p:sp>
        <p:nvSpPr>
          <p:cNvPr id="175" name="Text 172"/>
          <p:cNvSpPr/>
          <p:nvPr/>
        </p:nvSpPr>
        <p:spPr>
          <a:xfrm>
            <a:off x="8503920" y="5120640"/>
            <a:ext cx="53035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13</a:t>
            </a:r>
            <a:endParaRPr lang="en-US" sz="800" dirty="0"/>
          </a:p>
        </p:txBody>
      </p:sp>
      <p:sp>
        <p:nvSpPr>
          <p:cNvPr id="176" name="Text 173"/>
          <p:cNvSpPr/>
          <p:nvPr/>
        </p:nvSpPr>
        <p:spPr>
          <a:xfrm>
            <a:off x="9070848" y="5120640"/>
            <a:ext cx="65836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E86C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0.7M</a:t>
            </a:r>
            <a:endParaRPr lang="en-US" sz="800" dirty="0"/>
          </a:p>
        </p:txBody>
      </p:sp>
      <p:sp>
        <p:nvSpPr>
          <p:cNvPr id="177" name="Text 174"/>
          <p:cNvSpPr/>
          <p:nvPr/>
        </p:nvSpPr>
        <p:spPr>
          <a:xfrm>
            <a:off x="9765792" y="5120640"/>
            <a:ext cx="53035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800" dirty="0"/>
          </a:p>
        </p:txBody>
      </p:sp>
      <p:sp>
        <p:nvSpPr>
          <p:cNvPr id="178" name="Text 175"/>
          <p:cNvSpPr/>
          <p:nvPr/>
        </p:nvSpPr>
        <p:spPr>
          <a:xfrm>
            <a:off x="10332720" y="5120640"/>
            <a:ext cx="84124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17.5M</a:t>
            </a:r>
            <a:endParaRPr lang="en-US" sz="800" dirty="0"/>
          </a:p>
        </p:txBody>
      </p:sp>
      <p:sp>
        <p:nvSpPr>
          <p:cNvPr id="179" name="Text 176"/>
          <p:cNvSpPr/>
          <p:nvPr/>
        </p:nvSpPr>
        <p:spPr>
          <a:xfrm>
            <a:off x="11210544" y="5120640"/>
            <a:ext cx="56692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61</a:t>
            </a:r>
            <a:endParaRPr lang="en-US" sz="800" dirty="0"/>
          </a:p>
        </p:txBody>
      </p:sp>
      <p:sp>
        <p:nvSpPr>
          <p:cNvPr id="180" name="Shape 177"/>
          <p:cNvSpPr/>
          <p:nvPr/>
        </p:nvSpPr>
        <p:spPr>
          <a:xfrm>
            <a:off x="4169664" y="5285232"/>
            <a:ext cx="7790688" cy="182880"/>
          </a:xfrm>
          <a:prstGeom prst="rect">
            <a:avLst/>
          </a:prstGeom>
          <a:solidFill>
            <a:srgbClr val="F5F7FA"/>
          </a:solidFill>
          <a:ln w="3810">
            <a:solidFill>
              <a:srgbClr val="E8ECF0"/>
            </a:solidFill>
            <a:prstDash val="solid"/>
          </a:ln>
        </p:spPr>
      </p:sp>
      <p:sp>
        <p:nvSpPr>
          <p:cNvPr id="181" name="Shape 178"/>
          <p:cNvSpPr/>
          <p:nvPr/>
        </p:nvSpPr>
        <p:spPr>
          <a:xfrm>
            <a:off x="4169664" y="5285232"/>
            <a:ext cx="36576" cy="182880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182" name="Text 179"/>
          <p:cNvSpPr/>
          <p:nvPr/>
        </p:nvSpPr>
        <p:spPr>
          <a:xfrm>
            <a:off x="4242816" y="5321808"/>
            <a:ext cx="2743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</a:t>
            </a:r>
            <a:endParaRPr lang="en-US" sz="800" dirty="0"/>
          </a:p>
        </p:txBody>
      </p:sp>
      <p:sp>
        <p:nvSpPr>
          <p:cNvPr id="183" name="Text 180"/>
          <p:cNvSpPr/>
          <p:nvPr/>
        </p:nvSpPr>
        <p:spPr>
          <a:xfrm>
            <a:off x="4553712" y="5321808"/>
            <a:ext cx="877824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个人转介</a:t>
            </a:r>
            <a:endParaRPr lang="en-US" sz="850" dirty="0"/>
          </a:p>
        </p:txBody>
      </p:sp>
      <p:sp>
        <p:nvSpPr>
          <p:cNvPr id="184" name="Text 181"/>
          <p:cNvSpPr/>
          <p:nvPr/>
        </p:nvSpPr>
        <p:spPr>
          <a:xfrm>
            <a:off x="5468112" y="5321808"/>
            <a:ext cx="74980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8E44A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ICLUB</a:t>
            </a:r>
            <a:endParaRPr lang="en-US" sz="800" dirty="0"/>
          </a:p>
        </p:txBody>
      </p:sp>
      <p:sp>
        <p:nvSpPr>
          <p:cNvPr id="185" name="Text 182"/>
          <p:cNvSpPr/>
          <p:nvPr/>
        </p:nvSpPr>
        <p:spPr>
          <a:xfrm>
            <a:off x="6254496" y="5321808"/>
            <a:ext cx="80467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14.2M</a:t>
            </a:r>
            <a:endParaRPr lang="en-US" sz="800" dirty="0"/>
          </a:p>
        </p:txBody>
      </p:sp>
      <p:sp>
        <p:nvSpPr>
          <p:cNvPr id="186" name="Text 183"/>
          <p:cNvSpPr/>
          <p:nvPr/>
        </p:nvSpPr>
        <p:spPr>
          <a:xfrm>
            <a:off x="7095744" y="5321808"/>
            <a:ext cx="53035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</a:t>
            </a:r>
            <a:endParaRPr lang="en-US" sz="800" dirty="0"/>
          </a:p>
        </p:txBody>
      </p:sp>
      <p:sp>
        <p:nvSpPr>
          <p:cNvPr id="187" name="Text 184"/>
          <p:cNvSpPr/>
          <p:nvPr/>
        </p:nvSpPr>
        <p:spPr>
          <a:xfrm>
            <a:off x="7662672" y="5321808"/>
            <a:ext cx="80467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889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0.5M</a:t>
            </a:r>
            <a:endParaRPr lang="en-US" sz="800" dirty="0"/>
          </a:p>
        </p:txBody>
      </p:sp>
      <p:sp>
        <p:nvSpPr>
          <p:cNvPr id="188" name="Text 185"/>
          <p:cNvSpPr/>
          <p:nvPr/>
        </p:nvSpPr>
        <p:spPr>
          <a:xfrm>
            <a:off x="8503920" y="5321808"/>
            <a:ext cx="53035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800" dirty="0"/>
          </a:p>
        </p:txBody>
      </p:sp>
      <p:sp>
        <p:nvSpPr>
          <p:cNvPr id="189" name="Text 186"/>
          <p:cNvSpPr/>
          <p:nvPr/>
        </p:nvSpPr>
        <p:spPr>
          <a:xfrm>
            <a:off x="9070848" y="5321808"/>
            <a:ext cx="65836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E86C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0.0M</a:t>
            </a:r>
            <a:endParaRPr lang="en-US" sz="800" dirty="0"/>
          </a:p>
        </p:txBody>
      </p:sp>
      <p:sp>
        <p:nvSpPr>
          <p:cNvPr id="190" name="Text 187"/>
          <p:cNvSpPr/>
          <p:nvPr/>
        </p:nvSpPr>
        <p:spPr>
          <a:xfrm>
            <a:off x="9765792" y="5321808"/>
            <a:ext cx="53035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</a:t>
            </a:r>
            <a:endParaRPr lang="en-US" sz="800" dirty="0"/>
          </a:p>
        </p:txBody>
      </p:sp>
      <p:sp>
        <p:nvSpPr>
          <p:cNvPr id="191" name="Text 188"/>
          <p:cNvSpPr/>
          <p:nvPr/>
        </p:nvSpPr>
        <p:spPr>
          <a:xfrm>
            <a:off x="10332720" y="5321808"/>
            <a:ext cx="84124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14.7M</a:t>
            </a:r>
            <a:endParaRPr lang="en-US" sz="800" dirty="0"/>
          </a:p>
        </p:txBody>
      </p:sp>
      <p:sp>
        <p:nvSpPr>
          <p:cNvPr id="192" name="Text 189"/>
          <p:cNvSpPr/>
          <p:nvPr/>
        </p:nvSpPr>
        <p:spPr>
          <a:xfrm>
            <a:off x="11210544" y="5321808"/>
            <a:ext cx="56692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9</a:t>
            </a:r>
            <a:endParaRPr lang="en-US" sz="800" dirty="0"/>
          </a:p>
        </p:txBody>
      </p:sp>
      <p:sp>
        <p:nvSpPr>
          <p:cNvPr id="193" name="Shape 190"/>
          <p:cNvSpPr/>
          <p:nvPr/>
        </p:nvSpPr>
        <p:spPr>
          <a:xfrm>
            <a:off x="4169664" y="5486400"/>
            <a:ext cx="7790688" cy="182880"/>
          </a:xfrm>
          <a:prstGeom prst="rect">
            <a:avLst/>
          </a:prstGeom>
          <a:solidFill>
            <a:srgbClr val="FFFFFF"/>
          </a:solidFill>
          <a:ln w="3810">
            <a:solidFill>
              <a:srgbClr val="E8ECF0"/>
            </a:solidFill>
            <a:prstDash val="solid"/>
          </a:ln>
        </p:spPr>
      </p:sp>
      <p:sp>
        <p:nvSpPr>
          <p:cNvPr id="194" name="Shape 191"/>
          <p:cNvSpPr/>
          <p:nvPr/>
        </p:nvSpPr>
        <p:spPr>
          <a:xfrm>
            <a:off x="4169664" y="5486400"/>
            <a:ext cx="36576" cy="182880"/>
          </a:xfrm>
          <a:prstGeom prst="rect">
            <a:avLst/>
          </a:prstGeom>
          <a:solidFill>
            <a:srgbClr val="1A7A3F"/>
          </a:solidFill>
          <a:ln w="12700">
            <a:solidFill>
              <a:srgbClr val="1A7A3F"/>
            </a:solidFill>
            <a:prstDash val="solid"/>
          </a:ln>
        </p:spPr>
      </p:sp>
      <p:sp>
        <p:nvSpPr>
          <p:cNvPr id="195" name="Text 192"/>
          <p:cNvSpPr/>
          <p:nvPr/>
        </p:nvSpPr>
        <p:spPr>
          <a:xfrm>
            <a:off x="4242816" y="5522976"/>
            <a:ext cx="2743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</a:t>
            </a:r>
            <a:endParaRPr lang="en-US" sz="800" dirty="0"/>
          </a:p>
        </p:txBody>
      </p:sp>
      <p:sp>
        <p:nvSpPr>
          <p:cNvPr id="196" name="Text 193"/>
          <p:cNvSpPr/>
          <p:nvPr/>
        </p:nvSpPr>
        <p:spPr>
          <a:xfrm>
            <a:off x="4553712" y="5522976"/>
            <a:ext cx="877824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宏鑫资产</a:t>
            </a:r>
            <a:endParaRPr lang="en-US" sz="850" dirty="0"/>
          </a:p>
        </p:txBody>
      </p:sp>
      <p:sp>
        <p:nvSpPr>
          <p:cNvPr id="197" name="Text 194"/>
          <p:cNvSpPr/>
          <p:nvPr/>
        </p:nvSpPr>
        <p:spPr>
          <a:xfrm>
            <a:off x="5468112" y="5522976"/>
            <a:ext cx="74980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1A7A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永明经代</a:t>
            </a:r>
            <a:endParaRPr lang="en-US" sz="800" dirty="0"/>
          </a:p>
        </p:txBody>
      </p:sp>
      <p:sp>
        <p:nvSpPr>
          <p:cNvPr id="198" name="Text 195"/>
          <p:cNvSpPr/>
          <p:nvPr/>
        </p:nvSpPr>
        <p:spPr>
          <a:xfrm>
            <a:off x="6254496" y="5522976"/>
            <a:ext cx="80467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12.5M</a:t>
            </a:r>
            <a:endParaRPr lang="en-US" sz="800" dirty="0"/>
          </a:p>
        </p:txBody>
      </p:sp>
      <p:sp>
        <p:nvSpPr>
          <p:cNvPr id="199" name="Text 196"/>
          <p:cNvSpPr/>
          <p:nvPr/>
        </p:nvSpPr>
        <p:spPr>
          <a:xfrm>
            <a:off x="7095744" y="5522976"/>
            <a:ext cx="53035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800" dirty="0"/>
          </a:p>
        </p:txBody>
      </p:sp>
      <p:sp>
        <p:nvSpPr>
          <p:cNvPr id="200" name="Text 197"/>
          <p:cNvSpPr/>
          <p:nvPr/>
        </p:nvSpPr>
        <p:spPr>
          <a:xfrm>
            <a:off x="7662672" y="5522976"/>
            <a:ext cx="80467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889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0.0M</a:t>
            </a:r>
            <a:endParaRPr lang="en-US" sz="800" dirty="0"/>
          </a:p>
        </p:txBody>
      </p:sp>
      <p:sp>
        <p:nvSpPr>
          <p:cNvPr id="201" name="Text 198"/>
          <p:cNvSpPr/>
          <p:nvPr/>
        </p:nvSpPr>
        <p:spPr>
          <a:xfrm>
            <a:off x="8503920" y="5522976"/>
            <a:ext cx="53035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</a:t>
            </a:r>
            <a:endParaRPr lang="en-US" sz="800" dirty="0"/>
          </a:p>
        </p:txBody>
      </p:sp>
      <p:sp>
        <p:nvSpPr>
          <p:cNvPr id="202" name="Text 199"/>
          <p:cNvSpPr/>
          <p:nvPr/>
        </p:nvSpPr>
        <p:spPr>
          <a:xfrm>
            <a:off x="9070848" y="5522976"/>
            <a:ext cx="65836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E86C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0.0M</a:t>
            </a:r>
            <a:endParaRPr lang="en-US" sz="800" dirty="0"/>
          </a:p>
        </p:txBody>
      </p:sp>
      <p:sp>
        <p:nvSpPr>
          <p:cNvPr id="203" name="Text 200"/>
          <p:cNvSpPr/>
          <p:nvPr/>
        </p:nvSpPr>
        <p:spPr>
          <a:xfrm>
            <a:off x="9765792" y="5522976"/>
            <a:ext cx="53035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</a:t>
            </a:r>
            <a:endParaRPr lang="en-US" sz="800" dirty="0"/>
          </a:p>
        </p:txBody>
      </p:sp>
      <p:sp>
        <p:nvSpPr>
          <p:cNvPr id="204" name="Text 201"/>
          <p:cNvSpPr/>
          <p:nvPr/>
        </p:nvSpPr>
        <p:spPr>
          <a:xfrm>
            <a:off x="10332720" y="5522976"/>
            <a:ext cx="84124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12.5M</a:t>
            </a:r>
            <a:endParaRPr lang="en-US" sz="800" dirty="0"/>
          </a:p>
        </p:txBody>
      </p:sp>
      <p:sp>
        <p:nvSpPr>
          <p:cNvPr id="205" name="Text 202"/>
          <p:cNvSpPr/>
          <p:nvPr/>
        </p:nvSpPr>
        <p:spPr>
          <a:xfrm>
            <a:off x="11210544" y="5522976"/>
            <a:ext cx="56692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800" dirty="0"/>
          </a:p>
        </p:txBody>
      </p:sp>
      <p:sp>
        <p:nvSpPr>
          <p:cNvPr id="206" name="Shape 203"/>
          <p:cNvSpPr/>
          <p:nvPr/>
        </p:nvSpPr>
        <p:spPr>
          <a:xfrm>
            <a:off x="4169664" y="5687568"/>
            <a:ext cx="7790688" cy="182880"/>
          </a:xfrm>
          <a:prstGeom prst="rect">
            <a:avLst/>
          </a:prstGeom>
          <a:solidFill>
            <a:srgbClr val="F5F7FA"/>
          </a:solidFill>
          <a:ln w="3810">
            <a:solidFill>
              <a:srgbClr val="E8ECF0"/>
            </a:solidFill>
            <a:prstDash val="solid"/>
          </a:ln>
        </p:spPr>
      </p:sp>
      <p:sp>
        <p:nvSpPr>
          <p:cNvPr id="207" name="Shape 204"/>
          <p:cNvSpPr/>
          <p:nvPr/>
        </p:nvSpPr>
        <p:spPr>
          <a:xfrm>
            <a:off x="4169664" y="5687568"/>
            <a:ext cx="36576" cy="182880"/>
          </a:xfrm>
          <a:prstGeom prst="rect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208" name="Text 205"/>
          <p:cNvSpPr/>
          <p:nvPr/>
        </p:nvSpPr>
        <p:spPr>
          <a:xfrm>
            <a:off x="4242816" y="5724144"/>
            <a:ext cx="2743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9</a:t>
            </a:r>
            <a:endParaRPr lang="en-US" sz="800" dirty="0"/>
          </a:p>
        </p:txBody>
      </p:sp>
      <p:sp>
        <p:nvSpPr>
          <p:cNvPr id="209" name="Text 206"/>
          <p:cNvSpPr/>
          <p:nvPr/>
        </p:nvSpPr>
        <p:spPr>
          <a:xfrm>
            <a:off x="4553712" y="5724144"/>
            <a:ext cx="877824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天领重庆</a:t>
            </a:r>
            <a:endParaRPr lang="en-US" sz="850" dirty="0"/>
          </a:p>
        </p:txBody>
      </p:sp>
      <p:sp>
        <p:nvSpPr>
          <p:cNvPr id="210" name="Text 207"/>
          <p:cNvSpPr/>
          <p:nvPr/>
        </p:nvSpPr>
        <p:spPr>
          <a:xfrm>
            <a:off x="5468112" y="5724144"/>
            <a:ext cx="74980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2980B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天领业务</a:t>
            </a:r>
            <a:endParaRPr lang="en-US" sz="800" dirty="0"/>
          </a:p>
        </p:txBody>
      </p:sp>
      <p:sp>
        <p:nvSpPr>
          <p:cNvPr id="211" name="Text 208"/>
          <p:cNvSpPr/>
          <p:nvPr/>
        </p:nvSpPr>
        <p:spPr>
          <a:xfrm>
            <a:off x="6254496" y="5724144"/>
            <a:ext cx="80467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11.5M</a:t>
            </a:r>
            <a:endParaRPr lang="en-US" sz="800" dirty="0"/>
          </a:p>
        </p:txBody>
      </p:sp>
      <p:sp>
        <p:nvSpPr>
          <p:cNvPr id="212" name="Text 209"/>
          <p:cNvSpPr/>
          <p:nvPr/>
        </p:nvSpPr>
        <p:spPr>
          <a:xfrm>
            <a:off x="7095744" y="5724144"/>
            <a:ext cx="53035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33</a:t>
            </a:r>
            <a:endParaRPr lang="en-US" sz="800" dirty="0"/>
          </a:p>
        </p:txBody>
      </p:sp>
      <p:sp>
        <p:nvSpPr>
          <p:cNvPr id="213" name="Text 210"/>
          <p:cNvSpPr/>
          <p:nvPr/>
        </p:nvSpPr>
        <p:spPr>
          <a:xfrm>
            <a:off x="7662672" y="5724144"/>
            <a:ext cx="80467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889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1.7M</a:t>
            </a:r>
            <a:endParaRPr lang="en-US" sz="800" dirty="0"/>
          </a:p>
        </p:txBody>
      </p:sp>
      <p:sp>
        <p:nvSpPr>
          <p:cNvPr id="214" name="Text 211"/>
          <p:cNvSpPr/>
          <p:nvPr/>
        </p:nvSpPr>
        <p:spPr>
          <a:xfrm>
            <a:off x="8503920" y="5724144"/>
            <a:ext cx="53035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</a:t>
            </a:r>
            <a:endParaRPr lang="en-US" sz="800" dirty="0"/>
          </a:p>
        </p:txBody>
      </p:sp>
      <p:sp>
        <p:nvSpPr>
          <p:cNvPr id="215" name="Text 212"/>
          <p:cNvSpPr/>
          <p:nvPr/>
        </p:nvSpPr>
        <p:spPr>
          <a:xfrm>
            <a:off x="9070848" y="5724144"/>
            <a:ext cx="65836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E86C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3.5M</a:t>
            </a:r>
            <a:endParaRPr lang="en-US" sz="800" dirty="0"/>
          </a:p>
        </p:txBody>
      </p:sp>
      <p:sp>
        <p:nvSpPr>
          <p:cNvPr id="216" name="Text 213"/>
          <p:cNvSpPr/>
          <p:nvPr/>
        </p:nvSpPr>
        <p:spPr>
          <a:xfrm>
            <a:off x="9765792" y="5724144"/>
            <a:ext cx="53035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800" dirty="0"/>
          </a:p>
        </p:txBody>
      </p:sp>
      <p:sp>
        <p:nvSpPr>
          <p:cNvPr id="217" name="Text 214"/>
          <p:cNvSpPr/>
          <p:nvPr/>
        </p:nvSpPr>
        <p:spPr>
          <a:xfrm>
            <a:off x="10332720" y="5724144"/>
            <a:ext cx="84124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16.7M</a:t>
            </a:r>
            <a:endParaRPr lang="en-US" sz="800" dirty="0"/>
          </a:p>
        </p:txBody>
      </p:sp>
      <p:sp>
        <p:nvSpPr>
          <p:cNvPr id="218" name="Text 215"/>
          <p:cNvSpPr/>
          <p:nvPr/>
        </p:nvSpPr>
        <p:spPr>
          <a:xfrm>
            <a:off x="11210544" y="5724144"/>
            <a:ext cx="56692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43</a:t>
            </a:r>
            <a:endParaRPr lang="en-US" sz="800" dirty="0"/>
          </a:p>
        </p:txBody>
      </p:sp>
      <p:sp>
        <p:nvSpPr>
          <p:cNvPr id="219" name="Shape 216"/>
          <p:cNvSpPr/>
          <p:nvPr/>
        </p:nvSpPr>
        <p:spPr>
          <a:xfrm>
            <a:off x="4169664" y="5888736"/>
            <a:ext cx="7790688" cy="182880"/>
          </a:xfrm>
          <a:prstGeom prst="rect">
            <a:avLst/>
          </a:prstGeom>
          <a:solidFill>
            <a:srgbClr val="FFFFFF"/>
          </a:solidFill>
          <a:ln w="3810">
            <a:solidFill>
              <a:srgbClr val="E8ECF0"/>
            </a:solidFill>
            <a:prstDash val="solid"/>
          </a:ln>
        </p:spPr>
      </p:sp>
      <p:sp>
        <p:nvSpPr>
          <p:cNvPr id="220" name="Shape 217"/>
          <p:cNvSpPr/>
          <p:nvPr/>
        </p:nvSpPr>
        <p:spPr>
          <a:xfrm>
            <a:off x="4169664" y="5888736"/>
            <a:ext cx="36576" cy="182880"/>
          </a:xfrm>
          <a:prstGeom prst="rect">
            <a:avLst/>
          </a:prstGeom>
          <a:solidFill>
            <a:srgbClr val="1A7A3F"/>
          </a:solidFill>
          <a:ln w="12700">
            <a:solidFill>
              <a:srgbClr val="1A7A3F"/>
            </a:solidFill>
            <a:prstDash val="solid"/>
          </a:ln>
        </p:spPr>
      </p:sp>
      <p:sp>
        <p:nvSpPr>
          <p:cNvPr id="221" name="Text 218"/>
          <p:cNvSpPr/>
          <p:nvPr/>
        </p:nvSpPr>
        <p:spPr>
          <a:xfrm>
            <a:off x="4242816" y="5925312"/>
            <a:ext cx="2743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</a:t>
            </a:r>
            <a:endParaRPr lang="en-US" sz="800" dirty="0"/>
          </a:p>
        </p:txBody>
      </p:sp>
      <p:sp>
        <p:nvSpPr>
          <p:cNvPr id="222" name="Text 219"/>
          <p:cNvSpPr/>
          <p:nvPr/>
        </p:nvSpPr>
        <p:spPr>
          <a:xfrm>
            <a:off x="4553712" y="5925312"/>
            <a:ext cx="877824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企鹅保险</a:t>
            </a:r>
            <a:endParaRPr lang="en-US" sz="850" dirty="0"/>
          </a:p>
        </p:txBody>
      </p:sp>
      <p:sp>
        <p:nvSpPr>
          <p:cNvPr id="223" name="Text 220"/>
          <p:cNvSpPr/>
          <p:nvPr/>
        </p:nvSpPr>
        <p:spPr>
          <a:xfrm>
            <a:off x="5468112" y="5925312"/>
            <a:ext cx="74980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1A7A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永明经代</a:t>
            </a:r>
            <a:endParaRPr lang="en-US" sz="800" dirty="0"/>
          </a:p>
        </p:txBody>
      </p:sp>
      <p:sp>
        <p:nvSpPr>
          <p:cNvPr id="224" name="Text 221"/>
          <p:cNvSpPr/>
          <p:nvPr/>
        </p:nvSpPr>
        <p:spPr>
          <a:xfrm>
            <a:off x="6254496" y="5925312"/>
            <a:ext cx="80467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8.6M</a:t>
            </a:r>
            <a:endParaRPr lang="en-US" sz="800" dirty="0"/>
          </a:p>
        </p:txBody>
      </p:sp>
      <p:sp>
        <p:nvSpPr>
          <p:cNvPr id="225" name="Text 222"/>
          <p:cNvSpPr/>
          <p:nvPr/>
        </p:nvSpPr>
        <p:spPr>
          <a:xfrm>
            <a:off x="7095744" y="5925312"/>
            <a:ext cx="53035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35</a:t>
            </a:r>
            <a:endParaRPr lang="en-US" sz="800" dirty="0"/>
          </a:p>
        </p:txBody>
      </p:sp>
      <p:sp>
        <p:nvSpPr>
          <p:cNvPr id="226" name="Text 223"/>
          <p:cNvSpPr/>
          <p:nvPr/>
        </p:nvSpPr>
        <p:spPr>
          <a:xfrm>
            <a:off x="7662672" y="5925312"/>
            <a:ext cx="80467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889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4.9M</a:t>
            </a:r>
            <a:endParaRPr lang="en-US" sz="800" dirty="0"/>
          </a:p>
        </p:txBody>
      </p:sp>
      <p:sp>
        <p:nvSpPr>
          <p:cNvPr id="227" name="Text 224"/>
          <p:cNvSpPr/>
          <p:nvPr/>
        </p:nvSpPr>
        <p:spPr>
          <a:xfrm>
            <a:off x="8503920" y="5925312"/>
            <a:ext cx="53035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18</a:t>
            </a:r>
            <a:endParaRPr lang="en-US" sz="800" dirty="0"/>
          </a:p>
        </p:txBody>
      </p:sp>
      <p:sp>
        <p:nvSpPr>
          <p:cNvPr id="228" name="Text 225"/>
          <p:cNvSpPr/>
          <p:nvPr/>
        </p:nvSpPr>
        <p:spPr>
          <a:xfrm>
            <a:off x="9070975" y="5925185"/>
            <a:ext cx="658495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E86C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1.2M</a:t>
            </a:r>
            <a:endParaRPr lang="en-US" sz="800" dirty="0"/>
          </a:p>
        </p:txBody>
      </p:sp>
      <p:sp>
        <p:nvSpPr>
          <p:cNvPr id="229" name="Text 226"/>
          <p:cNvSpPr/>
          <p:nvPr/>
        </p:nvSpPr>
        <p:spPr>
          <a:xfrm>
            <a:off x="9765792" y="5925312"/>
            <a:ext cx="53035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</a:t>
            </a:r>
            <a:endParaRPr lang="en-US" sz="800" dirty="0"/>
          </a:p>
        </p:txBody>
      </p:sp>
      <p:sp>
        <p:nvSpPr>
          <p:cNvPr id="230" name="Text 227"/>
          <p:cNvSpPr/>
          <p:nvPr/>
        </p:nvSpPr>
        <p:spPr>
          <a:xfrm>
            <a:off x="10332720" y="5925312"/>
            <a:ext cx="84124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14.7M</a:t>
            </a:r>
            <a:endParaRPr lang="en-US" sz="800" dirty="0"/>
          </a:p>
        </p:txBody>
      </p:sp>
      <p:sp>
        <p:nvSpPr>
          <p:cNvPr id="231" name="Text 228"/>
          <p:cNvSpPr/>
          <p:nvPr/>
        </p:nvSpPr>
        <p:spPr>
          <a:xfrm>
            <a:off x="11210544" y="5925312"/>
            <a:ext cx="56692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58</a:t>
            </a:r>
            <a:endParaRPr lang="en-US" sz="800" dirty="0"/>
          </a:p>
        </p:txBody>
      </p:sp>
      <p:sp>
        <p:nvSpPr>
          <p:cNvPr id="232" name="Shape 229"/>
          <p:cNvSpPr/>
          <p:nvPr/>
        </p:nvSpPr>
        <p:spPr>
          <a:xfrm>
            <a:off x="4169664" y="6089904"/>
            <a:ext cx="7790688" cy="201168"/>
          </a:xfrm>
          <a:prstGeom prst="rect">
            <a:avLst/>
          </a:prstGeom>
          <a:solidFill>
            <a:srgbClr val="EDE7F6"/>
          </a:solidFill>
          <a:ln w="9525">
            <a:solidFill>
              <a:srgbClr val="9575CD"/>
            </a:solidFill>
            <a:prstDash val="solid"/>
          </a:ln>
        </p:spPr>
      </p:sp>
      <p:sp>
        <p:nvSpPr>
          <p:cNvPr id="233" name="Text 230"/>
          <p:cNvSpPr/>
          <p:nvPr/>
        </p:nvSpPr>
        <p:spPr>
          <a:xfrm>
            <a:off x="4553712" y="6099810"/>
            <a:ext cx="877824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TOP10合计</a:t>
            </a:r>
            <a:endParaRPr lang="en-US" sz="800" dirty="0"/>
          </a:p>
        </p:txBody>
      </p:sp>
      <p:sp>
        <p:nvSpPr>
          <p:cNvPr id="234" name="Text 231"/>
          <p:cNvSpPr/>
          <p:nvPr/>
        </p:nvSpPr>
        <p:spPr>
          <a:xfrm>
            <a:off x="6254496" y="6099810"/>
            <a:ext cx="80467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298.9M</a:t>
            </a:r>
            <a:endParaRPr lang="en-US" sz="800" dirty="0"/>
          </a:p>
        </p:txBody>
      </p:sp>
      <p:sp>
        <p:nvSpPr>
          <p:cNvPr id="235" name="Text 232"/>
          <p:cNvSpPr/>
          <p:nvPr/>
        </p:nvSpPr>
        <p:spPr>
          <a:xfrm>
            <a:off x="7095744" y="6099810"/>
            <a:ext cx="53035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364件</a:t>
            </a:r>
            <a:endParaRPr lang="en-US" sz="800" dirty="0"/>
          </a:p>
        </p:txBody>
      </p:sp>
      <p:sp>
        <p:nvSpPr>
          <p:cNvPr id="236" name="Text 233"/>
          <p:cNvSpPr/>
          <p:nvPr/>
        </p:nvSpPr>
        <p:spPr>
          <a:xfrm>
            <a:off x="7662672" y="6099810"/>
            <a:ext cx="80467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C889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114.2M</a:t>
            </a:r>
            <a:endParaRPr lang="en-US" sz="800" dirty="0"/>
          </a:p>
        </p:txBody>
      </p:sp>
      <p:sp>
        <p:nvSpPr>
          <p:cNvPr id="237" name="Text 234"/>
          <p:cNvSpPr/>
          <p:nvPr/>
        </p:nvSpPr>
        <p:spPr>
          <a:xfrm>
            <a:off x="8503920" y="6099810"/>
            <a:ext cx="53035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151件</a:t>
            </a:r>
            <a:endParaRPr lang="en-US" sz="800" dirty="0"/>
          </a:p>
        </p:txBody>
      </p:sp>
      <p:sp>
        <p:nvSpPr>
          <p:cNvPr id="238" name="Text 235"/>
          <p:cNvSpPr/>
          <p:nvPr/>
        </p:nvSpPr>
        <p:spPr>
          <a:xfrm>
            <a:off x="9070848" y="6099810"/>
            <a:ext cx="65836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E86C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10.9M</a:t>
            </a:r>
            <a:endParaRPr lang="en-US" sz="800" dirty="0"/>
          </a:p>
        </p:txBody>
      </p:sp>
      <p:sp>
        <p:nvSpPr>
          <p:cNvPr id="239" name="Text 236"/>
          <p:cNvSpPr/>
          <p:nvPr/>
        </p:nvSpPr>
        <p:spPr>
          <a:xfrm>
            <a:off x="9765792" y="6099810"/>
            <a:ext cx="53035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40件</a:t>
            </a:r>
            <a:endParaRPr lang="en-US" sz="800" dirty="0"/>
          </a:p>
        </p:txBody>
      </p:sp>
      <p:sp>
        <p:nvSpPr>
          <p:cNvPr id="240" name="Text 237"/>
          <p:cNvSpPr/>
          <p:nvPr/>
        </p:nvSpPr>
        <p:spPr>
          <a:xfrm>
            <a:off x="10332720" y="6099810"/>
            <a:ext cx="84124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424.1M</a:t>
            </a:r>
            <a:endParaRPr lang="en-US" sz="800" dirty="0"/>
          </a:p>
        </p:txBody>
      </p:sp>
      <p:sp>
        <p:nvSpPr>
          <p:cNvPr id="241" name="Text 238"/>
          <p:cNvSpPr/>
          <p:nvPr/>
        </p:nvSpPr>
        <p:spPr>
          <a:xfrm>
            <a:off x="11210544" y="6099810"/>
            <a:ext cx="56692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541件</a:t>
            </a:r>
            <a:endParaRPr lang="en-US" sz="800" dirty="0"/>
          </a:p>
        </p:txBody>
      </p:sp>
      <p:sp>
        <p:nvSpPr>
          <p:cNvPr id="242" name="Shape 239"/>
          <p:cNvSpPr/>
          <p:nvPr/>
        </p:nvSpPr>
        <p:spPr>
          <a:xfrm>
            <a:off x="4059936" y="6254496"/>
            <a:ext cx="7991856" cy="402336"/>
          </a:xfrm>
          <a:prstGeom prst="rect">
            <a:avLst/>
          </a:prstGeom>
          <a:solidFill>
            <a:srgbClr val="EEF2FF"/>
          </a:solidFill>
          <a:ln w="6350">
            <a:solidFill>
              <a:srgbClr val="C5CEE8"/>
            </a:solidFill>
            <a:prstDash val="solid"/>
          </a:ln>
        </p:spPr>
      </p:sp>
      <p:sp>
        <p:nvSpPr>
          <p:cNvPr id="243" name="Shape 240"/>
          <p:cNvSpPr/>
          <p:nvPr/>
        </p:nvSpPr>
        <p:spPr>
          <a:xfrm>
            <a:off x="4059936" y="6254496"/>
            <a:ext cx="7991856" cy="27432"/>
          </a:xfrm>
          <a:prstGeom prst="rect">
            <a:avLst/>
          </a:prstGeom>
          <a:solidFill>
            <a:srgbClr val="4A235A"/>
          </a:solidFill>
          <a:ln w="12700">
            <a:solidFill>
              <a:srgbClr val="4A235A"/>
            </a:solidFill>
            <a:prstDash val="solid"/>
          </a:ln>
        </p:spPr>
      </p:sp>
      <p:sp>
        <p:nvSpPr>
          <p:cNvPr id="244" name="Text 241"/>
          <p:cNvSpPr/>
          <p:nvPr/>
        </p:nvSpPr>
        <p:spPr>
          <a:xfrm>
            <a:off x="4151376" y="6291072"/>
            <a:ext cx="7827264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b="1" dirty="0">
                <a:solidFill>
                  <a:srgbClr val="4A235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 What：</a:t>
            </a:r>
            <a:endParaRPr lang="en-US" sz="550" dirty="0"/>
          </a:p>
        </p:txBody>
      </p:sp>
      <p:sp>
        <p:nvSpPr>
          <p:cNvPr id="245" name="Text 242"/>
          <p:cNvSpPr/>
          <p:nvPr/>
        </p:nvSpPr>
        <p:spPr>
          <a:xfrm>
            <a:off x="4151376" y="6409944"/>
            <a:ext cx="7827264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TOP10 KA累计批核298.9M（占全业务332.1M的90.0%），高度集中。民生银行以140.3M批核独占42.2%，是最核心的单一客户，亦是最大集中风险。</a:t>
            </a:r>
            <a:endParaRPr lang="en-US" sz="5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hape 3"/>
          <p:cNvSpPr/>
          <p:nvPr/>
        </p:nvSpPr>
        <p:spPr>
          <a:xfrm>
            <a:off x="91440" y="3657600"/>
            <a:ext cx="5943600" cy="2999232"/>
          </a:xfrm>
          <a:prstGeom prst="rect">
            <a:avLst/>
          </a:prstGeom>
          <a:solidFill>
            <a:srgbClr val="FFFFFF"/>
          </a:solidFill>
          <a:ln w="9525">
            <a:solidFill>
              <a:srgbClr val="D0D8E8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" name="Shape 0"/>
          <p:cNvSpPr/>
          <p:nvPr/>
        </p:nvSpPr>
        <p:spPr>
          <a:xfrm>
            <a:off x="0" y="0"/>
            <a:ext cx="12191365" cy="475615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64592" y="73152"/>
            <a:ext cx="1005840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执行管理端分析仪表盘  |  Execution Management View  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0058400" y="109728"/>
            <a:ext cx="19659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BC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</a:t>
            </a:r>
            <a:r>
              <a:rPr lang="en-US" sz="900" dirty="0">
                <a:solidFill>
                  <a:srgbClr val="AABC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内部文件 · 仅供使用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91440" y="530225"/>
            <a:ext cx="5943600" cy="2999232"/>
          </a:xfrm>
          <a:prstGeom prst="rect">
            <a:avLst/>
          </a:prstGeom>
          <a:solidFill>
            <a:srgbClr val="FFFFFF"/>
          </a:solidFill>
          <a:ln w="9525">
            <a:solidFill>
              <a:srgbClr val="D0D8E8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" y="3657600"/>
            <a:ext cx="5943600" cy="256032"/>
          </a:xfrm>
          <a:prstGeom prst="rect">
            <a:avLst/>
          </a:prstGeom>
          <a:solidFill>
            <a:srgbClr val="1A6B3A"/>
          </a:solidFill>
          <a:ln w="12700">
            <a:solidFill>
              <a:srgbClr val="1A6B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2880" y="3694176"/>
            <a:ext cx="5779008" cy="1920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  批核业绩热力矩阵</a:t>
            </a: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（APE in M</a:t>
            </a: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）</a:t>
            </a:r>
            <a:endParaRPr lang="en-US" sz="850" dirty="0"/>
          </a:p>
        </p:txBody>
      </p:sp>
      <p:sp>
        <p:nvSpPr>
          <p:cNvPr id="191" name="Shape 189"/>
          <p:cNvSpPr/>
          <p:nvPr/>
        </p:nvSpPr>
        <p:spPr>
          <a:xfrm>
            <a:off x="6163056" y="3657600"/>
            <a:ext cx="5888736" cy="2999232"/>
          </a:xfrm>
          <a:prstGeom prst="rect">
            <a:avLst/>
          </a:prstGeom>
          <a:solidFill>
            <a:srgbClr val="FFFFFF"/>
          </a:solidFill>
          <a:ln w="9525">
            <a:solidFill>
              <a:srgbClr val="D0D8E8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92" name="Shape 190"/>
          <p:cNvSpPr/>
          <p:nvPr/>
        </p:nvSpPr>
        <p:spPr>
          <a:xfrm>
            <a:off x="6163056" y="3657600"/>
            <a:ext cx="5888736" cy="256032"/>
          </a:xfrm>
          <a:prstGeom prst="rect">
            <a:avLst/>
          </a:prstGeom>
          <a:solidFill>
            <a:srgbClr val="4A235A"/>
          </a:solidFill>
          <a:ln w="12700">
            <a:solidFill>
              <a:srgbClr val="4A235A"/>
            </a:solidFill>
            <a:prstDash val="solid"/>
          </a:ln>
        </p:spPr>
      </p:sp>
      <p:sp>
        <p:nvSpPr>
          <p:cNvPr id="193" name="Text 191"/>
          <p:cNvSpPr/>
          <p:nvPr/>
        </p:nvSpPr>
        <p:spPr>
          <a:xfrm>
            <a:off x="6254496" y="3694176"/>
            <a:ext cx="5724144" cy="1920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  签批时效综合分析 — 业务线时效 &amp; 分档分布</a:t>
            </a:r>
            <a:endParaRPr lang="en-US" sz="850" dirty="0"/>
          </a:p>
        </p:txBody>
      </p:sp>
      <p:sp>
        <p:nvSpPr>
          <p:cNvPr id="194" name="Shape 192"/>
          <p:cNvSpPr/>
          <p:nvPr/>
        </p:nvSpPr>
        <p:spPr>
          <a:xfrm>
            <a:off x="6254750" y="3959225"/>
            <a:ext cx="5659755" cy="2540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95" name="Text 193"/>
          <p:cNvSpPr/>
          <p:nvPr/>
        </p:nvSpPr>
        <p:spPr>
          <a:xfrm>
            <a:off x="6351270" y="3996055"/>
            <a:ext cx="469900" cy="1390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业务线</a:t>
            </a:r>
            <a:endParaRPr lang="en-US" sz="850" b="1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96" name="Text 194"/>
          <p:cNvSpPr/>
          <p:nvPr/>
        </p:nvSpPr>
        <p:spPr>
          <a:xfrm>
            <a:off x="7059360" y="3996055"/>
            <a:ext cx="600000" cy="1619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件数</a:t>
            </a:r>
            <a:endParaRPr lang="en-US" sz="850" b="1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97" name="Text 195"/>
          <p:cNvSpPr/>
          <p:nvPr/>
        </p:nvSpPr>
        <p:spPr>
          <a:xfrm>
            <a:off x="7687770" y="3996055"/>
            <a:ext cx="950000" cy="1619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件均APE(万</a:t>
            </a:r>
            <a:r>
              <a:rPr lang="en-US" sz="6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)</a:t>
            </a:r>
            <a:endParaRPr lang="en-US" sz="650" dirty="0"/>
          </a:p>
        </p:txBody>
      </p:sp>
      <p:sp>
        <p:nvSpPr>
          <p:cNvPr id="198" name="Text 196"/>
          <p:cNvSpPr/>
          <p:nvPr/>
        </p:nvSpPr>
        <p:spPr>
          <a:xfrm>
            <a:off x="8570930" y="3996055"/>
            <a:ext cx="700000" cy="1619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平均时效(天)</a:t>
            </a:r>
            <a:endParaRPr lang="en-US" sz="850" b="1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99" name="Text 197"/>
          <p:cNvSpPr/>
          <p:nvPr/>
        </p:nvSpPr>
        <p:spPr>
          <a:xfrm>
            <a:off x="9469520" y="3996055"/>
            <a:ext cx="700000" cy="1619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P90时效(天)</a:t>
            </a:r>
            <a:endParaRPr lang="en-US" sz="800" dirty="0"/>
          </a:p>
        </p:txBody>
      </p:sp>
      <p:sp>
        <p:nvSpPr>
          <p:cNvPr id="700" name="Text 698"/>
          <p:cNvSpPr/>
          <p:nvPr/>
        </p:nvSpPr>
        <p:spPr>
          <a:xfrm>
            <a:off x="10303340" y="3996055"/>
            <a:ext cx="660000" cy="1619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中位时效(天)</a:t>
            </a:r>
            <a:endParaRPr lang="en-US" sz="800" dirty="0"/>
          </a:p>
        </p:txBody>
      </p:sp>
      <p:sp>
        <p:nvSpPr>
          <p:cNvPr id="701" name="Text 699"/>
          <p:cNvSpPr/>
          <p:nvPr/>
        </p:nvSpPr>
        <p:spPr>
          <a:xfrm>
            <a:off x="11234420" y="3987800"/>
            <a:ext cx="631825" cy="1701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最大时效(天)</a:t>
            </a:r>
            <a:endParaRPr lang="en-US" sz="800" dirty="0"/>
          </a:p>
        </p:txBody>
      </p:sp>
      <p:sp>
        <p:nvSpPr>
          <p:cNvPr id="200" name="Shape 198"/>
          <p:cNvSpPr/>
          <p:nvPr/>
        </p:nvSpPr>
        <p:spPr>
          <a:xfrm>
            <a:off x="6254750" y="4178935"/>
            <a:ext cx="5659755" cy="299720"/>
          </a:xfrm>
          <a:prstGeom prst="rect">
            <a:avLst/>
          </a:prstGeom>
          <a:solidFill>
            <a:srgbClr val="FEF2F2"/>
          </a:solidFill>
          <a:ln w="7620">
            <a:solidFill>
              <a:srgbClr val="C0392B"/>
            </a:solidFill>
            <a:prstDash val="solid"/>
          </a:ln>
        </p:spPr>
      </p:sp>
      <p:sp>
        <p:nvSpPr>
          <p:cNvPr id="201" name="Shape 199"/>
          <p:cNvSpPr/>
          <p:nvPr/>
        </p:nvSpPr>
        <p:spPr>
          <a:xfrm>
            <a:off x="6254750" y="4178935"/>
            <a:ext cx="76200" cy="29972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202" name="Text 200"/>
          <p:cNvSpPr/>
          <p:nvPr/>
        </p:nvSpPr>
        <p:spPr>
          <a:xfrm>
            <a:off x="6327775" y="4224655"/>
            <a:ext cx="145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BK业务</a:t>
            </a:r>
            <a:endParaRPr lang="en-US" sz="800" dirty="0"/>
          </a:p>
        </p:txBody>
      </p:sp>
      <p:sp>
        <p:nvSpPr>
          <p:cNvPr id="203" name="Text 201"/>
          <p:cNvSpPr/>
          <p:nvPr/>
        </p:nvSpPr>
        <p:spPr>
          <a:xfrm>
            <a:off x="7110160" y="4224655"/>
            <a:ext cx="60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134</a:t>
            </a:r>
            <a:endParaRPr lang="en-US" sz="850" dirty="0"/>
          </a:p>
        </p:txBody>
      </p:sp>
      <p:sp>
        <p:nvSpPr>
          <p:cNvPr id="204" name="Text 202"/>
          <p:cNvSpPr/>
          <p:nvPr/>
        </p:nvSpPr>
        <p:spPr>
          <a:xfrm>
            <a:off x="7821120" y="4224655"/>
            <a:ext cx="95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127</a:t>
            </a:r>
            <a:endParaRPr lang="en-US" sz="850" dirty="0"/>
          </a:p>
        </p:txBody>
      </p:sp>
      <p:sp>
        <p:nvSpPr>
          <p:cNvPr id="205" name="Text 203"/>
          <p:cNvSpPr/>
          <p:nvPr/>
        </p:nvSpPr>
        <p:spPr>
          <a:xfrm>
            <a:off x="8767780" y="4224655"/>
            <a:ext cx="70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039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73</a:t>
            </a:r>
            <a:endParaRPr lang="en-US" sz="850" dirty="0"/>
          </a:p>
        </p:txBody>
      </p:sp>
      <p:sp>
        <p:nvSpPr>
          <p:cNvPr id="206" name="Text 204"/>
          <p:cNvSpPr/>
          <p:nvPr/>
        </p:nvSpPr>
        <p:spPr>
          <a:xfrm>
            <a:off x="9601600" y="4224655"/>
            <a:ext cx="70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122</a:t>
            </a:r>
            <a:endParaRPr lang="en-US" sz="850" dirty="0"/>
          </a:p>
        </p:txBody>
      </p:sp>
      <p:sp>
        <p:nvSpPr>
          <p:cNvPr id="702" name="Text 700"/>
          <p:cNvSpPr/>
          <p:nvPr/>
        </p:nvSpPr>
        <p:spPr>
          <a:xfrm>
            <a:off x="10516700" y="4224655"/>
            <a:ext cx="66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039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82</a:t>
            </a:r>
            <a:endParaRPr lang="en-US" sz="850" dirty="0"/>
          </a:p>
        </p:txBody>
      </p:sp>
      <p:sp>
        <p:nvSpPr>
          <p:cNvPr id="703" name="Text 701"/>
          <p:cNvSpPr/>
          <p:nvPr/>
        </p:nvSpPr>
        <p:spPr>
          <a:xfrm>
            <a:off x="11431170" y="4224655"/>
            <a:ext cx="355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039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189</a:t>
            </a:r>
            <a:endParaRPr lang="en-US" sz="850" dirty="0"/>
          </a:p>
        </p:txBody>
      </p:sp>
      <p:sp>
        <p:nvSpPr>
          <p:cNvPr id="207" name="Shape 205"/>
          <p:cNvSpPr/>
          <p:nvPr/>
        </p:nvSpPr>
        <p:spPr>
          <a:xfrm>
            <a:off x="6254750" y="4434840"/>
            <a:ext cx="5659755" cy="299720"/>
          </a:xfrm>
          <a:prstGeom prst="rect">
            <a:avLst/>
          </a:prstGeom>
          <a:solidFill>
            <a:srgbClr val="FFFFFF"/>
          </a:solidFill>
          <a:ln w="3810">
            <a:solidFill>
              <a:srgbClr val="E8ECF0"/>
            </a:solidFill>
            <a:prstDash val="solid"/>
          </a:ln>
        </p:spPr>
      </p:sp>
      <p:sp>
        <p:nvSpPr>
          <p:cNvPr id="208" name="Shape 206"/>
          <p:cNvSpPr/>
          <p:nvPr/>
        </p:nvSpPr>
        <p:spPr>
          <a:xfrm>
            <a:off x="6254750" y="4434840"/>
            <a:ext cx="76200" cy="299720"/>
          </a:xfrm>
          <a:prstGeom prst="rect">
            <a:avLst/>
          </a:prstGeom>
          <a:solidFill>
            <a:srgbClr val="1A7A3F"/>
          </a:solidFill>
          <a:ln w="12700">
            <a:solidFill>
              <a:srgbClr val="1A7A3F"/>
            </a:solidFill>
            <a:prstDash val="solid"/>
          </a:ln>
        </p:spPr>
      </p:sp>
      <p:sp>
        <p:nvSpPr>
          <p:cNvPr id="209" name="Text 207"/>
          <p:cNvSpPr/>
          <p:nvPr/>
        </p:nvSpPr>
        <p:spPr>
          <a:xfrm>
            <a:off x="6327775" y="4480560"/>
            <a:ext cx="145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A7A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永明经代</a:t>
            </a:r>
            <a:endParaRPr lang="en-US" sz="800" dirty="0"/>
          </a:p>
        </p:txBody>
      </p:sp>
      <p:sp>
        <p:nvSpPr>
          <p:cNvPr id="210" name="Text 208"/>
          <p:cNvSpPr/>
          <p:nvPr/>
        </p:nvSpPr>
        <p:spPr>
          <a:xfrm>
            <a:off x="7110160" y="4480560"/>
            <a:ext cx="60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231</a:t>
            </a:r>
            <a:endParaRPr lang="en-US" sz="850" dirty="0"/>
          </a:p>
        </p:txBody>
      </p:sp>
      <p:sp>
        <p:nvSpPr>
          <p:cNvPr id="211" name="Text 209"/>
          <p:cNvSpPr/>
          <p:nvPr/>
        </p:nvSpPr>
        <p:spPr>
          <a:xfrm>
            <a:off x="7821120" y="4480560"/>
            <a:ext cx="95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37</a:t>
            </a:r>
            <a:endParaRPr lang="en-US" sz="850" dirty="0"/>
          </a:p>
        </p:txBody>
      </p:sp>
      <p:sp>
        <p:nvSpPr>
          <p:cNvPr id="212" name="Text 210"/>
          <p:cNvSpPr/>
          <p:nvPr/>
        </p:nvSpPr>
        <p:spPr>
          <a:xfrm>
            <a:off x="8767780" y="4480560"/>
            <a:ext cx="70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23</a:t>
            </a:r>
            <a:endParaRPr lang="en-US" sz="850" dirty="0"/>
          </a:p>
        </p:txBody>
      </p:sp>
      <p:sp>
        <p:nvSpPr>
          <p:cNvPr id="213" name="Text 211"/>
          <p:cNvSpPr/>
          <p:nvPr/>
        </p:nvSpPr>
        <p:spPr>
          <a:xfrm>
            <a:off x="9601600" y="4480560"/>
            <a:ext cx="70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37</a:t>
            </a:r>
            <a:endParaRPr lang="en-US" sz="850" dirty="0"/>
          </a:p>
        </p:txBody>
      </p:sp>
      <p:sp>
        <p:nvSpPr>
          <p:cNvPr id="704" name="Text 702"/>
          <p:cNvSpPr/>
          <p:nvPr/>
        </p:nvSpPr>
        <p:spPr>
          <a:xfrm>
            <a:off x="10516700" y="4480560"/>
            <a:ext cx="66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20</a:t>
            </a:r>
            <a:endParaRPr lang="en-US" sz="850" dirty="0"/>
          </a:p>
        </p:txBody>
      </p:sp>
      <p:sp>
        <p:nvSpPr>
          <p:cNvPr id="705" name="Text 703"/>
          <p:cNvSpPr/>
          <p:nvPr/>
        </p:nvSpPr>
        <p:spPr>
          <a:xfrm>
            <a:off x="11431170" y="4480560"/>
            <a:ext cx="355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107</a:t>
            </a:r>
            <a:endParaRPr lang="en-US" sz="850" dirty="0"/>
          </a:p>
        </p:txBody>
      </p:sp>
      <p:sp>
        <p:nvSpPr>
          <p:cNvPr id="214" name="Shape 212"/>
          <p:cNvSpPr/>
          <p:nvPr/>
        </p:nvSpPr>
        <p:spPr>
          <a:xfrm>
            <a:off x="6254750" y="4690745"/>
            <a:ext cx="5659755" cy="299720"/>
          </a:xfrm>
          <a:prstGeom prst="rect">
            <a:avLst/>
          </a:prstGeom>
          <a:solidFill>
            <a:srgbClr val="F5F7FA"/>
          </a:solidFill>
          <a:ln w="3810">
            <a:solidFill>
              <a:srgbClr val="E8ECF0"/>
            </a:solidFill>
            <a:prstDash val="solid"/>
          </a:ln>
        </p:spPr>
      </p:sp>
      <p:sp>
        <p:nvSpPr>
          <p:cNvPr id="215" name="Shape 213"/>
          <p:cNvSpPr/>
          <p:nvPr/>
        </p:nvSpPr>
        <p:spPr>
          <a:xfrm>
            <a:off x="6254750" y="4690745"/>
            <a:ext cx="76200" cy="29972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216" name="Text 214"/>
          <p:cNvSpPr/>
          <p:nvPr/>
        </p:nvSpPr>
        <p:spPr>
          <a:xfrm>
            <a:off x="6327775" y="4736465"/>
            <a:ext cx="145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E67E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同行经代</a:t>
            </a:r>
            <a:endParaRPr lang="en-US" sz="800" dirty="0"/>
          </a:p>
        </p:txBody>
      </p:sp>
      <p:sp>
        <p:nvSpPr>
          <p:cNvPr id="217" name="Text 215"/>
          <p:cNvSpPr/>
          <p:nvPr/>
        </p:nvSpPr>
        <p:spPr>
          <a:xfrm>
            <a:off x="7110160" y="4736465"/>
            <a:ext cx="60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65</a:t>
            </a:r>
            <a:endParaRPr lang="en-US" sz="850" dirty="0"/>
          </a:p>
        </p:txBody>
      </p:sp>
      <p:sp>
        <p:nvSpPr>
          <p:cNvPr id="218" name="Text 216"/>
          <p:cNvSpPr/>
          <p:nvPr/>
        </p:nvSpPr>
        <p:spPr>
          <a:xfrm>
            <a:off x="7821120" y="4736465"/>
            <a:ext cx="95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78</a:t>
            </a:r>
            <a:endParaRPr lang="en-US" sz="850" dirty="0"/>
          </a:p>
        </p:txBody>
      </p:sp>
      <p:sp>
        <p:nvSpPr>
          <p:cNvPr id="219" name="Text 217"/>
          <p:cNvSpPr/>
          <p:nvPr/>
        </p:nvSpPr>
        <p:spPr>
          <a:xfrm>
            <a:off x="8767780" y="4736465"/>
            <a:ext cx="70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27</a:t>
            </a:r>
            <a:endParaRPr lang="en-US" sz="850" dirty="0"/>
          </a:p>
        </p:txBody>
      </p:sp>
      <p:sp>
        <p:nvSpPr>
          <p:cNvPr id="220" name="Text 218"/>
          <p:cNvSpPr/>
          <p:nvPr/>
        </p:nvSpPr>
        <p:spPr>
          <a:xfrm>
            <a:off x="9601600" y="4736465"/>
            <a:ext cx="70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54</a:t>
            </a:r>
            <a:endParaRPr lang="en-US" sz="850" dirty="0"/>
          </a:p>
        </p:txBody>
      </p:sp>
      <p:sp>
        <p:nvSpPr>
          <p:cNvPr id="706" name="Text 704"/>
          <p:cNvSpPr/>
          <p:nvPr/>
        </p:nvSpPr>
        <p:spPr>
          <a:xfrm>
            <a:off x="10516700" y="4736465"/>
            <a:ext cx="66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21</a:t>
            </a:r>
            <a:endParaRPr lang="en-US" sz="850" dirty="0"/>
          </a:p>
        </p:txBody>
      </p:sp>
      <p:sp>
        <p:nvSpPr>
          <p:cNvPr id="707" name="Text 705"/>
          <p:cNvSpPr/>
          <p:nvPr/>
        </p:nvSpPr>
        <p:spPr>
          <a:xfrm>
            <a:off x="11431170" y="4736465"/>
            <a:ext cx="355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84</a:t>
            </a:r>
            <a:endParaRPr lang="en-US" sz="850" dirty="0"/>
          </a:p>
        </p:txBody>
      </p:sp>
      <p:sp>
        <p:nvSpPr>
          <p:cNvPr id="221" name="Shape 219"/>
          <p:cNvSpPr/>
          <p:nvPr/>
        </p:nvSpPr>
        <p:spPr>
          <a:xfrm>
            <a:off x="6254750" y="4946650"/>
            <a:ext cx="5659755" cy="299720"/>
          </a:xfrm>
          <a:prstGeom prst="rect">
            <a:avLst/>
          </a:prstGeom>
          <a:solidFill>
            <a:srgbClr val="FFFFFF"/>
          </a:solidFill>
          <a:ln w="3810">
            <a:solidFill>
              <a:srgbClr val="E8ECF0"/>
            </a:solidFill>
            <a:prstDash val="solid"/>
          </a:ln>
        </p:spPr>
      </p:sp>
      <p:sp>
        <p:nvSpPr>
          <p:cNvPr id="222" name="Shape 220"/>
          <p:cNvSpPr/>
          <p:nvPr/>
        </p:nvSpPr>
        <p:spPr>
          <a:xfrm>
            <a:off x="6254750" y="4946650"/>
            <a:ext cx="76200" cy="299720"/>
          </a:xfrm>
          <a:prstGeom prst="rect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223" name="Text 221"/>
          <p:cNvSpPr/>
          <p:nvPr/>
        </p:nvSpPr>
        <p:spPr>
          <a:xfrm>
            <a:off x="6327775" y="4992370"/>
            <a:ext cx="145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2980B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天领业务</a:t>
            </a:r>
            <a:endParaRPr lang="en-US" sz="800" dirty="0"/>
          </a:p>
        </p:txBody>
      </p:sp>
      <p:sp>
        <p:nvSpPr>
          <p:cNvPr id="224" name="Text 222"/>
          <p:cNvSpPr/>
          <p:nvPr/>
        </p:nvSpPr>
        <p:spPr>
          <a:xfrm>
            <a:off x="7110160" y="4992370"/>
            <a:ext cx="60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72</a:t>
            </a:r>
            <a:endParaRPr lang="en-US" sz="850" dirty="0"/>
          </a:p>
        </p:txBody>
      </p:sp>
      <p:sp>
        <p:nvSpPr>
          <p:cNvPr id="225" name="Text 223"/>
          <p:cNvSpPr/>
          <p:nvPr/>
        </p:nvSpPr>
        <p:spPr>
          <a:xfrm>
            <a:off x="7821120" y="4992370"/>
            <a:ext cx="95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32</a:t>
            </a:r>
            <a:endParaRPr lang="en-US" sz="850" dirty="0"/>
          </a:p>
        </p:txBody>
      </p:sp>
      <p:sp>
        <p:nvSpPr>
          <p:cNvPr id="226" name="Text 224"/>
          <p:cNvSpPr/>
          <p:nvPr/>
        </p:nvSpPr>
        <p:spPr>
          <a:xfrm>
            <a:off x="8767780" y="4992370"/>
            <a:ext cx="70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23</a:t>
            </a:r>
            <a:endParaRPr lang="en-US" sz="850" dirty="0"/>
          </a:p>
        </p:txBody>
      </p:sp>
      <p:sp>
        <p:nvSpPr>
          <p:cNvPr id="227" name="Text 225"/>
          <p:cNvSpPr/>
          <p:nvPr/>
        </p:nvSpPr>
        <p:spPr>
          <a:xfrm>
            <a:off x="9601600" y="4992370"/>
            <a:ext cx="70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41</a:t>
            </a:r>
            <a:endParaRPr lang="en-US" sz="850" dirty="0"/>
          </a:p>
        </p:txBody>
      </p:sp>
      <p:sp>
        <p:nvSpPr>
          <p:cNvPr id="708" name="Text 706"/>
          <p:cNvSpPr/>
          <p:nvPr/>
        </p:nvSpPr>
        <p:spPr>
          <a:xfrm>
            <a:off x="10516700" y="4992370"/>
            <a:ext cx="66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19</a:t>
            </a:r>
            <a:endParaRPr lang="en-US" sz="850" dirty="0"/>
          </a:p>
        </p:txBody>
      </p:sp>
      <p:sp>
        <p:nvSpPr>
          <p:cNvPr id="709" name="Text 707"/>
          <p:cNvSpPr/>
          <p:nvPr/>
        </p:nvSpPr>
        <p:spPr>
          <a:xfrm>
            <a:off x="11431170" y="4992370"/>
            <a:ext cx="355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57</a:t>
            </a:r>
            <a:endParaRPr lang="en-US" sz="850" dirty="0"/>
          </a:p>
        </p:txBody>
      </p:sp>
      <p:sp>
        <p:nvSpPr>
          <p:cNvPr id="228" name="Shape 226"/>
          <p:cNvSpPr/>
          <p:nvPr/>
        </p:nvSpPr>
        <p:spPr>
          <a:xfrm>
            <a:off x="6254750" y="5203190"/>
            <a:ext cx="5659755" cy="299720"/>
          </a:xfrm>
          <a:prstGeom prst="rect">
            <a:avLst/>
          </a:prstGeom>
          <a:solidFill>
            <a:srgbClr val="F5F7FA"/>
          </a:solidFill>
          <a:ln w="3810">
            <a:solidFill>
              <a:srgbClr val="E8ECF0"/>
            </a:solidFill>
            <a:prstDash val="solid"/>
          </a:ln>
        </p:spPr>
      </p:sp>
      <p:sp>
        <p:nvSpPr>
          <p:cNvPr id="229" name="Shape 227"/>
          <p:cNvSpPr/>
          <p:nvPr/>
        </p:nvSpPr>
        <p:spPr>
          <a:xfrm>
            <a:off x="6254750" y="5203190"/>
            <a:ext cx="76200" cy="299720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230" name="Text 228"/>
          <p:cNvSpPr/>
          <p:nvPr/>
        </p:nvSpPr>
        <p:spPr>
          <a:xfrm>
            <a:off x="6327775" y="5248910"/>
            <a:ext cx="145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8E44A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ICLUB</a:t>
            </a:r>
            <a:endParaRPr lang="en-US" sz="800" dirty="0"/>
          </a:p>
        </p:txBody>
      </p:sp>
      <p:sp>
        <p:nvSpPr>
          <p:cNvPr id="231" name="Text 229"/>
          <p:cNvSpPr/>
          <p:nvPr/>
        </p:nvSpPr>
        <p:spPr>
          <a:xfrm>
            <a:off x="7110160" y="5248910"/>
            <a:ext cx="60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</a:t>
            </a:r>
            <a:endParaRPr lang="en-US" sz="850" dirty="0"/>
          </a:p>
        </p:txBody>
      </p:sp>
      <p:sp>
        <p:nvSpPr>
          <p:cNvPr id="232" name="Text 230"/>
          <p:cNvSpPr/>
          <p:nvPr/>
        </p:nvSpPr>
        <p:spPr>
          <a:xfrm>
            <a:off x="7821120" y="5248910"/>
            <a:ext cx="95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208</a:t>
            </a:r>
            <a:endParaRPr lang="en-US" sz="850" dirty="0"/>
          </a:p>
        </p:txBody>
      </p:sp>
      <p:sp>
        <p:nvSpPr>
          <p:cNvPr id="233" name="Text 231"/>
          <p:cNvSpPr/>
          <p:nvPr/>
        </p:nvSpPr>
        <p:spPr>
          <a:xfrm>
            <a:off x="8767780" y="5248910"/>
            <a:ext cx="70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22</a:t>
            </a:r>
            <a:endParaRPr lang="en-US" sz="850" dirty="0"/>
          </a:p>
        </p:txBody>
      </p:sp>
      <p:sp>
        <p:nvSpPr>
          <p:cNvPr id="234" name="Text 232"/>
          <p:cNvSpPr/>
          <p:nvPr/>
        </p:nvSpPr>
        <p:spPr>
          <a:xfrm>
            <a:off x="9601600" y="5248910"/>
            <a:ext cx="70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41</a:t>
            </a:r>
            <a:endParaRPr lang="en-US" sz="850" dirty="0"/>
          </a:p>
        </p:txBody>
      </p:sp>
      <p:sp>
        <p:nvSpPr>
          <p:cNvPr id="710" name="Text 708"/>
          <p:cNvSpPr/>
          <p:nvPr/>
        </p:nvSpPr>
        <p:spPr>
          <a:xfrm>
            <a:off x="10516700" y="5248910"/>
            <a:ext cx="66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13</a:t>
            </a:r>
            <a:endParaRPr lang="en-US" sz="850" dirty="0"/>
          </a:p>
        </p:txBody>
      </p:sp>
      <p:sp>
        <p:nvSpPr>
          <p:cNvPr id="711" name="Text 709"/>
          <p:cNvSpPr/>
          <p:nvPr/>
        </p:nvSpPr>
        <p:spPr>
          <a:xfrm>
            <a:off x="11431170" y="5248910"/>
            <a:ext cx="355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76</a:t>
            </a:r>
            <a:endParaRPr lang="en-US" sz="850" dirty="0"/>
          </a:p>
        </p:txBody>
      </p:sp>
      <p:sp>
        <p:nvSpPr>
          <p:cNvPr id="235" name="Shape 233"/>
          <p:cNvSpPr/>
          <p:nvPr/>
        </p:nvSpPr>
        <p:spPr>
          <a:xfrm>
            <a:off x="6254750" y="5459095"/>
            <a:ext cx="5659755" cy="299720"/>
          </a:xfrm>
          <a:prstGeom prst="rect">
            <a:avLst/>
          </a:prstGeom>
          <a:solidFill>
            <a:srgbClr val="FFFFFF"/>
          </a:solidFill>
          <a:ln w="3810">
            <a:solidFill>
              <a:srgbClr val="E8ECF0"/>
            </a:solidFill>
            <a:prstDash val="solid"/>
          </a:ln>
        </p:spPr>
      </p:sp>
      <p:sp>
        <p:nvSpPr>
          <p:cNvPr id="236" name="Shape 234"/>
          <p:cNvSpPr/>
          <p:nvPr/>
        </p:nvSpPr>
        <p:spPr>
          <a:xfrm>
            <a:off x="6254750" y="5459095"/>
            <a:ext cx="76200" cy="299720"/>
          </a:xfrm>
          <a:prstGeom prst="rect">
            <a:avLst/>
          </a:prstGeom>
          <a:solidFill>
            <a:srgbClr val="16A085"/>
          </a:solidFill>
          <a:ln w="12700">
            <a:solidFill>
              <a:srgbClr val="16A085"/>
            </a:solidFill>
            <a:prstDash val="solid"/>
          </a:ln>
        </p:spPr>
      </p:sp>
      <p:sp>
        <p:nvSpPr>
          <p:cNvPr id="237" name="Text 235"/>
          <p:cNvSpPr/>
          <p:nvPr/>
        </p:nvSpPr>
        <p:spPr>
          <a:xfrm>
            <a:off x="6327775" y="5504815"/>
            <a:ext cx="145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6A08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成事家办</a:t>
            </a:r>
            <a:endParaRPr lang="en-US" sz="800" dirty="0"/>
          </a:p>
        </p:txBody>
      </p:sp>
      <p:sp>
        <p:nvSpPr>
          <p:cNvPr id="238" name="Text 236"/>
          <p:cNvSpPr/>
          <p:nvPr/>
        </p:nvSpPr>
        <p:spPr>
          <a:xfrm>
            <a:off x="7110160" y="5504815"/>
            <a:ext cx="60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9</a:t>
            </a:r>
            <a:endParaRPr lang="en-US" sz="850" dirty="0"/>
          </a:p>
        </p:txBody>
      </p:sp>
      <p:sp>
        <p:nvSpPr>
          <p:cNvPr id="239" name="Text 237"/>
          <p:cNvSpPr/>
          <p:nvPr/>
        </p:nvSpPr>
        <p:spPr>
          <a:xfrm>
            <a:off x="7821120" y="5504815"/>
            <a:ext cx="95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25</a:t>
            </a:r>
            <a:endParaRPr lang="en-US" sz="850" dirty="0"/>
          </a:p>
        </p:txBody>
      </p:sp>
      <p:sp>
        <p:nvSpPr>
          <p:cNvPr id="240" name="Text 238"/>
          <p:cNvSpPr/>
          <p:nvPr/>
        </p:nvSpPr>
        <p:spPr>
          <a:xfrm>
            <a:off x="8767780" y="5504815"/>
            <a:ext cx="70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28</a:t>
            </a:r>
            <a:endParaRPr lang="en-US" sz="850" dirty="0"/>
          </a:p>
        </p:txBody>
      </p:sp>
      <p:sp>
        <p:nvSpPr>
          <p:cNvPr id="241" name="Text 239"/>
          <p:cNvSpPr/>
          <p:nvPr/>
        </p:nvSpPr>
        <p:spPr>
          <a:xfrm>
            <a:off x="9601600" y="5504815"/>
            <a:ext cx="70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47</a:t>
            </a:r>
            <a:endParaRPr lang="en-US" sz="850" dirty="0"/>
          </a:p>
        </p:txBody>
      </p:sp>
      <p:sp>
        <p:nvSpPr>
          <p:cNvPr id="712" name="Text 710"/>
          <p:cNvSpPr/>
          <p:nvPr/>
        </p:nvSpPr>
        <p:spPr>
          <a:xfrm>
            <a:off x="10516700" y="5504815"/>
            <a:ext cx="66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17</a:t>
            </a:r>
            <a:endParaRPr lang="en-US" sz="850" dirty="0"/>
          </a:p>
        </p:txBody>
      </p:sp>
      <p:sp>
        <p:nvSpPr>
          <p:cNvPr id="713" name="Text 711"/>
          <p:cNvSpPr/>
          <p:nvPr/>
        </p:nvSpPr>
        <p:spPr>
          <a:xfrm>
            <a:off x="11431170" y="5504815"/>
            <a:ext cx="355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81</a:t>
            </a:r>
            <a:endParaRPr lang="en-US" sz="850" dirty="0"/>
          </a:p>
        </p:txBody>
      </p:sp>
      <p:sp>
        <p:nvSpPr>
          <p:cNvPr id="242" name="Shape 240"/>
          <p:cNvSpPr/>
          <p:nvPr/>
        </p:nvSpPr>
        <p:spPr>
          <a:xfrm>
            <a:off x="6254750" y="5715000"/>
            <a:ext cx="5659755" cy="299720"/>
          </a:xfrm>
          <a:prstGeom prst="rect">
            <a:avLst/>
          </a:prstGeom>
          <a:solidFill>
            <a:srgbClr val="F5F7FA"/>
          </a:solidFill>
          <a:ln w="3810">
            <a:solidFill>
              <a:srgbClr val="E8ECF0"/>
            </a:solidFill>
            <a:prstDash val="solid"/>
          </a:ln>
        </p:spPr>
      </p:sp>
      <p:sp>
        <p:nvSpPr>
          <p:cNvPr id="243" name="Shape 241"/>
          <p:cNvSpPr/>
          <p:nvPr/>
        </p:nvSpPr>
        <p:spPr>
          <a:xfrm>
            <a:off x="6254750" y="5715000"/>
            <a:ext cx="76200" cy="2997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44" name="Text 242"/>
          <p:cNvSpPr/>
          <p:nvPr/>
        </p:nvSpPr>
        <p:spPr>
          <a:xfrm>
            <a:off x="6327775" y="5760720"/>
            <a:ext cx="145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C039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合伙转介</a:t>
            </a:r>
            <a:endParaRPr lang="en-US" sz="800" dirty="0"/>
          </a:p>
        </p:txBody>
      </p:sp>
      <p:sp>
        <p:nvSpPr>
          <p:cNvPr id="245" name="Text 243"/>
          <p:cNvSpPr/>
          <p:nvPr/>
        </p:nvSpPr>
        <p:spPr>
          <a:xfrm>
            <a:off x="7110160" y="5760720"/>
            <a:ext cx="60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15</a:t>
            </a:r>
            <a:endParaRPr lang="en-US" sz="850" dirty="0"/>
          </a:p>
        </p:txBody>
      </p:sp>
      <p:sp>
        <p:nvSpPr>
          <p:cNvPr id="246" name="Text 244"/>
          <p:cNvSpPr/>
          <p:nvPr/>
        </p:nvSpPr>
        <p:spPr>
          <a:xfrm>
            <a:off x="7821120" y="5760720"/>
            <a:ext cx="95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15</a:t>
            </a:r>
            <a:endParaRPr lang="en-US" sz="850" dirty="0"/>
          </a:p>
        </p:txBody>
      </p:sp>
      <p:sp>
        <p:nvSpPr>
          <p:cNvPr id="247" name="Text 245"/>
          <p:cNvSpPr/>
          <p:nvPr/>
        </p:nvSpPr>
        <p:spPr>
          <a:xfrm>
            <a:off x="8767780" y="5760720"/>
            <a:ext cx="70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18</a:t>
            </a:r>
            <a:endParaRPr lang="en-US" sz="850" dirty="0"/>
          </a:p>
        </p:txBody>
      </p:sp>
      <p:sp>
        <p:nvSpPr>
          <p:cNvPr id="248" name="Text 246"/>
          <p:cNvSpPr/>
          <p:nvPr/>
        </p:nvSpPr>
        <p:spPr>
          <a:xfrm>
            <a:off x="9601600" y="5760720"/>
            <a:ext cx="70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32</a:t>
            </a:r>
            <a:endParaRPr lang="en-US" sz="850" dirty="0"/>
          </a:p>
        </p:txBody>
      </p:sp>
      <p:sp>
        <p:nvSpPr>
          <p:cNvPr id="714" name="Text 712"/>
          <p:cNvSpPr/>
          <p:nvPr/>
        </p:nvSpPr>
        <p:spPr>
          <a:xfrm>
            <a:off x="10516700" y="5760720"/>
            <a:ext cx="66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15</a:t>
            </a:r>
            <a:endParaRPr lang="en-US" sz="850" dirty="0"/>
          </a:p>
        </p:txBody>
      </p:sp>
      <p:sp>
        <p:nvSpPr>
          <p:cNvPr id="715" name="Text 713"/>
          <p:cNvSpPr/>
          <p:nvPr/>
        </p:nvSpPr>
        <p:spPr>
          <a:xfrm>
            <a:off x="11431170" y="5760720"/>
            <a:ext cx="355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47</a:t>
            </a:r>
            <a:endParaRPr lang="en-US" sz="850" dirty="0"/>
          </a:p>
        </p:txBody>
      </p:sp>
      <p:sp>
        <p:nvSpPr>
          <p:cNvPr id="716" name="Shape 714"/>
          <p:cNvSpPr/>
          <p:nvPr/>
        </p:nvSpPr>
        <p:spPr>
          <a:xfrm>
            <a:off x="6254750" y="6014720"/>
            <a:ext cx="5659755" cy="299720"/>
          </a:xfrm>
          <a:prstGeom prst="rect">
            <a:avLst/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717" name="Shape 715"/>
          <p:cNvSpPr/>
          <p:nvPr/>
        </p:nvSpPr>
        <p:spPr>
          <a:xfrm>
            <a:off x="6254750" y="6014720"/>
            <a:ext cx="76200" cy="299720"/>
          </a:xfrm>
          <a:prstGeom prst="rect">
            <a:avLst/>
          </a:prstGeom>
          <a:solidFill>
            <a:srgbClr val="A0A0A0"/>
          </a:solidFill>
          <a:ln w="7620">
            <a:solidFill>
              <a:srgbClr val="A0A0A0"/>
            </a:solidFill>
          </a:ln>
        </p:spPr>
      </p:sp>
      <p:sp>
        <p:nvSpPr>
          <p:cNvPr id="718" name="Text 716"/>
          <p:cNvSpPr/>
          <p:nvPr/>
        </p:nvSpPr>
        <p:spPr>
          <a:xfrm>
            <a:off x="6327775" y="6060440"/>
            <a:ext cx="145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IFA业务</a:t>
            </a:r>
            <a:endParaRPr lang="en-US" sz="800" dirty="0"/>
          </a:p>
        </p:txBody>
      </p:sp>
      <p:sp>
        <p:nvSpPr>
          <p:cNvPr id="719" name="Text 717"/>
          <p:cNvSpPr/>
          <p:nvPr/>
        </p:nvSpPr>
        <p:spPr>
          <a:xfrm>
            <a:off x="7130480" y="6060440"/>
            <a:ext cx="60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</a:t>
            </a:r>
            <a:endParaRPr lang="en-US" sz="850" dirty="0"/>
          </a:p>
        </p:txBody>
      </p:sp>
      <p:sp>
        <p:nvSpPr>
          <p:cNvPr id="720" name="Text 718"/>
          <p:cNvSpPr/>
          <p:nvPr/>
        </p:nvSpPr>
        <p:spPr>
          <a:xfrm>
            <a:off x="7841440" y="6060440"/>
            <a:ext cx="95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</a:t>
            </a:r>
            <a:endParaRPr lang="en-US" sz="850" dirty="0"/>
          </a:p>
        </p:txBody>
      </p:sp>
      <p:sp>
        <p:nvSpPr>
          <p:cNvPr id="721" name="Text 719"/>
          <p:cNvSpPr/>
          <p:nvPr/>
        </p:nvSpPr>
        <p:spPr>
          <a:xfrm>
            <a:off x="8788100" y="6060440"/>
            <a:ext cx="70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</a:t>
            </a:r>
            <a:endParaRPr lang="en-US" sz="850" dirty="0"/>
          </a:p>
        </p:txBody>
      </p:sp>
      <p:sp>
        <p:nvSpPr>
          <p:cNvPr id="722" name="Text 720"/>
          <p:cNvSpPr/>
          <p:nvPr/>
        </p:nvSpPr>
        <p:spPr>
          <a:xfrm>
            <a:off x="9621920" y="6060440"/>
            <a:ext cx="70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</a:t>
            </a:r>
            <a:endParaRPr lang="en-US" sz="850" dirty="0"/>
          </a:p>
        </p:txBody>
      </p:sp>
      <p:sp>
        <p:nvSpPr>
          <p:cNvPr id="723" name="Text 721"/>
          <p:cNvSpPr/>
          <p:nvPr/>
        </p:nvSpPr>
        <p:spPr>
          <a:xfrm>
            <a:off x="10537020" y="6060440"/>
            <a:ext cx="66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</a:t>
            </a:r>
            <a:endParaRPr lang="en-US" sz="850" dirty="0"/>
          </a:p>
        </p:txBody>
      </p:sp>
      <p:sp>
        <p:nvSpPr>
          <p:cNvPr id="724" name="Text 722"/>
          <p:cNvSpPr/>
          <p:nvPr/>
        </p:nvSpPr>
        <p:spPr>
          <a:xfrm>
            <a:off x="11487050" y="6060440"/>
            <a:ext cx="355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</a:t>
            </a:r>
            <a:endParaRPr lang="en-US" sz="850" dirty="0"/>
          </a:p>
        </p:txBody>
      </p:sp>
      <p:sp>
        <p:nvSpPr>
          <p:cNvPr id="725" name="Shape 723"/>
          <p:cNvSpPr/>
          <p:nvPr/>
        </p:nvSpPr>
        <p:spPr>
          <a:xfrm>
            <a:off x="6254750" y="6314440"/>
            <a:ext cx="5659755" cy="299720"/>
          </a:xfrm>
          <a:prstGeom prst="rect">
            <a:avLst/>
          </a:prstGeom>
          <a:solidFill>
            <a:srgbClr val="1F3864"/>
          </a:solidFill>
          <a:ln w="7620">
            <a:solidFill>
              <a:srgbClr val="1F3864"/>
            </a:solidFill>
            <a:prstDash val="solid"/>
          </a:ln>
        </p:spPr>
      </p:sp>
      <p:sp>
        <p:nvSpPr>
          <p:cNvPr id="726" name="Shape 724"/>
          <p:cNvSpPr/>
          <p:nvPr/>
        </p:nvSpPr>
        <p:spPr>
          <a:xfrm>
            <a:off x="6254750" y="6314440"/>
            <a:ext cx="76200" cy="299720"/>
          </a:xfrm>
          <a:prstGeom prst="rect">
            <a:avLst/>
          </a:prstGeom>
          <a:solidFill>
            <a:srgbClr val="1F3864"/>
          </a:solidFill>
          <a:ln w="7620">
            <a:solidFill>
              <a:srgbClr val="1F3864"/>
            </a:solidFill>
          </a:ln>
        </p:spPr>
      </p:sp>
      <p:sp>
        <p:nvSpPr>
          <p:cNvPr id="727" name="Text 725"/>
          <p:cNvSpPr/>
          <p:nvPr/>
        </p:nvSpPr>
        <p:spPr>
          <a:xfrm>
            <a:off x="6327775" y="6360160"/>
            <a:ext cx="145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合计</a:t>
            </a:r>
            <a:endParaRPr lang="en-US" sz="800" dirty="0"/>
          </a:p>
        </p:txBody>
      </p:sp>
      <p:sp>
        <p:nvSpPr>
          <p:cNvPr id="728" name="Text 726"/>
          <p:cNvSpPr/>
          <p:nvPr/>
        </p:nvSpPr>
        <p:spPr>
          <a:xfrm>
            <a:off x="7110160" y="6360160"/>
            <a:ext cx="60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482</a:t>
            </a:r>
            <a:endParaRPr lang="en-US" sz="850" dirty="0"/>
          </a:p>
        </p:txBody>
      </p:sp>
      <p:sp>
        <p:nvSpPr>
          <p:cNvPr id="729" name="Text 727"/>
          <p:cNvSpPr/>
          <p:nvPr/>
        </p:nvSpPr>
        <p:spPr>
          <a:xfrm>
            <a:off x="7821120" y="6360160"/>
            <a:ext cx="95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70</a:t>
            </a:r>
            <a:endParaRPr lang="en-US" sz="850" dirty="0"/>
          </a:p>
        </p:txBody>
      </p:sp>
      <p:sp>
        <p:nvSpPr>
          <p:cNvPr id="730" name="Text 728"/>
          <p:cNvSpPr/>
          <p:nvPr/>
        </p:nvSpPr>
        <p:spPr>
          <a:xfrm>
            <a:off x="8767780" y="6360160"/>
            <a:ext cx="70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37</a:t>
            </a:r>
            <a:endParaRPr lang="en-US" sz="850" dirty="0"/>
          </a:p>
        </p:txBody>
      </p:sp>
      <p:sp>
        <p:nvSpPr>
          <p:cNvPr id="731" name="Text 729"/>
          <p:cNvSpPr/>
          <p:nvPr/>
        </p:nvSpPr>
        <p:spPr>
          <a:xfrm>
            <a:off x="9601600" y="6360160"/>
            <a:ext cx="70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95</a:t>
            </a:r>
            <a:endParaRPr lang="en-US" sz="850" dirty="0"/>
          </a:p>
        </p:txBody>
      </p:sp>
      <p:sp>
        <p:nvSpPr>
          <p:cNvPr id="732" name="Text 730"/>
          <p:cNvSpPr/>
          <p:nvPr/>
        </p:nvSpPr>
        <p:spPr>
          <a:xfrm>
            <a:off x="10516700" y="6360160"/>
            <a:ext cx="66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24</a:t>
            </a:r>
            <a:endParaRPr lang="en-US" sz="850" dirty="0"/>
          </a:p>
        </p:txBody>
      </p:sp>
      <p:sp>
        <p:nvSpPr>
          <p:cNvPr id="733" name="Text 731"/>
          <p:cNvSpPr/>
          <p:nvPr/>
        </p:nvSpPr>
        <p:spPr>
          <a:xfrm>
            <a:off x="11431170" y="6360160"/>
            <a:ext cx="355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189</a:t>
            </a:r>
            <a:endParaRPr lang="en-US" sz="850" dirty="0"/>
          </a:p>
        </p:txBody>
      </p:sp>
      <p:sp>
        <p:nvSpPr>
          <p:cNvPr id="250" name="Shape 247"/>
          <p:cNvSpPr/>
          <p:nvPr/>
        </p:nvSpPr>
        <p:spPr>
          <a:xfrm>
            <a:off x="6163056" y="6254496"/>
            <a:ext cx="5888736" cy="402336"/>
          </a:xfrm>
          <a:prstGeom prst="rect">
            <a:avLst/>
          </a:prstGeom>
          <a:solidFill>
            <a:srgbClr val="EEF2FF"/>
          </a:solidFill>
          <a:ln w="6350">
            <a:solidFill>
              <a:srgbClr val="C5CEE8"/>
            </a:solidFill>
            <a:prstDash val="solid"/>
          </a:ln>
        </p:spPr>
      </p:sp>
      <p:sp>
        <p:nvSpPr>
          <p:cNvPr id="251" name="Shape 248"/>
          <p:cNvSpPr/>
          <p:nvPr/>
        </p:nvSpPr>
        <p:spPr>
          <a:xfrm>
            <a:off x="6163056" y="6254496"/>
            <a:ext cx="5888736" cy="27432"/>
          </a:xfrm>
          <a:prstGeom prst="rect">
            <a:avLst/>
          </a:prstGeom>
          <a:solidFill>
            <a:srgbClr val="4A235A"/>
          </a:solidFill>
          <a:ln w="12700">
            <a:solidFill>
              <a:srgbClr val="4A235A"/>
            </a:solidFill>
            <a:prstDash val="solid"/>
          </a:ln>
        </p:spPr>
      </p:sp>
      <p:sp>
        <p:nvSpPr>
          <p:cNvPr id="252" name="Text 249"/>
          <p:cNvSpPr/>
          <p:nvPr/>
        </p:nvSpPr>
        <p:spPr>
          <a:xfrm>
            <a:off x="6254496" y="6291072"/>
            <a:ext cx="5724144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b="1" dirty="0">
                <a:solidFill>
                  <a:srgbClr val="4A235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 What：</a:t>
            </a:r>
            <a:endParaRPr lang="en-US" sz="550" dirty="0"/>
          </a:p>
        </p:txBody>
      </p:sp>
      <p:sp>
        <p:nvSpPr>
          <p:cNvPr id="253" name="Text 250"/>
          <p:cNvSpPr/>
          <p:nvPr/>
        </p:nvSpPr>
        <p:spPr>
          <a:xfrm>
            <a:off x="6254496" y="6409944"/>
            <a:ext cx="5724144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BK均值73天（P90=122天）是唯一超SLA=60天渠道，且件均APE最高（127.5万），大额件审核慢是主要风险。&gt;90天件58件（10.9%）却占APE总量26.7%，大额单长期滞留影响巨大。ICLUB均值22天，小批量高效。</a:t>
            </a:r>
            <a:endParaRPr lang="en-US" sz="550" dirty="0"/>
          </a:p>
        </p:txBody>
      </p:sp>
      <p:sp>
        <p:nvSpPr>
          <p:cNvPr id="255" name="Shape 252"/>
          <p:cNvSpPr/>
          <p:nvPr/>
        </p:nvSpPr>
        <p:spPr>
          <a:xfrm>
            <a:off x="91440" y="548640"/>
            <a:ext cx="5943600" cy="256032"/>
          </a:xfrm>
          <a:prstGeom prst="rect">
            <a:avLst/>
          </a:prstGeom>
          <a:solidFill>
            <a:srgbClr val="7B241C"/>
          </a:solidFill>
          <a:ln w="12700">
            <a:solidFill>
              <a:srgbClr val="7B241C"/>
            </a:solidFill>
            <a:prstDash val="solid"/>
          </a:ln>
        </p:spPr>
      </p:sp>
      <p:sp>
        <p:nvSpPr>
          <p:cNvPr id="256" name="Text 253"/>
          <p:cNvSpPr/>
          <p:nvPr/>
        </p:nvSpPr>
        <p:spPr>
          <a:xfrm>
            <a:off x="182880" y="585216"/>
            <a:ext cx="5779008" cy="1920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  周度预约渠道贡献构成</a:t>
            </a: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（APE in M</a:t>
            </a: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）</a:t>
            </a:r>
            <a:endParaRPr lang="en-US" sz="850" dirty="0"/>
          </a:p>
        </p:txBody>
      </p:sp>
      <p:sp>
        <p:nvSpPr>
          <p:cNvPr id="262" name="Shape 258"/>
          <p:cNvSpPr/>
          <p:nvPr/>
        </p:nvSpPr>
        <p:spPr>
          <a:xfrm>
            <a:off x="6162421" y="548640"/>
            <a:ext cx="5888736" cy="2999232"/>
          </a:xfrm>
          <a:prstGeom prst="rect">
            <a:avLst/>
          </a:prstGeom>
          <a:solidFill>
            <a:srgbClr val="FFFFFF"/>
          </a:solidFill>
          <a:ln w="9525">
            <a:solidFill>
              <a:srgbClr val="D0D8E8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63" name="Shape 259"/>
          <p:cNvSpPr/>
          <p:nvPr/>
        </p:nvSpPr>
        <p:spPr>
          <a:xfrm>
            <a:off x="6163056" y="548640"/>
            <a:ext cx="5888736" cy="256032"/>
          </a:xfrm>
          <a:prstGeom prst="rect">
            <a:avLst/>
          </a:prstGeom>
          <a:solidFill>
            <a:srgbClr val="7B241C"/>
          </a:solidFill>
          <a:ln w="12700">
            <a:solidFill>
              <a:srgbClr val="7B241C"/>
            </a:solidFill>
            <a:prstDash val="solid"/>
          </a:ln>
        </p:spPr>
      </p:sp>
      <p:sp>
        <p:nvSpPr>
          <p:cNvPr id="264" name="Text 260"/>
          <p:cNvSpPr/>
          <p:nvPr/>
        </p:nvSpPr>
        <p:spPr>
          <a:xfrm>
            <a:off x="6254496" y="585216"/>
            <a:ext cx="5724144" cy="1920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 模块B/C — 签单业绩热力矩阵</a:t>
            </a: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（APE in M</a:t>
            </a: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）</a:t>
            </a:r>
            <a:endParaRPr lang="en-US" sz="850" dirty="0"/>
          </a:p>
        </p:txBody>
      </p:sp>
      <p:sp>
        <p:nvSpPr>
          <p:cNvPr id="258" name="Shape 254"/>
          <p:cNvSpPr/>
          <p:nvPr/>
        </p:nvSpPr>
        <p:spPr>
          <a:xfrm>
            <a:off x="91440" y="3196971"/>
            <a:ext cx="5943600" cy="402336"/>
          </a:xfrm>
          <a:prstGeom prst="rect">
            <a:avLst/>
          </a:prstGeom>
          <a:solidFill>
            <a:srgbClr val="EEF2FF"/>
          </a:solidFill>
          <a:ln w="6350">
            <a:solidFill>
              <a:srgbClr val="C5CEE8"/>
            </a:solidFill>
            <a:prstDash val="solid"/>
          </a:ln>
        </p:spPr>
      </p:sp>
      <p:sp>
        <p:nvSpPr>
          <p:cNvPr id="259" name="Shape 255"/>
          <p:cNvSpPr/>
          <p:nvPr/>
        </p:nvSpPr>
        <p:spPr>
          <a:xfrm>
            <a:off x="73660" y="3161411"/>
            <a:ext cx="5943600" cy="27432"/>
          </a:xfrm>
          <a:prstGeom prst="rect">
            <a:avLst/>
          </a:prstGeom>
          <a:solidFill>
            <a:srgbClr val="7B241C"/>
          </a:solidFill>
          <a:ln w="12700">
            <a:solidFill>
              <a:srgbClr val="7B241C"/>
            </a:solidFill>
            <a:prstDash val="solid"/>
          </a:ln>
        </p:spPr>
      </p:sp>
      <p:sp>
        <p:nvSpPr>
          <p:cNvPr id="260" name="Text 256"/>
          <p:cNvSpPr/>
          <p:nvPr/>
        </p:nvSpPr>
        <p:spPr>
          <a:xfrm>
            <a:off x="165100" y="3197987"/>
            <a:ext cx="5779008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b="1" dirty="0">
                <a:solidFill>
                  <a:srgbClr val="7B241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 What：</a:t>
            </a:r>
            <a:endParaRPr lang="en-US" sz="550" dirty="0"/>
          </a:p>
        </p:txBody>
      </p:sp>
      <p:sp>
        <p:nvSpPr>
          <p:cNvPr id="8" name="Text 257"/>
          <p:cNvSpPr/>
          <p:nvPr/>
        </p:nvSpPr>
        <p:spPr>
          <a:xfrm>
            <a:off x="165100" y="3316859"/>
            <a:ext cx="5779008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永明经代是预约基本盘，W12峰值10.4M（28件）创Q1新高，W13仍有3.59M/12件节后持续。ICLUB在W05单周爆发12M后归零，属「脉冲式」大单渠道，连续性差。BK业务W13预约归零（节后），需密切追踪W14回升情况。</a:t>
            </a:r>
            <a:endParaRPr lang="en-US" sz="550" dirty="0"/>
          </a:p>
        </p:txBody>
      </p:sp>
      <p:sp>
        <p:nvSpPr>
          <p:cNvPr id="470" name="Shape 448"/>
          <p:cNvSpPr/>
          <p:nvPr/>
        </p:nvSpPr>
        <p:spPr>
          <a:xfrm>
            <a:off x="6144006" y="3188716"/>
            <a:ext cx="5888736" cy="402336"/>
          </a:xfrm>
          <a:prstGeom prst="rect">
            <a:avLst/>
          </a:prstGeom>
          <a:solidFill>
            <a:srgbClr val="EEF2FF"/>
          </a:solidFill>
          <a:ln w="6350">
            <a:solidFill>
              <a:srgbClr val="C5CEE8"/>
            </a:solidFill>
            <a:prstDash val="solid"/>
          </a:ln>
        </p:spPr>
      </p:sp>
      <p:sp>
        <p:nvSpPr>
          <p:cNvPr id="472" name="Text 450"/>
          <p:cNvSpPr/>
          <p:nvPr/>
        </p:nvSpPr>
        <p:spPr>
          <a:xfrm>
            <a:off x="6236716" y="3197987"/>
            <a:ext cx="5724144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b="1" dirty="0">
                <a:solidFill>
                  <a:srgbClr val="7B241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 What：</a:t>
            </a:r>
            <a:endParaRPr lang="en-US" sz="550" dirty="0"/>
          </a:p>
        </p:txBody>
      </p:sp>
      <p:sp>
        <p:nvSpPr>
          <p:cNvPr id="9" name="Text 451"/>
          <p:cNvSpPr/>
          <p:nvPr/>
        </p:nvSpPr>
        <p:spPr>
          <a:xfrm>
            <a:off x="6236716" y="3316859"/>
            <a:ext cx="5724144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永明经代W13签单6.61M/18件，消化3月末积压订单。BK W13签单3.51M/6件（民生2.73M+平安0.78M），稳健延续。W13递交39.7M/90件为单周最高，大量3月末签单件正式进入核保流程——是Q2批核的核心驱动信号。</a:t>
            </a:r>
            <a:endParaRPr lang="en-US" sz="550" dirty="0"/>
          </a:p>
        </p:txBody>
      </p:sp>
      <p:sp>
        <p:nvSpPr>
          <p:cNvPr id="187" name="Shape 185"/>
          <p:cNvSpPr/>
          <p:nvPr/>
        </p:nvSpPr>
        <p:spPr>
          <a:xfrm>
            <a:off x="91440" y="6254496"/>
            <a:ext cx="5943600" cy="402336"/>
          </a:xfrm>
          <a:prstGeom prst="rect">
            <a:avLst/>
          </a:prstGeom>
          <a:solidFill>
            <a:srgbClr val="EEF2FF"/>
          </a:solidFill>
          <a:ln w="6350">
            <a:solidFill>
              <a:srgbClr val="C5CEE8"/>
            </a:solidFill>
            <a:prstDash val="solid"/>
          </a:ln>
        </p:spPr>
      </p:sp>
      <p:sp>
        <p:nvSpPr>
          <p:cNvPr id="188" name="Shape 186"/>
          <p:cNvSpPr/>
          <p:nvPr/>
        </p:nvSpPr>
        <p:spPr>
          <a:xfrm>
            <a:off x="91440" y="6254496"/>
            <a:ext cx="5943600" cy="27432"/>
          </a:xfrm>
          <a:prstGeom prst="rect">
            <a:avLst/>
          </a:prstGeom>
          <a:solidFill>
            <a:srgbClr val="1A6B3A"/>
          </a:solidFill>
          <a:ln w="12700">
            <a:solidFill>
              <a:srgbClr val="1A6B3A"/>
            </a:solidFill>
            <a:prstDash val="solid"/>
          </a:ln>
        </p:spPr>
      </p:sp>
      <p:sp>
        <p:nvSpPr>
          <p:cNvPr id="189" name="Text 187"/>
          <p:cNvSpPr/>
          <p:nvPr/>
        </p:nvSpPr>
        <p:spPr>
          <a:xfrm>
            <a:off x="182880" y="6291072"/>
            <a:ext cx="5779008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b="1" dirty="0">
                <a:solidFill>
                  <a:srgbClr val="1A6B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 What：</a:t>
            </a:r>
            <a:endParaRPr lang="en-US" sz="550" dirty="0"/>
          </a:p>
        </p:txBody>
      </p:sp>
      <p:sp>
        <p:nvSpPr>
          <p:cNvPr id="10" name="Text 188"/>
          <p:cNvSpPr/>
          <p:nvPr/>
        </p:nvSpPr>
        <p:spPr>
          <a:xfrm>
            <a:off x="182880" y="6409944"/>
            <a:ext cx="5779008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K业务W08批核爆发（46.88M/30件）创全矩阵APE最高点，W11次之（35.96M/19件），为集中突击核保特征。永明经代批核较均匀，W12仅1.6M/3件，积压件已基本清空。W07全矩阵趋于空白（仅批核10件/7.3M），执行停摆清晰可见。</a:t>
            </a:r>
            <a:endParaRPr lang="en-US" sz="550" dirty="0"/>
          </a:p>
        </p:txBody>
      </p:sp>
      <p:sp>
        <p:nvSpPr>
          <p:cNvPr id="12" name="T7013"/>
          <p:cNvSpPr/>
          <p:nvPr/>
        </p:nvSpPr>
        <p:spPr>
          <a:xfrm>
            <a:off x="182880" y="1042670"/>
            <a:ext cx="498288" cy="290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CN" sz="58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BK业务</a:t>
            </a:r>
            <a:endParaRPr lang="zh-CN" sz="580" dirty="0"/>
          </a:p>
        </p:txBody>
      </p:sp>
      <p:sp>
        <p:nvSpPr>
          <p:cNvPr id="13" name="R7014"/>
          <p:cNvSpPr/>
          <p:nvPr/>
        </p:nvSpPr>
        <p:spPr>
          <a:xfrm>
            <a:off x="691168" y="1042670"/>
            <a:ext cx="390000" cy="290000"/>
          </a:xfrm>
          <a:prstGeom prst="rect">
            <a:avLst/>
          </a:prstGeom>
          <a:solidFill>
            <a:srgbClr val="1F3864">
              <a:alpha val="39375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14" name="T7015"/>
          <p:cNvSpPr/>
          <p:nvPr/>
        </p:nvSpPr>
        <p:spPr>
          <a:xfrm>
            <a:off x="691168" y="1042670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2.3M</a:t>
            </a:r>
            <a:endParaRPr lang="zh-CN" sz="570" dirty="0"/>
          </a:p>
        </p:txBody>
      </p:sp>
      <p:sp>
        <p:nvSpPr>
          <p:cNvPr id="15" name="T7016"/>
          <p:cNvSpPr/>
          <p:nvPr/>
        </p:nvSpPr>
        <p:spPr>
          <a:xfrm>
            <a:off x="691168" y="1216670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3件</a:t>
            </a:r>
            <a:endParaRPr lang="zh-CN" sz="500" dirty="0"/>
          </a:p>
        </p:txBody>
      </p:sp>
      <p:sp>
        <p:nvSpPr>
          <p:cNvPr id="16" name="R7017"/>
          <p:cNvSpPr/>
          <p:nvPr/>
        </p:nvSpPr>
        <p:spPr>
          <a:xfrm>
            <a:off x="1081168" y="1042670"/>
            <a:ext cx="390000" cy="290000"/>
          </a:xfrm>
          <a:prstGeom prst="rect">
            <a:avLst/>
          </a:prstGeom>
          <a:solidFill>
            <a:srgbClr val="1F3864">
              <a:alpha val="57542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17" name="T7018"/>
          <p:cNvSpPr/>
          <p:nvPr/>
        </p:nvSpPr>
        <p:spPr>
          <a:xfrm>
            <a:off x="1081168" y="1042670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4.1M</a:t>
            </a:r>
            <a:endParaRPr lang="zh-CN" sz="570" dirty="0"/>
          </a:p>
        </p:txBody>
      </p:sp>
      <p:sp>
        <p:nvSpPr>
          <p:cNvPr id="18" name="T7019"/>
          <p:cNvSpPr/>
          <p:nvPr/>
        </p:nvSpPr>
        <p:spPr>
          <a:xfrm>
            <a:off x="1081168" y="1216670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5件</a:t>
            </a:r>
            <a:endParaRPr lang="zh-CN" sz="500" dirty="0"/>
          </a:p>
        </p:txBody>
      </p:sp>
      <p:sp>
        <p:nvSpPr>
          <p:cNvPr id="19" name="R7020"/>
          <p:cNvSpPr/>
          <p:nvPr/>
        </p:nvSpPr>
        <p:spPr>
          <a:xfrm>
            <a:off x="1471168" y="1042670"/>
            <a:ext cx="390000" cy="290000"/>
          </a:xfrm>
          <a:prstGeom prst="rect">
            <a:avLst/>
          </a:prstGeom>
          <a:solidFill>
            <a:srgbClr val="1F3864">
              <a:alpha val="77855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20" name="T7021"/>
          <p:cNvSpPr/>
          <p:nvPr/>
        </p:nvSpPr>
        <p:spPr>
          <a:xfrm>
            <a:off x="1471168" y="1042670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6.0M</a:t>
            </a:r>
            <a:endParaRPr lang="zh-CN" sz="570" dirty="0"/>
          </a:p>
        </p:txBody>
      </p:sp>
      <p:sp>
        <p:nvSpPr>
          <p:cNvPr id="21" name="T7022"/>
          <p:cNvSpPr/>
          <p:nvPr/>
        </p:nvSpPr>
        <p:spPr>
          <a:xfrm>
            <a:off x="1471168" y="1216670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6件</a:t>
            </a:r>
            <a:endParaRPr lang="zh-CN" sz="500" dirty="0"/>
          </a:p>
        </p:txBody>
      </p:sp>
      <p:sp>
        <p:nvSpPr>
          <p:cNvPr id="22" name="R7023"/>
          <p:cNvSpPr/>
          <p:nvPr/>
        </p:nvSpPr>
        <p:spPr>
          <a:xfrm>
            <a:off x="1861168" y="1042670"/>
            <a:ext cx="390000" cy="290000"/>
          </a:xfrm>
          <a:prstGeom prst="rect">
            <a:avLst/>
          </a:prstGeom>
          <a:solidFill>
            <a:srgbClr val="1F3864">
              <a:alpha val="33687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23" name="T7024"/>
          <p:cNvSpPr/>
          <p:nvPr/>
        </p:nvSpPr>
        <p:spPr>
          <a:xfrm>
            <a:off x="1861168" y="1042670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1.8M</a:t>
            </a:r>
            <a:endParaRPr lang="zh-CN" sz="570" dirty="0"/>
          </a:p>
        </p:txBody>
      </p:sp>
      <p:sp>
        <p:nvSpPr>
          <p:cNvPr id="24" name="T7025"/>
          <p:cNvSpPr/>
          <p:nvPr/>
        </p:nvSpPr>
        <p:spPr>
          <a:xfrm>
            <a:off x="1861168" y="1216670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4件</a:t>
            </a:r>
            <a:endParaRPr lang="zh-CN" sz="500" dirty="0"/>
          </a:p>
        </p:txBody>
      </p:sp>
      <p:sp>
        <p:nvSpPr>
          <p:cNvPr id="25" name="R7026"/>
          <p:cNvSpPr/>
          <p:nvPr/>
        </p:nvSpPr>
        <p:spPr>
          <a:xfrm>
            <a:off x="2251168" y="1042670"/>
            <a:ext cx="390000" cy="290000"/>
          </a:xfrm>
          <a:prstGeom prst="rect">
            <a:avLst/>
          </a:prstGeom>
          <a:solidFill>
            <a:srgbClr val="1F3864">
              <a:alpha val="59687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26" name="T7027"/>
          <p:cNvSpPr/>
          <p:nvPr/>
        </p:nvSpPr>
        <p:spPr>
          <a:xfrm>
            <a:off x="2251168" y="1042670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4.3M</a:t>
            </a:r>
            <a:endParaRPr lang="zh-CN" sz="570" dirty="0"/>
          </a:p>
        </p:txBody>
      </p:sp>
      <p:sp>
        <p:nvSpPr>
          <p:cNvPr id="27" name="T7028"/>
          <p:cNvSpPr/>
          <p:nvPr/>
        </p:nvSpPr>
        <p:spPr>
          <a:xfrm>
            <a:off x="2251168" y="1216670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6件</a:t>
            </a:r>
            <a:endParaRPr lang="zh-CN" sz="500" dirty="0"/>
          </a:p>
        </p:txBody>
      </p:sp>
      <p:sp>
        <p:nvSpPr>
          <p:cNvPr id="28" name="R7029"/>
          <p:cNvSpPr/>
          <p:nvPr/>
        </p:nvSpPr>
        <p:spPr>
          <a:xfrm>
            <a:off x="2641168" y="1042670"/>
            <a:ext cx="390000" cy="290000"/>
          </a:xfrm>
          <a:prstGeom prst="rect">
            <a:avLst/>
          </a:prstGeom>
          <a:solidFill>
            <a:srgbClr val="1F3864">
              <a:alpha val="47012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29" name="T7030"/>
          <p:cNvSpPr/>
          <p:nvPr/>
        </p:nvSpPr>
        <p:spPr>
          <a:xfrm>
            <a:off x="2641168" y="1042670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3.1M</a:t>
            </a:r>
            <a:endParaRPr lang="zh-CN" sz="570" dirty="0"/>
          </a:p>
        </p:txBody>
      </p:sp>
      <p:sp>
        <p:nvSpPr>
          <p:cNvPr id="30" name="T7031"/>
          <p:cNvSpPr/>
          <p:nvPr/>
        </p:nvSpPr>
        <p:spPr>
          <a:xfrm>
            <a:off x="2641168" y="1216670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2件</a:t>
            </a:r>
            <a:endParaRPr lang="zh-CN" sz="500" dirty="0"/>
          </a:p>
        </p:txBody>
      </p:sp>
      <p:sp>
        <p:nvSpPr>
          <p:cNvPr id="31" name="R7032"/>
          <p:cNvSpPr/>
          <p:nvPr/>
        </p:nvSpPr>
        <p:spPr>
          <a:xfrm>
            <a:off x="3031168" y="1042670"/>
            <a:ext cx="390000" cy="290000"/>
          </a:xfrm>
          <a:prstGeom prst="rect">
            <a:avLst/>
          </a:prstGeom>
          <a:solidFill>
            <a:srgbClr val="E8ECF0">
              <a:alpha val="30000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32" name="R7033"/>
          <p:cNvSpPr/>
          <p:nvPr/>
        </p:nvSpPr>
        <p:spPr>
          <a:xfrm>
            <a:off x="3421168" y="1042670"/>
            <a:ext cx="390000" cy="290000"/>
          </a:xfrm>
          <a:prstGeom prst="rect">
            <a:avLst/>
          </a:prstGeom>
          <a:solidFill>
            <a:srgbClr val="E8ECF0">
              <a:alpha val="30000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33" name="R7034"/>
          <p:cNvSpPr/>
          <p:nvPr/>
        </p:nvSpPr>
        <p:spPr>
          <a:xfrm>
            <a:off x="3811168" y="1042670"/>
            <a:ext cx="390000" cy="290000"/>
          </a:xfrm>
          <a:prstGeom prst="rect">
            <a:avLst/>
          </a:prstGeom>
          <a:solidFill>
            <a:srgbClr val="1F3864">
              <a:alpha val="39375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34" name="T7035"/>
          <p:cNvSpPr/>
          <p:nvPr/>
        </p:nvSpPr>
        <p:spPr>
          <a:xfrm>
            <a:off x="3811168" y="1042670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2.3M</a:t>
            </a:r>
            <a:endParaRPr lang="zh-CN" sz="570" dirty="0"/>
          </a:p>
        </p:txBody>
      </p:sp>
      <p:sp>
        <p:nvSpPr>
          <p:cNvPr id="35" name="T7036"/>
          <p:cNvSpPr/>
          <p:nvPr/>
        </p:nvSpPr>
        <p:spPr>
          <a:xfrm>
            <a:off x="3811168" y="1216670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5件</a:t>
            </a:r>
            <a:endParaRPr lang="zh-CN" sz="500" dirty="0"/>
          </a:p>
        </p:txBody>
      </p:sp>
      <p:sp>
        <p:nvSpPr>
          <p:cNvPr id="36" name="R7037"/>
          <p:cNvSpPr/>
          <p:nvPr/>
        </p:nvSpPr>
        <p:spPr>
          <a:xfrm>
            <a:off x="4201168" y="1042670"/>
            <a:ext cx="390000" cy="290000"/>
          </a:xfrm>
          <a:prstGeom prst="rect">
            <a:avLst/>
          </a:prstGeom>
          <a:solidFill>
            <a:srgbClr val="1F3864">
              <a:alpha val="80000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37" name="T7038"/>
          <p:cNvSpPr/>
          <p:nvPr/>
        </p:nvSpPr>
        <p:spPr>
          <a:xfrm>
            <a:off x="4201168" y="1042670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5.5M</a:t>
            </a:r>
            <a:endParaRPr lang="zh-CN" sz="570" dirty="0"/>
          </a:p>
        </p:txBody>
      </p:sp>
      <p:sp>
        <p:nvSpPr>
          <p:cNvPr id="38" name="T7039"/>
          <p:cNvSpPr/>
          <p:nvPr/>
        </p:nvSpPr>
        <p:spPr>
          <a:xfrm>
            <a:off x="4201168" y="1216670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4件</a:t>
            </a:r>
            <a:endParaRPr lang="zh-CN" sz="500" dirty="0"/>
          </a:p>
        </p:txBody>
      </p:sp>
      <p:sp>
        <p:nvSpPr>
          <p:cNvPr id="39" name="R7040"/>
          <p:cNvSpPr/>
          <p:nvPr/>
        </p:nvSpPr>
        <p:spPr>
          <a:xfrm>
            <a:off x="4591168" y="1042670"/>
            <a:ext cx="390000" cy="290000"/>
          </a:xfrm>
          <a:prstGeom prst="rect">
            <a:avLst/>
          </a:prstGeom>
          <a:solidFill>
            <a:srgbClr val="1F3864">
              <a:alpha val="59687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40" name="T7041"/>
          <p:cNvSpPr/>
          <p:nvPr/>
        </p:nvSpPr>
        <p:spPr>
          <a:xfrm>
            <a:off x="4591168" y="1042670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4.3M</a:t>
            </a:r>
            <a:endParaRPr lang="zh-CN" sz="570" dirty="0"/>
          </a:p>
        </p:txBody>
      </p:sp>
      <p:sp>
        <p:nvSpPr>
          <p:cNvPr id="41" name="T7042"/>
          <p:cNvSpPr/>
          <p:nvPr/>
        </p:nvSpPr>
        <p:spPr>
          <a:xfrm>
            <a:off x="4591168" y="1216670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8件</a:t>
            </a:r>
            <a:endParaRPr lang="zh-CN" sz="500" dirty="0"/>
          </a:p>
        </p:txBody>
      </p:sp>
      <p:sp>
        <p:nvSpPr>
          <p:cNvPr id="42" name="R7043"/>
          <p:cNvSpPr/>
          <p:nvPr/>
        </p:nvSpPr>
        <p:spPr>
          <a:xfrm>
            <a:off x="4981168" y="1042670"/>
            <a:ext cx="390000" cy="290000"/>
          </a:xfrm>
          <a:prstGeom prst="rect">
            <a:avLst/>
          </a:prstGeom>
          <a:solidFill>
            <a:srgbClr val="1F3864">
              <a:alpha val="35312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43" name="T7044"/>
          <p:cNvSpPr/>
          <p:nvPr/>
        </p:nvSpPr>
        <p:spPr>
          <a:xfrm>
            <a:off x="4981168" y="1042670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2.7M</a:t>
            </a:r>
            <a:endParaRPr lang="zh-CN" sz="570" dirty="0"/>
          </a:p>
        </p:txBody>
      </p:sp>
      <p:sp>
        <p:nvSpPr>
          <p:cNvPr id="44" name="T7045"/>
          <p:cNvSpPr/>
          <p:nvPr/>
        </p:nvSpPr>
        <p:spPr>
          <a:xfrm>
            <a:off x="4981168" y="1216670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5件</a:t>
            </a:r>
            <a:endParaRPr lang="zh-CN" sz="500" dirty="0"/>
          </a:p>
        </p:txBody>
      </p:sp>
      <p:sp>
        <p:nvSpPr>
          <p:cNvPr id="45" name="T7049"/>
          <p:cNvSpPr/>
          <p:nvPr/>
        </p:nvSpPr>
        <p:spPr>
          <a:xfrm>
            <a:off x="182880" y="1332670"/>
            <a:ext cx="498288" cy="290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CN" sz="58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永明经代</a:t>
            </a:r>
            <a:endParaRPr lang="zh-CN" sz="580" dirty="0"/>
          </a:p>
        </p:txBody>
      </p:sp>
      <p:sp>
        <p:nvSpPr>
          <p:cNvPr id="46" name="R7050"/>
          <p:cNvSpPr/>
          <p:nvPr/>
        </p:nvSpPr>
        <p:spPr>
          <a:xfrm>
            <a:off x="691168" y="1332670"/>
            <a:ext cx="390000" cy="290000"/>
          </a:xfrm>
          <a:prstGeom prst="rect">
            <a:avLst/>
          </a:prstGeom>
          <a:solidFill>
            <a:srgbClr val="1A7A3F">
              <a:alpha val="31769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47" name="T7051"/>
          <p:cNvSpPr/>
          <p:nvPr/>
        </p:nvSpPr>
        <p:spPr>
          <a:xfrm>
            <a:off x="691168" y="1332670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1A7A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2.9M</a:t>
            </a:r>
            <a:endParaRPr lang="zh-CN" sz="570" dirty="0"/>
          </a:p>
        </p:txBody>
      </p:sp>
      <p:sp>
        <p:nvSpPr>
          <p:cNvPr id="48" name="T7052"/>
          <p:cNvSpPr/>
          <p:nvPr/>
        </p:nvSpPr>
        <p:spPr>
          <a:xfrm>
            <a:off x="691168" y="1506670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1A7A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7件</a:t>
            </a:r>
            <a:endParaRPr lang="zh-CN" sz="500" dirty="0"/>
          </a:p>
        </p:txBody>
      </p:sp>
      <p:sp>
        <p:nvSpPr>
          <p:cNvPr id="49" name="R7053"/>
          <p:cNvSpPr/>
          <p:nvPr/>
        </p:nvSpPr>
        <p:spPr>
          <a:xfrm>
            <a:off x="1081168" y="1332670"/>
            <a:ext cx="390000" cy="290000"/>
          </a:xfrm>
          <a:prstGeom prst="rect">
            <a:avLst/>
          </a:prstGeom>
          <a:solidFill>
            <a:srgbClr val="1A7A3F">
              <a:alpha val="46216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50" name="T7054"/>
          <p:cNvSpPr/>
          <p:nvPr/>
        </p:nvSpPr>
        <p:spPr>
          <a:xfrm>
            <a:off x="1081168" y="1332670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1A7A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5.4M</a:t>
            </a:r>
            <a:endParaRPr lang="zh-CN" sz="570" dirty="0"/>
          </a:p>
        </p:txBody>
      </p:sp>
      <p:sp>
        <p:nvSpPr>
          <p:cNvPr id="51" name="T7055"/>
          <p:cNvSpPr/>
          <p:nvPr/>
        </p:nvSpPr>
        <p:spPr>
          <a:xfrm>
            <a:off x="1081168" y="1506670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1A7A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18件</a:t>
            </a:r>
            <a:endParaRPr lang="zh-CN" sz="500" dirty="0"/>
          </a:p>
        </p:txBody>
      </p:sp>
      <p:sp>
        <p:nvSpPr>
          <p:cNvPr id="52" name="R7056"/>
          <p:cNvSpPr/>
          <p:nvPr/>
        </p:nvSpPr>
        <p:spPr>
          <a:xfrm>
            <a:off x="1471168" y="1332670"/>
            <a:ext cx="390000" cy="290000"/>
          </a:xfrm>
          <a:prstGeom prst="rect">
            <a:avLst/>
          </a:prstGeom>
          <a:solidFill>
            <a:srgbClr val="1A7A3F">
              <a:alpha val="48804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53" name="T7057"/>
          <p:cNvSpPr/>
          <p:nvPr/>
        </p:nvSpPr>
        <p:spPr>
          <a:xfrm>
            <a:off x="1471168" y="1332670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1A7A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5.9M</a:t>
            </a:r>
            <a:endParaRPr lang="zh-CN" sz="570" dirty="0"/>
          </a:p>
        </p:txBody>
      </p:sp>
      <p:sp>
        <p:nvSpPr>
          <p:cNvPr id="54" name="T7058"/>
          <p:cNvSpPr/>
          <p:nvPr/>
        </p:nvSpPr>
        <p:spPr>
          <a:xfrm>
            <a:off x="1471168" y="1506670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1A7A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14件</a:t>
            </a:r>
            <a:endParaRPr lang="zh-CN" sz="500" dirty="0"/>
          </a:p>
        </p:txBody>
      </p:sp>
      <p:sp>
        <p:nvSpPr>
          <p:cNvPr id="55" name="R7059"/>
          <p:cNvSpPr/>
          <p:nvPr/>
        </p:nvSpPr>
        <p:spPr>
          <a:xfrm>
            <a:off x="1861168" y="1332670"/>
            <a:ext cx="390000" cy="290000"/>
          </a:xfrm>
          <a:prstGeom prst="rect">
            <a:avLst/>
          </a:prstGeom>
          <a:solidFill>
            <a:srgbClr val="1A7A3F">
              <a:alpha val="41196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56" name="T7060"/>
          <p:cNvSpPr/>
          <p:nvPr/>
        </p:nvSpPr>
        <p:spPr>
          <a:xfrm>
            <a:off x="1861168" y="1332670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1A7A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4.6M</a:t>
            </a:r>
            <a:endParaRPr lang="zh-CN" sz="570" dirty="0"/>
          </a:p>
        </p:txBody>
      </p:sp>
      <p:sp>
        <p:nvSpPr>
          <p:cNvPr id="57" name="T7061"/>
          <p:cNvSpPr/>
          <p:nvPr/>
        </p:nvSpPr>
        <p:spPr>
          <a:xfrm>
            <a:off x="1861168" y="1506670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1A7A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17件</a:t>
            </a:r>
            <a:endParaRPr lang="zh-CN" sz="500" dirty="0"/>
          </a:p>
        </p:txBody>
      </p:sp>
      <p:sp>
        <p:nvSpPr>
          <p:cNvPr id="58" name="R7062"/>
          <p:cNvSpPr/>
          <p:nvPr/>
        </p:nvSpPr>
        <p:spPr>
          <a:xfrm>
            <a:off x="2251168" y="1332670"/>
            <a:ext cx="390000" cy="290000"/>
          </a:xfrm>
          <a:prstGeom prst="rect">
            <a:avLst/>
          </a:prstGeom>
          <a:solidFill>
            <a:srgbClr val="1A7A3F">
              <a:alpha val="50543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59" name="T7063"/>
          <p:cNvSpPr/>
          <p:nvPr/>
        </p:nvSpPr>
        <p:spPr>
          <a:xfrm>
            <a:off x="2251168" y="1332670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6.2M</a:t>
            </a:r>
            <a:endParaRPr lang="zh-CN" sz="570" dirty="0"/>
          </a:p>
        </p:txBody>
      </p:sp>
      <p:sp>
        <p:nvSpPr>
          <p:cNvPr id="60" name="T7064"/>
          <p:cNvSpPr/>
          <p:nvPr/>
        </p:nvSpPr>
        <p:spPr>
          <a:xfrm>
            <a:off x="2251168" y="1506670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16件</a:t>
            </a:r>
            <a:endParaRPr lang="zh-CN" sz="500" dirty="0"/>
          </a:p>
        </p:txBody>
      </p:sp>
      <p:sp>
        <p:nvSpPr>
          <p:cNvPr id="61" name="R7065"/>
          <p:cNvSpPr/>
          <p:nvPr/>
        </p:nvSpPr>
        <p:spPr>
          <a:xfrm>
            <a:off x="2641168" y="1332670"/>
            <a:ext cx="390000" cy="290000"/>
          </a:xfrm>
          <a:prstGeom prst="rect">
            <a:avLst/>
          </a:prstGeom>
          <a:solidFill>
            <a:srgbClr val="1A7A3F">
              <a:alpha val="63116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62" name="T7066"/>
          <p:cNvSpPr/>
          <p:nvPr/>
        </p:nvSpPr>
        <p:spPr>
          <a:xfrm>
            <a:off x="2641168" y="1332670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8.4M</a:t>
            </a:r>
            <a:endParaRPr lang="zh-CN" sz="570" dirty="0"/>
          </a:p>
        </p:txBody>
      </p:sp>
      <p:sp>
        <p:nvSpPr>
          <p:cNvPr id="63" name="T7067"/>
          <p:cNvSpPr/>
          <p:nvPr/>
        </p:nvSpPr>
        <p:spPr>
          <a:xfrm>
            <a:off x="2641168" y="1506670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22件</a:t>
            </a:r>
            <a:endParaRPr lang="zh-CN" sz="500" dirty="0"/>
          </a:p>
        </p:txBody>
      </p:sp>
      <p:sp>
        <p:nvSpPr>
          <p:cNvPr id="64" name="R7068"/>
          <p:cNvSpPr/>
          <p:nvPr/>
        </p:nvSpPr>
        <p:spPr>
          <a:xfrm>
            <a:off x="3031168" y="1332670"/>
            <a:ext cx="390000" cy="290000"/>
          </a:xfrm>
          <a:prstGeom prst="rect">
            <a:avLst/>
          </a:prstGeom>
          <a:solidFill>
            <a:srgbClr val="1A7A3F">
              <a:alpha val="25302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65" name="T7069"/>
          <p:cNvSpPr/>
          <p:nvPr/>
        </p:nvSpPr>
        <p:spPr>
          <a:xfrm>
            <a:off x="3031168" y="1332670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1A7A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1.8M</a:t>
            </a:r>
            <a:endParaRPr lang="zh-CN" sz="570" dirty="0"/>
          </a:p>
        </p:txBody>
      </p:sp>
      <p:sp>
        <p:nvSpPr>
          <p:cNvPr id="66" name="T7070"/>
          <p:cNvSpPr/>
          <p:nvPr/>
        </p:nvSpPr>
        <p:spPr>
          <a:xfrm>
            <a:off x="3031168" y="1506670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1A7A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4件</a:t>
            </a:r>
            <a:endParaRPr lang="zh-CN" sz="500" dirty="0"/>
          </a:p>
        </p:txBody>
      </p:sp>
      <p:sp>
        <p:nvSpPr>
          <p:cNvPr id="67" name="R7071"/>
          <p:cNvSpPr/>
          <p:nvPr/>
        </p:nvSpPr>
        <p:spPr>
          <a:xfrm>
            <a:off x="3421168" y="1332670"/>
            <a:ext cx="390000" cy="290000"/>
          </a:xfrm>
          <a:prstGeom prst="rect">
            <a:avLst/>
          </a:prstGeom>
          <a:solidFill>
            <a:srgbClr val="1A7A3F">
              <a:alpha val="48482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68" name="T7072"/>
          <p:cNvSpPr/>
          <p:nvPr/>
        </p:nvSpPr>
        <p:spPr>
          <a:xfrm>
            <a:off x="3421168" y="1332670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1A7A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5.8M</a:t>
            </a:r>
            <a:endParaRPr lang="zh-CN" sz="570" dirty="0"/>
          </a:p>
        </p:txBody>
      </p:sp>
      <p:sp>
        <p:nvSpPr>
          <p:cNvPr id="69" name="T7073"/>
          <p:cNvSpPr/>
          <p:nvPr/>
        </p:nvSpPr>
        <p:spPr>
          <a:xfrm>
            <a:off x="3421168" y="1506670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1A7A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17件</a:t>
            </a:r>
            <a:endParaRPr lang="zh-CN" sz="500" dirty="0"/>
          </a:p>
        </p:txBody>
      </p:sp>
      <p:sp>
        <p:nvSpPr>
          <p:cNvPr id="70" name="R7074"/>
          <p:cNvSpPr/>
          <p:nvPr/>
        </p:nvSpPr>
        <p:spPr>
          <a:xfrm>
            <a:off x="3811168" y="1332670"/>
            <a:ext cx="390000" cy="290000"/>
          </a:xfrm>
          <a:prstGeom prst="rect">
            <a:avLst/>
          </a:prstGeom>
          <a:solidFill>
            <a:srgbClr val="1A7A3F">
              <a:alpha val="32473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71" name="T7075"/>
          <p:cNvSpPr/>
          <p:nvPr/>
        </p:nvSpPr>
        <p:spPr>
          <a:xfrm>
            <a:off x="3811168" y="1332670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1A7A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3.0M</a:t>
            </a:r>
            <a:endParaRPr lang="zh-CN" sz="570" dirty="0"/>
          </a:p>
        </p:txBody>
      </p:sp>
      <p:sp>
        <p:nvSpPr>
          <p:cNvPr id="72" name="T7076"/>
          <p:cNvSpPr/>
          <p:nvPr/>
        </p:nvSpPr>
        <p:spPr>
          <a:xfrm>
            <a:off x="3811168" y="1506670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1A7A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14件</a:t>
            </a:r>
            <a:endParaRPr lang="zh-CN" sz="500" dirty="0"/>
          </a:p>
        </p:txBody>
      </p:sp>
      <p:sp>
        <p:nvSpPr>
          <p:cNvPr id="73" name="R7077"/>
          <p:cNvSpPr/>
          <p:nvPr/>
        </p:nvSpPr>
        <p:spPr>
          <a:xfrm>
            <a:off x="4201168" y="1332670"/>
            <a:ext cx="390000" cy="290000"/>
          </a:xfrm>
          <a:prstGeom prst="rect">
            <a:avLst/>
          </a:prstGeom>
          <a:solidFill>
            <a:srgbClr val="1A7A3F">
              <a:alpha val="80000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74" name="T7078"/>
          <p:cNvSpPr/>
          <p:nvPr/>
        </p:nvSpPr>
        <p:spPr>
          <a:xfrm>
            <a:off x="4201168" y="1332670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11.3M</a:t>
            </a:r>
            <a:endParaRPr lang="zh-CN" sz="570" dirty="0"/>
          </a:p>
        </p:txBody>
      </p:sp>
      <p:sp>
        <p:nvSpPr>
          <p:cNvPr id="75" name="T7079"/>
          <p:cNvSpPr/>
          <p:nvPr/>
        </p:nvSpPr>
        <p:spPr>
          <a:xfrm>
            <a:off x="4201168" y="1506670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33件</a:t>
            </a:r>
            <a:endParaRPr lang="zh-CN" sz="500" dirty="0"/>
          </a:p>
        </p:txBody>
      </p:sp>
      <p:sp>
        <p:nvSpPr>
          <p:cNvPr id="76" name="R7080"/>
          <p:cNvSpPr/>
          <p:nvPr/>
        </p:nvSpPr>
        <p:spPr>
          <a:xfrm>
            <a:off x="4591168" y="1332670"/>
            <a:ext cx="390000" cy="290000"/>
          </a:xfrm>
          <a:prstGeom prst="rect">
            <a:avLst/>
          </a:prstGeom>
          <a:solidFill>
            <a:srgbClr val="1A7A3F">
              <a:alpha val="75313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77" name="T7081"/>
          <p:cNvSpPr/>
          <p:nvPr/>
        </p:nvSpPr>
        <p:spPr>
          <a:xfrm>
            <a:off x="4591168" y="1332670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10.5M</a:t>
            </a:r>
            <a:endParaRPr lang="zh-CN" sz="570" dirty="0"/>
          </a:p>
        </p:txBody>
      </p:sp>
      <p:sp>
        <p:nvSpPr>
          <p:cNvPr id="78" name="T7082"/>
          <p:cNvSpPr/>
          <p:nvPr/>
        </p:nvSpPr>
        <p:spPr>
          <a:xfrm>
            <a:off x="4591168" y="1506670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23件</a:t>
            </a:r>
            <a:endParaRPr lang="zh-CN" sz="500" dirty="0"/>
          </a:p>
        </p:txBody>
      </p:sp>
      <p:sp>
        <p:nvSpPr>
          <p:cNvPr id="79" name="R7083"/>
          <p:cNvSpPr/>
          <p:nvPr/>
        </p:nvSpPr>
        <p:spPr>
          <a:xfrm>
            <a:off x="4981168" y="1332670"/>
            <a:ext cx="390000" cy="290000"/>
          </a:xfrm>
          <a:prstGeom prst="rect">
            <a:avLst/>
          </a:prstGeom>
          <a:solidFill>
            <a:srgbClr val="1A7A3F">
              <a:alpha val="59325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80" name="T7084"/>
          <p:cNvSpPr/>
          <p:nvPr/>
        </p:nvSpPr>
        <p:spPr>
          <a:xfrm>
            <a:off x="4981168" y="1332670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10.4M</a:t>
            </a:r>
            <a:endParaRPr lang="zh-CN" sz="570" dirty="0"/>
          </a:p>
        </p:txBody>
      </p:sp>
      <p:sp>
        <p:nvSpPr>
          <p:cNvPr id="81" name="T7085"/>
          <p:cNvSpPr/>
          <p:nvPr/>
        </p:nvSpPr>
        <p:spPr>
          <a:xfrm>
            <a:off x="4981168" y="1506670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28件</a:t>
            </a:r>
            <a:endParaRPr lang="zh-CN" sz="500" dirty="0"/>
          </a:p>
        </p:txBody>
      </p:sp>
      <p:sp>
        <p:nvSpPr>
          <p:cNvPr id="82" name="R7086"/>
          <p:cNvSpPr/>
          <p:nvPr/>
        </p:nvSpPr>
        <p:spPr>
          <a:xfrm>
            <a:off x="5371168" y="1332670"/>
            <a:ext cx="390000" cy="290000"/>
          </a:xfrm>
          <a:prstGeom prst="rect">
            <a:avLst/>
          </a:prstGeom>
          <a:solidFill>
            <a:srgbClr val="374151">
              <a:alpha val="38000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83" name="T7087"/>
          <p:cNvSpPr/>
          <p:nvPr/>
        </p:nvSpPr>
        <p:spPr>
          <a:xfrm>
            <a:off x="5371168" y="1332670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3.6M</a:t>
            </a:r>
            <a:endParaRPr lang="zh-CN" sz="570" dirty="0"/>
          </a:p>
        </p:txBody>
      </p:sp>
      <p:sp>
        <p:nvSpPr>
          <p:cNvPr id="84" name="T7088"/>
          <p:cNvSpPr/>
          <p:nvPr/>
        </p:nvSpPr>
        <p:spPr>
          <a:xfrm>
            <a:off x="5371168" y="1506670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12件</a:t>
            </a:r>
            <a:endParaRPr lang="zh-CN" sz="500" dirty="0"/>
          </a:p>
        </p:txBody>
      </p:sp>
      <p:sp>
        <p:nvSpPr>
          <p:cNvPr id="85" name="T7089"/>
          <p:cNvSpPr/>
          <p:nvPr/>
        </p:nvSpPr>
        <p:spPr>
          <a:xfrm>
            <a:off x="182880" y="1622670"/>
            <a:ext cx="498288" cy="290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CN" sz="58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天领业务</a:t>
            </a:r>
            <a:endParaRPr lang="zh-CN" sz="580" dirty="0"/>
          </a:p>
        </p:txBody>
      </p:sp>
      <p:sp>
        <p:nvSpPr>
          <p:cNvPr id="86" name="R7090"/>
          <p:cNvSpPr/>
          <p:nvPr/>
        </p:nvSpPr>
        <p:spPr>
          <a:xfrm>
            <a:off x="691168" y="1622670"/>
            <a:ext cx="390000" cy="290000"/>
          </a:xfrm>
          <a:prstGeom prst="rect">
            <a:avLst/>
          </a:prstGeom>
          <a:solidFill>
            <a:srgbClr val="2980B9">
              <a:alpha val="16527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87" name="T7091"/>
          <p:cNvSpPr/>
          <p:nvPr/>
        </p:nvSpPr>
        <p:spPr>
          <a:xfrm>
            <a:off x="691168" y="1622670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2980B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0.2M</a:t>
            </a:r>
            <a:endParaRPr lang="zh-CN" sz="570" dirty="0"/>
          </a:p>
        </p:txBody>
      </p:sp>
      <p:sp>
        <p:nvSpPr>
          <p:cNvPr id="88" name="T7092"/>
          <p:cNvSpPr/>
          <p:nvPr/>
        </p:nvSpPr>
        <p:spPr>
          <a:xfrm>
            <a:off x="691168" y="1796670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2980B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1件</a:t>
            </a:r>
            <a:endParaRPr lang="zh-CN" sz="500" dirty="0"/>
          </a:p>
        </p:txBody>
      </p:sp>
      <p:sp>
        <p:nvSpPr>
          <p:cNvPr id="89" name="R7093"/>
          <p:cNvSpPr/>
          <p:nvPr/>
        </p:nvSpPr>
        <p:spPr>
          <a:xfrm>
            <a:off x="1081168" y="1622670"/>
            <a:ext cx="390000" cy="290000"/>
          </a:xfrm>
          <a:prstGeom prst="rect">
            <a:avLst/>
          </a:prstGeom>
          <a:solidFill>
            <a:srgbClr val="2980B9">
              <a:alpha val="26455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90" name="T7094"/>
          <p:cNvSpPr/>
          <p:nvPr/>
        </p:nvSpPr>
        <p:spPr>
          <a:xfrm>
            <a:off x="1081168" y="1622670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2980B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1.2M</a:t>
            </a:r>
            <a:endParaRPr lang="zh-CN" sz="570" dirty="0"/>
          </a:p>
        </p:txBody>
      </p:sp>
      <p:sp>
        <p:nvSpPr>
          <p:cNvPr id="91" name="T7095"/>
          <p:cNvSpPr/>
          <p:nvPr/>
        </p:nvSpPr>
        <p:spPr>
          <a:xfrm>
            <a:off x="1081168" y="1796670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2980B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8件</a:t>
            </a:r>
            <a:endParaRPr lang="zh-CN" sz="500" dirty="0"/>
          </a:p>
        </p:txBody>
      </p:sp>
      <p:sp>
        <p:nvSpPr>
          <p:cNvPr id="92" name="R7096"/>
          <p:cNvSpPr/>
          <p:nvPr/>
        </p:nvSpPr>
        <p:spPr>
          <a:xfrm>
            <a:off x="1471168" y="1622670"/>
            <a:ext cx="390000" cy="290000"/>
          </a:xfrm>
          <a:prstGeom prst="rect">
            <a:avLst/>
          </a:prstGeom>
          <a:solidFill>
            <a:srgbClr val="2980B9">
              <a:alpha val="41395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93" name="T7097"/>
          <p:cNvSpPr/>
          <p:nvPr/>
        </p:nvSpPr>
        <p:spPr>
          <a:xfrm>
            <a:off x="1471168" y="1622670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2980B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2.7M</a:t>
            </a:r>
            <a:endParaRPr lang="zh-CN" sz="570" dirty="0"/>
          </a:p>
        </p:txBody>
      </p:sp>
      <p:sp>
        <p:nvSpPr>
          <p:cNvPr id="94" name="T7098"/>
          <p:cNvSpPr/>
          <p:nvPr/>
        </p:nvSpPr>
        <p:spPr>
          <a:xfrm>
            <a:off x="1471168" y="1796670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2980B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9件</a:t>
            </a:r>
            <a:endParaRPr lang="zh-CN" sz="500" dirty="0"/>
          </a:p>
        </p:txBody>
      </p:sp>
      <p:sp>
        <p:nvSpPr>
          <p:cNvPr id="95" name="R7099"/>
          <p:cNvSpPr/>
          <p:nvPr/>
        </p:nvSpPr>
        <p:spPr>
          <a:xfrm>
            <a:off x="1861168" y="1622670"/>
            <a:ext cx="390000" cy="290000"/>
          </a:xfrm>
          <a:prstGeom prst="rect">
            <a:avLst/>
          </a:prstGeom>
          <a:solidFill>
            <a:srgbClr val="2980B9">
              <a:alpha val="38801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96" name="T7100"/>
          <p:cNvSpPr/>
          <p:nvPr/>
        </p:nvSpPr>
        <p:spPr>
          <a:xfrm>
            <a:off x="1861168" y="1622670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2980B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2.4M</a:t>
            </a:r>
            <a:endParaRPr lang="zh-CN" sz="570" dirty="0"/>
          </a:p>
        </p:txBody>
      </p:sp>
      <p:sp>
        <p:nvSpPr>
          <p:cNvPr id="97" name="T7101"/>
          <p:cNvSpPr/>
          <p:nvPr/>
        </p:nvSpPr>
        <p:spPr>
          <a:xfrm>
            <a:off x="1861168" y="1796670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2980B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6件</a:t>
            </a:r>
            <a:endParaRPr lang="zh-CN" sz="500" dirty="0"/>
          </a:p>
        </p:txBody>
      </p:sp>
      <p:sp>
        <p:nvSpPr>
          <p:cNvPr id="98" name="R7102"/>
          <p:cNvSpPr/>
          <p:nvPr/>
        </p:nvSpPr>
        <p:spPr>
          <a:xfrm>
            <a:off x="2251168" y="1622670"/>
            <a:ext cx="390000" cy="290000"/>
          </a:xfrm>
          <a:prstGeom prst="rect">
            <a:avLst/>
          </a:prstGeom>
          <a:solidFill>
            <a:srgbClr val="2980B9">
              <a:alpha val="67150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99" name="T7103"/>
          <p:cNvSpPr/>
          <p:nvPr/>
        </p:nvSpPr>
        <p:spPr>
          <a:xfrm>
            <a:off x="2251168" y="1622670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5.3M</a:t>
            </a:r>
            <a:endParaRPr lang="zh-CN" sz="570" dirty="0"/>
          </a:p>
        </p:txBody>
      </p:sp>
      <p:sp>
        <p:nvSpPr>
          <p:cNvPr id="100" name="T7104"/>
          <p:cNvSpPr/>
          <p:nvPr/>
        </p:nvSpPr>
        <p:spPr>
          <a:xfrm>
            <a:off x="2251168" y="1796670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4件</a:t>
            </a:r>
            <a:endParaRPr lang="zh-CN" sz="500" dirty="0"/>
          </a:p>
        </p:txBody>
      </p:sp>
      <p:sp>
        <p:nvSpPr>
          <p:cNvPr id="101" name="R7105"/>
          <p:cNvSpPr/>
          <p:nvPr/>
        </p:nvSpPr>
        <p:spPr>
          <a:xfrm>
            <a:off x="2641168" y="1622670"/>
            <a:ext cx="390000" cy="290000"/>
          </a:xfrm>
          <a:prstGeom prst="rect">
            <a:avLst/>
          </a:prstGeom>
          <a:solidFill>
            <a:srgbClr val="2980B9">
              <a:alpha val="54299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102" name="T7106"/>
          <p:cNvSpPr/>
          <p:nvPr/>
        </p:nvSpPr>
        <p:spPr>
          <a:xfrm>
            <a:off x="2641168" y="1622670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4.0M</a:t>
            </a:r>
            <a:endParaRPr lang="zh-CN" sz="570" dirty="0"/>
          </a:p>
        </p:txBody>
      </p:sp>
      <p:sp>
        <p:nvSpPr>
          <p:cNvPr id="103" name="T7107"/>
          <p:cNvSpPr/>
          <p:nvPr/>
        </p:nvSpPr>
        <p:spPr>
          <a:xfrm>
            <a:off x="2641168" y="1796670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9件</a:t>
            </a:r>
            <a:endParaRPr lang="zh-CN" sz="500" dirty="0"/>
          </a:p>
        </p:txBody>
      </p:sp>
      <p:sp>
        <p:nvSpPr>
          <p:cNvPr id="104" name="R7108"/>
          <p:cNvSpPr/>
          <p:nvPr/>
        </p:nvSpPr>
        <p:spPr>
          <a:xfrm>
            <a:off x="3031168" y="1622670"/>
            <a:ext cx="390000" cy="290000"/>
          </a:xfrm>
          <a:prstGeom prst="rect">
            <a:avLst/>
          </a:prstGeom>
          <a:solidFill>
            <a:srgbClr val="2980B9">
              <a:alpha val="21109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105" name="T7109"/>
          <p:cNvSpPr/>
          <p:nvPr/>
        </p:nvSpPr>
        <p:spPr>
          <a:xfrm>
            <a:off x="3031168" y="1622670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2980B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0.6M</a:t>
            </a:r>
            <a:endParaRPr lang="zh-CN" sz="570" dirty="0"/>
          </a:p>
        </p:txBody>
      </p:sp>
      <p:sp>
        <p:nvSpPr>
          <p:cNvPr id="106" name="T7110"/>
          <p:cNvSpPr/>
          <p:nvPr/>
        </p:nvSpPr>
        <p:spPr>
          <a:xfrm>
            <a:off x="3031168" y="1796670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2980B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3件</a:t>
            </a:r>
            <a:endParaRPr lang="zh-CN" sz="500" dirty="0"/>
          </a:p>
        </p:txBody>
      </p:sp>
      <p:sp>
        <p:nvSpPr>
          <p:cNvPr id="107" name="R7111"/>
          <p:cNvSpPr/>
          <p:nvPr/>
        </p:nvSpPr>
        <p:spPr>
          <a:xfrm>
            <a:off x="3421168" y="1622670"/>
            <a:ext cx="390000" cy="290000"/>
          </a:xfrm>
          <a:prstGeom prst="rect">
            <a:avLst/>
          </a:prstGeom>
          <a:solidFill>
            <a:srgbClr val="2980B9">
              <a:alpha val="18818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108" name="T7112"/>
          <p:cNvSpPr/>
          <p:nvPr/>
        </p:nvSpPr>
        <p:spPr>
          <a:xfrm>
            <a:off x="3421168" y="1622670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2980B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0.4M</a:t>
            </a:r>
            <a:endParaRPr lang="zh-CN" sz="570" dirty="0"/>
          </a:p>
        </p:txBody>
      </p:sp>
      <p:sp>
        <p:nvSpPr>
          <p:cNvPr id="109" name="T7113"/>
          <p:cNvSpPr/>
          <p:nvPr/>
        </p:nvSpPr>
        <p:spPr>
          <a:xfrm>
            <a:off x="3421168" y="1796670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2980B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4件</a:t>
            </a:r>
            <a:endParaRPr lang="zh-CN" sz="500" dirty="0"/>
          </a:p>
        </p:txBody>
      </p:sp>
      <p:sp>
        <p:nvSpPr>
          <p:cNvPr id="110" name="R7114"/>
          <p:cNvSpPr/>
          <p:nvPr/>
        </p:nvSpPr>
        <p:spPr>
          <a:xfrm>
            <a:off x="3811168" y="1622670"/>
            <a:ext cx="390000" cy="290000"/>
          </a:xfrm>
          <a:prstGeom prst="rect">
            <a:avLst/>
          </a:prstGeom>
          <a:solidFill>
            <a:srgbClr val="2980B9">
              <a:alpha val="16272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111" name="T7115"/>
          <p:cNvSpPr/>
          <p:nvPr/>
        </p:nvSpPr>
        <p:spPr>
          <a:xfrm>
            <a:off x="3811168" y="1622670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2980B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0.1M</a:t>
            </a:r>
            <a:endParaRPr lang="zh-CN" sz="570" dirty="0"/>
          </a:p>
        </p:txBody>
      </p:sp>
      <p:sp>
        <p:nvSpPr>
          <p:cNvPr id="112" name="T7116"/>
          <p:cNvSpPr/>
          <p:nvPr/>
        </p:nvSpPr>
        <p:spPr>
          <a:xfrm>
            <a:off x="3811168" y="1796670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2980B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3件</a:t>
            </a:r>
            <a:endParaRPr lang="zh-CN" sz="500" dirty="0"/>
          </a:p>
        </p:txBody>
      </p:sp>
      <p:sp>
        <p:nvSpPr>
          <p:cNvPr id="113" name="R7117"/>
          <p:cNvSpPr/>
          <p:nvPr/>
        </p:nvSpPr>
        <p:spPr>
          <a:xfrm>
            <a:off x="4201168" y="1622670"/>
            <a:ext cx="390000" cy="290000"/>
          </a:xfrm>
          <a:prstGeom prst="rect">
            <a:avLst/>
          </a:prstGeom>
          <a:solidFill>
            <a:srgbClr val="2980B9">
              <a:alpha val="25869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114" name="T7118"/>
          <p:cNvSpPr/>
          <p:nvPr/>
        </p:nvSpPr>
        <p:spPr>
          <a:xfrm>
            <a:off x="4201168" y="1622670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2980B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1.1M</a:t>
            </a:r>
            <a:endParaRPr lang="zh-CN" sz="570" dirty="0"/>
          </a:p>
        </p:txBody>
      </p:sp>
      <p:sp>
        <p:nvSpPr>
          <p:cNvPr id="115" name="T7119"/>
          <p:cNvSpPr/>
          <p:nvPr/>
        </p:nvSpPr>
        <p:spPr>
          <a:xfrm>
            <a:off x="4201168" y="1796670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2980B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5件</a:t>
            </a:r>
            <a:endParaRPr lang="zh-CN" sz="500" dirty="0"/>
          </a:p>
        </p:txBody>
      </p:sp>
      <p:sp>
        <p:nvSpPr>
          <p:cNvPr id="116" name="R7120"/>
          <p:cNvSpPr/>
          <p:nvPr/>
        </p:nvSpPr>
        <p:spPr>
          <a:xfrm>
            <a:off x="4591168" y="1622670"/>
            <a:ext cx="390000" cy="290000"/>
          </a:xfrm>
          <a:prstGeom prst="rect">
            <a:avLst/>
          </a:prstGeom>
          <a:solidFill>
            <a:srgbClr val="2980B9">
              <a:alpha val="55092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117" name="T7121"/>
          <p:cNvSpPr/>
          <p:nvPr/>
        </p:nvSpPr>
        <p:spPr>
          <a:xfrm>
            <a:off x="4591168" y="1622670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4.1M</a:t>
            </a:r>
            <a:endParaRPr lang="zh-CN" sz="570" dirty="0"/>
          </a:p>
        </p:txBody>
      </p:sp>
      <p:sp>
        <p:nvSpPr>
          <p:cNvPr id="118" name="T7122"/>
          <p:cNvSpPr/>
          <p:nvPr/>
        </p:nvSpPr>
        <p:spPr>
          <a:xfrm>
            <a:off x="4591168" y="1796670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5件</a:t>
            </a:r>
            <a:endParaRPr lang="zh-CN" sz="500" dirty="0"/>
          </a:p>
        </p:txBody>
      </p:sp>
      <p:sp>
        <p:nvSpPr>
          <p:cNvPr id="119" name="R7123"/>
          <p:cNvSpPr/>
          <p:nvPr/>
        </p:nvSpPr>
        <p:spPr>
          <a:xfrm>
            <a:off x="4981168" y="1622670"/>
            <a:ext cx="390000" cy="290000"/>
          </a:xfrm>
          <a:prstGeom prst="rect">
            <a:avLst/>
          </a:prstGeom>
          <a:solidFill>
            <a:srgbClr val="2980B9">
              <a:alpha val="80000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120" name="T7124"/>
          <p:cNvSpPr/>
          <p:nvPr/>
        </p:nvSpPr>
        <p:spPr>
          <a:xfrm>
            <a:off x="4981168" y="1622670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6.6M</a:t>
            </a:r>
            <a:endParaRPr lang="zh-CN" sz="570" dirty="0"/>
          </a:p>
        </p:txBody>
      </p:sp>
      <p:sp>
        <p:nvSpPr>
          <p:cNvPr id="121" name="T7125"/>
          <p:cNvSpPr/>
          <p:nvPr/>
        </p:nvSpPr>
        <p:spPr>
          <a:xfrm>
            <a:off x="4981168" y="1796670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15件</a:t>
            </a:r>
            <a:endParaRPr lang="zh-CN" sz="500" dirty="0"/>
          </a:p>
        </p:txBody>
      </p:sp>
      <p:sp>
        <p:nvSpPr>
          <p:cNvPr id="122" name="R7126"/>
          <p:cNvSpPr/>
          <p:nvPr/>
        </p:nvSpPr>
        <p:spPr>
          <a:xfrm>
            <a:off x="5371168" y="1622670"/>
            <a:ext cx="390000" cy="290000"/>
          </a:xfrm>
          <a:prstGeom prst="rect">
            <a:avLst/>
          </a:prstGeom>
          <a:solidFill>
            <a:srgbClr val="374151">
              <a:alpha val="38000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123" name="T7127"/>
          <p:cNvSpPr/>
          <p:nvPr/>
        </p:nvSpPr>
        <p:spPr>
          <a:xfrm>
            <a:off x="5371168" y="1622670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2.4M</a:t>
            </a:r>
            <a:endParaRPr lang="zh-CN" sz="570" dirty="0"/>
          </a:p>
        </p:txBody>
      </p:sp>
      <p:sp>
        <p:nvSpPr>
          <p:cNvPr id="124" name="T7128"/>
          <p:cNvSpPr/>
          <p:nvPr/>
        </p:nvSpPr>
        <p:spPr>
          <a:xfrm>
            <a:off x="5371168" y="1796670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8件</a:t>
            </a:r>
            <a:endParaRPr lang="zh-CN" sz="500" dirty="0"/>
          </a:p>
        </p:txBody>
      </p:sp>
      <p:sp>
        <p:nvSpPr>
          <p:cNvPr id="125" name="T7129"/>
          <p:cNvSpPr/>
          <p:nvPr/>
        </p:nvSpPr>
        <p:spPr>
          <a:xfrm>
            <a:off x="182880" y="1912670"/>
            <a:ext cx="498288" cy="290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CN" sz="58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同行经代</a:t>
            </a:r>
            <a:endParaRPr lang="zh-CN" sz="580" dirty="0"/>
          </a:p>
        </p:txBody>
      </p:sp>
      <p:sp>
        <p:nvSpPr>
          <p:cNvPr id="126" name="R7130"/>
          <p:cNvSpPr/>
          <p:nvPr/>
        </p:nvSpPr>
        <p:spPr>
          <a:xfrm>
            <a:off x="691168" y="1912670"/>
            <a:ext cx="390000" cy="290000"/>
          </a:xfrm>
          <a:prstGeom prst="rect">
            <a:avLst/>
          </a:prstGeom>
          <a:solidFill>
            <a:srgbClr val="E67E22">
              <a:alpha val="18418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127" name="T7131"/>
          <p:cNvSpPr/>
          <p:nvPr/>
        </p:nvSpPr>
        <p:spPr>
          <a:xfrm>
            <a:off x="691168" y="1912670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E67E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0.2M</a:t>
            </a:r>
            <a:endParaRPr lang="zh-CN" sz="570" dirty="0"/>
          </a:p>
        </p:txBody>
      </p:sp>
      <p:sp>
        <p:nvSpPr>
          <p:cNvPr id="128" name="T7132"/>
          <p:cNvSpPr/>
          <p:nvPr/>
        </p:nvSpPr>
        <p:spPr>
          <a:xfrm>
            <a:off x="691168" y="2086670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E67E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1件</a:t>
            </a:r>
            <a:endParaRPr lang="zh-CN" sz="500" dirty="0"/>
          </a:p>
        </p:txBody>
      </p:sp>
      <p:sp>
        <p:nvSpPr>
          <p:cNvPr id="129" name="R7133"/>
          <p:cNvSpPr/>
          <p:nvPr/>
        </p:nvSpPr>
        <p:spPr>
          <a:xfrm>
            <a:off x="1081168" y="1912670"/>
            <a:ext cx="390000" cy="290000"/>
          </a:xfrm>
          <a:prstGeom prst="rect">
            <a:avLst/>
          </a:prstGeom>
          <a:solidFill>
            <a:srgbClr val="E67E22">
              <a:alpha val="28916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130" name="T7134"/>
          <p:cNvSpPr/>
          <p:nvPr/>
        </p:nvSpPr>
        <p:spPr>
          <a:xfrm>
            <a:off x="1081168" y="1912670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E67E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0.9M</a:t>
            </a:r>
            <a:endParaRPr lang="zh-CN" sz="570" dirty="0"/>
          </a:p>
        </p:txBody>
      </p:sp>
      <p:sp>
        <p:nvSpPr>
          <p:cNvPr id="131" name="T7135"/>
          <p:cNvSpPr/>
          <p:nvPr/>
        </p:nvSpPr>
        <p:spPr>
          <a:xfrm>
            <a:off x="1081168" y="2086670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E67E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4件</a:t>
            </a:r>
            <a:endParaRPr lang="zh-CN" sz="500" dirty="0"/>
          </a:p>
        </p:txBody>
      </p:sp>
      <p:sp>
        <p:nvSpPr>
          <p:cNvPr id="132" name="R7136"/>
          <p:cNvSpPr/>
          <p:nvPr/>
        </p:nvSpPr>
        <p:spPr>
          <a:xfrm>
            <a:off x="1471168" y="1912670"/>
            <a:ext cx="390000" cy="290000"/>
          </a:xfrm>
          <a:prstGeom prst="rect">
            <a:avLst/>
          </a:prstGeom>
          <a:solidFill>
            <a:srgbClr val="E67E22">
              <a:alpha val="73076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133" name="T7137"/>
          <p:cNvSpPr/>
          <p:nvPr/>
        </p:nvSpPr>
        <p:spPr>
          <a:xfrm>
            <a:off x="1471168" y="1912670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4.0M</a:t>
            </a:r>
            <a:endParaRPr lang="zh-CN" sz="570" dirty="0"/>
          </a:p>
        </p:txBody>
      </p:sp>
      <p:sp>
        <p:nvSpPr>
          <p:cNvPr id="134" name="T7138"/>
          <p:cNvSpPr/>
          <p:nvPr/>
        </p:nvSpPr>
        <p:spPr>
          <a:xfrm>
            <a:off x="1471168" y="2086670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5件</a:t>
            </a:r>
            <a:endParaRPr lang="zh-CN" sz="500" dirty="0"/>
          </a:p>
        </p:txBody>
      </p:sp>
      <p:sp>
        <p:nvSpPr>
          <p:cNvPr id="135" name="R7139"/>
          <p:cNvSpPr/>
          <p:nvPr/>
        </p:nvSpPr>
        <p:spPr>
          <a:xfrm>
            <a:off x="1861168" y="1912670"/>
            <a:ext cx="390000" cy="290000"/>
          </a:xfrm>
          <a:prstGeom prst="rect">
            <a:avLst/>
          </a:prstGeom>
          <a:solidFill>
            <a:srgbClr val="E67E22">
              <a:alpha val="29826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136" name="T7140"/>
          <p:cNvSpPr/>
          <p:nvPr/>
        </p:nvSpPr>
        <p:spPr>
          <a:xfrm>
            <a:off x="1861168" y="1912670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E67E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1.0M</a:t>
            </a:r>
            <a:endParaRPr lang="zh-CN" sz="570" dirty="0"/>
          </a:p>
        </p:txBody>
      </p:sp>
      <p:sp>
        <p:nvSpPr>
          <p:cNvPr id="137" name="T7141"/>
          <p:cNvSpPr/>
          <p:nvPr/>
        </p:nvSpPr>
        <p:spPr>
          <a:xfrm>
            <a:off x="1861168" y="2086670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E67E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5件</a:t>
            </a:r>
            <a:endParaRPr lang="zh-CN" sz="500" dirty="0"/>
          </a:p>
        </p:txBody>
      </p:sp>
      <p:sp>
        <p:nvSpPr>
          <p:cNvPr id="138" name="R7142"/>
          <p:cNvSpPr/>
          <p:nvPr/>
        </p:nvSpPr>
        <p:spPr>
          <a:xfrm>
            <a:off x="2251168" y="1912670"/>
            <a:ext cx="390000" cy="290000"/>
          </a:xfrm>
          <a:prstGeom prst="rect">
            <a:avLst/>
          </a:prstGeom>
          <a:solidFill>
            <a:srgbClr val="E67E22">
              <a:alpha val="26396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139" name="T7143"/>
          <p:cNvSpPr/>
          <p:nvPr/>
        </p:nvSpPr>
        <p:spPr>
          <a:xfrm>
            <a:off x="2251168" y="1912670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E67E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0.8M</a:t>
            </a:r>
            <a:endParaRPr lang="zh-CN" sz="570" dirty="0"/>
          </a:p>
        </p:txBody>
      </p:sp>
      <p:sp>
        <p:nvSpPr>
          <p:cNvPr id="140" name="T7144"/>
          <p:cNvSpPr/>
          <p:nvPr/>
        </p:nvSpPr>
        <p:spPr>
          <a:xfrm>
            <a:off x="2251168" y="2086670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E67E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4件</a:t>
            </a:r>
            <a:endParaRPr lang="zh-CN" sz="500" dirty="0"/>
          </a:p>
        </p:txBody>
      </p:sp>
      <p:sp>
        <p:nvSpPr>
          <p:cNvPr id="141" name="R7145"/>
          <p:cNvSpPr/>
          <p:nvPr/>
        </p:nvSpPr>
        <p:spPr>
          <a:xfrm>
            <a:off x="2641168" y="1912670"/>
            <a:ext cx="390000" cy="290000"/>
          </a:xfrm>
          <a:prstGeom prst="rect">
            <a:avLst/>
          </a:prstGeom>
          <a:solidFill>
            <a:srgbClr val="E67E22">
              <a:alpha val="26738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142" name="T7146"/>
          <p:cNvSpPr/>
          <p:nvPr/>
        </p:nvSpPr>
        <p:spPr>
          <a:xfrm>
            <a:off x="2641168" y="1912670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E67E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0.8M</a:t>
            </a:r>
            <a:endParaRPr lang="zh-CN" sz="570" dirty="0"/>
          </a:p>
        </p:txBody>
      </p:sp>
      <p:sp>
        <p:nvSpPr>
          <p:cNvPr id="143" name="T7147"/>
          <p:cNvSpPr/>
          <p:nvPr/>
        </p:nvSpPr>
        <p:spPr>
          <a:xfrm>
            <a:off x="2641168" y="2086670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E67E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3件</a:t>
            </a:r>
            <a:endParaRPr lang="zh-CN" sz="500" dirty="0"/>
          </a:p>
        </p:txBody>
      </p:sp>
      <p:sp>
        <p:nvSpPr>
          <p:cNvPr id="144" name="R7148"/>
          <p:cNvSpPr/>
          <p:nvPr/>
        </p:nvSpPr>
        <p:spPr>
          <a:xfrm>
            <a:off x="3031168" y="1912670"/>
            <a:ext cx="390000" cy="290000"/>
          </a:xfrm>
          <a:prstGeom prst="rect">
            <a:avLst/>
          </a:prstGeom>
          <a:solidFill>
            <a:srgbClr val="E67E22">
              <a:alpha val="19558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145" name="T7149"/>
          <p:cNvSpPr/>
          <p:nvPr/>
        </p:nvSpPr>
        <p:spPr>
          <a:xfrm>
            <a:off x="3031168" y="1912670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E67E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0.3M</a:t>
            </a:r>
            <a:endParaRPr lang="zh-CN" sz="570" dirty="0"/>
          </a:p>
        </p:txBody>
      </p:sp>
      <p:sp>
        <p:nvSpPr>
          <p:cNvPr id="146" name="T7150"/>
          <p:cNvSpPr/>
          <p:nvPr/>
        </p:nvSpPr>
        <p:spPr>
          <a:xfrm>
            <a:off x="3031168" y="2086670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E67E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1件</a:t>
            </a:r>
            <a:endParaRPr lang="zh-CN" sz="500" dirty="0"/>
          </a:p>
        </p:txBody>
      </p:sp>
      <p:sp>
        <p:nvSpPr>
          <p:cNvPr id="147" name="R7151"/>
          <p:cNvSpPr/>
          <p:nvPr/>
        </p:nvSpPr>
        <p:spPr>
          <a:xfrm>
            <a:off x="3421168" y="1912670"/>
            <a:ext cx="390000" cy="290000"/>
          </a:xfrm>
          <a:prstGeom prst="rect">
            <a:avLst/>
          </a:prstGeom>
          <a:solidFill>
            <a:srgbClr val="E67E22">
              <a:alpha val="23029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148" name="T7152"/>
          <p:cNvSpPr/>
          <p:nvPr/>
        </p:nvSpPr>
        <p:spPr>
          <a:xfrm>
            <a:off x="3421168" y="1912670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E67E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0.6M</a:t>
            </a:r>
            <a:endParaRPr lang="zh-CN" sz="570" dirty="0"/>
          </a:p>
        </p:txBody>
      </p:sp>
      <p:sp>
        <p:nvSpPr>
          <p:cNvPr id="149" name="T7153"/>
          <p:cNvSpPr/>
          <p:nvPr/>
        </p:nvSpPr>
        <p:spPr>
          <a:xfrm>
            <a:off x="3421168" y="2086670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E67E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2件</a:t>
            </a:r>
            <a:endParaRPr lang="zh-CN" sz="500" dirty="0"/>
          </a:p>
        </p:txBody>
      </p:sp>
      <p:sp>
        <p:nvSpPr>
          <p:cNvPr id="150" name="R7154"/>
          <p:cNvSpPr/>
          <p:nvPr/>
        </p:nvSpPr>
        <p:spPr>
          <a:xfrm>
            <a:off x="3811168" y="1912670"/>
            <a:ext cx="390000" cy="290000"/>
          </a:xfrm>
          <a:prstGeom prst="rect">
            <a:avLst/>
          </a:prstGeom>
          <a:solidFill>
            <a:srgbClr val="E67E22">
              <a:alpha val="20128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151" name="T7155"/>
          <p:cNvSpPr/>
          <p:nvPr/>
        </p:nvSpPr>
        <p:spPr>
          <a:xfrm>
            <a:off x="3811168" y="1912670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E67E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0.3M</a:t>
            </a:r>
            <a:endParaRPr lang="zh-CN" sz="570" dirty="0"/>
          </a:p>
        </p:txBody>
      </p:sp>
      <p:sp>
        <p:nvSpPr>
          <p:cNvPr id="152" name="T7156"/>
          <p:cNvSpPr/>
          <p:nvPr/>
        </p:nvSpPr>
        <p:spPr>
          <a:xfrm>
            <a:off x="3811168" y="2086670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E67E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2件</a:t>
            </a:r>
            <a:endParaRPr lang="zh-CN" sz="500" dirty="0"/>
          </a:p>
        </p:txBody>
      </p:sp>
      <p:sp>
        <p:nvSpPr>
          <p:cNvPr id="153" name="R7157"/>
          <p:cNvSpPr/>
          <p:nvPr/>
        </p:nvSpPr>
        <p:spPr>
          <a:xfrm>
            <a:off x="4201168" y="1912670"/>
            <a:ext cx="390000" cy="290000"/>
          </a:xfrm>
          <a:prstGeom prst="rect">
            <a:avLst/>
          </a:prstGeom>
          <a:solidFill>
            <a:srgbClr val="E67E22">
              <a:alpha val="29274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154" name="T7158"/>
          <p:cNvSpPr/>
          <p:nvPr/>
        </p:nvSpPr>
        <p:spPr>
          <a:xfrm>
            <a:off x="4201168" y="1912670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E67E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1.0M</a:t>
            </a:r>
            <a:endParaRPr lang="zh-CN" sz="570" dirty="0"/>
          </a:p>
        </p:txBody>
      </p:sp>
      <p:sp>
        <p:nvSpPr>
          <p:cNvPr id="155" name="T7159"/>
          <p:cNvSpPr/>
          <p:nvPr/>
        </p:nvSpPr>
        <p:spPr>
          <a:xfrm>
            <a:off x="4201168" y="2086670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E67E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4件</a:t>
            </a:r>
            <a:endParaRPr lang="zh-CN" sz="500" dirty="0"/>
          </a:p>
        </p:txBody>
      </p:sp>
      <p:sp>
        <p:nvSpPr>
          <p:cNvPr id="156" name="R7160"/>
          <p:cNvSpPr/>
          <p:nvPr/>
        </p:nvSpPr>
        <p:spPr>
          <a:xfrm>
            <a:off x="4591168" y="1912670"/>
            <a:ext cx="390000" cy="290000"/>
          </a:xfrm>
          <a:prstGeom prst="rect">
            <a:avLst/>
          </a:prstGeom>
          <a:solidFill>
            <a:srgbClr val="E67E22">
              <a:alpha val="24626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157" name="T7161"/>
          <p:cNvSpPr/>
          <p:nvPr/>
        </p:nvSpPr>
        <p:spPr>
          <a:xfrm>
            <a:off x="4591168" y="1912670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E67E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0.7M</a:t>
            </a:r>
            <a:endParaRPr lang="zh-CN" sz="570" dirty="0"/>
          </a:p>
        </p:txBody>
      </p:sp>
      <p:sp>
        <p:nvSpPr>
          <p:cNvPr id="158" name="T7162"/>
          <p:cNvSpPr/>
          <p:nvPr/>
        </p:nvSpPr>
        <p:spPr>
          <a:xfrm>
            <a:off x="4591168" y="2086670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E67E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4件</a:t>
            </a:r>
            <a:endParaRPr lang="zh-CN" sz="500" dirty="0"/>
          </a:p>
        </p:txBody>
      </p:sp>
      <p:sp>
        <p:nvSpPr>
          <p:cNvPr id="159" name="R7163"/>
          <p:cNvSpPr/>
          <p:nvPr/>
        </p:nvSpPr>
        <p:spPr>
          <a:xfrm>
            <a:off x="4981168" y="1912670"/>
            <a:ext cx="390000" cy="290000"/>
          </a:xfrm>
          <a:prstGeom prst="rect">
            <a:avLst/>
          </a:prstGeom>
          <a:solidFill>
            <a:srgbClr val="E67E22">
              <a:alpha val="80000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160" name="T7164"/>
          <p:cNvSpPr/>
          <p:nvPr/>
        </p:nvSpPr>
        <p:spPr>
          <a:xfrm>
            <a:off x="4981168" y="1912670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4.8M</a:t>
            </a:r>
            <a:endParaRPr lang="zh-CN" sz="570" dirty="0"/>
          </a:p>
        </p:txBody>
      </p:sp>
      <p:sp>
        <p:nvSpPr>
          <p:cNvPr id="161" name="T7165"/>
          <p:cNvSpPr/>
          <p:nvPr/>
        </p:nvSpPr>
        <p:spPr>
          <a:xfrm>
            <a:off x="4981168" y="2086670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9件</a:t>
            </a:r>
            <a:endParaRPr lang="zh-CN" sz="500" dirty="0"/>
          </a:p>
        </p:txBody>
      </p:sp>
      <p:sp>
        <p:nvSpPr>
          <p:cNvPr id="162" name="T7169"/>
          <p:cNvSpPr/>
          <p:nvPr/>
        </p:nvSpPr>
        <p:spPr>
          <a:xfrm>
            <a:off x="182880" y="2202670"/>
            <a:ext cx="498288" cy="290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CN" sz="58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ICLUB</a:t>
            </a:r>
            <a:endParaRPr lang="zh-CN" sz="580" dirty="0"/>
          </a:p>
        </p:txBody>
      </p:sp>
      <p:sp>
        <p:nvSpPr>
          <p:cNvPr id="163" name="R7170"/>
          <p:cNvSpPr/>
          <p:nvPr/>
        </p:nvSpPr>
        <p:spPr>
          <a:xfrm>
            <a:off x="691168" y="2202670"/>
            <a:ext cx="390000" cy="290000"/>
          </a:xfrm>
          <a:prstGeom prst="rect">
            <a:avLst/>
          </a:prstGeom>
          <a:solidFill>
            <a:srgbClr val="E8ECF0">
              <a:alpha val="30000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164" name="R7171"/>
          <p:cNvSpPr/>
          <p:nvPr/>
        </p:nvSpPr>
        <p:spPr>
          <a:xfrm>
            <a:off x="1081168" y="2202670"/>
            <a:ext cx="390000" cy="290000"/>
          </a:xfrm>
          <a:prstGeom prst="rect">
            <a:avLst/>
          </a:prstGeom>
          <a:solidFill>
            <a:srgbClr val="8E44AD">
              <a:alpha val="27945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165" name="T7172"/>
          <p:cNvSpPr/>
          <p:nvPr/>
        </p:nvSpPr>
        <p:spPr>
          <a:xfrm>
            <a:off x="1081168" y="2202670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8E44A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2.4M</a:t>
            </a:r>
            <a:endParaRPr lang="zh-CN" sz="570" dirty="0"/>
          </a:p>
        </p:txBody>
      </p:sp>
      <p:sp>
        <p:nvSpPr>
          <p:cNvPr id="166" name="T7173"/>
          <p:cNvSpPr/>
          <p:nvPr/>
        </p:nvSpPr>
        <p:spPr>
          <a:xfrm>
            <a:off x="1081168" y="2376670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8E44A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2件</a:t>
            </a:r>
            <a:endParaRPr lang="zh-CN" sz="500" dirty="0"/>
          </a:p>
        </p:txBody>
      </p:sp>
      <p:sp>
        <p:nvSpPr>
          <p:cNvPr id="167" name="R7174"/>
          <p:cNvSpPr/>
          <p:nvPr/>
        </p:nvSpPr>
        <p:spPr>
          <a:xfrm>
            <a:off x="1471168" y="2202670"/>
            <a:ext cx="390000" cy="290000"/>
          </a:xfrm>
          <a:prstGeom prst="rect">
            <a:avLst/>
          </a:prstGeom>
          <a:solidFill>
            <a:srgbClr val="E8ECF0">
              <a:alpha val="30000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168" name="R7175"/>
          <p:cNvSpPr/>
          <p:nvPr/>
        </p:nvSpPr>
        <p:spPr>
          <a:xfrm>
            <a:off x="1861168" y="2202670"/>
            <a:ext cx="390000" cy="290000"/>
          </a:xfrm>
          <a:prstGeom prst="rect">
            <a:avLst/>
          </a:prstGeom>
          <a:solidFill>
            <a:srgbClr val="E8ECF0">
              <a:alpha val="30000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169" name="R7176"/>
          <p:cNvSpPr/>
          <p:nvPr/>
        </p:nvSpPr>
        <p:spPr>
          <a:xfrm>
            <a:off x="2251168" y="2202670"/>
            <a:ext cx="390000" cy="290000"/>
          </a:xfrm>
          <a:prstGeom prst="rect">
            <a:avLst/>
          </a:prstGeom>
          <a:solidFill>
            <a:srgbClr val="8E44AD">
              <a:alpha val="80000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170" name="T7177"/>
          <p:cNvSpPr/>
          <p:nvPr/>
        </p:nvSpPr>
        <p:spPr>
          <a:xfrm>
            <a:off x="2251168" y="2202670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12.0M</a:t>
            </a:r>
            <a:endParaRPr lang="zh-CN" sz="570" dirty="0"/>
          </a:p>
        </p:txBody>
      </p:sp>
      <p:sp>
        <p:nvSpPr>
          <p:cNvPr id="171" name="T7178"/>
          <p:cNvSpPr/>
          <p:nvPr/>
        </p:nvSpPr>
        <p:spPr>
          <a:xfrm>
            <a:off x="2251168" y="2376670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2件</a:t>
            </a:r>
            <a:endParaRPr lang="zh-CN" sz="500" dirty="0"/>
          </a:p>
        </p:txBody>
      </p:sp>
      <p:sp>
        <p:nvSpPr>
          <p:cNvPr id="172" name="R7179"/>
          <p:cNvSpPr/>
          <p:nvPr/>
        </p:nvSpPr>
        <p:spPr>
          <a:xfrm>
            <a:off x="2641168" y="2202670"/>
            <a:ext cx="390000" cy="290000"/>
          </a:xfrm>
          <a:prstGeom prst="rect">
            <a:avLst/>
          </a:prstGeom>
          <a:solidFill>
            <a:srgbClr val="8E44AD">
              <a:alpha val="15591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173" name="T7180"/>
          <p:cNvSpPr/>
          <p:nvPr/>
        </p:nvSpPr>
        <p:spPr>
          <a:xfrm>
            <a:off x="2641168" y="2202670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8E44A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0.1M</a:t>
            </a:r>
            <a:endParaRPr lang="zh-CN" sz="570" dirty="0"/>
          </a:p>
        </p:txBody>
      </p:sp>
      <p:sp>
        <p:nvSpPr>
          <p:cNvPr id="174" name="T7181"/>
          <p:cNvSpPr/>
          <p:nvPr/>
        </p:nvSpPr>
        <p:spPr>
          <a:xfrm>
            <a:off x="2641168" y="2376670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8E44A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2件</a:t>
            </a:r>
            <a:endParaRPr lang="zh-CN" sz="500" dirty="0"/>
          </a:p>
        </p:txBody>
      </p:sp>
      <p:sp>
        <p:nvSpPr>
          <p:cNvPr id="175" name="R7182"/>
          <p:cNvSpPr/>
          <p:nvPr/>
        </p:nvSpPr>
        <p:spPr>
          <a:xfrm>
            <a:off x="3031168" y="2202670"/>
            <a:ext cx="390000" cy="290000"/>
          </a:xfrm>
          <a:prstGeom prst="rect">
            <a:avLst/>
          </a:prstGeom>
          <a:solidFill>
            <a:srgbClr val="E8ECF0">
              <a:alpha val="30000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176" name="R7183"/>
          <p:cNvSpPr/>
          <p:nvPr/>
        </p:nvSpPr>
        <p:spPr>
          <a:xfrm>
            <a:off x="3421168" y="2202670"/>
            <a:ext cx="390000" cy="290000"/>
          </a:xfrm>
          <a:prstGeom prst="rect">
            <a:avLst/>
          </a:prstGeom>
          <a:solidFill>
            <a:srgbClr val="E8ECF0">
              <a:alpha val="30000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177" name="R7184"/>
          <p:cNvSpPr/>
          <p:nvPr/>
        </p:nvSpPr>
        <p:spPr>
          <a:xfrm>
            <a:off x="3811168" y="2202670"/>
            <a:ext cx="390000" cy="290000"/>
          </a:xfrm>
          <a:prstGeom prst="rect">
            <a:avLst/>
          </a:prstGeom>
          <a:solidFill>
            <a:srgbClr val="E8ECF0">
              <a:alpha val="30000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178" name="R7185"/>
          <p:cNvSpPr/>
          <p:nvPr/>
        </p:nvSpPr>
        <p:spPr>
          <a:xfrm>
            <a:off x="4201168" y="2202670"/>
            <a:ext cx="390000" cy="290000"/>
          </a:xfrm>
          <a:prstGeom prst="rect">
            <a:avLst/>
          </a:prstGeom>
          <a:solidFill>
            <a:srgbClr val="E8ECF0">
              <a:alpha val="30000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179" name="R7186"/>
          <p:cNvSpPr/>
          <p:nvPr/>
        </p:nvSpPr>
        <p:spPr>
          <a:xfrm>
            <a:off x="4591168" y="2202670"/>
            <a:ext cx="390000" cy="290000"/>
          </a:xfrm>
          <a:prstGeom prst="rect">
            <a:avLst/>
          </a:prstGeom>
          <a:solidFill>
            <a:srgbClr val="E8ECF0">
              <a:alpha val="30000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180" name="R7187"/>
          <p:cNvSpPr/>
          <p:nvPr/>
        </p:nvSpPr>
        <p:spPr>
          <a:xfrm>
            <a:off x="4981168" y="2202670"/>
            <a:ext cx="390000" cy="290000"/>
          </a:xfrm>
          <a:prstGeom prst="rect">
            <a:avLst/>
          </a:prstGeom>
          <a:solidFill>
            <a:srgbClr val="8E44AD">
              <a:alpha val="33416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181" name="T7188"/>
          <p:cNvSpPr/>
          <p:nvPr/>
        </p:nvSpPr>
        <p:spPr>
          <a:xfrm>
            <a:off x="4981168" y="2202670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8E44A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1.8M</a:t>
            </a:r>
            <a:endParaRPr lang="zh-CN" sz="570" dirty="0"/>
          </a:p>
        </p:txBody>
      </p:sp>
      <p:sp>
        <p:nvSpPr>
          <p:cNvPr id="182" name="T7189"/>
          <p:cNvSpPr/>
          <p:nvPr/>
        </p:nvSpPr>
        <p:spPr>
          <a:xfrm>
            <a:off x="4981168" y="2376670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8E44A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1件</a:t>
            </a:r>
            <a:endParaRPr lang="zh-CN" sz="500" dirty="0"/>
          </a:p>
        </p:txBody>
      </p:sp>
      <p:sp>
        <p:nvSpPr>
          <p:cNvPr id="183" name="T7193"/>
          <p:cNvSpPr/>
          <p:nvPr/>
        </p:nvSpPr>
        <p:spPr>
          <a:xfrm>
            <a:off x="182880" y="2492670"/>
            <a:ext cx="498288" cy="290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CN" sz="58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成事+合伙</a:t>
            </a:r>
            <a:endParaRPr lang="zh-CN" sz="580" dirty="0"/>
          </a:p>
        </p:txBody>
      </p:sp>
      <p:sp>
        <p:nvSpPr>
          <p:cNvPr id="184" name="R7194"/>
          <p:cNvSpPr/>
          <p:nvPr/>
        </p:nvSpPr>
        <p:spPr>
          <a:xfrm>
            <a:off x="691168" y="2492670"/>
            <a:ext cx="390000" cy="290000"/>
          </a:xfrm>
          <a:prstGeom prst="rect">
            <a:avLst/>
          </a:prstGeom>
          <a:solidFill>
            <a:srgbClr val="94A3B8">
              <a:alpha val="48033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185" name="T7195"/>
          <p:cNvSpPr/>
          <p:nvPr/>
        </p:nvSpPr>
        <p:spPr>
          <a:xfrm>
            <a:off x="691168" y="2492670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0.9M</a:t>
            </a:r>
            <a:endParaRPr lang="zh-CN" sz="570" dirty="0"/>
          </a:p>
        </p:txBody>
      </p:sp>
      <p:sp>
        <p:nvSpPr>
          <p:cNvPr id="186" name="T7196"/>
          <p:cNvSpPr/>
          <p:nvPr/>
        </p:nvSpPr>
        <p:spPr>
          <a:xfrm>
            <a:off x="691168" y="2666670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4件</a:t>
            </a:r>
            <a:endParaRPr lang="zh-CN" sz="500" dirty="0"/>
          </a:p>
        </p:txBody>
      </p:sp>
      <p:sp>
        <p:nvSpPr>
          <p:cNvPr id="190" name="R7197"/>
          <p:cNvSpPr/>
          <p:nvPr/>
        </p:nvSpPr>
        <p:spPr>
          <a:xfrm>
            <a:off x="1081168" y="2492670"/>
            <a:ext cx="390000" cy="290000"/>
          </a:xfrm>
          <a:prstGeom prst="rect">
            <a:avLst/>
          </a:prstGeom>
          <a:solidFill>
            <a:srgbClr val="E8ECF0">
              <a:alpha val="30000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249" name="R7198"/>
          <p:cNvSpPr/>
          <p:nvPr/>
        </p:nvSpPr>
        <p:spPr>
          <a:xfrm>
            <a:off x="1471168" y="2492670"/>
            <a:ext cx="390000" cy="290000"/>
          </a:xfrm>
          <a:prstGeom prst="rect">
            <a:avLst/>
          </a:prstGeom>
          <a:solidFill>
            <a:srgbClr val="94A3B8">
              <a:alpha val="20943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254" name="T7199"/>
          <p:cNvSpPr/>
          <p:nvPr/>
        </p:nvSpPr>
        <p:spPr>
          <a:xfrm>
            <a:off x="1471168" y="2492670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zh-CN" sz="570" dirty="0"/>
          </a:p>
        </p:txBody>
      </p:sp>
      <p:sp>
        <p:nvSpPr>
          <p:cNvPr id="257" name="T7200"/>
          <p:cNvSpPr/>
          <p:nvPr/>
        </p:nvSpPr>
        <p:spPr>
          <a:xfrm>
            <a:off x="1471168" y="2666670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zh-CN" sz="500" dirty="0"/>
          </a:p>
        </p:txBody>
      </p:sp>
      <p:sp>
        <p:nvSpPr>
          <p:cNvPr id="261" name="R7201"/>
          <p:cNvSpPr/>
          <p:nvPr/>
        </p:nvSpPr>
        <p:spPr>
          <a:xfrm>
            <a:off x="1861168" y="2492670"/>
            <a:ext cx="390000" cy="290000"/>
          </a:xfrm>
          <a:prstGeom prst="rect">
            <a:avLst/>
          </a:prstGeom>
          <a:solidFill>
            <a:srgbClr val="94A3B8">
              <a:alpha val="31642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265" name="T7202"/>
          <p:cNvSpPr/>
          <p:nvPr/>
        </p:nvSpPr>
        <p:spPr>
          <a:xfrm>
            <a:off x="1861168" y="2492670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0.2M</a:t>
            </a:r>
            <a:endParaRPr lang="zh-CN" sz="570" dirty="0"/>
          </a:p>
        </p:txBody>
      </p:sp>
      <p:sp>
        <p:nvSpPr>
          <p:cNvPr id="266" name="T7203"/>
          <p:cNvSpPr/>
          <p:nvPr/>
        </p:nvSpPr>
        <p:spPr>
          <a:xfrm>
            <a:off x="1861168" y="2666670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2件</a:t>
            </a:r>
            <a:endParaRPr lang="zh-CN" sz="500" dirty="0"/>
          </a:p>
        </p:txBody>
      </p:sp>
      <p:sp>
        <p:nvSpPr>
          <p:cNvPr id="267" name="R7204"/>
          <p:cNvSpPr/>
          <p:nvPr/>
        </p:nvSpPr>
        <p:spPr>
          <a:xfrm>
            <a:off x="2251168" y="2492670"/>
            <a:ext cx="390000" cy="290000"/>
          </a:xfrm>
          <a:prstGeom prst="rect">
            <a:avLst/>
          </a:prstGeom>
          <a:solidFill>
            <a:srgbClr val="94A3B8">
              <a:alpha val="32831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268" name="T7205"/>
          <p:cNvSpPr/>
          <p:nvPr/>
        </p:nvSpPr>
        <p:spPr>
          <a:xfrm>
            <a:off x="2251168" y="2492670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0.4M</a:t>
            </a:r>
            <a:endParaRPr lang="zh-CN" sz="570" dirty="0"/>
          </a:p>
        </p:txBody>
      </p:sp>
      <p:sp>
        <p:nvSpPr>
          <p:cNvPr id="269" name="T7206"/>
          <p:cNvSpPr/>
          <p:nvPr/>
        </p:nvSpPr>
        <p:spPr>
          <a:xfrm>
            <a:off x="2251168" y="2666670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2件</a:t>
            </a:r>
            <a:endParaRPr lang="zh-CN" sz="500" dirty="0"/>
          </a:p>
        </p:txBody>
      </p:sp>
      <p:sp>
        <p:nvSpPr>
          <p:cNvPr id="270" name="R7207"/>
          <p:cNvSpPr/>
          <p:nvPr/>
        </p:nvSpPr>
        <p:spPr>
          <a:xfrm>
            <a:off x="2641168" y="2492670"/>
            <a:ext cx="390000" cy="290000"/>
          </a:xfrm>
          <a:prstGeom prst="rect">
            <a:avLst/>
          </a:prstGeom>
          <a:solidFill>
            <a:srgbClr val="E8ECF0">
              <a:alpha val="30000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271" name="R7208"/>
          <p:cNvSpPr/>
          <p:nvPr/>
        </p:nvSpPr>
        <p:spPr>
          <a:xfrm>
            <a:off x="3031168" y="2492670"/>
            <a:ext cx="390000" cy="290000"/>
          </a:xfrm>
          <a:prstGeom prst="rect">
            <a:avLst/>
          </a:prstGeom>
          <a:solidFill>
            <a:srgbClr val="E8ECF0">
              <a:alpha val="30000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272" name="R7209"/>
          <p:cNvSpPr/>
          <p:nvPr/>
        </p:nvSpPr>
        <p:spPr>
          <a:xfrm>
            <a:off x="3421168" y="2492670"/>
            <a:ext cx="390000" cy="290000"/>
          </a:xfrm>
          <a:prstGeom prst="rect">
            <a:avLst/>
          </a:prstGeom>
          <a:solidFill>
            <a:srgbClr val="94A3B8">
              <a:alpha val="18040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273" name="T7210"/>
          <p:cNvSpPr/>
          <p:nvPr/>
        </p:nvSpPr>
        <p:spPr>
          <a:xfrm>
            <a:off x="3421168" y="2492670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zh-CN" sz="570" dirty="0"/>
          </a:p>
        </p:txBody>
      </p:sp>
      <p:sp>
        <p:nvSpPr>
          <p:cNvPr id="274" name="T7211"/>
          <p:cNvSpPr/>
          <p:nvPr/>
        </p:nvSpPr>
        <p:spPr>
          <a:xfrm>
            <a:off x="3421168" y="2666670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zh-CN" sz="500" dirty="0"/>
          </a:p>
        </p:txBody>
      </p:sp>
      <p:sp>
        <p:nvSpPr>
          <p:cNvPr id="275" name="R7212"/>
          <p:cNvSpPr/>
          <p:nvPr/>
        </p:nvSpPr>
        <p:spPr>
          <a:xfrm>
            <a:off x="3811168" y="2492670"/>
            <a:ext cx="390000" cy="290000"/>
          </a:xfrm>
          <a:prstGeom prst="rect">
            <a:avLst/>
          </a:prstGeom>
          <a:solidFill>
            <a:srgbClr val="E8ECF0">
              <a:alpha val="30000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276" name="R7213"/>
          <p:cNvSpPr/>
          <p:nvPr/>
        </p:nvSpPr>
        <p:spPr>
          <a:xfrm>
            <a:off x="4201168" y="2492670"/>
            <a:ext cx="390000" cy="290000"/>
          </a:xfrm>
          <a:prstGeom prst="rect">
            <a:avLst/>
          </a:prstGeom>
          <a:solidFill>
            <a:srgbClr val="94A3B8">
              <a:alpha val="53060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277" name="T7214"/>
          <p:cNvSpPr/>
          <p:nvPr/>
        </p:nvSpPr>
        <p:spPr>
          <a:xfrm>
            <a:off x="4198620" y="2492375"/>
            <a:ext cx="392430" cy="17399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0.1M</a:t>
            </a:r>
            <a:endParaRPr lang="zh-CN" sz="570" dirty="0"/>
          </a:p>
        </p:txBody>
      </p:sp>
      <p:sp>
        <p:nvSpPr>
          <p:cNvPr id="278" name="T7215"/>
          <p:cNvSpPr/>
          <p:nvPr/>
        </p:nvSpPr>
        <p:spPr>
          <a:xfrm>
            <a:off x="4201168" y="2666670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1件</a:t>
            </a:r>
            <a:endParaRPr lang="zh-CN" sz="500" dirty="0"/>
          </a:p>
        </p:txBody>
      </p:sp>
      <p:sp>
        <p:nvSpPr>
          <p:cNvPr id="279" name="R7216"/>
          <p:cNvSpPr/>
          <p:nvPr/>
        </p:nvSpPr>
        <p:spPr>
          <a:xfrm>
            <a:off x="4591168" y="2492670"/>
            <a:ext cx="390000" cy="290000"/>
          </a:xfrm>
          <a:prstGeom prst="rect">
            <a:avLst/>
          </a:prstGeom>
          <a:solidFill>
            <a:srgbClr val="94A3B8">
              <a:alpha val="17971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280" name="T7217"/>
          <p:cNvSpPr/>
          <p:nvPr/>
        </p:nvSpPr>
        <p:spPr>
          <a:xfrm>
            <a:off x="4591168" y="2492670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0.1M</a:t>
            </a:r>
            <a:endParaRPr lang="zh-CN" sz="570" dirty="0"/>
          </a:p>
        </p:txBody>
      </p:sp>
      <p:sp>
        <p:nvSpPr>
          <p:cNvPr id="281" name="T7218"/>
          <p:cNvSpPr/>
          <p:nvPr/>
        </p:nvSpPr>
        <p:spPr>
          <a:xfrm>
            <a:off x="4591168" y="2666670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1件</a:t>
            </a:r>
            <a:endParaRPr lang="zh-CN" sz="500" dirty="0"/>
          </a:p>
        </p:txBody>
      </p:sp>
      <p:sp>
        <p:nvSpPr>
          <p:cNvPr id="282" name="R7219"/>
          <p:cNvSpPr/>
          <p:nvPr/>
        </p:nvSpPr>
        <p:spPr>
          <a:xfrm>
            <a:off x="4981168" y="2492670"/>
            <a:ext cx="390000" cy="290000"/>
          </a:xfrm>
          <a:prstGeom prst="rect">
            <a:avLst/>
          </a:prstGeom>
          <a:solidFill>
            <a:srgbClr val="94A3B8">
              <a:alpha val="80000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283" name="T7220"/>
          <p:cNvSpPr/>
          <p:nvPr/>
        </p:nvSpPr>
        <p:spPr>
          <a:xfrm>
            <a:off x="4979670" y="2513330"/>
            <a:ext cx="391160" cy="12573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1.0M</a:t>
            </a:r>
            <a:endParaRPr lang="zh-CN" sz="570" dirty="0"/>
          </a:p>
        </p:txBody>
      </p:sp>
      <p:sp>
        <p:nvSpPr>
          <p:cNvPr id="284" name="T7221"/>
          <p:cNvSpPr/>
          <p:nvPr/>
        </p:nvSpPr>
        <p:spPr>
          <a:xfrm>
            <a:off x="4981168" y="2666670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6件</a:t>
            </a:r>
            <a:endParaRPr lang="zh-CN" sz="500" dirty="0"/>
          </a:p>
        </p:txBody>
      </p:sp>
      <p:sp>
        <p:nvSpPr>
          <p:cNvPr id="285" name="T7225"/>
          <p:cNvSpPr/>
          <p:nvPr/>
        </p:nvSpPr>
        <p:spPr>
          <a:xfrm>
            <a:off x="182880" y="2782670"/>
            <a:ext cx="498288" cy="290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CN" sz="580" b="1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合计</a:t>
            </a:r>
            <a:endParaRPr lang="zh-CN" sz="580" dirty="0"/>
          </a:p>
        </p:txBody>
      </p:sp>
      <p:sp>
        <p:nvSpPr>
          <p:cNvPr id="286" name="R7226"/>
          <p:cNvSpPr/>
          <p:nvPr/>
        </p:nvSpPr>
        <p:spPr>
          <a:xfrm>
            <a:off x="691168" y="2782670"/>
            <a:ext cx="390000" cy="290000"/>
          </a:xfrm>
          <a:prstGeom prst="rect">
            <a:avLst/>
          </a:prstGeom>
          <a:solidFill>
            <a:srgbClr val="374151">
              <a:alpha val="23972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287" name="T7227"/>
          <p:cNvSpPr/>
          <p:nvPr/>
        </p:nvSpPr>
        <p:spPr>
          <a:xfrm>
            <a:off x="691168" y="2782670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6.5M</a:t>
            </a:r>
            <a:endParaRPr lang="zh-CN" sz="570" dirty="0"/>
          </a:p>
        </p:txBody>
      </p:sp>
      <p:sp>
        <p:nvSpPr>
          <p:cNvPr id="288" name="T7228"/>
          <p:cNvSpPr/>
          <p:nvPr/>
        </p:nvSpPr>
        <p:spPr>
          <a:xfrm>
            <a:off x="691168" y="2956670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16件</a:t>
            </a:r>
            <a:endParaRPr lang="zh-CN" sz="500" dirty="0"/>
          </a:p>
        </p:txBody>
      </p:sp>
      <p:sp>
        <p:nvSpPr>
          <p:cNvPr id="289" name="R7229"/>
          <p:cNvSpPr/>
          <p:nvPr/>
        </p:nvSpPr>
        <p:spPr>
          <a:xfrm>
            <a:off x="1081168" y="2782670"/>
            <a:ext cx="390000" cy="290000"/>
          </a:xfrm>
          <a:prstGeom prst="rect">
            <a:avLst/>
          </a:prstGeom>
          <a:solidFill>
            <a:srgbClr val="374151">
              <a:alpha val="34319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290" name="T7230"/>
          <p:cNvSpPr/>
          <p:nvPr/>
        </p:nvSpPr>
        <p:spPr>
          <a:xfrm>
            <a:off x="1081168" y="2782670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14.0M</a:t>
            </a:r>
            <a:endParaRPr lang="zh-CN" sz="570" dirty="0"/>
          </a:p>
        </p:txBody>
      </p:sp>
      <p:sp>
        <p:nvSpPr>
          <p:cNvPr id="291" name="T7231"/>
          <p:cNvSpPr/>
          <p:nvPr/>
        </p:nvSpPr>
        <p:spPr>
          <a:xfrm>
            <a:off x="1081168" y="2956670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37件</a:t>
            </a:r>
            <a:endParaRPr lang="zh-CN" sz="500" dirty="0"/>
          </a:p>
        </p:txBody>
      </p:sp>
      <p:sp>
        <p:nvSpPr>
          <p:cNvPr id="292" name="R7232"/>
          <p:cNvSpPr/>
          <p:nvPr/>
        </p:nvSpPr>
        <p:spPr>
          <a:xfrm>
            <a:off x="1471168" y="2782670"/>
            <a:ext cx="390000" cy="290000"/>
          </a:xfrm>
          <a:prstGeom prst="rect">
            <a:avLst/>
          </a:prstGeom>
          <a:solidFill>
            <a:srgbClr val="374151">
              <a:alpha val="40810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293" name="T7233"/>
          <p:cNvSpPr/>
          <p:nvPr/>
        </p:nvSpPr>
        <p:spPr>
          <a:xfrm>
            <a:off x="1471168" y="2782670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18.8M</a:t>
            </a:r>
            <a:endParaRPr lang="zh-CN" sz="570" dirty="0"/>
          </a:p>
        </p:txBody>
      </p:sp>
      <p:sp>
        <p:nvSpPr>
          <p:cNvPr id="294" name="T7234"/>
          <p:cNvSpPr/>
          <p:nvPr/>
        </p:nvSpPr>
        <p:spPr>
          <a:xfrm>
            <a:off x="1471168" y="2956670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36件</a:t>
            </a:r>
            <a:endParaRPr lang="zh-CN" sz="500" dirty="0"/>
          </a:p>
        </p:txBody>
      </p:sp>
      <p:sp>
        <p:nvSpPr>
          <p:cNvPr id="295" name="R7235"/>
          <p:cNvSpPr/>
          <p:nvPr/>
        </p:nvSpPr>
        <p:spPr>
          <a:xfrm>
            <a:off x="1861168" y="2782670"/>
            <a:ext cx="390000" cy="290000"/>
          </a:xfrm>
          <a:prstGeom prst="rect">
            <a:avLst/>
          </a:prstGeom>
          <a:solidFill>
            <a:srgbClr val="374151">
              <a:alpha val="29095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296" name="T7236"/>
          <p:cNvSpPr/>
          <p:nvPr/>
        </p:nvSpPr>
        <p:spPr>
          <a:xfrm>
            <a:off x="1861168" y="2782670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10.2M</a:t>
            </a:r>
            <a:endParaRPr lang="zh-CN" sz="570" dirty="0"/>
          </a:p>
        </p:txBody>
      </p:sp>
      <p:sp>
        <p:nvSpPr>
          <p:cNvPr id="297" name="T7237"/>
          <p:cNvSpPr/>
          <p:nvPr/>
        </p:nvSpPr>
        <p:spPr>
          <a:xfrm>
            <a:off x="1861168" y="2956670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34件</a:t>
            </a:r>
            <a:endParaRPr lang="zh-CN" sz="500" dirty="0"/>
          </a:p>
        </p:txBody>
      </p:sp>
      <p:sp>
        <p:nvSpPr>
          <p:cNvPr id="298" name="R7238"/>
          <p:cNvSpPr/>
          <p:nvPr/>
        </p:nvSpPr>
        <p:spPr>
          <a:xfrm>
            <a:off x="2251168" y="2782670"/>
            <a:ext cx="390000" cy="290000"/>
          </a:xfrm>
          <a:prstGeom prst="rect">
            <a:avLst/>
          </a:prstGeom>
          <a:solidFill>
            <a:srgbClr val="374151">
              <a:alpha val="55000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299" name="T7239"/>
          <p:cNvSpPr/>
          <p:nvPr/>
        </p:nvSpPr>
        <p:spPr>
          <a:xfrm>
            <a:off x="2251168" y="2782670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29.1M</a:t>
            </a:r>
            <a:endParaRPr lang="zh-CN" sz="570" dirty="0"/>
          </a:p>
        </p:txBody>
      </p:sp>
      <p:sp>
        <p:nvSpPr>
          <p:cNvPr id="300" name="T7240"/>
          <p:cNvSpPr/>
          <p:nvPr/>
        </p:nvSpPr>
        <p:spPr>
          <a:xfrm>
            <a:off x="2251168" y="2956670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34件</a:t>
            </a:r>
            <a:endParaRPr lang="zh-CN" sz="500" dirty="0"/>
          </a:p>
        </p:txBody>
      </p:sp>
      <p:sp>
        <p:nvSpPr>
          <p:cNvPr id="301" name="R7241"/>
          <p:cNvSpPr/>
          <p:nvPr/>
        </p:nvSpPr>
        <p:spPr>
          <a:xfrm>
            <a:off x="2641168" y="2782670"/>
            <a:ext cx="390000" cy="290000"/>
          </a:xfrm>
          <a:prstGeom prst="rect">
            <a:avLst/>
          </a:prstGeom>
          <a:solidFill>
            <a:srgbClr val="374151">
              <a:alpha val="37548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302" name="T7242"/>
          <p:cNvSpPr/>
          <p:nvPr/>
        </p:nvSpPr>
        <p:spPr>
          <a:xfrm>
            <a:off x="2641168" y="2782670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16.4M</a:t>
            </a:r>
            <a:endParaRPr lang="zh-CN" sz="570" dirty="0"/>
          </a:p>
        </p:txBody>
      </p:sp>
      <p:sp>
        <p:nvSpPr>
          <p:cNvPr id="303" name="T7243"/>
          <p:cNvSpPr/>
          <p:nvPr/>
        </p:nvSpPr>
        <p:spPr>
          <a:xfrm>
            <a:off x="2641168" y="2956670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38件</a:t>
            </a:r>
            <a:endParaRPr lang="zh-CN" sz="500" dirty="0"/>
          </a:p>
        </p:txBody>
      </p:sp>
      <p:sp>
        <p:nvSpPr>
          <p:cNvPr id="304" name="R7244"/>
          <p:cNvSpPr/>
          <p:nvPr/>
        </p:nvSpPr>
        <p:spPr>
          <a:xfrm>
            <a:off x="3031168" y="2782670"/>
            <a:ext cx="390000" cy="290000"/>
          </a:xfrm>
          <a:prstGeom prst="rect">
            <a:avLst/>
          </a:prstGeom>
          <a:solidFill>
            <a:srgbClr val="374151">
              <a:alpha val="18758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305" name="T7245"/>
          <p:cNvSpPr/>
          <p:nvPr/>
        </p:nvSpPr>
        <p:spPr>
          <a:xfrm>
            <a:off x="3031168" y="2782670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2.7M</a:t>
            </a:r>
            <a:endParaRPr lang="zh-CN" sz="570" dirty="0"/>
          </a:p>
        </p:txBody>
      </p:sp>
      <p:sp>
        <p:nvSpPr>
          <p:cNvPr id="306" name="T7246"/>
          <p:cNvSpPr/>
          <p:nvPr/>
        </p:nvSpPr>
        <p:spPr>
          <a:xfrm>
            <a:off x="3031168" y="2956670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8件</a:t>
            </a:r>
            <a:endParaRPr lang="zh-CN" sz="500" dirty="0"/>
          </a:p>
        </p:txBody>
      </p:sp>
      <p:sp>
        <p:nvSpPr>
          <p:cNvPr id="307" name="R7247"/>
          <p:cNvSpPr/>
          <p:nvPr/>
        </p:nvSpPr>
        <p:spPr>
          <a:xfrm>
            <a:off x="3421168" y="2782670"/>
            <a:ext cx="390000" cy="290000"/>
          </a:xfrm>
          <a:prstGeom prst="rect">
            <a:avLst/>
          </a:prstGeom>
          <a:solidFill>
            <a:srgbClr val="374151">
              <a:alpha val="24430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308" name="T7248"/>
          <p:cNvSpPr/>
          <p:nvPr/>
        </p:nvSpPr>
        <p:spPr>
          <a:xfrm>
            <a:off x="3421168" y="2782670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6.8M</a:t>
            </a:r>
            <a:endParaRPr lang="zh-CN" sz="570" dirty="0"/>
          </a:p>
        </p:txBody>
      </p:sp>
      <p:sp>
        <p:nvSpPr>
          <p:cNvPr id="309" name="T7249"/>
          <p:cNvSpPr/>
          <p:nvPr/>
        </p:nvSpPr>
        <p:spPr>
          <a:xfrm>
            <a:off x="3421168" y="2956670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24件</a:t>
            </a:r>
            <a:endParaRPr lang="zh-CN" sz="500" dirty="0"/>
          </a:p>
        </p:txBody>
      </p:sp>
      <p:sp>
        <p:nvSpPr>
          <p:cNvPr id="310" name="R7250"/>
          <p:cNvSpPr/>
          <p:nvPr/>
        </p:nvSpPr>
        <p:spPr>
          <a:xfrm>
            <a:off x="3811168" y="2782670"/>
            <a:ext cx="390000" cy="290000"/>
          </a:xfrm>
          <a:prstGeom prst="rect">
            <a:avLst/>
          </a:prstGeom>
          <a:solidFill>
            <a:srgbClr val="374151">
              <a:alpha val="23072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311" name="T7251"/>
          <p:cNvSpPr/>
          <p:nvPr/>
        </p:nvSpPr>
        <p:spPr>
          <a:xfrm>
            <a:off x="3811168" y="2782670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5.9M</a:t>
            </a:r>
            <a:endParaRPr lang="zh-CN" sz="570" dirty="0"/>
          </a:p>
        </p:txBody>
      </p:sp>
      <p:sp>
        <p:nvSpPr>
          <p:cNvPr id="312" name="T7252"/>
          <p:cNvSpPr/>
          <p:nvPr/>
        </p:nvSpPr>
        <p:spPr>
          <a:xfrm>
            <a:off x="3811168" y="2956670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24件</a:t>
            </a:r>
            <a:endParaRPr lang="zh-CN" sz="500" dirty="0"/>
          </a:p>
        </p:txBody>
      </p:sp>
      <p:sp>
        <p:nvSpPr>
          <p:cNvPr id="313" name="R7253"/>
          <p:cNvSpPr/>
          <p:nvPr/>
        </p:nvSpPr>
        <p:spPr>
          <a:xfrm>
            <a:off x="4201168" y="2782670"/>
            <a:ext cx="390000" cy="290000"/>
          </a:xfrm>
          <a:prstGeom prst="rect">
            <a:avLst/>
          </a:prstGeom>
          <a:solidFill>
            <a:srgbClr val="374151">
              <a:alpha val="43422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314" name="T7254"/>
          <p:cNvSpPr/>
          <p:nvPr/>
        </p:nvSpPr>
        <p:spPr>
          <a:xfrm>
            <a:off x="4201168" y="2782670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19.9M</a:t>
            </a:r>
            <a:endParaRPr lang="zh-CN" sz="570" dirty="0"/>
          </a:p>
        </p:txBody>
      </p:sp>
      <p:sp>
        <p:nvSpPr>
          <p:cNvPr id="315" name="T7255"/>
          <p:cNvSpPr/>
          <p:nvPr/>
        </p:nvSpPr>
        <p:spPr>
          <a:xfrm>
            <a:off x="4201168" y="2956670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52件</a:t>
            </a:r>
            <a:endParaRPr lang="zh-CN" sz="500" dirty="0"/>
          </a:p>
        </p:txBody>
      </p:sp>
      <p:sp>
        <p:nvSpPr>
          <p:cNvPr id="316" name="R7256"/>
          <p:cNvSpPr/>
          <p:nvPr/>
        </p:nvSpPr>
        <p:spPr>
          <a:xfrm>
            <a:off x="4591168" y="2782670"/>
            <a:ext cx="390000" cy="290000"/>
          </a:xfrm>
          <a:prstGeom prst="rect">
            <a:avLst/>
          </a:prstGeom>
          <a:solidFill>
            <a:srgbClr val="374151">
              <a:alpha val="42018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317" name="T7257"/>
          <p:cNvSpPr/>
          <p:nvPr/>
        </p:nvSpPr>
        <p:spPr>
          <a:xfrm>
            <a:off x="4591168" y="2782670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19.6M</a:t>
            </a:r>
            <a:endParaRPr lang="zh-CN" sz="570" dirty="0"/>
          </a:p>
        </p:txBody>
      </p:sp>
      <p:sp>
        <p:nvSpPr>
          <p:cNvPr id="318" name="T7258"/>
          <p:cNvSpPr/>
          <p:nvPr/>
        </p:nvSpPr>
        <p:spPr>
          <a:xfrm>
            <a:off x="4591168" y="2956670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41件</a:t>
            </a:r>
            <a:endParaRPr lang="zh-CN" sz="500" dirty="0"/>
          </a:p>
        </p:txBody>
      </p:sp>
      <p:sp>
        <p:nvSpPr>
          <p:cNvPr id="319" name="R7259"/>
          <p:cNvSpPr/>
          <p:nvPr/>
        </p:nvSpPr>
        <p:spPr>
          <a:xfrm>
            <a:off x="4981168" y="2782670"/>
            <a:ext cx="390000" cy="290000"/>
          </a:xfrm>
          <a:prstGeom prst="rect">
            <a:avLst/>
          </a:prstGeom>
          <a:solidFill>
            <a:srgbClr val="374151">
              <a:alpha val="50606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320" name="T7260"/>
          <p:cNvSpPr/>
          <p:nvPr/>
        </p:nvSpPr>
        <p:spPr>
          <a:xfrm>
            <a:off x="4981168" y="2782670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28.1M</a:t>
            </a:r>
            <a:endParaRPr lang="zh-CN" sz="570" dirty="0"/>
          </a:p>
        </p:txBody>
      </p:sp>
      <p:sp>
        <p:nvSpPr>
          <p:cNvPr id="321" name="T7261"/>
          <p:cNvSpPr/>
          <p:nvPr/>
        </p:nvSpPr>
        <p:spPr>
          <a:xfrm>
            <a:off x="4981168" y="2956670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63件</a:t>
            </a:r>
            <a:endParaRPr lang="zh-CN" sz="500" dirty="0"/>
          </a:p>
        </p:txBody>
      </p:sp>
      <p:sp>
        <p:nvSpPr>
          <p:cNvPr id="322" name="R7033"/>
          <p:cNvSpPr/>
          <p:nvPr/>
        </p:nvSpPr>
        <p:spPr>
          <a:xfrm>
            <a:off x="5377603" y="1042670"/>
            <a:ext cx="390000" cy="290000"/>
          </a:xfrm>
          <a:prstGeom prst="rect">
            <a:avLst/>
          </a:prstGeom>
          <a:solidFill>
            <a:srgbClr val="E8ECF0">
              <a:alpha val="30000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323" name="R7033"/>
          <p:cNvSpPr/>
          <p:nvPr/>
        </p:nvSpPr>
        <p:spPr>
          <a:xfrm>
            <a:off x="5380990" y="1922145"/>
            <a:ext cx="386715" cy="290195"/>
          </a:xfrm>
          <a:prstGeom prst="rect">
            <a:avLst/>
          </a:prstGeom>
          <a:solidFill>
            <a:srgbClr val="E8ECF0">
              <a:alpha val="30000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324" name="R7033"/>
          <p:cNvSpPr/>
          <p:nvPr/>
        </p:nvSpPr>
        <p:spPr>
          <a:xfrm>
            <a:off x="5384165" y="2211070"/>
            <a:ext cx="377190" cy="290195"/>
          </a:xfrm>
          <a:prstGeom prst="rect">
            <a:avLst/>
          </a:prstGeom>
          <a:solidFill>
            <a:srgbClr val="E8ECF0">
              <a:alpha val="30000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325" name="R7250"/>
          <p:cNvSpPr/>
          <p:nvPr/>
        </p:nvSpPr>
        <p:spPr>
          <a:xfrm>
            <a:off x="5371363" y="2783940"/>
            <a:ext cx="390000" cy="290000"/>
          </a:xfrm>
          <a:prstGeom prst="rect">
            <a:avLst/>
          </a:prstGeom>
          <a:solidFill>
            <a:srgbClr val="374151">
              <a:alpha val="23072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326" name="T7251"/>
          <p:cNvSpPr/>
          <p:nvPr/>
        </p:nvSpPr>
        <p:spPr>
          <a:xfrm>
            <a:off x="5371363" y="2783940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altLang="zh-CN" sz="570" b="1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</a:t>
            </a:r>
            <a:r>
              <a:rPr lang="zh-CN" sz="570" b="1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.</a:t>
            </a:r>
            <a:r>
              <a:rPr lang="en-US" altLang="zh-CN" sz="570" b="1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</a:t>
            </a:r>
            <a:r>
              <a:rPr lang="zh-CN" sz="570" b="1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</a:t>
            </a:r>
            <a:endParaRPr lang="zh-CN" sz="570" dirty="0"/>
          </a:p>
        </p:txBody>
      </p:sp>
      <p:sp>
        <p:nvSpPr>
          <p:cNvPr id="327" name="T7252"/>
          <p:cNvSpPr/>
          <p:nvPr/>
        </p:nvSpPr>
        <p:spPr>
          <a:xfrm>
            <a:off x="5371363" y="2957940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r>
              <a:rPr lang="en-US" altLang="zh-CN" sz="5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r>
              <a:rPr lang="zh-CN" sz="5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件</a:t>
            </a:r>
            <a:endParaRPr lang="zh-CN" sz="500" dirty="0"/>
          </a:p>
        </p:txBody>
      </p:sp>
      <p:sp>
        <p:nvSpPr>
          <p:cNvPr id="328" name="R7033"/>
          <p:cNvSpPr/>
          <p:nvPr/>
        </p:nvSpPr>
        <p:spPr>
          <a:xfrm>
            <a:off x="5374005" y="2505710"/>
            <a:ext cx="377190" cy="290195"/>
          </a:xfrm>
          <a:prstGeom prst="rect">
            <a:avLst/>
          </a:prstGeom>
          <a:solidFill>
            <a:srgbClr val="E8ECF0">
              <a:alpha val="30000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329" name="T7000"/>
          <p:cNvSpPr/>
          <p:nvPr/>
        </p:nvSpPr>
        <p:spPr>
          <a:xfrm>
            <a:off x="691168" y="841248"/>
            <a:ext cx="390000" cy="155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6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W01</a:t>
            </a:r>
            <a:endParaRPr lang="zh-CN" sz="600" dirty="0"/>
          </a:p>
        </p:txBody>
      </p:sp>
      <p:sp>
        <p:nvSpPr>
          <p:cNvPr id="330" name="T7001"/>
          <p:cNvSpPr/>
          <p:nvPr/>
        </p:nvSpPr>
        <p:spPr>
          <a:xfrm>
            <a:off x="1081168" y="841248"/>
            <a:ext cx="390000" cy="155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6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W02</a:t>
            </a:r>
            <a:endParaRPr lang="zh-CN" sz="600" dirty="0"/>
          </a:p>
        </p:txBody>
      </p:sp>
      <p:sp>
        <p:nvSpPr>
          <p:cNvPr id="331" name="T7002"/>
          <p:cNvSpPr/>
          <p:nvPr/>
        </p:nvSpPr>
        <p:spPr>
          <a:xfrm>
            <a:off x="1471168" y="841248"/>
            <a:ext cx="390000" cy="155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6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W03</a:t>
            </a:r>
            <a:endParaRPr lang="zh-CN" sz="600" dirty="0"/>
          </a:p>
        </p:txBody>
      </p:sp>
      <p:sp>
        <p:nvSpPr>
          <p:cNvPr id="332" name="T7003"/>
          <p:cNvSpPr/>
          <p:nvPr/>
        </p:nvSpPr>
        <p:spPr>
          <a:xfrm>
            <a:off x="1861168" y="841248"/>
            <a:ext cx="390000" cy="155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6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W04</a:t>
            </a:r>
            <a:endParaRPr lang="zh-CN" sz="600" dirty="0"/>
          </a:p>
        </p:txBody>
      </p:sp>
      <p:sp>
        <p:nvSpPr>
          <p:cNvPr id="333" name="T7004"/>
          <p:cNvSpPr/>
          <p:nvPr/>
        </p:nvSpPr>
        <p:spPr>
          <a:xfrm>
            <a:off x="2251168" y="841248"/>
            <a:ext cx="390000" cy="155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6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W05</a:t>
            </a:r>
            <a:endParaRPr lang="zh-CN" sz="600" dirty="0"/>
          </a:p>
        </p:txBody>
      </p:sp>
      <p:sp>
        <p:nvSpPr>
          <p:cNvPr id="334" name="T7005"/>
          <p:cNvSpPr/>
          <p:nvPr/>
        </p:nvSpPr>
        <p:spPr>
          <a:xfrm>
            <a:off x="2641168" y="841248"/>
            <a:ext cx="390000" cy="155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6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W06</a:t>
            </a:r>
            <a:endParaRPr lang="zh-CN" sz="600" dirty="0"/>
          </a:p>
        </p:txBody>
      </p:sp>
      <p:sp>
        <p:nvSpPr>
          <p:cNvPr id="335" name="T7006"/>
          <p:cNvSpPr/>
          <p:nvPr/>
        </p:nvSpPr>
        <p:spPr>
          <a:xfrm>
            <a:off x="3031168" y="841248"/>
            <a:ext cx="390000" cy="155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6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W07</a:t>
            </a:r>
            <a:endParaRPr lang="zh-CN" sz="600" dirty="0"/>
          </a:p>
        </p:txBody>
      </p:sp>
      <p:sp>
        <p:nvSpPr>
          <p:cNvPr id="336" name="T7007"/>
          <p:cNvSpPr/>
          <p:nvPr/>
        </p:nvSpPr>
        <p:spPr>
          <a:xfrm>
            <a:off x="3421168" y="841248"/>
            <a:ext cx="390000" cy="155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6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W08</a:t>
            </a:r>
            <a:endParaRPr lang="zh-CN" sz="600" dirty="0"/>
          </a:p>
        </p:txBody>
      </p:sp>
      <p:sp>
        <p:nvSpPr>
          <p:cNvPr id="337" name="T7008"/>
          <p:cNvSpPr/>
          <p:nvPr/>
        </p:nvSpPr>
        <p:spPr>
          <a:xfrm>
            <a:off x="3811168" y="841248"/>
            <a:ext cx="390000" cy="155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6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W09</a:t>
            </a:r>
            <a:endParaRPr lang="zh-CN" sz="600" dirty="0"/>
          </a:p>
        </p:txBody>
      </p:sp>
      <p:sp>
        <p:nvSpPr>
          <p:cNvPr id="338" name="T7009"/>
          <p:cNvSpPr/>
          <p:nvPr/>
        </p:nvSpPr>
        <p:spPr>
          <a:xfrm>
            <a:off x="4201168" y="841248"/>
            <a:ext cx="390000" cy="155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6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W10</a:t>
            </a:r>
            <a:endParaRPr lang="zh-CN" sz="600" dirty="0"/>
          </a:p>
        </p:txBody>
      </p:sp>
      <p:sp>
        <p:nvSpPr>
          <p:cNvPr id="339" name="T7010"/>
          <p:cNvSpPr/>
          <p:nvPr/>
        </p:nvSpPr>
        <p:spPr>
          <a:xfrm>
            <a:off x="4591168" y="841248"/>
            <a:ext cx="390000" cy="155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6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W11</a:t>
            </a:r>
            <a:endParaRPr lang="zh-CN" sz="600" dirty="0"/>
          </a:p>
        </p:txBody>
      </p:sp>
      <p:sp>
        <p:nvSpPr>
          <p:cNvPr id="340" name="T7011"/>
          <p:cNvSpPr/>
          <p:nvPr/>
        </p:nvSpPr>
        <p:spPr>
          <a:xfrm>
            <a:off x="4981168" y="841248"/>
            <a:ext cx="390000" cy="155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6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W12</a:t>
            </a:r>
            <a:endParaRPr lang="zh-CN" sz="600" dirty="0"/>
          </a:p>
        </p:txBody>
      </p:sp>
      <p:sp>
        <p:nvSpPr>
          <p:cNvPr id="341" name="T7012"/>
          <p:cNvSpPr/>
          <p:nvPr/>
        </p:nvSpPr>
        <p:spPr>
          <a:xfrm>
            <a:off x="5371168" y="841248"/>
            <a:ext cx="390000" cy="155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600" b="1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W13</a:t>
            </a:r>
            <a:endParaRPr lang="zh-CN" sz="600" dirty="0"/>
          </a:p>
        </p:txBody>
      </p:sp>
      <p:sp>
        <p:nvSpPr>
          <p:cNvPr id="342" name="T8000"/>
          <p:cNvSpPr/>
          <p:nvPr/>
        </p:nvSpPr>
        <p:spPr>
          <a:xfrm>
            <a:off x="6766941" y="859536"/>
            <a:ext cx="390000" cy="155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6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W01</a:t>
            </a:r>
            <a:endParaRPr lang="zh-CN" sz="600" dirty="0"/>
          </a:p>
        </p:txBody>
      </p:sp>
      <p:sp>
        <p:nvSpPr>
          <p:cNvPr id="343" name="T8001"/>
          <p:cNvSpPr/>
          <p:nvPr/>
        </p:nvSpPr>
        <p:spPr>
          <a:xfrm>
            <a:off x="7156941" y="859536"/>
            <a:ext cx="390000" cy="155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6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W02</a:t>
            </a:r>
            <a:endParaRPr lang="zh-CN" sz="600" dirty="0"/>
          </a:p>
        </p:txBody>
      </p:sp>
      <p:sp>
        <p:nvSpPr>
          <p:cNvPr id="344" name="T8002"/>
          <p:cNvSpPr/>
          <p:nvPr/>
        </p:nvSpPr>
        <p:spPr>
          <a:xfrm>
            <a:off x="7546941" y="859536"/>
            <a:ext cx="390000" cy="155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6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W03</a:t>
            </a:r>
            <a:endParaRPr lang="zh-CN" sz="600" dirty="0"/>
          </a:p>
        </p:txBody>
      </p:sp>
      <p:sp>
        <p:nvSpPr>
          <p:cNvPr id="345" name="T8003"/>
          <p:cNvSpPr/>
          <p:nvPr/>
        </p:nvSpPr>
        <p:spPr>
          <a:xfrm>
            <a:off x="7936941" y="859536"/>
            <a:ext cx="390000" cy="155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6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W04</a:t>
            </a:r>
            <a:endParaRPr lang="zh-CN" sz="600" dirty="0"/>
          </a:p>
        </p:txBody>
      </p:sp>
      <p:sp>
        <p:nvSpPr>
          <p:cNvPr id="346" name="T8004"/>
          <p:cNvSpPr/>
          <p:nvPr/>
        </p:nvSpPr>
        <p:spPr>
          <a:xfrm>
            <a:off x="8326941" y="859536"/>
            <a:ext cx="390000" cy="155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6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W05</a:t>
            </a:r>
            <a:endParaRPr lang="zh-CN" sz="600" dirty="0"/>
          </a:p>
        </p:txBody>
      </p:sp>
      <p:sp>
        <p:nvSpPr>
          <p:cNvPr id="347" name="T8005"/>
          <p:cNvSpPr/>
          <p:nvPr/>
        </p:nvSpPr>
        <p:spPr>
          <a:xfrm>
            <a:off x="8716941" y="859536"/>
            <a:ext cx="390000" cy="155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6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W06</a:t>
            </a:r>
            <a:endParaRPr lang="zh-CN" sz="600" dirty="0"/>
          </a:p>
        </p:txBody>
      </p:sp>
      <p:sp>
        <p:nvSpPr>
          <p:cNvPr id="348" name="T8006"/>
          <p:cNvSpPr/>
          <p:nvPr/>
        </p:nvSpPr>
        <p:spPr>
          <a:xfrm>
            <a:off x="9106941" y="859536"/>
            <a:ext cx="390000" cy="155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6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W07</a:t>
            </a:r>
            <a:endParaRPr lang="zh-CN" sz="600" dirty="0"/>
          </a:p>
        </p:txBody>
      </p:sp>
      <p:sp>
        <p:nvSpPr>
          <p:cNvPr id="349" name="T8007"/>
          <p:cNvSpPr/>
          <p:nvPr/>
        </p:nvSpPr>
        <p:spPr>
          <a:xfrm>
            <a:off x="9496941" y="859536"/>
            <a:ext cx="390000" cy="155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6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W08</a:t>
            </a:r>
            <a:endParaRPr lang="zh-CN" sz="600" dirty="0"/>
          </a:p>
        </p:txBody>
      </p:sp>
      <p:sp>
        <p:nvSpPr>
          <p:cNvPr id="350" name="T8008"/>
          <p:cNvSpPr/>
          <p:nvPr/>
        </p:nvSpPr>
        <p:spPr>
          <a:xfrm>
            <a:off x="9886941" y="859536"/>
            <a:ext cx="390000" cy="155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6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W09</a:t>
            </a:r>
            <a:endParaRPr lang="zh-CN" sz="600" dirty="0"/>
          </a:p>
        </p:txBody>
      </p:sp>
      <p:sp>
        <p:nvSpPr>
          <p:cNvPr id="351" name="T8009"/>
          <p:cNvSpPr/>
          <p:nvPr/>
        </p:nvSpPr>
        <p:spPr>
          <a:xfrm>
            <a:off x="10276941" y="859536"/>
            <a:ext cx="390000" cy="155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6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W10</a:t>
            </a:r>
            <a:endParaRPr lang="zh-CN" sz="600" dirty="0"/>
          </a:p>
        </p:txBody>
      </p:sp>
      <p:sp>
        <p:nvSpPr>
          <p:cNvPr id="352" name="T8010"/>
          <p:cNvSpPr/>
          <p:nvPr/>
        </p:nvSpPr>
        <p:spPr>
          <a:xfrm>
            <a:off x="10666941" y="859536"/>
            <a:ext cx="390000" cy="155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6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W11</a:t>
            </a:r>
            <a:endParaRPr lang="zh-CN" sz="600" dirty="0"/>
          </a:p>
        </p:txBody>
      </p:sp>
      <p:sp>
        <p:nvSpPr>
          <p:cNvPr id="353" name="T8011"/>
          <p:cNvSpPr/>
          <p:nvPr/>
        </p:nvSpPr>
        <p:spPr>
          <a:xfrm>
            <a:off x="11056941" y="859536"/>
            <a:ext cx="390000" cy="155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6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W12</a:t>
            </a:r>
            <a:endParaRPr lang="zh-CN" sz="600" dirty="0"/>
          </a:p>
        </p:txBody>
      </p:sp>
      <p:sp>
        <p:nvSpPr>
          <p:cNvPr id="354" name="T8012"/>
          <p:cNvSpPr/>
          <p:nvPr/>
        </p:nvSpPr>
        <p:spPr>
          <a:xfrm>
            <a:off x="11446941" y="859536"/>
            <a:ext cx="390000" cy="155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600" b="1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W13</a:t>
            </a:r>
            <a:endParaRPr lang="zh-CN" sz="600" dirty="0"/>
          </a:p>
        </p:txBody>
      </p:sp>
      <p:sp>
        <p:nvSpPr>
          <p:cNvPr id="355" name="T8013"/>
          <p:cNvSpPr/>
          <p:nvPr/>
        </p:nvSpPr>
        <p:spPr>
          <a:xfrm>
            <a:off x="6254496" y="1072134"/>
            <a:ext cx="502445" cy="290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CN" sz="68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永明经代</a:t>
            </a:r>
            <a:endParaRPr lang="zh-CN" sz="680" dirty="0"/>
          </a:p>
        </p:txBody>
      </p:sp>
      <p:sp>
        <p:nvSpPr>
          <p:cNvPr id="356" name="R8014"/>
          <p:cNvSpPr/>
          <p:nvPr/>
        </p:nvSpPr>
        <p:spPr>
          <a:xfrm>
            <a:off x="6766941" y="1072134"/>
            <a:ext cx="390000" cy="290000"/>
          </a:xfrm>
          <a:prstGeom prst="rect">
            <a:avLst/>
          </a:prstGeom>
          <a:solidFill>
            <a:srgbClr val="1A7A3F">
              <a:alpha val="20008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357" name="T8015"/>
          <p:cNvSpPr/>
          <p:nvPr/>
        </p:nvSpPr>
        <p:spPr>
          <a:xfrm>
            <a:off x="6766941" y="1072134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1A7A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1.0M</a:t>
            </a:r>
            <a:endParaRPr lang="zh-CN" sz="570" dirty="0"/>
          </a:p>
        </p:txBody>
      </p:sp>
      <p:sp>
        <p:nvSpPr>
          <p:cNvPr id="358" name="T8016"/>
          <p:cNvSpPr/>
          <p:nvPr/>
        </p:nvSpPr>
        <p:spPr>
          <a:xfrm>
            <a:off x="6766941" y="1246134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1A7A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2件</a:t>
            </a:r>
            <a:endParaRPr lang="zh-CN" sz="500" dirty="0"/>
          </a:p>
        </p:txBody>
      </p:sp>
      <p:sp>
        <p:nvSpPr>
          <p:cNvPr id="359" name="R8017"/>
          <p:cNvSpPr/>
          <p:nvPr/>
        </p:nvSpPr>
        <p:spPr>
          <a:xfrm>
            <a:off x="7156941" y="1072134"/>
            <a:ext cx="390000" cy="290000"/>
          </a:xfrm>
          <a:prstGeom prst="rect">
            <a:avLst/>
          </a:prstGeom>
          <a:solidFill>
            <a:srgbClr val="1A7A3F">
              <a:alpha val="32018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360" name="T8018"/>
          <p:cNvSpPr/>
          <p:nvPr/>
        </p:nvSpPr>
        <p:spPr>
          <a:xfrm>
            <a:off x="7156941" y="1072134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1A7A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3.5M</a:t>
            </a:r>
            <a:endParaRPr lang="zh-CN" sz="570" dirty="0"/>
          </a:p>
        </p:txBody>
      </p:sp>
      <p:sp>
        <p:nvSpPr>
          <p:cNvPr id="361" name="T8019"/>
          <p:cNvSpPr/>
          <p:nvPr/>
        </p:nvSpPr>
        <p:spPr>
          <a:xfrm>
            <a:off x="7156941" y="1246134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1A7A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10件</a:t>
            </a:r>
            <a:endParaRPr lang="zh-CN" sz="500" dirty="0"/>
          </a:p>
        </p:txBody>
      </p:sp>
      <p:sp>
        <p:nvSpPr>
          <p:cNvPr id="362" name="R8020"/>
          <p:cNvSpPr/>
          <p:nvPr/>
        </p:nvSpPr>
        <p:spPr>
          <a:xfrm>
            <a:off x="7546941" y="1072134"/>
            <a:ext cx="390000" cy="290000"/>
          </a:xfrm>
          <a:prstGeom prst="rect">
            <a:avLst/>
          </a:prstGeom>
          <a:solidFill>
            <a:srgbClr val="1A7A3F">
              <a:alpha val="43618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363" name="T8021"/>
          <p:cNvSpPr/>
          <p:nvPr/>
        </p:nvSpPr>
        <p:spPr>
          <a:xfrm>
            <a:off x="7546941" y="1072134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1A7A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5.8M</a:t>
            </a:r>
            <a:endParaRPr lang="zh-CN" sz="570" dirty="0"/>
          </a:p>
        </p:txBody>
      </p:sp>
      <p:sp>
        <p:nvSpPr>
          <p:cNvPr id="364" name="T8022"/>
          <p:cNvSpPr/>
          <p:nvPr/>
        </p:nvSpPr>
        <p:spPr>
          <a:xfrm>
            <a:off x="7546941" y="1246134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1A7A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14件</a:t>
            </a:r>
            <a:endParaRPr lang="zh-CN" sz="500" dirty="0"/>
          </a:p>
        </p:txBody>
      </p:sp>
      <p:sp>
        <p:nvSpPr>
          <p:cNvPr id="365" name="R8023"/>
          <p:cNvSpPr/>
          <p:nvPr/>
        </p:nvSpPr>
        <p:spPr>
          <a:xfrm>
            <a:off x="7936941" y="1072134"/>
            <a:ext cx="390000" cy="290000"/>
          </a:xfrm>
          <a:prstGeom prst="rect">
            <a:avLst/>
          </a:prstGeom>
          <a:solidFill>
            <a:srgbClr val="1A7A3F">
              <a:alpha val="40365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366" name="T8024"/>
          <p:cNvSpPr/>
          <p:nvPr/>
        </p:nvSpPr>
        <p:spPr>
          <a:xfrm>
            <a:off x="7936941" y="1072134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1A7A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5.1M</a:t>
            </a:r>
            <a:endParaRPr lang="zh-CN" sz="570" dirty="0"/>
          </a:p>
        </p:txBody>
      </p:sp>
      <p:sp>
        <p:nvSpPr>
          <p:cNvPr id="367" name="T8025"/>
          <p:cNvSpPr/>
          <p:nvPr/>
        </p:nvSpPr>
        <p:spPr>
          <a:xfrm>
            <a:off x="7936941" y="1246134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1A7A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19件</a:t>
            </a:r>
            <a:endParaRPr lang="zh-CN" sz="500" dirty="0"/>
          </a:p>
        </p:txBody>
      </p:sp>
      <p:sp>
        <p:nvSpPr>
          <p:cNvPr id="368" name="R8026"/>
          <p:cNvSpPr/>
          <p:nvPr/>
        </p:nvSpPr>
        <p:spPr>
          <a:xfrm>
            <a:off x="8326941" y="1072134"/>
            <a:ext cx="390000" cy="290000"/>
          </a:xfrm>
          <a:prstGeom prst="rect">
            <a:avLst/>
          </a:prstGeom>
          <a:solidFill>
            <a:srgbClr val="1A7A3F">
              <a:alpha val="55391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369" name="T8027"/>
          <p:cNvSpPr/>
          <p:nvPr/>
        </p:nvSpPr>
        <p:spPr>
          <a:xfrm>
            <a:off x="8326941" y="1072134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8.2M</a:t>
            </a:r>
            <a:endParaRPr lang="zh-CN" sz="570" dirty="0"/>
          </a:p>
        </p:txBody>
      </p:sp>
      <p:sp>
        <p:nvSpPr>
          <p:cNvPr id="370" name="T8028"/>
          <p:cNvSpPr/>
          <p:nvPr/>
        </p:nvSpPr>
        <p:spPr>
          <a:xfrm>
            <a:off x="8326941" y="1246134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20件</a:t>
            </a:r>
            <a:endParaRPr lang="zh-CN" sz="500" dirty="0"/>
          </a:p>
        </p:txBody>
      </p:sp>
      <p:sp>
        <p:nvSpPr>
          <p:cNvPr id="371" name="R8029"/>
          <p:cNvSpPr/>
          <p:nvPr/>
        </p:nvSpPr>
        <p:spPr>
          <a:xfrm>
            <a:off x="8716941" y="1072134"/>
            <a:ext cx="390000" cy="290000"/>
          </a:xfrm>
          <a:prstGeom prst="rect">
            <a:avLst/>
          </a:prstGeom>
          <a:solidFill>
            <a:srgbClr val="1A7A3F">
              <a:alpha val="37367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372" name="T8030"/>
          <p:cNvSpPr/>
          <p:nvPr/>
        </p:nvSpPr>
        <p:spPr>
          <a:xfrm>
            <a:off x="8716941" y="1072134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1A7A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4.5M</a:t>
            </a:r>
            <a:endParaRPr lang="zh-CN" sz="570" dirty="0"/>
          </a:p>
        </p:txBody>
      </p:sp>
      <p:sp>
        <p:nvSpPr>
          <p:cNvPr id="373" name="T8031"/>
          <p:cNvSpPr/>
          <p:nvPr/>
        </p:nvSpPr>
        <p:spPr>
          <a:xfrm>
            <a:off x="8716941" y="1246134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1A7A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16件</a:t>
            </a:r>
            <a:endParaRPr lang="zh-CN" sz="500" dirty="0"/>
          </a:p>
        </p:txBody>
      </p:sp>
      <p:sp>
        <p:nvSpPr>
          <p:cNvPr id="374" name="R8032"/>
          <p:cNvSpPr/>
          <p:nvPr/>
        </p:nvSpPr>
        <p:spPr>
          <a:xfrm>
            <a:off x="9106941" y="1072134"/>
            <a:ext cx="390000" cy="290000"/>
          </a:xfrm>
          <a:prstGeom prst="rect">
            <a:avLst/>
          </a:prstGeom>
          <a:solidFill>
            <a:srgbClr val="1A7A3F">
              <a:alpha val="33864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375" name="T8033"/>
          <p:cNvSpPr/>
          <p:nvPr/>
        </p:nvSpPr>
        <p:spPr>
          <a:xfrm>
            <a:off x="9106941" y="1072134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1A7A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3.8M</a:t>
            </a:r>
            <a:endParaRPr lang="zh-CN" sz="570" dirty="0"/>
          </a:p>
        </p:txBody>
      </p:sp>
      <p:sp>
        <p:nvSpPr>
          <p:cNvPr id="376" name="T8034"/>
          <p:cNvSpPr/>
          <p:nvPr/>
        </p:nvSpPr>
        <p:spPr>
          <a:xfrm>
            <a:off x="9106941" y="1246134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1A7A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7件</a:t>
            </a:r>
            <a:endParaRPr lang="zh-CN" sz="500" dirty="0"/>
          </a:p>
        </p:txBody>
      </p:sp>
      <p:sp>
        <p:nvSpPr>
          <p:cNvPr id="377" name="R8035"/>
          <p:cNvSpPr/>
          <p:nvPr/>
        </p:nvSpPr>
        <p:spPr>
          <a:xfrm>
            <a:off x="9496941" y="1072134"/>
            <a:ext cx="390000" cy="290000"/>
          </a:xfrm>
          <a:prstGeom prst="rect">
            <a:avLst/>
          </a:prstGeom>
          <a:solidFill>
            <a:srgbClr val="1A7A3F">
              <a:alpha val="32872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378" name="T8036"/>
          <p:cNvSpPr/>
          <p:nvPr/>
        </p:nvSpPr>
        <p:spPr>
          <a:xfrm>
            <a:off x="9496941" y="1072134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1A7A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3.6M</a:t>
            </a:r>
            <a:endParaRPr lang="zh-CN" sz="570" dirty="0"/>
          </a:p>
        </p:txBody>
      </p:sp>
      <p:sp>
        <p:nvSpPr>
          <p:cNvPr id="379" name="T8037"/>
          <p:cNvSpPr/>
          <p:nvPr/>
        </p:nvSpPr>
        <p:spPr>
          <a:xfrm>
            <a:off x="9496941" y="1246134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1A7A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17件</a:t>
            </a:r>
            <a:endParaRPr lang="zh-CN" sz="500" dirty="0"/>
          </a:p>
        </p:txBody>
      </p:sp>
      <p:sp>
        <p:nvSpPr>
          <p:cNvPr id="380" name="R8038"/>
          <p:cNvSpPr/>
          <p:nvPr/>
        </p:nvSpPr>
        <p:spPr>
          <a:xfrm>
            <a:off x="9886941" y="1072134"/>
            <a:ext cx="390000" cy="290000"/>
          </a:xfrm>
          <a:prstGeom prst="rect">
            <a:avLst/>
          </a:prstGeom>
          <a:solidFill>
            <a:srgbClr val="1A7A3F">
              <a:alpha val="27327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381" name="T8039"/>
          <p:cNvSpPr/>
          <p:nvPr/>
        </p:nvSpPr>
        <p:spPr>
          <a:xfrm>
            <a:off x="9886941" y="1072134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1A7A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2.5M</a:t>
            </a:r>
            <a:endParaRPr lang="zh-CN" sz="570" dirty="0"/>
          </a:p>
        </p:txBody>
      </p:sp>
      <p:sp>
        <p:nvSpPr>
          <p:cNvPr id="382" name="T8040"/>
          <p:cNvSpPr/>
          <p:nvPr/>
        </p:nvSpPr>
        <p:spPr>
          <a:xfrm>
            <a:off x="9886941" y="1246134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1A7A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8件</a:t>
            </a:r>
            <a:endParaRPr lang="zh-CN" sz="500" dirty="0"/>
          </a:p>
        </p:txBody>
      </p:sp>
      <p:sp>
        <p:nvSpPr>
          <p:cNvPr id="383" name="R8041"/>
          <p:cNvSpPr/>
          <p:nvPr/>
        </p:nvSpPr>
        <p:spPr>
          <a:xfrm>
            <a:off x="10276941" y="1072134"/>
            <a:ext cx="390000" cy="290000"/>
          </a:xfrm>
          <a:prstGeom prst="rect">
            <a:avLst/>
          </a:prstGeom>
          <a:solidFill>
            <a:srgbClr val="1A7A3F">
              <a:alpha val="55263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384" name="T8042"/>
          <p:cNvSpPr/>
          <p:nvPr/>
        </p:nvSpPr>
        <p:spPr>
          <a:xfrm>
            <a:off x="10276941" y="1072134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8.2M</a:t>
            </a:r>
            <a:endParaRPr lang="zh-CN" sz="570" dirty="0"/>
          </a:p>
        </p:txBody>
      </p:sp>
      <p:sp>
        <p:nvSpPr>
          <p:cNvPr id="385" name="T8043"/>
          <p:cNvSpPr/>
          <p:nvPr/>
        </p:nvSpPr>
        <p:spPr>
          <a:xfrm>
            <a:off x="10276941" y="1246134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26件</a:t>
            </a:r>
            <a:endParaRPr lang="zh-CN" sz="500" dirty="0"/>
          </a:p>
        </p:txBody>
      </p:sp>
      <p:sp>
        <p:nvSpPr>
          <p:cNvPr id="386" name="R8044"/>
          <p:cNvSpPr/>
          <p:nvPr/>
        </p:nvSpPr>
        <p:spPr>
          <a:xfrm>
            <a:off x="10666941" y="1072134"/>
            <a:ext cx="390000" cy="290000"/>
          </a:xfrm>
          <a:prstGeom prst="rect">
            <a:avLst/>
          </a:prstGeom>
          <a:solidFill>
            <a:srgbClr val="1A7A3F">
              <a:alpha val="63502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387" name="T8045"/>
          <p:cNvSpPr/>
          <p:nvPr/>
        </p:nvSpPr>
        <p:spPr>
          <a:xfrm>
            <a:off x="10666941" y="1072134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9.8M</a:t>
            </a:r>
            <a:endParaRPr lang="zh-CN" sz="570" dirty="0"/>
          </a:p>
        </p:txBody>
      </p:sp>
      <p:sp>
        <p:nvSpPr>
          <p:cNvPr id="388" name="T8046"/>
          <p:cNvSpPr/>
          <p:nvPr/>
        </p:nvSpPr>
        <p:spPr>
          <a:xfrm>
            <a:off x="10666941" y="1246134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28件</a:t>
            </a:r>
            <a:endParaRPr lang="zh-CN" sz="500" dirty="0"/>
          </a:p>
        </p:txBody>
      </p:sp>
      <p:sp>
        <p:nvSpPr>
          <p:cNvPr id="389" name="R8047"/>
          <p:cNvSpPr/>
          <p:nvPr/>
        </p:nvSpPr>
        <p:spPr>
          <a:xfrm>
            <a:off x="11056941" y="1072134"/>
            <a:ext cx="390000" cy="290000"/>
          </a:xfrm>
          <a:prstGeom prst="rect">
            <a:avLst/>
          </a:prstGeom>
          <a:solidFill>
            <a:srgbClr val="1A7A3F">
              <a:alpha val="80000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390" name="T8048"/>
          <p:cNvSpPr/>
          <p:nvPr/>
        </p:nvSpPr>
        <p:spPr>
          <a:xfrm>
            <a:off x="11056941" y="1072134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15.8M</a:t>
            </a:r>
            <a:endParaRPr lang="zh-CN" sz="570" dirty="0"/>
          </a:p>
        </p:txBody>
      </p:sp>
      <p:sp>
        <p:nvSpPr>
          <p:cNvPr id="391" name="T8049"/>
          <p:cNvSpPr/>
          <p:nvPr/>
        </p:nvSpPr>
        <p:spPr>
          <a:xfrm>
            <a:off x="11056941" y="1246134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35件</a:t>
            </a:r>
            <a:endParaRPr lang="zh-CN" sz="500" dirty="0"/>
          </a:p>
        </p:txBody>
      </p:sp>
      <p:sp>
        <p:nvSpPr>
          <p:cNvPr id="392" name="R8050"/>
          <p:cNvSpPr/>
          <p:nvPr/>
        </p:nvSpPr>
        <p:spPr>
          <a:xfrm>
            <a:off x="11446941" y="1072134"/>
            <a:ext cx="390000" cy="290000"/>
          </a:xfrm>
          <a:prstGeom prst="rect">
            <a:avLst/>
          </a:prstGeom>
          <a:solidFill>
            <a:srgbClr val="9BC5AB"/>
          </a:solidFill>
          <a:ln w="2540">
            <a:solidFill>
              <a:srgbClr val="E8ECF0"/>
            </a:solidFill>
            <a:prstDash val="solid"/>
          </a:ln>
        </p:spPr>
        <p:txBody>
          <a:bodyPr/>
          <a:p>
            <a:endParaRPr lang="zh-CN" altLang="en-US"/>
          </a:p>
        </p:txBody>
      </p:sp>
      <p:sp>
        <p:nvSpPr>
          <p:cNvPr id="393" name="T8051"/>
          <p:cNvSpPr/>
          <p:nvPr/>
        </p:nvSpPr>
        <p:spPr>
          <a:xfrm>
            <a:off x="11438255" y="1072515"/>
            <a:ext cx="346710" cy="17399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6.6M</a:t>
            </a:r>
            <a:endParaRPr lang="zh-CN" sz="570" dirty="0"/>
          </a:p>
        </p:txBody>
      </p:sp>
      <p:sp>
        <p:nvSpPr>
          <p:cNvPr id="394" name="T8052"/>
          <p:cNvSpPr/>
          <p:nvPr/>
        </p:nvSpPr>
        <p:spPr>
          <a:xfrm>
            <a:off x="11446941" y="1246134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18件</a:t>
            </a:r>
            <a:endParaRPr lang="zh-CN" sz="500" dirty="0"/>
          </a:p>
        </p:txBody>
      </p:sp>
      <p:sp>
        <p:nvSpPr>
          <p:cNvPr id="395" name="T8053"/>
          <p:cNvSpPr/>
          <p:nvPr/>
        </p:nvSpPr>
        <p:spPr>
          <a:xfrm>
            <a:off x="6254496" y="1362134"/>
            <a:ext cx="502445" cy="290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CN" sz="68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BK业务</a:t>
            </a:r>
            <a:endParaRPr lang="zh-CN" sz="680" dirty="0"/>
          </a:p>
        </p:txBody>
      </p:sp>
      <p:sp>
        <p:nvSpPr>
          <p:cNvPr id="396" name="R8054"/>
          <p:cNvSpPr/>
          <p:nvPr/>
        </p:nvSpPr>
        <p:spPr>
          <a:xfrm>
            <a:off x="6766941" y="1362134"/>
            <a:ext cx="390000" cy="290000"/>
          </a:xfrm>
          <a:prstGeom prst="rect">
            <a:avLst/>
          </a:prstGeom>
          <a:solidFill>
            <a:srgbClr val="1F3864">
              <a:alpha val="23736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397" name="T8055"/>
          <p:cNvSpPr/>
          <p:nvPr/>
        </p:nvSpPr>
        <p:spPr>
          <a:xfrm>
            <a:off x="6766941" y="1362134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0.8M</a:t>
            </a:r>
            <a:endParaRPr lang="zh-CN" sz="570" dirty="0"/>
          </a:p>
        </p:txBody>
      </p:sp>
      <p:sp>
        <p:nvSpPr>
          <p:cNvPr id="398" name="T8056"/>
          <p:cNvSpPr/>
          <p:nvPr/>
        </p:nvSpPr>
        <p:spPr>
          <a:xfrm>
            <a:off x="6766941" y="1536134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1件</a:t>
            </a:r>
            <a:endParaRPr lang="zh-CN" sz="500" dirty="0"/>
          </a:p>
        </p:txBody>
      </p:sp>
      <p:sp>
        <p:nvSpPr>
          <p:cNvPr id="399" name="R8057"/>
          <p:cNvSpPr/>
          <p:nvPr/>
        </p:nvSpPr>
        <p:spPr>
          <a:xfrm>
            <a:off x="7156941" y="1362134"/>
            <a:ext cx="390000" cy="290000"/>
          </a:xfrm>
          <a:prstGeom prst="rect">
            <a:avLst/>
          </a:prstGeom>
          <a:solidFill>
            <a:srgbClr val="1F3864">
              <a:alpha val="56376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400" name="T8058"/>
          <p:cNvSpPr/>
          <p:nvPr/>
        </p:nvSpPr>
        <p:spPr>
          <a:xfrm>
            <a:off x="7156941" y="1362134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3.7M</a:t>
            </a:r>
            <a:endParaRPr lang="zh-CN" sz="570" dirty="0"/>
          </a:p>
        </p:txBody>
      </p:sp>
      <p:sp>
        <p:nvSpPr>
          <p:cNvPr id="401" name="T8059"/>
          <p:cNvSpPr/>
          <p:nvPr/>
        </p:nvSpPr>
        <p:spPr>
          <a:xfrm>
            <a:off x="7156941" y="1536134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3件</a:t>
            </a:r>
            <a:endParaRPr lang="zh-CN" sz="500" dirty="0"/>
          </a:p>
        </p:txBody>
      </p:sp>
      <p:sp>
        <p:nvSpPr>
          <p:cNvPr id="402" name="R8060"/>
          <p:cNvSpPr/>
          <p:nvPr/>
        </p:nvSpPr>
        <p:spPr>
          <a:xfrm>
            <a:off x="7546941" y="1362134"/>
            <a:ext cx="390000" cy="290000"/>
          </a:xfrm>
          <a:prstGeom prst="rect">
            <a:avLst/>
          </a:prstGeom>
          <a:solidFill>
            <a:srgbClr val="1F3864">
              <a:alpha val="78217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403" name="T8061"/>
          <p:cNvSpPr/>
          <p:nvPr/>
        </p:nvSpPr>
        <p:spPr>
          <a:xfrm>
            <a:off x="7546941" y="1362134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5.6M</a:t>
            </a:r>
            <a:endParaRPr lang="zh-CN" sz="570" dirty="0"/>
          </a:p>
        </p:txBody>
      </p:sp>
      <p:sp>
        <p:nvSpPr>
          <p:cNvPr id="404" name="T8062"/>
          <p:cNvSpPr/>
          <p:nvPr/>
        </p:nvSpPr>
        <p:spPr>
          <a:xfrm>
            <a:off x="7546941" y="1536134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6件</a:t>
            </a:r>
            <a:endParaRPr lang="zh-CN" sz="500" dirty="0"/>
          </a:p>
        </p:txBody>
      </p:sp>
      <p:sp>
        <p:nvSpPr>
          <p:cNvPr id="405" name="R8063"/>
          <p:cNvSpPr/>
          <p:nvPr/>
        </p:nvSpPr>
        <p:spPr>
          <a:xfrm>
            <a:off x="7936941" y="1362134"/>
            <a:ext cx="390000" cy="290000"/>
          </a:xfrm>
          <a:prstGeom prst="rect">
            <a:avLst/>
          </a:prstGeom>
          <a:solidFill>
            <a:srgbClr val="1F3864">
              <a:alpha val="45577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406" name="T8064"/>
          <p:cNvSpPr/>
          <p:nvPr/>
        </p:nvSpPr>
        <p:spPr>
          <a:xfrm>
            <a:off x="7936941" y="1362134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2.7M</a:t>
            </a:r>
            <a:endParaRPr lang="zh-CN" sz="570" dirty="0"/>
          </a:p>
        </p:txBody>
      </p:sp>
      <p:sp>
        <p:nvSpPr>
          <p:cNvPr id="407" name="T8065"/>
          <p:cNvSpPr/>
          <p:nvPr/>
        </p:nvSpPr>
        <p:spPr>
          <a:xfrm>
            <a:off x="7936941" y="1536134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6件</a:t>
            </a:r>
            <a:endParaRPr lang="zh-CN" sz="500" dirty="0"/>
          </a:p>
        </p:txBody>
      </p:sp>
      <p:sp>
        <p:nvSpPr>
          <p:cNvPr id="408" name="R8066"/>
          <p:cNvSpPr/>
          <p:nvPr/>
        </p:nvSpPr>
        <p:spPr>
          <a:xfrm>
            <a:off x="8326941" y="1362134"/>
            <a:ext cx="390000" cy="290000"/>
          </a:xfrm>
          <a:prstGeom prst="rect">
            <a:avLst/>
          </a:prstGeom>
          <a:solidFill>
            <a:srgbClr val="1F3864">
              <a:alpha val="39462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409" name="T8067"/>
          <p:cNvSpPr/>
          <p:nvPr/>
        </p:nvSpPr>
        <p:spPr>
          <a:xfrm>
            <a:off x="8326941" y="1362134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2.2M</a:t>
            </a:r>
            <a:endParaRPr lang="zh-CN" sz="570" dirty="0"/>
          </a:p>
        </p:txBody>
      </p:sp>
      <p:sp>
        <p:nvSpPr>
          <p:cNvPr id="410" name="T8068"/>
          <p:cNvSpPr/>
          <p:nvPr/>
        </p:nvSpPr>
        <p:spPr>
          <a:xfrm>
            <a:off x="8326941" y="1536134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4件</a:t>
            </a:r>
            <a:endParaRPr lang="zh-CN" sz="500" dirty="0"/>
          </a:p>
        </p:txBody>
      </p:sp>
      <p:sp>
        <p:nvSpPr>
          <p:cNvPr id="411" name="R8069"/>
          <p:cNvSpPr/>
          <p:nvPr/>
        </p:nvSpPr>
        <p:spPr>
          <a:xfrm>
            <a:off x="8716941" y="1362134"/>
            <a:ext cx="390000" cy="290000"/>
          </a:xfrm>
          <a:prstGeom prst="rect">
            <a:avLst/>
          </a:prstGeom>
          <a:solidFill>
            <a:srgbClr val="1F3864">
              <a:alpha val="80000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412" name="T8070"/>
          <p:cNvSpPr/>
          <p:nvPr/>
        </p:nvSpPr>
        <p:spPr>
          <a:xfrm>
            <a:off x="8716941" y="1362134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5.8M</a:t>
            </a:r>
            <a:endParaRPr lang="zh-CN" sz="570" dirty="0"/>
          </a:p>
        </p:txBody>
      </p:sp>
      <p:sp>
        <p:nvSpPr>
          <p:cNvPr id="413" name="T8071"/>
          <p:cNvSpPr/>
          <p:nvPr/>
        </p:nvSpPr>
        <p:spPr>
          <a:xfrm>
            <a:off x="8716941" y="1536134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5件</a:t>
            </a:r>
            <a:endParaRPr lang="zh-CN" sz="500" dirty="0"/>
          </a:p>
        </p:txBody>
      </p:sp>
      <p:sp>
        <p:nvSpPr>
          <p:cNvPr id="414" name="R8072"/>
          <p:cNvSpPr/>
          <p:nvPr/>
        </p:nvSpPr>
        <p:spPr>
          <a:xfrm>
            <a:off x="9106941" y="1362134"/>
            <a:ext cx="390000" cy="290000"/>
          </a:xfrm>
          <a:prstGeom prst="rect">
            <a:avLst/>
          </a:prstGeom>
          <a:solidFill>
            <a:srgbClr val="1F3864">
              <a:alpha val="19368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415" name="T8073"/>
          <p:cNvSpPr/>
          <p:nvPr/>
        </p:nvSpPr>
        <p:spPr>
          <a:xfrm>
            <a:off x="9106941" y="1362134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0.4M</a:t>
            </a:r>
            <a:endParaRPr lang="zh-CN" sz="570" dirty="0"/>
          </a:p>
        </p:txBody>
      </p:sp>
      <p:sp>
        <p:nvSpPr>
          <p:cNvPr id="416" name="T8074"/>
          <p:cNvSpPr/>
          <p:nvPr/>
        </p:nvSpPr>
        <p:spPr>
          <a:xfrm>
            <a:off x="9106941" y="1536134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1件</a:t>
            </a:r>
            <a:endParaRPr lang="zh-CN" sz="500" dirty="0"/>
          </a:p>
        </p:txBody>
      </p:sp>
      <p:sp>
        <p:nvSpPr>
          <p:cNvPr id="417" name="R8075"/>
          <p:cNvSpPr/>
          <p:nvPr/>
        </p:nvSpPr>
        <p:spPr>
          <a:xfrm>
            <a:off x="9496941" y="1362134"/>
            <a:ext cx="390000" cy="290000"/>
          </a:xfrm>
          <a:prstGeom prst="rect">
            <a:avLst/>
          </a:prstGeom>
          <a:solidFill>
            <a:srgbClr val="E8ECF0">
              <a:alpha val="30000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418" name="R8076"/>
          <p:cNvSpPr/>
          <p:nvPr/>
        </p:nvSpPr>
        <p:spPr>
          <a:xfrm>
            <a:off x="9886941" y="1362134"/>
            <a:ext cx="390000" cy="290000"/>
          </a:xfrm>
          <a:prstGeom prst="rect">
            <a:avLst/>
          </a:prstGeom>
          <a:solidFill>
            <a:srgbClr val="1F3864">
              <a:alpha val="36841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419" name="T8077"/>
          <p:cNvSpPr/>
          <p:nvPr/>
        </p:nvSpPr>
        <p:spPr>
          <a:xfrm>
            <a:off x="9886941" y="1362134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1.9M</a:t>
            </a:r>
            <a:endParaRPr lang="zh-CN" sz="570" dirty="0"/>
          </a:p>
        </p:txBody>
      </p:sp>
      <p:sp>
        <p:nvSpPr>
          <p:cNvPr id="420" name="T8078"/>
          <p:cNvSpPr/>
          <p:nvPr/>
        </p:nvSpPr>
        <p:spPr>
          <a:xfrm>
            <a:off x="9886941" y="1536134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4件</a:t>
            </a:r>
            <a:endParaRPr lang="zh-CN" sz="500" dirty="0"/>
          </a:p>
        </p:txBody>
      </p:sp>
      <p:sp>
        <p:nvSpPr>
          <p:cNvPr id="421" name="R8079"/>
          <p:cNvSpPr/>
          <p:nvPr/>
        </p:nvSpPr>
        <p:spPr>
          <a:xfrm>
            <a:off x="10276941" y="1362134"/>
            <a:ext cx="390000" cy="290000"/>
          </a:xfrm>
          <a:prstGeom prst="rect">
            <a:avLst/>
          </a:prstGeom>
          <a:solidFill>
            <a:srgbClr val="1F3864">
              <a:alpha val="36841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422" name="T8080"/>
          <p:cNvSpPr/>
          <p:nvPr/>
        </p:nvSpPr>
        <p:spPr>
          <a:xfrm>
            <a:off x="10276941" y="1362134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1.9M</a:t>
            </a:r>
            <a:endParaRPr lang="zh-CN" sz="570" dirty="0"/>
          </a:p>
        </p:txBody>
      </p:sp>
      <p:sp>
        <p:nvSpPr>
          <p:cNvPr id="423" name="T8081"/>
          <p:cNvSpPr/>
          <p:nvPr/>
        </p:nvSpPr>
        <p:spPr>
          <a:xfrm>
            <a:off x="10276941" y="1536134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2件</a:t>
            </a:r>
            <a:endParaRPr lang="zh-CN" sz="500" dirty="0"/>
          </a:p>
        </p:txBody>
      </p:sp>
      <p:sp>
        <p:nvSpPr>
          <p:cNvPr id="424" name="R8082"/>
          <p:cNvSpPr/>
          <p:nvPr/>
        </p:nvSpPr>
        <p:spPr>
          <a:xfrm>
            <a:off x="10666941" y="1362134"/>
            <a:ext cx="390000" cy="290000"/>
          </a:xfrm>
          <a:prstGeom prst="rect">
            <a:avLst/>
          </a:prstGeom>
          <a:solidFill>
            <a:srgbClr val="1F3864">
              <a:alpha val="76155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425" name="T8083"/>
          <p:cNvSpPr/>
          <p:nvPr/>
        </p:nvSpPr>
        <p:spPr>
          <a:xfrm>
            <a:off x="10666941" y="1362134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4.7M</a:t>
            </a:r>
            <a:endParaRPr lang="zh-CN" sz="570" dirty="0"/>
          </a:p>
        </p:txBody>
      </p:sp>
      <p:sp>
        <p:nvSpPr>
          <p:cNvPr id="426" name="T8084"/>
          <p:cNvSpPr/>
          <p:nvPr/>
        </p:nvSpPr>
        <p:spPr>
          <a:xfrm>
            <a:off x="10666941" y="1536134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4件</a:t>
            </a:r>
            <a:endParaRPr lang="zh-CN" sz="500" dirty="0"/>
          </a:p>
        </p:txBody>
      </p:sp>
      <p:sp>
        <p:nvSpPr>
          <p:cNvPr id="427" name="R8085"/>
          <p:cNvSpPr/>
          <p:nvPr/>
        </p:nvSpPr>
        <p:spPr>
          <a:xfrm>
            <a:off x="11056941" y="1362134"/>
            <a:ext cx="390000" cy="290000"/>
          </a:xfrm>
          <a:prstGeom prst="rect">
            <a:avLst/>
          </a:prstGeom>
          <a:solidFill>
            <a:srgbClr val="1F3864">
              <a:alpha val="45577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428" name="T8086"/>
          <p:cNvSpPr/>
          <p:nvPr/>
        </p:nvSpPr>
        <p:spPr>
          <a:xfrm>
            <a:off x="11056941" y="1362134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2.7M</a:t>
            </a:r>
            <a:endParaRPr lang="zh-CN" sz="570" dirty="0"/>
          </a:p>
        </p:txBody>
      </p:sp>
      <p:sp>
        <p:nvSpPr>
          <p:cNvPr id="429" name="T8087"/>
          <p:cNvSpPr/>
          <p:nvPr/>
        </p:nvSpPr>
        <p:spPr>
          <a:xfrm>
            <a:off x="11056941" y="1536134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5件</a:t>
            </a:r>
            <a:endParaRPr lang="zh-CN" sz="500" dirty="0"/>
          </a:p>
        </p:txBody>
      </p:sp>
      <p:sp>
        <p:nvSpPr>
          <p:cNvPr id="430" name="R8088"/>
          <p:cNvSpPr/>
          <p:nvPr/>
        </p:nvSpPr>
        <p:spPr>
          <a:xfrm>
            <a:off x="11446941" y="1362134"/>
            <a:ext cx="390000" cy="290000"/>
          </a:xfrm>
          <a:prstGeom prst="rect">
            <a:avLst/>
          </a:prstGeom>
          <a:solidFill>
            <a:srgbClr val="808FA7"/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431" name="T8089"/>
          <p:cNvSpPr/>
          <p:nvPr/>
        </p:nvSpPr>
        <p:spPr>
          <a:xfrm>
            <a:off x="11446941" y="1362134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3.5M</a:t>
            </a:r>
            <a:endParaRPr lang="zh-CN" sz="570" dirty="0"/>
          </a:p>
        </p:txBody>
      </p:sp>
      <p:sp>
        <p:nvSpPr>
          <p:cNvPr id="432" name="T8090"/>
          <p:cNvSpPr/>
          <p:nvPr/>
        </p:nvSpPr>
        <p:spPr>
          <a:xfrm>
            <a:off x="11481435" y="1526540"/>
            <a:ext cx="298450" cy="10731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6件</a:t>
            </a:r>
            <a:endParaRPr lang="zh-CN" sz="500" dirty="0"/>
          </a:p>
        </p:txBody>
      </p:sp>
      <p:sp>
        <p:nvSpPr>
          <p:cNvPr id="433" name="T8091"/>
          <p:cNvSpPr/>
          <p:nvPr/>
        </p:nvSpPr>
        <p:spPr>
          <a:xfrm>
            <a:off x="6254496" y="1652134"/>
            <a:ext cx="502445" cy="290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CN" sz="68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天领业务</a:t>
            </a:r>
            <a:endParaRPr lang="zh-CN" sz="680" dirty="0"/>
          </a:p>
        </p:txBody>
      </p:sp>
      <p:sp>
        <p:nvSpPr>
          <p:cNvPr id="434" name="R8092"/>
          <p:cNvSpPr/>
          <p:nvPr/>
        </p:nvSpPr>
        <p:spPr>
          <a:xfrm>
            <a:off x="6766941" y="1652134"/>
            <a:ext cx="390000" cy="290000"/>
          </a:xfrm>
          <a:prstGeom prst="rect">
            <a:avLst/>
          </a:prstGeom>
          <a:solidFill>
            <a:srgbClr val="2980B9">
              <a:alpha val="17339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435" name="T8093"/>
          <p:cNvSpPr/>
          <p:nvPr/>
        </p:nvSpPr>
        <p:spPr>
          <a:xfrm>
            <a:off x="6766941" y="1652134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2980B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0.2M</a:t>
            </a:r>
            <a:endParaRPr lang="zh-CN" sz="570" dirty="0"/>
          </a:p>
        </p:txBody>
      </p:sp>
      <p:sp>
        <p:nvSpPr>
          <p:cNvPr id="436" name="T8094"/>
          <p:cNvSpPr/>
          <p:nvPr/>
        </p:nvSpPr>
        <p:spPr>
          <a:xfrm>
            <a:off x="6766941" y="1826134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2980B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1件</a:t>
            </a:r>
            <a:endParaRPr lang="zh-CN" sz="500" dirty="0"/>
          </a:p>
        </p:txBody>
      </p:sp>
      <p:sp>
        <p:nvSpPr>
          <p:cNvPr id="437" name="R8095"/>
          <p:cNvSpPr/>
          <p:nvPr/>
        </p:nvSpPr>
        <p:spPr>
          <a:xfrm>
            <a:off x="7156941" y="1652134"/>
            <a:ext cx="390000" cy="290000"/>
          </a:xfrm>
          <a:prstGeom prst="rect">
            <a:avLst/>
          </a:prstGeom>
          <a:solidFill>
            <a:srgbClr val="E8ECF0">
              <a:alpha val="30000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438" name="R8096"/>
          <p:cNvSpPr/>
          <p:nvPr/>
        </p:nvSpPr>
        <p:spPr>
          <a:xfrm>
            <a:off x="7546941" y="1652134"/>
            <a:ext cx="390000" cy="290000"/>
          </a:xfrm>
          <a:prstGeom prst="rect">
            <a:avLst/>
          </a:prstGeom>
          <a:solidFill>
            <a:srgbClr val="2980B9">
              <a:alpha val="39259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439" name="T8097"/>
          <p:cNvSpPr/>
          <p:nvPr/>
        </p:nvSpPr>
        <p:spPr>
          <a:xfrm>
            <a:off x="7546941" y="1652134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2980B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2.0M</a:t>
            </a:r>
            <a:endParaRPr lang="zh-CN" sz="570" dirty="0"/>
          </a:p>
        </p:txBody>
      </p:sp>
      <p:sp>
        <p:nvSpPr>
          <p:cNvPr id="440" name="T8098"/>
          <p:cNvSpPr/>
          <p:nvPr/>
        </p:nvSpPr>
        <p:spPr>
          <a:xfrm>
            <a:off x="7546941" y="1826134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2980B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15件</a:t>
            </a:r>
            <a:endParaRPr lang="zh-CN" sz="500" dirty="0"/>
          </a:p>
        </p:txBody>
      </p:sp>
      <p:sp>
        <p:nvSpPr>
          <p:cNvPr id="441" name="R8099"/>
          <p:cNvSpPr/>
          <p:nvPr/>
        </p:nvSpPr>
        <p:spPr>
          <a:xfrm>
            <a:off x="7936941" y="1652134"/>
            <a:ext cx="390000" cy="290000"/>
          </a:xfrm>
          <a:prstGeom prst="rect">
            <a:avLst/>
          </a:prstGeom>
          <a:solidFill>
            <a:srgbClr val="2980B9">
              <a:alpha val="47886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442" name="T8100"/>
          <p:cNvSpPr/>
          <p:nvPr/>
        </p:nvSpPr>
        <p:spPr>
          <a:xfrm>
            <a:off x="7936941" y="1652134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2980B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2.7M</a:t>
            </a:r>
            <a:endParaRPr lang="zh-CN" sz="570" dirty="0"/>
          </a:p>
        </p:txBody>
      </p:sp>
      <p:sp>
        <p:nvSpPr>
          <p:cNvPr id="443" name="T8101"/>
          <p:cNvSpPr/>
          <p:nvPr/>
        </p:nvSpPr>
        <p:spPr>
          <a:xfrm>
            <a:off x="7936941" y="1826134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2980B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7件</a:t>
            </a:r>
            <a:endParaRPr lang="zh-CN" sz="500" dirty="0"/>
          </a:p>
        </p:txBody>
      </p:sp>
      <p:sp>
        <p:nvSpPr>
          <p:cNvPr id="444" name="R8102"/>
          <p:cNvSpPr/>
          <p:nvPr/>
        </p:nvSpPr>
        <p:spPr>
          <a:xfrm>
            <a:off x="8326941" y="1652134"/>
            <a:ext cx="390000" cy="290000"/>
          </a:xfrm>
          <a:prstGeom prst="rect">
            <a:avLst/>
          </a:prstGeom>
          <a:solidFill>
            <a:srgbClr val="2980B9">
              <a:alpha val="80000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445" name="T8103"/>
          <p:cNvSpPr/>
          <p:nvPr/>
        </p:nvSpPr>
        <p:spPr>
          <a:xfrm>
            <a:off x="8326941" y="1652134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5.4M</a:t>
            </a:r>
            <a:endParaRPr lang="zh-CN" sz="570" dirty="0"/>
          </a:p>
        </p:txBody>
      </p:sp>
      <p:sp>
        <p:nvSpPr>
          <p:cNvPr id="446" name="T8104"/>
          <p:cNvSpPr/>
          <p:nvPr/>
        </p:nvSpPr>
        <p:spPr>
          <a:xfrm>
            <a:off x="8326941" y="1826134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5件</a:t>
            </a:r>
            <a:endParaRPr lang="zh-CN" sz="500" dirty="0"/>
          </a:p>
        </p:txBody>
      </p:sp>
      <p:sp>
        <p:nvSpPr>
          <p:cNvPr id="447" name="R8105"/>
          <p:cNvSpPr/>
          <p:nvPr/>
        </p:nvSpPr>
        <p:spPr>
          <a:xfrm>
            <a:off x="8716941" y="1652134"/>
            <a:ext cx="390000" cy="290000"/>
          </a:xfrm>
          <a:prstGeom prst="rect">
            <a:avLst/>
          </a:prstGeom>
          <a:solidFill>
            <a:srgbClr val="2980B9">
              <a:alpha val="48054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448" name="T8106"/>
          <p:cNvSpPr/>
          <p:nvPr/>
        </p:nvSpPr>
        <p:spPr>
          <a:xfrm>
            <a:off x="8716941" y="1652134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2980B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2.8M</a:t>
            </a:r>
            <a:endParaRPr lang="zh-CN" sz="570" dirty="0"/>
          </a:p>
        </p:txBody>
      </p:sp>
      <p:sp>
        <p:nvSpPr>
          <p:cNvPr id="449" name="T8107"/>
          <p:cNvSpPr/>
          <p:nvPr/>
        </p:nvSpPr>
        <p:spPr>
          <a:xfrm>
            <a:off x="8716941" y="1826134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2980B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3件</a:t>
            </a:r>
            <a:endParaRPr lang="zh-CN" sz="500" dirty="0"/>
          </a:p>
        </p:txBody>
      </p:sp>
      <p:sp>
        <p:nvSpPr>
          <p:cNvPr id="450" name="R8108"/>
          <p:cNvSpPr/>
          <p:nvPr/>
        </p:nvSpPr>
        <p:spPr>
          <a:xfrm>
            <a:off x="9106941" y="1652134"/>
            <a:ext cx="390000" cy="290000"/>
          </a:xfrm>
          <a:prstGeom prst="rect">
            <a:avLst/>
          </a:prstGeom>
          <a:solidFill>
            <a:srgbClr val="2980B9">
              <a:alpha val="17807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451" name="T8109"/>
          <p:cNvSpPr/>
          <p:nvPr/>
        </p:nvSpPr>
        <p:spPr>
          <a:xfrm>
            <a:off x="9106941" y="1652134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2980B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0.2M</a:t>
            </a:r>
            <a:endParaRPr lang="zh-CN" sz="570" dirty="0"/>
          </a:p>
        </p:txBody>
      </p:sp>
      <p:sp>
        <p:nvSpPr>
          <p:cNvPr id="452" name="T8110"/>
          <p:cNvSpPr/>
          <p:nvPr/>
        </p:nvSpPr>
        <p:spPr>
          <a:xfrm>
            <a:off x="9106941" y="1826134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2980B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1件</a:t>
            </a:r>
            <a:endParaRPr lang="zh-CN" sz="500" dirty="0"/>
          </a:p>
        </p:txBody>
      </p:sp>
      <p:sp>
        <p:nvSpPr>
          <p:cNvPr id="453" name="R8111"/>
          <p:cNvSpPr/>
          <p:nvPr/>
        </p:nvSpPr>
        <p:spPr>
          <a:xfrm>
            <a:off x="9496941" y="1652134"/>
            <a:ext cx="390000" cy="290000"/>
          </a:xfrm>
          <a:prstGeom prst="rect">
            <a:avLst/>
          </a:prstGeom>
          <a:solidFill>
            <a:srgbClr val="2980B9">
              <a:alpha val="59585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454" name="T8112"/>
          <p:cNvSpPr/>
          <p:nvPr/>
        </p:nvSpPr>
        <p:spPr>
          <a:xfrm>
            <a:off x="9496941" y="1652134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3.7M</a:t>
            </a:r>
            <a:endParaRPr lang="zh-CN" sz="570" dirty="0"/>
          </a:p>
        </p:txBody>
      </p:sp>
      <p:sp>
        <p:nvSpPr>
          <p:cNvPr id="455" name="T8113"/>
          <p:cNvSpPr/>
          <p:nvPr/>
        </p:nvSpPr>
        <p:spPr>
          <a:xfrm>
            <a:off x="9496941" y="1826134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15件</a:t>
            </a:r>
            <a:endParaRPr lang="zh-CN" sz="500" dirty="0"/>
          </a:p>
        </p:txBody>
      </p:sp>
      <p:sp>
        <p:nvSpPr>
          <p:cNvPr id="456" name="R8114"/>
          <p:cNvSpPr/>
          <p:nvPr/>
        </p:nvSpPr>
        <p:spPr>
          <a:xfrm>
            <a:off x="9886941" y="1652134"/>
            <a:ext cx="390000" cy="290000"/>
          </a:xfrm>
          <a:prstGeom prst="rect">
            <a:avLst/>
          </a:prstGeom>
          <a:solidFill>
            <a:srgbClr val="2980B9">
              <a:alpha val="15935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457" name="T8115"/>
          <p:cNvSpPr/>
          <p:nvPr/>
        </p:nvSpPr>
        <p:spPr>
          <a:xfrm>
            <a:off x="9886941" y="1652134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2980B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0.1M</a:t>
            </a:r>
            <a:endParaRPr lang="zh-CN" sz="570" dirty="0"/>
          </a:p>
        </p:txBody>
      </p:sp>
      <p:sp>
        <p:nvSpPr>
          <p:cNvPr id="458" name="T8116"/>
          <p:cNvSpPr/>
          <p:nvPr/>
        </p:nvSpPr>
        <p:spPr>
          <a:xfrm>
            <a:off x="9886941" y="1826134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2980B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1件</a:t>
            </a:r>
            <a:endParaRPr lang="zh-CN" sz="500" dirty="0"/>
          </a:p>
        </p:txBody>
      </p:sp>
      <p:sp>
        <p:nvSpPr>
          <p:cNvPr id="459" name="R8117"/>
          <p:cNvSpPr/>
          <p:nvPr/>
        </p:nvSpPr>
        <p:spPr>
          <a:xfrm>
            <a:off x="10276941" y="1652134"/>
            <a:ext cx="390000" cy="290000"/>
          </a:xfrm>
          <a:prstGeom prst="rect">
            <a:avLst/>
          </a:prstGeom>
          <a:solidFill>
            <a:srgbClr val="2980B9">
              <a:alpha val="24358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460" name="T8118"/>
          <p:cNvSpPr/>
          <p:nvPr/>
        </p:nvSpPr>
        <p:spPr>
          <a:xfrm>
            <a:off x="10276941" y="1652134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2980B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0.8M</a:t>
            </a:r>
            <a:endParaRPr lang="zh-CN" sz="570" dirty="0"/>
          </a:p>
        </p:txBody>
      </p:sp>
      <p:sp>
        <p:nvSpPr>
          <p:cNvPr id="461" name="T8119"/>
          <p:cNvSpPr/>
          <p:nvPr/>
        </p:nvSpPr>
        <p:spPr>
          <a:xfrm>
            <a:off x="10276941" y="1826134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2980B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1件</a:t>
            </a:r>
            <a:endParaRPr lang="zh-CN" sz="500" dirty="0"/>
          </a:p>
        </p:txBody>
      </p:sp>
      <p:sp>
        <p:nvSpPr>
          <p:cNvPr id="462" name="R8120"/>
          <p:cNvSpPr/>
          <p:nvPr/>
        </p:nvSpPr>
        <p:spPr>
          <a:xfrm>
            <a:off x="10666941" y="1652134"/>
            <a:ext cx="390000" cy="290000"/>
          </a:xfrm>
          <a:prstGeom prst="rect">
            <a:avLst/>
          </a:prstGeom>
          <a:solidFill>
            <a:srgbClr val="2980B9">
              <a:alpha val="67313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463" name="T8121"/>
          <p:cNvSpPr/>
          <p:nvPr/>
        </p:nvSpPr>
        <p:spPr>
          <a:xfrm>
            <a:off x="10666941" y="1652134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4.4M</a:t>
            </a:r>
            <a:endParaRPr lang="zh-CN" sz="570" dirty="0"/>
          </a:p>
        </p:txBody>
      </p:sp>
      <p:sp>
        <p:nvSpPr>
          <p:cNvPr id="464" name="T8122"/>
          <p:cNvSpPr/>
          <p:nvPr/>
        </p:nvSpPr>
        <p:spPr>
          <a:xfrm>
            <a:off x="10666941" y="1826134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8件</a:t>
            </a:r>
            <a:endParaRPr lang="zh-CN" sz="500" dirty="0"/>
          </a:p>
        </p:txBody>
      </p:sp>
      <p:sp>
        <p:nvSpPr>
          <p:cNvPr id="465" name="R8123"/>
          <p:cNvSpPr/>
          <p:nvPr/>
        </p:nvSpPr>
        <p:spPr>
          <a:xfrm>
            <a:off x="11056941" y="1652134"/>
            <a:ext cx="390000" cy="290000"/>
          </a:xfrm>
          <a:prstGeom prst="rect">
            <a:avLst/>
          </a:prstGeom>
          <a:solidFill>
            <a:srgbClr val="2980B9">
              <a:alpha val="37460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466" name="T8124"/>
          <p:cNvSpPr/>
          <p:nvPr/>
        </p:nvSpPr>
        <p:spPr>
          <a:xfrm>
            <a:off x="11056941" y="1652134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2980B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3.0M</a:t>
            </a:r>
            <a:endParaRPr lang="zh-CN" sz="570" dirty="0"/>
          </a:p>
        </p:txBody>
      </p:sp>
      <p:sp>
        <p:nvSpPr>
          <p:cNvPr id="467" name="T8125"/>
          <p:cNvSpPr/>
          <p:nvPr/>
        </p:nvSpPr>
        <p:spPr>
          <a:xfrm>
            <a:off x="11056941" y="1826134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2980B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10件</a:t>
            </a:r>
            <a:endParaRPr lang="zh-CN" sz="500" dirty="0"/>
          </a:p>
        </p:txBody>
      </p:sp>
      <p:sp>
        <p:nvSpPr>
          <p:cNvPr id="468" name="R8126"/>
          <p:cNvSpPr/>
          <p:nvPr/>
        </p:nvSpPr>
        <p:spPr>
          <a:xfrm>
            <a:off x="11446941" y="1652134"/>
            <a:ext cx="390000" cy="290000"/>
          </a:xfrm>
          <a:prstGeom prst="rect">
            <a:avLst/>
          </a:prstGeom>
          <a:solidFill>
            <a:srgbClr val="6FA9D0"/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469" name="T8127"/>
          <p:cNvSpPr/>
          <p:nvPr/>
        </p:nvSpPr>
        <p:spPr>
          <a:xfrm>
            <a:off x="11446941" y="1652134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4.6M</a:t>
            </a:r>
            <a:endParaRPr lang="zh-CN" sz="570" dirty="0"/>
          </a:p>
        </p:txBody>
      </p:sp>
      <p:sp>
        <p:nvSpPr>
          <p:cNvPr id="473" name="T8128"/>
          <p:cNvSpPr/>
          <p:nvPr/>
        </p:nvSpPr>
        <p:spPr>
          <a:xfrm>
            <a:off x="11532870" y="1834515"/>
            <a:ext cx="219710" cy="1079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12件</a:t>
            </a:r>
            <a:endParaRPr lang="zh-CN" sz="500" dirty="0"/>
          </a:p>
        </p:txBody>
      </p:sp>
      <p:sp>
        <p:nvSpPr>
          <p:cNvPr id="474" name="T8129"/>
          <p:cNvSpPr/>
          <p:nvPr/>
        </p:nvSpPr>
        <p:spPr>
          <a:xfrm>
            <a:off x="6254496" y="1942134"/>
            <a:ext cx="502445" cy="290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CN" sz="68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同行经代</a:t>
            </a:r>
            <a:endParaRPr lang="zh-CN" sz="680" dirty="0"/>
          </a:p>
        </p:txBody>
      </p:sp>
      <p:sp>
        <p:nvSpPr>
          <p:cNvPr id="475" name="R8130"/>
          <p:cNvSpPr/>
          <p:nvPr/>
        </p:nvSpPr>
        <p:spPr>
          <a:xfrm>
            <a:off x="6766941" y="1942134"/>
            <a:ext cx="390000" cy="290000"/>
          </a:xfrm>
          <a:prstGeom prst="rect">
            <a:avLst/>
          </a:prstGeom>
          <a:solidFill>
            <a:srgbClr val="E67E22">
              <a:alpha val="17457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476" name="T8131"/>
          <p:cNvSpPr/>
          <p:nvPr/>
        </p:nvSpPr>
        <p:spPr>
          <a:xfrm>
            <a:off x="6766941" y="1942134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E67E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0.2M</a:t>
            </a:r>
            <a:endParaRPr lang="zh-CN" sz="570" dirty="0"/>
          </a:p>
        </p:txBody>
      </p:sp>
      <p:sp>
        <p:nvSpPr>
          <p:cNvPr id="477" name="T8132"/>
          <p:cNvSpPr/>
          <p:nvPr/>
        </p:nvSpPr>
        <p:spPr>
          <a:xfrm>
            <a:off x="6766941" y="2116134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E67E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1件</a:t>
            </a:r>
            <a:endParaRPr lang="zh-CN" sz="500" dirty="0"/>
          </a:p>
        </p:txBody>
      </p:sp>
      <p:sp>
        <p:nvSpPr>
          <p:cNvPr id="478" name="R8133"/>
          <p:cNvSpPr/>
          <p:nvPr/>
        </p:nvSpPr>
        <p:spPr>
          <a:xfrm>
            <a:off x="7156941" y="1942134"/>
            <a:ext cx="390000" cy="290000"/>
          </a:xfrm>
          <a:prstGeom prst="rect">
            <a:avLst/>
          </a:prstGeom>
          <a:solidFill>
            <a:srgbClr val="E67E22">
              <a:alpha val="18686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479" name="T8134"/>
          <p:cNvSpPr/>
          <p:nvPr/>
        </p:nvSpPr>
        <p:spPr>
          <a:xfrm>
            <a:off x="7156941" y="1942134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E67E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0.2M</a:t>
            </a:r>
            <a:endParaRPr lang="zh-CN" sz="570" dirty="0"/>
          </a:p>
        </p:txBody>
      </p:sp>
      <p:sp>
        <p:nvSpPr>
          <p:cNvPr id="480" name="T8135"/>
          <p:cNvSpPr/>
          <p:nvPr/>
        </p:nvSpPr>
        <p:spPr>
          <a:xfrm>
            <a:off x="7156941" y="2116134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E67E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1件</a:t>
            </a:r>
            <a:endParaRPr lang="zh-CN" sz="500" dirty="0"/>
          </a:p>
        </p:txBody>
      </p:sp>
      <p:sp>
        <p:nvSpPr>
          <p:cNvPr id="481" name="R8136"/>
          <p:cNvSpPr/>
          <p:nvPr/>
        </p:nvSpPr>
        <p:spPr>
          <a:xfrm>
            <a:off x="7546941" y="1942134"/>
            <a:ext cx="390000" cy="290000"/>
          </a:xfrm>
          <a:prstGeom prst="rect">
            <a:avLst/>
          </a:prstGeom>
          <a:solidFill>
            <a:srgbClr val="E67E22">
              <a:alpha val="32463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482" name="T8137"/>
          <p:cNvSpPr/>
          <p:nvPr/>
        </p:nvSpPr>
        <p:spPr>
          <a:xfrm>
            <a:off x="7546941" y="1942134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E67E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1.1M</a:t>
            </a:r>
            <a:endParaRPr lang="zh-CN" sz="570" dirty="0"/>
          </a:p>
        </p:txBody>
      </p:sp>
      <p:sp>
        <p:nvSpPr>
          <p:cNvPr id="483" name="T8138"/>
          <p:cNvSpPr/>
          <p:nvPr/>
        </p:nvSpPr>
        <p:spPr>
          <a:xfrm>
            <a:off x="7546941" y="2116134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E67E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6件</a:t>
            </a:r>
            <a:endParaRPr lang="zh-CN" sz="500" dirty="0"/>
          </a:p>
        </p:txBody>
      </p:sp>
      <p:sp>
        <p:nvSpPr>
          <p:cNvPr id="484" name="R8139"/>
          <p:cNvSpPr/>
          <p:nvPr/>
        </p:nvSpPr>
        <p:spPr>
          <a:xfrm>
            <a:off x="7936941" y="1942134"/>
            <a:ext cx="390000" cy="290000"/>
          </a:xfrm>
          <a:prstGeom prst="rect">
            <a:avLst/>
          </a:prstGeom>
          <a:solidFill>
            <a:srgbClr val="E67E22">
              <a:alpha val="32168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485" name="T8140"/>
          <p:cNvSpPr/>
          <p:nvPr/>
        </p:nvSpPr>
        <p:spPr>
          <a:xfrm>
            <a:off x="7936941" y="1942134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E67E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1.1M</a:t>
            </a:r>
            <a:endParaRPr lang="zh-CN" sz="570" dirty="0"/>
          </a:p>
        </p:txBody>
      </p:sp>
      <p:sp>
        <p:nvSpPr>
          <p:cNvPr id="486" name="T8141"/>
          <p:cNvSpPr/>
          <p:nvPr/>
        </p:nvSpPr>
        <p:spPr>
          <a:xfrm>
            <a:off x="7936941" y="2116134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E67E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5件</a:t>
            </a:r>
            <a:endParaRPr lang="zh-CN" sz="500" dirty="0"/>
          </a:p>
        </p:txBody>
      </p:sp>
      <p:sp>
        <p:nvSpPr>
          <p:cNvPr id="487" name="R8142"/>
          <p:cNvSpPr/>
          <p:nvPr/>
        </p:nvSpPr>
        <p:spPr>
          <a:xfrm>
            <a:off x="8326941" y="1942134"/>
            <a:ext cx="390000" cy="290000"/>
          </a:xfrm>
          <a:prstGeom prst="rect">
            <a:avLst/>
          </a:prstGeom>
          <a:solidFill>
            <a:srgbClr val="E67E22">
              <a:alpha val="77668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488" name="T8143"/>
          <p:cNvSpPr/>
          <p:nvPr/>
        </p:nvSpPr>
        <p:spPr>
          <a:xfrm>
            <a:off x="8326941" y="1942134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4.0M</a:t>
            </a:r>
            <a:endParaRPr lang="zh-CN" sz="570" dirty="0"/>
          </a:p>
        </p:txBody>
      </p:sp>
      <p:sp>
        <p:nvSpPr>
          <p:cNvPr id="489" name="T8144"/>
          <p:cNvSpPr/>
          <p:nvPr/>
        </p:nvSpPr>
        <p:spPr>
          <a:xfrm>
            <a:off x="8326941" y="2116134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5件</a:t>
            </a:r>
            <a:endParaRPr lang="zh-CN" sz="500" dirty="0"/>
          </a:p>
        </p:txBody>
      </p:sp>
      <p:sp>
        <p:nvSpPr>
          <p:cNvPr id="490" name="R8145"/>
          <p:cNvSpPr/>
          <p:nvPr/>
        </p:nvSpPr>
        <p:spPr>
          <a:xfrm>
            <a:off x="8716941" y="1942134"/>
            <a:ext cx="390000" cy="290000"/>
          </a:xfrm>
          <a:prstGeom prst="rect">
            <a:avLst/>
          </a:prstGeom>
          <a:solidFill>
            <a:srgbClr val="E67E22">
              <a:alpha val="36258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491" name="T8146"/>
          <p:cNvSpPr/>
          <p:nvPr/>
        </p:nvSpPr>
        <p:spPr>
          <a:xfrm>
            <a:off x="8716941" y="1942134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E67E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1.4M</a:t>
            </a:r>
            <a:endParaRPr lang="zh-CN" sz="570" dirty="0"/>
          </a:p>
        </p:txBody>
      </p:sp>
      <p:sp>
        <p:nvSpPr>
          <p:cNvPr id="492" name="T8147"/>
          <p:cNvSpPr/>
          <p:nvPr/>
        </p:nvSpPr>
        <p:spPr>
          <a:xfrm>
            <a:off x="8716941" y="2116134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E67E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5件</a:t>
            </a:r>
            <a:endParaRPr lang="zh-CN" sz="500" dirty="0"/>
          </a:p>
        </p:txBody>
      </p:sp>
      <p:sp>
        <p:nvSpPr>
          <p:cNvPr id="493" name="R8148"/>
          <p:cNvSpPr/>
          <p:nvPr/>
        </p:nvSpPr>
        <p:spPr>
          <a:xfrm>
            <a:off x="9106941" y="1942134"/>
            <a:ext cx="390000" cy="290000"/>
          </a:xfrm>
          <a:prstGeom prst="rect">
            <a:avLst/>
          </a:prstGeom>
          <a:solidFill>
            <a:srgbClr val="E8ECF0">
              <a:alpha val="30000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494" name="R8149"/>
          <p:cNvSpPr/>
          <p:nvPr/>
        </p:nvSpPr>
        <p:spPr>
          <a:xfrm>
            <a:off x="9496941" y="1942134"/>
            <a:ext cx="390000" cy="290000"/>
          </a:xfrm>
          <a:prstGeom prst="rect">
            <a:avLst/>
          </a:prstGeom>
          <a:solidFill>
            <a:srgbClr val="E67E22">
              <a:alpha val="22429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495" name="T8150"/>
          <p:cNvSpPr/>
          <p:nvPr/>
        </p:nvSpPr>
        <p:spPr>
          <a:xfrm>
            <a:off x="9496941" y="1942134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E67E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0.5M</a:t>
            </a:r>
            <a:endParaRPr lang="zh-CN" sz="570" dirty="0"/>
          </a:p>
        </p:txBody>
      </p:sp>
      <p:sp>
        <p:nvSpPr>
          <p:cNvPr id="496" name="T8151"/>
          <p:cNvSpPr/>
          <p:nvPr/>
        </p:nvSpPr>
        <p:spPr>
          <a:xfrm>
            <a:off x="9496941" y="2116134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E67E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2件</a:t>
            </a:r>
            <a:endParaRPr lang="zh-CN" sz="500" dirty="0"/>
          </a:p>
        </p:txBody>
      </p:sp>
      <p:sp>
        <p:nvSpPr>
          <p:cNvPr id="497" name="R8152"/>
          <p:cNvSpPr/>
          <p:nvPr/>
        </p:nvSpPr>
        <p:spPr>
          <a:xfrm>
            <a:off x="9886941" y="1942134"/>
            <a:ext cx="390000" cy="290000"/>
          </a:xfrm>
          <a:prstGeom prst="rect">
            <a:avLst/>
          </a:prstGeom>
          <a:solidFill>
            <a:srgbClr val="E67E22">
              <a:alpha val="17457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498" name="T8153"/>
          <p:cNvSpPr/>
          <p:nvPr/>
        </p:nvSpPr>
        <p:spPr>
          <a:xfrm>
            <a:off x="9886941" y="1942134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E67E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0.2M</a:t>
            </a:r>
            <a:endParaRPr lang="zh-CN" sz="570" dirty="0"/>
          </a:p>
        </p:txBody>
      </p:sp>
      <p:sp>
        <p:nvSpPr>
          <p:cNvPr id="499" name="T8154"/>
          <p:cNvSpPr/>
          <p:nvPr/>
        </p:nvSpPr>
        <p:spPr>
          <a:xfrm>
            <a:off x="9886941" y="2116134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E67E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1件</a:t>
            </a:r>
            <a:endParaRPr lang="zh-CN" sz="500" dirty="0"/>
          </a:p>
        </p:txBody>
      </p:sp>
      <p:sp>
        <p:nvSpPr>
          <p:cNvPr id="500" name="R8155"/>
          <p:cNvSpPr/>
          <p:nvPr/>
        </p:nvSpPr>
        <p:spPr>
          <a:xfrm>
            <a:off x="10276941" y="1942134"/>
            <a:ext cx="390000" cy="290000"/>
          </a:xfrm>
          <a:prstGeom prst="rect">
            <a:avLst/>
          </a:prstGeom>
          <a:solidFill>
            <a:srgbClr val="E67E22">
              <a:alpha val="21143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501" name="T8156"/>
          <p:cNvSpPr/>
          <p:nvPr/>
        </p:nvSpPr>
        <p:spPr>
          <a:xfrm>
            <a:off x="10276941" y="1942134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E67E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0.4M</a:t>
            </a:r>
            <a:endParaRPr lang="zh-CN" sz="570" dirty="0"/>
          </a:p>
        </p:txBody>
      </p:sp>
      <p:sp>
        <p:nvSpPr>
          <p:cNvPr id="502" name="T8157"/>
          <p:cNvSpPr/>
          <p:nvPr/>
        </p:nvSpPr>
        <p:spPr>
          <a:xfrm>
            <a:off x="10276941" y="2116134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E67E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1件</a:t>
            </a:r>
            <a:endParaRPr lang="zh-CN" sz="500" dirty="0"/>
          </a:p>
        </p:txBody>
      </p:sp>
      <p:sp>
        <p:nvSpPr>
          <p:cNvPr id="503" name="R8158"/>
          <p:cNvSpPr/>
          <p:nvPr/>
        </p:nvSpPr>
        <p:spPr>
          <a:xfrm>
            <a:off x="10666941" y="1942134"/>
            <a:ext cx="390000" cy="290000"/>
          </a:xfrm>
          <a:prstGeom prst="rect">
            <a:avLst/>
          </a:prstGeom>
          <a:solidFill>
            <a:srgbClr val="E67E22">
              <a:alpha val="32571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504" name="T8159"/>
          <p:cNvSpPr/>
          <p:nvPr/>
        </p:nvSpPr>
        <p:spPr>
          <a:xfrm>
            <a:off x="10666941" y="1942134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E67E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1.1M</a:t>
            </a:r>
            <a:endParaRPr lang="zh-CN" sz="570" dirty="0"/>
          </a:p>
        </p:txBody>
      </p:sp>
      <p:sp>
        <p:nvSpPr>
          <p:cNvPr id="505" name="T8160"/>
          <p:cNvSpPr/>
          <p:nvPr/>
        </p:nvSpPr>
        <p:spPr>
          <a:xfrm>
            <a:off x="10666941" y="2116134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E67E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5件</a:t>
            </a:r>
            <a:endParaRPr lang="zh-CN" sz="500" dirty="0"/>
          </a:p>
        </p:txBody>
      </p:sp>
      <p:sp>
        <p:nvSpPr>
          <p:cNvPr id="506" name="R8161"/>
          <p:cNvSpPr/>
          <p:nvPr/>
        </p:nvSpPr>
        <p:spPr>
          <a:xfrm>
            <a:off x="11056941" y="1942134"/>
            <a:ext cx="390000" cy="290000"/>
          </a:xfrm>
          <a:prstGeom prst="rect">
            <a:avLst/>
          </a:prstGeom>
          <a:solidFill>
            <a:srgbClr val="E67E22">
              <a:alpha val="80000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507" name="T8162"/>
          <p:cNvSpPr/>
          <p:nvPr/>
        </p:nvSpPr>
        <p:spPr>
          <a:xfrm>
            <a:off x="11056941" y="1942134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4.6M</a:t>
            </a:r>
            <a:endParaRPr lang="zh-CN" sz="570" dirty="0"/>
          </a:p>
        </p:txBody>
      </p:sp>
      <p:sp>
        <p:nvSpPr>
          <p:cNvPr id="508" name="T8163"/>
          <p:cNvSpPr/>
          <p:nvPr/>
        </p:nvSpPr>
        <p:spPr>
          <a:xfrm>
            <a:off x="11056941" y="2116134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10件</a:t>
            </a:r>
            <a:endParaRPr lang="zh-CN" sz="500" dirty="0"/>
          </a:p>
        </p:txBody>
      </p:sp>
      <p:sp>
        <p:nvSpPr>
          <p:cNvPr id="509" name="R8164"/>
          <p:cNvSpPr/>
          <p:nvPr/>
        </p:nvSpPr>
        <p:spPr>
          <a:xfrm>
            <a:off x="11446941" y="1942134"/>
            <a:ext cx="390000" cy="290000"/>
          </a:xfrm>
          <a:prstGeom prst="rect">
            <a:avLst/>
          </a:prstGeom>
          <a:solidFill>
            <a:srgbClr val="F7D5B7"/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510" name="T8165"/>
          <p:cNvSpPr/>
          <p:nvPr/>
        </p:nvSpPr>
        <p:spPr>
          <a:xfrm>
            <a:off x="11446941" y="1942134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0.9M</a:t>
            </a:r>
            <a:endParaRPr lang="zh-CN" sz="570" dirty="0"/>
          </a:p>
        </p:txBody>
      </p:sp>
      <p:sp>
        <p:nvSpPr>
          <p:cNvPr id="511" name="T8166"/>
          <p:cNvSpPr/>
          <p:nvPr/>
        </p:nvSpPr>
        <p:spPr>
          <a:xfrm>
            <a:off x="11527155" y="2115820"/>
            <a:ext cx="193675" cy="1162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3件</a:t>
            </a:r>
            <a:endParaRPr lang="zh-CN" sz="500" dirty="0"/>
          </a:p>
        </p:txBody>
      </p:sp>
      <p:sp>
        <p:nvSpPr>
          <p:cNvPr id="512" name="T8167"/>
          <p:cNvSpPr/>
          <p:nvPr/>
        </p:nvSpPr>
        <p:spPr>
          <a:xfrm>
            <a:off x="6254496" y="2232134"/>
            <a:ext cx="502445" cy="290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CN" sz="68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ICLUB</a:t>
            </a:r>
            <a:endParaRPr lang="zh-CN" sz="680" dirty="0"/>
          </a:p>
        </p:txBody>
      </p:sp>
      <p:sp>
        <p:nvSpPr>
          <p:cNvPr id="513" name="R8168"/>
          <p:cNvSpPr/>
          <p:nvPr/>
        </p:nvSpPr>
        <p:spPr>
          <a:xfrm>
            <a:off x="6766941" y="2232134"/>
            <a:ext cx="390000" cy="290000"/>
          </a:xfrm>
          <a:prstGeom prst="rect">
            <a:avLst/>
          </a:prstGeom>
          <a:solidFill>
            <a:srgbClr val="E8ECF0">
              <a:alpha val="30000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514" name="R8169"/>
          <p:cNvSpPr/>
          <p:nvPr/>
        </p:nvSpPr>
        <p:spPr>
          <a:xfrm>
            <a:off x="7156941" y="2232134"/>
            <a:ext cx="390000" cy="290000"/>
          </a:xfrm>
          <a:prstGeom prst="rect">
            <a:avLst/>
          </a:prstGeom>
          <a:solidFill>
            <a:srgbClr val="8E44AD">
              <a:alpha val="27945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515" name="T8170"/>
          <p:cNvSpPr/>
          <p:nvPr/>
        </p:nvSpPr>
        <p:spPr>
          <a:xfrm>
            <a:off x="7156941" y="2232134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8E44A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2.4M</a:t>
            </a:r>
            <a:endParaRPr lang="zh-CN" sz="570" dirty="0"/>
          </a:p>
        </p:txBody>
      </p:sp>
      <p:sp>
        <p:nvSpPr>
          <p:cNvPr id="516" name="T8171"/>
          <p:cNvSpPr/>
          <p:nvPr/>
        </p:nvSpPr>
        <p:spPr>
          <a:xfrm>
            <a:off x="7156941" y="2406134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8E44A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2件</a:t>
            </a:r>
            <a:endParaRPr lang="zh-CN" sz="500" dirty="0"/>
          </a:p>
        </p:txBody>
      </p:sp>
      <p:sp>
        <p:nvSpPr>
          <p:cNvPr id="517" name="R8172"/>
          <p:cNvSpPr/>
          <p:nvPr/>
        </p:nvSpPr>
        <p:spPr>
          <a:xfrm>
            <a:off x="7546941" y="2232134"/>
            <a:ext cx="390000" cy="290000"/>
          </a:xfrm>
          <a:prstGeom prst="rect">
            <a:avLst/>
          </a:prstGeom>
          <a:solidFill>
            <a:srgbClr val="E8ECF0">
              <a:alpha val="30000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518" name="R8173"/>
          <p:cNvSpPr/>
          <p:nvPr/>
        </p:nvSpPr>
        <p:spPr>
          <a:xfrm>
            <a:off x="7936941" y="2232134"/>
            <a:ext cx="390000" cy="290000"/>
          </a:xfrm>
          <a:prstGeom prst="rect">
            <a:avLst/>
          </a:prstGeom>
          <a:solidFill>
            <a:srgbClr val="E8ECF0">
              <a:alpha val="30000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519" name="R8174"/>
          <p:cNvSpPr/>
          <p:nvPr/>
        </p:nvSpPr>
        <p:spPr>
          <a:xfrm>
            <a:off x="8326941" y="2232134"/>
            <a:ext cx="390000" cy="290000"/>
          </a:xfrm>
          <a:prstGeom prst="rect">
            <a:avLst/>
          </a:prstGeom>
          <a:solidFill>
            <a:srgbClr val="8E44AD">
              <a:alpha val="80000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520" name="T8175"/>
          <p:cNvSpPr/>
          <p:nvPr/>
        </p:nvSpPr>
        <p:spPr>
          <a:xfrm>
            <a:off x="8326941" y="2232134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12.0M</a:t>
            </a:r>
            <a:endParaRPr lang="zh-CN" sz="570" dirty="0"/>
          </a:p>
        </p:txBody>
      </p:sp>
      <p:sp>
        <p:nvSpPr>
          <p:cNvPr id="521" name="T8176"/>
          <p:cNvSpPr/>
          <p:nvPr/>
        </p:nvSpPr>
        <p:spPr>
          <a:xfrm>
            <a:off x="8326941" y="2406134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2件</a:t>
            </a:r>
            <a:endParaRPr lang="zh-CN" sz="500" dirty="0"/>
          </a:p>
        </p:txBody>
      </p:sp>
      <p:sp>
        <p:nvSpPr>
          <p:cNvPr id="522" name="R8177"/>
          <p:cNvSpPr/>
          <p:nvPr/>
        </p:nvSpPr>
        <p:spPr>
          <a:xfrm>
            <a:off x="8716941" y="2232134"/>
            <a:ext cx="390000" cy="290000"/>
          </a:xfrm>
          <a:prstGeom prst="rect">
            <a:avLst/>
          </a:prstGeom>
          <a:solidFill>
            <a:srgbClr val="E8ECF0">
              <a:alpha val="30000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523" name="R8178"/>
          <p:cNvSpPr/>
          <p:nvPr/>
        </p:nvSpPr>
        <p:spPr>
          <a:xfrm>
            <a:off x="9106941" y="2232134"/>
            <a:ext cx="390000" cy="290000"/>
          </a:xfrm>
          <a:prstGeom prst="rect">
            <a:avLst/>
          </a:prstGeom>
          <a:solidFill>
            <a:srgbClr val="8E44AD">
              <a:alpha val="15591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524" name="T8179"/>
          <p:cNvSpPr/>
          <p:nvPr/>
        </p:nvSpPr>
        <p:spPr>
          <a:xfrm>
            <a:off x="9106941" y="2232134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8E44A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0.1M</a:t>
            </a:r>
            <a:endParaRPr lang="zh-CN" sz="570" dirty="0"/>
          </a:p>
        </p:txBody>
      </p:sp>
      <p:sp>
        <p:nvSpPr>
          <p:cNvPr id="525" name="T8180"/>
          <p:cNvSpPr/>
          <p:nvPr/>
        </p:nvSpPr>
        <p:spPr>
          <a:xfrm>
            <a:off x="9106941" y="2406134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8E44A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2件</a:t>
            </a:r>
            <a:endParaRPr lang="zh-CN" sz="500" dirty="0"/>
          </a:p>
        </p:txBody>
      </p:sp>
      <p:sp>
        <p:nvSpPr>
          <p:cNvPr id="526" name="R8181"/>
          <p:cNvSpPr/>
          <p:nvPr/>
        </p:nvSpPr>
        <p:spPr>
          <a:xfrm>
            <a:off x="9496941" y="2232134"/>
            <a:ext cx="390000" cy="290000"/>
          </a:xfrm>
          <a:prstGeom prst="rect">
            <a:avLst/>
          </a:prstGeom>
          <a:solidFill>
            <a:srgbClr val="E8ECF0">
              <a:alpha val="30000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527" name="R8182"/>
          <p:cNvSpPr/>
          <p:nvPr/>
        </p:nvSpPr>
        <p:spPr>
          <a:xfrm>
            <a:off x="9886941" y="2232134"/>
            <a:ext cx="390000" cy="290000"/>
          </a:xfrm>
          <a:prstGeom prst="rect">
            <a:avLst/>
          </a:prstGeom>
          <a:solidFill>
            <a:srgbClr val="E8ECF0">
              <a:alpha val="30000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528" name="R8183"/>
          <p:cNvSpPr/>
          <p:nvPr/>
        </p:nvSpPr>
        <p:spPr>
          <a:xfrm>
            <a:off x="10276941" y="2232134"/>
            <a:ext cx="390000" cy="290000"/>
          </a:xfrm>
          <a:prstGeom prst="rect">
            <a:avLst/>
          </a:prstGeom>
          <a:solidFill>
            <a:srgbClr val="E8ECF0">
              <a:alpha val="30000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529" name="R8184"/>
          <p:cNvSpPr/>
          <p:nvPr/>
        </p:nvSpPr>
        <p:spPr>
          <a:xfrm>
            <a:off x="10666941" y="2232134"/>
            <a:ext cx="390000" cy="290000"/>
          </a:xfrm>
          <a:prstGeom prst="rect">
            <a:avLst/>
          </a:prstGeom>
          <a:solidFill>
            <a:srgbClr val="E8ECF0">
              <a:alpha val="30000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530" name="R8185"/>
          <p:cNvSpPr/>
          <p:nvPr/>
        </p:nvSpPr>
        <p:spPr>
          <a:xfrm>
            <a:off x="11056941" y="2232134"/>
            <a:ext cx="390000" cy="290000"/>
          </a:xfrm>
          <a:prstGeom prst="rect">
            <a:avLst/>
          </a:prstGeom>
          <a:solidFill>
            <a:srgbClr val="E8ECF0">
              <a:alpha val="30000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531" name="R8186"/>
          <p:cNvSpPr/>
          <p:nvPr/>
        </p:nvSpPr>
        <p:spPr>
          <a:xfrm>
            <a:off x="11446941" y="2232134"/>
            <a:ext cx="390000" cy="290000"/>
          </a:xfrm>
          <a:prstGeom prst="rect">
            <a:avLst/>
          </a:prstGeom>
          <a:solidFill>
            <a:srgbClr val="DDCAE7"/>
          </a:solidFill>
          <a:ln w="2540">
            <a:solidFill>
              <a:srgbClr val="E8ECF0"/>
            </a:solidFill>
            <a:prstDash val="solid"/>
          </a:ln>
        </p:spPr>
        <p:txBody>
          <a:bodyPr/>
          <a:p>
            <a:endParaRPr lang="zh-CN" altLang="en-US"/>
          </a:p>
        </p:txBody>
      </p:sp>
      <p:sp>
        <p:nvSpPr>
          <p:cNvPr id="532" name="T8187"/>
          <p:cNvSpPr/>
          <p:nvPr/>
        </p:nvSpPr>
        <p:spPr>
          <a:xfrm>
            <a:off x="11446941" y="2232134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1.8M</a:t>
            </a:r>
            <a:endParaRPr lang="zh-CN" sz="570" dirty="0"/>
          </a:p>
        </p:txBody>
      </p:sp>
      <p:sp>
        <p:nvSpPr>
          <p:cNvPr id="533" name="T8188"/>
          <p:cNvSpPr/>
          <p:nvPr/>
        </p:nvSpPr>
        <p:spPr>
          <a:xfrm>
            <a:off x="11435511" y="2406134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1件</a:t>
            </a:r>
            <a:endParaRPr lang="zh-CN" sz="500" dirty="0"/>
          </a:p>
        </p:txBody>
      </p:sp>
      <p:sp>
        <p:nvSpPr>
          <p:cNvPr id="534" name="T8189"/>
          <p:cNvSpPr/>
          <p:nvPr/>
        </p:nvSpPr>
        <p:spPr>
          <a:xfrm>
            <a:off x="6254496" y="2522134"/>
            <a:ext cx="502445" cy="290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CN" sz="68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成事+合伙</a:t>
            </a:r>
            <a:endParaRPr lang="zh-CN" sz="680" dirty="0"/>
          </a:p>
        </p:txBody>
      </p:sp>
      <p:sp>
        <p:nvSpPr>
          <p:cNvPr id="535" name="R8190"/>
          <p:cNvSpPr/>
          <p:nvPr/>
        </p:nvSpPr>
        <p:spPr>
          <a:xfrm>
            <a:off x="6766941" y="2522134"/>
            <a:ext cx="390000" cy="290000"/>
          </a:xfrm>
          <a:prstGeom prst="rect">
            <a:avLst/>
          </a:prstGeom>
          <a:solidFill>
            <a:srgbClr val="94A3B8">
              <a:alpha val="38448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536" name="T8191"/>
          <p:cNvSpPr/>
          <p:nvPr/>
        </p:nvSpPr>
        <p:spPr>
          <a:xfrm>
            <a:off x="6766941" y="2522134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0.5M</a:t>
            </a:r>
            <a:endParaRPr lang="zh-CN" sz="570" dirty="0"/>
          </a:p>
        </p:txBody>
      </p:sp>
      <p:sp>
        <p:nvSpPr>
          <p:cNvPr id="537" name="T8192"/>
          <p:cNvSpPr/>
          <p:nvPr/>
        </p:nvSpPr>
        <p:spPr>
          <a:xfrm>
            <a:off x="6766941" y="2696134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2件</a:t>
            </a:r>
            <a:endParaRPr lang="zh-CN" sz="500" dirty="0"/>
          </a:p>
        </p:txBody>
      </p:sp>
      <p:sp>
        <p:nvSpPr>
          <p:cNvPr id="538" name="R8193"/>
          <p:cNvSpPr/>
          <p:nvPr/>
        </p:nvSpPr>
        <p:spPr>
          <a:xfrm>
            <a:off x="7156941" y="2522134"/>
            <a:ext cx="390000" cy="290000"/>
          </a:xfrm>
          <a:prstGeom prst="rect">
            <a:avLst/>
          </a:prstGeom>
          <a:solidFill>
            <a:srgbClr val="94A3B8">
              <a:alpha val="37450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539" name="T8194"/>
          <p:cNvSpPr/>
          <p:nvPr/>
        </p:nvSpPr>
        <p:spPr>
          <a:xfrm>
            <a:off x="7156941" y="2522134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0.5M</a:t>
            </a:r>
            <a:endParaRPr lang="zh-CN" sz="570" dirty="0"/>
          </a:p>
        </p:txBody>
      </p:sp>
      <p:sp>
        <p:nvSpPr>
          <p:cNvPr id="540" name="T8195"/>
          <p:cNvSpPr/>
          <p:nvPr/>
        </p:nvSpPr>
        <p:spPr>
          <a:xfrm>
            <a:off x="7156941" y="2696134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3件</a:t>
            </a:r>
            <a:endParaRPr lang="zh-CN" sz="500" dirty="0"/>
          </a:p>
        </p:txBody>
      </p:sp>
      <p:sp>
        <p:nvSpPr>
          <p:cNvPr id="541" name="R8196"/>
          <p:cNvSpPr/>
          <p:nvPr/>
        </p:nvSpPr>
        <p:spPr>
          <a:xfrm>
            <a:off x="7546941" y="2522134"/>
            <a:ext cx="390000" cy="290000"/>
          </a:xfrm>
          <a:prstGeom prst="rect">
            <a:avLst/>
          </a:prstGeom>
          <a:solidFill>
            <a:srgbClr val="94A3B8">
              <a:alpha val="18741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542" name="T8197"/>
          <p:cNvSpPr/>
          <p:nvPr/>
        </p:nvSpPr>
        <p:spPr>
          <a:xfrm>
            <a:off x="7546941" y="2522134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0.1M</a:t>
            </a:r>
            <a:endParaRPr lang="zh-CN" sz="570" dirty="0"/>
          </a:p>
        </p:txBody>
      </p:sp>
      <p:sp>
        <p:nvSpPr>
          <p:cNvPr id="543" name="T8198"/>
          <p:cNvSpPr/>
          <p:nvPr/>
        </p:nvSpPr>
        <p:spPr>
          <a:xfrm>
            <a:off x="7546941" y="2696134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1件</a:t>
            </a:r>
            <a:endParaRPr lang="zh-CN" sz="500" dirty="0"/>
          </a:p>
        </p:txBody>
      </p:sp>
      <p:sp>
        <p:nvSpPr>
          <p:cNvPr id="544" name="R8199"/>
          <p:cNvSpPr/>
          <p:nvPr/>
        </p:nvSpPr>
        <p:spPr>
          <a:xfrm>
            <a:off x="7936941" y="2522134"/>
            <a:ext cx="390000" cy="290000"/>
          </a:xfrm>
          <a:prstGeom prst="rect">
            <a:avLst/>
          </a:prstGeom>
          <a:solidFill>
            <a:srgbClr val="94A3B8">
              <a:alpha val="18741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545" name="T8200"/>
          <p:cNvSpPr/>
          <p:nvPr/>
        </p:nvSpPr>
        <p:spPr>
          <a:xfrm>
            <a:off x="7936941" y="2522134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0.1M</a:t>
            </a:r>
            <a:endParaRPr lang="zh-CN" sz="570" dirty="0"/>
          </a:p>
        </p:txBody>
      </p:sp>
      <p:sp>
        <p:nvSpPr>
          <p:cNvPr id="546" name="T8201"/>
          <p:cNvSpPr/>
          <p:nvPr/>
        </p:nvSpPr>
        <p:spPr>
          <a:xfrm>
            <a:off x="7936941" y="2696134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1件</a:t>
            </a:r>
            <a:endParaRPr lang="zh-CN" sz="500" dirty="0"/>
          </a:p>
        </p:txBody>
      </p:sp>
      <p:sp>
        <p:nvSpPr>
          <p:cNvPr id="547" name="R8202"/>
          <p:cNvSpPr/>
          <p:nvPr/>
        </p:nvSpPr>
        <p:spPr>
          <a:xfrm>
            <a:off x="8326941" y="2522134"/>
            <a:ext cx="390000" cy="290000"/>
          </a:xfrm>
          <a:prstGeom prst="rect">
            <a:avLst/>
          </a:prstGeom>
          <a:solidFill>
            <a:srgbClr val="94A3B8">
              <a:alpha val="39695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548" name="T8203"/>
          <p:cNvSpPr/>
          <p:nvPr/>
        </p:nvSpPr>
        <p:spPr>
          <a:xfrm>
            <a:off x="8326941" y="2522134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0.5M</a:t>
            </a:r>
            <a:endParaRPr lang="zh-CN" sz="570" dirty="0"/>
          </a:p>
        </p:txBody>
      </p:sp>
      <p:sp>
        <p:nvSpPr>
          <p:cNvPr id="549" name="T8204"/>
          <p:cNvSpPr/>
          <p:nvPr/>
        </p:nvSpPr>
        <p:spPr>
          <a:xfrm>
            <a:off x="8326941" y="2696134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3件</a:t>
            </a:r>
            <a:endParaRPr lang="zh-CN" sz="500" dirty="0"/>
          </a:p>
        </p:txBody>
      </p:sp>
      <p:sp>
        <p:nvSpPr>
          <p:cNvPr id="550" name="R8205"/>
          <p:cNvSpPr/>
          <p:nvPr/>
        </p:nvSpPr>
        <p:spPr>
          <a:xfrm>
            <a:off x="8716941" y="2522134"/>
            <a:ext cx="390000" cy="290000"/>
          </a:xfrm>
          <a:prstGeom prst="rect">
            <a:avLst/>
          </a:prstGeom>
          <a:solidFill>
            <a:srgbClr val="E8ECF0">
              <a:alpha val="30000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551" name="R8206"/>
          <p:cNvSpPr/>
          <p:nvPr/>
        </p:nvSpPr>
        <p:spPr>
          <a:xfrm>
            <a:off x="9106941" y="2522134"/>
            <a:ext cx="390000" cy="290000"/>
          </a:xfrm>
          <a:prstGeom prst="rect">
            <a:avLst/>
          </a:prstGeom>
          <a:solidFill>
            <a:srgbClr val="94A3B8">
              <a:alpha val="33708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552" name="T8207"/>
          <p:cNvSpPr/>
          <p:nvPr/>
        </p:nvSpPr>
        <p:spPr>
          <a:xfrm>
            <a:off x="9106941" y="2522134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0.4M</a:t>
            </a:r>
            <a:endParaRPr lang="zh-CN" sz="570" dirty="0"/>
          </a:p>
        </p:txBody>
      </p:sp>
      <p:sp>
        <p:nvSpPr>
          <p:cNvPr id="553" name="T8208"/>
          <p:cNvSpPr/>
          <p:nvPr/>
        </p:nvSpPr>
        <p:spPr>
          <a:xfrm>
            <a:off x="9106941" y="2696134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1件</a:t>
            </a:r>
            <a:endParaRPr lang="zh-CN" sz="500" dirty="0"/>
          </a:p>
        </p:txBody>
      </p:sp>
      <p:sp>
        <p:nvSpPr>
          <p:cNvPr id="554" name="R8209"/>
          <p:cNvSpPr/>
          <p:nvPr/>
        </p:nvSpPr>
        <p:spPr>
          <a:xfrm>
            <a:off x="9496941" y="2522134"/>
            <a:ext cx="390000" cy="290000"/>
          </a:xfrm>
          <a:prstGeom prst="rect">
            <a:avLst/>
          </a:prstGeom>
          <a:solidFill>
            <a:srgbClr val="E8ECF0">
              <a:alpha val="30000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555" name="R8210"/>
          <p:cNvSpPr/>
          <p:nvPr/>
        </p:nvSpPr>
        <p:spPr>
          <a:xfrm>
            <a:off x="9886941" y="2522134"/>
            <a:ext cx="390000" cy="290000"/>
          </a:xfrm>
          <a:prstGeom prst="rect">
            <a:avLst/>
          </a:prstGeom>
          <a:solidFill>
            <a:srgbClr val="94A3B8">
              <a:alpha val="18828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556" name="T8211"/>
          <p:cNvSpPr/>
          <p:nvPr/>
        </p:nvSpPr>
        <p:spPr>
          <a:xfrm>
            <a:off x="9886941" y="2522134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0.1M</a:t>
            </a:r>
            <a:endParaRPr lang="zh-CN" sz="570" dirty="0"/>
          </a:p>
        </p:txBody>
      </p:sp>
      <p:sp>
        <p:nvSpPr>
          <p:cNvPr id="557" name="T8212"/>
          <p:cNvSpPr/>
          <p:nvPr/>
        </p:nvSpPr>
        <p:spPr>
          <a:xfrm>
            <a:off x="9886941" y="2696134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1件</a:t>
            </a:r>
            <a:endParaRPr lang="zh-CN" sz="500" dirty="0"/>
          </a:p>
        </p:txBody>
      </p:sp>
      <p:sp>
        <p:nvSpPr>
          <p:cNvPr id="558" name="R8213"/>
          <p:cNvSpPr/>
          <p:nvPr/>
        </p:nvSpPr>
        <p:spPr>
          <a:xfrm>
            <a:off x="10276941" y="2522134"/>
            <a:ext cx="390000" cy="290000"/>
          </a:xfrm>
          <a:prstGeom prst="rect">
            <a:avLst/>
          </a:prstGeom>
          <a:solidFill>
            <a:srgbClr val="94A3B8">
              <a:alpha val="20801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559" name="T8214"/>
          <p:cNvSpPr/>
          <p:nvPr/>
        </p:nvSpPr>
        <p:spPr>
          <a:xfrm>
            <a:off x="10276941" y="2522134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0.1M</a:t>
            </a:r>
            <a:endParaRPr lang="zh-CN" sz="570" dirty="0"/>
          </a:p>
        </p:txBody>
      </p:sp>
      <p:sp>
        <p:nvSpPr>
          <p:cNvPr id="560" name="T8215"/>
          <p:cNvSpPr/>
          <p:nvPr/>
        </p:nvSpPr>
        <p:spPr>
          <a:xfrm>
            <a:off x="10276941" y="2696134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2件</a:t>
            </a:r>
            <a:endParaRPr lang="zh-CN" sz="500" dirty="0"/>
          </a:p>
        </p:txBody>
      </p:sp>
      <p:sp>
        <p:nvSpPr>
          <p:cNvPr id="561" name="R8216"/>
          <p:cNvSpPr/>
          <p:nvPr/>
        </p:nvSpPr>
        <p:spPr>
          <a:xfrm>
            <a:off x="10666941" y="2522134"/>
            <a:ext cx="390000" cy="290000"/>
          </a:xfrm>
          <a:prstGeom prst="rect">
            <a:avLst/>
          </a:prstGeom>
          <a:solidFill>
            <a:srgbClr val="94A3B8">
              <a:alpha val="45893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562" name="T8217"/>
          <p:cNvSpPr/>
          <p:nvPr/>
        </p:nvSpPr>
        <p:spPr>
          <a:xfrm>
            <a:off x="10666941" y="2522134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0.6M</a:t>
            </a:r>
            <a:endParaRPr lang="zh-CN" sz="570" dirty="0"/>
          </a:p>
        </p:txBody>
      </p:sp>
      <p:sp>
        <p:nvSpPr>
          <p:cNvPr id="563" name="T8218"/>
          <p:cNvSpPr/>
          <p:nvPr/>
        </p:nvSpPr>
        <p:spPr>
          <a:xfrm>
            <a:off x="10666941" y="2696134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3件</a:t>
            </a:r>
            <a:endParaRPr lang="zh-CN" sz="500" dirty="0"/>
          </a:p>
        </p:txBody>
      </p:sp>
      <p:sp>
        <p:nvSpPr>
          <p:cNvPr id="564" name="R8219"/>
          <p:cNvSpPr/>
          <p:nvPr/>
        </p:nvSpPr>
        <p:spPr>
          <a:xfrm>
            <a:off x="11056941" y="2522134"/>
            <a:ext cx="390000" cy="290000"/>
          </a:xfrm>
          <a:prstGeom prst="rect">
            <a:avLst/>
          </a:prstGeom>
          <a:solidFill>
            <a:srgbClr val="94A3B8">
              <a:alpha val="80000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565" name="T8220"/>
          <p:cNvSpPr/>
          <p:nvPr/>
        </p:nvSpPr>
        <p:spPr>
          <a:xfrm>
            <a:off x="11056941" y="2522134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2.0M</a:t>
            </a:r>
            <a:endParaRPr lang="zh-CN" sz="570" dirty="0"/>
          </a:p>
        </p:txBody>
      </p:sp>
      <p:sp>
        <p:nvSpPr>
          <p:cNvPr id="566" name="T8221"/>
          <p:cNvSpPr/>
          <p:nvPr/>
        </p:nvSpPr>
        <p:spPr>
          <a:xfrm>
            <a:off x="11056941" y="2696134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7件</a:t>
            </a:r>
            <a:endParaRPr lang="zh-CN" sz="500" dirty="0"/>
          </a:p>
        </p:txBody>
      </p:sp>
      <p:sp>
        <p:nvSpPr>
          <p:cNvPr id="567" name="T8223"/>
          <p:cNvSpPr/>
          <p:nvPr/>
        </p:nvSpPr>
        <p:spPr>
          <a:xfrm>
            <a:off x="11446941" y="2522134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zh-CN" sz="570" dirty="0"/>
          </a:p>
        </p:txBody>
      </p:sp>
      <p:sp>
        <p:nvSpPr>
          <p:cNvPr id="568" name="T8225"/>
          <p:cNvSpPr/>
          <p:nvPr/>
        </p:nvSpPr>
        <p:spPr>
          <a:xfrm>
            <a:off x="6254496" y="2812134"/>
            <a:ext cx="502445" cy="290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CN" sz="680" b="1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合计</a:t>
            </a:r>
            <a:endParaRPr lang="zh-CN" sz="680" dirty="0"/>
          </a:p>
        </p:txBody>
      </p:sp>
      <p:sp>
        <p:nvSpPr>
          <p:cNvPr id="569" name="R8226"/>
          <p:cNvSpPr/>
          <p:nvPr/>
        </p:nvSpPr>
        <p:spPr>
          <a:xfrm>
            <a:off x="6766941" y="2812134"/>
            <a:ext cx="390000" cy="290000"/>
          </a:xfrm>
          <a:prstGeom prst="rect">
            <a:avLst/>
          </a:prstGeom>
          <a:solidFill>
            <a:srgbClr val="374151">
              <a:alpha val="18264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570" name="T8227"/>
          <p:cNvSpPr/>
          <p:nvPr/>
        </p:nvSpPr>
        <p:spPr>
          <a:xfrm>
            <a:off x="6766941" y="2812134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2.6M</a:t>
            </a:r>
            <a:endParaRPr lang="zh-CN" sz="570" dirty="0"/>
          </a:p>
        </p:txBody>
      </p:sp>
      <p:sp>
        <p:nvSpPr>
          <p:cNvPr id="571" name="T8228"/>
          <p:cNvSpPr/>
          <p:nvPr/>
        </p:nvSpPr>
        <p:spPr>
          <a:xfrm>
            <a:off x="6766941" y="2986134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7件</a:t>
            </a:r>
            <a:endParaRPr lang="zh-CN" sz="500" dirty="0"/>
          </a:p>
        </p:txBody>
      </p:sp>
      <p:sp>
        <p:nvSpPr>
          <p:cNvPr id="572" name="R8229"/>
          <p:cNvSpPr/>
          <p:nvPr/>
        </p:nvSpPr>
        <p:spPr>
          <a:xfrm>
            <a:off x="7156941" y="2812134"/>
            <a:ext cx="390000" cy="290000"/>
          </a:xfrm>
          <a:prstGeom prst="rect">
            <a:avLst/>
          </a:prstGeom>
          <a:solidFill>
            <a:srgbClr val="374151">
              <a:alpha val="27681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573" name="T8230"/>
          <p:cNvSpPr/>
          <p:nvPr/>
        </p:nvSpPr>
        <p:spPr>
          <a:xfrm>
            <a:off x="7156941" y="2812134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10.2M</a:t>
            </a:r>
            <a:endParaRPr lang="zh-CN" sz="570" dirty="0"/>
          </a:p>
        </p:txBody>
      </p:sp>
      <p:sp>
        <p:nvSpPr>
          <p:cNvPr id="574" name="T8231"/>
          <p:cNvSpPr/>
          <p:nvPr/>
        </p:nvSpPr>
        <p:spPr>
          <a:xfrm>
            <a:off x="7156941" y="2986134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19件</a:t>
            </a:r>
            <a:endParaRPr lang="zh-CN" sz="500" dirty="0"/>
          </a:p>
        </p:txBody>
      </p:sp>
      <p:sp>
        <p:nvSpPr>
          <p:cNvPr id="575" name="R8232"/>
          <p:cNvSpPr/>
          <p:nvPr/>
        </p:nvSpPr>
        <p:spPr>
          <a:xfrm>
            <a:off x="7546941" y="2812134"/>
            <a:ext cx="390000" cy="290000"/>
          </a:xfrm>
          <a:prstGeom prst="rect">
            <a:avLst/>
          </a:prstGeom>
          <a:solidFill>
            <a:srgbClr val="374151">
              <a:alpha val="33154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576" name="T8233"/>
          <p:cNvSpPr/>
          <p:nvPr/>
        </p:nvSpPr>
        <p:spPr>
          <a:xfrm>
            <a:off x="7546941" y="2812134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14.7M</a:t>
            </a:r>
            <a:endParaRPr lang="zh-CN" sz="570" dirty="0"/>
          </a:p>
        </p:txBody>
      </p:sp>
      <p:sp>
        <p:nvSpPr>
          <p:cNvPr id="577" name="T8234"/>
          <p:cNvSpPr/>
          <p:nvPr/>
        </p:nvSpPr>
        <p:spPr>
          <a:xfrm>
            <a:off x="7546941" y="2986134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42件</a:t>
            </a:r>
            <a:endParaRPr lang="zh-CN" sz="500" dirty="0"/>
          </a:p>
        </p:txBody>
      </p:sp>
      <p:sp>
        <p:nvSpPr>
          <p:cNvPr id="578" name="R8235"/>
          <p:cNvSpPr/>
          <p:nvPr/>
        </p:nvSpPr>
        <p:spPr>
          <a:xfrm>
            <a:off x="7936941" y="2812134"/>
            <a:ext cx="390000" cy="290000"/>
          </a:xfrm>
          <a:prstGeom prst="rect">
            <a:avLst/>
          </a:prstGeom>
          <a:solidFill>
            <a:srgbClr val="374151">
              <a:alpha val="29594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579" name="T8236"/>
          <p:cNvSpPr/>
          <p:nvPr/>
        </p:nvSpPr>
        <p:spPr>
          <a:xfrm>
            <a:off x="7936941" y="2812134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11.8M</a:t>
            </a:r>
            <a:endParaRPr lang="zh-CN" sz="570" dirty="0"/>
          </a:p>
        </p:txBody>
      </p:sp>
      <p:sp>
        <p:nvSpPr>
          <p:cNvPr id="580" name="T8237"/>
          <p:cNvSpPr/>
          <p:nvPr/>
        </p:nvSpPr>
        <p:spPr>
          <a:xfrm>
            <a:off x="7936941" y="2986134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38件</a:t>
            </a:r>
            <a:endParaRPr lang="zh-CN" sz="500" dirty="0"/>
          </a:p>
        </p:txBody>
      </p:sp>
      <p:sp>
        <p:nvSpPr>
          <p:cNvPr id="581" name="R8238"/>
          <p:cNvSpPr/>
          <p:nvPr/>
        </p:nvSpPr>
        <p:spPr>
          <a:xfrm>
            <a:off x="8326941" y="2812134"/>
            <a:ext cx="390000" cy="290000"/>
          </a:xfrm>
          <a:prstGeom prst="rect">
            <a:avLst/>
          </a:prstGeom>
          <a:solidFill>
            <a:srgbClr val="374151">
              <a:alpha val="55000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582" name="T8239"/>
          <p:cNvSpPr/>
          <p:nvPr/>
        </p:nvSpPr>
        <p:spPr>
          <a:xfrm>
            <a:off x="8326941" y="2812134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32.3M</a:t>
            </a:r>
            <a:endParaRPr lang="zh-CN" sz="570" dirty="0"/>
          </a:p>
        </p:txBody>
      </p:sp>
      <p:sp>
        <p:nvSpPr>
          <p:cNvPr id="583" name="T8240"/>
          <p:cNvSpPr/>
          <p:nvPr/>
        </p:nvSpPr>
        <p:spPr>
          <a:xfrm>
            <a:off x="8326941" y="2986134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39件</a:t>
            </a:r>
            <a:endParaRPr lang="zh-CN" sz="500" dirty="0"/>
          </a:p>
        </p:txBody>
      </p:sp>
      <p:sp>
        <p:nvSpPr>
          <p:cNvPr id="584" name="R8241"/>
          <p:cNvSpPr/>
          <p:nvPr/>
        </p:nvSpPr>
        <p:spPr>
          <a:xfrm>
            <a:off x="8716941" y="2812134"/>
            <a:ext cx="390000" cy="290000"/>
          </a:xfrm>
          <a:prstGeom prst="rect">
            <a:avLst/>
          </a:prstGeom>
          <a:solidFill>
            <a:srgbClr val="374151">
              <a:alpha val="32893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585" name="T8242"/>
          <p:cNvSpPr/>
          <p:nvPr/>
        </p:nvSpPr>
        <p:spPr>
          <a:xfrm>
            <a:off x="8716941" y="2812134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14.4M</a:t>
            </a:r>
            <a:endParaRPr lang="zh-CN" sz="570" dirty="0"/>
          </a:p>
        </p:txBody>
      </p:sp>
      <p:sp>
        <p:nvSpPr>
          <p:cNvPr id="586" name="T8243"/>
          <p:cNvSpPr/>
          <p:nvPr/>
        </p:nvSpPr>
        <p:spPr>
          <a:xfrm>
            <a:off x="8716941" y="2986134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29件</a:t>
            </a:r>
            <a:endParaRPr lang="zh-CN" sz="500" dirty="0"/>
          </a:p>
        </p:txBody>
      </p:sp>
      <p:sp>
        <p:nvSpPr>
          <p:cNvPr id="587" name="R8244"/>
          <p:cNvSpPr/>
          <p:nvPr/>
        </p:nvSpPr>
        <p:spPr>
          <a:xfrm>
            <a:off x="9106941" y="2812134"/>
            <a:ext cx="390000" cy="290000"/>
          </a:xfrm>
          <a:prstGeom prst="rect">
            <a:avLst/>
          </a:prstGeom>
          <a:solidFill>
            <a:srgbClr val="374151">
              <a:alpha val="21126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588" name="T8245"/>
          <p:cNvSpPr/>
          <p:nvPr/>
        </p:nvSpPr>
        <p:spPr>
          <a:xfrm>
            <a:off x="9106941" y="2812134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4.9M</a:t>
            </a:r>
            <a:endParaRPr lang="zh-CN" sz="570" dirty="0"/>
          </a:p>
        </p:txBody>
      </p:sp>
      <p:sp>
        <p:nvSpPr>
          <p:cNvPr id="589" name="T8246"/>
          <p:cNvSpPr/>
          <p:nvPr/>
        </p:nvSpPr>
        <p:spPr>
          <a:xfrm>
            <a:off x="9106941" y="2986134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12件</a:t>
            </a:r>
            <a:endParaRPr lang="zh-CN" sz="500" dirty="0"/>
          </a:p>
        </p:txBody>
      </p:sp>
      <p:sp>
        <p:nvSpPr>
          <p:cNvPr id="590" name="R8247"/>
          <p:cNvSpPr/>
          <p:nvPr/>
        </p:nvSpPr>
        <p:spPr>
          <a:xfrm>
            <a:off x="9496941" y="2812134"/>
            <a:ext cx="390000" cy="290000"/>
          </a:xfrm>
          <a:prstGeom prst="rect">
            <a:avLst/>
          </a:prstGeom>
          <a:solidFill>
            <a:srgbClr val="374151">
              <a:alpha val="24675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591" name="T8248"/>
          <p:cNvSpPr/>
          <p:nvPr/>
        </p:nvSpPr>
        <p:spPr>
          <a:xfrm>
            <a:off x="9496941" y="2812134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7.8M</a:t>
            </a:r>
            <a:endParaRPr lang="zh-CN" sz="570" dirty="0"/>
          </a:p>
        </p:txBody>
      </p:sp>
      <p:sp>
        <p:nvSpPr>
          <p:cNvPr id="592" name="T8249"/>
          <p:cNvSpPr/>
          <p:nvPr/>
        </p:nvSpPr>
        <p:spPr>
          <a:xfrm>
            <a:off x="9496941" y="2986134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34件</a:t>
            </a:r>
            <a:endParaRPr lang="zh-CN" sz="500" dirty="0"/>
          </a:p>
        </p:txBody>
      </p:sp>
      <p:sp>
        <p:nvSpPr>
          <p:cNvPr id="593" name="R8250"/>
          <p:cNvSpPr/>
          <p:nvPr/>
        </p:nvSpPr>
        <p:spPr>
          <a:xfrm>
            <a:off x="9886941" y="2812134"/>
            <a:ext cx="390000" cy="290000"/>
          </a:xfrm>
          <a:prstGeom prst="rect">
            <a:avLst/>
          </a:prstGeom>
          <a:solidFill>
            <a:srgbClr val="374151">
              <a:alpha val="20899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594" name="T8251"/>
          <p:cNvSpPr/>
          <p:nvPr/>
        </p:nvSpPr>
        <p:spPr>
          <a:xfrm>
            <a:off x="9886941" y="2812134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4.8M</a:t>
            </a:r>
            <a:endParaRPr lang="zh-CN" sz="570" dirty="0"/>
          </a:p>
        </p:txBody>
      </p:sp>
      <p:sp>
        <p:nvSpPr>
          <p:cNvPr id="595" name="T8252"/>
          <p:cNvSpPr/>
          <p:nvPr/>
        </p:nvSpPr>
        <p:spPr>
          <a:xfrm>
            <a:off x="9886941" y="2986134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15件</a:t>
            </a:r>
            <a:endParaRPr lang="zh-CN" sz="500" dirty="0"/>
          </a:p>
        </p:txBody>
      </p:sp>
      <p:sp>
        <p:nvSpPr>
          <p:cNvPr id="596" name="R8253"/>
          <p:cNvSpPr/>
          <p:nvPr/>
        </p:nvSpPr>
        <p:spPr>
          <a:xfrm>
            <a:off x="10276941" y="2812134"/>
            <a:ext cx="390000" cy="290000"/>
          </a:xfrm>
          <a:prstGeom prst="rect">
            <a:avLst/>
          </a:prstGeom>
          <a:solidFill>
            <a:srgbClr val="374151">
              <a:alpha val="29121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597" name="T8254"/>
          <p:cNvSpPr/>
          <p:nvPr/>
        </p:nvSpPr>
        <p:spPr>
          <a:xfrm>
            <a:off x="10276941" y="2812134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11.4M</a:t>
            </a:r>
            <a:endParaRPr lang="zh-CN" sz="570" dirty="0"/>
          </a:p>
        </p:txBody>
      </p:sp>
      <p:sp>
        <p:nvSpPr>
          <p:cNvPr id="598" name="T8255"/>
          <p:cNvSpPr/>
          <p:nvPr/>
        </p:nvSpPr>
        <p:spPr>
          <a:xfrm>
            <a:off x="10276941" y="2986134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32件</a:t>
            </a:r>
            <a:endParaRPr lang="zh-CN" sz="500" dirty="0"/>
          </a:p>
        </p:txBody>
      </p:sp>
      <p:sp>
        <p:nvSpPr>
          <p:cNvPr id="599" name="R8256"/>
          <p:cNvSpPr/>
          <p:nvPr/>
        </p:nvSpPr>
        <p:spPr>
          <a:xfrm>
            <a:off x="10666941" y="2812134"/>
            <a:ext cx="390000" cy="290000"/>
          </a:xfrm>
          <a:prstGeom prst="rect">
            <a:avLst/>
          </a:prstGeom>
          <a:solidFill>
            <a:srgbClr val="374151">
              <a:alpha val="41524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600" name="T8257"/>
          <p:cNvSpPr/>
          <p:nvPr/>
        </p:nvSpPr>
        <p:spPr>
          <a:xfrm>
            <a:off x="10666941" y="2812134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20.6M</a:t>
            </a:r>
            <a:endParaRPr lang="zh-CN" sz="570" dirty="0"/>
          </a:p>
        </p:txBody>
      </p:sp>
      <p:sp>
        <p:nvSpPr>
          <p:cNvPr id="601" name="T8258"/>
          <p:cNvSpPr/>
          <p:nvPr/>
        </p:nvSpPr>
        <p:spPr>
          <a:xfrm>
            <a:off x="10666941" y="2986134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48件</a:t>
            </a:r>
            <a:endParaRPr lang="zh-CN" sz="500" dirty="0"/>
          </a:p>
        </p:txBody>
      </p:sp>
      <p:sp>
        <p:nvSpPr>
          <p:cNvPr id="602" name="R8259"/>
          <p:cNvSpPr/>
          <p:nvPr/>
        </p:nvSpPr>
        <p:spPr>
          <a:xfrm>
            <a:off x="11056941" y="2812134"/>
            <a:ext cx="390000" cy="290000"/>
          </a:xfrm>
          <a:prstGeom prst="rect">
            <a:avLst/>
          </a:prstGeom>
          <a:solidFill>
            <a:srgbClr val="374151">
              <a:alpha val="43809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603" name="T8260"/>
          <p:cNvSpPr/>
          <p:nvPr/>
        </p:nvSpPr>
        <p:spPr>
          <a:xfrm>
            <a:off x="11056941" y="2812134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28.2M</a:t>
            </a:r>
            <a:endParaRPr lang="zh-CN" sz="570" dirty="0"/>
          </a:p>
        </p:txBody>
      </p:sp>
      <p:sp>
        <p:nvSpPr>
          <p:cNvPr id="604" name="T8261"/>
          <p:cNvSpPr/>
          <p:nvPr/>
        </p:nvSpPr>
        <p:spPr>
          <a:xfrm>
            <a:off x="11056941" y="2986134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67件</a:t>
            </a:r>
            <a:endParaRPr lang="zh-CN" sz="500" dirty="0"/>
          </a:p>
        </p:txBody>
      </p:sp>
      <p:sp>
        <p:nvSpPr>
          <p:cNvPr id="605" name="R8262"/>
          <p:cNvSpPr/>
          <p:nvPr/>
        </p:nvSpPr>
        <p:spPr>
          <a:xfrm>
            <a:off x="11446941" y="2812134"/>
            <a:ext cx="390000" cy="290000"/>
          </a:xfrm>
          <a:prstGeom prst="rect">
            <a:avLst/>
          </a:prstGeom>
          <a:solidFill>
            <a:srgbClr val="B6BBC0"/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606" name="T8263"/>
          <p:cNvSpPr/>
          <p:nvPr/>
        </p:nvSpPr>
        <p:spPr>
          <a:xfrm>
            <a:off x="11446941" y="2812134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17.5M</a:t>
            </a:r>
            <a:endParaRPr lang="zh-CN" sz="570" dirty="0"/>
          </a:p>
        </p:txBody>
      </p:sp>
      <p:sp>
        <p:nvSpPr>
          <p:cNvPr id="607" name="T8264"/>
          <p:cNvSpPr/>
          <p:nvPr/>
        </p:nvSpPr>
        <p:spPr>
          <a:xfrm>
            <a:off x="11458371" y="2986134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40件</a:t>
            </a:r>
            <a:endParaRPr lang="zh-CN" sz="500" dirty="0"/>
          </a:p>
        </p:txBody>
      </p:sp>
      <p:sp>
        <p:nvSpPr>
          <p:cNvPr id="608" name="R8182"/>
          <p:cNvSpPr/>
          <p:nvPr/>
        </p:nvSpPr>
        <p:spPr>
          <a:xfrm>
            <a:off x="11447136" y="2522329"/>
            <a:ext cx="390000" cy="290000"/>
          </a:xfrm>
          <a:prstGeom prst="rect">
            <a:avLst/>
          </a:prstGeom>
          <a:solidFill>
            <a:srgbClr val="E8ECF0">
              <a:alpha val="30000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609" name="T6000"/>
          <p:cNvSpPr/>
          <p:nvPr/>
        </p:nvSpPr>
        <p:spPr>
          <a:xfrm>
            <a:off x="659384" y="3968496"/>
            <a:ext cx="390000" cy="155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6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W01</a:t>
            </a:r>
            <a:endParaRPr lang="zh-CN" sz="600" dirty="0"/>
          </a:p>
        </p:txBody>
      </p:sp>
      <p:sp>
        <p:nvSpPr>
          <p:cNvPr id="610" name="T6001"/>
          <p:cNvSpPr/>
          <p:nvPr/>
        </p:nvSpPr>
        <p:spPr>
          <a:xfrm>
            <a:off x="1049384" y="3968496"/>
            <a:ext cx="390000" cy="155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6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W02</a:t>
            </a:r>
            <a:endParaRPr lang="zh-CN" sz="600" dirty="0"/>
          </a:p>
        </p:txBody>
      </p:sp>
      <p:sp>
        <p:nvSpPr>
          <p:cNvPr id="611" name="T6002"/>
          <p:cNvSpPr/>
          <p:nvPr/>
        </p:nvSpPr>
        <p:spPr>
          <a:xfrm>
            <a:off x="1439384" y="3968496"/>
            <a:ext cx="390000" cy="155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6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W03</a:t>
            </a:r>
            <a:endParaRPr lang="zh-CN" sz="600" dirty="0"/>
          </a:p>
        </p:txBody>
      </p:sp>
      <p:sp>
        <p:nvSpPr>
          <p:cNvPr id="612" name="T6003"/>
          <p:cNvSpPr/>
          <p:nvPr/>
        </p:nvSpPr>
        <p:spPr>
          <a:xfrm>
            <a:off x="1829384" y="3968496"/>
            <a:ext cx="390000" cy="155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6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W04</a:t>
            </a:r>
            <a:endParaRPr lang="zh-CN" sz="600" dirty="0"/>
          </a:p>
        </p:txBody>
      </p:sp>
      <p:sp>
        <p:nvSpPr>
          <p:cNvPr id="613" name="T6004"/>
          <p:cNvSpPr/>
          <p:nvPr/>
        </p:nvSpPr>
        <p:spPr>
          <a:xfrm>
            <a:off x="2219384" y="3968496"/>
            <a:ext cx="390000" cy="155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6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W05</a:t>
            </a:r>
            <a:endParaRPr lang="zh-CN" sz="600" dirty="0"/>
          </a:p>
        </p:txBody>
      </p:sp>
      <p:sp>
        <p:nvSpPr>
          <p:cNvPr id="614" name="T6005"/>
          <p:cNvSpPr/>
          <p:nvPr/>
        </p:nvSpPr>
        <p:spPr>
          <a:xfrm>
            <a:off x="2609384" y="3968496"/>
            <a:ext cx="390000" cy="155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6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W06</a:t>
            </a:r>
            <a:endParaRPr lang="zh-CN" sz="600" dirty="0"/>
          </a:p>
        </p:txBody>
      </p:sp>
      <p:sp>
        <p:nvSpPr>
          <p:cNvPr id="615" name="T6006"/>
          <p:cNvSpPr/>
          <p:nvPr/>
        </p:nvSpPr>
        <p:spPr>
          <a:xfrm>
            <a:off x="2999384" y="3968496"/>
            <a:ext cx="390000" cy="155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6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W07</a:t>
            </a:r>
            <a:endParaRPr lang="zh-CN" sz="600" dirty="0"/>
          </a:p>
        </p:txBody>
      </p:sp>
      <p:sp>
        <p:nvSpPr>
          <p:cNvPr id="616" name="T6007"/>
          <p:cNvSpPr/>
          <p:nvPr/>
        </p:nvSpPr>
        <p:spPr>
          <a:xfrm>
            <a:off x="3389384" y="3968496"/>
            <a:ext cx="390000" cy="155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6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W08</a:t>
            </a:r>
            <a:endParaRPr lang="zh-CN" sz="600" dirty="0"/>
          </a:p>
        </p:txBody>
      </p:sp>
      <p:sp>
        <p:nvSpPr>
          <p:cNvPr id="617" name="T6008"/>
          <p:cNvSpPr/>
          <p:nvPr/>
        </p:nvSpPr>
        <p:spPr>
          <a:xfrm>
            <a:off x="3779384" y="3968496"/>
            <a:ext cx="390000" cy="155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6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W09</a:t>
            </a:r>
            <a:endParaRPr lang="zh-CN" sz="600" dirty="0"/>
          </a:p>
        </p:txBody>
      </p:sp>
      <p:sp>
        <p:nvSpPr>
          <p:cNvPr id="618" name="T6009"/>
          <p:cNvSpPr/>
          <p:nvPr/>
        </p:nvSpPr>
        <p:spPr>
          <a:xfrm>
            <a:off x="4169384" y="3968496"/>
            <a:ext cx="390000" cy="155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6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W10</a:t>
            </a:r>
            <a:endParaRPr lang="zh-CN" sz="600" dirty="0"/>
          </a:p>
        </p:txBody>
      </p:sp>
      <p:sp>
        <p:nvSpPr>
          <p:cNvPr id="619" name="T6010"/>
          <p:cNvSpPr/>
          <p:nvPr/>
        </p:nvSpPr>
        <p:spPr>
          <a:xfrm>
            <a:off x="4559384" y="3968496"/>
            <a:ext cx="390000" cy="155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6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W11</a:t>
            </a:r>
            <a:endParaRPr lang="zh-CN" sz="600" dirty="0"/>
          </a:p>
        </p:txBody>
      </p:sp>
      <p:sp>
        <p:nvSpPr>
          <p:cNvPr id="620" name="T6011"/>
          <p:cNvSpPr/>
          <p:nvPr/>
        </p:nvSpPr>
        <p:spPr>
          <a:xfrm>
            <a:off x="4949384" y="3968496"/>
            <a:ext cx="390000" cy="155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6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W12</a:t>
            </a:r>
            <a:endParaRPr lang="zh-CN" sz="600" dirty="0"/>
          </a:p>
        </p:txBody>
      </p:sp>
      <p:sp>
        <p:nvSpPr>
          <p:cNvPr id="621" name="T6012"/>
          <p:cNvSpPr/>
          <p:nvPr/>
        </p:nvSpPr>
        <p:spPr>
          <a:xfrm>
            <a:off x="5339384" y="3968496"/>
            <a:ext cx="390000" cy="155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600" b="1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W13</a:t>
            </a:r>
            <a:endParaRPr lang="zh-CN" sz="600" dirty="0"/>
          </a:p>
        </p:txBody>
      </p:sp>
      <p:sp>
        <p:nvSpPr>
          <p:cNvPr id="622" name="T6013"/>
          <p:cNvSpPr/>
          <p:nvPr/>
        </p:nvSpPr>
        <p:spPr>
          <a:xfrm>
            <a:off x="182880" y="4151376"/>
            <a:ext cx="466504" cy="290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CN" sz="68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BK业务</a:t>
            </a:r>
            <a:endParaRPr lang="zh-CN" sz="680" dirty="0"/>
          </a:p>
        </p:txBody>
      </p:sp>
      <p:sp>
        <p:nvSpPr>
          <p:cNvPr id="623" name="R6014"/>
          <p:cNvSpPr/>
          <p:nvPr/>
        </p:nvSpPr>
        <p:spPr>
          <a:xfrm>
            <a:off x="659384" y="4151376"/>
            <a:ext cx="390000" cy="290000"/>
          </a:xfrm>
          <a:prstGeom prst="rect">
            <a:avLst/>
          </a:prstGeom>
          <a:solidFill>
            <a:srgbClr val="1F3864">
              <a:alpha val="17703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624" name="T6015"/>
          <p:cNvSpPr/>
          <p:nvPr/>
        </p:nvSpPr>
        <p:spPr>
          <a:xfrm>
            <a:off x="659384" y="4151376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1.9M</a:t>
            </a:r>
            <a:endParaRPr lang="zh-CN" sz="570" dirty="0"/>
          </a:p>
        </p:txBody>
      </p:sp>
      <p:sp>
        <p:nvSpPr>
          <p:cNvPr id="625" name="T6016"/>
          <p:cNvSpPr/>
          <p:nvPr/>
        </p:nvSpPr>
        <p:spPr>
          <a:xfrm>
            <a:off x="659384" y="4325376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3件</a:t>
            </a:r>
            <a:endParaRPr lang="zh-CN" sz="500" dirty="0"/>
          </a:p>
        </p:txBody>
      </p:sp>
      <p:sp>
        <p:nvSpPr>
          <p:cNvPr id="626" name="R6017"/>
          <p:cNvSpPr/>
          <p:nvPr/>
        </p:nvSpPr>
        <p:spPr>
          <a:xfrm>
            <a:off x="1049384" y="4151376"/>
            <a:ext cx="390000" cy="290000"/>
          </a:xfrm>
          <a:prstGeom prst="rect">
            <a:avLst/>
          </a:prstGeom>
          <a:solidFill>
            <a:srgbClr val="1F3864">
              <a:alpha val="19661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627" name="T6018"/>
          <p:cNvSpPr/>
          <p:nvPr/>
        </p:nvSpPr>
        <p:spPr>
          <a:xfrm>
            <a:off x="1049384" y="4151376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3.4M</a:t>
            </a:r>
            <a:endParaRPr lang="zh-CN" sz="570" dirty="0"/>
          </a:p>
        </p:txBody>
      </p:sp>
      <p:sp>
        <p:nvSpPr>
          <p:cNvPr id="628" name="T6019"/>
          <p:cNvSpPr/>
          <p:nvPr/>
        </p:nvSpPr>
        <p:spPr>
          <a:xfrm>
            <a:off x="1049384" y="4325376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5件</a:t>
            </a:r>
            <a:endParaRPr lang="zh-CN" sz="500" dirty="0"/>
          </a:p>
        </p:txBody>
      </p:sp>
      <p:sp>
        <p:nvSpPr>
          <p:cNvPr id="629" name="R6020"/>
          <p:cNvSpPr/>
          <p:nvPr/>
        </p:nvSpPr>
        <p:spPr>
          <a:xfrm>
            <a:off x="1439384" y="4151376"/>
            <a:ext cx="390000" cy="290000"/>
          </a:xfrm>
          <a:prstGeom prst="rect">
            <a:avLst/>
          </a:prstGeom>
          <a:solidFill>
            <a:srgbClr val="1F3864">
              <a:alpha val="26139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630" name="T6021"/>
          <p:cNvSpPr/>
          <p:nvPr/>
        </p:nvSpPr>
        <p:spPr>
          <a:xfrm>
            <a:off x="1439384" y="4151376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8.0M</a:t>
            </a:r>
            <a:endParaRPr lang="zh-CN" sz="570" dirty="0"/>
          </a:p>
        </p:txBody>
      </p:sp>
      <p:sp>
        <p:nvSpPr>
          <p:cNvPr id="631" name="T6022"/>
          <p:cNvSpPr/>
          <p:nvPr/>
        </p:nvSpPr>
        <p:spPr>
          <a:xfrm>
            <a:off x="1439384" y="4325376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11件</a:t>
            </a:r>
            <a:endParaRPr lang="zh-CN" sz="500" dirty="0"/>
          </a:p>
        </p:txBody>
      </p:sp>
      <p:sp>
        <p:nvSpPr>
          <p:cNvPr id="632" name="R6023"/>
          <p:cNvSpPr/>
          <p:nvPr/>
        </p:nvSpPr>
        <p:spPr>
          <a:xfrm>
            <a:off x="1829384" y="4151376"/>
            <a:ext cx="390000" cy="290000"/>
          </a:xfrm>
          <a:prstGeom prst="rect">
            <a:avLst/>
          </a:prstGeom>
          <a:solidFill>
            <a:srgbClr val="1F3864">
              <a:alpha val="17487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633" name="T6024"/>
          <p:cNvSpPr/>
          <p:nvPr/>
        </p:nvSpPr>
        <p:spPr>
          <a:xfrm>
            <a:off x="1829384" y="4151376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1.8M</a:t>
            </a:r>
            <a:endParaRPr lang="zh-CN" sz="570" dirty="0"/>
          </a:p>
        </p:txBody>
      </p:sp>
      <p:sp>
        <p:nvSpPr>
          <p:cNvPr id="634" name="T6025"/>
          <p:cNvSpPr/>
          <p:nvPr/>
        </p:nvSpPr>
        <p:spPr>
          <a:xfrm>
            <a:off x="1829384" y="4325376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5件</a:t>
            </a:r>
            <a:endParaRPr lang="zh-CN" sz="500" dirty="0"/>
          </a:p>
        </p:txBody>
      </p:sp>
      <p:sp>
        <p:nvSpPr>
          <p:cNvPr id="635" name="R6026"/>
          <p:cNvSpPr/>
          <p:nvPr/>
        </p:nvSpPr>
        <p:spPr>
          <a:xfrm>
            <a:off x="2219384" y="4151376"/>
            <a:ext cx="390000" cy="290000"/>
          </a:xfrm>
          <a:prstGeom prst="rect">
            <a:avLst/>
          </a:prstGeom>
          <a:solidFill>
            <a:srgbClr val="1F3864">
              <a:alpha val="38793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636" name="T6027"/>
          <p:cNvSpPr/>
          <p:nvPr/>
        </p:nvSpPr>
        <p:spPr>
          <a:xfrm>
            <a:off x="2219384" y="4151376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17.2M</a:t>
            </a:r>
            <a:endParaRPr lang="zh-CN" sz="570" dirty="0"/>
          </a:p>
        </p:txBody>
      </p:sp>
      <p:sp>
        <p:nvSpPr>
          <p:cNvPr id="637" name="T6028"/>
          <p:cNvSpPr/>
          <p:nvPr/>
        </p:nvSpPr>
        <p:spPr>
          <a:xfrm>
            <a:off x="2219384" y="4325376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14件</a:t>
            </a:r>
            <a:endParaRPr lang="zh-CN" sz="500" dirty="0"/>
          </a:p>
        </p:txBody>
      </p:sp>
      <p:sp>
        <p:nvSpPr>
          <p:cNvPr id="638" name="R6029"/>
          <p:cNvSpPr/>
          <p:nvPr/>
        </p:nvSpPr>
        <p:spPr>
          <a:xfrm>
            <a:off x="2609384" y="4151376"/>
            <a:ext cx="390000" cy="290000"/>
          </a:xfrm>
          <a:prstGeom prst="rect">
            <a:avLst/>
          </a:prstGeom>
          <a:solidFill>
            <a:srgbClr val="1F3864">
              <a:alpha val="53757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639" name="T6030"/>
          <p:cNvSpPr/>
          <p:nvPr/>
        </p:nvSpPr>
        <p:spPr>
          <a:xfrm>
            <a:off x="2609384" y="4151376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27.9M</a:t>
            </a:r>
            <a:endParaRPr lang="zh-CN" sz="570" dirty="0"/>
          </a:p>
        </p:txBody>
      </p:sp>
      <p:sp>
        <p:nvSpPr>
          <p:cNvPr id="640" name="T6031"/>
          <p:cNvSpPr/>
          <p:nvPr/>
        </p:nvSpPr>
        <p:spPr>
          <a:xfrm>
            <a:off x="2609384" y="4325376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21件</a:t>
            </a:r>
            <a:endParaRPr lang="zh-CN" sz="500" dirty="0"/>
          </a:p>
        </p:txBody>
      </p:sp>
      <p:sp>
        <p:nvSpPr>
          <p:cNvPr id="641" name="R6032"/>
          <p:cNvSpPr/>
          <p:nvPr/>
        </p:nvSpPr>
        <p:spPr>
          <a:xfrm>
            <a:off x="2999384" y="4151376"/>
            <a:ext cx="390000" cy="290000"/>
          </a:xfrm>
          <a:prstGeom prst="rect">
            <a:avLst/>
          </a:prstGeom>
          <a:solidFill>
            <a:srgbClr val="1F3864">
              <a:alpha val="17703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642" name="T6033"/>
          <p:cNvSpPr/>
          <p:nvPr/>
        </p:nvSpPr>
        <p:spPr>
          <a:xfrm>
            <a:off x="2999384" y="4151376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1.9M</a:t>
            </a:r>
            <a:endParaRPr lang="zh-CN" sz="570" dirty="0"/>
          </a:p>
        </p:txBody>
      </p:sp>
      <p:sp>
        <p:nvSpPr>
          <p:cNvPr id="643" name="T6034"/>
          <p:cNvSpPr/>
          <p:nvPr/>
        </p:nvSpPr>
        <p:spPr>
          <a:xfrm>
            <a:off x="2999384" y="4325376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2件</a:t>
            </a:r>
            <a:endParaRPr lang="zh-CN" sz="500" dirty="0"/>
          </a:p>
        </p:txBody>
      </p:sp>
      <p:sp>
        <p:nvSpPr>
          <p:cNvPr id="644" name="R6035"/>
          <p:cNvSpPr/>
          <p:nvPr/>
        </p:nvSpPr>
        <p:spPr>
          <a:xfrm>
            <a:off x="3389384" y="4151376"/>
            <a:ext cx="390000" cy="290000"/>
          </a:xfrm>
          <a:prstGeom prst="rect">
            <a:avLst/>
          </a:prstGeom>
          <a:solidFill>
            <a:srgbClr val="1F3864">
              <a:alpha val="80000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645" name="T6036"/>
          <p:cNvSpPr/>
          <p:nvPr/>
        </p:nvSpPr>
        <p:spPr>
          <a:xfrm>
            <a:off x="3389384" y="4151376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46.9M</a:t>
            </a:r>
            <a:endParaRPr lang="zh-CN" sz="570" dirty="0"/>
          </a:p>
        </p:txBody>
      </p:sp>
      <p:sp>
        <p:nvSpPr>
          <p:cNvPr id="646" name="T6037"/>
          <p:cNvSpPr/>
          <p:nvPr/>
        </p:nvSpPr>
        <p:spPr>
          <a:xfrm>
            <a:off x="3389384" y="4325376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30件</a:t>
            </a:r>
            <a:endParaRPr lang="zh-CN" sz="500" dirty="0"/>
          </a:p>
        </p:txBody>
      </p:sp>
      <p:sp>
        <p:nvSpPr>
          <p:cNvPr id="647" name="R6038"/>
          <p:cNvSpPr/>
          <p:nvPr/>
        </p:nvSpPr>
        <p:spPr>
          <a:xfrm>
            <a:off x="3779384" y="4151376"/>
            <a:ext cx="390000" cy="290000"/>
          </a:xfrm>
          <a:prstGeom prst="rect">
            <a:avLst/>
          </a:prstGeom>
          <a:solidFill>
            <a:srgbClr val="1F3864">
              <a:alpha val="29444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648" name="T6039"/>
          <p:cNvSpPr/>
          <p:nvPr/>
        </p:nvSpPr>
        <p:spPr>
          <a:xfrm>
            <a:off x="3779384" y="4151376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10.4M</a:t>
            </a:r>
            <a:endParaRPr lang="zh-CN" sz="570" dirty="0"/>
          </a:p>
        </p:txBody>
      </p:sp>
      <p:sp>
        <p:nvSpPr>
          <p:cNvPr id="649" name="T6040"/>
          <p:cNvSpPr/>
          <p:nvPr/>
        </p:nvSpPr>
        <p:spPr>
          <a:xfrm>
            <a:off x="3779384" y="4325376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8件</a:t>
            </a:r>
            <a:endParaRPr lang="zh-CN" sz="500" dirty="0"/>
          </a:p>
        </p:txBody>
      </p:sp>
      <p:sp>
        <p:nvSpPr>
          <p:cNvPr id="650" name="R6041"/>
          <p:cNvSpPr/>
          <p:nvPr/>
        </p:nvSpPr>
        <p:spPr>
          <a:xfrm>
            <a:off x="4169384" y="4151376"/>
            <a:ext cx="390000" cy="290000"/>
          </a:xfrm>
          <a:prstGeom prst="rect">
            <a:avLst/>
          </a:prstGeom>
          <a:solidFill>
            <a:srgbClr val="1F3864">
              <a:alpha val="21489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651" name="T6042"/>
          <p:cNvSpPr/>
          <p:nvPr/>
        </p:nvSpPr>
        <p:spPr>
          <a:xfrm>
            <a:off x="4169384" y="4151376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4.7M</a:t>
            </a:r>
            <a:endParaRPr lang="zh-CN" sz="570" dirty="0"/>
          </a:p>
        </p:txBody>
      </p:sp>
      <p:sp>
        <p:nvSpPr>
          <p:cNvPr id="652" name="T6043"/>
          <p:cNvSpPr/>
          <p:nvPr/>
        </p:nvSpPr>
        <p:spPr>
          <a:xfrm>
            <a:off x="4169384" y="4325376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7件</a:t>
            </a:r>
            <a:endParaRPr lang="zh-CN" sz="500" dirty="0"/>
          </a:p>
        </p:txBody>
      </p:sp>
      <p:sp>
        <p:nvSpPr>
          <p:cNvPr id="653" name="R6044"/>
          <p:cNvSpPr/>
          <p:nvPr/>
        </p:nvSpPr>
        <p:spPr>
          <a:xfrm>
            <a:off x="4559384" y="4151376"/>
            <a:ext cx="390000" cy="290000"/>
          </a:xfrm>
          <a:prstGeom prst="rect">
            <a:avLst/>
          </a:prstGeom>
          <a:solidFill>
            <a:srgbClr val="1F3864">
              <a:alpha val="64858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654" name="T6045"/>
          <p:cNvSpPr/>
          <p:nvPr/>
        </p:nvSpPr>
        <p:spPr>
          <a:xfrm>
            <a:off x="4559384" y="4151376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36.0M</a:t>
            </a:r>
            <a:endParaRPr lang="zh-CN" sz="570" dirty="0"/>
          </a:p>
        </p:txBody>
      </p:sp>
      <p:sp>
        <p:nvSpPr>
          <p:cNvPr id="655" name="T6046"/>
          <p:cNvSpPr/>
          <p:nvPr/>
        </p:nvSpPr>
        <p:spPr>
          <a:xfrm>
            <a:off x="4559384" y="4325376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19件</a:t>
            </a:r>
            <a:endParaRPr lang="zh-CN" sz="500" dirty="0"/>
          </a:p>
        </p:txBody>
      </p:sp>
      <p:sp>
        <p:nvSpPr>
          <p:cNvPr id="656" name="R6047"/>
          <p:cNvSpPr/>
          <p:nvPr/>
        </p:nvSpPr>
        <p:spPr>
          <a:xfrm>
            <a:off x="4949384" y="4151376"/>
            <a:ext cx="390000" cy="290000"/>
          </a:xfrm>
          <a:prstGeom prst="rect">
            <a:avLst/>
          </a:prstGeom>
          <a:solidFill>
            <a:srgbClr val="1F3864">
              <a:alpha val="23111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657" name="T6048"/>
          <p:cNvSpPr/>
          <p:nvPr/>
        </p:nvSpPr>
        <p:spPr>
          <a:xfrm>
            <a:off x="4949384" y="4151376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5.8M</a:t>
            </a:r>
            <a:endParaRPr lang="zh-CN" sz="570" dirty="0"/>
          </a:p>
        </p:txBody>
      </p:sp>
      <p:sp>
        <p:nvSpPr>
          <p:cNvPr id="658" name="T6049"/>
          <p:cNvSpPr/>
          <p:nvPr/>
        </p:nvSpPr>
        <p:spPr>
          <a:xfrm>
            <a:off x="4949384" y="4325376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5件</a:t>
            </a:r>
            <a:endParaRPr lang="zh-CN" sz="500" dirty="0"/>
          </a:p>
        </p:txBody>
      </p:sp>
      <p:sp>
        <p:nvSpPr>
          <p:cNvPr id="659" name="R6050"/>
          <p:cNvSpPr/>
          <p:nvPr/>
        </p:nvSpPr>
        <p:spPr>
          <a:xfrm>
            <a:off x="5339384" y="4151376"/>
            <a:ext cx="390000" cy="290000"/>
          </a:xfrm>
          <a:prstGeom prst="rect">
            <a:avLst/>
          </a:prstGeom>
          <a:solidFill>
            <a:srgbClr val="D7DCE4"/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660" name="T6051"/>
          <p:cNvSpPr/>
          <p:nvPr/>
        </p:nvSpPr>
        <p:spPr>
          <a:xfrm>
            <a:off x="5322239" y="4151376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1.8M</a:t>
            </a:r>
            <a:endParaRPr lang="zh-CN" sz="570" b="1" dirty="0">
              <a:solidFill>
                <a:srgbClr val="00206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661" name="T6052"/>
          <p:cNvSpPr/>
          <p:nvPr/>
        </p:nvSpPr>
        <p:spPr>
          <a:xfrm>
            <a:off x="5339384" y="4325376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3件</a:t>
            </a:r>
            <a:endParaRPr lang="zh-CN" sz="500" dirty="0">
              <a:solidFill>
                <a:srgbClr val="00206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662" name="T6053"/>
          <p:cNvSpPr/>
          <p:nvPr/>
        </p:nvSpPr>
        <p:spPr>
          <a:xfrm>
            <a:off x="182880" y="4441376"/>
            <a:ext cx="466504" cy="290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CN" sz="68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永明经代</a:t>
            </a:r>
            <a:endParaRPr lang="zh-CN" sz="680" dirty="0"/>
          </a:p>
        </p:txBody>
      </p:sp>
      <p:sp>
        <p:nvSpPr>
          <p:cNvPr id="663" name="R6054"/>
          <p:cNvSpPr/>
          <p:nvPr/>
        </p:nvSpPr>
        <p:spPr>
          <a:xfrm>
            <a:off x="659384" y="4441376"/>
            <a:ext cx="390000" cy="290000"/>
          </a:xfrm>
          <a:prstGeom prst="rect">
            <a:avLst/>
          </a:prstGeom>
          <a:solidFill>
            <a:srgbClr val="1A7A3F">
              <a:alpha val="62729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664" name="T6055"/>
          <p:cNvSpPr/>
          <p:nvPr/>
        </p:nvSpPr>
        <p:spPr>
          <a:xfrm>
            <a:off x="659384" y="4441376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10.5M</a:t>
            </a:r>
            <a:endParaRPr lang="zh-CN" sz="570" dirty="0"/>
          </a:p>
        </p:txBody>
      </p:sp>
      <p:sp>
        <p:nvSpPr>
          <p:cNvPr id="665" name="T6056"/>
          <p:cNvSpPr/>
          <p:nvPr/>
        </p:nvSpPr>
        <p:spPr>
          <a:xfrm>
            <a:off x="659384" y="4615376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33件</a:t>
            </a:r>
            <a:endParaRPr lang="zh-CN" sz="500" dirty="0"/>
          </a:p>
        </p:txBody>
      </p:sp>
      <p:sp>
        <p:nvSpPr>
          <p:cNvPr id="666" name="R6057"/>
          <p:cNvSpPr/>
          <p:nvPr/>
        </p:nvSpPr>
        <p:spPr>
          <a:xfrm>
            <a:off x="1049384" y="4441376"/>
            <a:ext cx="390000" cy="290000"/>
          </a:xfrm>
          <a:prstGeom prst="rect">
            <a:avLst/>
          </a:prstGeom>
          <a:solidFill>
            <a:srgbClr val="1A7A3F">
              <a:alpha val="58236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667" name="T6058"/>
          <p:cNvSpPr/>
          <p:nvPr/>
        </p:nvSpPr>
        <p:spPr>
          <a:xfrm>
            <a:off x="1049384" y="4441376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9.5M</a:t>
            </a:r>
            <a:endParaRPr lang="zh-CN" sz="570" dirty="0"/>
          </a:p>
        </p:txBody>
      </p:sp>
      <p:sp>
        <p:nvSpPr>
          <p:cNvPr id="668" name="T6059"/>
          <p:cNvSpPr/>
          <p:nvPr/>
        </p:nvSpPr>
        <p:spPr>
          <a:xfrm>
            <a:off x="1049384" y="4615376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27件</a:t>
            </a:r>
            <a:endParaRPr lang="zh-CN" sz="500" dirty="0"/>
          </a:p>
        </p:txBody>
      </p:sp>
      <p:sp>
        <p:nvSpPr>
          <p:cNvPr id="669" name="R6060"/>
          <p:cNvSpPr/>
          <p:nvPr/>
        </p:nvSpPr>
        <p:spPr>
          <a:xfrm>
            <a:off x="1439384" y="4441376"/>
            <a:ext cx="390000" cy="290000"/>
          </a:xfrm>
          <a:prstGeom prst="rect">
            <a:avLst/>
          </a:prstGeom>
          <a:solidFill>
            <a:srgbClr val="1A7A3F">
              <a:alpha val="67564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670" name="T6061"/>
          <p:cNvSpPr/>
          <p:nvPr/>
        </p:nvSpPr>
        <p:spPr>
          <a:xfrm>
            <a:off x="1439384" y="4441376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11.6M</a:t>
            </a:r>
            <a:endParaRPr lang="zh-CN" sz="570" dirty="0"/>
          </a:p>
        </p:txBody>
      </p:sp>
      <p:sp>
        <p:nvSpPr>
          <p:cNvPr id="671" name="T6062"/>
          <p:cNvSpPr/>
          <p:nvPr/>
        </p:nvSpPr>
        <p:spPr>
          <a:xfrm>
            <a:off x="1439384" y="4615376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27件</a:t>
            </a:r>
            <a:endParaRPr lang="zh-CN" sz="500" dirty="0"/>
          </a:p>
        </p:txBody>
      </p:sp>
      <p:sp>
        <p:nvSpPr>
          <p:cNvPr id="672" name="R6063"/>
          <p:cNvSpPr/>
          <p:nvPr/>
        </p:nvSpPr>
        <p:spPr>
          <a:xfrm>
            <a:off x="1829384" y="4441376"/>
            <a:ext cx="390000" cy="290000"/>
          </a:xfrm>
          <a:prstGeom prst="rect">
            <a:avLst/>
          </a:prstGeom>
          <a:solidFill>
            <a:srgbClr val="1A7A3F">
              <a:alpha val="80000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673" name="T6064"/>
          <p:cNvSpPr/>
          <p:nvPr/>
        </p:nvSpPr>
        <p:spPr>
          <a:xfrm>
            <a:off x="1829384" y="4441376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14.3M</a:t>
            </a:r>
            <a:endParaRPr lang="zh-CN" sz="570" dirty="0"/>
          </a:p>
        </p:txBody>
      </p:sp>
      <p:sp>
        <p:nvSpPr>
          <p:cNvPr id="674" name="T6065"/>
          <p:cNvSpPr/>
          <p:nvPr/>
        </p:nvSpPr>
        <p:spPr>
          <a:xfrm>
            <a:off x="1829384" y="4615376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14件</a:t>
            </a:r>
            <a:endParaRPr lang="zh-CN" sz="500" dirty="0"/>
          </a:p>
        </p:txBody>
      </p:sp>
      <p:sp>
        <p:nvSpPr>
          <p:cNvPr id="675" name="R6066"/>
          <p:cNvSpPr/>
          <p:nvPr/>
        </p:nvSpPr>
        <p:spPr>
          <a:xfrm>
            <a:off x="2219384" y="4441376"/>
            <a:ext cx="390000" cy="290000"/>
          </a:xfrm>
          <a:prstGeom prst="rect">
            <a:avLst/>
          </a:prstGeom>
          <a:solidFill>
            <a:srgbClr val="1A7A3F">
              <a:alpha val="47955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676" name="T6067"/>
          <p:cNvSpPr/>
          <p:nvPr/>
        </p:nvSpPr>
        <p:spPr>
          <a:xfrm>
            <a:off x="2219384" y="4441376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1A7A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7.3M</a:t>
            </a:r>
            <a:endParaRPr lang="zh-CN" sz="570" dirty="0"/>
          </a:p>
        </p:txBody>
      </p:sp>
      <p:sp>
        <p:nvSpPr>
          <p:cNvPr id="677" name="T6068"/>
          <p:cNvSpPr/>
          <p:nvPr/>
        </p:nvSpPr>
        <p:spPr>
          <a:xfrm>
            <a:off x="2219384" y="4615376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1A7A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24件</a:t>
            </a:r>
            <a:endParaRPr lang="zh-CN" sz="500" dirty="0"/>
          </a:p>
        </p:txBody>
      </p:sp>
      <p:sp>
        <p:nvSpPr>
          <p:cNvPr id="678" name="R6069"/>
          <p:cNvSpPr/>
          <p:nvPr/>
        </p:nvSpPr>
        <p:spPr>
          <a:xfrm>
            <a:off x="2609384" y="4441376"/>
            <a:ext cx="390000" cy="290000"/>
          </a:xfrm>
          <a:prstGeom prst="rect">
            <a:avLst/>
          </a:prstGeom>
          <a:solidFill>
            <a:srgbClr val="1A7A3F">
              <a:alpha val="36340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679" name="T6070"/>
          <p:cNvSpPr/>
          <p:nvPr/>
        </p:nvSpPr>
        <p:spPr>
          <a:xfrm>
            <a:off x="2609384" y="4441376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1A7A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4.7M</a:t>
            </a:r>
            <a:endParaRPr lang="zh-CN" sz="570" dirty="0"/>
          </a:p>
        </p:txBody>
      </p:sp>
      <p:sp>
        <p:nvSpPr>
          <p:cNvPr id="680" name="T6071"/>
          <p:cNvSpPr/>
          <p:nvPr/>
        </p:nvSpPr>
        <p:spPr>
          <a:xfrm>
            <a:off x="2609384" y="4615376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1A7A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17件</a:t>
            </a:r>
            <a:endParaRPr lang="zh-CN" sz="500" dirty="0"/>
          </a:p>
        </p:txBody>
      </p:sp>
      <p:sp>
        <p:nvSpPr>
          <p:cNvPr id="681" name="R6072"/>
          <p:cNvSpPr/>
          <p:nvPr/>
        </p:nvSpPr>
        <p:spPr>
          <a:xfrm>
            <a:off x="2999384" y="4441376"/>
            <a:ext cx="390000" cy="290000"/>
          </a:xfrm>
          <a:prstGeom prst="rect">
            <a:avLst/>
          </a:prstGeom>
          <a:solidFill>
            <a:srgbClr val="1A7A3F">
              <a:alpha val="23826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682" name="T6073"/>
          <p:cNvSpPr/>
          <p:nvPr/>
        </p:nvSpPr>
        <p:spPr>
          <a:xfrm>
            <a:off x="2999384" y="4441376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1A7A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1.9M</a:t>
            </a:r>
            <a:endParaRPr lang="zh-CN" sz="570" dirty="0"/>
          </a:p>
        </p:txBody>
      </p:sp>
      <p:sp>
        <p:nvSpPr>
          <p:cNvPr id="683" name="T6074"/>
          <p:cNvSpPr/>
          <p:nvPr/>
        </p:nvSpPr>
        <p:spPr>
          <a:xfrm>
            <a:off x="2999384" y="4615376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1A7A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5件</a:t>
            </a:r>
            <a:endParaRPr lang="zh-CN" sz="500" dirty="0"/>
          </a:p>
        </p:txBody>
      </p:sp>
      <p:sp>
        <p:nvSpPr>
          <p:cNvPr id="684" name="R6075"/>
          <p:cNvSpPr/>
          <p:nvPr/>
        </p:nvSpPr>
        <p:spPr>
          <a:xfrm>
            <a:off x="3389384" y="4441376"/>
            <a:ext cx="390000" cy="290000"/>
          </a:xfrm>
          <a:prstGeom prst="rect">
            <a:avLst/>
          </a:prstGeom>
          <a:solidFill>
            <a:srgbClr val="1A7A3F">
              <a:alpha val="44034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685" name="T6076"/>
          <p:cNvSpPr/>
          <p:nvPr/>
        </p:nvSpPr>
        <p:spPr>
          <a:xfrm>
            <a:off x="3389384" y="4441376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1A7A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6.4M</a:t>
            </a:r>
            <a:endParaRPr lang="zh-CN" sz="570" dirty="0"/>
          </a:p>
        </p:txBody>
      </p:sp>
      <p:sp>
        <p:nvSpPr>
          <p:cNvPr id="686" name="T6077"/>
          <p:cNvSpPr/>
          <p:nvPr/>
        </p:nvSpPr>
        <p:spPr>
          <a:xfrm>
            <a:off x="3389384" y="4615376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1A7A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19件</a:t>
            </a:r>
            <a:endParaRPr lang="zh-CN" sz="500" dirty="0"/>
          </a:p>
        </p:txBody>
      </p:sp>
      <p:sp>
        <p:nvSpPr>
          <p:cNvPr id="687" name="R6078"/>
          <p:cNvSpPr/>
          <p:nvPr/>
        </p:nvSpPr>
        <p:spPr>
          <a:xfrm>
            <a:off x="3779384" y="4441376"/>
            <a:ext cx="390000" cy="290000"/>
          </a:xfrm>
          <a:prstGeom prst="rect">
            <a:avLst/>
          </a:prstGeom>
          <a:solidFill>
            <a:srgbClr val="1A7A3F">
              <a:alpha val="27350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688" name="T6079"/>
          <p:cNvSpPr/>
          <p:nvPr/>
        </p:nvSpPr>
        <p:spPr>
          <a:xfrm>
            <a:off x="3779384" y="4441376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1A7A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2.7M</a:t>
            </a:r>
            <a:endParaRPr lang="zh-CN" sz="570" dirty="0"/>
          </a:p>
        </p:txBody>
      </p:sp>
      <p:sp>
        <p:nvSpPr>
          <p:cNvPr id="689" name="T6080"/>
          <p:cNvSpPr/>
          <p:nvPr/>
        </p:nvSpPr>
        <p:spPr>
          <a:xfrm>
            <a:off x="3779384" y="4615376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1A7A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13件</a:t>
            </a:r>
            <a:endParaRPr lang="zh-CN" sz="500" dirty="0"/>
          </a:p>
        </p:txBody>
      </p:sp>
      <p:sp>
        <p:nvSpPr>
          <p:cNvPr id="690" name="R6081"/>
          <p:cNvSpPr/>
          <p:nvPr/>
        </p:nvSpPr>
        <p:spPr>
          <a:xfrm>
            <a:off x="4169384" y="4441376"/>
            <a:ext cx="390000" cy="290000"/>
          </a:xfrm>
          <a:prstGeom prst="rect">
            <a:avLst/>
          </a:prstGeom>
          <a:solidFill>
            <a:srgbClr val="1A7A3F">
              <a:alpha val="35067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691" name="T6082"/>
          <p:cNvSpPr/>
          <p:nvPr/>
        </p:nvSpPr>
        <p:spPr>
          <a:xfrm>
            <a:off x="4169384" y="4441376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1A7A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4.4M</a:t>
            </a:r>
            <a:endParaRPr lang="zh-CN" sz="570" dirty="0"/>
          </a:p>
        </p:txBody>
      </p:sp>
      <p:sp>
        <p:nvSpPr>
          <p:cNvPr id="692" name="T6083"/>
          <p:cNvSpPr/>
          <p:nvPr/>
        </p:nvSpPr>
        <p:spPr>
          <a:xfrm>
            <a:off x="4169384" y="4615376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1A7A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16件</a:t>
            </a:r>
            <a:endParaRPr lang="zh-CN" sz="500" dirty="0"/>
          </a:p>
        </p:txBody>
      </p:sp>
      <p:sp>
        <p:nvSpPr>
          <p:cNvPr id="693" name="R6084"/>
          <p:cNvSpPr/>
          <p:nvPr/>
        </p:nvSpPr>
        <p:spPr>
          <a:xfrm>
            <a:off x="4559384" y="4441376"/>
            <a:ext cx="390000" cy="290000"/>
          </a:xfrm>
          <a:prstGeom prst="rect">
            <a:avLst/>
          </a:prstGeom>
          <a:solidFill>
            <a:srgbClr val="1A7A3F">
              <a:alpha val="27911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694" name="T6085"/>
          <p:cNvSpPr/>
          <p:nvPr/>
        </p:nvSpPr>
        <p:spPr>
          <a:xfrm>
            <a:off x="4559384" y="4441376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1A7A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2.9M</a:t>
            </a:r>
            <a:endParaRPr lang="zh-CN" sz="570" dirty="0"/>
          </a:p>
        </p:txBody>
      </p:sp>
      <p:sp>
        <p:nvSpPr>
          <p:cNvPr id="695" name="T6086"/>
          <p:cNvSpPr/>
          <p:nvPr/>
        </p:nvSpPr>
        <p:spPr>
          <a:xfrm>
            <a:off x="4559384" y="4615376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1A7A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9件</a:t>
            </a:r>
            <a:endParaRPr lang="zh-CN" sz="500" dirty="0"/>
          </a:p>
        </p:txBody>
      </p:sp>
      <p:sp>
        <p:nvSpPr>
          <p:cNvPr id="696" name="R6087"/>
          <p:cNvSpPr/>
          <p:nvPr/>
        </p:nvSpPr>
        <p:spPr>
          <a:xfrm>
            <a:off x="4949384" y="4441376"/>
            <a:ext cx="390000" cy="290000"/>
          </a:xfrm>
          <a:prstGeom prst="rect">
            <a:avLst/>
          </a:prstGeom>
          <a:solidFill>
            <a:srgbClr val="1A7A3F">
              <a:alpha val="17068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697" name="T6088"/>
          <p:cNvSpPr/>
          <p:nvPr/>
        </p:nvSpPr>
        <p:spPr>
          <a:xfrm>
            <a:off x="4949384" y="4441376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1A7A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1.6M</a:t>
            </a:r>
            <a:endParaRPr lang="zh-CN" sz="570" dirty="0"/>
          </a:p>
        </p:txBody>
      </p:sp>
      <p:sp>
        <p:nvSpPr>
          <p:cNvPr id="698" name="T6089"/>
          <p:cNvSpPr/>
          <p:nvPr/>
        </p:nvSpPr>
        <p:spPr>
          <a:xfrm>
            <a:off x="4949384" y="4615376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1A7A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3件</a:t>
            </a:r>
            <a:endParaRPr lang="zh-CN" sz="500" dirty="0"/>
          </a:p>
        </p:txBody>
      </p:sp>
      <p:sp>
        <p:nvSpPr>
          <p:cNvPr id="699" name="R6090"/>
          <p:cNvSpPr/>
          <p:nvPr/>
        </p:nvSpPr>
        <p:spPr>
          <a:xfrm>
            <a:off x="5339384" y="4441376"/>
            <a:ext cx="390000" cy="290000"/>
          </a:xfrm>
          <a:prstGeom prst="rect">
            <a:avLst/>
          </a:prstGeom>
          <a:solidFill>
            <a:srgbClr val="83B797"/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734" name="T6091"/>
          <p:cNvSpPr/>
          <p:nvPr/>
        </p:nvSpPr>
        <p:spPr>
          <a:xfrm>
            <a:off x="5345099" y="4441376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8.2M</a:t>
            </a:r>
            <a:endParaRPr lang="zh-CN" sz="570" dirty="0"/>
          </a:p>
        </p:txBody>
      </p:sp>
      <p:sp>
        <p:nvSpPr>
          <p:cNvPr id="735" name="T6092"/>
          <p:cNvSpPr/>
          <p:nvPr/>
        </p:nvSpPr>
        <p:spPr>
          <a:xfrm>
            <a:off x="5339384" y="4615376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24件</a:t>
            </a:r>
            <a:endParaRPr lang="zh-CN" sz="500" dirty="0"/>
          </a:p>
        </p:txBody>
      </p:sp>
      <p:sp>
        <p:nvSpPr>
          <p:cNvPr id="736" name="T6093"/>
          <p:cNvSpPr/>
          <p:nvPr/>
        </p:nvSpPr>
        <p:spPr>
          <a:xfrm>
            <a:off x="182880" y="4731376"/>
            <a:ext cx="466504" cy="290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CN" sz="68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同行经代</a:t>
            </a:r>
            <a:endParaRPr lang="zh-CN" sz="680" dirty="0"/>
          </a:p>
        </p:txBody>
      </p:sp>
      <p:sp>
        <p:nvSpPr>
          <p:cNvPr id="737" name="R6094"/>
          <p:cNvSpPr/>
          <p:nvPr/>
        </p:nvSpPr>
        <p:spPr>
          <a:xfrm>
            <a:off x="659384" y="4731376"/>
            <a:ext cx="390000" cy="290000"/>
          </a:xfrm>
          <a:prstGeom prst="rect">
            <a:avLst/>
          </a:prstGeom>
          <a:solidFill>
            <a:srgbClr val="E67E22">
              <a:alpha val="21604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738" name="T6095"/>
          <p:cNvSpPr/>
          <p:nvPr/>
        </p:nvSpPr>
        <p:spPr>
          <a:xfrm>
            <a:off x="659384" y="4731376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E67E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3.1M</a:t>
            </a:r>
            <a:endParaRPr lang="zh-CN" sz="570" dirty="0"/>
          </a:p>
        </p:txBody>
      </p:sp>
      <p:sp>
        <p:nvSpPr>
          <p:cNvPr id="739" name="T6096"/>
          <p:cNvSpPr/>
          <p:nvPr/>
        </p:nvSpPr>
        <p:spPr>
          <a:xfrm>
            <a:off x="659384" y="4905376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E67E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13件</a:t>
            </a:r>
            <a:endParaRPr lang="zh-CN" sz="500" dirty="0"/>
          </a:p>
        </p:txBody>
      </p:sp>
      <p:sp>
        <p:nvSpPr>
          <p:cNvPr id="740" name="R6097"/>
          <p:cNvSpPr/>
          <p:nvPr/>
        </p:nvSpPr>
        <p:spPr>
          <a:xfrm>
            <a:off x="1049384" y="4731376"/>
            <a:ext cx="390000" cy="290000"/>
          </a:xfrm>
          <a:prstGeom prst="rect">
            <a:avLst/>
          </a:prstGeom>
          <a:solidFill>
            <a:srgbClr val="E67E22">
              <a:alpha val="80000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741" name="T6098"/>
          <p:cNvSpPr/>
          <p:nvPr/>
        </p:nvSpPr>
        <p:spPr>
          <a:xfrm>
            <a:off x="1049384" y="4731376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30.9M</a:t>
            </a:r>
            <a:endParaRPr lang="zh-CN" sz="570" dirty="0"/>
          </a:p>
        </p:txBody>
      </p:sp>
      <p:sp>
        <p:nvSpPr>
          <p:cNvPr id="742" name="T6099"/>
          <p:cNvSpPr/>
          <p:nvPr/>
        </p:nvSpPr>
        <p:spPr>
          <a:xfrm>
            <a:off x="1049384" y="4905376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11件</a:t>
            </a:r>
            <a:endParaRPr lang="zh-CN" sz="500" dirty="0"/>
          </a:p>
        </p:txBody>
      </p:sp>
      <p:sp>
        <p:nvSpPr>
          <p:cNvPr id="743" name="R6100"/>
          <p:cNvSpPr/>
          <p:nvPr/>
        </p:nvSpPr>
        <p:spPr>
          <a:xfrm>
            <a:off x="1439384" y="4731376"/>
            <a:ext cx="390000" cy="290000"/>
          </a:xfrm>
          <a:prstGeom prst="rect">
            <a:avLst/>
          </a:prstGeom>
          <a:solidFill>
            <a:srgbClr val="E67E22">
              <a:alpha val="27052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744" name="T6101"/>
          <p:cNvSpPr/>
          <p:nvPr/>
        </p:nvSpPr>
        <p:spPr>
          <a:xfrm>
            <a:off x="1439384" y="4731376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E67E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5.7M</a:t>
            </a:r>
            <a:endParaRPr lang="zh-CN" sz="570" dirty="0"/>
          </a:p>
        </p:txBody>
      </p:sp>
      <p:sp>
        <p:nvSpPr>
          <p:cNvPr id="745" name="T6102"/>
          <p:cNvSpPr/>
          <p:nvPr/>
        </p:nvSpPr>
        <p:spPr>
          <a:xfrm>
            <a:off x="1439384" y="4905376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E67E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8件</a:t>
            </a:r>
            <a:endParaRPr lang="zh-CN" sz="500" dirty="0"/>
          </a:p>
        </p:txBody>
      </p:sp>
      <p:sp>
        <p:nvSpPr>
          <p:cNvPr id="746" name="R6103"/>
          <p:cNvSpPr/>
          <p:nvPr/>
        </p:nvSpPr>
        <p:spPr>
          <a:xfrm>
            <a:off x="1829384" y="4731376"/>
            <a:ext cx="390000" cy="290000"/>
          </a:xfrm>
          <a:prstGeom prst="rect">
            <a:avLst/>
          </a:prstGeom>
          <a:solidFill>
            <a:srgbClr val="E67E22">
              <a:alpha val="19339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747" name="T6104"/>
          <p:cNvSpPr/>
          <p:nvPr/>
        </p:nvSpPr>
        <p:spPr>
          <a:xfrm>
            <a:off x="1829384" y="4731376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E67E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2.1M</a:t>
            </a:r>
            <a:endParaRPr lang="zh-CN" sz="570" dirty="0"/>
          </a:p>
        </p:txBody>
      </p:sp>
      <p:sp>
        <p:nvSpPr>
          <p:cNvPr id="748" name="T6105"/>
          <p:cNvSpPr/>
          <p:nvPr/>
        </p:nvSpPr>
        <p:spPr>
          <a:xfrm>
            <a:off x="1829384" y="4905376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E67E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4件</a:t>
            </a:r>
            <a:endParaRPr lang="zh-CN" sz="500" dirty="0"/>
          </a:p>
        </p:txBody>
      </p:sp>
      <p:sp>
        <p:nvSpPr>
          <p:cNvPr id="749" name="R6106"/>
          <p:cNvSpPr/>
          <p:nvPr/>
        </p:nvSpPr>
        <p:spPr>
          <a:xfrm>
            <a:off x="2219384" y="4731376"/>
            <a:ext cx="390000" cy="290000"/>
          </a:xfrm>
          <a:prstGeom prst="rect">
            <a:avLst/>
          </a:prstGeom>
          <a:solidFill>
            <a:srgbClr val="E67E22">
              <a:alpha val="17539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750" name="T6107"/>
          <p:cNvSpPr/>
          <p:nvPr/>
        </p:nvSpPr>
        <p:spPr>
          <a:xfrm>
            <a:off x="2219384" y="4731376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E67E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1.2M</a:t>
            </a:r>
            <a:endParaRPr lang="zh-CN" sz="570" dirty="0"/>
          </a:p>
        </p:txBody>
      </p:sp>
      <p:sp>
        <p:nvSpPr>
          <p:cNvPr id="751" name="T6108"/>
          <p:cNvSpPr/>
          <p:nvPr/>
        </p:nvSpPr>
        <p:spPr>
          <a:xfrm>
            <a:off x="2219384" y="4905376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E67E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7件</a:t>
            </a:r>
            <a:endParaRPr lang="zh-CN" sz="500" dirty="0"/>
          </a:p>
        </p:txBody>
      </p:sp>
      <p:sp>
        <p:nvSpPr>
          <p:cNvPr id="752" name="R6109"/>
          <p:cNvSpPr/>
          <p:nvPr/>
        </p:nvSpPr>
        <p:spPr>
          <a:xfrm>
            <a:off x="2609384" y="4731376"/>
            <a:ext cx="390000" cy="290000"/>
          </a:xfrm>
          <a:prstGeom prst="rect">
            <a:avLst/>
          </a:prstGeom>
          <a:solidFill>
            <a:srgbClr val="E67E22">
              <a:alpha val="16028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753" name="T6110"/>
          <p:cNvSpPr/>
          <p:nvPr/>
        </p:nvSpPr>
        <p:spPr>
          <a:xfrm>
            <a:off x="2609384" y="4731376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E67E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0.5M</a:t>
            </a:r>
            <a:endParaRPr lang="zh-CN" sz="570" dirty="0"/>
          </a:p>
        </p:txBody>
      </p:sp>
      <p:sp>
        <p:nvSpPr>
          <p:cNvPr id="754" name="T6111"/>
          <p:cNvSpPr/>
          <p:nvPr/>
        </p:nvSpPr>
        <p:spPr>
          <a:xfrm>
            <a:off x="2609384" y="4905376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E67E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3件</a:t>
            </a:r>
            <a:endParaRPr lang="zh-CN" sz="500" dirty="0"/>
          </a:p>
        </p:txBody>
      </p:sp>
      <p:sp>
        <p:nvSpPr>
          <p:cNvPr id="755" name="R6112"/>
          <p:cNvSpPr/>
          <p:nvPr/>
        </p:nvSpPr>
        <p:spPr>
          <a:xfrm>
            <a:off x="2999384" y="4731376"/>
            <a:ext cx="390000" cy="290000"/>
          </a:xfrm>
          <a:prstGeom prst="rect">
            <a:avLst/>
          </a:prstGeom>
          <a:solidFill>
            <a:srgbClr val="E67E22">
              <a:alpha val="22061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756" name="T6113"/>
          <p:cNvSpPr/>
          <p:nvPr/>
        </p:nvSpPr>
        <p:spPr>
          <a:xfrm>
            <a:off x="2999384" y="4731376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E67E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3.4M</a:t>
            </a:r>
            <a:endParaRPr lang="zh-CN" sz="570" dirty="0"/>
          </a:p>
        </p:txBody>
      </p:sp>
      <p:sp>
        <p:nvSpPr>
          <p:cNvPr id="757" name="T6114"/>
          <p:cNvSpPr/>
          <p:nvPr/>
        </p:nvSpPr>
        <p:spPr>
          <a:xfrm>
            <a:off x="2999384" y="4905376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E67E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2件</a:t>
            </a:r>
            <a:endParaRPr lang="zh-CN" sz="500" dirty="0"/>
          </a:p>
        </p:txBody>
      </p:sp>
      <p:sp>
        <p:nvSpPr>
          <p:cNvPr id="758" name="R6115"/>
          <p:cNvSpPr/>
          <p:nvPr/>
        </p:nvSpPr>
        <p:spPr>
          <a:xfrm>
            <a:off x="3389384" y="4731376"/>
            <a:ext cx="390000" cy="290000"/>
          </a:xfrm>
          <a:prstGeom prst="rect">
            <a:avLst/>
          </a:prstGeom>
          <a:solidFill>
            <a:srgbClr val="E67E22">
              <a:alpha val="16313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759" name="T6116"/>
          <p:cNvSpPr/>
          <p:nvPr/>
        </p:nvSpPr>
        <p:spPr>
          <a:xfrm>
            <a:off x="3389384" y="4731376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E67E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0.6M</a:t>
            </a:r>
            <a:endParaRPr lang="zh-CN" sz="570" dirty="0"/>
          </a:p>
        </p:txBody>
      </p:sp>
      <p:sp>
        <p:nvSpPr>
          <p:cNvPr id="760" name="T6117"/>
          <p:cNvSpPr/>
          <p:nvPr/>
        </p:nvSpPr>
        <p:spPr>
          <a:xfrm>
            <a:off x="3389384" y="4905376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E67E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3件</a:t>
            </a:r>
            <a:endParaRPr lang="zh-CN" sz="500" dirty="0"/>
          </a:p>
        </p:txBody>
      </p:sp>
      <p:sp>
        <p:nvSpPr>
          <p:cNvPr id="761" name="R6118"/>
          <p:cNvSpPr/>
          <p:nvPr/>
        </p:nvSpPr>
        <p:spPr>
          <a:xfrm>
            <a:off x="3779384" y="4731376"/>
            <a:ext cx="390000" cy="290000"/>
          </a:xfrm>
          <a:prstGeom prst="rect">
            <a:avLst/>
          </a:prstGeom>
          <a:solidFill>
            <a:srgbClr val="E67E22">
              <a:alpha val="15944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762" name="T6119"/>
          <p:cNvSpPr/>
          <p:nvPr/>
        </p:nvSpPr>
        <p:spPr>
          <a:xfrm>
            <a:off x="3779384" y="4731376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E67E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0.5M</a:t>
            </a:r>
            <a:endParaRPr lang="zh-CN" sz="570" dirty="0"/>
          </a:p>
        </p:txBody>
      </p:sp>
      <p:sp>
        <p:nvSpPr>
          <p:cNvPr id="763" name="T6120"/>
          <p:cNvSpPr/>
          <p:nvPr/>
        </p:nvSpPr>
        <p:spPr>
          <a:xfrm>
            <a:off x="3779384" y="4905376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E67E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2件</a:t>
            </a:r>
            <a:endParaRPr lang="zh-CN" sz="500" dirty="0"/>
          </a:p>
        </p:txBody>
      </p:sp>
      <p:sp>
        <p:nvSpPr>
          <p:cNvPr id="764" name="R6121"/>
          <p:cNvSpPr/>
          <p:nvPr/>
        </p:nvSpPr>
        <p:spPr>
          <a:xfrm>
            <a:off x="4169384" y="4731376"/>
            <a:ext cx="390000" cy="290000"/>
          </a:xfrm>
          <a:prstGeom prst="rect">
            <a:avLst/>
          </a:prstGeom>
          <a:solidFill>
            <a:srgbClr val="E67E22">
              <a:alpha val="16198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765" name="T6122"/>
          <p:cNvSpPr/>
          <p:nvPr/>
        </p:nvSpPr>
        <p:spPr>
          <a:xfrm>
            <a:off x="4169384" y="4731376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E67E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0.6M</a:t>
            </a:r>
            <a:endParaRPr lang="zh-CN" sz="570" dirty="0"/>
          </a:p>
        </p:txBody>
      </p:sp>
      <p:sp>
        <p:nvSpPr>
          <p:cNvPr id="766" name="T6123"/>
          <p:cNvSpPr/>
          <p:nvPr/>
        </p:nvSpPr>
        <p:spPr>
          <a:xfrm>
            <a:off x="4169384" y="4905376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E67E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2件</a:t>
            </a:r>
            <a:endParaRPr lang="zh-CN" sz="500" dirty="0"/>
          </a:p>
        </p:txBody>
      </p:sp>
      <p:sp>
        <p:nvSpPr>
          <p:cNvPr id="767" name="R6124"/>
          <p:cNvSpPr/>
          <p:nvPr/>
        </p:nvSpPr>
        <p:spPr>
          <a:xfrm>
            <a:off x="4559384" y="4731376"/>
            <a:ext cx="390000" cy="290000"/>
          </a:xfrm>
          <a:prstGeom prst="rect">
            <a:avLst/>
          </a:prstGeom>
          <a:solidFill>
            <a:srgbClr val="E8ECF0">
              <a:alpha val="30000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768" name="R6125"/>
          <p:cNvSpPr/>
          <p:nvPr/>
        </p:nvSpPr>
        <p:spPr>
          <a:xfrm>
            <a:off x="4949384" y="4731376"/>
            <a:ext cx="390000" cy="290000"/>
          </a:xfrm>
          <a:prstGeom prst="rect">
            <a:avLst/>
          </a:prstGeom>
          <a:solidFill>
            <a:srgbClr val="E8ECF0">
              <a:alpha val="30000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769" name="R6126"/>
          <p:cNvSpPr/>
          <p:nvPr/>
        </p:nvSpPr>
        <p:spPr>
          <a:xfrm>
            <a:off x="5339384" y="4731376"/>
            <a:ext cx="390000" cy="290000"/>
          </a:xfrm>
          <a:prstGeom prst="rect">
            <a:avLst/>
          </a:prstGeom>
          <a:solidFill>
            <a:srgbClr val="F9DDCA"/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770" name="T6127"/>
          <p:cNvSpPr/>
          <p:nvPr/>
        </p:nvSpPr>
        <p:spPr>
          <a:xfrm>
            <a:off x="5339384" y="4731376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EA7E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1.9M</a:t>
            </a:r>
            <a:endParaRPr lang="zh-CN" sz="570" b="1" dirty="0">
              <a:solidFill>
                <a:srgbClr val="EA7E22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771" name="T6128"/>
          <p:cNvSpPr/>
          <p:nvPr/>
        </p:nvSpPr>
        <p:spPr>
          <a:xfrm>
            <a:off x="5339384" y="4905376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EA7E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8件</a:t>
            </a:r>
            <a:endParaRPr lang="zh-CN" sz="500" dirty="0">
              <a:solidFill>
                <a:srgbClr val="EA7E22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772" name="T6129"/>
          <p:cNvSpPr/>
          <p:nvPr/>
        </p:nvSpPr>
        <p:spPr>
          <a:xfrm>
            <a:off x="182880" y="5021376"/>
            <a:ext cx="466504" cy="290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CN" sz="68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天领业务</a:t>
            </a:r>
            <a:endParaRPr lang="zh-CN" sz="680" dirty="0"/>
          </a:p>
        </p:txBody>
      </p:sp>
      <p:sp>
        <p:nvSpPr>
          <p:cNvPr id="773" name="R6130"/>
          <p:cNvSpPr/>
          <p:nvPr/>
        </p:nvSpPr>
        <p:spPr>
          <a:xfrm>
            <a:off x="659384" y="5021376"/>
            <a:ext cx="390000" cy="290000"/>
          </a:xfrm>
          <a:prstGeom prst="rect">
            <a:avLst/>
          </a:prstGeom>
          <a:solidFill>
            <a:srgbClr val="2980B9">
              <a:alpha val="43058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774" name="T6131"/>
          <p:cNvSpPr/>
          <p:nvPr/>
        </p:nvSpPr>
        <p:spPr>
          <a:xfrm>
            <a:off x="659384" y="5021376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2980B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2.4M</a:t>
            </a:r>
            <a:endParaRPr lang="zh-CN" sz="570" dirty="0"/>
          </a:p>
        </p:txBody>
      </p:sp>
      <p:sp>
        <p:nvSpPr>
          <p:cNvPr id="775" name="T6132"/>
          <p:cNvSpPr/>
          <p:nvPr/>
        </p:nvSpPr>
        <p:spPr>
          <a:xfrm>
            <a:off x="659384" y="5195376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2980B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13件</a:t>
            </a:r>
            <a:endParaRPr lang="zh-CN" sz="500" dirty="0"/>
          </a:p>
        </p:txBody>
      </p:sp>
      <p:sp>
        <p:nvSpPr>
          <p:cNvPr id="776" name="R6133"/>
          <p:cNvSpPr/>
          <p:nvPr/>
        </p:nvSpPr>
        <p:spPr>
          <a:xfrm>
            <a:off x="1049384" y="5021376"/>
            <a:ext cx="390000" cy="290000"/>
          </a:xfrm>
          <a:prstGeom prst="rect">
            <a:avLst/>
          </a:prstGeom>
          <a:solidFill>
            <a:srgbClr val="2980B9">
              <a:alpha val="41352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777" name="T6134"/>
          <p:cNvSpPr/>
          <p:nvPr/>
        </p:nvSpPr>
        <p:spPr>
          <a:xfrm>
            <a:off x="1049384" y="5021376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2980B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2.3M</a:t>
            </a:r>
            <a:endParaRPr lang="zh-CN" sz="570" dirty="0"/>
          </a:p>
        </p:txBody>
      </p:sp>
      <p:sp>
        <p:nvSpPr>
          <p:cNvPr id="778" name="T6135"/>
          <p:cNvSpPr/>
          <p:nvPr/>
        </p:nvSpPr>
        <p:spPr>
          <a:xfrm>
            <a:off x="1049384" y="5195376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2980B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7件</a:t>
            </a:r>
            <a:endParaRPr lang="zh-CN" sz="500" dirty="0"/>
          </a:p>
        </p:txBody>
      </p:sp>
      <p:sp>
        <p:nvSpPr>
          <p:cNvPr id="779" name="R6136"/>
          <p:cNvSpPr/>
          <p:nvPr/>
        </p:nvSpPr>
        <p:spPr>
          <a:xfrm>
            <a:off x="1439384" y="5021376"/>
            <a:ext cx="390000" cy="290000"/>
          </a:xfrm>
          <a:prstGeom prst="rect">
            <a:avLst/>
          </a:prstGeom>
          <a:solidFill>
            <a:srgbClr val="2980B9">
              <a:alpha val="28108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780" name="T6137"/>
          <p:cNvSpPr/>
          <p:nvPr/>
        </p:nvSpPr>
        <p:spPr>
          <a:xfrm>
            <a:off x="1439384" y="5021376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2980B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1.1M</a:t>
            </a:r>
            <a:endParaRPr lang="zh-CN" sz="570" dirty="0"/>
          </a:p>
        </p:txBody>
      </p:sp>
      <p:sp>
        <p:nvSpPr>
          <p:cNvPr id="781" name="T6138"/>
          <p:cNvSpPr/>
          <p:nvPr/>
        </p:nvSpPr>
        <p:spPr>
          <a:xfrm>
            <a:off x="1439384" y="5195376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2980B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6件</a:t>
            </a:r>
            <a:endParaRPr lang="zh-CN" sz="500" dirty="0"/>
          </a:p>
        </p:txBody>
      </p:sp>
      <p:sp>
        <p:nvSpPr>
          <p:cNvPr id="782" name="R6139"/>
          <p:cNvSpPr/>
          <p:nvPr/>
        </p:nvSpPr>
        <p:spPr>
          <a:xfrm>
            <a:off x="1829384" y="5021376"/>
            <a:ext cx="390000" cy="290000"/>
          </a:xfrm>
          <a:prstGeom prst="rect">
            <a:avLst/>
          </a:prstGeom>
          <a:solidFill>
            <a:srgbClr val="2980B9">
              <a:alpha val="25848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783" name="T6140"/>
          <p:cNvSpPr/>
          <p:nvPr/>
        </p:nvSpPr>
        <p:spPr>
          <a:xfrm>
            <a:off x="1829384" y="5021376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2980B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0.9M</a:t>
            </a:r>
            <a:endParaRPr lang="zh-CN" sz="570" dirty="0"/>
          </a:p>
        </p:txBody>
      </p:sp>
      <p:sp>
        <p:nvSpPr>
          <p:cNvPr id="784" name="T6141"/>
          <p:cNvSpPr/>
          <p:nvPr/>
        </p:nvSpPr>
        <p:spPr>
          <a:xfrm>
            <a:off x="1829384" y="5195376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2980B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3件</a:t>
            </a:r>
            <a:endParaRPr lang="zh-CN" sz="500" dirty="0"/>
          </a:p>
        </p:txBody>
      </p:sp>
      <p:sp>
        <p:nvSpPr>
          <p:cNvPr id="785" name="R6142"/>
          <p:cNvSpPr/>
          <p:nvPr/>
        </p:nvSpPr>
        <p:spPr>
          <a:xfrm>
            <a:off x="2219384" y="5021376"/>
            <a:ext cx="390000" cy="290000"/>
          </a:xfrm>
          <a:prstGeom prst="rect">
            <a:avLst/>
          </a:prstGeom>
          <a:solidFill>
            <a:srgbClr val="2980B9">
              <a:alpha val="58519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786" name="T6143"/>
          <p:cNvSpPr/>
          <p:nvPr/>
        </p:nvSpPr>
        <p:spPr>
          <a:xfrm>
            <a:off x="2219384" y="5021376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3.8M</a:t>
            </a:r>
            <a:endParaRPr lang="zh-CN" sz="570" dirty="0"/>
          </a:p>
        </p:txBody>
      </p:sp>
      <p:sp>
        <p:nvSpPr>
          <p:cNvPr id="787" name="T6144"/>
          <p:cNvSpPr/>
          <p:nvPr/>
        </p:nvSpPr>
        <p:spPr>
          <a:xfrm>
            <a:off x="2219384" y="5195376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11件</a:t>
            </a:r>
            <a:endParaRPr lang="zh-CN" sz="500" dirty="0"/>
          </a:p>
        </p:txBody>
      </p:sp>
      <p:sp>
        <p:nvSpPr>
          <p:cNvPr id="788" name="R6145"/>
          <p:cNvSpPr/>
          <p:nvPr/>
        </p:nvSpPr>
        <p:spPr>
          <a:xfrm>
            <a:off x="2609384" y="5021376"/>
            <a:ext cx="390000" cy="290000"/>
          </a:xfrm>
          <a:prstGeom prst="rect">
            <a:avLst/>
          </a:prstGeom>
          <a:solidFill>
            <a:srgbClr val="2980B9">
              <a:alpha val="80000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789" name="T6146"/>
          <p:cNvSpPr/>
          <p:nvPr/>
        </p:nvSpPr>
        <p:spPr>
          <a:xfrm>
            <a:off x="2609384" y="5021376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5.6M</a:t>
            </a:r>
            <a:endParaRPr lang="zh-CN" sz="570" dirty="0"/>
          </a:p>
        </p:txBody>
      </p:sp>
      <p:sp>
        <p:nvSpPr>
          <p:cNvPr id="790" name="T6147"/>
          <p:cNvSpPr/>
          <p:nvPr/>
        </p:nvSpPr>
        <p:spPr>
          <a:xfrm>
            <a:off x="2609384" y="5195376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8件</a:t>
            </a:r>
            <a:endParaRPr lang="zh-CN" sz="500" dirty="0"/>
          </a:p>
        </p:txBody>
      </p:sp>
      <p:sp>
        <p:nvSpPr>
          <p:cNvPr id="791" name="R6148"/>
          <p:cNvSpPr/>
          <p:nvPr/>
        </p:nvSpPr>
        <p:spPr>
          <a:xfrm>
            <a:off x="2999384" y="5021376"/>
            <a:ext cx="390000" cy="290000"/>
          </a:xfrm>
          <a:prstGeom prst="rect">
            <a:avLst/>
          </a:prstGeom>
          <a:solidFill>
            <a:srgbClr val="2980B9">
              <a:alpha val="15110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792" name="T6149"/>
          <p:cNvSpPr/>
          <p:nvPr/>
        </p:nvSpPr>
        <p:spPr>
          <a:xfrm>
            <a:off x="2999384" y="5021376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2980B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0.0M</a:t>
            </a:r>
            <a:endParaRPr lang="zh-CN" sz="570" dirty="0"/>
          </a:p>
        </p:txBody>
      </p:sp>
      <p:sp>
        <p:nvSpPr>
          <p:cNvPr id="793" name="T6150"/>
          <p:cNvSpPr/>
          <p:nvPr/>
        </p:nvSpPr>
        <p:spPr>
          <a:xfrm>
            <a:off x="2999384" y="5195376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2980B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1件</a:t>
            </a:r>
            <a:endParaRPr lang="zh-CN" sz="500" dirty="0"/>
          </a:p>
        </p:txBody>
      </p:sp>
      <p:sp>
        <p:nvSpPr>
          <p:cNvPr id="794" name="R6151"/>
          <p:cNvSpPr/>
          <p:nvPr/>
        </p:nvSpPr>
        <p:spPr>
          <a:xfrm>
            <a:off x="3389384" y="5021376"/>
            <a:ext cx="390000" cy="290000"/>
          </a:xfrm>
          <a:prstGeom prst="rect">
            <a:avLst/>
          </a:prstGeom>
          <a:solidFill>
            <a:srgbClr val="2980B9">
              <a:alpha val="28276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795" name="T6152"/>
          <p:cNvSpPr/>
          <p:nvPr/>
        </p:nvSpPr>
        <p:spPr>
          <a:xfrm>
            <a:off x="3389384" y="5021376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2980B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1.1M</a:t>
            </a:r>
            <a:endParaRPr lang="zh-CN" sz="570" dirty="0"/>
          </a:p>
        </p:txBody>
      </p:sp>
      <p:sp>
        <p:nvSpPr>
          <p:cNvPr id="796" name="T6153"/>
          <p:cNvSpPr/>
          <p:nvPr/>
        </p:nvSpPr>
        <p:spPr>
          <a:xfrm>
            <a:off x="3389384" y="5195376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2980B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7件</a:t>
            </a:r>
            <a:endParaRPr lang="zh-CN" sz="500" dirty="0"/>
          </a:p>
        </p:txBody>
      </p:sp>
      <p:sp>
        <p:nvSpPr>
          <p:cNvPr id="797" name="R6154"/>
          <p:cNvSpPr/>
          <p:nvPr/>
        </p:nvSpPr>
        <p:spPr>
          <a:xfrm>
            <a:off x="3779384" y="5021376"/>
            <a:ext cx="390000" cy="290000"/>
          </a:xfrm>
          <a:prstGeom prst="rect">
            <a:avLst/>
          </a:prstGeom>
          <a:solidFill>
            <a:srgbClr val="2980B9">
              <a:alpha val="33821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798" name="T6155"/>
          <p:cNvSpPr/>
          <p:nvPr/>
        </p:nvSpPr>
        <p:spPr>
          <a:xfrm>
            <a:off x="3779384" y="5021376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2980B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1.6M</a:t>
            </a:r>
            <a:endParaRPr lang="zh-CN" sz="570" dirty="0"/>
          </a:p>
        </p:txBody>
      </p:sp>
      <p:sp>
        <p:nvSpPr>
          <p:cNvPr id="799" name="T6156"/>
          <p:cNvSpPr/>
          <p:nvPr/>
        </p:nvSpPr>
        <p:spPr>
          <a:xfrm>
            <a:off x="3779384" y="5195376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2980B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5件</a:t>
            </a:r>
            <a:endParaRPr lang="zh-CN" sz="500" dirty="0"/>
          </a:p>
        </p:txBody>
      </p:sp>
      <p:sp>
        <p:nvSpPr>
          <p:cNvPr id="800" name="R6157"/>
          <p:cNvSpPr/>
          <p:nvPr/>
        </p:nvSpPr>
        <p:spPr>
          <a:xfrm>
            <a:off x="4169384" y="5021376"/>
            <a:ext cx="390000" cy="290000"/>
          </a:xfrm>
          <a:prstGeom prst="rect">
            <a:avLst/>
          </a:prstGeom>
          <a:solidFill>
            <a:srgbClr val="2980B9">
              <a:alpha val="38504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801" name="T6158"/>
          <p:cNvSpPr/>
          <p:nvPr/>
        </p:nvSpPr>
        <p:spPr>
          <a:xfrm>
            <a:off x="4169384" y="5021376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2980B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2.0M</a:t>
            </a:r>
            <a:endParaRPr lang="zh-CN" sz="570" dirty="0"/>
          </a:p>
        </p:txBody>
      </p:sp>
      <p:sp>
        <p:nvSpPr>
          <p:cNvPr id="802" name="T6159"/>
          <p:cNvSpPr/>
          <p:nvPr/>
        </p:nvSpPr>
        <p:spPr>
          <a:xfrm>
            <a:off x="4169384" y="5195376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2980B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4件</a:t>
            </a:r>
            <a:endParaRPr lang="zh-CN" sz="500" dirty="0"/>
          </a:p>
        </p:txBody>
      </p:sp>
      <p:sp>
        <p:nvSpPr>
          <p:cNvPr id="803" name="R6160"/>
          <p:cNvSpPr/>
          <p:nvPr/>
        </p:nvSpPr>
        <p:spPr>
          <a:xfrm>
            <a:off x="4559384" y="5021376"/>
            <a:ext cx="390000" cy="290000"/>
          </a:xfrm>
          <a:prstGeom prst="rect">
            <a:avLst/>
          </a:prstGeom>
          <a:solidFill>
            <a:srgbClr val="2980B9">
              <a:alpha val="38179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804" name="T6161"/>
          <p:cNvSpPr/>
          <p:nvPr/>
        </p:nvSpPr>
        <p:spPr>
          <a:xfrm>
            <a:off x="4559384" y="5021376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2980B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2.0M</a:t>
            </a:r>
            <a:endParaRPr lang="zh-CN" sz="570" dirty="0"/>
          </a:p>
        </p:txBody>
      </p:sp>
      <p:sp>
        <p:nvSpPr>
          <p:cNvPr id="805" name="T6162"/>
          <p:cNvSpPr/>
          <p:nvPr/>
        </p:nvSpPr>
        <p:spPr>
          <a:xfrm>
            <a:off x="4559384" y="5195376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2980B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2件</a:t>
            </a:r>
            <a:endParaRPr lang="zh-CN" sz="500" dirty="0"/>
          </a:p>
        </p:txBody>
      </p:sp>
      <p:sp>
        <p:nvSpPr>
          <p:cNvPr id="806" name="R6163"/>
          <p:cNvSpPr/>
          <p:nvPr/>
        </p:nvSpPr>
        <p:spPr>
          <a:xfrm>
            <a:off x="4949384" y="5021376"/>
            <a:ext cx="390000" cy="290000"/>
          </a:xfrm>
          <a:prstGeom prst="rect">
            <a:avLst/>
          </a:prstGeom>
          <a:solidFill>
            <a:srgbClr val="E8ECF0">
              <a:alpha val="30000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807" name="R6164"/>
          <p:cNvSpPr/>
          <p:nvPr/>
        </p:nvSpPr>
        <p:spPr>
          <a:xfrm>
            <a:off x="5339384" y="5021376"/>
            <a:ext cx="390000" cy="290000"/>
          </a:xfrm>
          <a:prstGeom prst="rect">
            <a:avLst/>
          </a:prstGeom>
          <a:solidFill>
            <a:srgbClr val="C8DEED"/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808" name="T6165"/>
          <p:cNvSpPr/>
          <p:nvPr/>
        </p:nvSpPr>
        <p:spPr>
          <a:xfrm>
            <a:off x="5339384" y="5021376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7080B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0.7M</a:t>
            </a:r>
            <a:endParaRPr lang="zh-CN" sz="570" b="1" dirty="0">
              <a:solidFill>
                <a:srgbClr val="7080B9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809" name="T6166"/>
          <p:cNvSpPr/>
          <p:nvPr/>
        </p:nvSpPr>
        <p:spPr>
          <a:xfrm>
            <a:off x="5333365" y="5195570"/>
            <a:ext cx="389890" cy="1162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7080B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5件</a:t>
            </a:r>
            <a:endParaRPr lang="zh-CN" sz="500" dirty="0">
              <a:solidFill>
                <a:srgbClr val="7080B9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810" name="T6167"/>
          <p:cNvSpPr/>
          <p:nvPr/>
        </p:nvSpPr>
        <p:spPr>
          <a:xfrm>
            <a:off x="182880" y="5311376"/>
            <a:ext cx="466504" cy="290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CN" sz="68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ICLUB</a:t>
            </a:r>
            <a:endParaRPr lang="zh-CN" sz="680" dirty="0"/>
          </a:p>
        </p:txBody>
      </p:sp>
      <p:sp>
        <p:nvSpPr>
          <p:cNvPr id="811" name="R6168"/>
          <p:cNvSpPr/>
          <p:nvPr/>
        </p:nvSpPr>
        <p:spPr>
          <a:xfrm>
            <a:off x="659384" y="5311376"/>
            <a:ext cx="390000" cy="290000"/>
          </a:xfrm>
          <a:prstGeom prst="rect">
            <a:avLst/>
          </a:prstGeom>
          <a:solidFill>
            <a:srgbClr val="E8ECF0">
              <a:alpha val="30000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812" name="R6169"/>
          <p:cNvSpPr/>
          <p:nvPr/>
        </p:nvSpPr>
        <p:spPr>
          <a:xfrm>
            <a:off x="1049384" y="5311376"/>
            <a:ext cx="390000" cy="290000"/>
          </a:xfrm>
          <a:prstGeom prst="rect">
            <a:avLst/>
          </a:prstGeom>
          <a:solidFill>
            <a:srgbClr val="8E44AD">
              <a:alpha val="15422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813" name="T6170"/>
          <p:cNvSpPr/>
          <p:nvPr/>
        </p:nvSpPr>
        <p:spPr>
          <a:xfrm>
            <a:off x="1049384" y="5311376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8E44A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0.1M</a:t>
            </a:r>
            <a:endParaRPr lang="zh-CN" sz="570" dirty="0"/>
          </a:p>
        </p:txBody>
      </p:sp>
      <p:sp>
        <p:nvSpPr>
          <p:cNvPr id="814" name="T6171"/>
          <p:cNvSpPr/>
          <p:nvPr/>
        </p:nvSpPr>
        <p:spPr>
          <a:xfrm>
            <a:off x="1049384" y="5485376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8E44A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1件</a:t>
            </a:r>
            <a:endParaRPr lang="zh-CN" sz="500" dirty="0"/>
          </a:p>
        </p:txBody>
      </p:sp>
      <p:sp>
        <p:nvSpPr>
          <p:cNvPr id="815" name="R6172"/>
          <p:cNvSpPr/>
          <p:nvPr/>
        </p:nvSpPr>
        <p:spPr>
          <a:xfrm>
            <a:off x="1439384" y="5311376"/>
            <a:ext cx="390000" cy="290000"/>
          </a:xfrm>
          <a:prstGeom prst="rect">
            <a:avLst/>
          </a:prstGeom>
          <a:solidFill>
            <a:srgbClr val="8E44AD">
              <a:alpha val="25833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816" name="T6173"/>
          <p:cNvSpPr/>
          <p:nvPr/>
        </p:nvSpPr>
        <p:spPr>
          <a:xfrm>
            <a:off x="1439384" y="5311376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8E44A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2.0M</a:t>
            </a:r>
            <a:endParaRPr lang="zh-CN" sz="570" dirty="0"/>
          </a:p>
        </p:txBody>
      </p:sp>
      <p:sp>
        <p:nvSpPr>
          <p:cNvPr id="817" name="T6174"/>
          <p:cNvSpPr/>
          <p:nvPr/>
        </p:nvSpPr>
        <p:spPr>
          <a:xfrm>
            <a:off x="1439384" y="5485376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8E44A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1件</a:t>
            </a:r>
            <a:endParaRPr lang="zh-CN" sz="500" dirty="0"/>
          </a:p>
        </p:txBody>
      </p:sp>
      <p:sp>
        <p:nvSpPr>
          <p:cNvPr id="818" name="R6175"/>
          <p:cNvSpPr/>
          <p:nvPr/>
        </p:nvSpPr>
        <p:spPr>
          <a:xfrm>
            <a:off x="1829384" y="5311376"/>
            <a:ext cx="390000" cy="290000"/>
          </a:xfrm>
          <a:prstGeom prst="rect">
            <a:avLst/>
          </a:prstGeom>
          <a:solidFill>
            <a:srgbClr val="E8ECF0">
              <a:alpha val="30000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819" name="R6176"/>
          <p:cNvSpPr/>
          <p:nvPr/>
        </p:nvSpPr>
        <p:spPr>
          <a:xfrm>
            <a:off x="2219384" y="5311376"/>
            <a:ext cx="390000" cy="290000"/>
          </a:xfrm>
          <a:prstGeom prst="rect">
            <a:avLst/>
          </a:prstGeom>
          <a:solidFill>
            <a:srgbClr val="E8ECF0">
              <a:alpha val="30000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820" name="R6177"/>
          <p:cNvSpPr/>
          <p:nvPr/>
        </p:nvSpPr>
        <p:spPr>
          <a:xfrm>
            <a:off x="2609384" y="5311376"/>
            <a:ext cx="390000" cy="290000"/>
          </a:xfrm>
          <a:prstGeom prst="rect">
            <a:avLst/>
          </a:prstGeom>
          <a:solidFill>
            <a:srgbClr val="E8ECF0">
              <a:alpha val="30000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821" name="R6178"/>
          <p:cNvSpPr/>
          <p:nvPr/>
        </p:nvSpPr>
        <p:spPr>
          <a:xfrm>
            <a:off x="2999384" y="5311376"/>
            <a:ext cx="390000" cy="290000"/>
          </a:xfrm>
          <a:prstGeom prst="rect">
            <a:avLst/>
          </a:prstGeom>
          <a:solidFill>
            <a:srgbClr val="E8ECF0">
              <a:alpha val="30000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822" name="R6179"/>
          <p:cNvSpPr/>
          <p:nvPr/>
        </p:nvSpPr>
        <p:spPr>
          <a:xfrm>
            <a:off x="3389384" y="5311376"/>
            <a:ext cx="390000" cy="290000"/>
          </a:xfrm>
          <a:prstGeom prst="rect">
            <a:avLst/>
          </a:prstGeom>
          <a:solidFill>
            <a:srgbClr val="8E44AD">
              <a:alpha val="80000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823" name="T6180"/>
          <p:cNvSpPr/>
          <p:nvPr/>
        </p:nvSpPr>
        <p:spPr>
          <a:xfrm>
            <a:off x="3389384" y="5311376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12.0M</a:t>
            </a:r>
            <a:endParaRPr lang="zh-CN" sz="570" dirty="0"/>
          </a:p>
        </p:txBody>
      </p:sp>
      <p:sp>
        <p:nvSpPr>
          <p:cNvPr id="824" name="T6181"/>
          <p:cNvSpPr/>
          <p:nvPr/>
        </p:nvSpPr>
        <p:spPr>
          <a:xfrm>
            <a:off x="3389384" y="5485376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2件</a:t>
            </a:r>
            <a:endParaRPr lang="zh-CN" sz="500" dirty="0"/>
          </a:p>
        </p:txBody>
      </p:sp>
      <p:sp>
        <p:nvSpPr>
          <p:cNvPr id="825" name="R6182"/>
          <p:cNvSpPr/>
          <p:nvPr/>
        </p:nvSpPr>
        <p:spPr>
          <a:xfrm>
            <a:off x="3779384" y="5311376"/>
            <a:ext cx="390000" cy="290000"/>
          </a:xfrm>
          <a:prstGeom prst="rect">
            <a:avLst/>
          </a:prstGeom>
          <a:solidFill>
            <a:srgbClr val="8E44AD">
              <a:alpha val="15591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826" name="T6183"/>
          <p:cNvSpPr/>
          <p:nvPr/>
        </p:nvSpPr>
        <p:spPr>
          <a:xfrm>
            <a:off x="3779384" y="5311376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8E44A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0.1M</a:t>
            </a:r>
            <a:endParaRPr lang="zh-CN" sz="570" dirty="0"/>
          </a:p>
        </p:txBody>
      </p:sp>
      <p:sp>
        <p:nvSpPr>
          <p:cNvPr id="827" name="T6184"/>
          <p:cNvSpPr/>
          <p:nvPr/>
        </p:nvSpPr>
        <p:spPr>
          <a:xfrm>
            <a:off x="3779384" y="5485376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8E44A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2件</a:t>
            </a:r>
            <a:endParaRPr lang="zh-CN" sz="500" dirty="0"/>
          </a:p>
        </p:txBody>
      </p:sp>
      <p:sp>
        <p:nvSpPr>
          <p:cNvPr id="828" name="R6185"/>
          <p:cNvSpPr/>
          <p:nvPr/>
        </p:nvSpPr>
        <p:spPr>
          <a:xfrm>
            <a:off x="4169384" y="5311376"/>
            <a:ext cx="390000" cy="290000"/>
          </a:xfrm>
          <a:prstGeom prst="rect">
            <a:avLst/>
          </a:prstGeom>
          <a:solidFill>
            <a:srgbClr val="E8ECF0">
              <a:alpha val="30000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829" name="R6186"/>
          <p:cNvSpPr/>
          <p:nvPr/>
        </p:nvSpPr>
        <p:spPr>
          <a:xfrm>
            <a:off x="4559384" y="5311376"/>
            <a:ext cx="390000" cy="290000"/>
          </a:xfrm>
          <a:prstGeom prst="rect">
            <a:avLst/>
          </a:prstGeom>
          <a:solidFill>
            <a:srgbClr val="E8ECF0">
              <a:alpha val="30000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830" name="R6187"/>
          <p:cNvSpPr/>
          <p:nvPr/>
        </p:nvSpPr>
        <p:spPr>
          <a:xfrm>
            <a:off x="4949384" y="5311376"/>
            <a:ext cx="390000" cy="290000"/>
          </a:xfrm>
          <a:prstGeom prst="rect">
            <a:avLst/>
          </a:prstGeom>
          <a:solidFill>
            <a:srgbClr val="E8ECF0">
              <a:alpha val="30000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831" name="R6188"/>
          <p:cNvSpPr/>
          <p:nvPr/>
        </p:nvSpPr>
        <p:spPr>
          <a:xfrm>
            <a:off x="5339384" y="5311376"/>
            <a:ext cx="390000" cy="290000"/>
          </a:xfrm>
          <a:prstGeom prst="rect">
            <a:avLst/>
          </a:prstGeom>
          <a:solidFill>
            <a:srgbClr val="E7D9EE"/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832" name="T6189"/>
          <p:cNvSpPr/>
          <p:nvPr/>
        </p:nvSpPr>
        <p:spPr>
          <a:xfrm>
            <a:off x="5339384" y="5311376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8E44A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0.4M</a:t>
            </a:r>
            <a:endParaRPr lang="zh-CN" sz="570" b="1" dirty="0">
              <a:solidFill>
                <a:srgbClr val="8E44AD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833" name="T6190"/>
          <p:cNvSpPr/>
          <p:nvPr/>
        </p:nvSpPr>
        <p:spPr>
          <a:xfrm>
            <a:off x="5333669" y="5485376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8E44A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1件</a:t>
            </a:r>
            <a:endParaRPr lang="zh-CN" sz="500" dirty="0">
              <a:solidFill>
                <a:srgbClr val="8E44AD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834" name="T6191"/>
          <p:cNvSpPr/>
          <p:nvPr/>
        </p:nvSpPr>
        <p:spPr>
          <a:xfrm>
            <a:off x="182880" y="5601376"/>
            <a:ext cx="466504" cy="290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CN" sz="68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成事+合伙</a:t>
            </a:r>
            <a:endParaRPr lang="zh-CN" sz="680" dirty="0"/>
          </a:p>
        </p:txBody>
      </p:sp>
      <p:sp>
        <p:nvSpPr>
          <p:cNvPr id="835" name="R6192"/>
          <p:cNvSpPr/>
          <p:nvPr/>
        </p:nvSpPr>
        <p:spPr>
          <a:xfrm>
            <a:off x="659384" y="5601376"/>
            <a:ext cx="390000" cy="290000"/>
          </a:xfrm>
          <a:prstGeom prst="rect">
            <a:avLst/>
          </a:prstGeom>
          <a:solidFill>
            <a:srgbClr val="94A3B8">
              <a:alpha val="15785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836" name="T6193"/>
          <p:cNvSpPr/>
          <p:nvPr/>
        </p:nvSpPr>
        <p:spPr>
          <a:xfrm>
            <a:off x="659384" y="5601376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0.0M</a:t>
            </a:r>
            <a:endParaRPr lang="zh-CN" sz="570" dirty="0"/>
          </a:p>
        </p:txBody>
      </p:sp>
      <p:sp>
        <p:nvSpPr>
          <p:cNvPr id="837" name="T6194"/>
          <p:cNvSpPr/>
          <p:nvPr/>
        </p:nvSpPr>
        <p:spPr>
          <a:xfrm>
            <a:off x="659384" y="5775376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1件</a:t>
            </a:r>
            <a:endParaRPr lang="zh-CN" sz="500" dirty="0"/>
          </a:p>
        </p:txBody>
      </p:sp>
      <p:sp>
        <p:nvSpPr>
          <p:cNvPr id="838" name="R6195"/>
          <p:cNvSpPr/>
          <p:nvPr/>
        </p:nvSpPr>
        <p:spPr>
          <a:xfrm>
            <a:off x="1049384" y="5601376"/>
            <a:ext cx="390000" cy="290000"/>
          </a:xfrm>
          <a:prstGeom prst="rect">
            <a:avLst/>
          </a:prstGeom>
          <a:solidFill>
            <a:srgbClr val="94A3B8">
              <a:alpha val="31047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839" name="T6196"/>
          <p:cNvSpPr/>
          <p:nvPr/>
        </p:nvSpPr>
        <p:spPr>
          <a:xfrm>
            <a:off x="1049384" y="5601376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0.2M</a:t>
            </a:r>
            <a:endParaRPr lang="zh-CN" sz="570" dirty="0"/>
          </a:p>
        </p:txBody>
      </p:sp>
      <p:sp>
        <p:nvSpPr>
          <p:cNvPr id="840" name="T6197"/>
          <p:cNvSpPr/>
          <p:nvPr/>
        </p:nvSpPr>
        <p:spPr>
          <a:xfrm>
            <a:off x="1049384" y="5775376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1件</a:t>
            </a:r>
            <a:endParaRPr lang="zh-CN" sz="500" dirty="0"/>
          </a:p>
        </p:txBody>
      </p:sp>
      <p:sp>
        <p:nvSpPr>
          <p:cNvPr id="841" name="R6198"/>
          <p:cNvSpPr/>
          <p:nvPr/>
        </p:nvSpPr>
        <p:spPr>
          <a:xfrm>
            <a:off x="1439384" y="5601376"/>
            <a:ext cx="390000" cy="290000"/>
          </a:xfrm>
          <a:prstGeom prst="rect">
            <a:avLst/>
          </a:prstGeom>
          <a:solidFill>
            <a:srgbClr val="94A3B8">
              <a:alpha val="65173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842" name="T6199"/>
          <p:cNvSpPr/>
          <p:nvPr/>
        </p:nvSpPr>
        <p:spPr>
          <a:xfrm>
            <a:off x="1439384" y="5601376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0.7M</a:t>
            </a:r>
            <a:endParaRPr lang="zh-CN" sz="570" dirty="0"/>
          </a:p>
        </p:txBody>
      </p:sp>
      <p:sp>
        <p:nvSpPr>
          <p:cNvPr id="843" name="T6200"/>
          <p:cNvSpPr/>
          <p:nvPr/>
        </p:nvSpPr>
        <p:spPr>
          <a:xfrm>
            <a:off x="1439384" y="5775376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5件</a:t>
            </a:r>
            <a:endParaRPr lang="zh-CN" sz="500" dirty="0"/>
          </a:p>
        </p:txBody>
      </p:sp>
      <p:sp>
        <p:nvSpPr>
          <p:cNvPr id="844" name="R6201"/>
          <p:cNvSpPr/>
          <p:nvPr/>
        </p:nvSpPr>
        <p:spPr>
          <a:xfrm>
            <a:off x="1829384" y="5601376"/>
            <a:ext cx="390000" cy="290000"/>
          </a:xfrm>
          <a:prstGeom prst="rect">
            <a:avLst/>
          </a:prstGeom>
          <a:solidFill>
            <a:srgbClr val="94A3B8">
              <a:alpha val="80000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845" name="T6202"/>
          <p:cNvSpPr/>
          <p:nvPr/>
        </p:nvSpPr>
        <p:spPr>
          <a:xfrm>
            <a:off x="1829384" y="5601376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0.9M</a:t>
            </a:r>
            <a:endParaRPr lang="zh-CN" sz="570" dirty="0"/>
          </a:p>
        </p:txBody>
      </p:sp>
      <p:sp>
        <p:nvSpPr>
          <p:cNvPr id="846" name="T6203"/>
          <p:cNvSpPr/>
          <p:nvPr/>
        </p:nvSpPr>
        <p:spPr>
          <a:xfrm>
            <a:off x="1829384" y="5775376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3件</a:t>
            </a:r>
            <a:endParaRPr lang="zh-CN" sz="500" dirty="0"/>
          </a:p>
        </p:txBody>
      </p:sp>
      <p:sp>
        <p:nvSpPr>
          <p:cNvPr id="847" name="R6204"/>
          <p:cNvSpPr/>
          <p:nvPr/>
        </p:nvSpPr>
        <p:spPr>
          <a:xfrm>
            <a:off x="2219384" y="5601376"/>
            <a:ext cx="390000" cy="290000"/>
          </a:xfrm>
          <a:prstGeom prst="rect">
            <a:avLst/>
          </a:prstGeom>
          <a:solidFill>
            <a:srgbClr val="94A3B8">
              <a:alpha val="55118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848" name="T6205"/>
          <p:cNvSpPr/>
          <p:nvPr/>
        </p:nvSpPr>
        <p:spPr>
          <a:xfrm>
            <a:off x="2219384" y="5601376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0.6M</a:t>
            </a:r>
            <a:endParaRPr lang="zh-CN" sz="570" dirty="0"/>
          </a:p>
        </p:txBody>
      </p:sp>
      <p:sp>
        <p:nvSpPr>
          <p:cNvPr id="849" name="T6206"/>
          <p:cNvSpPr/>
          <p:nvPr/>
        </p:nvSpPr>
        <p:spPr>
          <a:xfrm>
            <a:off x="2219384" y="5775376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2件</a:t>
            </a:r>
            <a:endParaRPr lang="zh-CN" sz="500" dirty="0"/>
          </a:p>
        </p:txBody>
      </p:sp>
      <p:sp>
        <p:nvSpPr>
          <p:cNvPr id="850" name="R6207"/>
          <p:cNvSpPr/>
          <p:nvPr/>
        </p:nvSpPr>
        <p:spPr>
          <a:xfrm>
            <a:off x="2609384" y="5601376"/>
            <a:ext cx="390000" cy="290000"/>
          </a:xfrm>
          <a:prstGeom prst="rect">
            <a:avLst/>
          </a:prstGeom>
          <a:solidFill>
            <a:srgbClr val="94A3B8">
              <a:alpha val="63142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851" name="T6208"/>
          <p:cNvSpPr/>
          <p:nvPr/>
        </p:nvSpPr>
        <p:spPr>
          <a:xfrm>
            <a:off x="2609384" y="5601376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0.7M</a:t>
            </a:r>
            <a:endParaRPr lang="zh-CN" sz="570" dirty="0"/>
          </a:p>
        </p:txBody>
      </p:sp>
      <p:sp>
        <p:nvSpPr>
          <p:cNvPr id="852" name="T6209"/>
          <p:cNvSpPr/>
          <p:nvPr/>
        </p:nvSpPr>
        <p:spPr>
          <a:xfrm>
            <a:off x="2609384" y="5775376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2件</a:t>
            </a:r>
            <a:endParaRPr lang="zh-CN" sz="500" dirty="0"/>
          </a:p>
        </p:txBody>
      </p:sp>
      <p:sp>
        <p:nvSpPr>
          <p:cNvPr id="853" name="R6210"/>
          <p:cNvSpPr/>
          <p:nvPr/>
        </p:nvSpPr>
        <p:spPr>
          <a:xfrm>
            <a:off x="2999384" y="5601376"/>
            <a:ext cx="390000" cy="290000"/>
          </a:xfrm>
          <a:prstGeom prst="rect">
            <a:avLst/>
          </a:prstGeom>
          <a:solidFill>
            <a:srgbClr val="E8ECF0">
              <a:alpha val="30000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854" name="R6211"/>
          <p:cNvSpPr/>
          <p:nvPr/>
        </p:nvSpPr>
        <p:spPr>
          <a:xfrm>
            <a:off x="3389384" y="5601376"/>
            <a:ext cx="390000" cy="290000"/>
          </a:xfrm>
          <a:prstGeom prst="rect">
            <a:avLst/>
          </a:prstGeom>
          <a:solidFill>
            <a:srgbClr val="E8ECF0">
              <a:alpha val="30000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855" name="R6212"/>
          <p:cNvSpPr/>
          <p:nvPr/>
        </p:nvSpPr>
        <p:spPr>
          <a:xfrm>
            <a:off x="3779384" y="5601376"/>
            <a:ext cx="390000" cy="290000"/>
          </a:xfrm>
          <a:prstGeom prst="rect">
            <a:avLst/>
          </a:prstGeom>
          <a:solidFill>
            <a:srgbClr val="94A3B8">
              <a:alpha val="50304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856" name="T6213"/>
          <p:cNvSpPr/>
          <p:nvPr/>
        </p:nvSpPr>
        <p:spPr>
          <a:xfrm>
            <a:off x="3779384" y="5601376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0.5M</a:t>
            </a:r>
            <a:endParaRPr lang="zh-CN" sz="570" dirty="0"/>
          </a:p>
        </p:txBody>
      </p:sp>
      <p:sp>
        <p:nvSpPr>
          <p:cNvPr id="857" name="T6214"/>
          <p:cNvSpPr/>
          <p:nvPr/>
        </p:nvSpPr>
        <p:spPr>
          <a:xfrm>
            <a:off x="3779384" y="5775376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3件</a:t>
            </a:r>
            <a:endParaRPr lang="zh-CN" sz="500" dirty="0"/>
          </a:p>
        </p:txBody>
      </p:sp>
      <p:sp>
        <p:nvSpPr>
          <p:cNvPr id="858" name="R6215"/>
          <p:cNvSpPr/>
          <p:nvPr/>
        </p:nvSpPr>
        <p:spPr>
          <a:xfrm>
            <a:off x="4169384" y="5601376"/>
            <a:ext cx="390000" cy="290000"/>
          </a:xfrm>
          <a:prstGeom prst="rect">
            <a:avLst/>
          </a:prstGeom>
          <a:solidFill>
            <a:srgbClr val="E8ECF0">
              <a:alpha val="30000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859" name="R6216"/>
          <p:cNvSpPr/>
          <p:nvPr/>
        </p:nvSpPr>
        <p:spPr>
          <a:xfrm>
            <a:off x="4559384" y="5601376"/>
            <a:ext cx="390000" cy="290000"/>
          </a:xfrm>
          <a:prstGeom prst="rect">
            <a:avLst/>
          </a:prstGeom>
          <a:solidFill>
            <a:srgbClr val="94A3B8">
              <a:alpha val="20472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860" name="T6217"/>
          <p:cNvSpPr/>
          <p:nvPr/>
        </p:nvSpPr>
        <p:spPr>
          <a:xfrm>
            <a:off x="4559384" y="5601376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0.2M</a:t>
            </a:r>
            <a:endParaRPr lang="zh-CN" sz="570" dirty="0"/>
          </a:p>
        </p:txBody>
      </p:sp>
      <p:sp>
        <p:nvSpPr>
          <p:cNvPr id="861" name="T6218"/>
          <p:cNvSpPr/>
          <p:nvPr/>
        </p:nvSpPr>
        <p:spPr>
          <a:xfrm>
            <a:off x="4559384" y="5775376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3件</a:t>
            </a:r>
            <a:endParaRPr lang="zh-CN" sz="500" dirty="0"/>
          </a:p>
        </p:txBody>
      </p:sp>
      <p:sp>
        <p:nvSpPr>
          <p:cNvPr id="862" name="R6219"/>
          <p:cNvSpPr/>
          <p:nvPr/>
        </p:nvSpPr>
        <p:spPr>
          <a:xfrm>
            <a:off x="4949384" y="5601376"/>
            <a:ext cx="390000" cy="290000"/>
          </a:xfrm>
          <a:prstGeom prst="rect">
            <a:avLst/>
          </a:prstGeom>
          <a:solidFill>
            <a:srgbClr val="E8ECF0">
              <a:alpha val="30000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863" name="R6220"/>
          <p:cNvSpPr/>
          <p:nvPr/>
        </p:nvSpPr>
        <p:spPr>
          <a:xfrm>
            <a:off x="5339384" y="5601376"/>
            <a:ext cx="390000" cy="290000"/>
          </a:xfrm>
          <a:prstGeom prst="rect">
            <a:avLst/>
          </a:prstGeom>
          <a:solidFill>
            <a:srgbClr val="C9D1DB"/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864" name="T6221"/>
          <p:cNvSpPr/>
          <p:nvPr/>
        </p:nvSpPr>
        <p:spPr>
          <a:xfrm>
            <a:off x="5339384" y="5601376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0.6M</a:t>
            </a:r>
            <a:endParaRPr lang="zh-CN" sz="570" dirty="0"/>
          </a:p>
        </p:txBody>
      </p:sp>
      <p:sp>
        <p:nvSpPr>
          <p:cNvPr id="865" name="T6222"/>
          <p:cNvSpPr/>
          <p:nvPr/>
        </p:nvSpPr>
        <p:spPr>
          <a:xfrm>
            <a:off x="5339384" y="5775376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4件</a:t>
            </a:r>
            <a:endParaRPr lang="zh-CN" sz="500" dirty="0"/>
          </a:p>
        </p:txBody>
      </p:sp>
      <p:sp>
        <p:nvSpPr>
          <p:cNvPr id="866" name="T6223"/>
          <p:cNvSpPr/>
          <p:nvPr/>
        </p:nvSpPr>
        <p:spPr>
          <a:xfrm>
            <a:off x="182880" y="5891376"/>
            <a:ext cx="466504" cy="290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CN" sz="680" b="1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合计</a:t>
            </a:r>
            <a:endParaRPr lang="zh-CN" sz="680" dirty="0"/>
          </a:p>
        </p:txBody>
      </p:sp>
      <p:sp>
        <p:nvSpPr>
          <p:cNvPr id="867" name="R6224"/>
          <p:cNvSpPr/>
          <p:nvPr/>
        </p:nvSpPr>
        <p:spPr>
          <a:xfrm>
            <a:off x="659384" y="5891376"/>
            <a:ext cx="390000" cy="290000"/>
          </a:xfrm>
          <a:prstGeom prst="rect">
            <a:avLst/>
          </a:prstGeom>
          <a:solidFill>
            <a:srgbClr val="374151">
              <a:alpha val="25762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868" name="T6225"/>
          <p:cNvSpPr/>
          <p:nvPr/>
        </p:nvSpPr>
        <p:spPr>
          <a:xfrm>
            <a:off x="659384" y="5891376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18.0M</a:t>
            </a:r>
            <a:endParaRPr lang="zh-CN" sz="570" dirty="0"/>
          </a:p>
        </p:txBody>
      </p:sp>
      <p:sp>
        <p:nvSpPr>
          <p:cNvPr id="869" name="T6226"/>
          <p:cNvSpPr/>
          <p:nvPr/>
        </p:nvSpPr>
        <p:spPr>
          <a:xfrm>
            <a:off x="659384" y="6065376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63件</a:t>
            </a:r>
            <a:endParaRPr lang="zh-CN" sz="500" dirty="0"/>
          </a:p>
        </p:txBody>
      </p:sp>
      <p:sp>
        <p:nvSpPr>
          <p:cNvPr id="870" name="R6227"/>
          <p:cNvSpPr/>
          <p:nvPr/>
        </p:nvSpPr>
        <p:spPr>
          <a:xfrm>
            <a:off x="1049384" y="5891376"/>
            <a:ext cx="390000" cy="290000"/>
          </a:xfrm>
          <a:prstGeom prst="rect">
            <a:avLst/>
          </a:prstGeom>
          <a:solidFill>
            <a:srgbClr val="374151">
              <a:alpha val="42652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871" name="T6228"/>
          <p:cNvSpPr/>
          <p:nvPr/>
        </p:nvSpPr>
        <p:spPr>
          <a:xfrm>
            <a:off x="1049384" y="5891376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46.4M</a:t>
            </a:r>
            <a:endParaRPr lang="zh-CN" sz="570" dirty="0"/>
          </a:p>
        </p:txBody>
      </p:sp>
      <p:sp>
        <p:nvSpPr>
          <p:cNvPr id="872" name="T6229"/>
          <p:cNvSpPr/>
          <p:nvPr/>
        </p:nvSpPr>
        <p:spPr>
          <a:xfrm>
            <a:off x="1049384" y="6065376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52件</a:t>
            </a:r>
            <a:endParaRPr lang="zh-CN" sz="500" dirty="0"/>
          </a:p>
        </p:txBody>
      </p:sp>
      <p:sp>
        <p:nvSpPr>
          <p:cNvPr id="873" name="R6230"/>
          <p:cNvSpPr/>
          <p:nvPr/>
        </p:nvSpPr>
        <p:spPr>
          <a:xfrm>
            <a:off x="1439384" y="5891376"/>
            <a:ext cx="390000" cy="290000"/>
          </a:xfrm>
          <a:prstGeom prst="rect">
            <a:avLst/>
          </a:prstGeom>
          <a:solidFill>
            <a:srgbClr val="374151">
              <a:alpha val="32424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874" name="T6231"/>
          <p:cNvSpPr/>
          <p:nvPr/>
        </p:nvSpPr>
        <p:spPr>
          <a:xfrm>
            <a:off x="1439384" y="5891376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29.2M</a:t>
            </a:r>
            <a:endParaRPr lang="zh-CN" sz="570" dirty="0"/>
          </a:p>
        </p:txBody>
      </p:sp>
      <p:sp>
        <p:nvSpPr>
          <p:cNvPr id="875" name="T6232"/>
          <p:cNvSpPr/>
          <p:nvPr/>
        </p:nvSpPr>
        <p:spPr>
          <a:xfrm>
            <a:off x="1439384" y="6065376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58件</a:t>
            </a:r>
            <a:endParaRPr lang="zh-CN" sz="500" dirty="0"/>
          </a:p>
        </p:txBody>
      </p:sp>
      <p:sp>
        <p:nvSpPr>
          <p:cNvPr id="876" name="R6233"/>
          <p:cNvSpPr/>
          <p:nvPr/>
        </p:nvSpPr>
        <p:spPr>
          <a:xfrm>
            <a:off x="1829384" y="5891376"/>
            <a:ext cx="390000" cy="290000"/>
          </a:xfrm>
          <a:prstGeom prst="rect">
            <a:avLst/>
          </a:prstGeom>
          <a:solidFill>
            <a:srgbClr val="374151">
              <a:alpha val="26971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877" name="T6234"/>
          <p:cNvSpPr/>
          <p:nvPr/>
        </p:nvSpPr>
        <p:spPr>
          <a:xfrm>
            <a:off x="1829384" y="5891376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20.1M</a:t>
            </a:r>
            <a:endParaRPr lang="zh-CN" sz="570" dirty="0"/>
          </a:p>
        </p:txBody>
      </p:sp>
      <p:sp>
        <p:nvSpPr>
          <p:cNvPr id="878" name="T6235"/>
          <p:cNvSpPr/>
          <p:nvPr/>
        </p:nvSpPr>
        <p:spPr>
          <a:xfrm>
            <a:off x="1829384" y="6065376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29件</a:t>
            </a:r>
            <a:endParaRPr lang="zh-CN" sz="500" dirty="0"/>
          </a:p>
        </p:txBody>
      </p:sp>
      <p:sp>
        <p:nvSpPr>
          <p:cNvPr id="879" name="R6236"/>
          <p:cNvSpPr/>
          <p:nvPr/>
        </p:nvSpPr>
        <p:spPr>
          <a:xfrm>
            <a:off x="2219384" y="5891376"/>
            <a:ext cx="390000" cy="290000"/>
          </a:xfrm>
          <a:prstGeom prst="rect">
            <a:avLst/>
          </a:prstGeom>
          <a:solidFill>
            <a:srgbClr val="374151">
              <a:alpha val="32879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880" name="T6237"/>
          <p:cNvSpPr/>
          <p:nvPr/>
        </p:nvSpPr>
        <p:spPr>
          <a:xfrm>
            <a:off x="2219384" y="5891376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30.0M</a:t>
            </a:r>
            <a:endParaRPr lang="zh-CN" sz="570" dirty="0"/>
          </a:p>
        </p:txBody>
      </p:sp>
      <p:sp>
        <p:nvSpPr>
          <p:cNvPr id="881" name="T6238"/>
          <p:cNvSpPr/>
          <p:nvPr/>
        </p:nvSpPr>
        <p:spPr>
          <a:xfrm>
            <a:off x="2219384" y="6065376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58件</a:t>
            </a:r>
            <a:endParaRPr lang="zh-CN" sz="500" dirty="0"/>
          </a:p>
        </p:txBody>
      </p:sp>
      <p:sp>
        <p:nvSpPr>
          <p:cNvPr id="882" name="R6239"/>
          <p:cNvSpPr/>
          <p:nvPr/>
        </p:nvSpPr>
        <p:spPr>
          <a:xfrm>
            <a:off x="2609384" y="5891376"/>
            <a:ext cx="390000" cy="290000"/>
          </a:xfrm>
          <a:prstGeom prst="rect">
            <a:avLst/>
          </a:prstGeom>
          <a:solidFill>
            <a:srgbClr val="374151">
              <a:alpha val="38538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883" name="T6240"/>
          <p:cNvSpPr/>
          <p:nvPr/>
        </p:nvSpPr>
        <p:spPr>
          <a:xfrm>
            <a:off x="2609384" y="5891376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39.5M</a:t>
            </a:r>
            <a:endParaRPr lang="zh-CN" sz="570" dirty="0"/>
          </a:p>
        </p:txBody>
      </p:sp>
      <p:sp>
        <p:nvSpPr>
          <p:cNvPr id="884" name="T6241"/>
          <p:cNvSpPr/>
          <p:nvPr/>
        </p:nvSpPr>
        <p:spPr>
          <a:xfrm>
            <a:off x="2609384" y="6065376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51件</a:t>
            </a:r>
            <a:endParaRPr lang="zh-CN" sz="500" dirty="0"/>
          </a:p>
        </p:txBody>
      </p:sp>
      <p:sp>
        <p:nvSpPr>
          <p:cNvPr id="885" name="R6242"/>
          <p:cNvSpPr/>
          <p:nvPr/>
        </p:nvSpPr>
        <p:spPr>
          <a:xfrm>
            <a:off x="2999384" y="5891376"/>
            <a:ext cx="390000" cy="290000"/>
          </a:xfrm>
          <a:prstGeom prst="rect">
            <a:avLst/>
          </a:prstGeom>
          <a:solidFill>
            <a:srgbClr val="374151">
              <a:alpha val="19330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886" name="T6243"/>
          <p:cNvSpPr/>
          <p:nvPr/>
        </p:nvSpPr>
        <p:spPr>
          <a:xfrm>
            <a:off x="2999384" y="5891376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7.3M</a:t>
            </a:r>
            <a:endParaRPr lang="zh-CN" sz="570" dirty="0"/>
          </a:p>
        </p:txBody>
      </p:sp>
      <p:sp>
        <p:nvSpPr>
          <p:cNvPr id="887" name="T6244"/>
          <p:cNvSpPr/>
          <p:nvPr/>
        </p:nvSpPr>
        <p:spPr>
          <a:xfrm>
            <a:off x="2999384" y="6065376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10件</a:t>
            </a:r>
            <a:endParaRPr lang="zh-CN" sz="500" dirty="0"/>
          </a:p>
        </p:txBody>
      </p:sp>
      <p:sp>
        <p:nvSpPr>
          <p:cNvPr id="888" name="R6245"/>
          <p:cNvSpPr/>
          <p:nvPr/>
        </p:nvSpPr>
        <p:spPr>
          <a:xfrm>
            <a:off x="3389384" y="5891376"/>
            <a:ext cx="390000" cy="290000"/>
          </a:xfrm>
          <a:prstGeom prst="rect">
            <a:avLst/>
          </a:prstGeom>
          <a:solidFill>
            <a:srgbClr val="374151">
              <a:alpha val="55000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889" name="T6246"/>
          <p:cNvSpPr/>
          <p:nvPr/>
        </p:nvSpPr>
        <p:spPr>
          <a:xfrm>
            <a:off x="3389384" y="5891376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67.0M</a:t>
            </a:r>
            <a:endParaRPr lang="zh-CN" sz="570" dirty="0"/>
          </a:p>
        </p:txBody>
      </p:sp>
      <p:sp>
        <p:nvSpPr>
          <p:cNvPr id="890" name="T6247"/>
          <p:cNvSpPr/>
          <p:nvPr/>
        </p:nvSpPr>
        <p:spPr>
          <a:xfrm>
            <a:off x="3389384" y="6065376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61件</a:t>
            </a:r>
            <a:endParaRPr lang="zh-CN" sz="500" dirty="0"/>
          </a:p>
        </p:txBody>
      </p:sp>
      <p:sp>
        <p:nvSpPr>
          <p:cNvPr id="891" name="R6248"/>
          <p:cNvSpPr/>
          <p:nvPr/>
        </p:nvSpPr>
        <p:spPr>
          <a:xfrm>
            <a:off x="3779384" y="5891376"/>
            <a:ext cx="390000" cy="290000"/>
          </a:xfrm>
          <a:prstGeom prst="rect">
            <a:avLst/>
          </a:prstGeom>
          <a:solidFill>
            <a:srgbClr val="374151">
              <a:alpha val="24447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892" name="T6249"/>
          <p:cNvSpPr/>
          <p:nvPr/>
        </p:nvSpPr>
        <p:spPr>
          <a:xfrm>
            <a:off x="3779384" y="5891376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15.8M</a:t>
            </a:r>
            <a:endParaRPr lang="zh-CN" sz="570" dirty="0"/>
          </a:p>
        </p:txBody>
      </p:sp>
      <p:sp>
        <p:nvSpPr>
          <p:cNvPr id="893" name="T6250"/>
          <p:cNvSpPr/>
          <p:nvPr/>
        </p:nvSpPr>
        <p:spPr>
          <a:xfrm>
            <a:off x="3779384" y="6065376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33件</a:t>
            </a:r>
            <a:endParaRPr lang="zh-CN" sz="500" dirty="0"/>
          </a:p>
        </p:txBody>
      </p:sp>
      <p:sp>
        <p:nvSpPr>
          <p:cNvPr id="894" name="R6251"/>
          <p:cNvSpPr/>
          <p:nvPr/>
        </p:nvSpPr>
        <p:spPr>
          <a:xfrm>
            <a:off x="4169384" y="5891376"/>
            <a:ext cx="390000" cy="290000"/>
          </a:xfrm>
          <a:prstGeom prst="rect">
            <a:avLst/>
          </a:prstGeom>
          <a:solidFill>
            <a:srgbClr val="374151">
              <a:alpha val="21980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895" name="T6252"/>
          <p:cNvSpPr/>
          <p:nvPr/>
        </p:nvSpPr>
        <p:spPr>
          <a:xfrm>
            <a:off x="4169384" y="5891376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11.7M</a:t>
            </a:r>
            <a:endParaRPr lang="zh-CN" sz="570" dirty="0"/>
          </a:p>
        </p:txBody>
      </p:sp>
      <p:sp>
        <p:nvSpPr>
          <p:cNvPr id="896" name="T6253"/>
          <p:cNvSpPr/>
          <p:nvPr/>
        </p:nvSpPr>
        <p:spPr>
          <a:xfrm>
            <a:off x="4169384" y="6065376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29件</a:t>
            </a:r>
            <a:endParaRPr lang="zh-CN" sz="500" dirty="0"/>
          </a:p>
        </p:txBody>
      </p:sp>
      <p:sp>
        <p:nvSpPr>
          <p:cNvPr id="897" name="R6254"/>
          <p:cNvSpPr/>
          <p:nvPr/>
        </p:nvSpPr>
        <p:spPr>
          <a:xfrm>
            <a:off x="4559384" y="5891376"/>
            <a:ext cx="390000" cy="290000"/>
          </a:xfrm>
          <a:prstGeom prst="rect">
            <a:avLst/>
          </a:prstGeom>
          <a:solidFill>
            <a:srgbClr val="374151">
              <a:alpha val="39390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898" name="T6255"/>
          <p:cNvSpPr/>
          <p:nvPr/>
        </p:nvSpPr>
        <p:spPr>
          <a:xfrm>
            <a:off x="4559384" y="5891376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41.0M</a:t>
            </a:r>
            <a:endParaRPr lang="zh-CN" sz="570" dirty="0"/>
          </a:p>
        </p:txBody>
      </p:sp>
      <p:sp>
        <p:nvSpPr>
          <p:cNvPr id="899" name="T6256"/>
          <p:cNvSpPr/>
          <p:nvPr/>
        </p:nvSpPr>
        <p:spPr>
          <a:xfrm>
            <a:off x="4559384" y="6065376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33件</a:t>
            </a:r>
            <a:endParaRPr lang="zh-CN" sz="500" dirty="0"/>
          </a:p>
        </p:txBody>
      </p:sp>
      <p:sp>
        <p:nvSpPr>
          <p:cNvPr id="900" name="R6257"/>
          <p:cNvSpPr/>
          <p:nvPr/>
        </p:nvSpPr>
        <p:spPr>
          <a:xfrm>
            <a:off x="4949384" y="5891376"/>
            <a:ext cx="390000" cy="290000"/>
          </a:xfrm>
          <a:prstGeom prst="rect">
            <a:avLst/>
          </a:prstGeom>
          <a:solidFill>
            <a:srgbClr val="374151">
              <a:alpha val="18762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901" name="T6258"/>
          <p:cNvSpPr/>
          <p:nvPr/>
        </p:nvSpPr>
        <p:spPr>
          <a:xfrm>
            <a:off x="4949384" y="5891376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7.9M</a:t>
            </a:r>
            <a:endParaRPr lang="zh-CN" sz="570" dirty="0"/>
          </a:p>
        </p:txBody>
      </p:sp>
      <p:sp>
        <p:nvSpPr>
          <p:cNvPr id="902" name="T6259"/>
          <p:cNvSpPr/>
          <p:nvPr/>
        </p:nvSpPr>
        <p:spPr>
          <a:xfrm>
            <a:off x="4949384" y="6065376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10件</a:t>
            </a:r>
            <a:endParaRPr lang="zh-CN" sz="500" dirty="0"/>
          </a:p>
        </p:txBody>
      </p:sp>
      <p:sp>
        <p:nvSpPr>
          <p:cNvPr id="903" name="R6260"/>
          <p:cNvSpPr/>
          <p:nvPr/>
        </p:nvSpPr>
        <p:spPr>
          <a:xfrm>
            <a:off x="5339384" y="5891376"/>
            <a:ext cx="390000" cy="290000"/>
          </a:xfrm>
          <a:prstGeom prst="rect">
            <a:avLst/>
          </a:prstGeom>
          <a:solidFill>
            <a:srgbClr val="1A1A2E">
              <a:alpha val="75000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904" name="T6261"/>
          <p:cNvSpPr/>
          <p:nvPr/>
        </p:nvSpPr>
        <p:spPr>
          <a:xfrm>
            <a:off x="5339384" y="5891376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13.5M</a:t>
            </a:r>
            <a:endParaRPr lang="zh-CN" sz="570" dirty="0"/>
          </a:p>
        </p:txBody>
      </p:sp>
      <p:sp>
        <p:nvSpPr>
          <p:cNvPr id="905" name="T6262"/>
          <p:cNvSpPr/>
          <p:nvPr/>
        </p:nvSpPr>
        <p:spPr>
          <a:xfrm>
            <a:off x="5339384" y="6065376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45件</a:t>
            </a:r>
            <a:endParaRPr lang="zh-CN" sz="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Shape 4"/>
          <p:cNvSpPr/>
          <p:nvPr>
            <p:custDataLst>
              <p:tags r:id="rId3"/>
            </p:custDataLst>
          </p:nvPr>
        </p:nvSpPr>
        <p:spPr>
          <a:xfrm>
            <a:off x="3902710" y="605028"/>
            <a:ext cx="182880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5" name="Shape 4"/>
          <p:cNvSpPr/>
          <p:nvPr>
            <p:custDataLst>
              <p:tags r:id="rId4"/>
            </p:custDataLst>
          </p:nvPr>
        </p:nvSpPr>
        <p:spPr>
          <a:xfrm>
            <a:off x="1992630" y="605028"/>
            <a:ext cx="182880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4" name="Shape 4"/>
          <p:cNvSpPr/>
          <p:nvPr>
            <p:custDataLst>
              <p:tags r:id="rId5"/>
            </p:custDataLst>
          </p:nvPr>
        </p:nvSpPr>
        <p:spPr>
          <a:xfrm>
            <a:off x="91440" y="631698"/>
            <a:ext cx="182880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9" name="Shape 3"/>
          <p:cNvSpPr/>
          <p:nvPr/>
        </p:nvSpPr>
        <p:spPr>
          <a:xfrm>
            <a:off x="5972810" y="3529330"/>
            <a:ext cx="5888990" cy="3089275"/>
          </a:xfrm>
          <a:prstGeom prst="rect">
            <a:avLst/>
          </a:prstGeom>
          <a:solidFill>
            <a:srgbClr val="FFFFFF"/>
          </a:solidFill>
          <a:ln w="9525">
            <a:solidFill>
              <a:srgbClr val="D0D8E8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" name="Shape 3"/>
          <p:cNvSpPr/>
          <p:nvPr>
            <p:custDataLst>
              <p:tags r:id="rId6"/>
            </p:custDataLst>
          </p:nvPr>
        </p:nvSpPr>
        <p:spPr>
          <a:xfrm>
            <a:off x="5974715" y="568960"/>
            <a:ext cx="5913120" cy="2325370"/>
          </a:xfrm>
          <a:prstGeom prst="rect">
            <a:avLst/>
          </a:prstGeom>
          <a:solidFill>
            <a:srgbClr val="FFFFFF"/>
          </a:solidFill>
          <a:ln w="9525">
            <a:solidFill>
              <a:srgbClr val="D0D8E8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3" name="Shape 0"/>
          <p:cNvSpPr/>
          <p:nvPr/>
        </p:nvSpPr>
        <p:spPr>
          <a:xfrm>
            <a:off x="0" y="0"/>
            <a:ext cx="12192635" cy="475615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09550" y="38100"/>
            <a:ext cx="3747770" cy="3841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algn="l">
              <a:buClrTx/>
              <a:buSzTx/>
              <a:buFontTx/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同行业绩分析仪表盘 </a:t>
            </a: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 |</a:t>
            </a: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Pip</a:t>
            </a: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eline &amp; Approval View</a:t>
            </a:r>
            <a:endParaRPr lang="en-US" sz="1200" b="1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5" name="Shape 3"/>
          <p:cNvSpPr/>
          <p:nvPr>
            <p:custDataLst>
              <p:tags r:id="rId7"/>
            </p:custDataLst>
          </p:nvPr>
        </p:nvSpPr>
        <p:spPr>
          <a:xfrm>
            <a:off x="5974715" y="567055"/>
            <a:ext cx="5913120" cy="295275"/>
          </a:xfrm>
          <a:prstGeom prst="rect">
            <a:avLst/>
          </a:prstGeom>
          <a:solidFill>
            <a:srgbClr val="4A235A"/>
          </a:solidFill>
          <a:ln w="12700">
            <a:solidFill>
              <a:srgbClr val="4A235A"/>
            </a:solidFill>
            <a:prstDash val="solid"/>
          </a:ln>
        </p:spPr>
        <p:txBody>
          <a:bodyPr/>
          <a:p>
            <a:endParaRPr lang="zh-CN" altLang="en-US"/>
          </a:p>
        </p:txBody>
      </p:sp>
      <p:sp>
        <p:nvSpPr>
          <p:cNvPr id="6" name="Text 4"/>
          <p:cNvSpPr/>
          <p:nvPr>
            <p:custDataLst>
              <p:tags r:id="rId8"/>
            </p:custDataLst>
          </p:nvPr>
        </p:nvSpPr>
        <p:spPr>
          <a:xfrm>
            <a:off x="6029325" y="592455"/>
            <a:ext cx="2948940" cy="2305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FFFFFF"/>
                </a:solidFill>
              </a:rPr>
              <a:t>U </a:t>
            </a:r>
            <a:r>
              <a:rPr lang="en-US" sz="850" b="1" dirty="0">
                <a:solidFill>
                  <a:schemeClr val="bg1"/>
                </a:solidFill>
                <a:sym typeface="+mn-ea"/>
              </a:rPr>
              <a:t>同行推荐人分析 </a:t>
            </a:r>
            <a:r>
              <a:rPr lang="en-US" sz="1100" b="1" dirty="0">
                <a:solidFill>
                  <a:schemeClr val="bg1"/>
                </a:solidFill>
                <a:sym typeface="+mn-ea"/>
              </a:rPr>
              <a:t> </a:t>
            </a:r>
            <a:endParaRPr lang="en-US" sz="1100" dirty="0"/>
          </a:p>
        </p:txBody>
      </p:sp>
      <p:sp>
        <p:nvSpPr>
          <p:cNvPr id="9" name="Shape 6"/>
          <p:cNvSpPr/>
          <p:nvPr>
            <p:custDataLst>
              <p:tags r:id="rId9"/>
            </p:custDataLst>
          </p:nvPr>
        </p:nvSpPr>
        <p:spPr>
          <a:xfrm>
            <a:off x="5930900" y="2950845"/>
            <a:ext cx="6035040" cy="425450"/>
          </a:xfrm>
          <a:prstGeom prst="rect">
            <a:avLst/>
          </a:prstGeom>
          <a:solidFill>
            <a:srgbClr val="EDE7F6"/>
          </a:solidFill>
          <a:ln w="12700">
            <a:solidFill>
              <a:srgbClr val="8E44AD"/>
            </a:solidFill>
            <a:prstDash val="solid"/>
          </a:ln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Shape 7"/>
          <p:cNvSpPr/>
          <p:nvPr>
            <p:custDataLst>
              <p:tags r:id="rId10"/>
            </p:custDataLst>
          </p:nvPr>
        </p:nvSpPr>
        <p:spPr>
          <a:xfrm>
            <a:off x="5930900" y="2950845"/>
            <a:ext cx="54000" cy="420370"/>
          </a:xfrm>
          <a:prstGeom prst="rect">
            <a:avLst/>
          </a:prstGeom>
          <a:solidFill>
            <a:srgbClr val="4A235A"/>
          </a:solidFill>
          <a:ln w="12700">
            <a:solidFill>
              <a:srgbClr val="4A235A"/>
            </a:solidFill>
            <a:prstDash val="solid"/>
          </a:ln>
        </p:spPr>
      </p:sp>
      <p:sp>
        <p:nvSpPr>
          <p:cNvPr id="11" name="Text 8"/>
          <p:cNvSpPr/>
          <p:nvPr>
            <p:custDataLst>
              <p:tags r:id="rId11"/>
            </p:custDataLst>
          </p:nvPr>
        </p:nvSpPr>
        <p:spPr>
          <a:xfrm>
            <a:off x="6040755" y="2968625"/>
            <a:ext cx="5852160" cy="35687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4A235A"/>
                </a:solidFill>
              </a:rPr>
              <a:t>So What：</a:t>
            </a:r>
            <a:r>
              <a:rPr lang="en-US" sz="850" dirty="0">
                <a:solidFill>
                  <a:srgbClr val="374151"/>
                </a:solidFill>
              </a:rPr>
              <a:t>  </a:t>
            </a:r>
            <a:endParaRPr lang="en-US" sz="850" dirty="0">
              <a:solidFill>
                <a:srgbClr val="374151"/>
              </a:solidFill>
            </a:endParaRPr>
          </a:p>
          <a:p>
            <a:pPr marL="0" indent="0">
              <a:buNone/>
            </a:pPr>
            <a:r>
              <a:rPr lang="en-US" sz="850" dirty="0">
                <a:solidFill>
                  <a:srgbClr val="374151"/>
                </a:solidFill>
              </a:rPr>
              <a:t>姜通+战略合作（唯思）合计贡献批核APE </a:t>
            </a:r>
            <a:r>
              <a:rPr lang="en-US" sz="850" b="1" dirty="0">
                <a:solidFill>
                  <a:srgbClr val="4A235A"/>
                </a:solidFill>
              </a:rPr>
              <a:t>71.3%</a:t>
            </a:r>
            <a:r>
              <a:rPr lang="en-US" sz="850" dirty="0">
                <a:solidFill>
                  <a:srgbClr val="374151"/>
                </a:solidFill>
              </a:rPr>
              <a:t>，但模式迥异：叶一舟「大单驱动型」件均APE≈</a:t>
            </a:r>
            <a:r>
              <a:rPr lang="en-US" sz="850" b="1" dirty="0">
                <a:solidFill>
                  <a:srgbClr val="00796B"/>
                </a:solidFill>
              </a:rPr>
              <a:t>323万</a:t>
            </a:r>
            <a:r>
              <a:rPr lang="en-US" sz="850" dirty="0">
                <a:solidFill>
                  <a:srgbClr val="374151"/>
                </a:solidFill>
              </a:rPr>
              <a:t>；姜通「流量驱动型」</a:t>
            </a:r>
            <a:r>
              <a:rPr lang="en-US" sz="850" b="1" dirty="0">
                <a:solidFill>
                  <a:srgbClr val="F5A623"/>
                </a:solidFill>
              </a:rPr>
              <a:t>227件</a:t>
            </a:r>
            <a:r>
              <a:rPr lang="en-US" sz="850" dirty="0">
                <a:solidFill>
                  <a:srgbClr val="374151"/>
                </a:solidFill>
              </a:rPr>
              <a:t>为全场最高。须差异化管理策略。</a:t>
            </a:r>
            <a:endParaRPr lang="en-US" sz="850" dirty="0"/>
          </a:p>
        </p:txBody>
      </p:sp>
      <p:sp>
        <p:nvSpPr>
          <p:cNvPr id="14" name="Shape 10"/>
          <p:cNvSpPr/>
          <p:nvPr>
            <p:custDataLst>
              <p:tags r:id="rId12"/>
            </p:custDataLst>
          </p:nvPr>
        </p:nvSpPr>
        <p:spPr>
          <a:xfrm>
            <a:off x="5948045" y="3496945"/>
            <a:ext cx="5914390" cy="291465"/>
          </a:xfrm>
          <a:prstGeom prst="rect">
            <a:avLst/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</p:spPr>
      </p:sp>
      <p:sp>
        <p:nvSpPr>
          <p:cNvPr id="18" name="Shape 13"/>
          <p:cNvSpPr/>
          <p:nvPr>
            <p:custDataLst>
              <p:tags r:id="rId13"/>
            </p:custDataLst>
          </p:nvPr>
        </p:nvSpPr>
        <p:spPr>
          <a:xfrm>
            <a:off x="176530" y="6134100"/>
            <a:ext cx="5481320" cy="494030"/>
          </a:xfrm>
          <a:prstGeom prst="rect">
            <a:avLst/>
          </a:prstGeom>
          <a:solidFill>
            <a:srgbClr val="E8F5E9"/>
          </a:solidFill>
          <a:ln w="12700">
            <a:solidFill>
              <a:srgbClr val="00796B"/>
            </a:solidFill>
            <a:prstDash val="solid"/>
          </a:ln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9" name="Shape 14"/>
          <p:cNvSpPr/>
          <p:nvPr>
            <p:custDataLst>
              <p:tags r:id="rId14"/>
            </p:custDataLst>
          </p:nvPr>
        </p:nvSpPr>
        <p:spPr>
          <a:xfrm>
            <a:off x="176530" y="6134354"/>
            <a:ext cx="54864" cy="493776"/>
          </a:xfrm>
          <a:prstGeom prst="rect">
            <a:avLst/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</p:spPr>
      </p:sp>
      <p:sp>
        <p:nvSpPr>
          <p:cNvPr id="20" name="Text 15"/>
          <p:cNvSpPr/>
          <p:nvPr>
            <p:custDataLst>
              <p:tags r:id="rId15"/>
            </p:custDataLst>
          </p:nvPr>
        </p:nvSpPr>
        <p:spPr>
          <a:xfrm>
            <a:off x="286258" y="6152642"/>
            <a:ext cx="52578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6A085"/>
                </a:solidFill>
              </a:rPr>
              <a:t>So What：</a:t>
            </a:r>
            <a:r>
              <a:rPr lang="en-US" sz="850" dirty="0">
                <a:solidFill>
                  <a:srgbClr val="374151"/>
                </a:solidFill>
              </a:rPr>
              <a:t>  </a:t>
            </a:r>
            <a:r>
              <a:rPr lang="en-US" sz="850" dirty="0">
                <a:solidFill>
                  <a:srgbClr val="374151"/>
                </a:solidFill>
                <a:sym typeface="+mn-ea"/>
              </a:rPr>
              <a:t>EGA批核率高达 </a:t>
            </a:r>
            <a:r>
              <a:rPr lang="en-US" sz="850" b="1" dirty="0">
                <a:solidFill>
                  <a:srgbClr val="00796B"/>
                </a:solidFill>
                <a:sym typeface="+mn-ea"/>
              </a:rPr>
              <a:t>0.48M</a:t>
            </a:r>
            <a:r>
              <a:rPr lang="en-US" sz="850" dirty="0">
                <a:solidFill>
                  <a:srgbClr val="374151"/>
                </a:solidFill>
                <a:sym typeface="+mn-ea"/>
              </a:rPr>
              <a:t>，几乎无坏单；唯思批核率仅 </a:t>
            </a:r>
            <a:r>
              <a:rPr lang="en-US" sz="850" b="1" dirty="0">
                <a:solidFill>
                  <a:srgbClr val="C0392B"/>
                </a:solidFill>
                <a:sym typeface="+mn-ea"/>
              </a:rPr>
              <a:t>71%</a:t>
            </a:r>
            <a:r>
              <a:rPr lang="en-US" sz="850" dirty="0">
                <a:solidFill>
                  <a:srgbClr val="374151"/>
                </a:solidFill>
                <a:sym typeface="+mn-ea"/>
              </a:rPr>
              <a:t>（未批核6.8M）；松石/万城批核率 </a:t>
            </a:r>
            <a:r>
              <a:rPr lang="en-US" sz="850" b="1" dirty="0">
                <a:solidFill>
                  <a:srgbClr val="C0392B"/>
                </a:solidFill>
                <a:sym typeface="+mn-ea"/>
              </a:rPr>
              <a:t>0</a:t>
            </a:r>
            <a:r>
              <a:rPr lang="en-US" sz="850" dirty="0">
                <a:solidFill>
                  <a:srgbClr val="374151"/>
                </a:solidFill>
                <a:sym typeface="+mn-ea"/>
              </a:rPr>
              <a:t>，须优先排查件质量问题。EGA 4件/27.24M件均最高，唯思61件为量最多</a:t>
            </a:r>
            <a:endParaRPr lang="en-US" sz="850" dirty="0"/>
          </a:p>
        </p:txBody>
      </p:sp>
      <p:sp>
        <p:nvSpPr>
          <p:cNvPr id="22" name="Text 2"/>
          <p:cNvSpPr/>
          <p:nvPr/>
        </p:nvSpPr>
        <p:spPr>
          <a:xfrm>
            <a:off x="10515600" y="109728"/>
            <a:ext cx="15087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BC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内部文件 · 仅供使用</a:t>
            </a:r>
            <a:endParaRPr lang="en-US" sz="900" dirty="0"/>
          </a:p>
        </p:txBody>
      </p:sp>
      <p:sp>
        <p:nvSpPr>
          <p:cNvPr id="24" name="Text 4"/>
          <p:cNvSpPr/>
          <p:nvPr>
            <p:custDataLst>
              <p:tags r:id="rId16"/>
            </p:custDataLst>
          </p:nvPr>
        </p:nvSpPr>
        <p:spPr>
          <a:xfrm>
            <a:off x="6002655" y="3511550"/>
            <a:ext cx="2948940" cy="2305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FFFFFF"/>
                </a:solidFill>
              </a:rPr>
              <a:t>V  </a:t>
            </a:r>
            <a:r>
              <a:rPr lang="en-US" sz="850" b="1" dirty="0">
                <a:solidFill>
                  <a:schemeClr val="bg1"/>
                </a:solidFill>
                <a:sym typeface="+mn-ea"/>
              </a:rPr>
              <a:t>同行 TOP 10 KEY ACCOUNT分析</a:t>
            </a:r>
            <a:r>
              <a:rPr lang="en-US" sz="850" b="1" dirty="0">
                <a:solidFill>
                  <a:srgbClr val="1B2A4A"/>
                </a:solidFill>
                <a:sym typeface="+mn-ea"/>
              </a:rPr>
              <a:t>  </a:t>
            </a:r>
            <a:r>
              <a:rPr lang="en-US" sz="850" b="1" dirty="0">
                <a:solidFill>
                  <a:schemeClr val="bg1"/>
                </a:solidFill>
                <a:sym typeface="+mn-ea"/>
              </a:rPr>
              <a:t> </a:t>
            </a:r>
            <a:r>
              <a:rPr lang="en-US" sz="1100" b="1" dirty="0">
                <a:solidFill>
                  <a:schemeClr val="bg1"/>
                </a:solidFill>
                <a:sym typeface="+mn-ea"/>
              </a:rPr>
              <a:t> </a:t>
            </a:r>
            <a:endParaRPr lang="en-US" sz="1100" dirty="0"/>
          </a:p>
        </p:txBody>
      </p:sp>
      <p:sp>
        <p:nvSpPr>
          <p:cNvPr id="7" name="Text 6"/>
          <p:cNvSpPr/>
          <p:nvPr>
            <p:custDataLst>
              <p:tags r:id="rId17"/>
            </p:custDataLst>
          </p:nvPr>
        </p:nvSpPr>
        <p:spPr>
          <a:xfrm>
            <a:off x="174625" y="731520"/>
            <a:ext cx="1710055" cy="132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850" dirty="0">
                <a:solidFill>
                  <a:srgbClr val="6B7280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同行</a:t>
            </a:r>
            <a:r>
              <a:rPr lang="en-US" altLang="zh-CN" sz="850" dirty="0">
                <a:solidFill>
                  <a:srgbClr val="6B7280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2026</a:t>
            </a:r>
            <a:r>
              <a:rPr lang="en-US" sz="8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批核APE</a:t>
            </a:r>
            <a:endParaRPr lang="en-US" sz="850" dirty="0"/>
          </a:p>
        </p:txBody>
      </p:sp>
      <p:sp>
        <p:nvSpPr>
          <p:cNvPr id="12" name="Text 7"/>
          <p:cNvSpPr/>
          <p:nvPr>
            <p:custDataLst>
              <p:tags r:id="rId18"/>
            </p:custDataLst>
          </p:nvPr>
        </p:nvSpPr>
        <p:spPr>
          <a:xfrm>
            <a:off x="174625" y="857885"/>
            <a:ext cx="1710055" cy="2787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136.8M</a:t>
            </a:r>
            <a:endParaRPr lang="en-US" sz="2400" b="1" dirty="0">
              <a:solidFill>
                <a:srgbClr val="1F3864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3" name="Text 8"/>
          <p:cNvSpPr/>
          <p:nvPr>
            <p:custDataLst>
              <p:tags r:id="rId19"/>
            </p:custDataLst>
          </p:nvPr>
        </p:nvSpPr>
        <p:spPr>
          <a:xfrm>
            <a:off x="174625" y="1195070"/>
            <a:ext cx="1710055" cy="116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296件  |  件均46.2万</a:t>
            </a:r>
            <a:endParaRPr lang="en-US" sz="750" dirty="0"/>
          </a:p>
        </p:txBody>
      </p:sp>
      <p:sp>
        <p:nvSpPr>
          <p:cNvPr id="16" name="Shape 10"/>
          <p:cNvSpPr/>
          <p:nvPr>
            <p:custDataLst>
              <p:tags r:id="rId20"/>
            </p:custDataLst>
          </p:nvPr>
        </p:nvSpPr>
        <p:spPr>
          <a:xfrm>
            <a:off x="109855" y="605155"/>
            <a:ext cx="1782445" cy="762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5" name="Text 6"/>
          <p:cNvSpPr/>
          <p:nvPr>
            <p:custDataLst>
              <p:tags r:id="rId21"/>
            </p:custDataLst>
          </p:nvPr>
        </p:nvSpPr>
        <p:spPr>
          <a:xfrm>
            <a:off x="2079625" y="725170"/>
            <a:ext cx="1710055" cy="132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850" dirty="0">
                <a:solidFill>
                  <a:srgbClr val="6B7280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同行未</a:t>
            </a:r>
            <a:r>
              <a:rPr lang="en-US" sz="8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批核APE</a:t>
            </a:r>
            <a:endParaRPr lang="en-US" sz="850" dirty="0"/>
          </a:p>
        </p:txBody>
      </p:sp>
      <p:sp>
        <p:nvSpPr>
          <p:cNvPr id="26" name="Text 7"/>
          <p:cNvSpPr/>
          <p:nvPr>
            <p:custDataLst>
              <p:tags r:id="rId22"/>
            </p:custDataLst>
          </p:nvPr>
        </p:nvSpPr>
        <p:spPr>
          <a:xfrm>
            <a:off x="2079625" y="851535"/>
            <a:ext cx="1710055" cy="2787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64.4M</a:t>
            </a:r>
            <a:endParaRPr lang="en-US" sz="2400" b="1" dirty="0">
              <a:solidFill>
                <a:srgbClr val="1F3864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27" name="Text 8"/>
          <p:cNvSpPr/>
          <p:nvPr>
            <p:custDataLst>
              <p:tags r:id="rId23"/>
            </p:custDataLst>
          </p:nvPr>
        </p:nvSpPr>
        <p:spPr>
          <a:xfrm>
            <a:off x="2079625" y="1188720"/>
            <a:ext cx="1710055" cy="116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121件  |  </a:t>
            </a:r>
            <a:r>
              <a:rPr lang="zh-CN" altLang="en-US" sz="750" dirty="0">
                <a:solidFill>
                  <a:srgbClr val="374151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件均</a:t>
            </a:r>
            <a:r>
              <a:rPr lang="en-US" altLang="zh-CN" sz="750" dirty="0">
                <a:solidFill>
                  <a:srgbClr val="374151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53.2</a:t>
            </a:r>
            <a:r>
              <a:rPr lang="zh-CN" altLang="en-US" sz="750" dirty="0">
                <a:solidFill>
                  <a:srgbClr val="374151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万</a:t>
            </a:r>
            <a:endParaRPr lang="zh-CN" altLang="en-US" sz="750" dirty="0">
              <a:solidFill>
                <a:srgbClr val="374151"/>
              </a:solidFill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-120"/>
            </a:endParaRPr>
          </a:p>
        </p:txBody>
      </p:sp>
      <p:sp>
        <p:nvSpPr>
          <p:cNvPr id="28" name="Shape 10"/>
          <p:cNvSpPr/>
          <p:nvPr>
            <p:custDataLst>
              <p:tags r:id="rId24"/>
            </p:custDataLst>
          </p:nvPr>
        </p:nvSpPr>
        <p:spPr>
          <a:xfrm>
            <a:off x="2005330" y="598805"/>
            <a:ext cx="1782445" cy="76200"/>
          </a:xfrm>
          <a:prstGeom prst="rect">
            <a:avLst/>
          </a:prstGeom>
          <a:solidFill>
            <a:srgbClr val="4A235A"/>
          </a:solidFill>
          <a:ln w="12700">
            <a:solidFill>
              <a:srgbClr val="7030A0"/>
            </a:solidFill>
            <a:prstDash val="solid"/>
          </a:ln>
        </p:spPr>
      </p:sp>
      <p:sp>
        <p:nvSpPr>
          <p:cNvPr id="30" name="Text 6"/>
          <p:cNvSpPr/>
          <p:nvPr>
            <p:custDataLst>
              <p:tags r:id="rId25"/>
            </p:custDataLst>
          </p:nvPr>
        </p:nvSpPr>
        <p:spPr>
          <a:xfrm>
            <a:off x="3975735" y="718820"/>
            <a:ext cx="1710055" cy="132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850" dirty="0">
                <a:solidFill>
                  <a:srgbClr val="6B7280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同行待签</a:t>
            </a:r>
            <a:r>
              <a:rPr lang="en-US" sz="8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APE</a:t>
            </a:r>
            <a:endParaRPr lang="en-US" sz="850" dirty="0"/>
          </a:p>
        </p:txBody>
      </p:sp>
      <p:sp>
        <p:nvSpPr>
          <p:cNvPr id="31" name="Text 7"/>
          <p:cNvSpPr/>
          <p:nvPr>
            <p:custDataLst>
              <p:tags r:id="rId26"/>
            </p:custDataLst>
          </p:nvPr>
        </p:nvSpPr>
        <p:spPr>
          <a:xfrm>
            <a:off x="3975735" y="845185"/>
            <a:ext cx="1710055" cy="2787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1.5M</a:t>
            </a:r>
            <a:endParaRPr lang="en-US" sz="2400" b="1" dirty="0">
              <a:solidFill>
                <a:srgbClr val="1F3864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2" name="Text 8"/>
          <p:cNvSpPr/>
          <p:nvPr>
            <p:custDataLst>
              <p:tags r:id="rId27"/>
            </p:custDataLst>
          </p:nvPr>
        </p:nvSpPr>
        <p:spPr>
          <a:xfrm>
            <a:off x="3975735" y="1182370"/>
            <a:ext cx="1710055" cy="116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5件  |  </a:t>
            </a:r>
            <a:r>
              <a:rPr lang="zh-CN" altLang="en-US" sz="750" dirty="0">
                <a:solidFill>
                  <a:srgbClr val="374151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件均</a:t>
            </a:r>
            <a:r>
              <a:rPr lang="en-US" altLang="zh-CN" sz="750" dirty="0">
                <a:solidFill>
                  <a:srgbClr val="374151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29.6</a:t>
            </a:r>
            <a:r>
              <a:rPr lang="zh-CN" altLang="en-US" sz="750" dirty="0">
                <a:solidFill>
                  <a:srgbClr val="374151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万</a:t>
            </a:r>
            <a:endParaRPr lang="zh-CN" altLang="en-US" sz="750" dirty="0">
              <a:solidFill>
                <a:srgbClr val="374151"/>
              </a:solidFill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-120"/>
            </a:endParaRPr>
          </a:p>
        </p:txBody>
      </p:sp>
      <p:sp>
        <p:nvSpPr>
          <p:cNvPr id="33" name="Shape 10"/>
          <p:cNvSpPr/>
          <p:nvPr>
            <p:custDataLst>
              <p:tags r:id="rId28"/>
            </p:custDataLst>
          </p:nvPr>
        </p:nvSpPr>
        <p:spPr>
          <a:xfrm>
            <a:off x="3901440" y="592455"/>
            <a:ext cx="1782445" cy="76200"/>
          </a:xfrm>
          <a:prstGeom prst="rect">
            <a:avLst/>
          </a:prstGeom>
          <a:solidFill>
            <a:srgbClr val="00796B"/>
          </a:solidFill>
          <a:ln w="12700">
            <a:solidFill>
              <a:schemeClr val="accent6">
                <a:lumMod val="50000"/>
              </a:schemeClr>
            </a:solidFill>
            <a:prstDash val="solid"/>
          </a:ln>
        </p:spPr>
      </p:sp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131445" y="1496822"/>
          <a:ext cx="5526405" cy="47085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6280"/>
                <a:gridCol w="611505"/>
                <a:gridCol w="545465"/>
                <a:gridCol w="702310"/>
                <a:gridCol w="613925"/>
                <a:gridCol w="638810"/>
                <a:gridCol w="529865"/>
                <a:gridCol w="631190"/>
                <a:gridCol w="536965"/>
              </a:tblGrid>
              <a:tr h="1919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20" b="1" dirty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KEY ACCOUNT</a:t>
                      </a:r>
                      <a:endParaRPr lang="zh-CN" sz="720" b="1" dirty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20" b="1" dirty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批核APE(M)</a:t>
                      </a:r>
                      <a:endParaRPr lang="zh-CN" sz="720" b="1" dirty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20" b="1" dirty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批核件数</a:t>
                      </a:r>
                      <a:endParaRPr lang="zh-CN" sz="720" b="1" dirty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20" b="1" dirty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未批核APE(M)</a:t>
                      </a:r>
                      <a:endParaRPr lang="zh-CN" sz="720" b="1" dirty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20" b="1" dirty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未批核件数</a:t>
                      </a:r>
                      <a:endParaRPr lang="zh-CN" sz="720" b="1" dirty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20" b="1" dirty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待签APE(M)</a:t>
                      </a:r>
                      <a:endParaRPr lang="zh-CN" sz="720" b="1" dirty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20" b="1" dirty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待签件数</a:t>
                      </a:r>
                      <a:endParaRPr lang="zh-CN" sz="720" b="1" dirty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20" b="1" dirty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合计APE(M)</a:t>
                      </a:r>
                      <a:endParaRPr lang="zh-CN" sz="720" b="1" dirty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20" b="1" dirty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合计件数</a:t>
                      </a:r>
                      <a:endParaRPr lang="zh-CN" sz="720" b="1" dirty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1A3A5C"/>
                    </a:solidFill>
                  </a:tcPr>
                </a:tc>
              </a:tr>
              <a:tr h="16726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b="1" dirty="0">
                          <a:solidFill>
                            <a:srgbClr val="1A3A5C"/>
                          </a:solidFill>
                          <a:latin typeface="Calibri" panose="020F0502020204030204"/>
                          <a:ea typeface="Calibri" panose="020F0502020204030204"/>
                        </a:rPr>
                        <a:t>EGA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b="1" dirty="0">
                          <a:solidFill>
                            <a:srgbClr val="1A3A5C"/>
                          </a:solidFill>
                          <a:latin typeface="Calibri" panose="020F0502020204030204"/>
                          <a:ea typeface="Calibri" panose="020F0502020204030204"/>
                        </a:rPr>
                        <a:t>27.24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4</a:t>
                      </a:r>
                      <a:endParaRPr lang="en-US" alt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2.</a:t>
                      </a:r>
                      <a:r>
                        <a:rPr lang="en-US" altLang="zh-CN" sz="76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82</a:t>
                      </a:r>
                      <a:endParaRPr lang="en-US" alt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3</a:t>
                      </a:r>
                      <a:endParaRPr lang="en-US" alt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0</a:t>
                      </a:r>
                      <a:endParaRPr lang="en-US" alt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0</a:t>
                      </a:r>
                      <a:endParaRPr lang="en-US" alt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b="1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30.06</a:t>
                      </a:r>
                      <a:endParaRPr lang="zh-CN" sz="760" b="1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7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</a:tr>
              <a:tr h="16726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b="1" dirty="0">
                          <a:solidFill>
                            <a:srgbClr val="1A3A5C"/>
                          </a:solidFill>
                          <a:latin typeface="Calibri" panose="020F0502020204030204"/>
                          <a:ea typeface="Calibri" panose="020F0502020204030204"/>
                        </a:rPr>
                        <a:t>唯思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b="1" dirty="0">
                          <a:solidFill>
                            <a:srgbClr val="1A3A5C"/>
                          </a:solidFill>
                          <a:latin typeface="Calibri" panose="020F0502020204030204"/>
                          <a:ea typeface="Calibri" panose="020F0502020204030204"/>
                        </a:rPr>
                        <a:t>23.51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61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dirty="0">
                          <a:solidFill>
                            <a:srgbClr val="C0392B"/>
                          </a:solidFill>
                          <a:latin typeface="Calibri" panose="020F0502020204030204"/>
                          <a:ea typeface="Calibri" panose="020F0502020204030204"/>
                        </a:rPr>
                        <a:t>6.83</a:t>
                      </a:r>
                      <a:endParaRPr lang="zh-CN" sz="760" dirty="0">
                        <a:solidFill>
                          <a:srgbClr val="C0392B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22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0.56</a:t>
                      </a:r>
                      <a:endParaRPr 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3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b="1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29.96</a:t>
                      </a:r>
                      <a:endParaRPr lang="zh-CN" sz="760" b="1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76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</a:tr>
              <a:tr h="16726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b="1" dirty="0">
                          <a:solidFill>
                            <a:srgbClr val="1A3A5C"/>
                          </a:solidFill>
                          <a:latin typeface="Calibri" panose="020F0502020204030204"/>
                          <a:ea typeface="Calibri" panose="020F0502020204030204"/>
                        </a:rPr>
                        <a:t>紫荆保险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b="1" dirty="0">
                          <a:solidFill>
                            <a:srgbClr val="1A3A5C"/>
                          </a:solidFill>
                          <a:latin typeface="Calibri" panose="020F0502020204030204"/>
                          <a:ea typeface="Calibri" panose="020F0502020204030204"/>
                        </a:rPr>
                        <a:t>20.93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62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dirty="0">
                          <a:solidFill>
                            <a:srgbClr val="C0392B"/>
                          </a:solidFill>
                          <a:latin typeface="Calibri" panose="020F0502020204030204"/>
                          <a:ea typeface="Calibri" panose="020F0502020204030204"/>
                        </a:rPr>
                        <a:t>9.76</a:t>
                      </a:r>
                      <a:endParaRPr lang="zh-CN" sz="760" dirty="0">
                        <a:solidFill>
                          <a:srgbClr val="C0392B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22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0.95</a:t>
                      </a:r>
                      <a:endParaRPr 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7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b="1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29.06</a:t>
                      </a:r>
                      <a:endParaRPr lang="zh-CN" sz="760" b="1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81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</a:tr>
              <a:tr h="16726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b="1" dirty="0">
                          <a:solidFill>
                            <a:srgbClr val="1A3A5C"/>
                          </a:solidFill>
                          <a:latin typeface="Calibri" panose="020F0502020204030204"/>
                          <a:ea typeface="Calibri" panose="020F0502020204030204"/>
                        </a:rPr>
                        <a:t>堡盛国际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b="1" dirty="0">
                          <a:solidFill>
                            <a:srgbClr val="1A3A5C"/>
                          </a:solidFill>
                          <a:latin typeface="Calibri" panose="020F0502020204030204"/>
                          <a:ea typeface="Calibri" panose="020F0502020204030204"/>
                        </a:rPr>
                        <a:t>17.28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46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dirty="0">
                          <a:solidFill>
                            <a:srgbClr val="C0392B"/>
                          </a:solidFill>
                          <a:latin typeface="Calibri" panose="020F0502020204030204"/>
                          <a:ea typeface="Calibri" panose="020F0502020204030204"/>
                        </a:rPr>
                        <a:t>6.53</a:t>
                      </a:r>
                      <a:endParaRPr lang="zh-CN" sz="760" dirty="0">
                        <a:solidFill>
                          <a:srgbClr val="C0392B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13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0.68</a:t>
                      </a:r>
                      <a:endParaRPr 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2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b="1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23.25</a:t>
                      </a:r>
                      <a:endParaRPr lang="zh-CN" sz="760" b="1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61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</a:tr>
              <a:tr h="16726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b="1" dirty="0">
                          <a:solidFill>
                            <a:srgbClr val="1A3A5C"/>
                          </a:solidFill>
                          <a:latin typeface="Calibri" panose="020F0502020204030204"/>
                          <a:ea typeface="Calibri" panose="020F0502020204030204"/>
                        </a:rPr>
                        <a:t>宏鑫资产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b="1" dirty="0">
                          <a:solidFill>
                            <a:srgbClr val="1A3A5C"/>
                          </a:solidFill>
                          <a:latin typeface="Calibri" panose="020F0502020204030204"/>
                          <a:ea typeface="Calibri" panose="020F0502020204030204"/>
                        </a:rPr>
                        <a:t>12.48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3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—</a:t>
                      </a:r>
                      <a:endParaRPr 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—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—</a:t>
                      </a:r>
                      <a:endParaRPr 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—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b="1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12.48</a:t>
                      </a:r>
                      <a:endParaRPr lang="zh-CN" sz="760" b="1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3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</a:tr>
              <a:tr h="16726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b="1" dirty="0">
                          <a:solidFill>
                            <a:srgbClr val="1A3A5C"/>
                          </a:solidFill>
                          <a:latin typeface="Calibri" panose="020F0502020204030204"/>
                          <a:ea typeface="Calibri" panose="020F0502020204030204"/>
                        </a:rPr>
                        <a:t>企鹅保险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b="1" dirty="0">
                          <a:solidFill>
                            <a:srgbClr val="1A3A5C"/>
                          </a:solidFill>
                          <a:latin typeface="Calibri" panose="020F0502020204030204"/>
                          <a:ea typeface="Calibri" panose="020F0502020204030204"/>
                        </a:rPr>
                        <a:t>10.33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44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4.39</a:t>
                      </a:r>
                      <a:endParaRPr 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18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1.24</a:t>
                      </a:r>
                      <a:endParaRPr 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5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b="1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14.73</a:t>
                      </a:r>
                      <a:endParaRPr lang="zh-CN" sz="760" b="1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58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</a:tr>
              <a:tr h="16726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b="1" dirty="0">
                          <a:solidFill>
                            <a:srgbClr val="1A3A5C"/>
                          </a:solidFill>
                          <a:latin typeface="Calibri" panose="020F0502020204030204"/>
                          <a:ea typeface="Calibri" panose="020F0502020204030204"/>
                        </a:rPr>
                        <a:t>万森保险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b="1" dirty="0">
                          <a:solidFill>
                            <a:srgbClr val="1A3A5C"/>
                          </a:solidFill>
                          <a:latin typeface="Calibri" panose="020F0502020204030204"/>
                          <a:ea typeface="Calibri" panose="020F0502020204030204"/>
                        </a:rPr>
                        <a:t>9.34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34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dirty="0">
                          <a:solidFill>
                            <a:srgbClr val="C0392B"/>
                          </a:solidFill>
                          <a:latin typeface="Calibri" panose="020F0502020204030204"/>
                          <a:ea typeface="Calibri" panose="020F0502020204030204"/>
                        </a:rPr>
                        <a:t>8.93</a:t>
                      </a:r>
                      <a:endParaRPr lang="zh-CN" sz="760" dirty="0">
                        <a:solidFill>
                          <a:srgbClr val="C0392B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22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—</a:t>
                      </a:r>
                      <a:endParaRPr 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2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b="1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18.28</a:t>
                      </a:r>
                      <a:endParaRPr lang="zh-CN" sz="760" b="1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54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</a:tr>
              <a:tr h="16726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b="1" dirty="0">
                          <a:solidFill>
                            <a:srgbClr val="1A3A5C"/>
                          </a:solidFill>
                          <a:latin typeface="Calibri" panose="020F0502020204030204"/>
                          <a:ea typeface="Calibri" panose="020F0502020204030204"/>
                        </a:rPr>
                        <a:t>天誉国际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b="1" dirty="0">
                          <a:solidFill>
                            <a:srgbClr val="1A3A5C"/>
                          </a:solidFill>
                          <a:latin typeface="Calibri" panose="020F0502020204030204"/>
                          <a:ea typeface="Calibri" panose="020F0502020204030204"/>
                        </a:rPr>
                        <a:t>3.18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7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dirty="0">
                          <a:solidFill>
                            <a:srgbClr val="C0392B"/>
                          </a:solidFill>
                          <a:latin typeface="Calibri" panose="020F0502020204030204"/>
                          <a:ea typeface="Calibri" panose="020F0502020204030204"/>
                        </a:rPr>
                        <a:t>8.79</a:t>
                      </a:r>
                      <a:endParaRPr lang="zh-CN" sz="760" dirty="0">
                        <a:solidFill>
                          <a:srgbClr val="C0392B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18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1.44</a:t>
                      </a:r>
                      <a:endParaRPr 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6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b="1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9.58</a:t>
                      </a:r>
                      <a:endParaRPr lang="zh-CN" sz="760" b="1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28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</a:tr>
              <a:tr h="16726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b="1" dirty="0">
                          <a:solidFill>
                            <a:srgbClr val="1A3A5C"/>
                          </a:solidFill>
                          <a:latin typeface="Calibri" panose="020F0502020204030204"/>
                          <a:ea typeface="Calibri" panose="020F0502020204030204"/>
                        </a:rPr>
                        <a:t>中天家办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b="1" dirty="0">
                          <a:solidFill>
                            <a:srgbClr val="1A3A5C"/>
                          </a:solidFill>
                          <a:latin typeface="Calibri" panose="020F0502020204030204"/>
                          <a:ea typeface="Calibri" panose="020F0502020204030204"/>
                        </a:rPr>
                        <a:t>2.01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3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1.19</a:t>
                      </a:r>
                      <a:endParaRPr 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3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0.12</a:t>
                      </a:r>
                      <a:endParaRPr 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1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b="1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3.32</a:t>
                      </a:r>
                      <a:endParaRPr lang="zh-CN" sz="760" b="1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7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</a:tr>
              <a:tr h="16726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b="1" dirty="0">
                          <a:solidFill>
                            <a:srgbClr val="1A3A5C"/>
                          </a:solidFill>
                          <a:latin typeface="Calibri" panose="020F0502020204030204"/>
                          <a:ea typeface="Calibri" panose="020F0502020204030204"/>
                        </a:rPr>
                        <a:t>晋誉财富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b="1" dirty="0">
                          <a:solidFill>
                            <a:srgbClr val="1A3A5C"/>
                          </a:solidFill>
                          <a:latin typeface="Calibri" panose="020F0502020204030204"/>
                          <a:ea typeface="Calibri" panose="020F0502020204030204"/>
                        </a:rPr>
                        <a:t>1.88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6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—</a:t>
                      </a:r>
                      <a:endParaRPr 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—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—</a:t>
                      </a:r>
                      <a:endParaRPr 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—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b="1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1.88</a:t>
                      </a:r>
                      <a:endParaRPr lang="zh-CN" sz="760" b="1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6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</a:tr>
              <a:tr h="16726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b="1" dirty="0">
                          <a:solidFill>
                            <a:srgbClr val="1A3A5C"/>
                          </a:solidFill>
                          <a:latin typeface="Calibri" panose="020F0502020204030204"/>
                          <a:ea typeface="Calibri" panose="020F0502020204030204"/>
                        </a:rPr>
                        <a:t>卓樾会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b="1" dirty="0">
                          <a:solidFill>
                            <a:srgbClr val="1A3A5C"/>
                          </a:solidFill>
                          <a:latin typeface="Calibri" panose="020F0502020204030204"/>
                          <a:ea typeface="Calibri" panose="020F0502020204030204"/>
                        </a:rPr>
                        <a:t>1.65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3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—</a:t>
                      </a:r>
                      <a:endParaRPr 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—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—</a:t>
                      </a:r>
                      <a:endParaRPr 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—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b="1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1.65</a:t>
                      </a:r>
                      <a:endParaRPr lang="zh-CN" sz="760" b="1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3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</a:tr>
              <a:tr h="16726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b="1" dirty="0">
                          <a:solidFill>
                            <a:srgbClr val="1A3A5C"/>
                          </a:solidFill>
                          <a:latin typeface="Calibri" panose="020F0502020204030204"/>
                          <a:ea typeface="Calibri" panose="020F0502020204030204"/>
                        </a:rPr>
                        <a:t>德方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b="1" dirty="0">
                          <a:solidFill>
                            <a:srgbClr val="1A3A5C"/>
                          </a:solidFill>
                          <a:latin typeface="Calibri" panose="020F0502020204030204"/>
                          <a:ea typeface="Calibri" panose="020F0502020204030204"/>
                        </a:rPr>
                        <a:t>1.56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5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0.78</a:t>
                      </a:r>
                      <a:endParaRPr 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1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—</a:t>
                      </a:r>
                      <a:endParaRPr 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—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b="1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2.34</a:t>
                      </a:r>
                      <a:endParaRPr lang="zh-CN" sz="760" b="1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6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</a:tr>
              <a:tr h="16726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b="1" dirty="0">
                          <a:solidFill>
                            <a:srgbClr val="1A3A5C"/>
                          </a:solidFill>
                          <a:latin typeface="Calibri" panose="020F0502020204030204"/>
                          <a:ea typeface="Calibri" panose="020F0502020204030204"/>
                        </a:rPr>
                        <a:t>臻略财富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b="1" dirty="0">
                          <a:solidFill>
                            <a:srgbClr val="1A3A5C"/>
                          </a:solidFill>
                          <a:latin typeface="Calibri" panose="020F0502020204030204"/>
                          <a:ea typeface="Calibri" panose="020F0502020204030204"/>
                        </a:rPr>
                        <a:t>1.37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6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1.17</a:t>
                      </a:r>
                      <a:endParaRPr 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2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—</a:t>
                      </a:r>
                      <a:endParaRPr 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—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b="1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2.54</a:t>
                      </a:r>
                      <a:endParaRPr lang="zh-CN" sz="760" b="1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8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</a:tr>
              <a:tr h="16726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b="1" dirty="0">
                          <a:solidFill>
                            <a:srgbClr val="1A3A5C"/>
                          </a:solidFill>
                          <a:latin typeface="Calibri" panose="020F0502020204030204"/>
                          <a:ea typeface="Calibri" panose="020F0502020204030204"/>
                        </a:rPr>
                        <a:t>龙腾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b="1" dirty="0">
                          <a:solidFill>
                            <a:srgbClr val="1A3A5C"/>
                          </a:solidFill>
                          <a:latin typeface="Calibri" panose="020F0502020204030204"/>
                          <a:ea typeface="Calibri" panose="020F0502020204030204"/>
                        </a:rPr>
                        <a:t>1.28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3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—</a:t>
                      </a:r>
                      <a:endParaRPr 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—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—</a:t>
                      </a:r>
                      <a:endParaRPr 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—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b="1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1.28</a:t>
                      </a:r>
                      <a:endParaRPr lang="zh-CN" sz="760" b="1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3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</a:tr>
              <a:tr h="16726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b="1" dirty="0">
                          <a:solidFill>
                            <a:srgbClr val="1A3A5C"/>
                          </a:solidFill>
                          <a:latin typeface="Calibri" panose="020F0502020204030204"/>
                          <a:ea typeface="Calibri" panose="020F0502020204030204"/>
                        </a:rPr>
                        <a:t>太富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b="1" dirty="0">
                          <a:solidFill>
                            <a:srgbClr val="1A3A5C"/>
                          </a:solidFill>
                          <a:latin typeface="Calibri" panose="020F0502020204030204"/>
                          <a:ea typeface="Calibri" panose="020F0502020204030204"/>
                        </a:rPr>
                        <a:t>0.80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1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—</a:t>
                      </a:r>
                      <a:endParaRPr 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—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—</a:t>
                      </a:r>
                      <a:endParaRPr 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—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b="1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0.80</a:t>
                      </a:r>
                      <a:endParaRPr lang="zh-CN" sz="760" b="1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1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</a:tr>
              <a:tr h="16726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b="1" dirty="0">
                          <a:solidFill>
                            <a:srgbClr val="1A3A5C"/>
                          </a:solidFill>
                          <a:latin typeface="Calibri" panose="020F0502020204030204"/>
                          <a:ea typeface="Calibri" panose="020F0502020204030204"/>
                        </a:rPr>
                        <a:t>共享经纪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b="1" dirty="0">
                          <a:solidFill>
                            <a:srgbClr val="1A3A5C"/>
                          </a:solidFill>
                          <a:latin typeface="Calibri" panose="020F0502020204030204"/>
                          <a:ea typeface="Calibri" panose="020F0502020204030204"/>
                        </a:rPr>
                        <a:t>0.16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1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—</a:t>
                      </a:r>
                      <a:endParaRPr 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—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—</a:t>
                      </a:r>
                      <a:endParaRPr 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—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b="1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0.16</a:t>
                      </a:r>
                      <a:endParaRPr lang="zh-CN" sz="760" b="1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1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</a:tr>
              <a:tr h="16726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b="1" dirty="0">
                          <a:solidFill>
                            <a:srgbClr val="1A3A5C"/>
                          </a:solidFill>
                          <a:latin typeface="Calibri" panose="020F0502020204030204"/>
                          <a:ea typeface="Calibri" panose="020F0502020204030204"/>
                        </a:rPr>
                        <a:t>众安国际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b="1" dirty="0">
                          <a:solidFill>
                            <a:srgbClr val="1A3A5C"/>
                          </a:solidFill>
                          <a:latin typeface="Calibri" panose="020F0502020204030204"/>
                          <a:ea typeface="Calibri" panose="020F0502020204030204"/>
                        </a:rPr>
                        <a:t>0.12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1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—</a:t>
                      </a:r>
                      <a:endParaRPr 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—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—</a:t>
                      </a:r>
                      <a:endParaRPr 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—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b="1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0.12</a:t>
                      </a:r>
                      <a:endParaRPr lang="zh-CN" sz="760" b="1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1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</a:tr>
              <a:tr h="16726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b="1" dirty="0">
                          <a:solidFill>
                            <a:srgbClr val="1A3A5C"/>
                          </a:solidFill>
                          <a:latin typeface="Calibri" panose="020F0502020204030204"/>
                          <a:ea typeface="Calibri" panose="020F0502020204030204"/>
                        </a:rPr>
                        <a:t>雅德保险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b="1" dirty="0">
                          <a:solidFill>
                            <a:srgbClr val="1A3A5C"/>
                          </a:solidFill>
                          <a:latin typeface="Calibri" panose="020F0502020204030204"/>
                          <a:ea typeface="Calibri" panose="020F0502020204030204"/>
                        </a:rPr>
                        <a:t>0.08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1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—</a:t>
                      </a:r>
                      <a:endParaRPr 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—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—</a:t>
                      </a:r>
                      <a:endParaRPr 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—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b="1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0.08</a:t>
                      </a:r>
                      <a:endParaRPr lang="zh-CN" sz="760" b="1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1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</a:tr>
              <a:tr h="16726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b="1" dirty="0">
                          <a:solidFill>
                            <a:srgbClr val="1A3A5C"/>
                          </a:solidFill>
                          <a:latin typeface="Calibri" panose="020F0502020204030204"/>
                          <a:ea typeface="Calibri" panose="020F0502020204030204"/>
                        </a:rPr>
                        <a:t>香港宜达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b="1" dirty="0">
                          <a:solidFill>
                            <a:srgbClr val="1A3A5C"/>
                          </a:solidFill>
                          <a:latin typeface="Calibri" panose="020F0502020204030204"/>
                          <a:ea typeface="Calibri" panose="020F0502020204030204"/>
                        </a:rPr>
                        <a:t>0.04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1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—</a:t>
                      </a:r>
                      <a:endParaRPr 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—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—</a:t>
                      </a:r>
                      <a:endParaRPr 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—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b="1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0.04</a:t>
                      </a:r>
                      <a:endParaRPr lang="zh-CN" sz="760" b="1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1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</a:tr>
              <a:tr h="16726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b="1" dirty="0">
                          <a:solidFill>
                            <a:srgbClr val="1A3A5C"/>
                          </a:solidFill>
                          <a:latin typeface="Calibri" panose="020F0502020204030204"/>
                          <a:ea typeface="Calibri" panose="020F0502020204030204"/>
                        </a:rPr>
                        <a:t>钜诚保险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b="1" dirty="0">
                          <a:solidFill>
                            <a:srgbClr val="1A3A5C"/>
                          </a:solidFill>
                          <a:latin typeface="Calibri" panose="020F0502020204030204"/>
                          <a:ea typeface="Calibri" panose="020F0502020204030204"/>
                        </a:rPr>
                        <a:t>0.03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1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—</a:t>
                      </a:r>
                      <a:endParaRPr 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—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—</a:t>
                      </a:r>
                      <a:endParaRPr 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—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b="1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0.03</a:t>
                      </a:r>
                      <a:endParaRPr lang="zh-CN" sz="760" b="1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1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</a:tr>
              <a:tr h="16726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b="1" dirty="0">
                          <a:solidFill>
                            <a:srgbClr val="1A3A5C"/>
                          </a:solidFill>
                          <a:latin typeface="Calibri" panose="020F0502020204030204"/>
                          <a:ea typeface="Calibri" panose="020F0502020204030204"/>
                        </a:rPr>
                        <a:t>松石保险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dirty="0">
                          <a:solidFill>
                            <a:srgbClr val="94A3B8"/>
                          </a:solidFill>
                          <a:latin typeface="Calibri" panose="020F0502020204030204"/>
                          <a:ea typeface="Calibri" panose="020F0502020204030204"/>
                        </a:rPr>
                        <a:t>—</a:t>
                      </a:r>
                      <a:endParaRPr lang="zh-CN" sz="760" dirty="0">
                        <a:solidFill>
                          <a:srgbClr val="94A3B8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—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dirty="0">
                          <a:solidFill>
                            <a:srgbClr val="C0392B"/>
                          </a:solidFill>
                          <a:latin typeface="Calibri" panose="020F0502020204030204"/>
                          <a:ea typeface="Calibri" panose="020F0502020204030204"/>
                        </a:rPr>
                        <a:t>11.70</a:t>
                      </a:r>
                      <a:endParaRPr lang="zh-CN" sz="760" dirty="0">
                        <a:solidFill>
                          <a:srgbClr val="C0392B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1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—</a:t>
                      </a:r>
                      <a:endParaRPr 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—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b="1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11.70</a:t>
                      </a:r>
                      <a:endParaRPr lang="zh-CN" sz="760" b="1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1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</a:tr>
              <a:tr h="16726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b="1" dirty="0">
                          <a:solidFill>
                            <a:srgbClr val="1A3A5C"/>
                          </a:solidFill>
                          <a:latin typeface="Calibri" panose="020F0502020204030204"/>
                          <a:ea typeface="Calibri" panose="020F0502020204030204"/>
                        </a:rPr>
                        <a:t>万城保险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dirty="0">
                          <a:solidFill>
                            <a:srgbClr val="94A3B8"/>
                          </a:solidFill>
                          <a:latin typeface="Calibri" panose="020F0502020204030204"/>
                          <a:ea typeface="Calibri" panose="020F0502020204030204"/>
                        </a:rPr>
                        <a:t>—</a:t>
                      </a:r>
                      <a:endParaRPr lang="zh-CN" sz="760" dirty="0">
                        <a:solidFill>
                          <a:srgbClr val="94A3B8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—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2.73</a:t>
                      </a:r>
                      <a:endParaRPr 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2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—</a:t>
                      </a:r>
                      <a:endParaRPr 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—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b="1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2.73</a:t>
                      </a:r>
                      <a:endParaRPr lang="zh-CN" sz="760" b="1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2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</a:tr>
              <a:tr h="1919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80" b="1" dirty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合计</a:t>
                      </a:r>
                      <a:endParaRPr lang="zh-CN" sz="780" b="1" dirty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80" b="1" dirty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136.81</a:t>
                      </a:r>
                      <a:endParaRPr lang="zh-CN" sz="780" b="1" dirty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b="1" dirty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296</a:t>
                      </a:r>
                      <a:endParaRPr lang="zh-CN" sz="760" b="1" dirty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80" b="1" dirty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64.43</a:t>
                      </a:r>
                      <a:endParaRPr lang="zh-CN" sz="780" b="1" dirty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b="1" dirty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121</a:t>
                      </a:r>
                      <a:endParaRPr lang="zh-CN" sz="760" b="1" dirty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80" b="1" dirty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1.48</a:t>
                      </a:r>
                      <a:endParaRPr lang="zh-CN" sz="780" b="1" dirty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b="1" dirty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5</a:t>
                      </a:r>
                      <a:endParaRPr lang="zh-CN" sz="760" b="1" dirty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80" b="1" dirty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202.72</a:t>
                      </a:r>
                      <a:endParaRPr lang="zh-CN" sz="780" b="1" dirty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b="1" dirty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422</a:t>
                      </a:r>
                      <a:endParaRPr lang="zh-CN" sz="760" b="1" dirty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1A3A5C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1" name="Chart 0"/>
          <p:cNvGraphicFramePr/>
          <p:nvPr>
            <p:custDataLst>
              <p:tags r:id="rId29"/>
            </p:custDataLst>
          </p:nvPr>
        </p:nvGraphicFramePr>
        <p:xfrm>
          <a:off x="5974715" y="895985"/>
          <a:ext cx="5842000" cy="19621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graphicFrame>
        <p:nvGraphicFramePr>
          <p:cNvPr id="37" name="Chart 1"/>
          <p:cNvGraphicFramePr/>
          <p:nvPr>
            <p:custDataLst>
              <p:tags r:id="rId30"/>
            </p:custDataLst>
          </p:nvPr>
        </p:nvGraphicFramePr>
        <p:xfrm>
          <a:off x="5948045" y="3825875"/>
          <a:ext cx="5904230" cy="279273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Shape 3"/>
          <p:cNvSpPr/>
          <p:nvPr/>
        </p:nvSpPr>
        <p:spPr>
          <a:xfrm>
            <a:off x="265430" y="1485900"/>
            <a:ext cx="11710670" cy="1875155"/>
          </a:xfrm>
          <a:prstGeom prst="rect">
            <a:avLst/>
          </a:prstGeom>
          <a:solidFill>
            <a:srgbClr val="FFFFFF"/>
          </a:solidFill>
          <a:ln w="9525">
            <a:solidFill>
              <a:srgbClr val="D0D8E8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3" name="Shape 0"/>
          <p:cNvSpPr/>
          <p:nvPr/>
        </p:nvSpPr>
        <p:spPr>
          <a:xfrm>
            <a:off x="0" y="0"/>
            <a:ext cx="12161520" cy="47548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09550" y="38100"/>
            <a:ext cx="3747770" cy="3841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algn="l">
              <a:buClrTx/>
              <a:buSzTx/>
              <a:buFontTx/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同行业绩分析仪表盘 </a:t>
            </a: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 |</a:t>
            </a: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Pip</a:t>
            </a: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eline &amp; Approval View</a:t>
            </a:r>
            <a:endParaRPr lang="en-US" sz="1200" b="1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22" name="Text 2"/>
          <p:cNvSpPr/>
          <p:nvPr/>
        </p:nvSpPr>
        <p:spPr>
          <a:xfrm>
            <a:off x="10515600" y="109728"/>
            <a:ext cx="15087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BC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内部文件 · 仅供使用</a:t>
            </a:r>
            <a:endParaRPr lang="en-US" sz="900" dirty="0"/>
          </a:p>
        </p:txBody>
      </p:sp>
      <p:sp>
        <p:nvSpPr>
          <p:cNvPr id="48" name="Shape 42"/>
          <p:cNvSpPr/>
          <p:nvPr>
            <p:custDataLst>
              <p:tags r:id="rId2"/>
            </p:custDataLst>
          </p:nvPr>
        </p:nvSpPr>
        <p:spPr>
          <a:xfrm>
            <a:off x="6404610" y="556260"/>
            <a:ext cx="1800860" cy="85217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9" name="Shape 43"/>
          <p:cNvSpPr/>
          <p:nvPr>
            <p:custDataLst>
              <p:tags r:id="rId3"/>
            </p:custDataLst>
          </p:nvPr>
        </p:nvSpPr>
        <p:spPr>
          <a:xfrm flipH="1">
            <a:off x="6388100" y="556260"/>
            <a:ext cx="54000" cy="84240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50" name="Text 44"/>
          <p:cNvSpPr/>
          <p:nvPr>
            <p:custDataLst>
              <p:tags r:id="rId4"/>
            </p:custDataLst>
          </p:nvPr>
        </p:nvSpPr>
        <p:spPr>
          <a:xfrm>
            <a:off x="6514338" y="611124"/>
            <a:ext cx="1088136" cy="2011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CN" altLang="en-US" sz="800" dirty="0">
                <a:solidFill>
                  <a:srgbClr val="64748B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同行</a:t>
            </a:r>
            <a:r>
              <a:rPr lang="en-US" sz="8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W13预约</a:t>
            </a:r>
            <a:endParaRPr lang="en-US" sz="800" dirty="0"/>
          </a:p>
        </p:txBody>
      </p:sp>
      <p:sp>
        <p:nvSpPr>
          <p:cNvPr id="51" name="Text 45"/>
          <p:cNvSpPr/>
          <p:nvPr>
            <p:custDataLst>
              <p:tags r:id="rId5"/>
            </p:custDataLst>
          </p:nvPr>
        </p:nvSpPr>
        <p:spPr>
          <a:xfrm>
            <a:off x="6514338" y="784860"/>
            <a:ext cx="1088136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4F7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3.6M</a:t>
            </a:r>
            <a:endParaRPr lang="en-US" sz="1800" dirty="0"/>
          </a:p>
        </p:txBody>
      </p:sp>
      <p:sp>
        <p:nvSpPr>
          <p:cNvPr id="52" name="Text 46"/>
          <p:cNvSpPr/>
          <p:nvPr>
            <p:custDataLst>
              <p:tags r:id="rId6"/>
            </p:custDataLst>
          </p:nvPr>
        </p:nvSpPr>
        <p:spPr>
          <a:xfrm>
            <a:off x="6514338" y="1095756"/>
            <a:ext cx="1088136" cy="16459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12件</a:t>
            </a:r>
            <a:r>
              <a:rPr lang="en-US" sz="7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| 件均29.8W</a:t>
            </a:r>
            <a:endParaRPr lang="en-US" sz="750" dirty="0"/>
          </a:p>
        </p:txBody>
      </p:sp>
      <p:sp>
        <p:nvSpPr>
          <p:cNvPr id="53" name="Shape 47"/>
          <p:cNvSpPr/>
          <p:nvPr>
            <p:custDataLst>
              <p:tags r:id="rId7"/>
            </p:custDataLst>
          </p:nvPr>
        </p:nvSpPr>
        <p:spPr>
          <a:xfrm>
            <a:off x="8282305" y="556260"/>
            <a:ext cx="1757045" cy="852805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4" name="Shape 48"/>
          <p:cNvSpPr/>
          <p:nvPr>
            <p:custDataLst>
              <p:tags r:id="rId8"/>
            </p:custDataLst>
          </p:nvPr>
        </p:nvSpPr>
        <p:spPr>
          <a:xfrm>
            <a:off x="8282178" y="556260"/>
            <a:ext cx="54864" cy="842400"/>
          </a:xfrm>
          <a:prstGeom prst="rect">
            <a:avLst/>
          </a:prstGeom>
          <a:solidFill>
            <a:srgbClr val="117A65"/>
          </a:solidFill>
          <a:ln w="12700">
            <a:solidFill>
              <a:srgbClr val="117A65"/>
            </a:solidFill>
            <a:prstDash val="solid"/>
          </a:ln>
        </p:spPr>
      </p:sp>
      <p:sp>
        <p:nvSpPr>
          <p:cNvPr id="55" name="Text 49"/>
          <p:cNvSpPr/>
          <p:nvPr>
            <p:custDataLst>
              <p:tags r:id="rId9"/>
            </p:custDataLst>
          </p:nvPr>
        </p:nvSpPr>
        <p:spPr>
          <a:xfrm>
            <a:off x="8391906" y="611124"/>
            <a:ext cx="1088136" cy="2011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CN" altLang="en-US" sz="800" dirty="0">
                <a:solidFill>
                  <a:srgbClr val="64748B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同行</a:t>
            </a:r>
            <a:r>
              <a:rPr lang="en-US" sz="8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W13签单</a:t>
            </a:r>
            <a:endParaRPr lang="en-US" sz="800" dirty="0"/>
          </a:p>
        </p:txBody>
      </p:sp>
      <p:sp>
        <p:nvSpPr>
          <p:cNvPr id="56" name="Text 50"/>
          <p:cNvSpPr/>
          <p:nvPr>
            <p:custDataLst>
              <p:tags r:id="rId10"/>
            </p:custDataLst>
          </p:nvPr>
        </p:nvSpPr>
        <p:spPr>
          <a:xfrm>
            <a:off x="8391906" y="784860"/>
            <a:ext cx="1088136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7A6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7.5M</a:t>
            </a:r>
            <a:endParaRPr lang="en-US" sz="1800" dirty="0"/>
          </a:p>
        </p:txBody>
      </p:sp>
      <p:sp>
        <p:nvSpPr>
          <p:cNvPr id="57" name="Text 51"/>
          <p:cNvSpPr/>
          <p:nvPr>
            <p:custDataLst>
              <p:tags r:id="rId11"/>
            </p:custDataLst>
          </p:nvPr>
        </p:nvSpPr>
        <p:spPr>
          <a:xfrm>
            <a:off x="8391906" y="1095756"/>
            <a:ext cx="1088136" cy="16459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21件</a:t>
            </a:r>
            <a:r>
              <a:rPr lang="en-US" sz="7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| 件均35.94W</a:t>
            </a:r>
            <a:endParaRPr lang="en-US" sz="750" dirty="0"/>
          </a:p>
        </p:txBody>
      </p:sp>
      <p:sp>
        <p:nvSpPr>
          <p:cNvPr id="58" name="Shape 52"/>
          <p:cNvSpPr/>
          <p:nvPr>
            <p:custDataLst>
              <p:tags r:id="rId12"/>
            </p:custDataLst>
          </p:nvPr>
        </p:nvSpPr>
        <p:spPr>
          <a:xfrm>
            <a:off x="10139680" y="556260"/>
            <a:ext cx="1901190" cy="84201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9" name="Shape 53"/>
          <p:cNvSpPr/>
          <p:nvPr>
            <p:custDataLst>
              <p:tags r:id="rId13"/>
            </p:custDataLst>
          </p:nvPr>
        </p:nvSpPr>
        <p:spPr>
          <a:xfrm>
            <a:off x="10139426" y="556260"/>
            <a:ext cx="54864" cy="804672"/>
          </a:xfrm>
          <a:prstGeom prst="rect">
            <a:avLst/>
          </a:prstGeom>
          <a:solidFill>
            <a:srgbClr val="6C3483"/>
          </a:solidFill>
          <a:ln w="12700">
            <a:solidFill>
              <a:srgbClr val="00796B"/>
            </a:solidFill>
            <a:prstDash val="solid"/>
          </a:ln>
        </p:spPr>
        <p:txBody>
          <a:bodyPr/>
          <a:p>
            <a:endParaRPr lang="zh-CN" altLang="en-US"/>
          </a:p>
        </p:txBody>
      </p:sp>
      <p:sp>
        <p:nvSpPr>
          <p:cNvPr id="60" name="Text 54"/>
          <p:cNvSpPr/>
          <p:nvPr>
            <p:custDataLst>
              <p:tags r:id="rId14"/>
            </p:custDataLst>
          </p:nvPr>
        </p:nvSpPr>
        <p:spPr>
          <a:xfrm>
            <a:off x="10249154" y="611124"/>
            <a:ext cx="1088136" cy="2011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CN" altLang="en-US" sz="800" dirty="0">
                <a:solidFill>
                  <a:srgbClr val="64748B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同行</a:t>
            </a:r>
            <a:r>
              <a:rPr lang="en-US" sz="8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W13批核</a:t>
            </a:r>
            <a:endParaRPr lang="en-US" sz="800" dirty="0"/>
          </a:p>
        </p:txBody>
      </p:sp>
      <p:sp>
        <p:nvSpPr>
          <p:cNvPr id="61" name="Text 55"/>
          <p:cNvSpPr/>
          <p:nvPr>
            <p:custDataLst>
              <p:tags r:id="rId15"/>
            </p:custDataLst>
          </p:nvPr>
        </p:nvSpPr>
        <p:spPr>
          <a:xfrm>
            <a:off x="10249154" y="784860"/>
            <a:ext cx="1088136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6C348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10.0M</a:t>
            </a:r>
            <a:endParaRPr lang="en-US" sz="1800" b="1" dirty="0">
              <a:solidFill>
                <a:srgbClr val="6C3483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62" name="Text 56"/>
          <p:cNvSpPr/>
          <p:nvPr>
            <p:custDataLst>
              <p:tags r:id="rId16"/>
            </p:custDataLst>
          </p:nvPr>
        </p:nvSpPr>
        <p:spPr>
          <a:xfrm>
            <a:off x="10249154" y="1095756"/>
            <a:ext cx="1088136" cy="16459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32件</a:t>
            </a:r>
            <a:r>
              <a:rPr lang="en-US" sz="7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| 件均31.39W</a:t>
            </a:r>
            <a:endParaRPr lang="en-US" sz="750" dirty="0"/>
          </a:p>
        </p:txBody>
      </p:sp>
      <p:sp>
        <p:nvSpPr>
          <p:cNvPr id="45" name="Shape 40"/>
          <p:cNvSpPr/>
          <p:nvPr/>
        </p:nvSpPr>
        <p:spPr>
          <a:xfrm>
            <a:off x="7939405" y="3824605"/>
            <a:ext cx="4015740" cy="255905"/>
          </a:xfrm>
          <a:prstGeom prst="rect">
            <a:avLst/>
          </a:prstGeom>
          <a:solidFill>
            <a:srgbClr val="1B4F72"/>
          </a:solidFill>
          <a:ln w="12700">
            <a:solidFill>
              <a:srgbClr val="6C3483"/>
            </a:solidFill>
            <a:prstDash val="solid"/>
          </a:ln>
        </p:spPr>
      </p:sp>
      <p:sp>
        <p:nvSpPr>
          <p:cNvPr id="46" name="Text 41"/>
          <p:cNvSpPr/>
          <p:nvPr/>
        </p:nvSpPr>
        <p:spPr>
          <a:xfrm>
            <a:off x="7972425" y="3824605"/>
            <a:ext cx="2117090" cy="2559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Y  W13 本周快报  |  同行</a:t>
            </a:r>
            <a:endParaRPr lang="en-US" sz="950" dirty="0"/>
          </a:p>
        </p:txBody>
      </p:sp>
      <p:graphicFrame>
        <p:nvGraphicFramePr>
          <p:cNvPr id="47" name="Table 2"/>
          <p:cNvGraphicFramePr>
            <a:graphicFrameLocks noGrp="1"/>
          </p:cNvGraphicFramePr>
          <p:nvPr/>
        </p:nvGraphicFramePr>
        <p:xfrm>
          <a:off x="7927340" y="4099052"/>
          <a:ext cx="4034790" cy="2685415"/>
        </p:xfrm>
        <a:graphic>
          <a:graphicData uri="http://schemas.openxmlformats.org/drawingml/2006/table">
            <a:tbl>
              <a:tblPr/>
              <a:tblGrid>
                <a:gridCol w="1093470"/>
                <a:gridCol w="995045"/>
                <a:gridCol w="1051560"/>
                <a:gridCol w="894715"/>
              </a:tblGrid>
              <a:tr h="2377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KEY ACCOUNT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预约(M)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签单(M)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批核(M)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</a:tr>
              <a:tr h="16954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1A1A2E"/>
                          </a:solidFill>
                        </a:rPr>
                        <a:t>唯思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B4F72"/>
                          </a:solidFill>
                        </a:rPr>
                        <a:t>0.00M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17A65"/>
                          </a:solidFill>
                        </a:rPr>
                        <a:t>0.94M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64748B"/>
                          </a:solidFill>
                        </a:rPr>
                        <a:t>1.86M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08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1A1A2E"/>
                          </a:solidFill>
                        </a:rPr>
                        <a:t>紫荆保险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B4F72"/>
                          </a:solidFill>
                        </a:rPr>
                        <a:t>1.63M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17A65"/>
                          </a:solidFill>
                        </a:rPr>
                        <a:t>2.00M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64748B"/>
                          </a:solidFill>
                        </a:rPr>
                        <a:t>2.69M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557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1A1A2E"/>
                          </a:solidFill>
                        </a:rPr>
                        <a:t>天誉国际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B4F72"/>
                          </a:solidFill>
                        </a:rPr>
                        <a:t>1.19M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17A65"/>
                          </a:solidFill>
                        </a:rPr>
                        <a:t>1.97M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64748B"/>
                          </a:solidFill>
                        </a:rPr>
                        <a:t>1.04M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1A1A2E"/>
                          </a:solidFill>
                        </a:rPr>
                        <a:t>企鹅保险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B4F72"/>
                          </a:solidFill>
                        </a:rPr>
                        <a:t>0.00M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17A65"/>
                          </a:solidFill>
                        </a:rPr>
                        <a:t>1.16M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0796B"/>
                          </a:solidFill>
                        </a:rPr>
                        <a:t>1.14M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1A1A2E"/>
                          </a:solidFill>
                        </a:rPr>
                        <a:t>万森保险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B4F72"/>
                          </a:solidFill>
                        </a:rPr>
                        <a:t>0.12M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17A65"/>
                          </a:solidFill>
                        </a:rPr>
                        <a:t>0.00M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64748B"/>
                          </a:solidFill>
                        </a:rPr>
                        <a:t>1.37M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1A1A2E"/>
                          </a:solidFill>
                        </a:rPr>
                        <a:t>中天家办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B4F72"/>
                          </a:solidFill>
                        </a:rPr>
                        <a:t>0.23M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17A65"/>
                          </a:solidFill>
                        </a:rPr>
                        <a:t>0.24M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64748B"/>
                          </a:solidFill>
                        </a:rPr>
                        <a:t>0.00M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1A1A2E"/>
                          </a:solidFill>
                        </a:rPr>
                        <a:t>EGA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B4F72"/>
                          </a:solidFill>
                        </a:rPr>
                        <a:t>0.00M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17A65"/>
                          </a:solidFill>
                        </a:rPr>
                        <a:t>0.00M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64748B"/>
                          </a:solidFill>
                          <a:sym typeface="+mn-ea"/>
                        </a:rPr>
                        <a:t>0.00M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1A1A2E"/>
                          </a:solidFill>
                        </a:rPr>
                        <a:t>堡盛国际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B4F72"/>
                          </a:solidFill>
                        </a:rPr>
                        <a:t>0.40M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17A65"/>
                          </a:solidFill>
                        </a:rPr>
                        <a:t>1.24M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64748B"/>
                          </a:solidFill>
                        </a:rPr>
                        <a:t>0.40M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p>
                      <a:pPr marL="0"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850" b="1" dirty="0">
                          <a:solidFill>
                            <a:srgbClr val="1A1A2E"/>
                          </a:solidFill>
                        </a:rPr>
                        <a:t>德方</a:t>
                      </a:r>
                      <a:endParaRPr lang="zh-CN" altLang="en-US" sz="850" b="1" dirty="0">
                        <a:solidFill>
                          <a:srgbClr val="1A1A2E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B4F72"/>
                          </a:solidFill>
                        </a:rPr>
                        <a:t>0.00M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17A65"/>
                          </a:solidFill>
                        </a:rPr>
                        <a:t>0.00M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64748B"/>
                          </a:solidFill>
                          <a:sym typeface="+mn-ea"/>
                        </a:rPr>
                        <a:t>0.78M</a:t>
                      </a:r>
                      <a:endParaRPr lang="en-US" altLang="en-US" sz="8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p>
                      <a:pPr marL="0" algn="l">
                        <a:buClrTx/>
                        <a:buSzTx/>
                        <a:buFontTx/>
                        <a:buNone/>
                      </a:pPr>
                      <a:r>
                        <a:rPr lang="en-US" sz="850" b="1" dirty="0">
                          <a:solidFill>
                            <a:srgbClr val="1A1A2E"/>
                          </a:solidFill>
                        </a:rPr>
                        <a:t>臻略财富</a:t>
                      </a:r>
                      <a:endParaRPr lang="en-US" sz="850" b="1" dirty="0">
                        <a:solidFill>
                          <a:srgbClr val="1A1A2E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B4F72"/>
                          </a:solidFill>
                        </a:rPr>
                        <a:t>0.00M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17A65"/>
                          </a:solidFill>
                        </a:rPr>
                        <a:t>0.00M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64748B"/>
                          </a:solidFill>
                          <a:sym typeface="+mn-ea"/>
                        </a:rPr>
                        <a:t>0.78M</a:t>
                      </a:r>
                      <a:endParaRPr lang="en-US" altLang="en-US" sz="8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CN" altLang="en-US" sz="850" dirty="0">
                          <a:solidFill>
                            <a:schemeClr val="bg1"/>
                          </a:solidFill>
                        </a:rPr>
                        <a:t>合计</a:t>
                      </a:r>
                      <a:endParaRPr lang="zh-CN" altLang="en-US" sz="85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3.6M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7.5M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10.05M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</a:tr>
            </a:tbl>
          </a:graphicData>
        </a:graphic>
      </p:graphicFrame>
      <p:sp>
        <p:nvSpPr>
          <p:cNvPr id="63" name="Shape 57"/>
          <p:cNvSpPr/>
          <p:nvPr/>
        </p:nvSpPr>
        <p:spPr>
          <a:xfrm>
            <a:off x="233680" y="3408680"/>
            <a:ext cx="11751310" cy="325120"/>
          </a:xfrm>
          <a:prstGeom prst="rect">
            <a:avLst/>
          </a:prstGeom>
          <a:solidFill>
            <a:srgbClr val="F0F7FF"/>
          </a:solidFill>
          <a:ln w="12700">
            <a:solidFill>
              <a:srgbClr val="BFDBFE"/>
            </a:solidFill>
            <a:prstDash val="solid"/>
          </a:ln>
        </p:spPr>
        <p:txBody>
          <a:bodyPr/>
          <a:p>
            <a:endParaRPr lang="zh-CN" altLang="en-US"/>
          </a:p>
        </p:txBody>
      </p:sp>
      <p:sp>
        <p:nvSpPr>
          <p:cNvPr id="64" name="Text 58"/>
          <p:cNvSpPr/>
          <p:nvPr/>
        </p:nvSpPr>
        <p:spPr>
          <a:xfrm>
            <a:off x="261620" y="3408680"/>
            <a:ext cx="11292205" cy="26543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 What：</a:t>
            </a: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</a:t>
            </a:r>
            <a:endParaRPr lang="en-US" sz="800" dirty="0">
              <a:solidFill>
                <a:srgbClr val="374151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  <a:p>
            <a:pPr marL="0" indent="0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W13（4月初）同行批核10.05M/32件显著回升——紫荊（2.69M）+唯思（1.86M）+万森（1.37M）贡献集中。签单7.55M/21件稳健，前端尚在蓄力。预约3.58M/12件为节后低位，4月中旬须恢复至5M+节奏。</a:t>
            </a:r>
            <a:endParaRPr lang="en-US" sz="800" dirty="0"/>
          </a:p>
        </p:txBody>
      </p:sp>
      <p:sp>
        <p:nvSpPr>
          <p:cNvPr id="2" name="Shape 34"/>
          <p:cNvSpPr/>
          <p:nvPr/>
        </p:nvSpPr>
        <p:spPr>
          <a:xfrm>
            <a:off x="251460" y="1459230"/>
            <a:ext cx="11729085" cy="226695"/>
          </a:xfrm>
          <a:prstGeom prst="rect">
            <a:avLst/>
          </a:prstGeom>
          <a:solidFill>
            <a:srgbClr val="1E5128"/>
          </a:solidFill>
          <a:ln w="12700">
            <a:solidFill>
              <a:srgbClr val="1E512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1315" y="1476375"/>
            <a:ext cx="7435215" cy="18605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X  W01–W12 同行 预约/签单/批核 趋势（M）</a:t>
            </a:r>
            <a:endParaRPr lang="en-US" sz="950" dirty="0"/>
          </a:p>
        </p:txBody>
      </p:sp>
      <p:graphicFrame>
        <p:nvGraphicFramePr>
          <p:cNvPr id="38" name="Chart 0"/>
          <p:cNvGraphicFramePr/>
          <p:nvPr/>
        </p:nvGraphicFramePr>
        <p:xfrm>
          <a:off x="333375" y="1740535"/>
          <a:ext cx="11569065" cy="159194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21" name="Shape 4"/>
          <p:cNvSpPr/>
          <p:nvPr/>
        </p:nvSpPr>
        <p:spPr>
          <a:xfrm>
            <a:off x="182880" y="566928"/>
            <a:ext cx="182880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9" name="Shape 5"/>
          <p:cNvSpPr/>
          <p:nvPr/>
        </p:nvSpPr>
        <p:spPr>
          <a:xfrm>
            <a:off x="182880" y="566928"/>
            <a:ext cx="54864" cy="841248"/>
          </a:xfrm>
          <a:prstGeom prst="rect">
            <a:avLst/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</p:spPr>
      </p:sp>
      <p:sp>
        <p:nvSpPr>
          <p:cNvPr id="40" name="Text 6"/>
          <p:cNvSpPr/>
          <p:nvPr/>
        </p:nvSpPr>
        <p:spPr>
          <a:xfrm>
            <a:off x="292608" y="621792"/>
            <a:ext cx="1682496" cy="2011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同行</a:t>
            </a:r>
            <a:r>
              <a:rPr lang="zh-CN" altLang="en-US" sz="800" dirty="0">
                <a:solidFill>
                  <a:srgbClr val="64748B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本月预约</a:t>
            </a:r>
            <a:r>
              <a:rPr lang="en-US" sz="8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APE</a:t>
            </a:r>
            <a:endParaRPr lang="en-US" sz="800" dirty="0"/>
          </a:p>
        </p:txBody>
      </p:sp>
      <p:sp>
        <p:nvSpPr>
          <p:cNvPr id="41" name="Text 7"/>
          <p:cNvSpPr/>
          <p:nvPr/>
        </p:nvSpPr>
        <p:spPr>
          <a:xfrm>
            <a:off x="292608" y="795528"/>
            <a:ext cx="1682496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79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0.11M</a:t>
            </a:r>
            <a:endParaRPr lang="en-US" sz="1800" dirty="0"/>
          </a:p>
        </p:txBody>
      </p:sp>
      <p:sp>
        <p:nvSpPr>
          <p:cNvPr id="42" name="Text 8"/>
          <p:cNvSpPr/>
          <p:nvPr/>
        </p:nvSpPr>
        <p:spPr>
          <a:xfrm>
            <a:off x="292608" y="1106424"/>
            <a:ext cx="1682496" cy="16459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2件 | </a:t>
            </a:r>
            <a:r>
              <a:rPr lang="zh-CN" altLang="en-US" sz="750" dirty="0">
                <a:solidFill>
                  <a:srgbClr val="64748B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件均</a:t>
            </a:r>
            <a:r>
              <a:rPr lang="en-US" altLang="zh-CN" sz="750" dirty="0">
                <a:solidFill>
                  <a:srgbClr val="64748B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5.7W</a:t>
            </a:r>
            <a:endParaRPr lang="en-US" altLang="zh-CN" sz="750" dirty="0">
              <a:solidFill>
                <a:srgbClr val="64748B"/>
              </a:solidFill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-120"/>
            </a:endParaRPr>
          </a:p>
        </p:txBody>
      </p:sp>
      <p:sp>
        <p:nvSpPr>
          <p:cNvPr id="43" name="Shape 9"/>
          <p:cNvSpPr/>
          <p:nvPr/>
        </p:nvSpPr>
        <p:spPr>
          <a:xfrm>
            <a:off x="2176272" y="566928"/>
            <a:ext cx="182880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4" name="Shape 10"/>
          <p:cNvSpPr/>
          <p:nvPr/>
        </p:nvSpPr>
        <p:spPr>
          <a:xfrm>
            <a:off x="2176272" y="566928"/>
            <a:ext cx="54864" cy="84124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65" name="Text 11"/>
          <p:cNvSpPr/>
          <p:nvPr/>
        </p:nvSpPr>
        <p:spPr>
          <a:xfrm>
            <a:off x="2286000" y="621792"/>
            <a:ext cx="1682496" cy="2011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同行</a:t>
            </a:r>
            <a:r>
              <a:rPr lang="zh-CN" altLang="en-US" sz="800" dirty="0">
                <a:solidFill>
                  <a:srgbClr val="64748B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本月签单</a:t>
            </a:r>
            <a:r>
              <a:rPr lang="en-US" sz="8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APE</a:t>
            </a:r>
            <a:endParaRPr lang="en-US" sz="800" dirty="0"/>
          </a:p>
        </p:txBody>
      </p:sp>
      <p:sp>
        <p:nvSpPr>
          <p:cNvPr id="66" name="Text 12"/>
          <p:cNvSpPr/>
          <p:nvPr/>
        </p:nvSpPr>
        <p:spPr>
          <a:xfrm>
            <a:off x="2286000" y="795528"/>
            <a:ext cx="1682496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039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0.86M</a:t>
            </a:r>
            <a:endParaRPr lang="en-US" sz="1800" dirty="0"/>
          </a:p>
        </p:txBody>
      </p:sp>
      <p:sp>
        <p:nvSpPr>
          <p:cNvPr id="67" name="Text 13"/>
          <p:cNvSpPr/>
          <p:nvPr/>
        </p:nvSpPr>
        <p:spPr>
          <a:xfrm>
            <a:off x="2286000" y="1106424"/>
            <a:ext cx="1682496" cy="16459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3件 | 件均28.6W</a:t>
            </a:r>
            <a:endParaRPr lang="en-US" sz="750" dirty="0"/>
          </a:p>
        </p:txBody>
      </p:sp>
      <p:sp>
        <p:nvSpPr>
          <p:cNvPr id="68" name="Shape 14"/>
          <p:cNvSpPr/>
          <p:nvPr/>
        </p:nvSpPr>
        <p:spPr>
          <a:xfrm>
            <a:off x="4169664" y="566928"/>
            <a:ext cx="182880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9" name="Shape 15"/>
          <p:cNvSpPr/>
          <p:nvPr/>
        </p:nvSpPr>
        <p:spPr>
          <a:xfrm>
            <a:off x="4169664" y="566928"/>
            <a:ext cx="54864" cy="841248"/>
          </a:xfrm>
          <a:prstGeom prst="rect">
            <a:avLst/>
          </a:prstGeom>
          <a:solidFill>
            <a:srgbClr val="C8890A"/>
          </a:solidFill>
          <a:ln w="12700">
            <a:solidFill>
              <a:srgbClr val="C8890A"/>
            </a:solidFill>
            <a:prstDash val="solid"/>
          </a:ln>
        </p:spPr>
      </p:sp>
      <p:sp>
        <p:nvSpPr>
          <p:cNvPr id="70" name="Text 16"/>
          <p:cNvSpPr/>
          <p:nvPr/>
        </p:nvSpPr>
        <p:spPr>
          <a:xfrm>
            <a:off x="4279392" y="621792"/>
            <a:ext cx="1682496" cy="2011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同行</a:t>
            </a:r>
            <a:r>
              <a:rPr lang="zh-CN" altLang="en-US" sz="800" dirty="0">
                <a:solidFill>
                  <a:srgbClr val="64748B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本月批核</a:t>
            </a:r>
            <a:r>
              <a:rPr lang="en-US" sz="8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APE</a:t>
            </a:r>
            <a:endParaRPr lang="en-US" sz="800" dirty="0"/>
          </a:p>
        </p:txBody>
      </p:sp>
      <p:sp>
        <p:nvSpPr>
          <p:cNvPr id="71" name="Text 17"/>
          <p:cNvSpPr/>
          <p:nvPr/>
        </p:nvSpPr>
        <p:spPr>
          <a:xfrm>
            <a:off x="4279392" y="795528"/>
            <a:ext cx="1682496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889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3.51M</a:t>
            </a:r>
            <a:endParaRPr lang="en-US" sz="1800" dirty="0"/>
          </a:p>
        </p:txBody>
      </p:sp>
      <p:sp>
        <p:nvSpPr>
          <p:cNvPr id="72" name="Text 18"/>
          <p:cNvSpPr/>
          <p:nvPr/>
        </p:nvSpPr>
        <p:spPr>
          <a:xfrm>
            <a:off x="4279392" y="1106424"/>
            <a:ext cx="1682496" cy="16459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8件 | 件均43.8W</a:t>
            </a:r>
            <a:endParaRPr lang="en-US" sz="750" dirty="0"/>
          </a:p>
        </p:txBody>
      </p:sp>
      <p:sp>
        <p:nvSpPr>
          <p:cNvPr id="2100" name="s2100"/>
          <p:cNvSpPr/>
          <p:nvPr/>
        </p:nvSpPr>
        <p:spPr>
          <a:xfrm>
            <a:off x="260985" y="3824605"/>
            <a:ext cx="7313295" cy="255905"/>
          </a:xfrm>
          <a:prstGeom prst="rect">
            <a:avLst/>
          </a:prstGeom>
          <a:solidFill>
            <a:srgbClr val="1A3A5C"/>
          </a:solidFill>
          <a:ln>
            <a:noFill/>
          </a:ln>
        </p:spPr>
      </p:sp>
      <p:sp>
        <p:nvSpPr>
          <p:cNvPr id="2101" name="t2101"/>
          <p:cNvSpPr/>
          <p:nvPr/>
        </p:nvSpPr>
        <p:spPr>
          <a:xfrm>
            <a:off x="277495" y="3810635"/>
            <a:ext cx="6905625" cy="269875"/>
          </a:xfrm>
          <a:prstGeom prst="rect">
            <a:avLst/>
          </a:prstGeom>
          <a:noFill/>
        </p:spPr>
        <p:txBody>
          <a:bodyPr wrap="square" lIns="45720" tIns="0" rIns="45720" bIns="0" rtlCol="0" anchor="ctr"/>
          <a:lstStyle/>
          <a:p>
            <a:pPr marL="0" indent="0" algn="l">
              <a:buNone/>
            </a:pPr>
            <a:r>
              <a:rPr lang="en-US" altLang="zh-CN" sz="9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</a:rPr>
              <a:t>W</a:t>
            </a:r>
            <a:r>
              <a:rPr lang="zh-CN" sz="9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</a:rPr>
              <a:t>  同行月度分析 — 重点KA 预约/签单/批核 走势 &amp; 月度汇总（APE in M）</a:t>
            </a:r>
            <a:endParaRPr lang="zh-CN" sz="950" b="1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-122"/>
            </a:endParaRPr>
          </a:p>
        </p:txBody>
      </p:sp>
      <p:graphicFrame>
        <p:nvGraphicFramePr>
          <p:cNvPr id="2109" name="SumTable2109"/>
          <p:cNvGraphicFramePr>
            <a:graphicFrameLocks noGrp="1"/>
          </p:cNvGraphicFramePr>
          <p:nvPr>
            <p:custDataLst>
              <p:tags r:id="rId17"/>
            </p:custDataLst>
          </p:nvPr>
        </p:nvGraphicFramePr>
        <p:xfrm>
          <a:off x="260985" y="4166235"/>
          <a:ext cx="7303770" cy="19773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1565"/>
                <a:gridCol w="997585"/>
                <a:gridCol w="1030605"/>
                <a:gridCol w="981075"/>
                <a:gridCol w="967740"/>
                <a:gridCol w="1049020"/>
                <a:gridCol w="1186180"/>
              </a:tblGrid>
              <a:tr h="31559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900" b="1" dirty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月份</a:t>
                      </a:r>
                      <a:endParaRPr lang="zh-CN" sz="900" b="1" dirty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900" b="1" dirty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预约(M)</a:t>
                      </a:r>
                      <a:endParaRPr lang="zh-CN" sz="900" b="1" dirty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900" b="1" dirty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预约件</a:t>
                      </a:r>
                      <a:endParaRPr lang="zh-CN" sz="900" b="1" dirty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900" b="1" dirty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签单(M)</a:t>
                      </a:r>
                      <a:endParaRPr lang="zh-CN" sz="900" b="1" dirty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900" b="1" dirty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签单件</a:t>
                      </a:r>
                      <a:endParaRPr lang="zh-CN" sz="900" b="1" dirty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900" b="1" dirty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批核(M)</a:t>
                      </a:r>
                      <a:endParaRPr lang="zh-CN" sz="900" b="1" dirty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900" b="1" dirty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批核件</a:t>
                      </a:r>
                      <a:endParaRPr lang="zh-CN" sz="900" b="1" dirty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1A3A5C"/>
                    </a:solidFill>
                  </a:tcPr>
                </a:tc>
              </a:tr>
              <a:tr h="33401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zh-CN" sz="1000" b="1" dirty="0">
                          <a:solidFill>
                            <a:srgbClr val="1A3A5C"/>
                          </a:solidFill>
                          <a:latin typeface="Calibri" panose="020F0502020204030204"/>
                          <a:ea typeface="Calibri" panose="020F0502020204030204"/>
                        </a:rPr>
                        <a:t>Jan-26</a:t>
                      </a:r>
                      <a:endParaRPr lang="zh-CN" sz="100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zh-CN" sz="100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24.98</a:t>
                      </a:r>
                      <a:endParaRPr 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zh-CN" sz="100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71</a:t>
                      </a:r>
                      <a:endParaRPr 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zh-CN" sz="100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18.13</a:t>
                      </a:r>
                      <a:endParaRPr 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zh-CN" sz="100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59</a:t>
                      </a:r>
                      <a:endParaRPr 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zh-CN" sz="100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87.76</a:t>
                      </a:r>
                      <a:endParaRPr 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zh-CN" sz="100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137</a:t>
                      </a:r>
                      <a:endParaRPr 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noFill/>
                  </a:tcPr>
                </a:tc>
              </a:tr>
              <a:tr h="357505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zh-CN" sz="1000" b="1" dirty="0">
                          <a:solidFill>
                            <a:srgbClr val="1A3A5C"/>
                          </a:solidFill>
                          <a:latin typeface="Calibri" panose="020F0502020204030204"/>
                          <a:ea typeface="Calibri" panose="020F0502020204030204"/>
                        </a:rPr>
                        <a:t>Feb-26</a:t>
                      </a:r>
                      <a:endParaRPr lang="zh-CN" sz="100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zh-CN" sz="100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24.64</a:t>
                      </a:r>
                      <a:endParaRPr 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zh-CN" sz="100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69</a:t>
                      </a:r>
                      <a:endParaRPr 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zh-CN" sz="100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25.94</a:t>
                      </a:r>
                      <a:endParaRPr 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zh-CN" sz="100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72</a:t>
                      </a:r>
                      <a:endParaRPr 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zh-CN" sz="100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25.98</a:t>
                      </a:r>
                      <a:endParaRPr 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zh-CN" sz="100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80</a:t>
                      </a:r>
                      <a:endParaRPr 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</a:tr>
              <a:tr h="318135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zh-CN" sz="1000" b="1" dirty="0">
                          <a:solidFill>
                            <a:srgbClr val="1A3A5C"/>
                          </a:solidFill>
                          <a:latin typeface="Calibri" panose="020F0502020204030204"/>
                          <a:ea typeface="Calibri" panose="020F0502020204030204"/>
                        </a:rPr>
                        <a:t>Mar-26</a:t>
                      </a:r>
                      <a:endParaRPr lang="zh-CN" sz="100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zh-CN" sz="100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45.59</a:t>
                      </a:r>
                      <a:endParaRPr 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zh-CN" sz="100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127</a:t>
                      </a:r>
                      <a:endParaRPr 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zh-CN" sz="100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49.21</a:t>
                      </a:r>
                      <a:endParaRPr 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zh-CN" sz="100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132</a:t>
                      </a:r>
                      <a:endParaRPr 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zh-CN" sz="100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19.56</a:t>
                      </a:r>
                      <a:endParaRPr 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zh-CN" sz="100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71</a:t>
                      </a:r>
                      <a:endParaRPr 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noFill/>
                  </a:tcPr>
                </a:tc>
              </a:tr>
              <a:tr h="323850"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1000" b="1" dirty="0">
                          <a:solidFill>
                            <a:srgbClr val="1A3A5C"/>
                          </a:solidFill>
                          <a:latin typeface="Calibri" panose="020F0502020204030204"/>
                          <a:ea typeface="Calibri" panose="020F0502020204030204"/>
                        </a:rPr>
                        <a:t>Apr-26</a:t>
                      </a:r>
                      <a:endParaRPr lang="en-US" altLang="zh-CN" sz="100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100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0.11</a:t>
                      </a:r>
                      <a:endParaRPr lang="en-US" alt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100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2</a:t>
                      </a:r>
                      <a:endParaRPr lang="en-US" alt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100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0.86</a:t>
                      </a:r>
                      <a:endParaRPr lang="en-US" alt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100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3</a:t>
                      </a:r>
                      <a:endParaRPr lang="en-US" alt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100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3.51</a:t>
                      </a:r>
                      <a:endParaRPr lang="en-US" alt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100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8</a:t>
                      </a:r>
                      <a:endParaRPr lang="en-US" alt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noFill/>
                  </a:tcPr>
                </a:tc>
              </a:tr>
              <a:tr h="328295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zh-CN" sz="1000" b="1" dirty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合计</a:t>
                      </a:r>
                      <a:endParaRPr lang="zh-CN" sz="1000" b="1" dirty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1000" b="1" dirty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95</a:t>
                      </a:r>
                      <a:r>
                        <a:rPr lang="zh-CN" sz="1000" b="1" dirty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.</a:t>
                      </a:r>
                      <a:r>
                        <a:rPr lang="en-US" altLang="zh-CN" sz="1000" b="1" dirty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3</a:t>
                      </a:r>
                      <a:r>
                        <a:rPr lang="zh-CN" sz="1000" b="1" dirty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1</a:t>
                      </a:r>
                      <a:endParaRPr lang="zh-CN" sz="1000" b="1" dirty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zh-CN" sz="1000" dirty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2</a:t>
                      </a:r>
                      <a:r>
                        <a:rPr lang="en-US" altLang="zh-CN" sz="1000" dirty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69</a:t>
                      </a:r>
                      <a:endParaRPr lang="en-US" altLang="zh-CN" sz="1000" dirty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1000" b="1" dirty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94</a:t>
                      </a:r>
                      <a:r>
                        <a:rPr lang="zh-CN" sz="1000" b="1" dirty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.</a:t>
                      </a:r>
                      <a:r>
                        <a:rPr lang="en-US" altLang="zh-CN" sz="1000" b="1" dirty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14</a:t>
                      </a:r>
                      <a:endParaRPr lang="en-US" altLang="zh-CN" sz="1000" b="1" dirty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1000" dirty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266</a:t>
                      </a:r>
                      <a:endParaRPr lang="en-US" altLang="zh-CN" sz="1000" dirty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1000" b="1" dirty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136</a:t>
                      </a:r>
                      <a:r>
                        <a:rPr lang="zh-CN" sz="1000" b="1" dirty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.</a:t>
                      </a:r>
                      <a:r>
                        <a:rPr lang="en-US" altLang="zh-CN" sz="1000" b="1" dirty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80</a:t>
                      </a:r>
                      <a:endParaRPr lang="en-US" altLang="zh-CN" sz="1000" b="1" dirty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1000" dirty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296</a:t>
                      </a:r>
                      <a:endParaRPr lang="en-US" altLang="zh-CN" sz="1000" dirty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1A3A5C"/>
                    </a:solidFill>
                  </a:tcPr>
                </a:tc>
              </a:tr>
            </a:tbl>
          </a:graphicData>
        </a:graphic>
      </p:graphicFrame>
      <p:sp>
        <p:nvSpPr>
          <p:cNvPr id="93" name="Shape 6"/>
          <p:cNvSpPr/>
          <p:nvPr/>
        </p:nvSpPr>
        <p:spPr>
          <a:xfrm>
            <a:off x="302260" y="6348095"/>
            <a:ext cx="7228205" cy="385445"/>
          </a:xfrm>
          <a:prstGeom prst="rect">
            <a:avLst/>
          </a:prstGeom>
          <a:solidFill>
            <a:srgbClr val="FEF9C3"/>
          </a:solidFill>
          <a:ln w="12700">
            <a:solidFill>
              <a:srgbClr val="F5A623"/>
            </a:solidFill>
            <a:prstDash val="solid"/>
          </a:ln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94" name="Shape 7"/>
          <p:cNvSpPr/>
          <p:nvPr/>
        </p:nvSpPr>
        <p:spPr>
          <a:xfrm>
            <a:off x="284480" y="6348730"/>
            <a:ext cx="100965" cy="38481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95" name="Text 8"/>
          <p:cNvSpPr/>
          <p:nvPr/>
        </p:nvSpPr>
        <p:spPr>
          <a:xfrm>
            <a:off x="398145" y="6350000"/>
            <a:ext cx="7019290" cy="36195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B45309"/>
                </a:solidFill>
              </a:rPr>
              <a:t>So What：</a:t>
            </a:r>
            <a:endParaRPr lang="en-US" sz="850" b="1" dirty="0">
              <a:solidFill>
                <a:srgbClr val="B45309"/>
              </a:solidFill>
            </a:endParaRPr>
          </a:p>
          <a:p>
            <a:pPr marL="0" indent="0">
              <a:buNone/>
            </a:pPr>
            <a:r>
              <a:rPr lang="en-US" sz="850" dirty="0">
                <a:solidFill>
                  <a:srgbClr val="374151"/>
                </a:solidFill>
              </a:rPr>
              <a:t>  3月预约总量飙升至 </a:t>
            </a:r>
            <a:r>
              <a:rPr lang="en-US" sz="850" b="1" dirty="0">
                <a:solidFill>
                  <a:srgbClr val="B45309"/>
                </a:solidFill>
              </a:rPr>
              <a:t>4,559万</a:t>
            </a:r>
            <a:r>
              <a:rPr lang="en-US" sz="850" dirty="0">
                <a:solidFill>
                  <a:srgbClr val="374151"/>
                </a:solidFill>
              </a:rPr>
              <a:t>，天誉国际从235万暴涨至 </a:t>
            </a:r>
            <a:r>
              <a:rPr lang="en-US" sz="850" b="1" dirty="0">
                <a:solidFill>
                  <a:srgbClr val="B45309"/>
                </a:solidFill>
              </a:rPr>
              <a:t>699万</a:t>
            </a:r>
            <a:r>
              <a:rPr lang="en-US" sz="850" dirty="0">
                <a:solidFill>
                  <a:srgbClr val="374151"/>
                </a:solidFill>
              </a:rPr>
              <a:t>（+198%）。然而3月总签单仅3,942万，大量预约仍处「待结」状态。4月初将面临天誉国际 </a:t>
            </a:r>
            <a:r>
              <a:rPr lang="en-US" sz="850" b="1" dirty="0">
                <a:solidFill>
                  <a:srgbClr val="C0392B"/>
                </a:solidFill>
              </a:rPr>
              <a:t>27件</a:t>
            </a:r>
            <a:r>
              <a:rPr lang="en-US" sz="850" dirty="0">
                <a:solidFill>
                  <a:srgbClr val="374151"/>
                </a:solidFill>
              </a:rPr>
              <a:t> 新增预约的集中转化压力，需紧密追踪。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60"/>
          <p:cNvSpPr/>
          <p:nvPr/>
        </p:nvSpPr>
        <p:spPr>
          <a:xfrm>
            <a:off x="6120765" y="1424305"/>
            <a:ext cx="5858510" cy="5308600"/>
          </a:xfrm>
          <a:prstGeom prst="rect">
            <a:avLst/>
          </a:prstGeom>
          <a:solidFill>
            <a:srgbClr val="FFFFFF"/>
          </a:solidFill>
          <a:ln w="9525">
            <a:solidFill>
              <a:srgbClr val="D0D8E8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>
            <a:endParaRPr lang="zh-CN" altLang="en-US"/>
          </a:p>
        </p:txBody>
      </p:sp>
      <p:sp>
        <p:nvSpPr>
          <p:cNvPr id="38" name="Shape 60"/>
          <p:cNvSpPr/>
          <p:nvPr/>
        </p:nvSpPr>
        <p:spPr>
          <a:xfrm>
            <a:off x="190500" y="1424305"/>
            <a:ext cx="5659120" cy="5308600"/>
          </a:xfrm>
          <a:prstGeom prst="rect">
            <a:avLst/>
          </a:prstGeom>
          <a:solidFill>
            <a:srgbClr val="FFFFFF"/>
          </a:solidFill>
          <a:ln w="9525">
            <a:solidFill>
              <a:srgbClr val="D0D8E8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>
            <a:endParaRPr lang="zh-CN" altLang="en-US"/>
          </a:p>
        </p:txBody>
      </p:sp>
      <p:sp>
        <p:nvSpPr>
          <p:cNvPr id="50" name="Shape 0"/>
          <p:cNvSpPr/>
          <p:nvPr/>
        </p:nvSpPr>
        <p:spPr>
          <a:xfrm>
            <a:off x="0" y="0"/>
            <a:ext cx="12191365" cy="475615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6" name="Shape 4"/>
          <p:cNvSpPr/>
          <p:nvPr>
            <p:custDataLst>
              <p:tags r:id="rId6"/>
            </p:custDataLst>
          </p:nvPr>
        </p:nvSpPr>
        <p:spPr>
          <a:xfrm>
            <a:off x="182880" y="528955"/>
            <a:ext cx="1828800" cy="76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>
            <p:custDataLst>
              <p:tags r:id="rId7"/>
            </p:custDataLst>
          </p:nvPr>
        </p:nvSpPr>
        <p:spPr>
          <a:xfrm>
            <a:off x="182880" y="528955"/>
            <a:ext cx="76200" cy="76200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8" name="Text 6"/>
          <p:cNvSpPr/>
          <p:nvPr>
            <p:custDataLst>
              <p:tags r:id="rId8"/>
            </p:custDataLst>
          </p:nvPr>
        </p:nvSpPr>
        <p:spPr>
          <a:xfrm>
            <a:off x="292735" y="583565"/>
            <a:ext cx="1682750" cy="18224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altLang="zh-CN" sz="800" dirty="0"/>
              <a:t>BK</a:t>
            </a:r>
            <a:r>
              <a:rPr lang="zh-CN" altLang="en-US" sz="800" dirty="0"/>
              <a:t>批核</a:t>
            </a:r>
            <a:endParaRPr lang="zh-CN" altLang="en-US" sz="800" dirty="0"/>
          </a:p>
        </p:txBody>
      </p:sp>
      <p:sp>
        <p:nvSpPr>
          <p:cNvPr id="9" name="Text 7"/>
          <p:cNvSpPr/>
          <p:nvPr>
            <p:custDataLst>
              <p:tags r:id="rId9"/>
            </p:custDataLst>
          </p:nvPr>
        </p:nvSpPr>
        <p:spPr>
          <a:xfrm>
            <a:off x="292735" y="757555"/>
            <a:ext cx="1682750" cy="29781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4F7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170.9M</a:t>
            </a:r>
            <a:endParaRPr lang="en-US" sz="1800" dirty="0"/>
          </a:p>
        </p:txBody>
      </p:sp>
      <p:sp>
        <p:nvSpPr>
          <p:cNvPr id="10" name="Text 8"/>
          <p:cNvSpPr/>
          <p:nvPr>
            <p:custDataLst>
              <p:tags r:id="rId10"/>
            </p:custDataLst>
          </p:nvPr>
        </p:nvSpPr>
        <p:spPr>
          <a:xfrm>
            <a:off x="292735" y="1068070"/>
            <a:ext cx="1682750" cy="1492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134件 | </a:t>
            </a:r>
            <a:r>
              <a:rPr lang="zh-CN" altLang="en-US" sz="750" dirty="0">
                <a:solidFill>
                  <a:srgbClr val="64748B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达成率</a:t>
            </a:r>
            <a:r>
              <a:rPr lang="en-US" altLang="zh-CN" sz="750" dirty="0">
                <a:solidFill>
                  <a:srgbClr val="64748B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85.4%</a:t>
            </a:r>
            <a:endParaRPr lang="en-US" altLang="zh-CN" sz="750" dirty="0">
              <a:solidFill>
                <a:srgbClr val="64748B"/>
              </a:solidFill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-120"/>
            </a:endParaRPr>
          </a:p>
        </p:txBody>
      </p:sp>
      <p:sp>
        <p:nvSpPr>
          <p:cNvPr id="11" name="Shape 9"/>
          <p:cNvSpPr/>
          <p:nvPr>
            <p:custDataLst>
              <p:tags r:id="rId11"/>
            </p:custDataLst>
          </p:nvPr>
        </p:nvSpPr>
        <p:spPr>
          <a:xfrm>
            <a:off x="2176145" y="528955"/>
            <a:ext cx="1828800" cy="76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>
            <p:custDataLst>
              <p:tags r:id="rId12"/>
            </p:custDataLst>
          </p:nvPr>
        </p:nvSpPr>
        <p:spPr>
          <a:xfrm>
            <a:off x="2176145" y="528955"/>
            <a:ext cx="76200" cy="762000"/>
          </a:xfrm>
          <a:prstGeom prst="rect">
            <a:avLst/>
          </a:prstGeom>
          <a:solidFill>
            <a:srgbClr val="117A65"/>
          </a:solidFill>
          <a:ln w="12700">
            <a:solidFill>
              <a:srgbClr val="117A65"/>
            </a:solidFill>
            <a:prstDash val="solid"/>
          </a:ln>
        </p:spPr>
      </p:sp>
      <p:sp>
        <p:nvSpPr>
          <p:cNvPr id="13" name="Text 11"/>
          <p:cNvSpPr/>
          <p:nvPr>
            <p:custDataLst>
              <p:tags r:id="rId13"/>
            </p:custDataLst>
          </p:nvPr>
        </p:nvSpPr>
        <p:spPr>
          <a:xfrm>
            <a:off x="2286000" y="583565"/>
            <a:ext cx="1682750" cy="18224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BK</a:t>
            </a:r>
            <a:r>
              <a:rPr lang="zh-CN" altLang="en-US" sz="800" dirty="0">
                <a:solidFill>
                  <a:srgbClr val="64748B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未批核</a:t>
            </a:r>
            <a:endParaRPr lang="zh-CN" altLang="en-US" sz="800" dirty="0">
              <a:solidFill>
                <a:srgbClr val="64748B"/>
              </a:solidFill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-120"/>
            </a:endParaRPr>
          </a:p>
        </p:txBody>
      </p:sp>
      <p:sp>
        <p:nvSpPr>
          <p:cNvPr id="14" name="Text 12"/>
          <p:cNvSpPr/>
          <p:nvPr>
            <p:custDataLst>
              <p:tags r:id="rId14"/>
            </p:custDataLst>
          </p:nvPr>
        </p:nvSpPr>
        <p:spPr>
          <a:xfrm>
            <a:off x="2286000" y="757555"/>
            <a:ext cx="1682750" cy="29781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7A6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81.5M</a:t>
            </a:r>
            <a:endParaRPr lang="en-US" sz="1800" dirty="0"/>
          </a:p>
        </p:txBody>
      </p:sp>
      <p:sp>
        <p:nvSpPr>
          <p:cNvPr id="15" name="Text 13"/>
          <p:cNvSpPr/>
          <p:nvPr>
            <p:custDataLst>
              <p:tags r:id="rId15"/>
            </p:custDataLst>
          </p:nvPr>
        </p:nvSpPr>
        <p:spPr>
          <a:xfrm>
            <a:off x="2286000" y="1068070"/>
            <a:ext cx="1682750" cy="1492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66件 |</a:t>
            </a:r>
            <a:r>
              <a:rPr lang="zh-CN" altLang="en-US" sz="750" dirty="0">
                <a:solidFill>
                  <a:srgbClr val="64748B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件均</a:t>
            </a:r>
            <a:r>
              <a:rPr lang="en-US" altLang="zh-CN" sz="750" dirty="0">
                <a:solidFill>
                  <a:srgbClr val="64748B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123.4W</a:t>
            </a:r>
            <a:endParaRPr lang="en-US" altLang="zh-CN" sz="750" dirty="0">
              <a:solidFill>
                <a:srgbClr val="64748B"/>
              </a:solidFill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-120"/>
            </a:endParaRPr>
          </a:p>
        </p:txBody>
      </p:sp>
      <p:sp>
        <p:nvSpPr>
          <p:cNvPr id="16" name="Shape 14"/>
          <p:cNvSpPr/>
          <p:nvPr>
            <p:custDataLst>
              <p:tags r:id="rId16"/>
            </p:custDataLst>
          </p:nvPr>
        </p:nvSpPr>
        <p:spPr>
          <a:xfrm>
            <a:off x="4169410" y="528955"/>
            <a:ext cx="1828800" cy="76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>
            <p:custDataLst>
              <p:tags r:id="rId17"/>
            </p:custDataLst>
          </p:nvPr>
        </p:nvSpPr>
        <p:spPr>
          <a:xfrm>
            <a:off x="4169410" y="528955"/>
            <a:ext cx="76200" cy="762000"/>
          </a:xfrm>
          <a:prstGeom prst="rect">
            <a:avLst/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</p:spPr>
      </p:sp>
      <p:sp>
        <p:nvSpPr>
          <p:cNvPr id="18" name="Text 16"/>
          <p:cNvSpPr/>
          <p:nvPr>
            <p:custDataLst>
              <p:tags r:id="rId18"/>
            </p:custDataLst>
          </p:nvPr>
        </p:nvSpPr>
        <p:spPr>
          <a:xfrm>
            <a:off x="4279265" y="583565"/>
            <a:ext cx="1682750" cy="18224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BK</a:t>
            </a:r>
            <a:r>
              <a:rPr lang="zh-CN" altLang="en-US" sz="800" dirty="0">
                <a:solidFill>
                  <a:srgbClr val="64748B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待签</a:t>
            </a:r>
            <a:endParaRPr lang="zh-CN" altLang="en-US" sz="800" dirty="0">
              <a:solidFill>
                <a:srgbClr val="64748B"/>
              </a:solidFill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-120"/>
            </a:endParaRPr>
          </a:p>
        </p:txBody>
      </p:sp>
      <p:sp>
        <p:nvSpPr>
          <p:cNvPr id="19" name="Text 17"/>
          <p:cNvSpPr/>
          <p:nvPr>
            <p:custDataLst>
              <p:tags r:id="rId19"/>
            </p:custDataLst>
          </p:nvPr>
        </p:nvSpPr>
        <p:spPr>
          <a:xfrm>
            <a:off x="4279265" y="757555"/>
            <a:ext cx="1682750" cy="29781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79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0.78M</a:t>
            </a:r>
            <a:endParaRPr lang="en-US" sz="1800" dirty="0"/>
          </a:p>
        </p:txBody>
      </p:sp>
      <p:sp>
        <p:nvSpPr>
          <p:cNvPr id="20" name="Text 18"/>
          <p:cNvSpPr/>
          <p:nvPr>
            <p:custDataLst>
              <p:tags r:id="rId20"/>
            </p:custDataLst>
          </p:nvPr>
        </p:nvSpPr>
        <p:spPr>
          <a:xfrm>
            <a:off x="4279265" y="1068070"/>
            <a:ext cx="1682750" cy="1492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2件 | </a:t>
            </a:r>
            <a:r>
              <a:rPr lang="zh-CN" altLang="en-US" sz="750" dirty="0">
                <a:solidFill>
                  <a:srgbClr val="64748B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件均</a:t>
            </a:r>
            <a:r>
              <a:rPr lang="en-US" altLang="zh-CN" sz="750" dirty="0">
                <a:solidFill>
                  <a:srgbClr val="64748B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39W</a:t>
            </a:r>
            <a:endParaRPr lang="en-US" altLang="zh-CN" sz="750" dirty="0">
              <a:solidFill>
                <a:srgbClr val="64748B"/>
              </a:solidFill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-120"/>
            </a:endParaRPr>
          </a:p>
        </p:txBody>
      </p:sp>
      <p:sp>
        <p:nvSpPr>
          <p:cNvPr id="21" name="Shape 19"/>
          <p:cNvSpPr/>
          <p:nvPr>
            <p:custDataLst>
              <p:tags r:id="rId21"/>
            </p:custDataLst>
          </p:nvPr>
        </p:nvSpPr>
        <p:spPr>
          <a:xfrm>
            <a:off x="6163310" y="528955"/>
            <a:ext cx="1828800" cy="76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>
            <p:custDataLst>
              <p:tags r:id="rId22"/>
            </p:custDataLst>
          </p:nvPr>
        </p:nvSpPr>
        <p:spPr>
          <a:xfrm>
            <a:off x="6163310" y="528955"/>
            <a:ext cx="76200" cy="762000"/>
          </a:xfrm>
          <a:prstGeom prst="rect">
            <a:avLst/>
          </a:prstGeom>
          <a:solidFill>
            <a:srgbClr val="9B2335"/>
          </a:solidFill>
          <a:ln w="12700">
            <a:solidFill>
              <a:srgbClr val="9B2335"/>
            </a:solidFill>
            <a:prstDash val="solid"/>
          </a:ln>
        </p:spPr>
      </p:sp>
      <p:sp>
        <p:nvSpPr>
          <p:cNvPr id="23" name="Text 21"/>
          <p:cNvSpPr/>
          <p:nvPr>
            <p:custDataLst>
              <p:tags r:id="rId23"/>
            </p:custDataLst>
          </p:nvPr>
        </p:nvSpPr>
        <p:spPr>
          <a:xfrm>
            <a:off x="6272530" y="583565"/>
            <a:ext cx="1682750" cy="18224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BK </a:t>
            </a:r>
            <a:r>
              <a:rPr lang="zh-CN" altLang="en-US" sz="800" dirty="0">
                <a:solidFill>
                  <a:srgbClr val="64748B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本月</a:t>
            </a:r>
            <a:r>
              <a:rPr lang="en-US" sz="8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预约</a:t>
            </a:r>
            <a:endParaRPr lang="en-US" sz="800" dirty="0"/>
          </a:p>
        </p:txBody>
      </p:sp>
      <p:sp>
        <p:nvSpPr>
          <p:cNvPr id="24" name="Text 22"/>
          <p:cNvSpPr/>
          <p:nvPr>
            <p:custDataLst>
              <p:tags r:id="rId24"/>
            </p:custDataLst>
          </p:nvPr>
        </p:nvSpPr>
        <p:spPr>
          <a:xfrm>
            <a:off x="6272530" y="757555"/>
            <a:ext cx="1682750" cy="29781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9B233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0.0M</a:t>
            </a:r>
            <a:endParaRPr lang="en-US" sz="1800" dirty="0"/>
          </a:p>
        </p:txBody>
      </p:sp>
      <p:sp>
        <p:nvSpPr>
          <p:cNvPr id="25" name="Text 23"/>
          <p:cNvSpPr/>
          <p:nvPr>
            <p:custDataLst>
              <p:tags r:id="rId25"/>
            </p:custDataLst>
          </p:nvPr>
        </p:nvSpPr>
        <p:spPr>
          <a:xfrm>
            <a:off x="6272530" y="1068070"/>
            <a:ext cx="1682750" cy="1492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0件</a:t>
            </a:r>
            <a:r>
              <a:rPr lang="en-US" sz="7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| </a:t>
            </a:r>
            <a:r>
              <a:rPr lang="zh-CN" altLang="en-US" sz="750" dirty="0">
                <a:solidFill>
                  <a:srgbClr val="64748B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  <a:sym typeface="+mn-ea"/>
              </a:rPr>
              <a:t>件均</a:t>
            </a:r>
            <a:r>
              <a:rPr lang="en-US" altLang="zh-CN" sz="750" dirty="0">
                <a:solidFill>
                  <a:srgbClr val="64748B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  <a:sym typeface="+mn-ea"/>
              </a:rPr>
              <a:t>0W</a:t>
            </a:r>
            <a:endParaRPr lang="en-US" altLang="zh-CN" sz="750" dirty="0">
              <a:solidFill>
                <a:srgbClr val="64748B"/>
              </a:solidFill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-120"/>
              <a:sym typeface="+mn-ea"/>
            </a:endParaRPr>
          </a:p>
        </p:txBody>
      </p:sp>
      <p:sp>
        <p:nvSpPr>
          <p:cNvPr id="26" name="Shape 24"/>
          <p:cNvSpPr/>
          <p:nvPr>
            <p:custDataLst>
              <p:tags r:id="rId26"/>
            </p:custDataLst>
          </p:nvPr>
        </p:nvSpPr>
        <p:spPr>
          <a:xfrm>
            <a:off x="8156575" y="528955"/>
            <a:ext cx="1828800" cy="76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7" name="Shape 25"/>
          <p:cNvSpPr/>
          <p:nvPr>
            <p:custDataLst>
              <p:tags r:id="rId27"/>
            </p:custDataLst>
          </p:nvPr>
        </p:nvSpPr>
        <p:spPr>
          <a:xfrm>
            <a:off x="8156575" y="528955"/>
            <a:ext cx="76200" cy="762000"/>
          </a:xfrm>
          <a:prstGeom prst="rect">
            <a:avLst/>
          </a:prstGeom>
          <a:solidFill>
            <a:srgbClr val="6B2737"/>
          </a:solidFill>
          <a:ln w="12700">
            <a:solidFill>
              <a:srgbClr val="6B2737"/>
            </a:solidFill>
            <a:prstDash val="solid"/>
          </a:ln>
        </p:spPr>
      </p:sp>
      <p:sp>
        <p:nvSpPr>
          <p:cNvPr id="28" name="Text 26"/>
          <p:cNvSpPr/>
          <p:nvPr>
            <p:custDataLst>
              <p:tags r:id="rId28"/>
            </p:custDataLst>
          </p:nvPr>
        </p:nvSpPr>
        <p:spPr>
          <a:xfrm>
            <a:off x="8266430" y="583565"/>
            <a:ext cx="1682750" cy="18224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BK </a:t>
            </a:r>
            <a:r>
              <a:rPr lang="zh-CN" altLang="en-US" sz="800" dirty="0">
                <a:solidFill>
                  <a:srgbClr val="64748B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  <a:sym typeface="+mn-ea"/>
              </a:rPr>
              <a:t>本月</a:t>
            </a:r>
            <a:r>
              <a:rPr lang="en-US" sz="8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签单</a:t>
            </a:r>
            <a:endParaRPr lang="en-US" sz="800" dirty="0"/>
          </a:p>
        </p:txBody>
      </p:sp>
      <p:sp>
        <p:nvSpPr>
          <p:cNvPr id="29" name="Text 27"/>
          <p:cNvSpPr/>
          <p:nvPr>
            <p:custDataLst>
              <p:tags r:id="rId29"/>
            </p:custDataLst>
          </p:nvPr>
        </p:nvSpPr>
        <p:spPr>
          <a:xfrm>
            <a:off x="8266430" y="757555"/>
            <a:ext cx="1682750" cy="29781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6B27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1.56M</a:t>
            </a:r>
            <a:endParaRPr lang="en-US" sz="1800" dirty="0"/>
          </a:p>
        </p:txBody>
      </p:sp>
      <p:sp>
        <p:nvSpPr>
          <p:cNvPr id="30" name="Text 28"/>
          <p:cNvSpPr/>
          <p:nvPr>
            <p:custDataLst>
              <p:tags r:id="rId30"/>
            </p:custDataLst>
          </p:nvPr>
        </p:nvSpPr>
        <p:spPr>
          <a:xfrm>
            <a:off x="8266430" y="1068070"/>
            <a:ext cx="1682750" cy="1492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3件</a:t>
            </a:r>
            <a:r>
              <a:rPr lang="en-US" sz="7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| </a:t>
            </a:r>
            <a:r>
              <a:rPr lang="zh-CN" altLang="en-US" sz="750" dirty="0">
                <a:solidFill>
                  <a:srgbClr val="64748B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  <a:sym typeface="+mn-ea"/>
              </a:rPr>
              <a:t>件均</a:t>
            </a:r>
            <a:r>
              <a:rPr lang="en-US" altLang="zh-CN" sz="750" dirty="0">
                <a:solidFill>
                  <a:srgbClr val="64748B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  <a:sym typeface="+mn-ea"/>
              </a:rPr>
              <a:t>52W</a:t>
            </a:r>
            <a:endParaRPr lang="en-US" altLang="zh-CN" sz="750" dirty="0">
              <a:solidFill>
                <a:srgbClr val="64748B"/>
              </a:solidFill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-120"/>
              <a:sym typeface="+mn-ea"/>
            </a:endParaRPr>
          </a:p>
        </p:txBody>
      </p:sp>
      <p:sp>
        <p:nvSpPr>
          <p:cNvPr id="31" name="Shape 29"/>
          <p:cNvSpPr/>
          <p:nvPr>
            <p:custDataLst>
              <p:tags r:id="rId31"/>
            </p:custDataLst>
          </p:nvPr>
        </p:nvSpPr>
        <p:spPr>
          <a:xfrm>
            <a:off x="10149840" y="528955"/>
            <a:ext cx="1828800" cy="76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2" name="Shape 30"/>
          <p:cNvSpPr/>
          <p:nvPr>
            <p:custDataLst>
              <p:tags r:id="rId32"/>
            </p:custDataLst>
          </p:nvPr>
        </p:nvSpPr>
        <p:spPr>
          <a:xfrm>
            <a:off x="10149840" y="528955"/>
            <a:ext cx="76200" cy="762000"/>
          </a:xfrm>
          <a:prstGeom prst="rect">
            <a:avLst/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</p:spPr>
      </p:sp>
      <p:sp>
        <p:nvSpPr>
          <p:cNvPr id="33" name="Text 31"/>
          <p:cNvSpPr/>
          <p:nvPr>
            <p:custDataLst>
              <p:tags r:id="rId33"/>
            </p:custDataLst>
          </p:nvPr>
        </p:nvSpPr>
        <p:spPr>
          <a:xfrm>
            <a:off x="10259695" y="583565"/>
            <a:ext cx="1682750" cy="18224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BK </a:t>
            </a:r>
            <a:r>
              <a:rPr lang="zh-CN" altLang="en-US" sz="800" dirty="0">
                <a:solidFill>
                  <a:srgbClr val="64748B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  <a:sym typeface="+mn-ea"/>
              </a:rPr>
              <a:t>本月</a:t>
            </a:r>
            <a:r>
              <a:rPr lang="en-US" sz="8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批核</a:t>
            </a:r>
            <a:endParaRPr lang="en-US" sz="800" dirty="0"/>
          </a:p>
        </p:txBody>
      </p:sp>
      <p:sp>
        <p:nvSpPr>
          <p:cNvPr id="34" name="Text 32"/>
          <p:cNvSpPr/>
          <p:nvPr>
            <p:custDataLst>
              <p:tags r:id="rId34"/>
            </p:custDataLst>
          </p:nvPr>
        </p:nvSpPr>
        <p:spPr>
          <a:xfrm>
            <a:off x="10259695" y="757555"/>
            <a:ext cx="1682750" cy="29781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6C348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0.0M</a:t>
            </a:r>
            <a:endParaRPr lang="en-US" sz="1800" dirty="0"/>
          </a:p>
        </p:txBody>
      </p:sp>
      <p:sp>
        <p:nvSpPr>
          <p:cNvPr id="35" name="Text 33"/>
          <p:cNvSpPr/>
          <p:nvPr>
            <p:custDataLst>
              <p:tags r:id="rId35"/>
            </p:custDataLst>
          </p:nvPr>
        </p:nvSpPr>
        <p:spPr>
          <a:xfrm>
            <a:off x="10259695" y="1068070"/>
            <a:ext cx="1682750" cy="1492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0件 </a:t>
            </a:r>
            <a:r>
              <a:rPr lang="en-US" sz="7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| </a:t>
            </a:r>
            <a:r>
              <a:rPr lang="zh-CN" altLang="en-US" sz="750" dirty="0">
                <a:solidFill>
                  <a:srgbClr val="64748B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  <a:sym typeface="+mn-ea"/>
              </a:rPr>
              <a:t>件均</a:t>
            </a:r>
            <a:r>
              <a:rPr lang="en-US" altLang="zh-CN" sz="750" dirty="0">
                <a:solidFill>
                  <a:srgbClr val="64748B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  <a:sym typeface="+mn-ea"/>
              </a:rPr>
              <a:t>0</a:t>
            </a:r>
            <a:r>
              <a:rPr lang="en-US" altLang="zh-CN" sz="750" dirty="0">
                <a:solidFill>
                  <a:srgbClr val="64748B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  <a:sym typeface="+mn-ea"/>
              </a:rPr>
              <a:t>W</a:t>
            </a:r>
            <a:endParaRPr lang="en-US" altLang="zh-CN" sz="750" dirty="0">
              <a:solidFill>
                <a:srgbClr val="64748B"/>
              </a:solidFill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-120"/>
              <a:sym typeface="+mn-ea"/>
            </a:endParaRPr>
          </a:p>
        </p:txBody>
      </p:sp>
      <p:sp>
        <p:nvSpPr>
          <p:cNvPr id="51" name="Text 1"/>
          <p:cNvSpPr/>
          <p:nvPr/>
        </p:nvSpPr>
        <p:spPr>
          <a:xfrm>
            <a:off x="228600" y="38100"/>
            <a:ext cx="96012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algn="l">
              <a:buClrTx/>
              <a:buSzTx/>
              <a:buFontTx/>
              <a:buNone/>
            </a:pPr>
            <a:r>
              <a:rPr lang="zh-CN" alt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银行</a:t>
            </a: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业绩分析仪表盘 </a:t>
            </a: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 |</a:t>
            </a: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Bank</a:t>
            </a: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 View</a:t>
            </a:r>
            <a:endParaRPr lang="en-US" sz="1200" b="1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001" name="s3001"/>
          <p:cNvSpPr/>
          <p:nvPr/>
        </p:nvSpPr>
        <p:spPr>
          <a:xfrm>
            <a:off x="182800" y="1411695"/>
            <a:ext cx="5666800" cy="255920"/>
          </a:xfrm>
          <a:prstGeom prst="rect">
            <a:avLst/>
          </a:prstGeom>
          <a:solidFill>
            <a:srgbClr val="7B241C"/>
          </a:solidFill>
          <a:ln>
            <a:noFill/>
          </a:ln>
        </p:spPr>
        <p:txBody>
          <a:bodyPr/>
          <a:p>
            <a:endParaRPr lang="zh-CN" altLang="en-US"/>
          </a:p>
        </p:txBody>
      </p:sp>
      <p:sp>
        <p:nvSpPr>
          <p:cNvPr id="3" name="t3002"/>
          <p:cNvSpPr/>
          <p:nvPr/>
        </p:nvSpPr>
        <p:spPr>
          <a:xfrm>
            <a:off x="199252" y="1439000"/>
            <a:ext cx="5639380" cy="255920"/>
          </a:xfrm>
          <a:prstGeom prst="rect">
            <a:avLst/>
          </a:prstGeom>
          <a:noFill/>
        </p:spPr>
        <p:txBody>
          <a:bodyPr wrap="square" lIns="45720" tIns="0" rIns="45720" bIns="0" rtlCol="0" anchor="ctr"/>
          <a:lstStyle/>
          <a:p>
            <a:pPr marL="0" indent="0" algn="l">
              <a:buNone/>
            </a:pPr>
            <a:r>
              <a:rPr lang="en-US" altLang="zh-CN" sz="93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</a:rPr>
              <a:t>Z</a:t>
            </a:r>
            <a:r>
              <a:rPr lang="zh-CN" sz="93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</a:rPr>
              <a:t>  银行月度走势 — </a:t>
            </a:r>
            <a:r>
              <a:rPr lang="zh-CN" altLang="en-US" sz="93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</a:rPr>
              <a:t>预约</a:t>
            </a:r>
            <a:r>
              <a:rPr lang="en-US" altLang="zh-CN" sz="93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</a:rPr>
              <a:t> Appointment  |  APE(M)</a:t>
            </a:r>
            <a:r>
              <a:rPr lang="zh-CN" altLang="en-US" sz="93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sym typeface="+mn-ea"/>
              </a:rPr>
              <a:t>件数</a:t>
            </a:r>
            <a:endParaRPr lang="en-US" altLang="zh-CN" sz="930" b="1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-122"/>
            </a:endParaRPr>
          </a:p>
        </p:txBody>
      </p:sp>
      <p:sp>
        <p:nvSpPr>
          <p:cNvPr id="36" name="Text 2"/>
          <p:cNvSpPr/>
          <p:nvPr/>
        </p:nvSpPr>
        <p:spPr>
          <a:xfrm>
            <a:off x="10515600" y="109728"/>
            <a:ext cx="15087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BC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内部文件 · 仅供使用</a:t>
            </a:r>
            <a:endParaRPr lang="en-US" sz="900" dirty="0"/>
          </a:p>
        </p:txBody>
      </p:sp>
      <p:graphicFrame>
        <p:nvGraphicFramePr>
          <p:cNvPr id="99" name="Chart_YY"/>
          <p:cNvGraphicFramePr/>
          <p:nvPr/>
        </p:nvGraphicFramePr>
        <p:xfrm>
          <a:off x="229235" y="1673225"/>
          <a:ext cx="4764405" cy="136969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graphicFrame>
        <p:nvGraphicFramePr>
          <p:cNvPr id="105" name="Chart_QD"/>
          <p:cNvGraphicFramePr/>
          <p:nvPr/>
        </p:nvGraphicFramePr>
        <p:xfrm>
          <a:off x="199390" y="3181350"/>
          <a:ext cx="4795520" cy="120205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14" name="Chart_PH"/>
          <p:cNvGraphicFramePr/>
          <p:nvPr/>
        </p:nvGraphicFramePr>
        <p:xfrm>
          <a:off x="229235" y="4775200"/>
          <a:ext cx="4765040" cy="10439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5" name="s3001"/>
          <p:cNvSpPr/>
          <p:nvPr/>
        </p:nvSpPr>
        <p:spPr>
          <a:xfrm>
            <a:off x="180260" y="2848700"/>
            <a:ext cx="5666800" cy="255920"/>
          </a:xfrm>
          <a:prstGeom prst="rect">
            <a:avLst/>
          </a:prstGeom>
          <a:solidFill>
            <a:srgbClr val="7B241C"/>
          </a:solidFill>
          <a:ln>
            <a:noFill/>
          </a:ln>
        </p:spPr>
      </p:sp>
      <p:sp>
        <p:nvSpPr>
          <p:cNvPr id="56" name="t3002"/>
          <p:cNvSpPr/>
          <p:nvPr/>
        </p:nvSpPr>
        <p:spPr>
          <a:xfrm>
            <a:off x="258942" y="2869655"/>
            <a:ext cx="5639380" cy="255920"/>
          </a:xfrm>
          <a:prstGeom prst="rect">
            <a:avLst/>
          </a:prstGeom>
          <a:noFill/>
        </p:spPr>
        <p:txBody>
          <a:bodyPr wrap="square" lIns="45720" tIns="0" rIns="45720" bIns="0" rtlCol="0" anchor="ctr"/>
          <a:lstStyle/>
          <a:p>
            <a:pPr marL="0" indent="0" algn="l">
              <a:buNone/>
            </a:pPr>
            <a:r>
              <a:rPr lang="en-US" altLang="zh-CN" sz="93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</a:rPr>
              <a:t>Z</a:t>
            </a:r>
            <a:r>
              <a:rPr lang="zh-CN" sz="93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</a:rPr>
              <a:t>  银行月度走势 — </a:t>
            </a:r>
            <a:r>
              <a:rPr lang="zh-CN" altLang="en-US" sz="93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</a:rPr>
              <a:t>签单</a:t>
            </a:r>
            <a:r>
              <a:rPr lang="en-US" altLang="zh-CN" sz="93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</a:rPr>
              <a:t> Signed  |  APE(M)  </a:t>
            </a:r>
            <a:r>
              <a:rPr lang="zh-CN" altLang="en-US" sz="93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</a:rPr>
              <a:t>件数</a:t>
            </a:r>
            <a:endParaRPr lang="zh-CN" altLang="en-US" sz="930" b="1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-122"/>
            </a:endParaRPr>
          </a:p>
        </p:txBody>
      </p:sp>
      <p:sp>
        <p:nvSpPr>
          <p:cNvPr id="57" name="s3001"/>
          <p:cNvSpPr/>
          <p:nvPr/>
        </p:nvSpPr>
        <p:spPr>
          <a:xfrm>
            <a:off x="198675" y="4387940"/>
            <a:ext cx="5666800" cy="255920"/>
          </a:xfrm>
          <a:prstGeom prst="rect">
            <a:avLst/>
          </a:prstGeom>
          <a:solidFill>
            <a:srgbClr val="7B241C"/>
          </a:solidFill>
          <a:ln>
            <a:noFill/>
          </a:ln>
        </p:spPr>
      </p:sp>
      <p:sp>
        <p:nvSpPr>
          <p:cNvPr id="60" name="t3002"/>
          <p:cNvSpPr/>
          <p:nvPr/>
        </p:nvSpPr>
        <p:spPr>
          <a:xfrm>
            <a:off x="259577" y="4413975"/>
            <a:ext cx="5639380" cy="255920"/>
          </a:xfrm>
          <a:prstGeom prst="rect">
            <a:avLst/>
          </a:prstGeom>
          <a:noFill/>
        </p:spPr>
        <p:txBody>
          <a:bodyPr wrap="square" lIns="45720" tIns="0" rIns="45720" bIns="0" rtlCol="0" anchor="ctr"/>
          <a:lstStyle/>
          <a:p>
            <a:pPr marL="0" indent="0" algn="l">
              <a:buNone/>
            </a:pPr>
            <a:r>
              <a:rPr lang="en-US" altLang="zh-CN" sz="93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</a:rPr>
              <a:t>Z</a:t>
            </a:r>
            <a:r>
              <a:rPr lang="zh-CN" sz="93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</a:rPr>
              <a:t>  银行月度走势 — </a:t>
            </a:r>
            <a:r>
              <a:rPr lang="zh-CN" sz="93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批核 Approved  |  APE(M)  件数</a:t>
            </a:r>
            <a:endParaRPr lang="zh-CN" altLang="en-US" sz="930" b="1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-122"/>
            </a:endParaRPr>
          </a:p>
        </p:txBody>
      </p:sp>
      <p:sp>
        <p:nvSpPr>
          <p:cNvPr id="4003" name="sw_bg_4003"/>
          <p:cNvSpPr/>
          <p:nvPr/>
        </p:nvSpPr>
        <p:spPr>
          <a:xfrm>
            <a:off x="199390" y="6094095"/>
            <a:ext cx="5647690" cy="628650"/>
          </a:xfrm>
          <a:prstGeom prst="rect">
            <a:avLst/>
          </a:prstGeom>
          <a:solidFill>
            <a:srgbClr val="FDF2F2"/>
          </a:solidFill>
          <a:ln w="9525">
            <a:solidFill>
              <a:srgbClr val="E8D5D5"/>
            </a:solidFill>
          </a:ln>
        </p:spPr>
      </p:sp>
      <p:sp>
        <p:nvSpPr>
          <p:cNvPr id="5" name="sw_4003"/>
          <p:cNvSpPr/>
          <p:nvPr/>
        </p:nvSpPr>
        <p:spPr>
          <a:xfrm>
            <a:off x="199390" y="6111240"/>
            <a:ext cx="5558790" cy="304165"/>
          </a:xfrm>
          <a:prstGeom prst="rect">
            <a:avLst/>
          </a:prstGeom>
          <a:noFill/>
        </p:spPr>
        <p:txBody>
          <a:bodyPr wrap="square" lIns="45720" tIns="0" rIns="45720" bIns="0" rtlCol="0" anchor="t"/>
          <a:lstStyle/>
          <a:p>
            <a:pPr marL="0" indent="0">
              <a:buNone/>
            </a:pPr>
            <a:r>
              <a:rPr lang="zh-CN" sz="800" b="1" dirty="0">
                <a:solidFill>
                  <a:srgbClr val="7B241C"/>
                </a:solidFill>
                <a:latin typeface="Calibri" panose="020F0502020204030204" pitchFamily="34" charset="0"/>
                <a:ea typeface="Calibri" panose="020F0502020204030204" pitchFamily="34" charset="-122"/>
              </a:rPr>
              <a:t>So What：</a:t>
            </a:r>
            <a:r>
              <a:rPr lang="zh-CN" sz="780" b="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</a:rPr>
              <a:t>  </a:t>
            </a:r>
            <a:endParaRPr lang="zh-CN" sz="780" b="0" dirty="0">
              <a:solidFill>
                <a:srgbClr val="374151"/>
              </a:solidFill>
              <a:latin typeface="Calibri" panose="020F0502020204030204" pitchFamily="34" charset="0"/>
              <a:ea typeface="Calibri" panose="020F0502020204030204" pitchFamily="34" charset="-122"/>
            </a:endParaRPr>
          </a:p>
          <a:p>
            <a:pPr marL="0" indent="0">
              <a:buNone/>
            </a:pPr>
            <a:r>
              <a:rPr lang="zh-CN" sz="78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sym typeface="+mn-ea"/>
              </a:rPr>
              <a:t>预约：Q1民生21.3M/平安15.1M，3月民生10.5M创季度新高；4月归零，Q2开局动能待修复。签单：4月民生3.51M/6件+平安0.78M/1件，Mar积压件持续转化，Q2批核弹药充足。批核：Feb民生84.8M（61件）为Q1峰值，Mar回落至44.5M仍处高位；未批核63.5M（55件）预计Q2上半段持续释放，是达成全年目标的核心抓手</a:t>
            </a:r>
            <a:endParaRPr lang="zh-CN" sz="780" b="0" dirty="0">
              <a:solidFill>
                <a:srgbClr val="374151"/>
              </a:solidFill>
              <a:latin typeface="Calibri" panose="020F0502020204030204" pitchFamily="34" charset="0"/>
              <a:ea typeface="Calibri" panose="020F0502020204030204" pitchFamily="34" charset="-122"/>
            </a:endParaRPr>
          </a:p>
        </p:txBody>
      </p:sp>
      <p:sp>
        <p:nvSpPr>
          <p:cNvPr id="52" name="文本框 51"/>
          <p:cNvSpPr txBox="1"/>
          <p:nvPr/>
        </p:nvSpPr>
        <p:spPr>
          <a:xfrm>
            <a:off x="3048000" y="3314065"/>
            <a:ext cx="6096000" cy="2298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indent="0">
              <a:buNone/>
            </a:pPr>
            <a:r>
              <a:rPr lang="zh-CN" sz="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批核 Approved  |  APE(M)  件数</a:t>
            </a:r>
            <a:endParaRPr lang="zh-CN" altLang="en-US" sz="900" b="1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  <a:sym typeface="+mn-ea"/>
            </a:endParaRPr>
          </a:p>
        </p:txBody>
      </p:sp>
      <p:graphicFrame>
        <p:nvGraphicFramePr>
          <p:cNvPr id="53" name="Chart 1"/>
          <p:cNvGraphicFramePr/>
          <p:nvPr>
            <p:custDataLst>
              <p:tags r:id="rId36"/>
            </p:custDataLst>
          </p:nvPr>
        </p:nvGraphicFramePr>
        <p:xfrm>
          <a:off x="6239510" y="1742440"/>
          <a:ext cx="5697220" cy="1732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54" name="s3001"/>
          <p:cNvSpPr/>
          <p:nvPr/>
        </p:nvSpPr>
        <p:spPr>
          <a:xfrm>
            <a:off x="6116955" y="1424305"/>
            <a:ext cx="5861685" cy="255905"/>
          </a:xfrm>
          <a:prstGeom prst="rect">
            <a:avLst/>
          </a:prstGeom>
          <a:solidFill>
            <a:srgbClr val="0D594A"/>
          </a:solidFill>
          <a:ln>
            <a:noFill/>
          </a:ln>
        </p:spPr>
      </p:sp>
      <p:sp>
        <p:nvSpPr>
          <p:cNvPr id="58" name="t3002"/>
          <p:cNvSpPr/>
          <p:nvPr/>
        </p:nvSpPr>
        <p:spPr>
          <a:xfrm>
            <a:off x="6163310" y="1437640"/>
            <a:ext cx="3495675" cy="261620"/>
          </a:xfrm>
          <a:prstGeom prst="rect">
            <a:avLst/>
          </a:prstGeom>
          <a:noFill/>
        </p:spPr>
        <p:txBody>
          <a:bodyPr wrap="square" lIns="45720" tIns="0" rIns="45720" bIns="0" rtlCol="0" anchor="ctr"/>
          <a:lstStyle/>
          <a:p>
            <a:pPr marL="0" indent="0" algn="l">
              <a:buNone/>
            </a:pPr>
            <a:r>
              <a:rPr lang="en-US" altLang="zh-CN" sz="93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</a:rPr>
              <a:t>AA</a:t>
            </a:r>
            <a:r>
              <a:rPr lang="zh-CN" sz="93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</a:rPr>
              <a:t>  银行</a:t>
            </a:r>
            <a:r>
              <a:rPr lang="en-US" sz="930" b="1" dirty="0">
                <a:solidFill>
                  <a:schemeClr val="bg1"/>
                </a:solidFill>
                <a:sym typeface="+mn-ea"/>
              </a:rPr>
              <a:t>KEY ACCOUNT分析</a:t>
            </a:r>
            <a:r>
              <a:rPr lang="en-US" sz="930" b="1" dirty="0">
                <a:solidFill>
                  <a:srgbClr val="1B2A4A"/>
                </a:solidFill>
                <a:sym typeface="+mn-ea"/>
              </a:rPr>
              <a:t>  </a:t>
            </a:r>
            <a:r>
              <a:rPr lang="en-US" sz="930" b="1" dirty="0">
                <a:solidFill>
                  <a:schemeClr val="bg1"/>
                </a:solidFill>
                <a:sym typeface="+mn-ea"/>
              </a:rPr>
              <a:t>  </a:t>
            </a:r>
            <a:endParaRPr lang="zh-CN" altLang="en-US" sz="930" b="1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-122"/>
            </a:endParaRPr>
          </a:p>
        </p:txBody>
      </p:sp>
      <p:sp>
        <p:nvSpPr>
          <p:cNvPr id="5010" name="target_hdr"/>
          <p:cNvSpPr/>
          <p:nvPr/>
        </p:nvSpPr>
        <p:spPr>
          <a:xfrm>
            <a:off x="6116320" y="3689985"/>
            <a:ext cx="5862955" cy="237490"/>
          </a:xfrm>
          <a:prstGeom prst="rect">
            <a:avLst/>
          </a:prstGeom>
          <a:solidFill>
            <a:srgbClr val="0D594A"/>
          </a:solidFill>
          <a:ln>
            <a:noFill/>
          </a:ln>
        </p:spPr>
        <p:txBody>
          <a:bodyPr wrap="square" lIns="91440" tIns="45720" rIns="91440" bIns="45720" rtlCol="0" anchor="ctr"/>
          <a:lstStyle/>
          <a:p>
            <a:pPr marL="0" indent="0" algn="l">
              <a:buNone/>
            </a:pPr>
            <a:r>
              <a:rPr lang="en-US" altLang="zh-CN" sz="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</a:rPr>
              <a:t>AB  </a:t>
            </a:r>
            <a:r>
              <a:rPr lang="zh-CN" sz="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</a:rPr>
              <a:t>目标达成分析 Target Achievement</a:t>
            </a:r>
            <a:endParaRPr lang="zh-CN" sz="900" b="1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-122"/>
            </a:endParaRPr>
          </a:p>
        </p:txBody>
      </p:sp>
      <p:graphicFrame>
        <p:nvGraphicFramePr>
          <p:cNvPr id="95" name="Chart 0"/>
          <p:cNvGraphicFramePr/>
          <p:nvPr/>
        </p:nvGraphicFramePr>
        <p:xfrm>
          <a:off x="6394450" y="4048125"/>
          <a:ext cx="2377440" cy="204533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471" name="Shape 255"/>
          <p:cNvSpPr/>
          <p:nvPr/>
        </p:nvSpPr>
        <p:spPr>
          <a:xfrm flipV="1">
            <a:off x="182245" y="6061710"/>
            <a:ext cx="5676900" cy="36000"/>
          </a:xfrm>
          <a:prstGeom prst="rect">
            <a:avLst/>
          </a:prstGeom>
          <a:solidFill>
            <a:srgbClr val="7B241C"/>
          </a:solidFill>
          <a:ln w="12700">
            <a:solidFill>
              <a:srgbClr val="7B241C"/>
            </a:solidFill>
            <a:prstDash val="solid"/>
          </a:ln>
        </p:spPr>
      </p:sp>
      <p:sp>
        <p:nvSpPr>
          <p:cNvPr id="4" name="Shape 13"/>
          <p:cNvSpPr/>
          <p:nvPr>
            <p:custDataLst>
              <p:tags r:id="rId37"/>
            </p:custDataLst>
          </p:nvPr>
        </p:nvSpPr>
        <p:spPr>
          <a:xfrm>
            <a:off x="6125210" y="6223000"/>
            <a:ext cx="5854700" cy="494030"/>
          </a:xfrm>
          <a:prstGeom prst="rect">
            <a:avLst/>
          </a:prstGeom>
          <a:solidFill>
            <a:srgbClr val="E8F5E9"/>
          </a:solidFill>
          <a:ln w="12700">
            <a:solidFill>
              <a:srgbClr val="00796B"/>
            </a:solidFill>
            <a:prstDash val="solid"/>
          </a:ln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p>
            <a:endParaRPr lang="zh-CN" altLang="en-US"/>
          </a:p>
        </p:txBody>
      </p:sp>
      <p:sp>
        <p:nvSpPr>
          <p:cNvPr id="37" name="Shape 14"/>
          <p:cNvSpPr/>
          <p:nvPr>
            <p:custDataLst>
              <p:tags r:id="rId38"/>
            </p:custDataLst>
          </p:nvPr>
        </p:nvSpPr>
        <p:spPr>
          <a:xfrm rot="5400000">
            <a:off x="9021433" y="3266452"/>
            <a:ext cx="54000" cy="5862955"/>
          </a:xfrm>
          <a:prstGeom prst="rect">
            <a:avLst/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</p:spPr>
      </p:sp>
      <p:sp>
        <p:nvSpPr>
          <p:cNvPr id="39" name="Text 15"/>
          <p:cNvSpPr/>
          <p:nvPr>
            <p:custDataLst>
              <p:tags r:id="rId39"/>
            </p:custDataLst>
          </p:nvPr>
        </p:nvSpPr>
        <p:spPr>
          <a:xfrm>
            <a:off x="6163310" y="6241415"/>
            <a:ext cx="56515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6A085"/>
                </a:solidFill>
              </a:rPr>
              <a:t>So What：</a:t>
            </a:r>
            <a:r>
              <a:rPr lang="en-US" sz="850" dirty="0">
                <a:solidFill>
                  <a:srgbClr val="374151"/>
                </a:solidFill>
              </a:rPr>
              <a:t>  </a:t>
            </a:r>
            <a:endParaRPr lang="en-US" sz="850" dirty="0">
              <a:solidFill>
                <a:srgbClr val="374151"/>
              </a:solidFill>
            </a:endParaRPr>
          </a:p>
          <a:p>
            <a:pPr marL="0" indent="0">
              <a:buNone/>
            </a:pPr>
            <a:r>
              <a:rPr lang="en-US" altLang="zh-CN" sz="850" dirty="0"/>
              <a:t>Q1</a:t>
            </a:r>
            <a:r>
              <a:rPr lang="zh-CN" altLang="en-US" sz="850" dirty="0"/>
              <a:t>批核</a:t>
            </a:r>
            <a:r>
              <a:rPr lang="en-US" altLang="zh-CN" sz="850" dirty="0"/>
              <a:t>170.9M</a:t>
            </a:r>
            <a:r>
              <a:rPr lang="zh-CN" altLang="en-US" sz="850" dirty="0"/>
              <a:t>达成</a:t>
            </a:r>
            <a:r>
              <a:rPr lang="en-US" altLang="zh-CN" sz="850" dirty="0"/>
              <a:t>85.4%</a:t>
            </a:r>
            <a:r>
              <a:rPr lang="zh-CN" altLang="en-US" sz="850" dirty="0"/>
              <a:t>；未批核</a:t>
            </a:r>
            <a:r>
              <a:rPr lang="en-US" altLang="zh-CN" sz="850" dirty="0"/>
              <a:t>81.5M</a:t>
            </a:r>
            <a:r>
              <a:rPr lang="zh-CN" altLang="en-US" sz="850" dirty="0"/>
              <a:t>构成</a:t>
            </a:r>
            <a:r>
              <a:rPr lang="en-US" altLang="zh-CN" sz="850" dirty="0"/>
              <a:t>Q2</a:t>
            </a:r>
            <a:r>
              <a:rPr lang="zh-CN" altLang="en-US" sz="850" dirty="0"/>
              <a:t>储量；本月签单</a:t>
            </a:r>
            <a:r>
              <a:rPr lang="en-US" altLang="zh-CN" sz="850" dirty="0"/>
              <a:t>1.56M</a:t>
            </a:r>
            <a:r>
              <a:rPr lang="zh-CN" altLang="en-US" sz="850" dirty="0"/>
              <a:t>偏低，需修复预约动能</a:t>
            </a:r>
            <a:endParaRPr lang="zh-CN" altLang="en-US" sz="850" dirty="0"/>
          </a:p>
        </p:txBody>
      </p:sp>
      <p:sp>
        <p:nvSpPr>
          <p:cNvPr id="96" name="Shape 93"/>
          <p:cNvSpPr/>
          <p:nvPr/>
        </p:nvSpPr>
        <p:spPr>
          <a:xfrm>
            <a:off x="8686800" y="4048125"/>
            <a:ext cx="1444625" cy="1991360"/>
          </a:xfrm>
          <a:prstGeom prst="rect">
            <a:avLst/>
          </a:prstGeom>
          <a:solidFill>
            <a:srgbClr val="F5F7FA"/>
          </a:solidFill>
          <a:ln w="12700">
            <a:solidFill>
              <a:srgbClr val="00796B"/>
            </a:solidFill>
            <a:prstDash val="solid"/>
          </a:ln>
        </p:spPr>
      </p:sp>
      <p:sp>
        <p:nvSpPr>
          <p:cNvPr id="97" name="Shape 94"/>
          <p:cNvSpPr/>
          <p:nvPr/>
        </p:nvSpPr>
        <p:spPr>
          <a:xfrm>
            <a:off x="8686673" y="4047998"/>
            <a:ext cx="1444752" cy="45720"/>
          </a:xfrm>
          <a:prstGeom prst="rect">
            <a:avLst/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</p:spPr>
      </p:sp>
      <p:sp>
        <p:nvSpPr>
          <p:cNvPr id="98" name="Text 95"/>
          <p:cNvSpPr/>
          <p:nvPr/>
        </p:nvSpPr>
        <p:spPr>
          <a:xfrm>
            <a:off x="8778113" y="4139438"/>
            <a:ext cx="1316736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900" dirty="0">
                <a:solidFill>
                  <a:srgbClr val="6B7280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民生</a:t>
            </a:r>
            <a:r>
              <a:rPr lang="en-US" sz="9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已批核</a:t>
            </a:r>
            <a:endParaRPr lang="en-US" sz="900" dirty="0"/>
          </a:p>
        </p:txBody>
      </p:sp>
      <p:sp>
        <p:nvSpPr>
          <p:cNvPr id="40" name="Text 96"/>
          <p:cNvSpPr/>
          <p:nvPr/>
        </p:nvSpPr>
        <p:spPr>
          <a:xfrm>
            <a:off x="8778113" y="4358894"/>
            <a:ext cx="1316736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79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142.1M</a:t>
            </a:r>
            <a:endParaRPr lang="en-US" sz="2200" dirty="0"/>
          </a:p>
        </p:txBody>
      </p:sp>
      <p:sp>
        <p:nvSpPr>
          <p:cNvPr id="100" name="Text 97"/>
          <p:cNvSpPr/>
          <p:nvPr/>
        </p:nvSpPr>
        <p:spPr>
          <a:xfrm>
            <a:off x="8778113" y="4718558"/>
            <a:ext cx="1316736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121件  </a:t>
            </a:r>
            <a:endParaRPr lang="en-US" sz="800" dirty="0"/>
          </a:p>
        </p:txBody>
      </p:sp>
      <p:sp>
        <p:nvSpPr>
          <p:cNvPr id="107" name="Shape 104"/>
          <p:cNvSpPr/>
          <p:nvPr/>
        </p:nvSpPr>
        <p:spPr>
          <a:xfrm>
            <a:off x="10259695" y="4048125"/>
            <a:ext cx="1444625" cy="1991360"/>
          </a:xfrm>
          <a:prstGeom prst="rect">
            <a:avLst/>
          </a:prstGeom>
          <a:solidFill>
            <a:srgbClr val="F5F7FA"/>
          </a:solidFill>
          <a:ln w="12700">
            <a:solidFill>
              <a:srgbClr val="C8890A"/>
            </a:solidFill>
            <a:prstDash val="solid"/>
          </a:ln>
        </p:spPr>
      </p:sp>
      <p:sp>
        <p:nvSpPr>
          <p:cNvPr id="108" name="Shape 105"/>
          <p:cNvSpPr/>
          <p:nvPr/>
        </p:nvSpPr>
        <p:spPr>
          <a:xfrm>
            <a:off x="10259441" y="4047998"/>
            <a:ext cx="1444752" cy="45720"/>
          </a:xfrm>
          <a:prstGeom prst="rect">
            <a:avLst/>
          </a:prstGeom>
          <a:solidFill>
            <a:srgbClr val="C8890A"/>
          </a:solidFill>
          <a:ln w="12700">
            <a:solidFill>
              <a:srgbClr val="C8890A"/>
            </a:solidFill>
            <a:prstDash val="solid"/>
          </a:ln>
        </p:spPr>
      </p:sp>
      <p:sp>
        <p:nvSpPr>
          <p:cNvPr id="109" name="Text 106"/>
          <p:cNvSpPr/>
          <p:nvPr/>
        </p:nvSpPr>
        <p:spPr>
          <a:xfrm>
            <a:off x="10350881" y="4139438"/>
            <a:ext cx="1316736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900" dirty="0">
                <a:solidFill>
                  <a:srgbClr val="6B7280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目标</a:t>
            </a:r>
            <a:endParaRPr lang="zh-CN" altLang="en-US" sz="900" dirty="0">
              <a:solidFill>
                <a:srgbClr val="6B7280"/>
              </a:solidFill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-120"/>
            </a:endParaRPr>
          </a:p>
        </p:txBody>
      </p:sp>
      <p:sp>
        <p:nvSpPr>
          <p:cNvPr id="110" name="Text 107"/>
          <p:cNvSpPr/>
          <p:nvPr/>
        </p:nvSpPr>
        <p:spPr>
          <a:xfrm>
            <a:off x="10350881" y="4332224"/>
            <a:ext cx="1316736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889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200M</a:t>
            </a:r>
            <a:endParaRPr lang="en-US" sz="2200" dirty="0"/>
          </a:p>
        </p:txBody>
      </p:sp>
      <p:sp>
        <p:nvSpPr>
          <p:cNvPr id="111" name="Text 108"/>
          <p:cNvSpPr/>
          <p:nvPr/>
        </p:nvSpPr>
        <p:spPr>
          <a:xfrm>
            <a:off x="10350881" y="4743958"/>
            <a:ext cx="1316736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800" dirty="0">
                <a:solidFill>
                  <a:srgbClr val="374151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达成率</a:t>
            </a:r>
            <a:r>
              <a:rPr lang="en-US" altLang="zh-CN" sz="800" dirty="0">
                <a:solidFill>
                  <a:srgbClr val="374151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 </a:t>
            </a: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85.4%</a:t>
            </a:r>
            <a:endParaRPr lang="en-US" sz="800" dirty="0"/>
          </a:p>
        </p:txBody>
      </p:sp>
      <p:sp>
        <p:nvSpPr>
          <p:cNvPr id="112" name="Shape 109"/>
          <p:cNvSpPr/>
          <p:nvPr/>
        </p:nvSpPr>
        <p:spPr>
          <a:xfrm>
            <a:off x="10350881" y="4955032"/>
            <a:ext cx="1280160" cy="146304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113" name="Shape 110"/>
          <p:cNvSpPr/>
          <p:nvPr/>
        </p:nvSpPr>
        <p:spPr>
          <a:xfrm>
            <a:off x="10351135" y="4975225"/>
            <a:ext cx="969010" cy="125730"/>
          </a:xfrm>
          <a:prstGeom prst="rect">
            <a:avLst/>
          </a:prstGeom>
          <a:solidFill>
            <a:srgbClr val="C8890A"/>
          </a:solidFill>
          <a:ln w="12700">
            <a:solidFill>
              <a:srgbClr val="C8890A"/>
            </a:solidFill>
            <a:prstDash val="solid"/>
          </a:ln>
        </p:spPr>
      </p:sp>
      <p:sp>
        <p:nvSpPr>
          <p:cNvPr id="48" name="Text 95"/>
          <p:cNvSpPr/>
          <p:nvPr/>
        </p:nvSpPr>
        <p:spPr>
          <a:xfrm>
            <a:off x="8771763" y="5218303"/>
            <a:ext cx="1316736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900" dirty="0">
                <a:solidFill>
                  <a:srgbClr val="6B7280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平安</a:t>
            </a:r>
            <a:r>
              <a:rPr lang="en-US" sz="9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已批核</a:t>
            </a:r>
            <a:endParaRPr lang="en-US" sz="900" dirty="0"/>
          </a:p>
        </p:txBody>
      </p:sp>
      <p:sp>
        <p:nvSpPr>
          <p:cNvPr id="49" name="Text 96"/>
          <p:cNvSpPr/>
          <p:nvPr/>
        </p:nvSpPr>
        <p:spPr>
          <a:xfrm>
            <a:off x="8771128" y="5385054"/>
            <a:ext cx="1316736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79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28.8M</a:t>
            </a:r>
            <a:endParaRPr lang="en-US" sz="2200" dirty="0"/>
          </a:p>
        </p:txBody>
      </p:sp>
      <p:sp>
        <p:nvSpPr>
          <p:cNvPr id="59" name="Text 97"/>
          <p:cNvSpPr/>
          <p:nvPr/>
        </p:nvSpPr>
        <p:spPr>
          <a:xfrm>
            <a:off x="8778113" y="5747893"/>
            <a:ext cx="1316736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13件  </a:t>
            </a:r>
            <a:endParaRPr lang="en-US" sz="800" dirty="0"/>
          </a:p>
        </p:txBody>
      </p:sp>
      <p:sp>
        <p:nvSpPr>
          <p:cNvPr id="61" name="Text 106"/>
          <p:cNvSpPr/>
          <p:nvPr/>
        </p:nvSpPr>
        <p:spPr>
          <a:xfrm>
            <a:off x="10335641" y="5235448"/>
            <a:ext cx="1316736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900" dirty="0">
                <a:solidFill>
                  <a:srgbClr val="6B7280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目标缺口</a:t>
            </a:r>
            <a:endParaRPr lang="zh-CN" altLang="en-US" sz="900" dirty="0">
              <a:solidFill>
                <a:srgbClr val="6B7280"/>
              </a:solidFill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-120"/>
            </a:endParaRPr>
          </a:p>
        </p:txBody>
      </p:sp>
      <p:sp>
        <p:nvSpPr>
          <p:cNvPr id="62" name="Text 107"/>
          <p:cNvSpPr/>
          <p:nvPr/>
        </p:nvSpPr>
        <p:spPr>
          <a:xfrm>
            <a:off x="10344531" y="5401564"/>
            <a:ext cx="1316736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889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29.1M</a:t>
            </a:r>
            <a:endParaRPr lang="en-US" sz="22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ipe/>
      </p:transition>
    </mc:Choice>
    <mc:Fallback>
      <p:transition spd="slow">
        <p:wip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3010"/>
          <p:cNvSpPr/>
          <p:nvPr/>
        </p:nvSpPr>
        <p:spPr>
          <a:xfrm>
            <a:off x="6198235" y="748030"/>
            <a:ext cx="5854065" cy="5951855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</p:sp>
      <p:sp>
        <p:nvSpPr>
          <p:cNvPr id="4" name="s3010"/>
          <p:cNvSpPr/>
          <p:nvPr/>
        </p:nvSpPr>
        <p:spPr>
          <a:xfrm>
            <a:off x="100330" y="1722755"/>
            <a:ext cx="5955665" cy="21412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</p:sp>
      <p:sp>
        <p:nvSpPr>
          <p:cNvPr id="50" name="Shape 0"/>
          <p:cNvSpPr/>
          <p:nvPr/>
        </p:nvSpPr>
        <p:spPr>
          <a:xfrm>
            <a:off x="0" y="0"/>
            <a:ext cx="12191365" cy="475615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1" name="Shape 19"/>
          <p:cNvSpPr/>
          <p:nvPr>
            <p:custDataLst>
              <p:tags r:id="rId3"/>
            </p:custDataLst>
          </p:nvPr>
        </p:nvSpPr>
        <p:spPr>
          <a:xfrm>
            <a:off x="111760" y="588645"/>
            <a:ext cx="1828800" cy="76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>
            <p:custDataLst>
              <p:tags r:id="rId4"/>
            </p:custDataLst>
          </p:nvPr>
        </p:nvSpPr>
        <p:spPr>
          <a:xfrm>
            <a:off x="111760" y="588645"/>
            <a:ext cx="76200" cy="762000"/>
          </a:xfrm>
          <a:prstGeom prst="rect">
            <a:avLst/>
          </a:prstGeom>
          <a:solidFill>
            <a:srgbClr val="9B2335"/>
          </a:solidFill>
          <a:ln w="12700">
            <a:solidFill>
              <a:srgbClr val="9B2335"/>
            </a:solidFill>
            <a:prstDash val="solid"/>
          </a:ln>
        </p:spPr>
      </p:sp>
      <p:sp>
        <p:nvSpPr>
          <p:cNvPr id="23" name="Text 21"/>
          <p:cNvSpPr/>
          <p:nvPr>
            <p:custDataLst>
              <p:tags r:id="rId5"/>
            </p:custDataLst>
          </p:nvPr>
        </p:nvSpPr>
        <p:spPr>
          <a:xfrm>
            <a:off x="220980" y="643255"/>
            <a:ext cx="1682750" cy="18224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BK </a:t>
            </a:r>
            <a:r>
              <a:rPr lang="en-US" sz="8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W13</a:t>
            </a:r>
            <a:r>
              <a:rPr lang="en-US" sz="8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预约</a:t>
            </a:r>
            <a:endParaRPr lang="en-US" sz="800" dirty="0"/>
          </a:p>
        </p:txBody>
      </p:sp>
      <p:sp>
        <p:nvSpPr>
          <p:cNvPr id="24" name="Text 22"/>
          <p:cNvSpPr/>
          <p:nvPr>
            <p:custDataLst>
              <p:tags r:id="rId6"/>
            </p:custDataLst>
          </p:nvPr>
        </p:nvSpPr>
        <p:spPr>
          <a:xfrm>
            <a:off x="220980" y="817245"/>
            <a:ext cx="1682750" cy="29781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9B233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0.0M</a:t>
            </a:r>
            <a:endParaRPr lang="en-US" sz="1800" dirty="0"/>
          </a:p>
        </p:txBody>
      </p:sp>
      <p:sp>
        <p:nvSpPr>
          <p:cNvPr id="25" name="Text 23"/>
          <p:cNvSpPr/>
          <p:nvPr>
            <p:custDataLst>
              <p:tags r:id="rId7"/>
            </p:custDataLst>
          </p:nvPr>
        </p:nvSpPr>
        <p:spPr>
          <a:xfrm>
            <a:off x="220980" y="1127760"/>
            <a:ext cx="1682750" cy="1492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0件</a:t>
            </a:r>
            <a:r>
              <a:rPr lang="en-US" sz="7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| </a:t>
            </a:r>
            <a:r>
              <a:rPr lang="zh-CN" altLang="en-US" sz="750" dirty="0">
                <a:solidFill>
                  <a:srgbClr val="64748B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  <a:sym typeface="+mn-ea"/>
              </a:rPr>
              <a:t>件均</a:t>
            </a:r>
            <a:r>
              <a:rPr lang="en-US" altLang="zh-CN" sz="750" dirty="0">
                <a:solidFill>
                  <a:srgbClr val="64748B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  <a:sym typeface="+mn-ea"/>
              </a:rPr>
              <a:t>0W</a:t>
            </a:r>
            <a:endParaRPr lang="en-US" altLang="zh-CN" sz="750" dirty="0">
              <a:solidFill>
                <a:srgbClr val="64748B"/>
              </a:solidFill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-120"/>
              <a:sym typeface="+mn-ea"/>
            </a:endParaRPr>
          </a:p>
        </p:txBody>
      </p:sp>
      <p:sp>
        <p:nvSpPr>
          <p:cNvPr id="26" name="Shape 24"/>
          <p:cNvSpPr/>
          <p:nvPr>
            <p:custDataLst>
              <p:tags r:id="rId8"/>
            </p:custDataLst>
          </p:nvPr>
        </p:nvSpPr>
        <p:spPr>
          <a:xfrm>
            <a:off x="2155825" y="588645"/>
            <a:ext cx="1828800" cy="76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7" name="Shape 25"/>
          <p:cNvSpPr/>
          <p:nvPr>
            <p:custDataLst>
              <p:tags r:id="rId9"/>
            </p:custDataLst>
          </p:nvPr>
        </p:nvSpPr>
        <p:spPr>
          <a:xfrm>
            <a:off x="2155825" y="588645"/>
            <a:ext cx="76200" cy="762000"/>
          </a:xfrm>
          <a:prstGeom prst="rect">
            <a:avLst/>
          </a:prstGeom>
          <a:solidFill>
            <a:srgbClr val="6B2737"/>
          </a:solidFill>
          <a:ln w="12700">
            <a:solidFill>
              <a:srgbClr val="6B2737"/>
            </a:solidFill>
            <a:prstDash val="solid"/>
          </a:ln>
        </p:spPr>
      </p:sp>
      <p:sp>
        <p:nvSpPr>
          <p:cNvPr id="28" name="Text 26"/>
          <p:cNvSpPr/>
          <p:nvPr>
            <p:custDataLst>
              <p:tags r:id="rId10"/>
            </p:custDataLst>
          </p:nvPr>
        </p:nvSpPr>
        <p:spPr>
          <a:xfrm>
            <a:off x="2265680" y="643255"/>
            <a:ext cx="1682750" cy="18224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BK </a:t>
            </a:r>
            <a:r>
              <a:rPr lang="en-US" sz="8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W13</a:t>
            </a:r>
            <a:r>
              <a:rPr lang="en-US" sz="8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签单</a:t>
            </a:r>
            <a:endParaRPr lang="en-US" sz="800" dirty="0"/>
          </a:p>
        </p:txBody>
      </p:sp>
      <p:sp>
        <p:nvSpPr>
          <p:cNvPr id="29" name="Text 27"/>
          <p:cNvSpPr/>
          <p:nvPr>
            <p:custDataLst>
              <p:tags r:id="rId11"/>
            </p:custDataLst>
          </p:nvPr>
        </p:nvSpPr>
        <p:spPr>
          <a:xfrm>
            <a:off x="2265680" y="817245"/>
            <a:ext cx="1682750" cy="29781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6B27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3.51M</a:t>
            </a:r>
            <a:endParaRPr lang="en-US" sz="1800" dirty="0"/>
          </a:p>
        </p:txBody>
      </p:sp>
      <p:sp>
        <p:nvSpPr>
          <p:cNvPr id="30" name="Text 28"/>
          <p:cNvSpPr/>
          <p:nvPr>
            <p:custDataLst>
              <p:tags r:id="rId12"/>
            </p:custDataLst>
          </p:nvPr>
        </p:nvSpPr>
        <p:spPr>
          <a:xfrm>
            <a:off x="2265680" y="1127760"/>
            <a:ext cx="1682750" cy="1492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6件</a:t>
            </a:r>
            <a:r>
              <a:rPr lang="en-US" sz="7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| </a:t>
            </a:r>
            <a:r>
              <a:rPr lang="zh-CN" altLang="en-US" sz="750" dirty="0">
                <a:solidFill>
                  <a:srgbClr val="64748B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  <a:sym typeface="+mn-ea"/>
              </a:rPr>
              <a:t>件均</a:t>
            </a:r>
            <a:r>
              <a:rPr lang="en-US" altLang="zh-CN" sz="750" dirty="0">
                <a:solidFill>
                  <a:srgbClr val="64748B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  <a:sym typeface="+mn-ea"/>
              </a:rPr>
              <a:t>58.5W</a:t>
            </a:r>
            <a:endParaRPr lang="en-US" altLang="zh-CN" sz="750" dirty="0">
              <a:solidFill>
                <a:srgbClr val="64748B"/>
              </a:solidFill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-120"/>
              <a:sym typeface="+mn-ea"/>
            </a:endParaRPr>
          </a:p>
        </p:txBody>
      </p:sp>
      <p:sp>
        <p:nvSpPr>
          <p:cNvPr id="31" name="Shape 29"/>
          <p:cNvSpPr/>
          <p:nvPr>
            <p:custDataLst>
              <p:tags r:id="rId13"/>
            </p:custDataLst>
          </p:nvPr>
        </p:nvSpPr>
        <p:spPr>
          <a:xfrm>
            <a:off x="4220210" y="588645"/>
            <a:ext cx="1828800" cy="76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2" name="Shape 30"/>
          <p:cNvSpPr/>
          <p:nvPr>
            <p:custDataLst>
              <p:tags r:id="rId14"/>
            </p:custDataLst>
          </p:nvPr>
        </p:nvSpPr>
        <p:spPr>
          <a:xfrm>
            <a:off x="4220210" y="588645"/>
            <a:ext cx="76200" cy="762000"/>
          </a:xfrm>
          <a:prstGeom prst="rect">
            <a:avLst/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</p:spPr>
      </p:sp>
      <p:sp>
        <p:nvSpPr>
          <p:cNvPr id="33" name="Text 31"/>
          <p:cNvSpPr/>
          <p:nvPr>
            <p:custDataLst>
              <p:tags r:id="rId15"/>
            </p:custDataLst>
          </p:nvPr>
        </p:nvSpPr>
        <p:spPr>
          <a:xfrm>
            <a:off x="4330065" y="643255"/>
            <a:ext cx="1682750" cy="18224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BK </a:t>
            </a:r>
            <a:r>
              <a:rPr lang="en-US" sz="8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W13</a:t>
            </a:r>
            <a:r>
              <a:rPr lang="en-US" sz="8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批核</a:t>
            </a:r>
            <a:endParaRPr lang="en-US" sz="800" dirty="0"/>
          </a:p>
        </p:txBody>
      </p:sp>
      <p:sp>
        <p:nvSpPr>
          <p:cNvPr id="34" name="Text 32"/>
          <p:cNvSpPr/>
          <p:nvPr>
            <p:custDataLst>
              <p:tags r:id="rId16"/>
            </p:custDataLst>
          </p:nvPr>
        </p:nvSpPr>
        <p:spPr>
          <a:xfrm>
            <a:off x="4330065" y="817245"/>
            <a:ext cx="1682750" cy="29781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6C348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1.79M</a:t>
            </a:r>
            <a:endParaRPr lang="en-US" sz="1800" dirty="0"/>
          </a:p>
        </p:txBody>
      </p:sp>
      <p:sp>
        <p:nvSpPr>
          <p:cNvPr id="35" name="Text 33"/>
          <p:cNvSpPr/>
          <p:nvPr>
            <p:custDataLst>
              <p:tags r:id="rId17"/>
            </p:custDataLst>
          </p:nvPr>
        </p:nvSpPr>
        <p:spPr>
          <a:xfrm>
            <a:off x="4330065" y="1127760"/>
            <a:ext cx="1682750" cy="1492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3件 </a:t>
            </a:r>
            <a:r>
              <a:rPr lang="en-US" sz="7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| </a:t>
            </a:r>
            <a:r>
              <a:rPr lang="zh-CN" altLang="en-US" sz="750" dirty="0">
                <a:solidFill>
                  <a:srgbClr val="64748B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  <a:sym typeface="+mn-ea"/>
              </a:rPr>
              <a:t>件均</a:t>
            </a:r>
            <a:r>
              <a:rPr lang="en-US" altLang="zh-CN" sz="750" dirty="0">
                <a:solidFill>
                  <a:srgbClr val="64748B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  <a:sym typeface="+mn-ea"/>
              </a:rPr>
              <a:t>59.8W</a:t>
            </a:r>
            <a:endParaRPr lang="en-US" altLang="zh-CN" sz="750" dirty="0">
              <a:solidFill>
                <a:srgbClr val="64748B"/>
              </a:solidFill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-120"/>
              <a:sym typeface="+mn-ea"/>
            </a:endParaRPr>
          </a:p>
        </p:txBody>
      </p:sp>
      <p:sp>
        <p:nvSpPr>
          <p:cNvPr id="39" name="Shape 36"/>
          <p:cNvSpPr/>
          <p:nvPr/>
        </p:nvSpPr>
        <p:spPr>
          <a:xfrm>
            <a:off x="100330" y="1466977"/>
            <a:ext cx="5971032" cy="256032"/>
          </a:xfrm>
          <a:prstGeom prst="rect">
            <a:avLst/>
          </a:prstGeom>
          <a:solidFill>
            <a:srgbClr val="6C3483"/>
          </a:solidFill>
          <a:ln w="12700">
            <a:solidFill>
              <a:srgbClr val="7B241C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210058" y="1466977"/>
            <a:ext cx="583387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AB  W01–W13 银行 预约/签单/批核  APE趋势（M）</a:t>
            </a:r>
            <a:endParaRPr lang="en-US" sz="950" dirty="0"/>
          </a:p>
        </p:txBody>
      </p:sp>
      <p:graphicFrame>
        <p:nvGraphicFramePr>
          <p:cNvPr id="41" name="Chart 1"/>
          <p:cNvGraphicFramePr/>
          <p:nvPr/>
        </p:nvGraphicFramePr>
        <p:xfrm>
          <a:off x="177800" y="1881505"/>
          <a:ext cx="5789930" cy="190436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45" name="Shape 40"/>
          <p:cNvSpPr/>
          <p:nvPr/>
        </p:nvSpPr>
        <p:spPr>
          <a:xfrm>
            <a:off x="57150" y="4636135"/>
            <a:ext cx="6014085" cy="247015"/>
          </a:xfrm>
          <a:prstGeom prst="rect">
            <a:avLst/>
          </a:prstGeom>
          <a:solidFill>
            <a:srgbClr val="1B4F72"/>
          </a:solidFill>
          <a:ln w="12700">
            <a:solidFill>
              <a:srgbClr val="002060"/>
            </a:solidFill>
            <a:prstDash val="solid"/>
          </a:ln>
        </p:spPr>
      </p:sp>
      <p:sp>
        <p:nvSpPr>
          <p:cNvPr id="46" name="Text 41"/>
          <p:cNvSpPr/>
          <p:nvPr/>
        </p:nvSpPr>
        <p:spPr>
          <a:xfrm>
            <a:off x="133350" y="4627245"/>
            <a:ext cx="2510155" cy="2559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1B4F72"/>
                </a:solidFill>
              </a14:hiddenFill>
            </a:ext>
          </a:extLst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AC W13 银行 KA 本周业绩详情（M）</a:t>
            </a:r>
            <a:endParaRPr lang="en-US" sz="950" dirty="0"/>
          </a:p>
        </p:txBody>
      </p:sp>
      <p:graphicFrame>
        <p:nvGraphicFramePr>
          <p:cNvPr id="47" name="Table 1"/>
          <p:cNvGraphicFramePr>
            <a:graphicFrameLocks noGrp="1"/>
          </p:cNvGraphicFramePr>
          <p:nvPr>
            <p:custDataLst>
              <p:tags r:id="rId18"/>
            </p:custDataLst>
          </p:nvPr>
        </p:nvGraphicFramePr>
        <p:xfrm>
          <a:off x="59055" y="4928870"/>
          <a:ext cx="6012815" cy="1172845"/>
        </p:xfrm>
        <a:graphic>
          <a:graphicData uri="http://schemas.openxmlformats.org/drawingml/2006/table">
            <a:tbl>
              <a:tblPr/>
              <a:tblGrid>
                <a:gridCol w="927100"/>
                <a:gridCol w="798195"/>
                <a:gridCol w="856615"/>
                <a:gridCol w="791086"/>
                <a:gridCol w="921958"/>
                <a:gridCol w="772160"/>
                <a:gridCol w="945701"/>
              </a:tblGrid>
              <a:tr h="401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KEY ACCOUNT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本周预约</a:t>
                      </a:r>
                      <a:endParaRPr lang="en-US" sz="900" b="1" dirty="0">
                        <a:solidFill>
                          <a:srgbClr val="FFFFFF"/>
                        </a:solidFill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(M)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本周</a:t>
                      </a:r>
                      <a:r>
                        <a:rPr lang="zh-CN" altLang="en-US" sz="900" b="1" dirty="0">
                          <a:solidFill>
                            <a:srgbClr val="FFFFFF"/>
                          </a:solidFill>
                        </a:rPr>
                        <a:t>预约</a:t>
                      </a:r>
                      <a:endParaRPr lang="zh-CN" altLang="en-US" sz="900" b="1" dirty="0">
                        <a:solidFill>
                          <a:srgbClr val="FFFFFF"/>
                        </a:solidFill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(</a:t>
                      </a:r>
                      <a:r>
                        <a:rPr lang="zh-CN" altLang="en-US" sz="900" b="1" dirty="0">
                          <a:solidFill>
                            <a:srgbClr val="FFFFFF"/>
                          </a:solidFill>
                        </a:rPr>
                        <a:t>件数</a:t>
                      </a: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)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本周签单</a:t>
                      </a:r>
                      <a:endParaRPr lang="en-US" sz="900" b="1" dirty="0">
                        <a:solidFill>
                          <a:srgbClr val="FFFFFF"/>
                        </a:solidFill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(M)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sym typeface="+mn-ea"/>
                        </a:rPr>
                        <a:t>本周签单</a:t>
                      </a:r>
                      <a:endParaRPr lang="en-US" sz="900" b="1" dirty="0">
                        <a:solidFill>
                          <a:srgbClr val="FFFFFF"/>
                        </a:solidFill>
                        <a:sym typeface="+mn-ea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sym typeface="+mn-ea"/>
                        </a:rPr>
                        <a:t>(</a:t>
                      </a:r>
                      <a:r>
                        <a:rPr lang="zh-CN" altLang="en-US" sz="900" b="1" dirty="0">
                          <a:solidFill>
                            <a:srgbClr val="FFFFFF"/>
                          </a:solidFill>
                          <a:sym typeface="+mn-ea"/>
                        </a:rPr>
                        <a:t>件数</a:t>
                      </a:r>
                      <a:r>
                        <a:rPr lang="en-US" sz="900" b="1" dirty="0">
                          <a:solidFill>
                            <a:srgbClr val="FFFFFF"/>
                          </a:solidFill>
                          <a:sym typeface="+mn-ea"/>
                        </a:rPr>
                        <a:t>)</a:t>
                      </a:r>
                      <a:endParaRPr lang="en-US" altLang="en-US" sz="9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本周批核(M)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sym typeface="+mn-ea"/>
                        </a:rPr>
                        <a:t>本周批核</a:t>
                      </a:r>
                      <a:endParaRPr lang="en-US" sz="900" b="1" dirty="0">
                        <a:solidFill>
                          <a:srgbClr val="FFFFFF"/>
                        </a:solidFill>
                        <a:sym typeface="+mn-ea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sym typeface="+mn-ea"/>
                        </a:rPr>
                        <a:t>(</a:t>
                      </a:r>
                      <a:r>
                        <a:rPr lang="zh-CN" altLang="en-US" sz="900" b="1" dirty="0">
                          <a:solidFill>
                            <a:srgbClr val="FFFFFF"/>
                          </a:solidFill>
                          <a:sym typeface="+mn-ea"/>
                        </a:rPr>
                        <a:t>件数</a:t>
                      </a:r>
                      <a:r>
                        <a:rPr lang="en-US" sz="900" b="1" dirty="0">
                          <a:solidFill>
                            <a:srgbClr val="FFFFFF"/>
                          </a:solidFill>
                          <a:sym typeface="+mn-ea"/>
                        </a:rPr>
                        <a:t>)</a:t>
                      </a:r>
                      <a:endParaRPr lang="en-US" altLang="en-US" sz="9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</a:tr>
              <a:tr h="25717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1A1A2E"/>
                          </a:solidFill>
                        </a:rPr>
                        <a:t>民生银行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B4F72"/>
                          </a:solidFill>
                        </a:rPr>
                        <a:t>0.00M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17A65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17A65"/>
                          </a:solidFill>
                        </a:rPr>
                        <a:t>2.73M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17A65"/>
                          </a:solidFill>
                          <a:sym typeface="+mn-ea"/>
                        </a:rPr>
                        <a:t>5</a:t>
                      </a:r>
                      <a:endParaRPr lang="en-US" altLang="en-US" sz="9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00796B"/>
                          </a:solidFill>
                        </a:rPr>
                        <a:t>1.79M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00796B"/>
                          </a:solidFill>
                        </a:rPr>
                        <a:t>3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717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1A1A2E"/>
                          </a:solidFill>
                        </a:rPr>
                        <a:t>平安银行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B4F72"/>
                          </a:solidFill>
                          <a:sym typeface="+mn-ea"/>
                        </a:rPr>
                        <a:t>0.00M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17A65"/>
                          </a:solidFill>
                          <a:sym typeface="+mn-ea"/>
                        </a:rPr>
                        <a:t>0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17A65"/>
                          </a:solidFill>
                          <a:sym typeface="+mn-ea"/>
                        </a:rPr>
                        <a:t>0.78M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17A65"/>
                          </a:solidFill>
                          <a:sym typeface="+mn-ea"/>
                        </a:rPr>
                        <a:t>1</a:t>
                      </a:r>
                      <a:endParaRPr lang="en-US" altLang="en-US" sz="9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00796B"/>
                          </a:solidFill>
                        </a:rPr>
                        <a:t>0.00M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00796B"/>
                          </a:solidFill>
                        </a:rPr>
                        <a:t>0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717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银行合计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 0.00M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 0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  3.51M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sym typeface="+mn-ea"/>
                        </a:rPr>
                        <a:t>6</a:t>
                      </a:r>
                      <a:endParaRPr lang="en-US" altLang="en-US" sz="9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1.79M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sym typeface="+mn-ea"/>
                        </a:rPr>
                        <a:t>3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</a:tr>
            </a:tbl>
          </a:graphicData>
        </a:graphic>
      </p:graphicFrame>
      <p:sp>
        <p:nvSpPr>
          <p:cNvPr id="48" name="Shape 42"/>
          <p:cNvSpPr/>
          <p:nvPr/>
        </p:nvSpPr>
        <p:spPr>
          <a:xfrm>
            <a:off x="60325" y="6198235"/>
            <a:ext cx="6011545" cy="501650"/>
          </a:xfrm>
          <a:prstGeom prst="rect">
            <a:avLst/>
          </a:prstGeom>
          <a:solidFill>
            <a:srgbClr val="F0F7FF"/>
          </a:solidFill>
          <a:ln w="12700">
            <a:solidFill>
              <a:srgbClr val="BFDBFE"/>
            </a:solidFill>
            <a:prstDash val="solid"/>
          </a:ln>
        </p:spPr>
        <p:txBody>
          <a:bodyPr/>
          <a:p>
            <a:endParaRPr lang="zh-CN" altLang="en-US"/>
          </a:p>
        </p:txBody>
      </p:sp>
      <p:sp>
        <p:nvSpPr>
          <p:cNvPr id="49" name="Text 43"/>
          <p:cNvSpPr/>
          <p:nvPr/>
        </p:nvSpPr>
        <p:spPr>
          <a:xfrm>
            <a:off x="109220" y="6248400"/>
            <a:ext cx="5935345" cy="4699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dirty="0">
                <a:solidFill>
                  <a:schemeClr val="accent5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 What：</a:t>
            </a: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 </a:t>
            </a:r>
            <a:endParaRPr lang="en-US" sz="800" dirty="0">
              <a:solidFill>
                <a:srgbClr val="374151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  <a:p>
            <a:pPr marL="0" indent="0">
              <a:buNone/>
            </a:pPr>
            <a:r>
              <a:rPr lang="en-US" sz="7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银行W13：民生签单2.73M/批核1.79M，预约归零（节后假期影响）；平安签单0.78M，批核零产出。W13递交39.7M（含大量3月积压件）是Q2批核的最大利好信号，预计未来2-4周内将集中释放批核。</a:t>
            </a:r>
            <a:endParaRPr lang="en-US" sz="700" dirty="0">
              <a:solidFill>
                <a:srgbClr val="374151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51" name="Text 1"/>
          <p:cNvSpPr/>
          <p:nvPr/>
        </p:nvSpPr>
        <p:spPr>
          <a:xfrm>
            <a:off x="228600" y="38100"/>
            <a:ext cx="96012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algn="l">
              <a:buClrTx/>
              <a:buSzTx/>
              <a:buFontTx/>
              <a:buNone/>
            </a:pPr>
            <a:r>
              <a:rPr lang="zh-CN" alt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银行</a:t>
            </a: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业绩分析仪表盘 </a:t>
            </a: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 |</a:t>
            </a: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Bank</a:t>
            </a: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 View</a:t>
            </a:r>
            <a:endParaRPr lang="en-US" sz="1200" b="1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4007" name="sw_bg_4007"/>
          <p:cNvSpPr/>
          <p:nvPr/>
        </p:nvSpPr>
        <p:spPr>
          <a:xfrm>
            <a:off x="100965" y="3980815"/>
            <a:ext cx="5955030" cy="528320"/>
          </a:xfrm>
          <a:prstGeom prst="rect">
            <a:avLst/>
          </a:prstGeom>
          <a:solidFill>
            <a:srgbClr val="EEF2FF"/>
          </a:solidFill>
          <a:ln w="9525">
            <a:solidFill>
              <a:srgbClr val="BFDBFE"/>
            </a:solidFill>
          </a:ln>
        </p:spPr>
        <p:txBody>
          <a:bodyPr/>
          <a:p>
            <a:endParaRPr lang="zh-CN" altLang="en-US"/>
          </a:p>
        </p:txBody>
      </p:sp>
      <p:sp>
        <p:nvSpPr>
          <p:cNvPr id="37" name="sw_4007"/>
          <p:cNvSpPr/>
          <p:nvPr/>
        </p:nvSpPr>
        <p:spPr>
          <a:xfrm>
            <a:off x="100965" y="4006215"/>
            <a:ext cx="5942965" cy="341630"/>
          </a:xfrm>
          <a:prstGeom prst="rect">
            <a:avLst/>
          </a:prstGeom>
          <a:noFill/>
        </p:spPr>
        <p:txBody>
          <a:bodyPr wrap="square" lIns="45720" tIns="0" rIns="45720" bIns="0" rtlCol="0" anchor="t"/>
          <a:lstStyle/>
          <a:p>
            <a:pPr marL="0" indent="0">
              <a:buNone/>
            </a:pPr>
            <a:r>
              <a:rPr lang="zh-CN" sz="800" b="1" dirty="0">
                <a:solidFill>
                  <a:srgbClr val="1A3A5C"/>
                </a:solidFill>
                <a:latin typeface="Calibri" panose="020F0502020204030204" pitchFamily="34" charset="0"/>
                <a:ea typeface="Calibri" panose="020F0502020204030204" pitchFamily="34" charset="-122"/>
              </a:rPr>
              <a:t>So What：</a:t>
            </a:r>
            <a:r>
              <a:rPr lang="zh-CN" sz="780" b="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</a:rPr>
              <a:t> </a:t>
            </a:r>
            <a:endParaRPr lang="zh-CN" sz="780" b="0" dirty="0">
              <a:solidFill>
                <a:srgbClr val="374151"/>
              </a:solidFill>
              <a:latin typeface="Calibri" panose="020F0502020204030204" pitchFamily="34" charset="0"/>
              <a:ea typeface="Calibri" panose="020F0502020204030204" pitchFamily="34" charset="-122"/>
            </a:endParaRPr>
          </a:p>
          <a:p>
            <a:pPr marL="0" indent="0">
              <a:buNone/>
            </a:pPr>
            <a:r>
              <a:rPr lang="zh-CN" sz="700" b="0" dirty="0">
                <a:solidFill>
                  <a:srgbClr val="374151"/>
                </a:solidFill>
                <a:uFillTx/>
                <a:latin typeface="Calibri" panose="020F0502020204030204" pitchFamily="34" charset="0"/>
                <a:ea typeface="Calibri" panose="020F0502020204030204" pitchFamily="34" charset="-122"/>
              </a:rPr>
              <a:t> W08批核峰值46.9M为全年迄今最高单周，由民生大额集中放款驱动，非可持续常态。W11批核35.96M为第二峰，显示积压件的波动性清转模式。W12批核5.85M回落至正常区间——批核高峰期已过，预示4月起进入「新增件匀速消化」阶段。预约端W12 1.95M偏低，但3月末整体预约回升，Q2前端动能已蓄积。核心行动：推动平安银行尽快递交新件，并密切跟进民生未批核63.5M（55件）的清转时间节点。</a:t>
            </a:r>
            <a:endParaRPr lang="zh-CN" sz="700" b="0" dirty="0">
              <a:solidFill>
                <a:srgbClr val="374151"/>
              </a:solidFill>
              <a:uFillTx/>
              <a:latin typeface="Calibri" panose="020F0502020204030204" pitchFamily="34" charset="0"/>
              <a:ea typeface="Calibri" panose="020F0502020204030204" pitchFamily="34" charset="-122"/>
            </a:endParaRPr>
          </a:p>
        </p:txBody>
      </p:sp>
      <p:sp>
        <p:nvSpPr>
          <p:cNvPr id="36" name="Text 2"/>
          <p:cNvSpPr/>
          <p:nvPr/>
        </p:nvSpPr>
        <p:spPr>
          <a:xfrm>
            <a:off x="10515600" y="109728"/>
            <a:ext cx="15087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BC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内部文件 · 仅供使用</a:t>
            </a:r>
            <a:endParaRPr lang="en-US" sz="900" dirty="0"/>
          </a:p>
        </p:txBody>
      </p:sp>
      <p:sp>
        <p:nvSpPr>
          <p:cNvPr id="52" name="文本框 51"/>
          <p:cNvSpPr txBox="1"/>
          <p:nvPr/>
        </p:nvSpPr>
        <p:spPr>
          <a:xfrm>
            <a:off x="3048000" y="3314065"/>
            <a:ext cx="6096000" cy="2298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indent="0">
              <a:buNone/>
            </a:pPr>
            <a:r>
              <a:rPr lang="zh-CN" sz="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批核 Approved  |  APE(M)  件数</a:t>
            </a:r>
            <a:endParaRPr lang="zh-CN" altLang="en-US" sz="900" b="1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  <a:sym typeface="+mn-ea"/>
            </a:endParaRPr>
          </a:p>
        </p:txBody>
      </p:sp>
      <p:graphicFrame>
        <p:nvGraphicFramePr>
          <p:cNvPr id="8" name="Chart 0"/>
          <p:cNvGraphicFramePr/>
          <p:nvPr>
            <p:custDataLst>
              <p:tags r:id="rId19"/>
            </p:custDataLst>
          </p:nvPr>
        </p:nvGraphicFramePr>
        <p:xfrm>
          <a:off x="6320790" y="1102995"/>
          <a:ext cx="5703570" cy="55346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0" name="Shape 36"/>
          <p:cNvSpPr/>
          <p:nvPr/>
        </p:nvSpPr>
        <p:spPr>
          <a:xfrm>
            <a:off x="6198235" y="647065"/>
            <a:ext cx="5839460" cy="255905"/>
          </a:xfrm>
          <a:prstGeom prst="rect">
            <a:avLst/>
          </a:prstGeom>
          <a:solidFill>
            <a:srgbClr val="6B2737"/>
          </a:solidFill>
          <a:ln w="12700">
            <a:solidFill>
              <a:srgbClr val="7B241C"/>
            </a:solidFill>
            <a:prstDash val="solid"/>
          </a:ln>
        </p:spPr>
      </p:sp>
      <p:sp>
        <p:nvSpPr>
          <p:cNvPr id="11" name="Text 37"/>
          <p:cNvSpPr/>
          <p:nvPr/>
        </p:nvSpPr>
        <p:spPr>
          <a:xfrm>
            <a:off x="6308090" y="647065"/>
            <a:ext cx="4993640" cy="2559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AD  </a:t>
            </a:r>
            <a:r>
              <a:rPr lang="zh-CN" altLang="en-US" sz="950" b="1" dirty="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各分行</a:t>
            </a:r>
            <a:r>
              <a:rPr lang="en-US" altLang="zh-CN" sz="950" b="1" dirty="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2026</a:t>
            </a:r>
            <a:r>
              <a:rPr lang="zh-CN" altLang="en-US" sz="950" b="1" dirty="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年批核</a:t>
            </a:r>
            <a:r>
              <a:rPr lang="en-US" altLang="zh-CN" sz="950" b="1" dirty="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APE</a:t>
            </a:r>
            <a:r>
              <a:rPr lang="zh-CN" altLang="en-US" sz="950" b="1" dirty="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业绩排名</a:t>
            </a:r>
            <a:r>
              <a:rPr lang="en-US" sz="9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（M）</a:t>
            </a:r>
            <a:endParaRPr lang="en-US" sz="950" dirty="0"/>
          </a:p>
        </p:txBody>
      </p:sp>
      <p:sp>
        <p:nvSpPr>
          <p:cNvPr id="4003" name="sw_bg_4003"/>
          <p:cNvSpPr/>
          <p:nvPr/>
        </p:nvSpPr>
        <p:spPr>
          <a:xfrm>
            <a:off x="6198235" y="6160135"/>
            <a:ext cx="5853430" cy="563245"/>
          </a:xfrm>
          <a:prstGeom prst="rect">
            <a:avLst/>
          </a:prstGeom>
          <a:solidFill>
            <a:srgbClr val="FDF2F2"/>
          </a:solidFill>
          <a:ln w="9525">
            <a:solidFill>
              <a:srgbClr val="E8D5D5"/>
            </a:solidFill>
          </a:ln>
        </p:spPr>
        <p:txBody>
          <a:bodyPr/>
          <a:p>
            <a:endParaRPr lang="zh-CN" altLang="en-US"/>
          </a:p>
        </p:txBody>
      </p:sp>
      <p:sp>
        <p:nvSpPr>
          <p:cNvPr id="12" name="sw_4003"/>
          <p:cNvSpPr/>
          <p:nvPr/>
        </p:nvSpPr>
        <p:spPr>
          <a:xfrm>
            <a:off x="6198235" y="6223000"/>
            <a:ext cx="5854065" cy="476885"/>
          </a:xfrm>
          <a:prstGeom prst="rect">
            <a:avLst/>
          </a:prstGeom>
          <a:noFill/>
        </p:spPr>
        <p:txBody>
          <a:bodyPr wrap="square" lIns="45720" tIns="0" rIns="45720" bIns="0" rtlCol="0" anchor="t"/>
          <a:lstStyle/>
          <a:p>
            <a:pPr marL="0" indent="0">
              <a:buNone/>
            </a:pPr>
            <a:r>
              <a:rPr lang="zh-CN" sz="800" b="1" dirty="0">
                <a:solidFill>
                  <a:srgbClr val="7B241C"/>
                </a:solidFill>
                <a:latin typeface="Calibri" panose="020F0502020204030204" pitchFamily="34" charset="0"/>
                <a:ea typeface="Calibri" panose="020F0502020204030204" pitchFamily="34" charset="-122"/>
              </a:rPr>
              <a:t>So What：</a:t>
            </a:r>
            <a:endParaRPr lang="zh-CN" sz="800" b="1" dirty="0">
              <a:solidFill>
                <a:srgbClr val="7B241C"/>
              </a:solidFill>
              <a:latin typeface="Calibri" panose="020F0502020204030204" pitchFamily="34" charset="0"/>
              <a:ea typeface="Calibri" panose="020F0502020204030204" pitchFamily="34" charset="-122"/>
            </a:endParaRPr>
          </a:p>
          <a:p>
            <a:pPr marL="0" indent="0">
              <a:buNone/>
            </a:pPr>
            <a:r>
              <a:rPr lang="zh-CN" sz="78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sym typeface="+mn-ea"/>
              </a:rPr>
              <a:t>民生广州以29.3M居榜首，平安香港28.8M紧随（唯一跻身前五的非民生分行），件均高达221.5万，大额单效率突出。前四行（广州/平安港/上海/南京）合计105.9M，占总批核62%，头部集中度显著。民生北京及以下14行合计45.0M（占28%），中尾部产能释放空间大；Q2建议重点推动北京、杭州加快新件递交，拉齐头部节奏。</a:t>
            </a:r>
            <a:endParaRPr lang="zh-CN" sz="780" b="0" dirty="0">
              <a:solidFill>
                <a:srgbClr val="374151"/>
              </a:solidFill>
              <a:latin typeface="Calibri" panose="020F0502020204030204" pitchFamily="34" charset="0"/>
              <a:ea typeface="Calibri" panose="020F0502020204030204" pitchFamily="34" charset="-122"/>
            </a:endParaRPr>
          </a:p>
          <a:p>
            <a:pPr marL="0" indent="0">
              <a:buNone/>
            </a:pPr>
            <a:r>
              <a:rPr lang="zh-CN" sz="780" b="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</a:rPr>
              <a:t>  </a:t>
            </a:r>
            <a:endParaRPr lang="zh-CN" sz="780" b="0" dirty="0">
              <a:solidFill>
                <a:srgbClr val="374151"/>
              </a:solidFill>
              <a:latin typeface="Calibri" panose="020F0502020204030204" pitchFamily="34" charset="0"/>
              <a:ea typeface="Calibri" panose="020F0502020204030204" pitchFamily="34" charset="-122"/>
            </a:endParaRPr>
          </a:p>
        </p:txBody>
      </p:sp>
      <p:sp>
        <p:nvSpPr>
          <p:cNvPr id="471" name="Shape 255"/>
          <p:cNvSpPr/>
          <p:nvPr/>
        </p:nvSpPr>
        <p:spPr>
          <a:xfrm flipV="1">
            <a:off x="6198235" y="6151245"/>
            <a:ext cx="5892165" cy="54000"/>
          </a:xfrm>
          <a:prstGeom prst="rect">
            <a:avLst/>
          </a:prstGeom>
          <a:solidFill>
            <a:srgbClr val="7B241C"/>
          </a:solidFill>
          <a:ln w="12700">
            <a:solidFill>
              <a:srgbClr val="7B241C"/>
            </a:solidFill>
            <a:prstDash val="solid"/>
          </a:ln>
        </p:spPr>
      </p:sp>
      <p:sp>
        <p:nvSpPr>
          <p:cNvPr id="81" name="Shape 78"/>
          <p:cNvSpPr/>
          <p:nvPr/>
        </p:nvSpPr>
        <p:spPr>
          <a:xfrm flipV="1">
            <a:off x="71120" y="6170930"/>
            <a:ext cx="5981065" cy="540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ipe/>
      </p:transition>
    </mc:Choice>
    <mc:Fallback>
      <p:transition spd="slow">
        <p:wipe/>
      </p:transition>
    </mc:Fallback>
  </mc:AlternateContent>
</p:sld>
</file>

<file path=ppt/tags/tag1.xml><?xml version="1.0" encoding="utf-8"?>
<p:tagLst xmlns:p="http://schemas.openxmlformats.org/presentationml/2006/main">
  <p:tag name="KSO_DOCER_RESOURCE_TRACE_INFO" val="{&quot;id&quot;:&quot;21573901&quot;,&quot;origin&quot;:0,&quot;type&quot;:&quot;icons&quot;,&quot;user&quot;:&quot;641547233&quot;}"/>
</p:tagLst>
</file>

<file path=ppt/tags/tag2.xml><?xml version="1.0" encoding="utf-8"?>
<p:tagLst xmlns:p="http://schemas.openxmlformats.org/presentationml/2006/main">
  <p:tag name="KSO_DOCER_RESOURCE_TRACE_INFO" val="{&quot;id&quot;:&quot;21573901&quot;,&quot;origin&quot;:0,&quot;type&quot;:&quot;icons&quot;,&quot;user&quot;:&quot;641547233&quot;}"/>
</p:tagLst>
</file>

<file path=ppt/tags/tag3.xml><?xml version="1.0" encoding="utf-8"?>
<p:tagLst xmlns:p="http://schemas.openxmlformats.org/presentationml/2006/main">
  <p:tag name="KSO_DOCER_RESOURCE_TRACE_INFO" val="{&quot;id&quot;:&quot;21573901&quot;,&quot;origin&quot;:0,&quot;type&quot;:&quot;icons&quot;,&quot;user&quot;:&quot;641547233&quot;}"/>
</p:tagLst>
</file>

<file path=ppt/tags/tag4.xml><?xml version="1.0" encoding="utf-8"?>
<p:tagLst xmlns:p="http://schemas.openxmlformats.org/presentationml/2006/main">
  <p:tag name="KSO_DOCER_RESOURCE_TRACE_INFO" val="{&quot;id&quot;:&quot;21573901&quot;,&quot;origin&quot;:0,&quot;type&quot;:&quot;icons&quot;,&quot;user&quot;:&quot;641547233&quot;}"/>
</p:tagLst>
</file>

<file path=ppt/tags/tag5.xml><?xml version="1.0" encoding="utf-8"?>
<p:tagLst xmlns:p="http://schemas.openxmlformats.org/presentationml/2006/main">
  <p:tag name="KSO_DOCER_RESOURCE_TRACE_INFO" val="{&quot;id&quot;:&quot;21573901&quot;,&quot;origin&quot;:0,&quot;type&quot;:&quot;icons&quot;,&quot;user&quot;:&quot;641547233&quot;}"/>
</p:tagLst>
</file>

<file path=ppt/tags/tag6.xml><?xml version="1.0" encoding="utf-8"?>
<p:tagLst xmlns:p="http://schemas.openxmlformats.org/presentationml/2006/main">
  <p:tag name="KSO_DOCER_RESOURCE_TRACE_INFO" val="{&quot;id&quot;:&quot;21573901&quot;,&quot;origin&quot;:0,&quot;type&quot;:&quot;icons&quot;,&quot;user&quot;:&quot;641547233&quot;}"/>
</p:tagLst>
</file>

<file path=ppt/tags/tag7.xml><?xml version="1.0" encoding="utf-8"?>
<p:tagLst xmlns:p="http://schemas.openxmlformats.org/presentationml/2006/main">
  <p:tag name="KSO_DOCER_RESOURCE_TRACE_INFO" val="{&quot;id&quot;:&quot;21573901&quot;,&quot;origin&quot;:0,&quot;type&quot;:&quot;icons&quot;,&quot;user&quot;:&quot;641547233&quot;}"/>
</p:tagLst>
</file>

<file path=ppt/tags/tag8.xml><?xml version="1.0" encoding="utf-8"?>
<p:tagLst xmlns:p="http://schemas.openxmlformats.org/presentationml/2006/main">
  <p:tag name="KSO_DOCER_RESOURCE_TRACE_INFO" val="{&quot;id&quot;:&quot;21573901&quot;,&quot;origin&quot;:0,&quot;type&quot;:&quot;icons&quot;,&quot;user&quot;:&quot;641547233&quot;}"/>
</p:tagLst>
</file>

<file path=ppt/tags/tag9.xml><?xml version="1.0" encoding="utf-8"?>
<p:tagLst xmlns:p="http://schemas.openxmlformats.org/presentationml/2006/main">
  <p:tag name="KSO_DOCER_RESOURCE_TRACE_INFO" val="{&quot;id&quot;:&quot;21573901&quot;,&quot;origin&quot;:0,&quot;type&quot;:&quot;icons&quot;,&quot;user&quot;:&quot;641547233&quot;}"/>
</p:tagLst>
</file>

<file path=ppt/tags/tag10.xml><?xml version="1.0" encoding="utf-8"?>
<p:tagLst xmlns:p="http://schemas.openxmlformats.org/presentationml/2006/main">
  <p:tag name="KSO_WM_DIAGRAM_VIRTUALLY_FRAME" val="{&quot;height&quot;:69.39000000000001,&quot;left&quot;:7.2,&quot;top&quot;:46.58999999999999,&quot;width&quot;:935.25}"/>
</p:tagLst>
</file>

<file path=ppt/tags/tag11.xml><?xml version="1.0" encoding="utf-8"?>
<p:tagLst xmlns:p="http://schemas.openxmlformats.org/presentationml/2006/main">
  <p:tag name="KSO_WM_DIAGRAM_VIRTUALLY_FRAME" val="{&quot;height&quot;:69.39000000000001,&quot;left&quot;:7.2,&quot;top&quot;:46.58999999999999,&quot;width&quot;:935.25}"/>
</p:tagLst>
</file>

<file path=ppt/tags/tag12.xml><?xml version="1.0" encoding="utf-8"?>
<p:tagLst xmlns:p="http://schemas.openxmlformats.org/presentationml/2006/main">
  <p:tag name="KSO_WM_DIAGRAM_VIRTUALLY_FRAME" val="{&quot;height&quot;:69.39000000000001,&quot;left&quot;:7.2,&quot;top&quot;:46.58999999999999,&quot;width&quot;:935.25}"/>
</p:tagLst>
</file>

<file path=ppt/tags/tag13.xml><?xml version="1.0" encoding="utf-8"?>
<p:tagLst xmlns:p="http://schemas.openxmlformats.org/presentationml/2006/main">
  <p:tag name="KSO_WM_DIAGRAM_VIRTUALLY_FRAME" val="{&quot;height&quot;:616.1499999999999,&quot;left&quot;:10.2,&quot;top&quot;:46.45,&quot;width&quot;:482.2}"/>
</p:tagLst>
</file>

<file path=ppt/tags/tag14.xml><?xml version="1.0" encoding="utf-8"?>
<p:tagLst xmlns:p="http://schemas.openxmlformats.org/presentationml/2006/main">
  <p:tag name="KSO_WM_DIAGRAM_VIRTUALLY_FRAME" val="{&quot;height&quot;:616.1499999999999,&quot;left&quot;:10.2,&quot;top&quot;:46.45,&quot;width&quot;:482.2}"/>
</p:tagLst>
</file>

<file path=ppt/tags/tag15.xml><?xml version="1.0" encoding="utf-8"?>
<p:tagLst xmlns:p="http://schemas.openxmlformats.org/presentationml/2006/main">
  <p:tag name="KSO_WM_DIAGRAM_VIRTUALLY_FRAME" val="{&quot;height&quot;:616.1499999999999,&quot;left&quot;:10.2,&quot;top&quot;:46.45,&quot;width&quot;:482.2}"/>
</p:tagLst>
</file>

<file path=ppt/tags/tag16.xml><?xml version="1.0" encoding="utf-8"?>
<p:tagLst xmlns:p="http://schemas.openxmlformats.org/presentationml/2006/main">
  <p:tag name="KSO_WM_DIAGRAM_VIRTUALLY_FRAME" val="{&quot;height&quot;:616.1499999999999,&quot;left&quot;:10.2,&quot;top&quot;:46.45,&quot;width&quot;:482.2}"/>
</p:tagLst>
</file>

<file path=ppt/tags/tag17.xml><?xml version="1.0" encoding="utf-8"?>
<p:tagLst xmlns:p="http://schemas.openxmlformats.org/presentationml/2006/main">
  <p:tag name="KSO_WM_DIAGRAM_VIRTUALLY_FRAME" val="{&quot;height&quot;:616.1499999999999,&quot;left&quot;:10.2,&quot;top&quot;:46.45,&quot;width&quot;:482.2}"/>
</p:tagLst>
</file>

<file path=ppt/tags/tag18.xml><?xml version="1.0" encoding="utf-8"?>
<p:tagLst xmlns:p="http://schemas.openxmlformats.org/presentationml/2006/main">
  <p:tag name="KSO_WM_DIAGRAM_VIRTUALLY_FRAME" val="{&quot;height&quot;:616.1499999999999,&quot;left&quot;:10.2,&quot;top&quot;:46.45,&quot;width&quot;:482.2}"/>
</p:tagLst>
</file>

<file path=ppt/tags/tag19.xml><?xml version="1.0" encoding="utf-8"?>
<p:tagLst xmlns:p="http://schemas.openxmlformats.org/presentationml/2006/main">
  <p:tag name="KSO_WM_DIAGRAM_VIRTUALLY_FRAME" val="{&quot;height&quot;:616.1499999999999,&quot;left&quot;:10.2,&quot;top&quot;:46.45,&quot;width&quot;:482.2}"/>
</p:tagLst>
</file>

<file path=ppt/tags/tag20.xml><?xml version="1.0" encoding="utf-8"?>
<p:tagLst xmlns:p="http://schemas.openxmlformats.org/presentationml/2006/main">
  <p:tag name="KSO_WM_DIAGRAM_VIRTUALLY_FRAME" val="{&quot;height&quot;:616.1499999999999,&quot;left&quot;:10.2,&quot;top&quot;:46.45,&quot;width&quot;:482.2}"/>
</p:tagLst>
</file>

<file path=ppt/tags/tag21.xml><?xml version="1.0" encoding="utf-8"?>
<p:tagLst xmlns:p="http://schemas.openxmlformats.org/presentationml/2006/main">
  <p:tag name="KSO_WM_DIAGRAM_VIRTUALLY_FRAME" val="{&quot;height&quot;:616.1499999999999,&quot;left&quot;:10.2,&quot;top&quot;:46.45,&quot;width&quot;:482.2}"/>
</p:tagLst>
</file>

<file path=ppt/tags/tag22.xml><?xml version="1.0" encoding="utf-8"?>
<p:tagLst xmlns:p="http://schemas.openxmlformats.org/presentationml/2006/main">
  <p:tag name="KSO_WM_DIAGRAM_VIRTUALLY_FRAME" val="{&quot;height&quot;:616.1499999999999,&quot;left&quot;:10.2,&quot;top&quot;:46.45,&quot;width&quot;:482.2}"/>
</p:tagLst>
</file>

<file path=ppt/tags/tag23.xml><?xml version="1.0" encoding="utf-8"?>
<p:tagLst xmlns:p="http://schemas.openxmlformats.org/presentationml/2006/main">
  <p:tag name="KSO_WM_DIAGRAM_VIRTUALLY_FRAME" val="{&quot;height&quot;:616.1499999999999,&quot;left&quot;:10.2,&quot;top&quot;:46.45,&quot;width&quot;:482.2}"/>
</p:tagLst>
</file>

<file path=ppt/tags/tag24.xml><?xml version="1.0" encoding="utf-8"?>
<p:tagLst xmlns:p="http://schemas.openxmlformats.org/presentationml/2006/main">
  <p:tag name="KSO_WM_DIAGRAM_VIRTUALLY_FRAME" val="{&quot;height&quot;:69.39000000000001,&quot;left&quot;:7.2,&quot;top&quot;:46.58999999999999,&quot;width&quot;:935.25}"/>
</p:tagLst>
</file>

<file path=ppt/tags/tag25.xml><?xml version="1.0" encoding="utf-8"?>
<p:tagLst xmlns:p="http://schemas.openxmlformats.org/presentationml/2006/main">
  <p:tag name="KSO_WM_DIAGRAM_VIRTUALLY_FRAME" val="{&quot;height&quot;:69.39000000000001,&quot;left&quot;:7.2,&quot;top&quot;:46.58999999999999,&quot;width&quot;:935.25}"/>
</p:tagLst>
</file>

<file path=ppt/tags/tag26.xml><?xml version="1.0" encoding="utf-8"?>
<p:tagLst xmlns:p="http://schemas.openxmlformats.org/presentationml/2006/main">
  <p:tag name="KSO_WM_DIAGRAM_VIRTUALLY_FRAME" val="{&quot;height&quot;:69.39000000000001,&quot;left&quot;:7.2,&quot;top&quot;:46.58999999999999,&quot;width&quot;:935.25}"/>
</p:tagLst>
</file>

<file path=ppt/tags/tag27.xml><?xml version="1.0" encoding="utf-8"?>
<p:tagLst xmlns:p="http://schemas.openxmlformats.org/presentationml/2006/main">
  <p:tag name="KSO_WM_DIAGRAM_VIRTUALLY_FRAME" val="{&quot;height&quot;:69.39000000000001,&quot;left&quot;:7.2,&quot;top&quot;:46.58999999999999,&quot;width&quot;:935.25}"/>
</p:tagLst>
</file>

<file path=ppt/tags/tag28.xml><?xml version="1.0" encoding="utf-8"?>
<p:tagLst xmlns:p="http://schemas.openxmlformats.org/presentationml/2006/main">
  <p:tag name="KSO_WM_DIAGRAM_VIRTUALLY_FRAME" val="{&quot;height&quot;:69.39000000000001,&quot;left&quot;:7.2,&quot;top&quot;:46.58999999999999,&quot;width&quot;:935.25}"/>
</p:tagLst>
</file>

<file path=ppt/tags/tag29.xml><?xml version="1.0" encoding="utf-8"?>
<p:tagLst xmlns:p="http://schemas.openxmlformats.org/presentationml/2006/main">
  <p:tag name="KSO_WM_DIAGRAM_VIRTUALLY_FRAME" val="{&quot;height&quot;:69.39000000000001,&quot;left&quot;:7.2,&quot;top&quot;:46.58999999999999,&quot;width&quot;:935.25}"/>
</p:tagLst>
</file>

<file path=ppt/tags/tag30.xml><?xml version="1.0" encoding="utf-8"?>
<p:tagLst xmlns:p="http://schemas.openxmlformats.org/presentationml/2006/main">
  <p:tag name="KSO_WM_DIAGRAM_VIRTUALLY_FRAME" val="{&quot;height&quot;:69.39000000000001,&quot;left&quot;:7.2,&quot;top&quot;:46.58999999999999,&quot;width&quot;:935.25}"/>
</p:tagLst>
</file>

<file path=ppt/tags/tag31.xml><?xml version="1.0" encoding="utf-8"?>
<p:tagLst xmlns:p="http://schemas.openxmlformats.org/presentationml/2006/main">
  <p:tag name="KSO_WM_DIAGRAM_VIRTUALLY_FRAME" val="{&quot;height&quot;:69.39000000000001,&quot;left&quot;:7.2,&quot;top&quot;:46.58999999999999,&quot;width&quot;:935.25}"/>
</p:tagLst>
</file>

<file path=ppt/tags/tag32.xml><?xml version="1.0" encoding="utf-8"?>
<p:tagLst xmlns:p="http://schemas.openxmlformats.org/presentationml/2006/main">
  <p:tag name="KSO_WM_DIAGRAM_VIRTUALLY_FRAME" val="{&quot;height&quot;:69.39000000000001,&quot;left&quot;:7.2,&quot;top&quot;:46.58999999999999,&quot;width&quot;:935.25}"/>
</p:tagLst>
</file>

<file path=ppt/tags/tag33.xml><?xml version="1.0" encoding="utf-8"?>
<p:tagLst xmlns:p="http://schemas.openxmlformats.org/presentationml/2006/main">
  <p:tag name="KSO_WM_DIAGRAM_VIRTUALLY_FRAME" val="{&quot;height&quot;:69.39000000000001,&quot;left&quot;:7.2,&quot;top&quot;:46.58999999999999,&quot;width&quot;:935.25}"/>
</p:tagLst>
</file>

<file path=ppt/tags/tag34.xml><?xml version="1.0" encoding="utf-8"?>
<p:tagLst xmlns:p="http://schemas.openxmlformats.org/presentationml/2006/main">
  <p:tag name="KSO_WM_DIAGRAM_VIRTUALLY_FRAME" val="{&quot;height&quot;:69.39000000000001,&quot;left&quot;:7.2,&quot;top&quot;:46.58999999999999,&quot;width&quot;:935.25}"/>
</p:tagLst>
</file>

<file path=ppt/tags/tag35.xml><?xml version="1.0" encoding="utf-8"?>
<p:tagLst xmlns:p="http://schemas.openxmlformats.org/presentationml/2006/main">
  <p:tag name="KSO_WM_DIAGRAM_VIRTUALLY_FRAME" val="{&quot;height&quot;:69.39000000000001,&quot;left&quot;:7.2,&quot;top&quot;:46.58999999999999,&quot;width&quot;:935.25}"/>
</p:tagLst>
</file>

<file path=ppt/tags/tag36.xml><?xml version="1.0" encoding="utf-8"?>
<p:tagLst xmlns:p="http://schemas.openxmlformats.org/presentationml/2006/main">
  <p:tag name="KSO_WM_DIAGRAM_VIRTUALLY_FRAME" val="{&quot;height&quot;:616.1499999999999,&quot;left&quot;:10.2,&quot;top&quot;:46.45,&quot;width&quot;:482.2}"/>
</p:tagLst>
</file>

<file path=ppt/tags/tag37.xml><?xml version="1.0" encoding="utf-8"?>
<p:tagLst xmlns:p="http://schemas.openxmlformats.org/presentationml/2006/main">
  <p:tag name="KSO_WM_DIAGRAM_VIRTUALLY_FRAME" val="{&quot;height&quot;:616.1499999999999,&quot;left&quot;:10.2,&quot;top&quot;:46.45,&quot;width&quot;:482.2}"/>
</p:tagLst>
</file>

<file path=ppt/tags/tag38.xml><?xml version="1.0" encoding="utf-8"?>
<p:tagLst xmlns:p="http://schemas.openxmlformats.org/presentationml/2006/main">
  <p:tag name="KSO_WM_DIAGRAM_VIRTUALLY_FRAME" val="{&quot;height&quot;:67.10000000000001,&quot;left&quot;:16.5,&quot;top&quot;:43.79999999999999,&quot;width&quot;:930.28}"/>
</p:tagLst>
</file>

<file path=ppt/tags/tag39.xml><?xml version="1.0" encoding="utf-8"?>
<p:tagLst xmlns:p="http://schemas.openxmlformats.org/presentationml/2006/main">
  <p:tag name="KSO_WM_DIAGRAM_VIRTUALLY_FRAME" val="{&quot;height&quot;:67.10000000000001,&quot;left&quot;:16.5,&quot;top&quot;:43.79999999999999,&quot;width&quot;:930.28}"/>
</p:tagLst>
</file>

<file path=ppt/tags/tag40.xml><?xml version="1.0" encoding="utf-8"?>
<p:tagLst xmlns:p="http://schemas.openxmlformats.org/presentationml/2006/main">
  <p:tag name="KSO_WM_DIAGRAM_VIRTUALLY_FRAME" val="{&quot;height&quot;:67.10000000000001,&quot;left&quot;:16.5,&quot;top&quot;:43.79999999999999,&quot;width&quot;:930.28}"/>
</p:tagLst>
</file>

<file path=ppt/tags/tag41.xml><?xml version="1.0" encoding="utf-8"?>
<p:tagLst xmlns:p="http://schemas.openxmlformats.org/presentationml/2006/main">
  <p:tag name="KSO_WM_DIAGRAM_VIRTUALLY_FRAME" val="{&quot;height&quot;:67.10000000000001,&quot;left&quot;:16.5,&quot;top&quot;:43.79999999999999,&quot;width&quot;:930.28}"/>
</p:tagLst>
</file>

<file path=ppt/tags/tag42.xml><?xml version="1.0" encoding="utf-8"?>
<p:tagLst xmlns:p="http://schemas.openxmlformats.org/presentationml/2006/main">
  <p:tag name="KSO_WM_DIAGRAM_VIRTUALLY_FRAME" val="{&quot;height&quot;:67.10000000000001,&quot;left&quot;:16.5,&quot;top&quot;:43.79999999999999,&quot;width&quot;:930.28}"/>
</p:tagLst>
</file>

<file path=ppt/tags/tag43.xml><?xml version="1.0" encoding="utf-8"?>
<p:tagLst xmlns:p="http://schemas.openxmlformats.org/presentationml/2006/main">
  <p:tag name="KSO_WM_DIAGRAM_VIRTUALLY_FRAME" val="{&quot;height&quot;:67.10000000000001,&quot;left&quot;:16.5,&quot;top&quot;:43.79999999999999,&quot;width&quot;:930.28}"/>
</p:tagLst>
</file>

<file path=ppt/tags/tag44.xml><?xml version="1.0" encoding="utf-8"?>
<p:tagLst xmlns:p="http://schemas.openxmlformats.org/presentationml/2006/main">
  <p:tag name="KSO_WM_DIAGRAM_VIRTUALLY_FRAME" val="{&quot;height&quot;:67.10000000000001,&quot;left&quot;:16.5,&quot;top&quot;:43.79999999999999,&quot;width&quot;:930.28}"/>
</p:tagLst>
</file>

<file path=ppt/tags/tag45.xml><?xml version="1.0" encoding="utf-8"?>
<p:tagLst xmlns:p="http://schemas.openxmlformats.org/presentationml/2006/main">
  <p:tag name="KSO_WM_DIAGRAM_VIRTUALLY_FRAME" val="{&quot;height&quot;:67.10000000000001,&quot;left&quot;:16.5,&quot;top&quot;:43.79999999999999,&quot;width&quot;:930.28}"/>
</p:tagLst>
</file>

<file path=ppt/tags/tag46.xml><?xml version="1.0" encoding="utf-8"?>
<p:tagLst xmlns:p="http://schemas.openxmlformats.org/presentationml/2006/main">
  <p:tag name="KSO_WM_DIAGRAM_VIRTUALLY_FRAME" val="{&quot;height&quot;:67.10000000000001,&quot;left&quot;:16.5,&quot;top&quot;:43.79999999999999,&quot;width&quot;:930.28}"/>
</p:tagLst>
</file>

<file path=ppt/tags/tag47.xml><?xml version="1.0" encoding="utf-8"?>
<p:tagLst xmlns:p="http://schemas.openxmlformats.org/presentationml/2006/main">
  <p:tag name="KSO_WM_DIAGRAM_VIRTUALLY_FRAME" val="{&quot;height&quot;:67.10000000000001,&quot;left&quot;:16.5,&quot;top&quot;:43.79999999999999,&quot;width&quot;:930.28}"/>
</p:tagLst>
</file>

<file path=ppt/tags/tag48.xml><?xml version="1.0" encoding="utf-8"?>
<p:tagLst xmlns:p="http://schemas.openxmlformats.org/presentationml/2006/main">
  <p:tag name="KSO_WM_DIAGRAM_VIRTUALLY_FRAME" val="{&quot;height&quot;:67.10000000000001,&quot;left&quot;:16.5,&quot;top&quot;:43.79999999999999,&quot;width&quot;:930.28}"/>
</p:tagLst>
</file>

<file path=ppt/tags/tag49.xml><?xml version="1.0" encoding="utf-8"?>
<p:tagLst xmlns:p="http://schemas.openxmlformats.org/presentationml/2006/main">
  <p:tag name="KSO_WM_DIAGRAM_VIRTUALLY_FRAME" val="{&quot;height&quot;:67.10000000000001,&quot;left&quot;:16.5,&quot;top&quot;:43.79999999999999,&quot;width&quot;:930.28}"/>
</p:tagLst>
</file>

<file path=ppt/tags/tag50.xml><?xml version="1.0" encoding="utf-8"?>
<p:tagLst xmlns:p="http://schemas.openxmlformats.org/presentationml/2006/main">
  <p:tag name="KSO_WM_DIAGRAM_VIRTUALLY_FRAME" val="{&quot;height&quot;:67.10000000000001,&quot;left&quot;:16.5,&quot;top&quot;:43.79999999999999,&quot;width&quot;:930.28}"/>
</p:tagLst>
</file>

<file path=ppt/tags/tag51.xml><?xml version="1.0" encoding="utf-8"?>
<p:tagLst xmlns:p="http://schemas.openxmlformats.org/presentationml/2006/main">
  <p:tag name="KSO_WM_DIAGRAM_VIRTUALLY_FRAME" val="{&quot;height&quot;:67.10000000000001,&quot;left&quot;:16.5,&quot;top&quot;:43.79999999999999,&quot;width&quot;:930.28}"/>
</p:tagLst>
</file>

<file path=ppt/tags/tag52.xml><?xml version="1.0" encoding="utf-8"?>
<p:tagLst xmlns:p="http://schemas.openxmlformats.org/presentationml/2006/main">
  <p:tag name="KSO_WM_DIAGRAM_VIRTUALLY_FRAME" val="{&quot;height&quot;:67.10000000000001,&quot;left&quot;:16.5,&quot;top&quot;:43.79999999999999,&quot;width&quot;:930.28}"/>
</p:tagLst>
</file>

<file path=ppt/tags/tag53.xml><?xml version="1.0" encoding="utf-8"?>
<p:tagLst xmlns:p="http://schemas.openxmlformats.org/presentationml/2006/main">
  <p:tag name="TABLE_ENDDRAG_ORIGIN_RECT" val="527*165"/>
  <p:tag name="TABLE_ENDDRAG_RECT" val="40*299*527*165"/>
</p:tagLst>
</file>

<file path=ppt/tags/tag54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55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56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57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58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59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60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61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62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63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64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65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66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67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68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69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70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71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72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73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74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75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76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77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78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79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80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81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82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83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84.xml><?xml version="1.0" encoding="utf-8"?>
<p:tagLst xmlns:p="http://schemas.openxmlformats.org/presentationml/2006/main">
  <p:tag name="KSO_WM_DIAGRAM_VIRTUALLY_FRAME" val="{&quot;height&quot;:616.1499999999999,&quot;left&quot;:10.2,&quot;top&quot;:46.45,&quot;width&quot;:482.2}"/>
</p:tagLst>
</file>

<file path=ppt/tags/tag85.xml><?xml version="1.0" encoding="utf-8"?>
<p:tagLst xmlns:p="http://schemas.openxmlformats.org/presentationml/2006/main">
  <p:tag name="KSO_WM_DIAGRAM_VIRTUALLY_FRAME" val="{&quot;height&quot;:616.1499999999999,&quot;left&quot;:10.2,&quot;top&quot;:46.45,&quot;width&quot;:482.2}"/>
</p:tagLst>
</file>

<file path=ppt/tags/tag86.xml><?xml version="1.0" encoding="utf-8"?>
<p:tagLst xmlns:p="http://schemas.openxmlformats.org/presentationml/2006/main">
  <p:tag name="KSO_WM_DIAGRAM_VIRTUALLY_FRAME" val="{&quot;height&quot;:616.1499999999999,&quot;left&quot;:10.2,&quot;top&quot;:46.45,&quot;width&quot;:482.2}"/>
</p:tagLst>
</file>

<file path=ppt/tags/tag87.xml><?xml version="1.0" encoding="utf-8"?>
<p:tagLst xmlns:p="http://schemas.openxmlformats.org/presentationml/2006/main">
  <p:tag name="KSO_WM_DIAGRAM_VIRTUALLY_FRAME" val="{&quot;height&quot;:616.1499999999999,&quot;left&quot;:10.2,&quot;top&quot;:46.45,&quot;width&quot;:482.2}"/>
</p:tagLst>
</file>

<file path=ppt/tags/tag88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89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90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91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92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93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94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95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96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97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98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99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100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101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102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103.xml><?xml version="1.0" encoding="utf-8"?>
<p:tagLst xmlns:p="http://schemas.openxmlformats.org/presentationml/2006/main">
  <p:tag name="TABLE_ENDDRAG_ORIGIN_RECT" val="473*81"/>
  <p:tag name="TABLE_ENDDRAG_RECT" val="4*396*473*81"/>
</p:tagLst>
</file>

<file path=ppt/tags/tag104.xml><?xml version="1.0" encoding="utf-8"?>
<p:tagLst xmlns:p="http://schemas.openxmlformats.org/presentationml/2006/main">
  <p:tag name="KSO_WM_DIAGRAM_VIRTUALLY_FRAME" val="{&quot;height&quot;:616.1499999999999,&quot;left&quot;:10.2,&quot;top&quot;:46.45,&quot;width&quot;:482.2}"/>
</p:tagLst>
</file>

<file path=ppt/tags/tag105.xml><?xml version="1.0" encoding="utf-8"?>
<p:tagLst xmlns:p="http://schemas.openxmlformats.org/presentationml/2006/main">
  <p:tag name="resource_record_key" val="{&quot;10&quot;:[21573901]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11851</Words>
  <Application>WPS 演示</Application>
  <PresentationFormat>On-screen Show (16:9)</PresentationFormat>
  <Paragraphs>3394</Paragraphs>
  <Slides>11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23" baseType="lpstr">
      <vt:lpstr>Arial</vt:lpstr>
      <vt:lpstr>宋体</vt:lpstr>
      <vt:lpstr>Wingdings</vt:lpstr>
      <vt:lpstr>Calibri</vt:lpstr>
      <vt:lpstr>Calibri</vt:lpstr>
      <vt:lpstr>Calibri</vt:lpstr>
      <vt:lpstr>Arial</vt:lpstr>
      <vt:lpstr>Calibri</vt:lpstr>
      <vt:lpstr>微软雅黑</vt:lpstr>
      <vt:lpstr>Arial Unicode MS</vt:lpstr>
      <vt:lpstr>等线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creator>PptxGenJS</dc:creator>
  <dc:subject>PptxGenJS Presentation</dc:subject>
  <cp:lastModifiedBy>古月唯歌</cp:lastModifiedBy>
  <cp:revision>67</cp:revision>
  <dcterms:created xsi:type="dcterms:W3CDTF">2026-03-26T15:42:00Z</dcterms:created>
  <dcterms:modified xsi:type="dcterms:W3CDTF">2026-07-27T09:48:24Z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E2BAF4848A5C4625BF70E805C155F5D7_12</vt:lpwstr>
  </property>
  <property fmtid="{D5CDD505-2E9C-101B-9397-08002B2CF9AE}" pid="3" name="KSOProductBuildVer">
    <vt:lpwstr>2052-12.1.0.26895</vt:lpwstr>
  </property>
</Properties>
</file>