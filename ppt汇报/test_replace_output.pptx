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904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6" r:id="rId13"/>
    <p:sldId id="277" r:id="rId14"/>
    <p:sldId id="278" r:id="rId15"/>
  </p:sldIdLst>
  <p:sldSz cx="12192000" cy="6858000"/>
  <p:notesSz cx="6858000" cy="12192000"/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tags" Target="tags/tag10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488.74</c:v>
                </c:pt>
                <c:pt idx="1">
                  <c:v>72.17</c:v>
                </c:pt>
                <c:pt idx="2">
                  <c:v>24.87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63.54</c:v>
                </c:pt>
                <c:pt idx="1">
                  <c:v>15.45</c:v>
                </c:pt>
                <c:pt idx="2">
                  <c:v>4.39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6.42</c:v>
                </c:pt>
                <c:pt idx="1">
                  <c:v>0.39</c:v>
                </c:pt>
                <c:pt idx="2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银行预约(M)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Sheet1!$A$2:$A$36</c:f>
              <c:strCache>
                <c:ptCount val="35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26-Jan</c:v>
                </c:pt>
                <c:pt idx="29">
                  <c:v>26-Feb</c:v>
                </c:pt>
                <c:pt idx="30">
                  <c:v>26-Mar</c:v>
                </c:pt>
                <c:pt idx="31">
                  <c:v>26-Apr</c:v>
                </c:pt>
                <c:pt idx="32">
                  <c:v>26-May</c:v>
                </c:pt>
                <c:pt idx="33">
                  <c:v>26-Jun</c:v>
                </c:pt>
                <c:pt idx="34">
                  <c:v>26-Jul</c:v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2.34</c:v>
                </c:pt>
                <c:pt idx="1">
                  <c:v>3.69</c:v>
                </c:pt>
                <c:pt idx="2">
                  <c:v>6.03</c:v>
                </c:pt>
                <c:pt idx="3">
                  <c:v>1.79</c:v>
                </c:pt>
                <c:pt idx="4">
                  <c:v>4.29</c:v>
                </c:pt>
                <c:pt idx="5">
                  <c:v>3.07</c:v>
                </c:pt>
                <c:pt idx="6">
                  <c:v>0.0</c:v>
                </c:pt>
                <c:pt idx="7">
                  <c:v>0.0</c:v>
                </c:pt>
                <c:pt idx="8">
                  <c:v>2.34</c:v>
                </c:pt>
                <c:pt idx="9">
                  <c:v>5.46</c:v>
                </c:pt>
                <c:pt idx="10">
                  <c:v>4.29</c:v>
                </c:pt>
                <c:pt idx="11">
                  <c:v>2.73</c:v>
                </c:pt>
                <c:pt idx="12">
                  <c:v>0.0</c:v>
                </c:pt>
                <c:pt idx="13">
                  <c:v>5.23</c:v>
                </c:pt>
                <c:pt idx="14">
                  <c:v>0.39</c:v>
                </c:pt>
                <c:pt idx="15">
                  <c:v>1.72</c:v>
                </c:pt>
                <c:pt idx="16">
                  <c:v>1.17</c:v>
                </c:pt>
                <c:pt idx="17">
                  <c:v>0.39</c:v>
                </c:pt>
                <c:pt idx="18">
                  <c:v>1.01</c:v>
                </c:pt>
                <c:pt idx="19">
                  <c:v>0.78</c:v>
                </c:pt>
                <c:pt idx="20">
                  <c:v>3.51</c:v>
                </c:pt>
                <c:pt idx="21">
                  <c:v>1.17</c:v>
                </c:pt>
                <c:pt idx="22">
                  <c:v>3.35</c:v>
                </c:pt>
                <c:pt idx="23">
                  <c:v>0.78</c:v>
                </c:pt>
                <c:pt idx="24">
                  <c:v>3.97</c:v>
                </c:pt>
                <c:pt idx="25">
                  <c:v>0.78</c:v>
                </c:pt>
                <c:pt idx="26">
                  <c:v>5.46</c:v>
                </c:pt>
                <c:pt idx="27">
                  <c:v>2.73</c:v>
                </c:pt>
                <c:pt idx="28">
                  <c:v>53.90</c:v>
                </c:pt>
                <c:pt idx="29">
                  <c:v>56.37</c:v>
                </c:pt>
                <c:pt idx="30">
                  <c:v>81.48</c:v>
                </c:pt>
                <c:pt idx="31">
                  <c:v>67.38</c:v>
                </c:pt>
                <c:pt idx="32">
                  <c:v>81.87</c:v>
                </c:pt>
                <c:pt idx="33">
                  <c:v>84.35</c:v>
                </c:pt>
                <c:pt idx="34">
                  <c:v>49.51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银行签单(M)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Sheet1!$A$2:$A$36</c:f>
              <c:strCache>
                <c:ptCount val="35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26-Jan</c:v>
                </c:pt>
                <c:pt idx="29">
                  <c:v>26-Feb</c:v>
                </c:pt>
                <c:pt idx="30">
                  <c:v>26-Mar</c:v>
                </c:pt>
                <c:pt idx="31">
                  <c:v>26-Apr</c:v>
                </c:pt>
                <c:pt idx="32">
                  <c:v>26-May</c:v>
                </c:pt>
                <c:pt idx="33">
                  <c:v>26-Jun</c:v>
                </c:pt>
                <c:pt idx="34">
                  <c:v>26-Jul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  <c:pt idx="0">
                  <c:v>0.78</c:v>
                </c:pt>
                <c:pt idx="1">
                  <c:v>3.69</c:v>
                </c:pt>
                <c:pt idx="2">
                  <c:v>5.25</c:v>
                </c:pt>
                <c:pt idx="3">
                  <c:v>2.73</c:v>
                </c:pt>
                <c:pt idx="4">
                  <c:v>2.18</c:v>
                </c:pt>
                <c:pt idx="5">
                  <c:v>5.8</c:v>
                </c:pt>
                <c:pt idx="6">
                  <c:v>0.39</c:v>
                </c:pt>
                <c:pt idx="7">
                  <c:v>0.0</c:v>
                </c:pt>
                <c:pt idx="8">
                  <c:v>1.95</c:v>
                </c:pt>
                <c:pt idx="9">
                  <c:v>1.95</c:v>
                </c:pt>
                <c:pt idx="10">
                  <c:v>4.68</c:v>
                </c:pt>
                <c:pt idx="11">
                  <c:v>2.73</c:v>
                </c:pt>
                <c:pt idx="12">
                  <c:v>3.51</c:v>
                </c:pt>
                <c:pt idx="13">
                  <c:v>0.16</c:v>
                </c:pt>
                <c:pt idx="14">
                  <c:v>4.29</c:v>
                </c:pt>
                <c:pt idx="15">
                  <c:v>1.95</c:v>
                </c:pt>
                <c:pt idx="16">
                  <c:v>0.55</c:v>
                </c:pt>
                <c:pt idx="17">
                  <c:v>2.34</c:v>
                </c:pt>
                <c:pt idx="18">
                  <c:v>1.17</c:v>
                </c:pt>
                <c:pt idx="19">
                  <c:v>1.01</c:v>
                </c:pt>
                <c:pt idx="20">
                  <c:v>2.34</c:v>
                </c:pt>
                <c:pt idx="21">
                  <c:v>1.17</c:v>
                </c:pt>
                <c:pt idx="22">
                  <c:v>2.96</c:v>
                </c:pt>
                <c:pt idx="23">
                  <c:v>2.34</c:v>
                </c:pt>
                <c:pt idx="24">
                  <c:v>3.19</c:v>
                </c:pt>
                <c:pt idx="25">
                  <c:v>3.12</c:v>
                </c:pt>
                <c:pt idx="26">
                  <c:v>2.34</c:v>
                </c:pt>
                <c:pt idx="27">
                  <c:v>4.29</c:v>
                </c:pt>
                <c:pt idx="28">
                  <c:v>47.90</c:v>
                </c:pt>
                <c:pt idx="29">
                  <c:v>61.13</c:v>
                </c:pt>
                <c:pt idx="30">
                  <c:v>82.15</c:v>
                </c:pt>
                <c:pt idx="31">
                  <c:v>62.10</c:v>
                </c:pt>
                <c:pt idx="32">
                  <c:v>86.14</c:v>
                </c:pt>
                <c:pt idx="33">
                  <c:v>85.69</c:v>
                </c:pt>
                <c:pt idx="34">
                  <c:v>39.17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银行批核(M)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Sheet1!$A$2:$A$36</c:f>
              <c:strCache>
                <c:ptCount val="35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26-Jan</c:v>
                </c:pt>
                <c:pt idx="29">
                  <c:v>26-Feb</c:v>
                </c:pt>
                <c:pt idx="30">
                  <c:v>26-Mar</c:v>
                </c:pt>
                <c:pt idx="31">
                  <c:v>26-Apr</c:v>
                </c:pt>
                <c:pt idx="32">
                  <c:v>26-May</c:v>
                </c:pt>
                <c:pt idx="33">
                  <c:v>26-Jun</c:v>
                </c:pt>
                <c:pt idx="34">
                  <c:v>26-Jul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  <c:pt idx="0">
                  <c:v>1.95</c:v>
                </c:pt>
                <c:pt idx="1">
                  <c:v>3.36</c:v>
                </c:pt>
                <c:pt idx="2">
                  <c:v>8.03</c:v>
                </c:pt>
                <c:pt idx="3">
                  <c:v>1.79</c:v>
                </c:pt>
                <c:pt idx="4">
                  <c:v>17.16</c:v>
                </c:pt>
                <c:pt idx="5">
                  <c:v>27.95</c:v>
                </c:pt>
                <c:pt idx="6">
                  <c:v>1.95</c:v>
                </c:pt>
                <c:pt idx="7">
                  <c:v>46.88</c:v>
                </c:pt>
                <c:pt idx="8">
                  <c:v>10.42</c:v>
                </c:pt>
                <c:pt idx="9">
                  <c:v>4.68</c:v>
                </c:pt>
                <c:pt idx="10">
                  <c:v>35.96</c:v>
                </c:pt>
                <c:pt idx="11">
                  <c:v>5.85</c:v>
                </c:pt>
                <c:pt idx="12">
                  <c:v>2.18</c:v>
                </c:pt>
                <c:pt idx="13">
                  <c:v>4.29</c:v>
                </c:pt>
                <c:pt idx="14">
                  <c:v>7.64</c:v>
                </c:pt>
                <c:pt idx="15">
                  <c:v>11.78</c:v>
                </c:pt>
                <c:pt idx="16">
                  <c:v>3.12</c:v>
                </c:pt>
                <c:pt idx="17">
                  <c:v>1.95</c:v>
                </c:pt>
                <c:pt idx="18">
                  <c:v>3.3</c:v>
                </c:pt>
                <c:pt idx="19">
                  <c:v>2.34</c:v>
                </c:pt>
                <c:pt idx="20">
                  <c:v>14.12</c:v>
                </c:pt>
                <c:pt idx="21">
                  <c:v>1.56</c:v>
                </c:pt>
                <c:pt idx="22">
                  <c:v>0.78</c:v>
                </c:pt>
                <c:pt idx="23">
                  <c:v>0.78</c:v>
                </c:pt>
                <c:pt idx="24">
                  <c:v>2.81</c:v>
                </c:pt>
                <c:pt idx="25">
                  <c:v>0.31</c:v>
                </c:pt>
                <c:pt idx="26">
                  <c:v>1.56</c:v>
                </c:pt>
                <c:pt idx="27">
                  <c:v>0.0</c:v>
                </c:pt>
                <c:pt idx="28">
                  <c:v>116.78</c:v>
                </c:pt>
                <c:pt idx="29">
                  <c:v>143.73</c:v>
                </c:pt>
                <c:pt idx="30">
                  <c:v>85.76</c:v>
                </c:pt>
                <c:pt idx="31">
                  <c:v>91.15</c:v>
                </c:pt>
                <c:pt idx="32">
                  <c:v>72.81</c:v>
                </c:pt>
                <c:pt idx="33">
                  <c:v>62.05</c:v>
                </c:pt>
                <c:pt idx="34">
                  <c:v>32.87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96.0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 / 132件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56.4M / 110件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81.5M / 216件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67.4M / 173件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81.9M / 223件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84.3M / 231件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49.5M / 124件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8"/>
                <c:pt idx="0">
                  <c:v>6.86</c:v>
                </c:pt>
                <c:pt idx="1">
                  <c:v>3.9</c:v>
                </c:pt>
                <c:pt idx="2">
                  <c:v>10.53</c:v>
                </c:pt>
                <c:pt idx="3">
                  <c:v>4.21</c:v>
                </c:pt>
                <c:pt idx="4">
                  <c:v>4.13</c:v>
                </c:pt>
                <c:pt idx="5">
                  <c:v>3.42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114件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61.1M / 121件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82.2M / 212件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62.1M / 162件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86.1M / 225件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85.7M / 239件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39.2M / 99件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8"/>
                <c:pt idx="0">
                  <c:v>6.24</c:v>
                </c:pt>
                <c:pt idx="1">
                  <c:v>4.91</c:v>
                </c:pt>
                <c:pt idx="2">
                  <c:v>8.19</c:v>
                </c:pt>
                <c:pt idx="3">
                  <c:v>5.77</c:v>
                </c:pt>
                <c:pt idx="4">
                  <c:v>3.74</c:v>
                </c:pt>
                <c:pt idx="5">
                  <c:v>4.59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 203件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180件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85.8M / 143件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91.2M / 192件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72.8M / 163件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62.0M / 172件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32.9M / 104件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8"/>
                <c:pt idx="0">
                  <c:v>12.8</c:v>
                </c:pt>
                <c:pt idx="1">
                  <c:v>84.79</c:v>
                </c:pt>
                <c:pt idx="2">
                  <c:v>44.52</c:v>
                </c:pt>
                <c:pt idx="3">
                  <c:v>25.66</c:v>
                </c:pt>
                <c:pt idx="4">
                  <c:v>14.68</c:v>
                </c:pt>
                <c:pt idx="5">
                  <c:v>3.51</c:v>
                </c:pt>
                <c:pt idx="6">
                  <c:v>1.56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42.32</c:v>
                </c:pt>
                <c:pt idx="1">
                  <c:v>29.72</c:v>
                </c:pt>
                <c:pt idx="2">
                  <c:v>67.26</c:v>
                </c:pt>
                <c:pt idx="3">
                  <c:v>46.32</c:v>
                </c:pt>
                <c:pt idx="4">
                  <c:v>61.63</c:v>
                </c:pt>
                <c:pt idx="5">
                  <c:v>62.73</c:v>
                </c:pt>
                <c:pt idx="6">
                  <c:v>27.03</c:v>
                </c:pt>
                <c:pt idx="7">
                  <c:v>0.00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8"/>
                <c:pt idx="0">
                  <c:v>36.68</c:v>
                </c:pt>
                <c:pt idx="1">
                  <c:v>34.27</c:v>
                </c:pt>
                <c:pt idx="2">
                  <c:v>67.78</c:v>
                </c:pt>
                <c:pt idx="3">
                  <c:v>47.25</c:v>
                </c:pt>
                <c:pt idx="4">
                  <c:v>61.27</c:v>
                </c:pt>
                <c:pt idx="5">
                  <c:v>64.36</c:v>
                </c:pt>
                <c:pt idx="6">
                  <c:v>24.22</c:v>
                </c:pt>
                <c:pt idx="7">
                  <c:v>0.00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8"/>
                <c:pt idx="0">
                  <c:v>86.18</c:v>
                </c:pt>
                <c:pt idx="1">
                  <c:v>124.06</c:v>
                </c:pt>
                <c:pt idx="2">
                  <c:v>81.03</c:v>
                </c:pt>
                <c:pt idx="3">
                  <c:v>85.90</c:v>
                </c:pt>
                <c:pt idx="4">
                  <c:v>56.85</c:v>
                </c:pt>
                <c:pt idx="5">
                  <c:v>48.49</c:v>
                </c:pt>
                <c:pt idx="6">
                  <c:v>29.10</c:v>
                </c:pt>
                <c:pt idx="7">
                  <c:v>0.00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6.6740</c:v>
                </c:pt>
                <c:pt idx="1">
                  <c:v>9.7305</c:v>
                </c:pt>
                <c:pt idx="2">
                  <c:v>13.3508</c:v>
                </c:pt>
                <c:pt idx="3">
                  <c:v>8.8521</c:v>
                </c:pt>
                <c:pt idx="4">
                  <c:v>20.9667</c:v>
                </c:pt>
                <c:pt idx="5">
                  <c:v>6.4338</c:v>
                </c:pt>
                <c:pt idx="6">
                  <c:v>6.3400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4.9580</c:v>
                </c:pt>
                <c:pt idx="1">
                  <c:v>11.2125</c:v>
                </c:pt>
                <c:pt idx="2">
                  <c:v>12.1301</c:v>
                </c:pt>
                <c:pt idx="3">
                  <c:v>9.9324</c:v>
                </c:pt>
                <c:pt idx="4">
                  <c:v>19.8732</c:v>
                </c:pt>
                <c:pt idx="5">
                  <c:v>7.2777</c:v>
                </c:pt>
                <c:pt idx="6">
                  <c:v>6.5740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6.7618</c:v>
                </c:pt>
                <c:pt idx="1">
                  <c:v>10.5184</c:v>
                </c:pt>
                <c:pt idx="2">
                  <c:v>6.2942</c:v>
                </c:pt>
                <c:pt idx="3">
                  <c:v>16.6020</c:v>
                </c:pt>
                <c:pt idx="4">
                  <c:v>6.0226</c:v>
                </c:pt>
                <c:pt idx="5">
                  <c:v>17.1128</c:v>
                </c:pt>
                <c:pt idx="6">
                  <c:v>1.1415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2.6315</c:v>
                </c:pt>
                <c:pt idx="4">
                  <c:v>2.2350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1.8935</c:v>
                </c:pt>
                <c:pt idx="4">
                  <c:v>2.9730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1.3447</c:v>
                </c:pt>
                <c:pt idx="1">
                  <c:v>0.3900</c:v>
                </c:pt>
                <c:pt idx="2">
                  <c:v>0.4680</c:v>
                </c:pt>
                <c:pt idx="3">
                  <c:v>1.6926</c:v>
                </c:pt>
                <c:pt idx="4">
                  <c:v>2.6070</c:v>
                </c:pt>
                <c:pt idx="5">
                  <c:v>0.4770</c:v>
                </c:pt>
                <c:pt idx="6">
                  <c:v>0.7410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13.8622</c:v>
                </c:pt>
                <c:pt idx="1">
                  <c:v>7.3632</c:v>
                </c:pt>
                <c:pt idx="2">
                  <c:v>14.8200</c:v>
                </c:pt>
                <c:pt idx="3">
                  <c:v>7.3320</c:v>
                </c:pt>
                <c:pt idx="4">
                  <c:v>6.8640</c:v>
                </c:pt>
                <c:pt idx="5">
                  <c:v>9.2742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17.1382</c:v>
                </c:pt>
                <c:pt idx="1">
                  <c:v>8.3772</c:v>
                </c:pt>
                <c:pt idx="2">
                  <c:v>13.2600</c:v>
                </c:pt>
                <c:pt idx="3">
                  <c:v>8.5020</c:v>
                </c:pt>
                <c:pt idx="4">
                  <c:v>6.8640</c:v>
                </c:pt>
                <c:pt idx="5">
                  <c:v>10.4442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18.2598</c:v>
                </c:pt>
                <c:pt idx="1">
                  <c:v>93.9401</c:v>
                </c:pt>
                <c:pt idx="2">
                  <c:v>58.6997</c:v>
                </c:pt>
                <c:pt idx="3">
                  <c:v>27.2220</c:v>
                </c:pt>
                <c:pt idx="4">
                  <c:v>21.7036</c:v>
                </c:pt>
                <c:pt idx="5">
                  <c:v>6.2400</c:v>
                </c:pt>
                <c:pt idx="6">
                  <c:v>1.5600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6.1763</c:v>
                </c:pt>
                <c:pt idx="1">
                  <c:v>3.9852</c:v>
                </c:pt>
                <c:pt idx="2">
                  <c:v>13.5372</c:v>
                </c:pt>
                <c:pt idx="3">
                  <c:v>16.8389</c:v>
                </c:pt>
                <c:pt idx="4">
                  <c:v>16.8841</c:v>
                </c:pt>
                <c:pt idx="5">
                  <c:v>23.3036</c:v>
                </c:pt>
                <c:pt idx="6">
                  <c:v>6.5540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2.5883</c:v>
                </c:pt>
                <c:pt idx="1">
                  <c:v>6.5592</c:v>
                </c:pt>
                <c:pt idx="2">
                  <c:v>13.9272</c:v>
                </c:pt>
                <c:pt idx="3">
                  <c:v>16.1215</c:v>
                </c:pt>
                <c:pt idx="4">
                  <c:v>17.2306</c:v>
                </c:pt>
                <c:pt idx="5">
                  <c:v>21.9951</c:v>
                </c:pt>
                <c:pt idx="6">
                  <c:v>5.3989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41.7944</c:v>
                </c:pt>
                <c:pt idx="1">
                  <c:v>5.6723</c:v>
                </c:pt>
                <c:pt idx="2">
                  <c:v>4.4310</c:v>
                </c:pt>
                <c:pt idx="3">
                  <c:v>12.8148</c:v>
                </c:pt>
                <c:pt idx="4">
                  <c:v>21.1993</c:v>
                </c:pt>
                <c:pt idx="5">
                  <c:v>17.4175</c:v>
                </c:pt>
                <c:pt idx="6">
                  <c:v>6.5766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17.0096</c:v>
                </c:pt>
                <c:pt idx="1">
                  <c:v>16.0597</c:v>
                </c:pt>
                <c:pt idx="2">
                  <c:v>24.7618</c:v>
                </c:pt>
                <c:pt idx="3">
                  <c:v>15.6775</c:v>
                </c:pt>
                <c:pt idx="4">
                  <c:v>19.7349</c:v>
                </c:pt>
                <c:pt idx="5">
                  <c:v>22.9566</c:v>
                </c:pt>
                <c:pt idx="6">
                  <c:v>9.0844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13.7444</c:v>
                </c:pt>
                <c:pt idx="1">
                  <c:v>15.1831</c:v>
                </c:pt>
                <c:pt idx="2">
                  <c:v>27.6061</c:v>
                </c:pt>
                <c:pt idx="3">
                  <c:v>14.7969</c:v>
                </c:pt>
                <c:pt idx="4">
                  <c:v>20.3780</c:v>
                </c:pt>
                <c:pt idx="5">
                  <c:v>23.8791</c:v>
                </c:pt>
                <c:pt idx="6">
                  <c:v>7.0402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45.9626</c:v>
                </c:pt>
                <c:pt idx="1">
                  <c:v>20.3124</c:v>
                </c:pt>
                <c:pt idx="2">
                  <c:v>13.5305</c:v>
                </c:pt>
                <c:pt idx="3">
                  <c:v>28.8356</c:v>
                </c:pt>
                <c:pt idx="4">
                  <c:v>10.8491</c:v>
                </c:pt>
                <c:pt idx="5">
                  <c:v>12.4729</c:v>
                </c:pt>
                <c:pt idx="6">
                  <c:v>19.2417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0.4368</c:v>
                </c:pt>
                <c:pt idx="1">
                  <c:v>0.0798</c:v>
                </c:pt>
                <c:pt idx="2">
                  <c:v>1.9639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0.0898</c:v>
                </c:pt>
                <c:pt idx="1">
                  <c:v>0.4368</c:v>
                </c:pt>
                <c:pt idx="2">
                  <c:v>2.0437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0.5802</c:v>
                </c:pt>
                <c:pt idx="1">
                  <c:v>0.8970</c:v>
                </c:pt>
                <c:pt idx="2">
                  <c:v>0.3355</c:v>
                </c:pt>
                <c:pt idx="3">
                  <c:v>1.7550</c:v>
                </c:pt>
                <c:pt idx="4">
                  <c:v>0.5743</c:v>
                </c:pt>
                <c:pt idx="5">
                  <c:v>0.0000</c:v>
                </c:pt>
                <c:pt idx="6">
                  <c:v>0.3239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1.0140</c:v>
                </c:pt>
                <c:pt idx="2">
                  <c:v>1.9005</c:v>
                </c:pt>
                <c:pt idx="3">
                  <c:v>6.7885</c:v>
                </c:pt>
                <c:pt idx="4">
                  <c:v>11.2611</c:v>
                </c:pt>
                <c:pt idx="5">
                  <c:v>13.8249</c:v>
                </c:pt>
                <c:pt idx="6">
                  <c:v>17.7919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1.0140</c:v>
                </c:pt>
                <c:pt idx="2">
                  <c:v>1.9005</c:v>
                </c:pt>
                <c:pt idx="3">
                  <c:v>6.7885</c:v>
                </c:pt>
                <c:pt idx="4">
                  <c:v>10.2861</c:v>
                </c:pt>
                <c:pt idx="5">
                  <c:v>12.9396</c:v>
                </c:pt>
                <c:pt idx="6">
                  <c:v>10.4164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1.4980</c:v>
                </c:pt>
                <c:pt idx="3">
                  <c:v>2.2294</c:v>
                </c:pt>
                <c:pt idx="4">
                  <c:v>4.0297</c:v>
                </c:pt>
                <c:pt idx="5">
                  <c:v>8.3324</c:v>
                </c:pt>
                <c:pt idx="6">
                  <c:v>3.2884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605.16</c:v>
                </c:pt>
                <c:pt idx="1">
                  <c:v>107.35</c:v>
                </c:pt>
                <c:pt idx="2">
                  <c:v>16.05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9"/>
                <c:pt idx="0">
                  <c:v>227.6300</c:v>
                </c:pt>
                <c:pt idx="1">
                  <c:v>151.2100</c:v>
                </c:pt>
                <c:pt idx="2">
                  <c:v>109.9100</c:v>
                </c:pt>
                <c:pt idx="3">
                  <c:v>64.4500</c:v>
                </c:pt>
                <c:pt idx="4">
                  <c:v>20.4000</c:v>
                </c:pt>
                <c:pt idx="5">
                  <c:v>7.7200</c:v>
                </c:pt>
                <c:pt idx="6">
                  <c:v>4.4700</c:v>
                </c:pt>
                <c:pt idx="7">
                  <c:v>0.0000</c:v>
                </c:pt>
                <c:pt idx="8">
                  <c:v>19.3800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9"/>
                <c:pt idx="0">
                  <c:v>28.6200</c:v>
                </c:pt>
                <c:pt idx="1">
                  <c:v>19.2100</c:v>
                </c:pt>
                <c:pt idx="2">
                  <c:v>15.7100</c:v>
                </c:pt>
                <c:pt idx="3">
                  <c:v>14.5100</c:v>
                </c:pt>
                <c:pt idx="4">
                  <c:v>0.0000</c:v>
                </c:pt>
                <c:pt idx="5">
                  <c:v>0.9400</c:v>
                </c:pt>
                <c:pt idx="6">
                  <c:v>4.3900</c:v>
                </c:pt>
                <c:pt idx="7">
                  <c:v>0.0000</c:v>
                </c:pt>
                <c:pt idx="8">
                  <c:v>23.9700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9"/>
                <c:pt idx="0">
                  <c:v>0.0000</c:v>
                </c:pt>
                <c:pt idx="1">
                  <c:v>2.8100</c:v>
                </c:pt>
                <c:pt idx="2">
                  <c:v>3.6100</c:v>
                </c:pt>
                <c:pt idx="3">
                  <c:v>0.3900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  <c:pt idx="8">
                  <c:v>9.2400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9"/>
                <c:pt idx="0">
                  <c:v>0.0000</c:v>
                </c:pt>
                <c:pt idx="1">
                  <c:v>166.7700</c:v>
                </c:pt>
                <c:pt idx="2">
                  <c:v>30.7700</c:v>
                </c:pt>
                <c:pt idx="3">
                  <c:v>113.6500</c:v>
                </c:pt>
                <c:pt idx="4">
                  <c:v>31.6000</c:v>
                </c:pt>
                <c:pt idx="5">
                  <c:v>61.3400</c:v>
                </c:pt>
                <c:pt idx="6">
                  <c:v>64.1400</c:v>
                </c:pt>
                <c:pt idx="7">
                  <c:v>25.0000</c:v>
                </c:pt>
                <c:pt idx="8">
                  <c:v>0.0000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6.52</c:v>
                </c:pt>
                <c:pt idx="1">
                  <c:v>13.64</c:v>
                </c:pt>
                <c:pt idx="2">
                  <c:v>17.19</c:v>
                </c:pt>
                <c:pt idx="3">
                  <c:v>9.87</c:v>
                </c:pt>
                <c:pt idx="4">
                  <c:v>28.2</c:v>
                </c:pt>
                <c:pt idx="5">
                  <c:v>12.72</c:v>
                </c:pt>
                <c:pt idx="6">
                  <c:v>2.73</c:v>
                </c:pt>
                <c:pt idx="7">
                  <c:v>7.08</c:v>
                </c:pt>
                <c:pt idx="8">
                  <c:v>5.88</c:v>
                </c:pt>
                <c:pt idx="9">
                  <c:v>17.21</c:v>
                </c:pt>
                <c:pt idx="10">
                  <c:v>19.81</c:v>
                </c:pt>
                <c:pt idx="11">
                  <c:v>25.2</c:v>
                </c:pt>
                <c:pt idx="12">
                  <c:v>5.37</c:v>
                </c:pt>
                <c:pt idx="13">
                  <c:v>12.71</c:v>
                </c:pt>
                <c:pt idx="14">
                  <c:v>13.44</c:v>
                </c:pt>
                <c:pt idx="15">
                  <c:v>26.75</c:v>
                </c:pt>
                <c:pt idx="16">
                  <c:v>9.88</c:v>
                </c:pt>
                <c:pt idx="17">
                  <c:v>11.77</c:v>
                </c:pt>
                <c:pt idx="18">
                  <c:v>22.15</c:v>
                </c:pt>
                <c:pt idx="19">
                  <c:v>21.04</c:v>
                </c:pt>
                <c:pt idx="20">
                  <c:v>20.93</c:v>
                </c:pt>
                <c:pt idx="21">
                  <c:v>10.9</c:v>
                </c:pt>
                <c:pt idx="22">
                  <c:v>19.58</c:v>
                </c:pt>
                <c:pt idx="23">
                  <c:v>16.79</c:v>
                </c:pt>
                <c:pt idx="24">
                  <c:v>26.21</c:v>
                </c:pt>
                <c:pt idx="25">
                  <c:v>14.14</c:v>
                </c:pt>
                <c:pt idx="26">
                  <c:v>22.83</c:v>
                </c:pt>
                <c:pt idx="27">
                  <c:v>20.32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2.63</c:v>
                </c:pt>
                <c:pt idx="1">
                  <c:v>10.23</c:v>
                </c:pt>
                <c:pt idx="2">
                  <c:v>12.7</c:v>
                </c:pt>
                <c:pt idx="3">
                  <c:v>11.54</c:v>
                </c:pt>
                <c:pt idx="4">
                  <c:v>31.28</c:v>
                </c:pt>
                <c:pt idx="5">
                  <c:v>12.85</c:v>
                </c:pt>
                <c:pt idx="6">
                  <c:v>3.77</c:v>
                </c:pt>
                <c:pt idx="7">
                  <c:v>7.38</c:v>
                </c:pt>
                <c:pt idx="8">
                  <c:v>4.23</c:v>
                </c:pt>
                <c:pt idx="9">
                  <c:v>11.08</c:v>
                </c:pt>
                <c:pt idx="10">
                  <c:v>18.48</c:v>
                </c:pt>
                <c:pt idx="11">
                  <c:v>26.24</c:v>
                </c:pt>
                <c:pt idx="12">
                  <c:v>15.83</c:v>
                </c:pt>
                <c:pt idx="13">
                  <c:v>6.6</c:v>
                </c:pt>
                <c:pt idx="14">
                  <c:v>14.41</c:v>
                </c:pt>
                <c:pt idx="15">
                  <c:v>18.13</c:v>
                </c:pt>
                <c:pt idx="16">
                  <c:v>16.86</c:v>
                </c:pt>
                <c:pt idx="17">
                  <c:v>13.24</c:v>
                </c:pt>
                <c:pt idx="18">
                  <c:v>20.33</c:v>
                </c:pt>
                <c:pt idx="19">
                  <c:v>14.82</c:v>
                </c:pt>
                <c:pt idx="20">
                  <c:v>32.85</c:v>
                </c:pt>
                <c:pt idx="21">
                  <c:v>11.54</c:v>
                </c:pt>
                <c:pt idx="22">
                  <c:v>12.29</c:v>
                </c:pt>
                <c:pt idx="23">
                  <c:v>18.96</c:v>
                </c:pt>
                <c:pt idx="24">
                  <c:v>26.14</c:v>
                </c:pt>
                <c:pt idx="25">
                  <c:v>19.48</c:v>
                </c:pt>
                <c:pt idx="26">
                  <c:v>10.88</c:v>
                </c:pt>
                <c:pt idx="27">
                  <c:v>21.03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9.96</c:v>
                </c:pt>
                <c:pt idx="1">
                  <c:v>7.8</c:v>
                </c:pt>
                <c:pt idx="2">
                  <c:v>10.95</c:v>
                </c:pt>
                <c:pt idx="3">
                  <c:v>16.19</c:v>
                </c:pt>
                <c:pt idx="4">
                  <c:v>31.58</c:v>
                </c:pt>
                <c:pt idx="5">
                  <c:v>14.36</c:v>
                </c:pt>
                <c:pt idx="6">
                  <c:v>0.0</c:v>
                </c:pt>
                <c:pt idx="7">
                  <c:v>4.01</c:v>
                </c:pt>
                <c:pt idx="8">
                  <c:v>10.9</c:v>
                </c:pt>
                <c:pt idx="9">
                  <c:v>9.83</c:v>
                </c:pt>
                <c:pt idx="10">
                  <c:v>11.17</c:v>
                </c:pt>
                <c:pt idx="11">
                  <c:v>14.23</c:v>
                </c:pt>
                <c:pt idx="12">
                  <c:v>35.99</c:v>
                </c:pt>
                <c:pt idx="13">
                  <c:v>4.16</c:v>
                </c:pt>
                <c:pt idx="14">
                  <c:v>12.33</c:v>
                </c:pt>
                <c:pt idx="15">
                  <c:v>15.45</c:v>
                </c:pt>
                <c:pt idx="16">
                  <c:v>22.93</c:v>
                </c:pt>
                <c:pt idx="17">
                  <c:v>6.79</c:v>
                </c:pt>
                <c:pt idx="18">
                  <c:v>6.94</c:v>
                </c:pt>
                <c:pt idx="19">
                  <c:v>17.48</c:v>
                </c:pt>
                <c:pt idx="20">
                  <c:v>25.31</c:v>
                </c:pt>
                <c:pt idx="21">
                  <c:v>34.41</c:v>
                </c:pt>
                <c:pt idx="22">
                  <c:v>11.12</c:v>
                </c:pt>
                <c:pt idx="23">
                  <c:v>10.26</c:v>
                </c:pt>
                <c:pt idx="24">
                  <c:v>22.82</c:v>
                </c:pt>
                <c:pt idx="25">
                  <c:v>24.51</c:v>
                </c:pt>
                <c:pt idx="26">
                  <c:v>15.42</c:v>
                </c:pt>
                <c:pt idx="27">
                  <c:v>17.65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28"/>
                <c:pt idx="0">
                  <c:v>18.04</c:v>
                </c:pt>
                <c:pt idx="1">
                  <c:v>46.35</c:v>
                </c:pt>
                <c:pt idx="2">
                  <c:v>29.21</c:v>
                </c:pt>
                <c:pt idx="3">
                  <c:v>20.07</c:v>
                </c:pt>
                <c:pt idx="4">
                  <c:v>29.97</c:v>
                </c:pt>
                <c:pt idx="5">
                  <c:v>39.45</c:v>
                </c:pt>
                <c:pt idx="6">
                  <c:v>7.26</c:v>
                </c:pt>
                <c:pt idx="7">
                  <c:v>67.05</c:v>
                </c:pt>
                <c:pt idx="8">
                  <c:v>15.84</c:v>
                </c:pt>
                <c:pt idx="9">
                  <c:v>11.12</c:v>
                </c:pt>
                <c:pt idx="10">
                  <c:v>41.56</c:v>
                </c:pt>
                <c:pt idx="11">
                  <c:v>7.94</c:v>
                </c:pt>
                <c:pt idx="12">
                  <c:v>15.72</c:v>
                </c:pt>
                <c:pt idx="13">
                  <c:v>12.38</c:v>
                </c:pt>
                <c:pt idx="14">
                  <c:v>24.32</c:v>
                </c:pt>
                <c:pt idx="15">
                  <c:v>24.57</c:v>
                </c:pt>
                <c:pt idx="16">
                  <c:v>23.49</c:v>
                </c:pt>
                <c:pt idx="17">
                  <c:v>8.41</c:v>
                </c:pt>
                <c:pt idx="18">
                  <c:v>15.89</c:v>
                </c:pt>
                <c:pt idx="19">
                  <c:v>20.39</c:v>
                </c:pt>
                <c:pt idx="20">
                  <c:v>28.09</c:v>
                </c:pt>
                <c:pt idx="21">
                  <c:v>12.47</c:v>
                </c:pt>
                <c:pt idx="22">
                  <c:v>12.0</c:v>
                </c:pt>
                <c:pt idx="23">
                  <c:v>15.44</c:v>
                </c:pt>
                <c:pt idx="24">
                  <c:v>19.28</c:v>
                </c:pt>
                <c:pt idx="25">
                  <c:v>11.19</c:v>
                </c:pt>
                <c:pt idx="26">
                  <c:v>17.62</c:v>
                </c:pt>
                <c:pt idx="27">
                  <c:v>6.92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11865.65</c:v>
                </c:pt>
                <c:pt idx="1">
                  <c:v>3938.94</c:v>
                </c:pt>
                <c:pt idx="2">
                  <c:v>2609.91</c:v>
                </c:pt>
                <c:pt idx="3">
                  <c:v>1327.8</c:v>
                </c:pt>
                <c:pt idx="4">
                  <c:v>1287.52</c:v>
                </c:pt>
                <c:pt idx="5">
                  <c:v>188.05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3732.53</c:v>
                </c:pt>
                <c:pt idx="1">
                  <c:v>576.59</c:v>
                </c:pt>
                <c:pt idx="2">
                  <c:v>301.8</c:v>
                </c:pt>
                <c:pt idx="3">
                  <c:v>0.0</c:v>
                </c:pt>
                <c:pt idx="4">
                  <c:v>685.91</c:v>
                </c:pt>
                <c:pt idx="5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1204.1</c:v>
                </c:pt>
                <c:pt idx="1">
                  <c:v>187.42</c:v>
                </c:pt>
                <c:pt idx="2">
                  <c:v>0.0</c:v>
                </c:pt>
                <c:pt idx="3">
                  <c:v>0.0</c:v>
                </c:pt>
                <c:pt idx="4">
                  <c:v>78.0</c:v>
                </c:pt>
                <c:pt idx="5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4269.8</c:v>
                </c:pt>
                <c:pt idx="1">
                  <c:v>3938.94</c:v>
                </c:pt>
                <c:pt idx="2">
                  <c:v>3490.59</c:v>
                </c:pt>
                <c:pt idx="3">
                  <c:v>2781.85</c:v>
                </c:pt>
                <c:pt idx="4">
                  <c:v>2718.31</c:v>
                </c:pt>
                <c:pt idx="5">
                  <c:v>2591.81</c:v>
                </c:pt>
                <c:pt idx="6">
                  <c:v>1937.79</c:v>
                </c:pt>
                <c:pt idx="7">
                  <c:v>1885.7</c:v>
                </c:pt>
                <c:pt idx="8">
                  <c:v>1248.0</c:v>
                </c:pt>
                <c:pt idx="9">
                  <c:v>834.66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893.28</c:v>
                </c:pt>
                <c:pt idx="1">
                  <c:v>576.59</c:v>
                </c:pt>
                <c:pt idx="2">
                  <c:v>453.66</c:v>
                </c:pt>
                <c:pt idx="3">
                  <c:v>101.07</c:v>
                </c:pt>
                <c:pt idx="4">
                  <c:v>237.69</c:v>
                </c:pt>
                <c:pt idx="5">
                  <c:v>301.8</c:v>
                </c:pt>
                <c:pt idx="6">
                  <c:v>2396.71</c:v>
                </c:pt>
                <c:pt idx="7">
                  <c:v>77.94</c:v>
                </c:pt>
                <c:pt idx="8">
                  <c:v>0.0</c:v>
                </c:pt>
                <c:pt idx="9">
                  <c:v>126.91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174.02</c:v>
                </c:pt>
                <c:pt idx="1">
                  <c:v>187.42</c:v>
                </c:pt>
                <c:pt idx="2">
                  <c:v>96.0</c:v>
                </c:pt>
                <c:pt idx="3">
                  <c:v>0.0</c:v>
                </c:pt>
                <c:pt idx="4">
                  <c:v>28.5</c:v>
                </c:pt>
                <c:pt idx="5">
                  <c:v>0.0</c:v>
                </c:pt>
                <c:pt idx="6">
                  <c:v>923.58</c:v>
                </c:pt>
                <c:pt idx="7">
                  <c:v>78.0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5.76</c:v>
                </c:pt>
                <c:pt idx="6">
                  <c:v>2.11</c:v>
                </c:pt>
                <c:pt idx="7">
                  <c:v>5.99</c:v>
                </c:pt>
                <c:pt idx="8">
                  <c:v>2.93</c:v>
                </c:pt>
                <c:pt idx="9">
                  <c:v>9.72</c:v>
                </c:pt>
                <c:pt idx="10">
                  <c:v>11.0</c:v>
                </c:pt>
                <c:pt idx="11">
                  <c:v>11.96</c:v>
                </c:pt>
                <c:pt idx="12">
                  <c:v>3.0</c:v>
                </c:pt>
                <c:pt idx="13">
                  <c:v>6.31</c:v>
                </c:pt>
                <c:pt idx="14">
                  <c:v>5.65</c:v>
                </c:pt>
                <c:pt idx="15">
                  <c:v>16.81</c:v>
                </c:pt>
                <c:pt idx="16">
                  <c:v>3.52</c:v>
                </c:pt>
                <c:pt idx="17">
                  <c:v>9.24</c:v>
                </c:pt>
                <c:pt idx="18">
                  <c:v>8.99</c:v>
                </c:pt>
                <c:pt idx="19">
                  <c:v>10.09</c:v>
                </c:pt>
                <c:pt idx="20">
                  <c:v>8.22</c:v>
                </c:pt>
                <c:pt idx="21">
                  <c:v>6.73</c:v>
                </c:pt>
                <c:pt idx="22">
                  <c:v>11.55</c:v>
                </c:pt>
                <c:pt idx="23">
                  <c:v>12.74</c:v>
                </c:pt>
                <c:pt idx="24">
                  <c:v>11.17</c:v>
                </c:pt>
                <c:pt idx="25">
                  <c:v>6.14</c:v>
                </c:pt>
                <c:pt idx="26">
                  <c:v>5.39</c:v>
                </c:pt>
                <c:pt idx="27">
                  <c:v>8.19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4.21</c:v>
                </c:pt>
                <c:pt idx="6">
                  <c:v>2.65</c:v>
                </c:pt>
                <c:pt idx="7">
                  <c:v>3.51</c:v>
                </c:pt>
                <c:pt idx="8">
                  <c:v>2.03</c:v>
                </c:pt>
                <c:pt idx="9">
                  <c:v>7.76</c:v>
                </c:pt>
                <c:pt idx="10">
                  <c:v>8.79</c:v>
                </c:pt>
                <c:pt idx="11">
                  <c:v>17.9</c:v>
                </c:pt>
                <c:pt idx="12">
                  <c:v>5.91</c:v>
                </c:pt>
                <c:pt idx="13">
                  <c:v>4.34</c:v>
                </c:pt>
                <c:pt idx="14">
                  <c:v>5.12</c:v>
                </c:pt>
                <c:pt idx="15">
                  <c:v>7.78</c:v>
                </c:pt>
                <c:pt idx="16">
                  <c:v>13.07</c:v>
                </c:pt>
                <c:pt idx="17">
                  <c:v>6.0</c:v>
                </c:pt>
                <c:pt idx="18">
                  <c:v>10.54</c:v>
                </c:pt>
                <c:pt idx="19">
                  <c:v>7.29</c:v>
                </c:pt>
                <c:pt idx="20">
                  <c:v>13.52</c:v>
                </c:pt>
                <c:pt idx="21">
                  <c:v>7.22</c:v>
                </c:pt>
                <c:pt idx="22">
                  <c:v>6.98</c:v>
                </c:pt>
                <c:pt idx="23">
                  <c:v>12.53</c:v>
                </c:pt>
                <c:pt idx="24">
                  <c:v>16.25</c:v>
                </c:pt>
                <c:pt idx="25">
                  <c:v>6.45</c:v>
                </c:pt>
                <c:pt idx="26">
                  <c:v>3.35</c:v>
                </c:pt>
                <c:pt idx="27">
                  <c:v>5.54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2.61</c:v>
                </c:pt>
                <c:pt idx="11">
                  <c:v>2.01</c:v>
                </c:pt>
                <c:pt idx="12">
                  <c:v>11.05</c:v>
                </c:pt>
                <c:pt idx="13">
                  <c:v>4.44</c:v>
                </c:pt>
                <c:pt idx="14">
                  <c:v>15.15</c:v>
                </c:pt>
                <c:pt idx="15">
                  <c:v>7.93</c:v>
                </c:pt>
                <c:pt idx="16">
                  <c:v>8.84</c:v>
                </c:pt>
                <c:pt idx="17">
                  <c:v>4.27</c:v>
                </c:pt>
                <c:pt idx="18">
                  <c:v>10.55</c:v>
                </c:pt>
                <c:pt idx="19">
                  <c:v>9.19</c:v>
                </c:pt>
                <c:pt idx="20">
                  <c:v>8.04</c:v>
                </c:pt>
                <c:pt idx="21">
                  <c:v>3.37</c:v>
                </c:pt>
                <c:pt idx="22">
                  <c:v>7.21</c:v>
                </c:pt>
                <c:pt idx="23">
                  <c:v>5.9</c:v>
                </c:pt>
                <c:pt idx="24">
                  <c:v>11.92</c:v>
                </c:pt>
                <c:pt idx="25">
                  <c:v>8.73</c:v>
                </c:pt>
                <c:pt idx="26">
                  <c:v>12.86</c:v>
                </c:pt>
                <c:pt idx="27">
                  <c:v>5.72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0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1.8188</c:v>
                </c:pt>
                <c:pt idx="3">
                  <c:v>4.0000</c:v>
                </c:pt>
                <c:pt idx="4">
                  <c:v>0.0088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1.8000</c:v>
                </c:pt>
                <c:pt idx="3">
                  <c:v>0.0188</c:v>
                </c:pt>
                <c:pt idx="4">
                  <c:v>4.0088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2.0780</c:v>
                </c:pt>
                <c:pt idx="1">
                  <c:v>12.0000</c:v>
                </c:pt>
                <c:pt idx="2">
                  <c:v>0.4992</c:v>
                </c:pt>
                <c:pt idx="3">
                  <c:v>0.0000</c:v>
                </c:pt>
                <c:pt idx="4">
                  <c:v>5.8276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tags" Target="../tags/tag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tags" Target="../tags/tag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tags" Target="../tags/tag3.xml"/><Relationship Id="rId12" Type="http://schemas.openxmlformats.org/officeDocument/2006/relationships/image" Target="../media/image5.svg"/><Relationship Id="rId13" Type="http://schemas.openxmlformats.org/officeDocument/2006/relationships/tags" Target="../tags/tag4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tags" Target="../tags/tag5.xml"/><Relationship Id="rId17" Type="http://schemas.openxmlformats.org/officeDocument/2006/relationships/image" Target="../media/image8.svg"/><Relationship Id="rId18" Type="http://schemas.openxmlformats.org/officeDocument/2006/relationships/tags" Target="../tags/tag6.xml"/><Relationship Id="rId19" Type="http://schemas.openxmlformats.org/officeDocument/2006/relationships/image" Target="../media/image9.svg"/><Relationship Id="rId20" Type="http://schemas.openxmlformats.org/officeDocument/2006/relationships/tags" Target="../tags/tag7.xml"/><Relationship Id="rId21" Type="http://schemas.openxmlformats.org/officeDocument/2006/relationships/image" Target="../media/image10.png"/><Relationship Id="rId22" Type="http://schemas.openxmlformats.org/officeDocument/2006/relationships/tags" Target="../tags/tag8.xml"/><Relationship Id="rId23" Type="http://schemas.openxmlformats.org/officeDocument/2006/relationships/image" Target="../media/image11.png"/><Relationship Id="rId24" Type="http://schemas.openxmlformats.org/officeDocument/2006/relationships/tags" Target="../tags/tag9.xml"/><Relationship Id="rId25" Type="http://schemas.openxmlformats.org/officeDocument/2006/relationships/image" Target="../media/image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Relationship Id="rId7" Type="http://schemas.openxmlformats.org/officeDocument/2006/relationships/chart" Target="..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10" Type="http://schemas.openxmlformats.org/officeDocument/2006/relationships/chart" Target="../charts/chart904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tags" Target="../tags/tag27.xml"/><Relationship Id="rId21" Type="http://schemas.openxmlformats.org/officeDocument/2006/relationships/tags" Target="../tags/tag28.xml"/><Relationship Id="rId22" Type="http://schemas.openxmlformats.org/officeDocument/2006/relationships/tags" Target="../tags/tag29.xml"/><Relationship Id="rId23" Type="http://schemas.openxmlformats.org/officeDocument/2006/relationships/tags" Target="../tags/tag30.xml"/><Relationship Id="rId24" Type="http://schemas.openxmlformats.org/officeDocument/2006/relationships/tags" Target="../tags/tag31.xml"/><Relationship Id="rId25" Type="http://schemas.openxmlformats.org/officeDocument/2006/relationships/tags" Target="../tags/tag32.xml"/><Relationship Id="rId26" Type="http://schemas.openxmlformats.org/officeDocument/2006/relationships/tags" Target="../tags/tag33.xml"/><Relationship Id="rId27" Type="http://schemas.openxmlformats.org/officeDocument/2006/relationships/tags" Target="../tags/tag34.xml"/><Relationship Id="rId28" Type="http://schemas.openxmlformats.org/officeDocument/2006/relationships/tags" Target="../tags/tag35.xml"/><Relationship Id="rId29" Type="http://schemas.openxmlformats.org/officeDocument/2006/relationships/tags" Target="../tags/tag36.xml"/><Relationship Id="rId30" Type="http://schemas.openxmlformats.org/officeDocument/2006/relationships/tags" Target="../tags/tag37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tags" Target="../tags/tag50.xml"/><Relationship Id="rId15" Type="http://schemas.openxmlformats.org/officeDocument/2006/relationships/tags" Target="../tags/tag51.xml"/><Relationship Id="rId16" Type="http://schemas.openxmlformats.org/officeDocument/2006/relationships/tags" Target="../tags/tag52.xml"/><Relationship Id="rId17" Type="http://schemas.openxmlformats.org/officeDocument/2006/relationships/tags" Target="../tags/tag53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tags" Target="../tags/tag58.xml"/><Relationship Id="rId6" Type="http://schemas.openxmlformats.org/officeDocument/2006/relationships/tags" Target="../tags/tag59.xml"/><Relationship Id="rId7" Type="http://schemas.openxmlformats.org/officeDocument/2006/relationships/tags" Target="../tags/tag60.xml"/><Relationship Id="rId8" Type="http://schemas.openxmlformats.org/officeDocument/2006/relationships/tags" Target="../tags/tag61.xml"/><Relationship Id="rId9" Type="http://schemas.openxmlformats.org/officeDocument/2006/relationships/tags" Target="../tags/tag62.xml"/><Relationship Id="rId10" Type="http://schemas.openxmlformats.org/officeDocument/2006/relationships/tags" Target="../tags/tag63.xml"/><Relationship Id="rId11" Type="http://schemas.openxmlformats.org/officeDocument/2006/relationships/tags" Target="../tags/tag64.xml"/><Relationship Id="rId12" Type="http://schemas.openxmlformats.org/officeDocument/2006/relationships/tags" Target="../tags/tag65.xml"/><Relationship Id="rId13" Type="http://schemas.openxmlformats.org/officeDocument/2006/relationships/tags" Target="../tags/tag66.xml"/><Relationship Id="rId14" Type="http://schemas.openxmlformats.org/officeDocument/2006/relationships/tags" Target="../tags/tag67.xml"/><Relationship Id="rId15" Type="http://schemas.openxmlformats.org/officeDocument/2006/relationships/tags" Target="../tags/tag68.xml"/><Relationship Id="rId16" Type="http://schemas.openxmlformats.org/officeDocument/2006/relationships/tags" Target="../tags/tag69.xml"/><Relationship Id="rId17" Type="http://schemas.openxmlformats.org/officeDocument/2006/relationships/tags" Target="../tags/tag70.xml"/><Relationship Id="rId18" Type="http://schemas.openxmlformats.org/officeDocument/2006/relationships/tags" Target="../tags/tag71.xml"/><Relationship Id="rId19" Type="http://schemas.openxmlformats.org/officeDocument/2006/relationships/tags" Target="../tags/tag72.xml"/><Relationship Id="rId20" Type="http://schemas.openxmlformats.org/officeDocument/2006/relationships/tags" Target="../tags/tag73.xml"/><Relationship Id="rId21" Type="http://schemas.openxmlformats.org/officeDocument/2006/relationships/tags" Target="../tags/tag74.xml"/><Relationship Id="rId22" Type="http://schemas.openxmlformats.org/officeDocument/2006/relationships/tags" Target="../tags/tag75.xml"/><Relationship Id="rId23" Type="http://schemas.openxmlformats.org/officeDocument/2006/relationships/tags" Target="../tags/tag76.xml"/><Relationship Id="rId24" Type="http://schemas.openxmlformats.org/officeDocument/2006/relationships/tags" Target="../tags/tag77.xml"/><Relationship Id="rId25" Type="http://schemas.openxmlformats.org/officeDocument/2006/relationships/tags" Target="../tags/tag78.xml"/><Relationship Id="rId26" Type="http://schemas.openxmlformats.org/officeDocument/2006/relationships/tags" Target="../tags/tag79.xml"/><Relationship Id="rId27" Type="http://schemas.openxmlformats.org/officeDocument/2006/relationships/tags" Target="../tags/tag80.xml"/><Relationship Id="rId28" Type="http://schemas.openxmlformats.org/officeDocument/2006/relationships/tags" Target="../tags/tag81.xml"/><Relationship Id="rId29" Type="http://schemas.openxmlformats.org/officeDocument/2006/relationships/tags" Target="../tags/tag82.xml"/><Relationship Id="rId30" Type="http://schemas.openxmlformats.org/officeDocument/2006/relationships/tags" Target="../tags/tag83.xml"/><Relationship Id="rId31" Type="http://schemas.openxmlformats.org/officeDocument/2006/relationships/tags" Target="../tags/tag84.xml"/><Relationship Id="rId32" Type="http://schemas.openxmlformats.org/officeDocument/2006/relationships/tags" Target="../tags/tag85.xml"/><Relationship Id="rId33" Type="http://schemas.openxmlformats.org/officeDocument/2006/relationships/tags" Target="../tags/tag86.xml"/><Relationship Id="rId34" Type="http://schemas.openxmlformats.org/officeDocument/2006/relationships/tags" Target="../tags/tag87.xml"/><Relationship Id="rId35" Type="http://schemas.openxmlformats.org/officeDocument/2006/relationships/tags" Target="../tags/tag88.xml"/><Relationship Id="rId36" Type="http://schemas.openxmlformats.org/officeDocument/2006/relationships/tags" Target="../tags/tag89.xml"/><Relationship Id="rId37" Type="http://schemas.openxmlformats.org/officeDocument/2006/relationships/tags" Target="../tags/tag90.xml"/><Relationship Id="rId38" Type="http://schemas.openxmlformats.org/officeDocument/2006/relationships/tags" Target="../tags/tag91.xml"/><Relationship Id="rId39" Type="http://schemas.openxmlformats.org/officeDocument/2006/relationships/tags" Target="../tags/tag92.xml"/><Relationship Id="rId40" Type="http://schemas.openxmlformats.org/officeDocument/2006/relationships/tags" Target="../tags/tag93.xml"/><Relationship Id="rId41" Type="http://schemas.openxmlformats.org/officeDocument/2006/relationships/tags" Target="../tags/tag94.xml"/><Relationship Id="rId42" Type="http://schemas.openxmlformats.org/officeDocument/2006/relationships/tags" Target="../tags/tag95.xml"/><Relationship Id="rId43" Type="http://schemas.openxmlformats.org/officeDocument/2006/relationships/tags" Target="../tags/tag96.xml"/><Relationship Id="rId44" Type="http://schemas.openxmlformats.org/officeDocument/2006/relationships/tags" Target="../tags/tag97.xml"/><Relationship Id="rId45" Type="http://schemas.openxmlformats.org/officeDocument/2006/relationships/tags" Target="../tags/tag98.xml"/><Relationship Id="rId46" Type="http://schemas.openxmlformats.org/officeDocument/2006/relationships/tags" Target="../tags/tag99.xml"/><Relationship Id="rId47" Type="http://schemas.openxmlformats.org/officeDocument/2006/relationships/image" Target="../media/image13.png"/><Relationship Id="rId48" Type="http://schemas.openxmlformats.org/officeDocument/2006/relationships/image" Target="../media/image14.png"/><Relationship Id="rId4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生成日期：2026-07-31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-508M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605M / 剩余缺口 508M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512M / 剩余缺口 464M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605.2M、达成率 54.4%（较上期 +0.8pct），缺口 508M。6 月预约 84.4M/签单 85.7M 高位，批核 62.1M，7 月已批 32.9M 提速。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  |  占比 79.4%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 件  |  占比 14.1%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 件  |  占比 2.1%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33.6M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 件  |  占比 4.4%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107.3M（235 件）+ 待签 16.0M（42 件）=123.4M 在途待转化(占批核约 20%)。管道快速推进至生效可直接拉升达成率约 11pct。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经代批核 508.1M 独占 84.0% 为唯一主力,且握最大在途未批核 87.5M;代理人 72.2M、KA 24.9M 体量小。资源应优先压注经代催核转化,同时定向扩量代理人与 KA。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5187952" y="3977640"/>
            <a:ext cx="2674186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5187952" y="3995928"/>
            <a:ext cx="267418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8569071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13599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9" name="Text 95"/>
          <p:cNvSpPr/>
          <p:nvPr/>
        </p:nvSpPr>
        <p:spPr>
          <a:xfrm>
            <a:off x="8569071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56.4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13599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5" name="Text 101"/>
          <p:cNvSpPr/>
          <p:nvPr/>
        </p:nvSpPr>
        <p:spPr>
          <a:xfrm>
            <a:off x="8569071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13599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2" name="Text 108"/>
          <p:cNvSpPr/>
          <p:nvPr/>
        </p:nvSpPr>
        <p:spPr>
          <a:xfrm>
            <a:off x="8569071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61.1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13599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82.2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8" name="Text 114"/>
          <p:cNvSpPr/>
          <p:nvPr/>
        </p:nvSpPr>
        <p:spPr>
          <a:xfrm>
            <a:off x="8569071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13599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5" name="Text 121"/>
          <p:cNvSpPr/>
          <p:nvPr/>
        </p:nvSpPr>
        <p:spPr>
          <a:xfrm>
            <a:off x="8569071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13599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85.8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1" name="Text 127"/>
          <p:cNvSpPr/>
          <p:nvPr/>
        </p:nvSpPr>
        <p:spPr>
          <a:xfrm>
            <a:off x="8569071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13599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月批核峰值 143.7M 为全年最高，此后回落至 6 月 62.1M；预约/签单上半年维持 80–86M 高位。剩余目标 508M，需后续月均 84.6M 方可达成年度 1113M。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9643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9643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9643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9643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9643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9643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91.2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9643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45" name="Text 90"/>
          <p:cNvSpPr/>
          <p:nvPr/>
        </p:nvSpPr>
        <p:spPr>
          <a:xfrm>
            <a:off x="10210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6" name="Text 96"/>
          <p:cNvSpPr/>
          <p:nvPr/>
        </p:nvSpPr>
        <p:spPr>
          <a:xfrm>
            <a:off x="10210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81.9</a:t>
            </a:r>
            <a:endParaRPr lang="en-US" sz="900" dirty="0"/>
          </a:p>
        </p:txBody>
      </p:sp>
      <p:sp>
        <p:nvSpPr>
          <p:cNvPr id="147" name="Text 102"/>
          <p:cNvSpPr/>
          <p:nvPr/>
        </p:nvSpPr>
        <p:spPr>
          <a:xfrm>
            <a:off x="10210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8" name="Text 109"/>
          <p:cNvSpPr/>
          <p:nvPr/>
        </p:nvSpPr>
        <p:spPr>
          <a:xfrm>
            <a:off x="10210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</a:t>
            </a:r>
            <a:endParaRPr lang="en-US" sz="900" dirty="0"/>
          </a:p>
        </p:txBody>
      </p:sp>
      <p:sp>
        <p:nvSpPr>
          <p:cNvPr id="149" name="Text 115"/>
          <p:cNvSpPr/>
          <p:nvPr/>
        </p:nvSpPr>
        <p:spPr>
          <a:xfrm>
            <a:off x="10210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50" name="Text 122"/>
          <p:cNvSpPr/>
          <p:nvPr/>
        </p:nvSpPr>
        <p:spPr>
          <a:xfrm>
            <a:off x="10210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</a:t>
            </a:r>
            <a:endParaRPr lang="en-US" sz="900" dirty="0"/>
          </a:p>
        </p:txBody>
      </p:sp>
      <p:sp>
        <p:nvSpPr>
          <p:cNvPr id="151" name="Text 128"/>
          <p:cNvSpPr/>
          <p:nvPr/>
        </p:nvSpPr>
        <p:spPr>
          <a:xfrm>
            <a:off x="10210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52" name="Text 90"/>
          <p:cNvSpPr/>
          <p:nvPr/>
        </p:nvSpPr>
        <p:spPr>
          <a:xfrm>
            <a:off x="10777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53" name="Text 96"/>
          <p:cNvSpPr/>
          <p:nvPr/>
        </p:nvSpPr>
        <p:spPr>
          <a:xfrm>
            <a:off x="10777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84.3</a:t>
            </a:r>
            <a:endParaRPr lang="en-US" sz="900" dirty="0"/>
          </a:p>
        </p:txBody>
      </p:sp>
      <p:sp>
        <p:nvSpPr>
          <p:cNvPr id="154" name="Text 102"/>
          <p:cNvSpPr/>
          <p:nvPr/>
        </p:nvSpPr>
        <p:spPr>
          <a:xfrm>
            <a:off x="10777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55" name="Text 109"/>
          <p:cNvSpPr/>
          <p:nvPr/>
        </p:nvSpPr>
        <p:spPr>
          <a:xfrm>
            <a:off x="10777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</a:t>
            </a:r>
            <a:endParaRPr lang="en-US" sz="900" dirty="0"/>
          </a:p>
        </p:txBody>
      </p:sp>
      <p:sp>
        <p:nvSpPr>
          <p:cNvPr id="156" name="Text 115"/>
          <p:cNvSpPr/>
          <p:nvPr/>
        </p:nvSpPr>
        <p:spPr>
          <a:xfrm>
            <a:off x="10777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57" name="Text 122"/>
          <p:cNvSpPr/>
          <p:nvPr/>
        </p:nvSpPr>
        <p:spPr>
          <a:xfrm>
            <a:off x="10777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62.0</a:t>
            </a:r>
            <a:endParaRPr lang="en-US" sz="900" dirty="0"/>
          </a:p>
        </p:txBody>
      </p:sp>
      <p:sp>
        <p:nvSpPr>
          <p:cNvPr id="158" name="Text 128"/>
          <p:cNvSpPr/>
          <p:nvPr/>
        </p:nvSpPr>
        <p:spPr>
          <a:xfrm>
            <a:off x="10777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900" dirty="0"/>
          </a:p>
        </p:txBody>
      </p:sp>
      <p:sp>
        <p:nvSpPr>
          <p:cNvPr id="159" name="Text 90"/>
          <p:cNvSpPr/>
          <p:nvPr/>
        </p:nvSpPr>
        <p:spPr>
          <a:xfrm>
            <a:off x="11344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0" name="Text 96"/>
          <p:cNvSpPr/>
          <p:nvPr/>
        </p:nvSpPr>
        <p:spPr>
          <a:xfrm>
            <a:off x="11344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49.5</a:t>
            </a:r>
            <a:endParaRPr lang="en-US" sz="900" dirty="0"/>
          </a:p>
        </p:txBody>
      </p:sp>
      <p:sp>
        <p:nvSpPr>
          <p:cNvPr id="161" name="Text 102"/>
          <p:cNvSpPr/>
          <p:nvPr/>
        </p:nvSpPr>
        <p:spPr>
          <a:xfrm>
            <a:off x="11344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124件</a:t>
            </a:r>
            <a:endParaRPr lang="en-US" sz="900" dirty="0"/>
          </a:p>
        </p:txBody>
      </p:sp>
      <p:sp>
        <p:nvSpPr>
          <p:cNvPr id="162" name="Text 109"/>
          <p:cNvSpPr/>
          <p:nvPr/>
        </p:nvSpPr>
        <p:spPr>
          <a:xfrm>
            <a:off x="11344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39.2</a:t>
            </a:r>
            <a:endParaRPr lang="en-US" sz="900" dirty="0"/>
          </a:p>
        </p:txBody>
      </p:sp>
      <p:sp>
        <p:nvSpPr>
          <p:cNvPr id="163" name="Text 115"/>
          <p:cNvSpPr/>
          <p:nvPr/>
        </p:nvSpPr>
        <p:spPr>
          <a:xfrm>
            <a:off x="11344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99件</a:t>
            </a:r>
            <a:endParaRPr lang="en-US" sz="900" dirty="0"/>
          </a:p>
        </p:txBody>
      </p:sp>
      <p:sp>
        <p:nvSpPr>
          <p:cNvPr id="164" name="Text 122"/>
          <p:cNvSpPr/>
          <p:nvPr/>
        </p:nvSpPr>
        <p:spPr>
          <a:xfrm>
            <a:off x="11344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32.9</a:t>
            </a:r>
            <a:endParaRPr lang="en-US" sz="900" dirty="0"/>
          </a:p>
        </p:txBody>
      </p:sp>
      <p:sp>
        <p:nvSpPr>
          <p:cNvPr id="165" name="Text 128"/>
          <p:cNvSpPr/>
          <p:nvPr/>
        </p:nvSpPr>
        <p:spPr>
          <a:xfrm>
            <a:off x="11344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6 月预约 84.4M（环比 +3.0%）、签单 85.7M（-0.5%）前端走强，批核 62.1M（-14.8%）回落；累计达成率升至 54.4%（较上期 +0.8pct），后端放款仍是瓶颈。</a:t>
            </a: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9592430" y="1137285"/>
            <a:ext cx="247384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9592430" y="1197610"/>
            <a:ext cx="218446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1756664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84.6M/月（剩余 508M ÷ 6mo）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1–6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 达成率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45.6% 目标剩余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84.6M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W28，已批核 605.2M（达成率 54.4%），距全年目标 1113M 还差 508M，需月均 84.6M。批核节奏放缓，达标压力集中下半年。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3629126" y="1013517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-41.3%</a:t>
            </a: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629126" y="1818544"/>
            <a:ext cx="1334033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+4.6%</a:t>
            </a: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3608984" y="2879313"/>
            <a:ext cx="1329410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-54.3%</a:t>
            </a:r>
          </a:p>
        </p:txBody>
      </p:sp>
      <p:sp>
        <p:nvSpPr>
          <p:cNvPr id="108" name="Ann_QD"/>
          <p:cNvSpPr/>
          <p:nvPr/>
        </p:nvSpPr>
        <p:spPr>
          <a:xfrm>
            <a:off x="3608984" y="303888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-0.5%</a:t>
            </a: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3485413" y="4690740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-47.0%</a:t>
            </a:r>
          </a:p>
        </p:txBody>
      </p:sp>
      <p:sp>
        <p:nvSpPr>
          <p:cNvPr id="117" name="Ann_PH"/>
          <p:cNvSpPr/>
          <p:nvPr/>
        </p:nvSpPr>
        <p:spPr>
          <a:xfrm>
            <a:off x="3485413" y="5549227"/>
            <a:ext cx="1266291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+23.1%</a:t>
            </a: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3629126" y="1177380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+3.0%</a:t>
            </a: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3608984" y="321115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+38.7%</a:t>
            </a:r>
          </a:p>
        </p:txBody>
      </p:sp>
      <p:sp>
        <p:nvSpPr>
          <p:cNvPr id="11" name="Ann_PH"/>
          <p:cNvSpPr/>
          <p:nvPr/>
        </p:nvSpPr>
        <p:spPr>
          <a:xfrm>
            <a:off x="3485413" y="4850436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-14.8%</a:t>
            </a: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  <p:sp>
        <p:nvSpPr>
          <p:cNvPr id="122" name="Ann_YY"/>
          <p:cNvSpPr/>
          <p:nvPr/>
        </p:nvSpPr>
        <p:spPr>
          <a:xfrm>
            <a:off x="3629126" y="1334893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+21.5%</a:t>
            </a:r>
          </a:p>
        </p:txBody>
      </p:sp>
      <p:sp>
        <p:nvSpPr>
          <p:cNvPr id="123" name="Ann_YY"/>
          <p:cNvSpPr/>
          <p:nvPr/>
        </p:nvSpPr>
        <p:spPr>
          <a:xfrm>
            <a:off x="3629126" y="1492405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-17.3%</a:t>
            </a:r>
          </a:p>
        </p:txBody>
      </p:sp>
      <p:sp>
        <p:nvSpPr>
          <p:cNvPr id="124" name="Ann_YY"/>
          <p:cNvSpPr/>
          <p:nvPr/>
        </p:nvSpPr>
        <p:spPr>
          <a:xfrm>
            <a:off x="3629126" y="1649918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+44.5%</a:t>
            </a:r>
          </a:p>
        </p:txBody>
      </p:sp>
      <p:sp>
        <p:nvSpPr>
          <p:cNvPr id="125" name="Ann_QD"/>
          <p:cNvSpPr/>
          <p:nvPr/>
        </p:nvSpPr>
        <p:spPr>
          <a:xfrm>
            <a:off x="3608984" y="338342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</a:p>
        </p:txBody>
      </p:sp>
      <p:sp>
        <p:nvSpPr>
          <p:cNvPr id="126" name="Ann_QD"/>
          <p:cNvSpPr/>
          <p:nvPr/>
        </p:nvSpPr>
        <p:spPr>
          <a:xfrm>
            <a:off x="3608984" y="355569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+34.4%</a:t>
            </a:r>
          </a:p>
        </p:txBody>
      </p:sp>
      <p:sp>
        <p:nvSpPr>
          <p:cNvPr id="127" name="Ann_QD"/>
          <p:cNvSpPr/>
          <p:nvPr/>
        </p:nvSpPr>
        <p:spPr>
          <a:xfrm>
            <a:off x="3608984" y="372796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+27.6%</a:t>
            </a:r>
          </a:p>
        </p:txBody>
      </p:sp>
      <p:sp>
        <p:nvSpPr>
          <p:cNvPr id="128" name="Ann_PH"/>
          <p:cNvSpPr/>
          <p:nvPr/>
        </p:nvSpPr>
        <p:spPr>
          <a:xfrm>
            <a:off x="3485413" y="5010132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-20.1%</a:t>
            </a:r>
          </a:p>
        </p:txBody>
      </p:sp>
      <p:sp>
        <p:nvSpPr>
          <p:cNvPr id="129" name="Ann_PH"/>
          <p:cNvSpPr/>
          <p:nvPr/>
        </p:nvSpPr>
        <p:spPr>
          <a:xfrm>
            <a:off x="3485413" y="5169828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+6.3%</a:t>
            </a:r>
          </a:p>
        </p:txBody>
      </p:sp>
      <p:sp>
        <p:nvSpPr>
          <p:cNvPr id="130" name="Ann_PH"/>
          <p:cNvSpPr/>
          <p:nvPr/>
        </p:nvSpPr>
        <p:spPr>
          <a:xfrm>
            <a:off x="3485413" y="532952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-40.3%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511.6M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1012件  |  达成率52.4%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目标976M  |  缺口464M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78.0M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未批核160件|  件均48.8万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待签19件  |  件均35.0万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永明累计批核 511.6M、达成率 52.4%（较上期 +0.7pct）,缺口 464M。TOP10 产品签单 130.8M/163 件,卓金保险计划II 以 27.2M/45 件领跑(件均60.4万)。大单储蓄险为基本盘,需保头部供给。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万年青·卓金保险计划II（5.0年）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27.18M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60.4万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18.19M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101.0万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16.77M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129.0万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万年青·星河尊享保险计划II（2.0年）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15.24M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46.2万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11.70M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146.2万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11.68M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9.75M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7.04M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43.9万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万年青·星河传承保险计划II（2.0年）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6.24M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130.8M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永誉传承储蓄计划（1.0年）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万年青·星河传承保险计划II（5.0年）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41.4万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325.0万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Apr-26 批核APE（M）</a:t>
            </a: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May-26 批核APE（M）</a:t>
            </a: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39.50M</a:t>
            </a:r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22.24M</a:t>
            </a:r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27.30M</a:t>
            </a:r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12.29M</a:t>
            </a:r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11.33M</a:t>
            </a:r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11.33M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15.18M</a:t>
            </a:r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12.81M</a:t>
            </a:r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14.96M</a:t>
            </a:r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14.89M</a:t>
            </a:r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14.89M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0.48M</a:t>
            </a:r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0.09M</a:t>
            </a:r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0.08M</a:t>
            </a:r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55.16M</a:t>
            </a:r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55.16M</a:t>
            </a:r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35.15M</a:t>
            </a:r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42.25M</a:t>
            </a:r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50.66M</a:t>
            </a:r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26.23M</a:t>
            </a:r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27.22M</a:t>
            </a:r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21.70M</a:t>
            </a:r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6.24M</a:t>
            </a:r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1.56M</a:t>
            </a:r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7.02M</a:t>
            </a:r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6.24M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26.16M</a:t>
            </a:r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23.49M</a:t>
            </a:r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1.01M</a:t>
            </a:r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27.54M</a:t>
            </a:r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27.38M</a:t>
            </a:r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2111781" y="4872019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r>
              <a:t>MGA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04452" y="1295574"/>
            <a:ext cx="442955" cy="442955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17535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BK</a:t>
            </a:r>
          </a:p>
        </p:txBody>
      </p:sp>
      <p:sp>
        <p:nvSpPr>
          <p:cNvPr id="70" name="Shape 67"/>
          <p:cNvSpPr/>
          <p:nvPr/>
        </p:nvSpPr>
        <p:spPr>
          <a:xfrm>
            <a:off x="3151762" y="3797499"/>
            <a:ext cx="580637" cy="580637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4393135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永明经代</a:t>
            </a:r>
          </a:p>
        </p:txBody>
      </p:sp>
      <p:sp>
        <p:nvSpPr>
          <p:cNvPr id="72" name="Shape 69"/>
          <p:cNvSpPr/>
          <p:nvPr/>
        </p:nvSpPr>
        <p:spPr>
          <a:xfrm>
            <a:off x="1647817" y="2658541"/>
            <a:ext cx="461281" cy="461281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3134821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同行经代</a:t>
            </a:r>
          </a:p>
        </p:txBody>
      </p:sp>
      <p:sp>
        <p:nvSpPr>
          <p:cNvPr id="74" name="Shape 71"/>
          <p:cNvSpPr/>
          <p:nvPr/>
        </p:nvSpPr>
        <p:spPr>
          <a:xfrm>
            <a:off x="1945706" y="4418189"/>
            <a:ext cx="438830" cy="438830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天领</a:t>
            </a:r>
          </a:p>
        </p:txBody>
      </p:sp>
      <p:sp>
        <p:nvSpPr>
          <p:cNvPr id="76" name="Shape 73"/>
          <p:cNvSpPr/>
          <p:nvPr/>
        </p:nvSpPr>
        <p:spPr>
          <a:xfrm>
            <a:off x="841381" y="4251427"/>
            <a:ext cx="197803" cy="19780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446422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ICLUB</a:t>
            </a:r>
          </a:p>
        </p:txBody>
      </p:sp>
      <p:sp>
        <p:nvSpPr>
          <p:cNvPr id="78" name="Shape 75"/>
          <p:cNvSpPr/>
          <p:nvPr/>
        </p:nvSpPr>
        <p:spPr>
          <a:xfrm>
            <a:off x="968896" y="5619336"/>
            <a:ext cx="255499" cy="255499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88983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成事家办</a:t>
            </a:r>
          </a:p>
        </p:txBody>
      </p:sp>
      <p:sp>
        <p:nvSpPr>
          <p:cNvPr id="80" name="Shape 77"/>
          <p:cNvSpPr/>
          <p:nvPr/>
        </p:nvSpPr>
        <p:spPr>
          <a:xfrm>
            <a:off x="1003353" y="5870432"/>
            <a:ext cx="238704" cy="238704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69084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合伙转介</a:t>
            </a:r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IFA</a:t>
            </a:r>
          </a:p>
        </p:txBody>
      </p:sp>
      <p:sp>
        <p:nvSpPr>
          <p:cNvPr id="84" name="Shape 81"/>
          <p:cNvSpPr/>
          <p:nvPr/>
        </p:nvSpPr>
        <p:spPr>
          <a:xfrm>
            <a:off x="493449" y="1295574"/>
            <a:ext cx="326941" cy="326941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113.8% 唯一超额;同行经代 80.8%（较上期 +1.8pct）势头最强、永明经代 44.5% 回升;天领 33.4%(批核64.5M)仍为最大战略风险;IFA/合伙/成事≤11%。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54.4%  |  剩余缺口 508M  |  需 6 个月完成 45.6%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605.2M+在途 123.4M=728.5M,距目标 1113M 仍差 384M。BK 批核最大 227.6M,永明经代/同行经代次之;缺口主压永明经代与天领,靠放量+在途填补。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83251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−228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386997"/>
            <a:ext cx="241200" cy="553024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216411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−151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940021"/>
            <a:ext cx="241200" cy="401976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3767784"/>
            <a:ext cx="244475" cy="392613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354486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−107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4160398"/>
            <a:ext cx="241300" cy="587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937481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−16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4219098"/>
            <a:ext cx="238760" cy="1405985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399618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384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717141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−110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3341998"/>
            <a:ext cx="241200" cy="235714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3119118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−64</a:t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3577712"/>
            <a:ext cx="241300" cy="74609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3354832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−20</a:t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3680556"/>
            <a:ext cx="241300" cy="163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3457676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−4</a:t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3652322"/>
            <a:ext cx="241300" cy="28234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3429442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−8</a:t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M，Jan–Jul 2026）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40"/>
          <p:cNvSpPr/>
          <p:nvPr/>
        </p:nvSpPr>
        <p:spPr>
          <a:xfrm>
            <a:off x="9900448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MGA业务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41"/>
          <p:cNvGraphicFramePr>
            <a:graphicFrameLocks noGrp="1"/>
          </p:cNvGraphicFramePr>
          <p:nvPr/>
        </p:nvGraphicFramePr>
        <p:xfrm>
          <a:off x="9891308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同行经代 6 月预约 37.1M/签单 34.9M 跃居各线首位；BK 批核由 2 月峰 93.9M 落至 6 月 6.2M。各线节奏分化，需差异管理。</a:t>
            </a:r>
            <a:endParaRPr lang="en-US" sz="550" dirty="0"/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83" name="Text 82"/>
          <p:cNvSpPr/>
          <p:nvPr/>
        </p:nvSpPr>
        <p:spPr>
          <a:xfrm>
            <a:off x="314019" y="163751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MGA</a:t>
            </a:r>
          </a:p>
        </p:txBody>
      </p:sp>
      <p:sp>
        <p:nvSpPr>
          <p:cNvPr id="177" name="Shape_315"/>
          <p:cNvSpPr/>
          <p:nvPr/>
        </p:nvSpPr>
        <p:spPr>
          <a:xfrm>
            <a:off x="6626860" y="3696905"/>
            <a:ext cx="241300" cy="7087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646545" y="3474025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−19</a:t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天领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382222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46666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256.2M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4355808"/>
            <a:ext cx="98259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4355808"/>
            <a:ext cx="44865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4346664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227.6▌28.6▌0.0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305552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173.2M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344696"/>
            <a:ext cx="921372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344696"/>
            <a:ext cx="439744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335552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151.2▌19.2▌2.8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338888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488888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181.8M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378032"/>
            <a:ext cx="101708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378032"/>
            <a:ext cx="349992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368888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129.3▌39.7▌12.8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431666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79.4M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64.5▌14.5▌0.4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84444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199444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20.4M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1883588"/>
            <a:ext cx="1475834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1874444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20.4▌0.0▌0.0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2833332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477776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8.7M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2872476"/>
            <a:ext cx="996835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2872476"/>
            <a:ext cx="356255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2863332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7.7▌0.9▌0.0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同行经代未批绝对额最大(39.7M/22%)催核优先;BK 28.6M、天领 14.5M 次之;合伙转介占比50%但仅4.4M。按未批规模推进。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  83.1%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378032"/>
            <a:ext cx="131673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  14.7%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378032"/>
            <a:ext cx="131673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   2.2%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378032"/>
            <a:ext cx="131673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728.5M:已批 605.2M(83.1%)、未批 107.3M(14.7%)、待签 16.0M(2.2%)。在途 123.4M 转化可推高达成约 11pct。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批核 227.6M/目标 200M=113.8% 超额。永明经代目标最大(340M)批 151.2M、缺口 189M 最大;天领 64.5/193M、同行经代 129.3/160M 亦缺口显著,是冲刺重点。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327776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7222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8.9M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861364"/>
            <a:ext cx="404338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861364"/>
            <a:ext cx="1038612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852220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4.5▌4.4▌0.0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35000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50000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380000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  <p:sp>
        <p:nvSpPr>
          <p:cNvPr id="401" name="Text_MGA"/>
          <p:cNvSpPr txBox="1"/>
          <p:nvPr/>
        </p:nvSpPr>
        <p:spPr>
          <a:xfrm>
            <a:off x="299720" y="4811108"/>
            <a:ext cx="1243584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MGA业务</a:t>
            </a:r>
          </a:p>
        </p:txBody>
      </p:sp>
      <p:sp>
        <p:nvSpPr>
          <p:cNvPr id="402" name="Text_MGA_total"/>
          <p:cNvSpPr txBox="1"/>
          <p:nvPr/>
        </p:nvSpPr>
        <p:spPr>
          <a:xfrm>
            <a:off x="299720" y="4961108"/>
            <a:ext cx="1243584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合计 52.6M</a:t>
            </a:r>
          </a:p>
        </p:txBody>
      </p:sp>
      <p:sp>
        <p:nvSpPr>
          <p:cNvPr id="403" name="Text_MGA_pct1"/>
          <p:cNvSpPr txBox="1"/>
          <p:nvPr/>
        </p:nvSpPr>
        <p:spPr>
          <a:xfrm>
            <a:off x="1616456" y="4850252"/>
            <a:ext cx="500000" cy="14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6B3A"/>
                </a:solidFill>
                <a:latin typeface="Calibri"/>
              </a:rPr>
              <a:t>37%</a:t>
            </a:r>
          </a:p>
        </p:txBody>
      </p:sp>
      <p:sp>
        <p:nvSpPr>
          <p:cNvPr id="404" name="Text_MGA_pct2"/>
          <p:cNvSpPr txBox="1"/>
          <p:nvPr/>
        </p:nvSpPr>
        <p:spPr>
          <a:xfrm>
            <a:off x="2653916" y="4850252"/>
            <a:ext cx="500000" cy="14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C8890A"/>
                </a:solidFill>
                <a:latin typeface="Calibri"/>
              </a:rPr>
              <a:t>46%</a:t>
            </a:r>
          </a:p>
        </p:txBody>
      </p:sp>
      <p:sp>
        <p:nvSpPr>
          <p:cNvPr id="405" name="Text_MGA_stack"/>
          <p:cNvSpPr txBox="1"/>
          <p:nvPr/>
        </p:nvSpPr>
        <p:spPr>
          <a:xfrm>
            <a:off x="3198368" y="4841108"/>
            <a:ext cx="1500000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19.4▌24.0▌9.2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440.9M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1114件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425.8M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1077件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424.6M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602.0M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1156件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全流程:预约 440.9M→签单 425.8M→递交 424.6M→批核 602.0M。批核高于预约含跨周积压释放;预约→签单留存约 97% 高效,前端获客是天花板,需扩预约入口。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周度脉冲明显:批核 W08 峰 67.0M 为存量集中放款,签单 W21 峰 32.8M、预约 W05 峰 28.2M,W07 普遍低谷。四阶段节奏错位,需平滑执行。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W28（2026）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20.3M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环比-11.0%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21.0M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环比+93.3%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环比-60.7%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 预约 20.3M/51件、签单 21.0M/43件、批核 6.9M/29件。在途未批 107.3M/235件为后续批核核心储量。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204.4M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194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42.7M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53.4M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51.8M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39.4M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34.9M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40.4M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28.3M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33.1M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利泰丰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27.8M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27.2M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25.9M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28.9M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天誉国际(MGA)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MGA业务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19.4M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24.0M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52.6M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473.2M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845件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82.7M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181件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14.5M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570.4M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1065件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 累计批核 473.2M，占全业务 78.2%，高度集中。民生银行 187.5M/172 件居首，是最核心单一客户，亦是最大集中风险点。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191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145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</a:t>
            </a:r>
            <a:endParaRPr lang="en-US" sz="850" dirty="0"/>
          </a:p>
        </p:txBody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299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</a:t>
            </a:r>
            <a:endParaRPr lang="en-US" sz="850" dirty="0"/>
          </a:p>
        </p:txBody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400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185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整体平均 30.2 天、P90 72.0 天,SLA 达标率 88.9%。BK 件均 116万但平均 71.8 天/P90 145 天、达标率仅 47.4%,唯一超 SLA,大额件审核慢;天领 19.7 天最优。&gt;90天积压 84 件占 20.9% APE,需专项提速。</a:t>
            </a:r>
            <a:endParaRPr lang="en-US" sz="5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预约累计 440.9M/1114件,同行经代领跑 139.9M/398件(占32%),永明经代次之。W05 单周 28.2M 为年内峰值。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签单累计 425.8M/1077件,同行经代领跑 127.2M/367件(占30%),永明经代次之。W21 单周 32.8M 为年内峰值。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批核累计 602.0M/1156件,BK 领跑 224.5M/195件(37%),永明经代次之。W08 峰 67.0M 为年内最高。</a:t>
            </a:r>
            <a:endParaRPr lang="en-US" sz="550" dirty="0"/>
          </a:p>
        </p:txBody>
      </p:sp>
      <p:sp>
        <p:nvSpPr>
          <p:cNvPr id="343" name="T8001"/>
          <p:cNvSpPr/>
          <p:nvPr/>
        </p:nvSpPr>
        <p:spPr>
          <a:xfrm>
            <a:off x="715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609" name="T6000"/>
          <p:cNvSpPr/>
          <p:nvPr/>
        </p:nvSpPr>
        <p:spPr>
          <a:xfrm>
            <a:off x="65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612" name="T6003"/>
          <p:cNvSpPr/>
          <p:nvPr/>
        </p:nvSpPr>
        <p:spPr>
          <a:xfrm>
            <a:off x="182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905" name="T6262"/>
          <p:cNvSpPr/>
          <p:nvPr/>
        </p:nvSpPr>
        <p:spPr>
          <a:xfrm>
            <a:off x="57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906" name="Rectangle 905"/>
          <p:cNvSpPr/>
          <p:nvPr/>
        </p:nvSpPr>
        <p:spPr>
          <a:xfrm>
            <a:off x="182880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262880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Q  周度预约业绩热力矩阵（APE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08" name="TextBox 907"/>
          <p:cNvSpPr txBox="1"/>
          <p:nvPr/>
        </p:nvSpPr>
        <p:spPr>
          <a:xfrm>
            <a:off x="86288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09" name="TextBox 908"/>
          <p:cNvSpPr txBox="1"/>
          <p:nvPr/>
        </p:nvSpPr>
        <p:spPr>
          <a:xfrm>
            <a:off x="121012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0" name="TextBox 909"/>
          <p:cNvSpPr txBox="1"/>
          <p:nvPr/>
        </p:nvSpPr>
        <p:spPr>
          <a:xfrm>
            <a:off x="155737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1" name="TextBox 910"/>
          <p:cNvSpPr txBox="1"/>
          <p:nvPr/>
        </p:nvSpPr>
        <p:spPr>
          <a:xfrm>
            <a:off x="190462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2" name="TextBox 911"/>
          <p:cNvSpPr txBox="1"/>
          <p:nvPr/>
        </p:nvSpPr>
        <p:spPr>
          <a:xfrm>
            <a:off x="225187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3" name="TextBox 912"/>
          <p:cNvSpPr txBox="1"/>
          <p:nvPr/>
        </p:nvSpPr>
        <p:spPr>
          <a:xfrm>
            <a:off x="259912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4" name="TextBox 913"/>
          <p:cNvSpPr txBox="1"/>
          <p:nvPr/>
        </p:nvSpPr>
        <p:spPr>
          <a:xfrm>
            <a:off x="294637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5" name="TextBox 914"/>
          <p:cNvSpPr txBox="1"/>
          <p:nvPr/>
        </p:nvSpPr>
        <p:spPr>
          <a:xfrm>
            <a:off x="329362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6" name="TextBox 915"/>
          <p:cNvSpPr txBox="1"/>
          <p:nvPr/>
        </p:nvSpPr>
        <p:spPr>
          <a:xfrm>
            <a:off x="364087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398812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8" name="TextBox 917"/>
          <p:cNvSpPr txBox="1"/>
          <p:nvPr/>
        </p:nvSpPr>
        <p:spPr>
          <a:xfrm>
            <a:off x="433537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468261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0" name="TextBox 919"/>
          <p:cNvSpPr txBox="1"/>
          <p:nvPr/>
        </p:nvSpPr>
        <p:spPr>
          <a:xfrm>
            <a:off x="502986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537711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2" name="TextBox 921"/>
          <p:cNvSpPr txBox="1"/>
          <p:nvPr/>
        </p:nvSpPr>
        <p:spPr>
          <a:xfrm>
            <a:off x="572436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3" name="TextBox 922"/>
          <p:cNvSpPr txBox="1"/>
          <p:nvPr/>
        </p:nvSpPr>
        <p:spPr>
          <a:xfrm>
            <a:off x="202880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24" name="Rectangle 923"/>
          <p:cNvSpPr/>
          <p:nvPr/>
        </p:nvSpPr>
        <p:spPr>
          <a:xfrm>
            <a:off x="1216129" y="1022032"/>
            <a:ext cx="335249" cy="250996"/>
          </a:xfrm>
          <a:prstGeom prst="rect">
            <a:avLst/>
          </a:prstGeom>
          <a:solidFill>
            <a:srgbClr val="2980B9">
              <a:alpha val="512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121012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6" name="TextBox 925"/>
          <p:cNvSpPr txBox="1"/>
          <p:nvPr/>
        </p:nvSpPr>
        <p:spPr>
          <a:xfrm>
            <a:off x="121012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7" name="Rectangle 926"/>
          <p:cNvSpPr/>
          <p:nvPr/>
        </p:nvSpPr>
        <p:spPr>
          <a:xfrm>
            <a:off x="1563378" y="1022032"/>
            <a:ext cx="335249" cy="250996"/>
          </a:xfrm>
          <a:prstGeom prst="rect">
            <a:avLst/>
          </a:prstGeom>
          <a:solidFill>
            <a:srgbClr val="2980B9">
              <a:alpha val="608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155737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29" name="TextBox 928"/>
          <p:cNvSpPr txBox="1"/>
          <p:nvPr/>
        </p:nvSpPr>
        <p:spPr>
          <a:xfrm>
            <a:off x="155737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0" name="Rectangle 929"/>
          <p:cNvSpPr/>
          <p:nvPr/>
        </p:nvSpPr>
        <p:spPr>
          <a:xfrm>
            <a:off x="1910627" y="1022032"/>
            <a:ext cx="335249" cy="250996"/>
          </a:xfrm>
          <a:prstGeom prst="rect">
            <a:avLst/>
          </a:prstGeom>
          <a:solidFill>
            <a:srgbClr val="2980B9">
              <a:alpha val="307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TextBox 930"/>
          <p:cNvSpPr txBox="1"/>
          <p:nvPr/>
        </p:nvSpPr>
        <p:spPr>
          <a:xfrm>
            <a:off x="190462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2" name="TextBox 931"/>
          <p:cNvSpPr txBox="1"/>
          <p:nvPr/>
        </p:nvSpPr>
        <p:spPr>
          <a:xfrm>
            <a:off x="190462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3" name="Rectangle 932"/>
          <p:cNvSpPr/>
          <p:nvPr/>
        </p:nvSpPr>
        <p:spPr>
          <a:xfrm>
            <a:off x="2257876" y="1022032"/>
            <a:ext cx="335249" cy="250996"/>
          </a:xfrm>
          <a:prstGeom prst="rect">
            <a:avLst/>
          </a:prstGeom>
          <a:solidFill>
            <a:srgbClr val="2980B9">
              <a:alpha val="372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225187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5" name="TextBox 934"/>
          <p:cNvSpPr txBox="1"/>
          <p:nvPr/>
        </p:nvSpPr>
        <p:spPr>
          <a:xfrm>
            <a:off x="225187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6" name="Rectangle 935"/>
          <p:cNvSpPr/>
          <p:nvPr/>
        </p:nvSpPr>
        <p:spPr>
          <a:xfrm>
            <a:off x="2605125" y="1022032"/>
            <a:ext cx="335249" cy="250996"/>
          </a:xfrm>
          <a:prstGeom prst="rect">
            <a:avLst/>
          </a:prstGeom>
          <a:solidFill>
            <a:srgbClr val="2980B9">
              <a:alpha val="830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TextBox 936"/>
          <p:cNvSpPr txBox="1"/>
          <p:nvPr/>
        </p:nvSpPr>
        <p:spPr>
          <a:xfrm>
            <a:off x="259912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8" name="TextBox 937"/>
          <p:cNvSpPr txBox="1"/>
          <p:nvPr/>
        </p:nvSpPr>
        <p:spPr>
          <a:xfrm>
            <a:off x="259912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9" name="Rectangle 938"/>
          <p:cNvSpPr/>
          <p:nvPr/>
        </p:nvSpPr>
        <p:spPr>
          <a:xfrm>
            <a:off x="2952374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294637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1" name="TextBox 940"/>
          <p:cNvSpPr txBox="1"/>
          <p:nvPr/>
        </p:nvSpPr>
        <p:spPr>
          <a:xfrm>
            <a:off x="294637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2" name="Rectangle 941"/>
          <p:cNvSpPr/>
          <p:nvPr/>
        </p:nvSpPr>
        <p:spPr>
          <a:xfrm>
            <a:off x="3299623" y="1022032"/>
            <a:ext cx="335249" cy="250996"/>
          </a:xfrm>
          <a:prstGeom prst="rect">
            <a:avLst/>
          </a:prstGeom>
          <a:solidFill>
            <a:srgbClr val="2980B9">
              <a:alpha val="461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329362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329362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5" name="Rectangle 944"/>
          <p:cNvSpPr/>
          <p:nvPr/>
        </p:nvSpPr>
        <p:spPr>
          <a:xfrm>
            <a:off x="3646872" y="1022032"/>
            <a:ext cx="335249" cy="250996"/>
          </a:xfrm>
          <a:prstGeom prst="rect">
            <a:avLst/>
          </a:prstGeom>
          <a:solidFill>
            <a:srgbClr val="2980B9">
              <a:alpha val="355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4087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7" name="TextBox 946"/>
          <p:cNvSpPr txBox="1"/>
          <p:nvPr/>
        </p:nvSpPr>
        <p:spPr>
          <a:xfrm>
            <a:off x="364087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8" name="Rectangle 947"/>
          <p:cNvSpPr/>
          <p:nvPr/>
        </p:nvSpPr>
        <p:spPr>
          <a:xfrm>
            <a:off x="3994121" y="1022032"/>
            <a:ext cx="335249" cy="250996"/>
          </a:xfrm>
          <a:prstGeom prst="rect">
            <a:avLst/>
          </a:prstGeom>
          <a:solidFill>
            <a:srgbClr val="2980B9">
              <a:alpha val="346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398812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0" name="TextBox 949"/>
          <p:cNvSpPr txBox="1"/>
          <p:nvPr/>
        </p:nvSpPr>
        <p:spPr>
          <a:xfrm>
            <a:off x="398812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1" name="Rectangle 950"/>
          <p:cNvSpPr/>
          <p:nvPr/>
        </p:nvSpPr>
        <p:spPr>
          <a:xfrm>
            <a:off x="4341370" y="1022032"/>
            <a:ext cx="335249" cy="250996"/>
          </a:xfrm>
          <a:prstGeom prst="rect">
            <a:avLst/>
          </a:prstGeom>
          <a:solidFill>
            <a:srgbClr val="2980B9">
              <a:alpha val="311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433537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3" name="TextBox 952"/>
          <p:cNvSpPr txBox="1"/>
          <p:nvPr/>
        </p:nvSpPr>
        <p:spPr>
          <a:xfrm>
            <a:off x="433537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4" name="Rectangle 953"/>
          <p:cNvSpPr/>
          <p:nvPr/>
        </p:nvSpPr>
        <p:spPr>
          <a:xfrm>
            <a:off x="4688619" y="1022032"/>
            <a:ext cx="335249" cy="250996"/>
          </a:xfrm>
          <a:prstGeom prst="rect">
            <a:avLst/>
          </a:prstGeom>
          <a:solidFill>
            <a:srgbClr val="2980B9">
              <a:alpha val="518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468261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6" name="TextBox 955"/>
          <p:cNvSpPr txBox="1"/>
          <p:nvPr/>
        </p:nvSpPr>
        <p:spPr>
          <a:xfrm>
            <a:off x="468261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7" name="Rectangle 956"/>
          <p:cNvSpPr/>
          <p:nvPr/>
        </p:nvSpPr>
        <p:spPr>
          <a:xfrm>
            <a:off x="5035868" y="1022032"/>
            <a:ext cx="335249" cy="250996"/>
          </a:xfrm>
          <a:prstGeom prst="rect">
            <a:avLst/>
          </a:prstGeom>
          <a:solidFill>
            <a:srgbClr val="2980B9">
              <a:alpha val="31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502986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9" name="TextBox 958"/>
          <p:cNvSpPr txBox="1"/>
          <p:nvPr/>
        </p:nvSpPr>
        <p:spPr>
          <a:xfrm>
            <a:off x="502986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0" name="Rectangle 959"/>
          <p:cNvSpPr/>
          <p:nvPr/>
        </p:nvSpPr>
        <p:spPr>
          <a:xfrm>
            <a:off x="5383117" y="1022032"/>
            <a:ext cx="335249" cy="250996"/>
          </a:xfrm>
          <a:prstGeom prst="rect">
            <a:avLst/>
          </a:prstGeom>
          <a:solidFill>
            <a:srgbClr val="2980B9">
              <a:alpha val="701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537711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2" name="TextBox 961"/>
          <p:cNvSpPr txBox="1"/>
          <p:nvPr/>
        </p:nvSpPr>
        <p:spPr>
          <a:xfrm>
            <a:off x="537711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3" name="Rectangle 962"/>
          <p:cNvSpPr/>
          <p:nvPr/>
        </p:nvSpPr>
        <p:spPr>
          <a:xfrm>
            <a:off x="5730366" y="1022032"/>
            <a:ext cx="335249" cy="250996"/>
          </a:xfrm>
          <a:prstGeom prst="rect">
            <a:avLst/>
          </a:prstGeom>
          <a:solidFill>
            <a:srgbClr val="2980B9">
              <a:alpha val="3207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572436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5" name="TextBox 964"/>
          <p:cNvSpPr txBox="1"/>
          <p:nvPr/>
        </p:nvSpPr>
        <p:spPr>
          <a:xfrm>
            <a:off x="572436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6" name="TextBox 965"/>
          <p:cNvSpPr txBox="1"/>
          <p:nvPr/>
        </p:nvSpPr>
        <p:spPr>
          <a:xfrm>
            <a:off x="202880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67" name="Rectangle 966"/>
          <p:cNvSpPr/>
          <p:nvPr/>
        </p:nvSpPr>
        <p:spPr>
          <a:xfrm>
            <a:off x="868880" y="1285028"/>
            <a:ext cx="335249" cy="250996"/>
          </a:xfrm>
          <a:prstGeom prst="rect">
            <a:avLst/>
          </a:prstGeom>
          <a:solidFill>
            <a:srgbClr val="374151">
              <a:alpha val="4495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TextBox 967"/>
          <p:cNvSpPr txBox="1"/>
          <p:nvPr/>
        </p:nvSpPr>
        <p:spPr>
          <a:xfrm>
            <a:off x="86288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69" name="TextBox 968"/>
          <p:cNvSpPr txBox="1"/>
          <p:nvPr/>
        </p:nvSpPr>
        <p:spPr>
          <a:xfrm>
            <a:off x="86288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0" name="Rectangle 969"/>
          <p:cNvSpPr/>
          <p:nvPr/>
        </p:nvSpPr>
        <p:spPr>
          <a:xfrm>
            <a:off x="1216129" y="1285028"/>
            <a:ext cx="335249" cy="250996"/>
          </a:xfrm>
          <a:prstGeom prst="rect">
            <a:avLst/>
          </a:prstGeom>
          <a:solidFill>
            <a:srgbClr val="374151">
              <a:alpha val="659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21012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2" name="TextBox 971"/>
          <p:cNvSpPr txBox="1"/>
          <p:nvPr/>
        </p:nvSpPr>
        <p:spPr>
          <a:xfrm>
            <a:off x="121012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3" name="Rectangle 972"/>
          <p:cNvSpPr/>
          <p:nvPr/>
        </p:nvSpPr>
        <p:spPr>
          <a:xfrm>
            <a:off x="1563378" y="1285028"/>
            <a:ext cx="335249" cy="250996"/>
          </a:xfrm>
          <a:prstGeom prst="rect">
            <a:avLst/>
          </a:prstGeom>
          <a:solidFill>
            <a:srgbClr val="374151">
              <a:alpha val="523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155737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5" name="TextBox 974"/>
          <p:cNvSpPr txBox="1"/>
          <p:nvPr/>
        </p:nvSpPr>
        <p:spPr>
          <a:xfrm>
            <a:off x="155737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6" name="Rectangle 975"/>
          <p:cNvSpPr/>
          <p:nvPr/>
        </p:nvSpPr>
        <p:spPr>
          <a:xfrm>
            <a:off x="2605125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259912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8" name="TextBox 977"/>
          <p:cNvSpPr txBox="1"/>
          <p:nvPr/>
        </p:nvSpPr>
        <p:spPr>
          <a:xfrm>
            <a:off x="259912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9" name="Rectangle 978"/>
          <p:cNvSpPr/>
          <p:nvPr/>
        </p:nvSpPr>
        <p:spPr>
          <a:xfrm>
            <a:off x="3646872" y="1285028"/>
            <a:ext cx="335249" cy="250996"/>
          </a:xfrm>
          <a:prstGeom prst="rect">
            <a:avLst/>
          </a:prstGeom>
          <a:solidFill>
            <a:srgbClr val="374151">
              <a:alpha val="393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TextBox 979"/>
          <p:cNvSpPr txBox="1"/>
          <p:nvPr/>
        </p:nvSpPr>
        <p:spPr>
          <a:xfrm>
            <a:off x="364087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1" name="TextBox 980"/>
          <p:cNvSpPr txBox="1"/>
          <p:nvPr/>
        </p:nvSpPr>
        <p:spPr>
          <a:xfrm>
            <a:off x="364087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2" name="Rectangle 981"/>
          <p:cNvSpPr/>
          <p:nvPr/>
        </p:nvSpPr>
        <p:spPr>
          <a:xfrm>
            <a:off x="4688619" y="1285028"/>
            <a:ext cx="335249" cy="250996"/>
          </a:xfrm>
          <a:prstGeom prst="rect">
            <a:avLst/>
          </a:prstGeom>
          <a:solidFill>
            <a:srgbClr val="374151">
              <a:alpha val="3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68261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4" name="TextBox 983"/>
          <p:cNvSpPr txBox="1"/>
          <p:nvPr/>
        </p:nvSpPr>
        <p:spPr>
          <a:xfrm>
            <a:off x="468261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5" name="Rectangle 984"/>
          <p:cNvSpPr/>
          <p:nvPr/>
        </p:nvSpPr>
        <p:spPr>
          <a:xfrm>
            <a:off x="5383117" y="1285028"/>
            <a:ext cx="335249" cy="250996"/>
          </a:xfrm>
          <a:prstGeom prst="rect">
            <a:avLst/>
          </a:prstGeom>
          <a:solidFill>
            <a:srgbClr val="374151">
              <a:alpha val="32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TextBox 985"/>
          <p:cNvSpPr txBox="1"/>
          <p:nvPr/>
        </p:nvSpPr>
        <p:spPr>
          <a:xfrm>
            <a:off x="5377117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7" name="TextBox 986"/>
          <p:cNvSpPr txBox="1"/>
          <p:nvPr/>
        </p:nvSpPr>
        <p:spPr>
          <a:xfrm>
            <a:off x="5377117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8" name="TextBox 987"/>
          <p:cNvSpPr txBox="1"/>
          <p:nvPr/>
        </p:nvSpPr>
        <p:spPr>
          <a:xfrm>
            <a:off x="202880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89" name="Rectangle 988"/>
          <p:cNvSpPr/>
          <p:nvPr/>
        </p:nvSpPr>
        <p:spPr>
          <a:xfrm>
            <a:off x="868880" y="1548024"/>
            <a:ext cx="335249" cy="250996"/>
          </a:xfrm>
          <a:prstGeom prst="rect">
            <a:avLst/>
          </a:prstGeom>
          <a:solidFill>
            <a:srgbClr val="1F3864">
              <a:alpha val="967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TextBox 989"/>
          <p:cNvSpPr txBox="1"/>
          <p:nvPr/>
        </p:nvSpPr>
        <p:spPr>
          <a:xfrm>
            <a:off x="86288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1" name="TextBox 990"/>
          <p:cNvSpPr txBox="1"/>
          <p:nvPr/>
        </p:nvSpPr>
        <p:spPr>
          <a:xfrm>
            <a:off x="86288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2" name="Rectangle 991"/>
          <p:cNvSpPr/>
          <p:nvPr/>
        </p:nvSpPr>
        <p:spPr>
          <a:xfrm>
            <a:off x="1216129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TextBox 992"/>
          <p:cNvSpPr txBox="1"/>
          <p:nvPr/>
        </p:nvSpPr>
        <p:spPr>
          <a:xfrm>
            <a:off x="121012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4" name="TextBox 993"/>
          <p:cNvSpPr txBox="1"/>
          <p:nvPr/>
        </p:nvSpPr>
        <p:spPr>
          <a:xfrm>
            <a:off x="121012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5" name="Rectangle 994"/>
          <p:cNvSpPr/>
          <p:nvPr/>
        </p:nvSpPr>
        <p:spPr>
          <a:xfrm>
            <a:off x="1563378" y="1548024"/>
            <a:ext cx="335249" cy="250996"/>
          </a:xfrm>
          <a:prstGeom prst="rect">
            <a:avLst/>
          </a:prstGeom>
          <a:solidFill>
            <a:srgbClr val="1F3864">
              <a:alpha val="485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TextBox 995"/>
          <p:cNvSpPr txBox="1"/>
          <p:nvPr/>
        </p:nvSpPr>
        <p:spPr>
          <a:xfrm>
            <a:off x="155737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7" name="TextBox 996"/>
          <p:cNvSpPr txBox="1"/>
          <p:nvPr/>
        </p:nvSpPr>
        <p:spPr>
          <a:xfrm>
            <a:off x="155737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8" name="Rectangle 997"/>
          <p:cNvSpPr/>
          <p:nvPr/>
        </p:nvSpPr>
        <p:spPr>
          <a:xfrm>
            <a:off x="1910627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90462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0" name="TextBox 999"/>
          <p:cNvSpPr txBox="1"/>
          <p:nvPr/>
        </p:nvSpPr>
        <p:spPr>
          <a:xfrm>
            <a:off x="190462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1" name="Rectangle 1000"/>
          <p:cNvSpPr/>
          <p:nvPr/>
        </p:nvSpPr>
        <p:spPr>
          <a:xfrm>
            <a:off x="2257876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225187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225187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4" name="Rectangle 1003"/>
          <p:cNvSpPr/>
          <p:nvPr/>
        </p:nvSpPr>
        <p:spPr>
          <a:xfrm>
            <a:off x="2605125" y="1548024"/>
            <a:ext cx="335249" cy="250996"/>
          </a:xfrm>
          <a:prstGeom prst="rect">
            <a:avLst/>
          </a:prstGeom>
          <a:solidFill>
            <a:srgbClr val="1F3864">
              <a:alpha val="3892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TextBox 1004"/>
          <p:cNvSpPr txBox="1"/>
          <p:nvPr/>
        </p:nvSpPr>
        <p:spPr>
          <a:xfrm>
            <a:off x="259912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6" name="TextBox 1005"/>
          <p:cNvSpPr txBox="1"/>
          <p:nvPr/>
        </p:nvSpPr>
        <p:spPr>
          <a:xfrm>
            <a:off x="259912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7" name="Rectangle 1006"/>
          <p:cNvSpPr/>
          <p:nvPr/>
        </p:nvSpPr>
        <p:spPr>
          <a:xfrm>
            <a:off x="2952374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TextBox 1007"/>
          <p:cNvSpPr txBox="1"/>
          <p:nvPr/>
        </p:nvSpPr>
        <p:spPr>
          <a:xfrm>
            <a:off x="294637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9" name="TextBox 1008"/>
          <p:cNvSpPr txBox="1"/>
          <p:nvPr/>
        </p:nvSpPr>
        <p:spPr>
          <a:xfrm>
            <a:off x="294637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0" name="Rectangle 1009"/>
          <p:cNvSpPr/>
          <p:nvPr/>
        </p:nvSpPr>
        <p:spPr>
          <a:xfrm>
            <a:off x="3299623" y="1548024"/>
            <a:ext cx="335249" cy="250996"/>
          </a:xfrm>
          <a:prstGeom prst="rect">
            <a:avLst/>
          </a:prstGeom>
          <a:solidFill>
            <a:srgbClr val="1F3864">
              <a:alpha val="732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TextBox 1010"/>
          <p:cNvSpPr txBox="1"/>
          <p:nvPr/>
        </p:nvSpPr>
        <p:spPr>
          <a:xfrm>
            <a:off x="329362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2" name="TextBox 1011"/>
          <p:cNvSpPr txBox="1"/>
          <p:nvPr/>
        </p:nvSpPr>
        <p:spPr>
          <a:xfrm>
            <a:off x="329362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3" name="Rectangle 1012"/>
          <p:cNvSpPr/>
          <p:nvPr/>
        </p:nvSpPr>
        <p:spPr>
          <a:xfrm>
            <a:off x="3646872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364087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5" name="TextBox 1014"/>
          <p:cNvSpPr txBox="1"/>
          <p:nvPr/>
        </p:nvSpPr>
        <p:spPr>
          <a:xfrm>
            <a:off x="364087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6" name="Rectangle 1015"/>
          <p:cNvSpPr/>
          <p:nvPr/>
        </p:nvSpPr>
        <p:spPr>
          <a:xfrm>
            <a:off x="3994121" y="1548024"/>
            <a:ext cx="335249" cy="250996"/>
          </a:xfrm>
          <a:prstGeom prst="rect">
            <a:avLst/>
          </a:prstGeom>
          <a:solidFill>
            <a:srgbClr val="1F3864">
              <a:alpha val="7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TextBox 1016"/>
          <p:cNvSpPr txBox="1"/>
          <p:nvPr/>
        </p:nvSpPr>
        <p:spPr>
          <a:xfrm>
            <a:off x="398812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8" name="TextBox 1017"/>
          <p:cNvSpPr txBox="1"/>
          <p:nvPr/>
        </p:nvSpPr>
        <p:spPr>
          <a:xfrm>
            <a:off x="398812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9" name="Rectangle 1018"/>
          <p:cNvSpPr/>
          <p:nvPr/>
        </p:nvSpPr>
        <p:spPr>
          <a:xfrm>
            <a:off x="4341370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433537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1" name="TextBox 1020"/>
          <p:cNvSpPr txBox="1"/>
          <p:nvPr/>
        </p:nvSpPr>
        <p:spPr>
          <a:xfrm>
            <a:off x="433537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2" name="Rectangle 1021"/>
          <p:cNvSpPr/>
          <p:nvPr/>
        </p:nvSpPr>
        <p:spPr>
          <a:xfrm>
            <a:off x="4688619" y="1548024"/>
            <a:ext cx="335249" cy="250996"/>
          </a:xfrm>
          <a:prstGeom prst="rect">
            <a:avLst/>
          </a:prstGeom>
          <a:solidFill>
            <a:srgbClr val="1F3864">
              <a:alpha val="795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468261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4" name="TextBox 1023"/>
          <p:cNvSpPr txBox="1"/>
          <p:nvPr/>
        </p:nvSpPr>
        <p:spPr>
          <a:xfrm>
            <a:off x="468261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5" name="Rectangle 1024"/>
          <p:cNvSpPr/>
          <p:nvPr/>
        </p:nvSpPr>
        <p:spPr>
          <a:xfrm>
            <a:off x="5035868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502986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7" name="TextBox 1026"/>
          <p:cNvSpPr txBox="1"/>
          <p:nvPr/>
        </p:nvSpPr>
        <p:spPr>
          <a:xfrm>
            <a:off x="502986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8" name="Rectangle 1027"/>
          <p:cNvSpPr/>
          <p:nvPr/>
        </p:nvSpPr>
        <p:spPr>
          <a:xfrm>
            <a:off x="5383117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537711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0" name="TextBox 1029"/>
          <p:cNvSpPr txBox="1"/>
          <p:nvPr/>
        </p:nvSpPr>
        <p:spPr>
          <a:xfrm>
            <a:off x="537711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1" name="Rectangle 1030"/>
          <p:cNvSpPr/>
          <p:nvPr/>
        </p:nvSpPr>
        <p:spPr>
          <a:xfrm>
            <a:off x="5730366" y="1548024"/>
            <a:ext cx="335249" cy="250996"/>
          </a:xfrm>
          <a:prstGeom prst="rect">
            <a:avLst/>
          </a:prstGeom>
          <a:solidFill>
            <a:srgbClr val="1F3864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572436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3" name="TextBox 1032"/>
          <p:cNvSpPr txBox="1"/>
          <p:nvPr/>
        </p:nvSpPr>
        <p:spPr>
          <a:xfrm>
            <a:off x="572436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4" name="TextBox 1033"/>
          <p:cNvSpPr txBox="1"/>
          <p:nvPr/>
        </p:nvSpPr>
        <p:spPr>
          <a:xfrm>
            <a:off x="202880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35" name="Rectangle 1034"/>
          <p:cNvSpPr/>
          <p:nvPr/>
        </p:nvSpPr>
        <p:spPr>
          <a:xfrm>
            <a:off x="868880" y="1811020"/>
            <a:ext cx="335249" cy="250996"/>
          </a:xfrm>
          <a:prstGeom prst="rect">
            <a:avLst/>
          </a:prstGeom>
          <a:solidFill>
            <a:srgbClr val="E67E22">
              <a:alpha val="3523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86288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37" name="TextBox 1036"/>
          <p:cNvSpPr txBox="1"/>
          <p:nvPr/>
        </p:nvSpPr>
        <p:spPr>
          <a:xfrm>
            <a:off x="86288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38" name="Rectangle 1037"/>
          <p:cNvSpPr/>
          <p:nvPr/>
        </p:nvSpPr>
        <p:spPr>
          <a:xfrm>
            <a:off x="1216129" y="1811020"/>
            <a:ext cx="335249" cy="250996"/>
          </a:xfrm>
          <a:prstGeom prst="rect">
            <a:avLst/>
          </a:prstGeom>
          <a:solidFill>
            <a:srgbClr val="E67E22">
              <a:alpha val="520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121012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0" name="TextBox 1039"/>
          <p:cNvSpPr txBox="1"/>
          <p:nvPr/>
        </p:nvSpPr>
        <p:spPr>
          <a:xfrm>
            <a:off x="121012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1" name="Rectangle 1040"/>
          <p:cNvSpPr/>
          <p:nvPr/>
        </p:nvSpPr>
        <p:spPr>
          <a:xfrm>
            <a:off x="1563378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155737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3" name="TextBox 1042"/>
          <p:cNvSpPr txBox="1"/>
          <p:nvPr/>
        </p:nvSpPr>
        <p:spPr>
          <a:xfrm>
            <a:off x="155737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4" name="Rectangle 1043"/>
          <p:cNvSpPr/>
          <p:nvPr/>
        </p:nvSpPr>
        <p:spPr>
          <a:xfrm>
            <a:off x="1910627" y="1811020"/>
            <a:ext cx="335249" cy="250996"/>
          </a:xfrm>
          <a:prstGeom prst="rect">
            <a:avLst/>
          </a:prstGeom>
          <a:solidFill>
            <a:srgbClr val="E67E22">
              <a:alpha val="363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TextBox 1044"/>
          <p:cNvSpPr txBox="1"/>
          <p:nvPr/>
        </p:nvSpPr>
        <p:spPr>
          <a:xfrm>
            <a:off x="190462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6" name="TextBox 1045"/>
          <p:cNvSpPr txBox="1"/>
          <p:nvPr/>
        </p:nvSpPr>
        <p:spPr>
          <a:xfrm>
            <a:off x="190462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7" name="Rectangle 1046"/>
          <p:cNvSpPr/>
          <p:nvPr/>
        </p:nvSpPr>
        <p:spPr>
          <a:xfrm>
            <a:off x="2257876" y="1811020"/>
            <a:ext cx="335249" cy="250996"/>
          </a:xfrm>
          <a:prstGeom prst="rect">
            <a:avLst/>
          </a:prstGeom>
          <a:solidFill>
            <a:srgbClr val="E67E22">
              <a:alpha val="518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TextBox 1047"/>
          <p:cNvSpPr txBox="1"/>
          <p:nvPr/>
        </p:nvSpPr>
        <p:spPr>
          <a:xfrm>
            <a:off x="225187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9" name="TextBox 1048"/>
          <p:cNvSpPr txBox="1"/>
          <p:nvPr/>
        </p:nvSpPr>
        <p:spPr>
          <a:xfrm>
            <a:off x="225187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0" name="Rectangle 1049"/>
          <p:cNvSpPr/>
          <p:nvPr/>
        </p:nvSpPr>
        <p:spPr>
          <a:xfrm>
            <a:off x="2605125" y="1811020"/>
            <a:ext cx="335249" cy="250996"/>
          </a:xfrm>
          <a:prstGeom prst="rect">
            <a:avLst/>
          </a:prstGeom>
          <a:solidFill>
            <a:srgbClr val="E67E22">
              <a:alpha val="614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259912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2" name="TextBox 1051"/>
          <p:cNvSpPr txBox="1"/>
          <p:nvPr/>
        </p:nvSpPr>
        <p:spPr>
          <a:xfrm>
            <a:off x="259912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3" name="Rectangle 1052"/>
          <p:cNvSpPr/>
          <p:nvPr/>
        </p:nvSpPr>
        <p:spPr>
          <a:xfrm>
            <a:off x="2952374" y="1811020"/>
            <a:ext cx="335249" cy="250996"/>
          </a:xfrm>
          <a:prstGeom prst="rect">
            <a:avLst/>
          </a:prstGeom>
          <a:solidFill>
            <a:srgbClr val="E67E22">
              <a:alpha val="528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TextBox 1053"/>
          <p:cNvSpPr txBox="1"/>
          <p:nvPr/>
        </p:nvSpPr>
        <p:spPr>
          <a:xfrm>
            <a:off x="294637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5" name="TextBox 1054"/>
          <p:cNvSpPr txBox="1"/>
          <p:nvPr/>
        </p:nvSpPr>
        <p:spPr>
          <a:xfrm>
            <a:off x="294637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6" name="Rectangle 1055"/>
          <p:cNvSpPr/>
          <p:nvPr/>
        </p:nvSpPr>
        <p:spPr>
          <a:xfrm>
            <a:off x="3299623" y="1811020"/>
            <a:ext cx="335249" cy="250996"/>
          </a:xfrm>
          <a:prstGeom prst="rect">
            <a:avLst/>
          </a:prstGeom>
          <a:solidFill>
            <a:srgbClr val="E67E22">
              <a:alpha val="812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TextBox 1056"/>
          <p:cNvSpPr txBox="1"/>
          <p:nvPr/>
        </p:nvSpPr>
        <p:spPr>
          <a:xfrm>
            <a:off x="329362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8" name="TextBox 1057"/>
          <p:cNvSpPr txBox="1"/>
          <p:nvPr/>
        </p:nvSpPr>
        <p:spPr>
          <a:xfrm>
            <a:off x="329362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9" name="Rectangle 1058"/>
          <p:cNvSpPr/>
          <p:nvPr/>
        </p:nvSpPr>
        <p:spPr>
          <a:xfrm>
            <a:off x="3646872" y="1811020"/>
            <a:ext cx="335249" cy="250996"/>
          </a:xfrm>
          <a:prstGeom prst="rect">
            <a:avLst/>
          </a:prstGeom>
          <a:solidFill>
            <a:srgbClr val="E67E22">
              <a:alpha val="511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364087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1" name="TextBox 1060"/>
          <p:cNvSpPr txBox="1"/>
          <p:nvPr/>
        </p:nvSpPr>
        <p:spPr>
          <a:xfrm>
            <a:off x="364087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2" name="Rectangle 1061"/>
          <p:cNvSpPr/>
          <p:nvPr/>
        </p:nvSpPr>
        <p:spPr>
          <a:xfrm>
            <a:off x="3994121" y="1811020"/>
            <a:ext cx="335249" cy="250996"/>
          </a:xfrm>
          <a:prstGeom prst="rect">
            <a:avLst/>
          </a:prstGeom>
          <a:solidFill>
            <a:srgbClr val="E67E22">
              <a:alpha val="767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TextBox 1062"/>
          <p:cNvSpPr txBox="1"/>
          <p:nvPr/>
        </p:nvSpPr>
        <p:spPr>
          <a:xfrm>
            <a:off x="398812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4" name="TextBox 1063"/>
          <p:cNvSpPr txBox="1"/>
          <p:nvPr/>
        </p:nvSpPr>
        <p:spPr>
          <a:xfrm>
            <a:off x="398812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5" name="Rectangle 1064"/>
          <p:cNvSpPr/>
          <p:nvPr/>
        </p:nvSpPr>
        <p:spPr>
          <a:xfrm>
            <a:off x="4341370" y="1811020"/>
            <a:ext cx="335249" cy="250996"/>
          </a:xfrm>
          <a:prstGeom prst="rect">
            <a:avLst/>
          </a:prstGeom>
          <a:solidFill>
            <a:srgbClr val="E67E22">
              <a:alpha val="741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TextBox 1065"/>
          <p:cNvSpPr txBox="1"/>
          <p:nvPr/>
        </p:nvSpPr>
        <p:spPr>
          <a:xfrm>
            <a:off x="433537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7" name="TextBox 1066"/>
          <p:cNvSpPr txBox="1"/>
          <p:nvPr/>
        </p:nvSpPr>
        <p:spPr>
          <a:xfrm>
            <a:off x="433537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8" name="Rectangle 1067"/>
          <p:cNvSpPr/>
          <p:nvPr/>
        </p:nvSpPr>
        <p:spPr>
          <a:xfrm>
            <a:off x="4688619" y="1811020"/>
            <a:ext cx="335249" cy="250996"/>
          </a:xfrm>
          <a:prstGeom prst="rect">
            <a:avLst/>
          </a:prstGeom>
          <a:solidFill>
            <a:srgbClr val="E67E22">
              <a:alpha val="61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468261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0" name="TextBox 1069"/>
          <p:cNvSpPr txBox="1"/>
          <p:nvPr/>
        </p:nvSpPr>
        <p:spPr>
          <a:xfrm>
            <a:off x="468261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1" name="Rectangle 1070"/>
          <p:cNvSpPr/>
          <p:nvPr/>
        </p:nvSpPr>
        <p:spPr>
          <a:xfrm>
            <a:off x="5035868" y="1811020"/>
            <a:ext cx="335249" cy="250996"/>
          </a:xfrm>
          <a:prstGeom prst="rect">
            <a:avLst/>
          </a:prstGeom>
          <a:solidFill>
            <a:srgbClr val="E67E22">
              <a:alpha val="77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TextBox 1071"/>
          <p:cNvSpPr txBox="1"/>
          <p:nvPr/>
        </p:nvSpPr>
        <p:spPr>
          <a:xfrm>
            <a:off x="502986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3" name="TextBox 1072"/>
          <p:cNvSpPr txBox="1"/>
          <p:nvPr/>
        </p:nvSpPr>
        <p:spPr>
          <a:xfrm>
            <a:off x="502986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4" name="Rectangle 1073"/>
          <p:cNvSpPr/>
          <p:nvPr/>
        </p:nvSpPr>
        <p:spPr>
          <a:xfrm>
            <a:off x="5383117" y="1811020"/>
            <a:ext cx="335249" cy="250996"/>
          </a:xfrm>
          <a:prstGeom prst="rect">
            <a:avLst/>
          </a:prstGeom>
          <a:solidFill>
            <a:srgbClr val="E67E22">
              <a:alpha val="689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537711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6" name="TextBox 1075"/>
          <p:cNvSpPr txBox="1"/>
          <p:nvPr/>
        </p:nvSpPr>
        <p:spPr>
          <a:xfrm>
            <a:off x="537711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7" name="Rectangle 1076"/>
          <p:cNvSpPr/>
          <p:nvPr/>
        </p:nvSpPr>
        <p:spPr>
          <a:xfrm>
            <a:off x="5730366" y="1811020"/>
            <a:ext cx="335249" cy="250996"/>
          </a:xfrm>
          <a:prstGeom prst="rect">
            <a:avLst/>
          </a:prstGeom>
          <a:solidFill>
            <a:srgbClr val="E67E22">
              <a:alpha val="879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572436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9" name="TextBox 1078"/>
          <p:cNvSpPr txBox="1"/>
          <p:nvPr/>
        </p:nvSpPr>
        <p:spPr>
          <a:xfrm>
            <a:off x="572436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0" name="TextBox 1079"/>
          <p:cNvSpPr txBox="1"/>
          <p:nvPr/>
        </p:nvSpPr>
        <p:spPr>
          <a:xfrm>
            <a:off x="202880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81" name="Rectangle 1080"/>
          <p:cNvSpPr/>
          <p:nvPr/>
        </p:nvSpPr>
        <p:spPr>
          <a:xfrm>
            <a:off x="868880" y="2074016"/>
            <a:ext cx="335249" cy="250996"/>
          </a:xfrm>
          <a:prstGeom prst="rect">
            <a:avLst/>
          </a:prstGeom>
          <a:solidFill>
            <a:srgbClr val="1A7A3F">
              <a:alpha val="736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TextBox 1081"/>
          <p:cNvSpPr txBox="1"/>
          <p:nvPr/>
        </p:nvSpPr>
        <p:spPr>
          <a:xfrm>
            <a:off x="86288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3" name="TextBox 1082"/>
          <p:cNvSpPr txBox="1"/>
          <p:nvPr/>
        </p:nvSpPr>
        <p:spPr>
          <a:xfrm>
            <a:off x="86288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4" name="Rectangle 1083"/>
          <p:cNvSpPr/>
          <p:nvPr/>
        </p:nvSpPr>
        <p:spPr>
          <a:xfrm>
            <a:off x="1216129" y="2074016"/>
            <a:ext cx="335249" cy="250996"/>
          </a:xfrm>
          <a:prstGeom prst="rect">
            <a:avLst/>
          </a:prstGeom>
          <a:solidFill>
            <a:srgbClr val="1A7A3F">
              <a:alpha val="597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TextBox 1084"/>
          <p:cNvSpPr txBox="1"/>
          <p:nvPr/>
        </p:nvSpPr>
        <p:spPr>
          <a:xfrm>
            <a:off x="121012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6" name="TextBox 1085"/>
          <p:cNvSpPr txBox="1"/>
          <p:nvPr/>
        </p:nvSpPr>
        <p:spPr>
          <a:xfrm>
            <a:off x="121012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7" name="Rectangle 1086"/>
          <p:cNvSpPr/>
          <p:nvPr/>
        </p:nvSpPr>
        <p:spPr>
          <a:xfrm>
            <a:off x="1563378" y="2074016"/>
            <a:ext cx="335249" cy="250996"/>
          </a:xfrm>
          <a:prstGeom prst="rect">
            <a:avLst/>
          </a:prstGeom>
          <a:solidFill>
            <a:srgbClr val="1A7A3F">
              <a:alpha val="803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155737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9" name="TextBox 1088"/>
          <p:cNvSpPr txBox="1"/>
          <p:nvPr/>
        </p:nvSpPr>
        <p:spPr>
          <a:xfrm>
            <a:off x="155737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0" name="Rectangle 1089"/>
          <p:cNvSpPr/>
          <p:nvPr/>
        </p:nvSpPr>
        <p:spPr>
          <a:xfrm>
            <a:off x="1910627" y="2074016"/>
            <a:ext cx="335249" cy="250996"/>
          </a:xfrm>
          <a:prstGeom prst="rect">
            <a:avLst/>
          </a:prstGeom>
          <a:solidFill>
            <a:srgbClr val="1A7A3F">
              <a:alpha val="39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TextBox 1090"/>
          <p:cNvSpPr txBox="1"/>
          <p:nvPr/>
        </p:nvSpPr>
        <p:spPr>
          <a:xfrm>
            <a:off x="190462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2" name="TextBox 1091"/>
          <p:cNvSpPr txBox="1"/>
          <p:nvPr/>
        </p:nvSpPr>
        <p:spPr>
          <a:xfrm>
            <a:off x="190462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3" name="Rectangle 1092"/>
          <p:cNvSpPr/>
          <p:nvPr/>
        </p:nvSpPr>
        <p:spPr>
          <a:xfrm>
            <a:off x="2257876" y="2074016"/>
            <a:ext cx="335249" cy="250996"/>
          </a:xfrm>
          <a:prstGeom prst="rect">
            <a:avLst/>
          </a:prstGeom>
          <a:solidFill>
            <a:srgbClr val="1A7A3F">
              <a:alpha val="72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225187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5" name="TextBox 1094"/>
          <p:cNvSpPr txBox="1"/>
          <p:nvPr/>
        </p:nvSpPr>
        <p:spPr>
          <a:xfrm>
            <a:off x="225187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6" name="Rectangle 1095"/>
          <p:cNvSpPr/>
          <p:nvPr/>
        </p:nvSpPr>
        <p:spPr>
          <a:xfrm>
            <a:off x="2605125" y="2074016"/>
            <a:ext cx="335249" cy="250996"/>
          </a:xfrm>
          <a:prstGeom prst="rect">
            <a:avLst/>
          </a:prstGeom>
          <a:solidFill>
            <a:srgbClr val="1A7A3F">
              <a:alpha val="732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TextBox 1096"/>
          <p:cNvSpPr txBox="1"/>
          <p:nvPr/>
        </p:nvSpPr>
        <p:spPr>
          <a:xfrm>
            <a:off x="259912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8" name="TextBox 1097"/>
          <p:cNvSpPr txBox="1"/>
          <p:nvPr/>
        </p:nvSpPr>
        <p:spPr>
          <a:xfrm>
            <a:off x="259912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9" name="Rectangle 1098"/>
          <p:cNvSpPr/>
          <p:nvPr/>
        </p:nvSpPr>
        <p:spPr>
          <a:xfrm>
            <a:off x="2952374" y="2074016"/>
            <a:ext cx="335249" cy="250996"/>
          </a:xfrm>
          <a:prstGeom prst="rect">
            <a:avLst/>
          </a:prstGeom>
          <a:solidFill>
            <a:srgbClr val="1A7A3F">
              <a:alpha val="83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TextBox 1099"/>
          <p:cNvSpPr txBox="1"/>
          <p:nvPr/>
        </p:nvSpPr>
        <p:spPr>
          <a:xfrm>
            <a:off x="294637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1" name="TextBox 1100"/>
          <p:cNvSpPr txBox="1"/>
          <p:nvPr/>
        </p:nvSpPr>
        <p:spPr>
          <a:xfrm>
            <a:off x="294637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2" name="Rectangle 1101"/>
          <p:cNvSpPr/>
          <p:nvPr/>
        </p:nvSpPr>
        <p:spPr>
          <a:xfrm>
            <a:off x="3299623" y="2074016"/>
            <a:ext cx="335249" cy="250996"/>
          </a:xfrm>
          <a:prstGeom prst="rect">
            <a:avLst/>
          </a:prstGeom>
          <a:solidFill>
            <a:srgbClr val="1A7A3F">
              <a:alpha val="660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329362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4" name="TextBox 1103"/>
          <p:cNvSpPr txBox="1"/>
          <p:nvPr/>
        </p:nvSpPr>
        <p:spPr>
          <a:xfrm>
            <a:off x="329362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5" name="Rectangle 1104"/>
          <p:cNvSpPr/>
          <p:nvPr/>
        </p:nvSpPr>
        <p:spPr>
          <a:xfrm>
            <a:off x="3646872" y="2074016"/>
            <a:ext cx="335249" cy="250996"/>
          </a:xfrm>
          <a:prstGeom prst="rect">
            <a:avLst/>
          </a:prstGeom>
          <a:solidFill>
            <a:srgbClr val="1A7A3F">
              <a:alpha val="551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364087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7" name="TextBox 1106"/>
          <p:cNvSpPr txBox="1"/>
          <p:nvPr/>
        </p:nvSpPr>
        <p:spPr>
          <a:xfrm>
            <a:off x="364087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8" name="Rectangle 1107"/>
          <p:cNvSpPr/>
          <p:nvPr/>
        </p:nvSpPr>
        <p:spPr>
          <a:xfrm>
            <a:off x="3994121" y="2074016"/>
            <a:ext cx="335249" cy="250996"/>
          </a:xfrm>
          <a:prstGeom prst="rect">
            <a:avLst/>
          </a:prstGeom>
          <a:solidFill>
            <a:srgbClr val="1A7A3F">
              <a:alpha val="756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398812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0" name="TextBox 1109"/>
          <p:cNvSpPr txBox="1"/>
          <p:nvPr/>
        </p:nvSpPr>
        <p:spPr>
          <a:xfrm>
            <a:off x="398812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1" name="Rectangle 1110"/>
          <p:cNvSpPr/>
          <p:nvPr/>
        </p:nvSpPr>
        <p:spPr>
          <a:xfrm>
            <a:off x="4341370" y="2074016"/>
            <a:ext cx="335249" cy="250996"/>
          </a:xfrm>
          <a:prstGeom prst="rect">
            <a:avLst/>
          </a:prstGeom>
          <a:solidFill>
            <a:srgbClr val="1A7A3F">
              <a:alpha val="836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433537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3" name="TextBox 1112"/>
          <p:cNvSpPr txBox="1"/>
          <p:nvPr/>
        </p:nvSpPr>
        <p:spPr>
          <a:xfrm>
            <a:off x="433537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4" name="Rectangle 1113"/>
          <p:cNvSpPr/>
          <p:nvPr/>
        </p:nvSpPr>
        <p:spPr>
          <a:xfrm>
            <a:off x="4688619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TextBox 1114"/>
          <p:cNvSpPr txBox="1"/>
          <p:nvPr/>
        </p:nvSpPr>
        <p:spPr>
          <a:xfrm>
            <a:off x="468261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6" name="TextBox 1115"/>
          <p:cNvSpPr txBox="1"/>
          <p:nvPr/>
        </p:nvSpPr>
        <p:spPr>
          <a:xfrm>
            <a:off x="468261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7" name="Rectangle 1116"/>
          <p:cNvSpPr/>
          <p:nvPr/>
        </p:nvSpPr>
        <p:spPr>
          <a:xfrm>
            <a:off x="5035868" y="2074016"/>
            <a:ext cx="335249" cy="250996"/>
          </a:xfrm>
          <a:prstGeom prst="rect">
            <a:avLst/>
          </a:prstGeom>
          <a:solidFill>
            <a:srgbClr val="1A7A3F">
              <a:alpha val="51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502986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19" name="TextBox 1118"/>
          <p:cNvSpPr txBox="1"/>
          <p:nvPr/>
        </p:nvSpPr>
        <p:spPr>
          <a:xfrm>
            <a:off x="502986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20" name="Rectangle 1119"/>
          <p:cNvSpPr/>
          <p:nvPr/>
        </p:nvSpPr>
        <p:spPr>
          <a:xfrm>
            <a:off x="5383117" y="2074016"/>
            <a:ext cx="335249" cy="250996"/>
          </a:xfrm>
          <a:prstGeom prst="rect">
            <a:avLst/>
          </a:prstGeom>
          <a:solidFill>
            <a:srgbClr val="1A7A3F">
              <a:alpha val="550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TextBox 1120"/>
          <p:cNvSpPr txBox="1"/>
          <p:nvPr/>
        </p:nvSpPr>
        <p:spPr>
          <a:xfrm>
            <a:off x="537711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2" name="TextBox 1121"/>
          <p:cNvSpPr txBox="1"/>
          <p:nvPr/>
        </p:nvSpPr>
        <p:spPr>
          <a:xfrm>
            <a:off x="537711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3" name="Rectangle 1122"/>
          <p:cNvSpPr/>
          <p:nvPr/>
        </p:nvSpPr>
        <p:spPr>
          <a:xfrm>
            <a:off x="5730366" y="2074016"/>
            <a:ext cx="335249" cy="250996"/>
          </a:xfrm>
          <a:prstGeom prst="rect">
            <a:avLst/>
          </a:prstGeom>
          <a:solidFill>
            <a:srgbClr val="1A7A3F">
              <a:alpha val="720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572436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5" name="TextBox 1124"/>
          <p:cNvSpPr txBox="1"/>
          <p:nvPr/>
        </p:nvSpPr>
        <p:spPr>
          <a:xfrm>
            <a:off x="572436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6" name="TextBox 1125"/>
          <p:cNvSpPr txBox="1"/>
          <p:nvPr/>
        </p:nvSpPr>
        <p:spPr>
          <a:xfrm>
            <a:off x="202880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27" name="Rectangle 1126"/>
          <p:cNvSpPr/>
          <p:nvPr/>
        </p:nvSpPr>
        <p:spPr>
          <a:xfrm>
            <a:off x="868880" y="2337012"/>
            <a:ext cx="335249" cy="250996"/>
          </a:xfrm>
          <a:prstGeom prst="rect">
            <a:avLst/>
          </a:prstGeom>
          <a:solidFill>
            <a:srgbClr val="94A3B8">
              <a:alpha val="255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TextBox 1127"/>
          <p:cNvSpPr txBox="1"/>
          <p:nvPr/>
        </p:nvSpPr>
        <p:spPr>
          <a:xfrm>
            <a:off x="862880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29" name="TextBox 1128"/>
          <p:cNvSpPr txBox="1"/>
          <p:nvPr/>
        </p:nvSpPr>
        <p:spPr>
          <a:xfrm>
            <a:off x="862880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0" name="Rectangle 1129"/>
          <p:cNvSpPr/>
          <p:nvPr/>
        </p:nvSpPr>
        <p:spPr>
          <a:xfrm>
            <a:off x="1910627" y="2337012"/>
            <a:ext cx="335249" cy="250996"/>
          </a:xfrm>
          <a:prstGeom prst="rect">
            <a:avLst/>
          </a:prstGeom>
          <a:solidFill>
            <a:srgbClr val="94A3B8">
              <a:alpha val="32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TextBox 1130"/>
          <p:cNvSpPr txBox="1"/>
          <p:nvPr/>
        </p:nvSpPr>
        <p:spPr>
          <a:xfrm>
            <a:off x="1904627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2" name="TextBox 1131"/>
          <p:cNvSpPr txBox="1"/>
          <p:nvPr/>
        </p:nvSpPr>
        <p:spPr>
          <a:xfrm>
            <a:off x="1904627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3" name="Rectangle 1132"/>
          <p:cNvSpPr/>
          <p:nvPr/>
        </p:nvSpPr>
        <p:spPr>
          <a:xfrm>
            <a:off x="2605125" y="2337012"/>
            <a:ext cx="335249" cy="250996"/>
          </a:xfrm>
          <a:prstGeom prst="rect">
            <a:avLst/>
          </a:prstGeom>
          <a:solidFill>
            <a:srgbClr val="94A3B8">
              <a:alpha val="258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TextBox 1133"/>
          <p:cNvSpPr txBox="1"/>
          <p:nvPr/>
        </p:nvSpPr>
        <p:spPr>
          <a:xfrm>
            <a:off x="259912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5" name="TextBox 1134"/>
          <p:cNvSpPr txBox="1"/>
          <p:nvPr/>
        </p:nvSpPr>
        <p:spPr>
          <a:xfrm>
            <a:off x="259912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6" name="Rectangle 1135"/>
          <p:cNvSpPr/>
          <p:nvPr/>
        </p:nvSpPr>
        <p:spPr>
          <a:xfrm>
            <a:off x="3994121" y="2337012"/>
            <a:ext cx="335249" cy="250996"/>
          </a:xfrm>
          <a:prstGeom prst="rect">
            <a:avLst/>
          </a:prstGeom>
          <a:solidFill>
            <a:srgbClr val="94A3B8">
              <a:alpha val="264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TextBox 1136"/>
          <p:cNvSpPr txBox="1"/>
          <p:nvPr/>
        </p:nvSpPr>
        <p:spPr>
          <a:xfrm>
            <a:off x="3988121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8" name="TextBox 1137"/>
          <p:cNvSpPr txBox="1"/>
          <p:nvPr/>
        </p:nvSpPr>
        <p:spPr>
          <a:xfrm>
            <a:off x="3988121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9" name="Rectangle 1138"/>
          <p:cNvSpPr/>
          <p:nvPr/>
        </p:nvSpPr>
        <p:spPr>
          <a:xfrm>
            <a:off x="4688619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4682619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1" name="TextBox 1140"/>
          <p:cNvSpPr txBox="1"/>
          <p:nvPr/>
        </p:nvSpPr>
        <p:spPr>
          <a:xfrm>
            <a:off x="4682619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2" name="Rectangle 1141"/>
          <p:cNvSpPr/>
          <p:nvPr/>
        </p:nvSpPr>
        <p:spPr>
          <a:xfrm>
            <a:off x="5383117" y="2337012"/>
            <a:ext cx="335249" cy="250996"/>
          </a:xfrm>
          <a:prstGeom prst="rect">
            <a:avLst/>
          </a:prstGeom>
          <a:solidFill>
            <a:srgbClr val="94A3B8">
              <a:alpha val="297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TextBox 1142"/>
          <p:cNvSpPr txBox="1"/>
          <p:nvPr/>
        </p:nvSpPr>
        <p:spPr>
          <a:xfrm>
            <a:off x="5377117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4" name="TextBox 1143"/>
          <p:cNvSpPr txBox="1"/>
          <p:nvPr/>
        </p:nvSpPr>
        <p:spPr>
          <a:xfrm>
            <a:off x="5377117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5" name="TextBox 1144"/>
          <p:cNvSpPr txBox="1"/>
          <p:nvPr/>
        </p:nvSpPr>
        <p:spPr>
          <a:xfrm>
            <a:off x="202880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46" name="Rectangle 1145"/>
          <p:cNvSpPr/>
          <p:nvPr/>
        </p:nvSpPr>
        <p:spPr>
          <a:xfrm>
            <a:off x="1910627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TextBox 1146"/>
          <p:cNvSpPr txBox="1"/>
          <p:nvPr/>
        </p:nvSpPr>
        <p:spPr>
          <a:xfrm>
            <a:off x="1904627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8" name="TextBox 1147"/>
          <p:cNvSpPr txBox="1"/>
          <p:nvPr/>
        </p:nvSpPr>
        <p:spPr>
          <a:xfrm>
            <a:off x="1904627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9" name="Rectangle 1148"/>
          <p:cNvSpPr/>
          <p:nvPr/>
        </p:nvSpPr>
        <p:spPr>
          <a:xfrm>
            <a:off x="2605125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TextBox 1149"/>
          <p:cNvSpPr txBox="1"/>
          <p:nvPr/>
        </p:nvSpPr>
        <p:spPr>
          <a:xfrm>
            <a:off x="2599125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1" name="TextBox 1150"/>
          <p:cNvSpPr txBox="1"/>
          <p:nvPr/>
        </p:nvSpPr>
        <p:spPr>
          <a:xfrm>
            <a:off x="2599125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2" name="TextBox 1151"/>
          <p:cNvSpPr txBox="1"/>
          <p:nvPr/>
        </p:nvSpPr>
        <p:spPr>
          <a:xfrm>
            <a:off x="202880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153" name="Rectangle 1152"/>
          <p:cNvSpPr/>
          <p:nvPr/>
        </p:nvSpPr>
        <p:spPr>
          <a:xfrm>
            <a:off x="86888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TextBox 1153"/>
          <p:cNvSpPr txBox="1"/>
          <p:nvPr/>
        </p:nvSpPr>
        <p:spPr>
          <a:xfrm>
            <a:off x="86288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12.7M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55" name="TextBox 1154"/>
          <p:cNvSpPr txBox="1"/>
          <p:nvPr/>
        </p:nvSpPr>
        <p:spPr>
          <a:xfrm>
            <a:off x="86288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56" name="Rectangle 1155"/>
          <p:cNvSpPr/>
          <p:nvPr/>
        </p:nvSpPr>
        <p:spPr>
          <a:xfrm>
            <a:off x="121612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TextBox 1156"/>
          <p:cNvSpPr txBox="1"/>
          <p:nvPr/>
        </p:nvSpPr>
        <p:spPr>
          <a:xfrm>
            <a:off x="121012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58" name="TextBox 1157"/>
          <p:cNvSpPr txBox="1"/>
          <p:nvPr/>
        </p:nvSpPr>
        <p:spPr>
          <a:xfrm>
            <a:off x="121012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59" name="Rectangle 1158"/>
          <p:cNvSpPr/>
          <p:nvPr/>
        </p:nvSpPr>
        <p:spPr>
          <a:xfrm>
            <a:off x="156337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TextBox 1159"/>
          <p:cNvSpPr txBox="1"/>
          <p:nvPr/>
        </p:nvSpPr>
        <p:spPr>
          <a:xfrm>
            <a:off x="155737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1" name="TextBox 1160"/>
          <p:cNvSpPr txBox="1"/>
          <p:nvPr/>
        </p:nvSpPr>
        <p:spPr>
          <a:xfrm>
            <a:off x="155737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2" name="Rectangle 1161"/>
          <p:cNvSpPr/>
          <p:nvPr/>
        </p:nvSpPr>
        <p:spPr>
          <a:xfrm>
            <a:off x="191062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TextBox 1162"/>
          <p:cNvSpPr txBox="1"/>
          <p:nvPr/>
        </p:nvSpPr>
        <p:spPr>
          <a:xfrm>
            <a:off x="190462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4" name="TextBox 1163"/>
          <p:cNvSpPr txBox="1"/>
          <p:nvPr/>
        </p:nvSpPr>
        <p:spPr>
          <a:xfrm>
            <a:off x="190462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5" name="Rectangle 1164"/>
          <p:cNvSpPr/>
          <p:nvPr/>
        </p:nvSpPr>
        <p:spPr>
          <a:xfrm>
            <a:off x="225787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TextBox 1165"/>
          <p:cNvSpPr txBox="1"/>
          <p:nvPr/>
        </p:nvSpPr>
        <p:spPr>
          <a:xfrm>
            <a:off x="225187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7" name="TextBox 1166"/>
          <p:cNvSpPr txBox="1"/>
          <p:nvPr/>
        </p:nvSpPr>
        <p:spPr>
          <a:xfrm>
            <a:off x="225187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8" name="Rectangle 1167"/>
          <p:cNvSpPr/>
          <p:nvPr/>
        </p:nvSpPr>
        <p:spPr>
          <a:xfrm>
            <a:off x="260512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TextBox 1168"/>
          <p:cNvSpPr txBox="1"/>
          <p:nvPr/>
        </p:nvSpPr>
        <p:spPr>
          <a:xfrm>
            <a:off x="259912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0" name="TextBox 1169"/>
          <p:cNvSpPr txBox="1"/>
          <p:nvPr/>
        </p:nvSpPr>
        <p:spPr>
          <a:xfrm>
            <a:off x="259912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1" name="Rectangle 1170"/>
          <p:cNvSpPr/>
          <p:nvPr/>
        </p:nvSpPr>
        <p:spPr>
          <a:xfrm>
            <a:off x="295237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TextBox 1171"/>
          <p:cNvSpPr txBox="1"/>
          <p:nvPr/>
        </p:nvSpPr>
        <p:spPr>
          <a:xfrm>
            <a:off x="294637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21.0M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3" name="TextBox 1172"/>
          <p:cNvSpPr txBox="1"/>
          <p:nvPr/>
        </p:nvSpPr>
        <p:spPr>
          <a:xfrm>
            <a:off x="294637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4" name="Rectangle 1173"/>
          <p:cNvSpPr/>
          <p:nvPr/>
        </p:nvSpPr>
        <p:spPr>
          <a:xfrm>
            <a:off x="329962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TextBox 1174"/>
          <p:cNvSpPr txBox="1"/>
          <p:nvPr/>
        </p:nvSpPr>
        <p:spPr>
          <a:xfrm>
            <a:off x="329362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6" name="TextBox 1175"/>
          <p:cNvSpPr txBox="1"/>
          <p:nvPr/>
        </p:nvSpPr>
        <p:spPr>
          <a:xfrm>
            <a:off x="329362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7" name="Rectangle 1176"/>
          <p:cNvSpPr/>
          <p:nvPr/>
        </p:nvSpPr>
        <p:spPr>
          <a:xfrm>
            <a:off x="364687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TextBox 1177"/>
          <p:cNvSpPr txBox="1"/>
          <p:nvPr/>
        </p:nvSpPr>
        <p:spPr>
          <a:xfrm>
            <a:off x="364087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9" name="TextBox 1178"/>
          <p:cNvSpPr txBox="1"/>
          <p:nvPr/>
        </p:nvSpPr>
        <p:spPr>
          <a:xfrm>
            <a:off x="364087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0" name="Rectangle 1179"/>
          <p:cNvSpPr/>
          <p:nvPr/>
        </p:nvSpPr>
        <p:spPr>
          <a:xfrm>
            <a:off x="399412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TextBox 1180"/>
          <p:cNvSpPr txBox="1"/>
          <p:nvPr/>
        </p:nvSpPr>
        <p:spPr>
          <a:xfrm>
            <a:off x="398812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2" name="TextBox 1181"/>
          <p:cNvSpPr txBox="1"/>
          <p:nvPr/>
        </p:nvSpPr>
        <p:spPr>
          <a:xfrm>
            <a:off x="398812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3" name="Rectangle 1182"/>
          <p:cNvSpPr/>
          <p:nvPr/>
        </p:nvSpPr>
        <p:spPr>
          <a:xfrm>
            <a:off x="434137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TextBox 1183"/>
          <p:cNvSpPr txBox="1"/>
          <p:nvPr/>
        </p:nvSpPr>
        <p:spPr>
          <a:xfrm>
            <a:off x="433537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5" name="TextBox 1184"/>
          <p:cNvSpPr txBox="1"/>
          <p:nvPr/>
        </p:nvSpPr>
        <p:spPr>
          <a:xfrm>
            <a:off x="433537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6" name="Rectangle 1185"/>
          <p:cNvSpPr/>
          <p:nvPr/>
        </p:nvSpPr>
        <p:spPr>
          <a:xfrm>
            <a:off x="468861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468261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8" name="TextBox 1187"/>
          <p:cNvSpPr txBox="1"/>
          <p:nvPr/>
        </p:nvSpPr>
        <p:spPr>
          <a:xfrm>
            <a:off x="468261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71件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9" name="Rectangle 1188"/>
          <p:cNvSpPr/>
          <p:nvPr/>
        </p:nvSpPr>
        <p:spPr>
          <a:xfrm>
            <a:off x="503586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TextBox 1189"/>
          <p:cNvSpPr txBox="1"/>
          <p:nvPr/>
        </p:nvSpPr>
        <p:spPr>
          <a:xfrm>
            <a:off x="502986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1" name="TextBox 1190"/>
          <p:cNvSpPr txBox="1"/>
          <p:nvPr/>
        </p:nvSpPr>
        <p:spPr>
          <a:xfrm>
            <a:off x="502986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2" name="Rectangle 1191"/>
          <p:cNvSpPr/>
          <p:nvPr/>
        </p:nvSpPr>
        <p:spPr>
          <a:xfrm>
            <a:off x="538311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537711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4" name="TextBox 1193"/>
          <p:cNvSpPr txBox="1"/>
          <p:nvPr/>
        </p:nvSpPr>
        <p:spPr>
          <a:xfrm>
            <a:off x="537711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5" name="Rectangle 1194"/>
          <p:cNvSpPr/>
          <p:nvPr/>
        </p:nvSpPr>
        <p:spPr>
          <a:xfrm>
            <a:off x="573036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572436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7" name="TextBox 1196"/>
          <p:cNvSpPr txBox="1"/>
          <p:nvPr/>
        </p:nvSpPr>
        <p:spPr>
          <a:xfrm>
            <a:off x="572436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8" name="Rectangle 1197"/>
          <p:cNvSpPr/>
          <p:nvPr/>
        </p:nvSpPr>
        <p:spPr>
          <a:xfrm>
            <a:off x="6163056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TextBox 1198"/>
          <p:cNvSpPr txBox="1"/>
          <p:nvPr/>
        </p:nvSpPr>
        <p:spPr>
          <a:xfrm>
            <a:off x="6243056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R  周度签单业绩热力矩阵（APE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00" name="TextBox 1199"/>
          <p:cNvSpPr txBox="1"/>
          <p:nvPr/>
        </p:nvSpPr>
        <p:spPr>
          <a:xfrm>
            <a:off x="684305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1" name="TextBox 1200"/>
          <p:cNvSpPr txBox="1"/>
          <p:nvPr/>
        </p:nvSpPr>
        <p:spPr>
          <a:xfrm>
            <a:off x="719030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2" name="TextBox 1201"/>
          <p:cNvSpPr txBox="1"/>
          <p:nvPr/>
        </p:nvSpPr>
        <p:spPr>
          <a:xfrm>
            <a:off x="753755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3" name="TextBox 1202"/>
          <p:cNvSpPr txBox="1"/>
          <p:nvPr/>
        </p:nvSpPr>
        <p:spPr>
          <a:xfrm>
            <a:off x="788480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4" name="TextBox 1203"/>
          <p:cNvSpPr txBox="1"/>
          <p:nvPr/>
        </p:nvSpPr>
        <p:spPr>
          <a:xfrm>
            <a:off x="823205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5" name="TextBox 1204"/>
          <p:cNvSpPr txBox="1"/>
          <p:nvPr/>
        </p:nvSpPr>
        <p:spPr>
          <a:xfrm>
            <a:off x="857930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6" name="TextBox 1205"/>
          <p:cNvSpPr txBox="1"/>
          <p:nvPr/>
        </p:nvSpPr>
        <p:spPr>
          <a:xfrm>
            <a:off x="892655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7" name="TextBox 1206"/>
          <p:cNvSpPr txBox="1"/>
          <p:nvPr/>
        </p:nvSpPr>
        <p:spPr>
          <a:xfrm>
            <a:off x="927379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8" name="TextBox 1207"/>
          <p:cNvSpPr txBox="1"/>
          <p:nvPr/>
        </p:nvSpPr>
        <p:spPr>
          <a:xfrm>
            <a:off x="962104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9" name="TextBox 1208"/>
          <p:cNvSpPr txBox="1"/>
          <p:nvPr/>
        </p:nvSpPr>
        <p:spPr>
          <a:xfrm>
            <a:off x="996829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0" name="TextBox 1209"/>
          <p:cNvSpPr txBox="1"/>
          <p:nvPr/>
        </p:nvSpPr>
        <p:spPr>
          <a:xfrm>
            <a:off x="1031554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1" name="TextBox 1210"/>
          <p:cNvSpPr txBox="1"/>
          <p:nvPr/>
        </p:nvSpPr>
        <p:spPr>
          <a:xfrm>
            <a:off x="1066279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2" name="TextBox 1211"/>
          <p:cNvSpPr txBox="1"/>
          <p:nvPr/>
        </p:nvSpPr>
        <p:spPr>
          <a:xfrm>
            <a:off x="1101004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3" name="TextBox 1212"/>
          <p:cNvSpPr txBox="1"/>
          <p:nvPr/>
        </p:nvSpPr>
        <p:spPr>
          <a:xfrm>
            <a:off x="1135729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4" name="TextBox 1213"/>
          <p:cNvSpPr txBox="1"/>
          <p:nvPr/>
        </p:nvSpPr>
        <p:spPr>
          <a:xfrm>
            <a:off x="1170454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5" name="TextBox 1214"/>
          <p:cNvSpPr txBox="1"/>
          <p:nvPr/>
        </p:nvSpPr>
        <p:spPr>
          <a:xfrm>
            <a:off x="6183056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16" name="Rectangle 1215"/>
          <p:cNvSpPr/>
          <p:nvPr/>
        </p:nvSpPr>
        <p:spPr>
          <a:xfrm>
            <a:off x="6849056" y="1022032"/>
            <a:ext cx="335249" cy="250996"/>
          </a:xfrm>
          <a:prstGeom prst="rect">
            <a:avLst/>
          </a:prstGeom>
          <a:solidFill>
            <a:srgbClr val="2980B9">
              <a:alpha val="345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TextBox 1216"/>
          <p:cNvSpPr txBox="1"/>
          <p:nvPr/>
        </p:nvSpPr>
        <p:spPr>
          <a:xfrm>
            <a:off x="684305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18" name="TextBox 1217"/>
          <p:cNvSpPr txBox="1"/>
          <p:nvPr/>
        </p:nvSpPr>
        <p:spPr>
          <a:xfrm>
            <a:off x="684305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19" name="Rectangle 1218"/>
          <p:cNvSpPr/>
          <p:nvPr/>
        </p:nvSpPr>
        <p:spPr>
          <a:xfrm>
            <a:off x="7196305" y="1022032"/>
            <a:ext cx="335249" cy="250996"/>
          </a:xfrm>
          <a:prstGeom prst="rect">
            <a:avLst/>
          </a:prstGeom>
          <a:solidFill>
            <a:srgbClr val="2980B9">
              <a:alpha val="38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TextBox 1219"/>
          <p:cNvSpPr txBox="1"/>
          <p:nvPr/>
        </p:nvSpPr>
        <p:spPr>
          <a:xfrm>
            <a:off x="719030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1" name="TextBox 1220"/>
          <p:cNvSpPr txBox="1"/>
          <p:nvPr/>
        </p:nvSpPr>
        <p:spPr>
          <a:xfrm>
            <a:off x="719030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2" name="Rectangle 1221"/>
          <p:cNvSpPr/>
          <p:nvPr/>
        </p:nvSpPr>
        <p:spPr>
          <a:xfrm>
            <a:off x="7543554" y="1022032"/>
            <a:ext cx="335249" cy="250996"/>
          </a:xfrm>
          <a:prstGeom prst="rect">
            <a:avLst/>
          </a:prstGeom>
          <a:solidFill>
            <a:srgbClr val="2980B9">
              <a:alpha val="632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TextBox 1222"/>
          <p:cNvSpPr txBox="1"/>
          <p:nvPr/>
        </p:nvSpPr>
        <p:spPr>
          <a:xfrm>
            <a:off x="753755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4" name="TextBox 1223"/>
          <p:cNvSpPr txBox="1"/>
          <p:nvPr/>
        </p:nvSpPr>
        <p:spPr>
          <a:xfrm>
            <a:off x="753755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5" name="Rectangle 1224"/>
          <p:cNvSpPr/>
          <p:nvPr/>
        </p:nvSpPr>
        <p:spPr>
          <a:xfrm>
            <a:off x="7890803" y="1022032"/>
            <a:ext cx="335249" cy="250996"/>
          </a:xfrm>
          <a:prstGeom prst="rect">
            <a:avLst/>
          </a:prstGeom>
          <a:solidFill>
            <a:srgbClr val="2980B9">
              <a:alpha val="317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TextBox 1225"/>
          <p:cNvSpPr txBox="1"/>
          <p:nvPr/>
        </p:nvSpPr>
        <p:spPr>
          <a:xfrm>
            <a:off x="788480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7" name="TextBox 1226"/>
          <p:cNvSpPr txBox="1"/>
          <p:nvPr/>
        </p:nvSpPr>
        <p:spPr>
          <a:xfrm>
            <a:off x="788480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8" name="Rectangle 1227"/>
          <p:cNvSpPr/>
          <p:nvPr/>
        </p:nvSpPr>
        <p:spPr>
          <a:xfrm>
            <a:off x="8238052" y="1022032"/>
            <a:ext cx="335249" cy="250996"/>
          </a:xfrm>
          <a:prstGeom prst="rect">
            <a:avLst/>
          </a:prstGeom>
          <a:solidFill>
            <a:srgbClr val="2980B9">
              <a:alpha val="273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TextBox 1228"/>
          <p:cNvSpPr txBox="1"/>
          <p:nvPr/>
        </p:nvSpPr>
        <p:spPr>
          <a:xfrm>
            <a:off x="823205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0" name="TextBox 1229"/>
          <p:cNvSpPr txBox="1"/>
          <p:nvPr/>
        </p:nvSpPr>
        <p:spPr>
          <a:xfrm>
            <a:off x="823205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1" name="Rectangle 1230"/>
          <p:cNvSpPr/>
          <p:nvPr/>
        </p:nvSpPr>
        <p:spPr>
          <a:xfrm>
            <a:off x="8585301" y="1022032"/>
            <a:ext cx="335249" cy="250996"/>
          </a:xfrm>
          <a:prstGeom prst="rect">
            <a:avLst/>
          </a:prstGeom>
          <a:solidFill>
            <a:srgbClr val="2980B9">
              <a:alpha val="689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TextBox 1231"/>
          <p:cNvSpPr txBox="1"/>
          <p:nvPr/>
        </p:nvSpPr>
        <p:spPr>
          <a:xfrm>
            <a:off x="857930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3" name="TextBox 1232"/>
          <p:cNvSpPr txBox="1"/>
          <p:nvPr/>
        </p:nvSpPr>
        <p:spPr>
          <a:xfrm>
            <a:off x="857930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4" name="Rectangle 1233"/>
          <p:cNvSpPr/>
          <p:nvPr/>
        </p:nvSpPr>
        <p:spPr>
          <a:xfrm>
            <a:off x="8932550" y="1022032"/>
            <a:ext cx="335249" cy="250996"/>
          </a:xfrm>
          <a:prstGeom prst="rect">
            <a:avLst/>
          </a:prstGeom>
          <a:solidFill>
            <a:srgbClr val="2980B9">
              <a:alpha val="467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TextBox 1234"/>
          <p:cNvSpPr txBox="1"/>
          <p:nvPr/>
        </p:nvSpPr>
        <p:spPr>
          <a:xfrm>
            <a:off x="892655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6" name="TextBox 1235"/>
          <p:cNvSpPr txBox="1"/>
          <p:nvPr/>
        </p:nvSpPr>
        <p:spPr>
          <a:xfrm>
            <a:off x="892655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7" name="Rectangle 1236"/>
          <p:cNvSpPr/>
          <p:nvPr/>
        </p:nvSpPr>
        <p:spPr>
          <a:xfrm>
            <a:off x="9279799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TextBox 1237"/>
          <p:cNvSpPr txBox="1"/>
          <p:nvPr/>
        </p:nvSpPr>
        <p:spPr>
          <a:xfrm>
            <a:off x="927379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9" name="TextBox 1238"/>
          <p:cNvSpPr txBox="1"/>
          <p:nvPr/>
        </p:nvSpPr>
        <p:spPr>
          <a:xfrm>
            <a:off x="927379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40" name="Rectangle 1239"/>
          <p:cNvSpPr/>
          <p:nvPr/>
        </p:nvSpPr>
        <p:spPr>
          <a:xfrm>
            <a:off x="9627048" y="1022032"/>
            <a:ext cx="335249" cy="250996"/>
          </a:xfrm>
          <a:prstGeom prst="rect">
            <a:avLst/>
          </a:prstGeom>
          <a:solidFill>
            <a:srgbClr val="2980B9">
              <a:alpha val="380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TextBox 1240"/>
          <p:cNvSpPr txBox="1"/>
          <p:nvPr/>
        </p:nvSpPr>
        <p:spPr>
          <a:xfrm>
            <a:off x="962104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2" name="TextBox 1241"/>
          <p:cNvSpPr txBox="1"/>
          <p:nvPr/>
        </p:nvSpPr>
        <p:spPr>
          <a:xfrm>
            <a:off x="962104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3" name="Rectangle 1242"/>
          <p:cNvSpPr/>
          <p:nvPr/>
        </p:nvSpPr>
        <p:spPr>
          <a:xfrm>
            <a:off x="9974297" y="1022032"/>
            <a:ext cx="335249" cy="250996"/>
          </a:xfrm>
          <a:prstGeom prst="rect">
            <a:avLst/>
          </a:prstGeom>
          <a:solidFill>
            <a:srgbClr val="2980B9">
              <a:alpha val="283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TextBox 1243"/>
          <p:cNvSpPr txBox="1"/>
          <p:nvPr/>
        </p:nvSpPr>
        <p:spPr>
          <a:xfrm>
            <a:off x="996829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5" name="TextBox 1244"/>
          <p:cNvSpPr txBox="1"/>
          <p:nvPr/>
        </p:nvSpPr>
        <p:spPr>
          <a:xfrm>
            <a:off x="996829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6" name="Rectangle 1245"/>
          <p:cNvSpPr/>
          <p:nvPr/>
        </p:nvSpPr>
        <p:spPr>
          <a:xfrm>
            <a:off x="10321546" y="1022032"/>
            <a:ext cx="335249" cy="250996"/>
          </a:xfrm>
          <a:prstGeom prst="rect">
            <a:avLst/>
          </a:prstGeom>
          <a:solidFill>
            <a:srgbClr val="2980B9">
              <a:alpha val="32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TextBox 1246"/>
          <p:cNvSpPr txBox="1"/>
          <p:nvPr/>
        </p:nvSpPr>
        <p:spPr>
          <a:xfrm>
            <a:off x="1031554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8" name="TextBox 1247"/>
          <p:cNvSpPr txBox="1"/>
          <p:nvPr/>
        </p:nvSpPr>
        <p:spPr>
          <a:xfrm>
            <a:off x="1031554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9" name="Rectangle 1248"/>
          <p:cNvSpPr/>
          <p:nvPr/>
        </p:nvSpPr>
        <p:spPr>
          <a:xfrm>
            <a:off x="10668795" y="1022032"/>
            <a:ext cx="335249" cy="250996"/>
          </a:xfrm>
          <a:prstGeom prst="rect">
            <a:avLst/>
          </a:prstGeom>
          <a:solidFill>
            <a:srgbClr val="2980B9">
              <a:alpha val="411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TextBox 1249"/>
          <p:cNvSpPr txBox="1"/>
          <p:nvPr/>
        </p:nvSpPr>
        <p:spPr>
          <a:xfrm>
            <a:off x="1066279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1" name="TextBox 1250"/>
          <p:cNvSpPr txBox="1"/>
          <p:nvPr/>
        </p:nvSpPr>
        <p:spPr>
          <a:xfrm>
            <a:off x="1066279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2" name="Rectangle 1251"/>
          <p:cNvSpPr/>
          <p:nvPr/>
        </p:nvSpPr>
        <p:spPr>
          <a:xfrm>
            <a:off x="11016044" y="1022032"/>
            <a:ext cx="335249" cy="250996"/>
          </a:xfrm>
          <a:prstGeom prst="rect">
            <a:avLst/>
          </a:prstGeom>
          <a:solidFill>
            <a:srgbClr val="2980B9">
              <a:alpha val="375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TextBox 1252"/>
          <p:cNvSpPr txBox="1"/>
          <p:nvPr/>
        </p:nvSpPr>
        <p:spPr>
          <a:xfrm>
            <a:off x="1101004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4" name="TextBox 1253"/>
          <p:cNvSpPr txBox="1"/>
          <p:nvPr/>
        </p:nvSpPr>
        <p:spPr>
          <a:xfrm>
            <a:off x="1101004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5" name="Rectangle 1254"/>
          <p:cNvSpPr/>
          <p:nvPr/>
        </p:nvSpPr>
        <p:spPr>
          <a:xfrm>
            <a:off x="11363293" y="1022032"/>
            <a:ext cx="335249" cy="250996"/>
          </a:xfrm>
          <a:prstGeom prst="rect">
            <a:avLst/>
          </a:prstGeom>
          <a:solidFill>
            <a:srgbClr val="2980B9">
              <a:alpha val="294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TextBox 1255"/>
          <p:cNvSpPr txBox="1"/>
          <p:nvPr/>
        </p:nvSpPr>
        <p:spPr>
          <a:xfrm>
            <a:off x="1135729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7" name="TextBox 1256"/>
          <p:cNvSpPr txBox="1"/>
          <p:nvPr/>
        </p:nvSpPr>
        <p:spPr>
          <a:xfrm>
            <a:off x="1135729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8" name="Rectangle 1257"/>
          <p:cNvSpPr/>
          <p:nvPr/>
        </p:nvSpPr>
        <p:spPr>
          <a:xfrm>
            <a:off x="11710542" y="1022032"/>
            <a:ext cx="335249" cy="250996"/>
          </a:xfrm>
          <a:prstGeom prst="rect">
            <a:avLst/>
          </a:prstGeom>
          <a:solidFill>
            <a:srgbClr val="2980B9">
              <a:alpha val="67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TextBox 1258"/>
          <p:cNvSpPr txBox="1"/>
          <p:nvPr/>
        </p:nvSpPr>
        <p:spPr>
          <a:xfrm>
            <a:off x="1170454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60" name="TextBox 1259"/>
          <p:cNvSpPr txBox="1"/>
          <p:nvPr/>
        </p:nvSpPr>
        <p:spPr>
          <a:xfrm>
            <a:off x="1170454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61" name="TextBox 1260"/>
          <p:cNvSpPr txBox="1"/>
          <p:nvPr/>
        </p:nvSpPr>
        <p:spPr>
          <a:xfrm>
            <a:off x="6183056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62" name="Rectangle 1261"/>
          <p:cNvSpPr/>
          <p:nvPr/>
        </p:nvSpPr>
        <p:spPr>
          <a:xfrm>
            <a:off x="6849056" y="1285028"/>
            <a:ext cx="335249" cy="250996"/>
          </a:xfrm>
          <a:prstGeom prst="rect">
            <a:avLst/>
          </a:prstGeom>
          <a:solidFill>
            <a:srgbClr val="374151">
              <a:alpha val="319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TextBox 1262"/>
          <p:cNvSpPr txBox="1"/>
          <p:nvPr/>
        </p:nvSpPr>
        <p:spPr>
          <a:xfrm>
            <a:off x="684305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4" name="TextBox 1263"/>
          <p:cNvSpPr txBox="1"/>
          <p:nvPr/>
        </p:nvSpPr>
        <p:spPr>
          <a:xfrm>
            <a:off x="684305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5" name="Rectangle 1264"/>
          <p:cNvSpPr/>
          <p:nvPr/>
        </p:nvSpPr>
        <p:spPr>
          <a:xfrm>
            <a:off x="7196305" y="1285028"/>
            <a:ext cx="335249" cy="250996"/>
          </a:xfrm>
          <a:prstGeom prst="rect">
            <a:avLst/>
          </a:prstGeom>
          <a:solidFill>
            <a:srgbClr val="374151">
              <a:alpha val="378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719030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7" name="TextBox 1266"/>
          <p:cNvSpPr txBox="1"/>
          <p:nvPr/>
        </p:nvSpPr>
        <p:spPr>
          <a:xfrm>
            <a:off x="719030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8" name="Rectangle 1267"/>
          <p:cNvSpPr/>
          <p:nvPr/>
        </p:nvSpPr>
        <p:spPr>
          <a:xfrm>
            <a:off x="7543554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TextBox 1268"/>
          <p:cNvSpPr txBox="1"/>
          <p:nvPr/>
        </p:nvSpPr>
        <p:spPr>
          <a:xfrm>
            <a:off x="7537554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0" name="TextBox 1269"/>
          <p:cNvSpPr txBox="1"/>
          <p:nvPr/>
        </p:nvSpPr>
        <p:spPr>
          <a:xfrm>
            <a:off x="7537554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1" name="Rectangle 1270"/>
          <p:cNvSpPr/>
          <p:nvPr/>
        </p:nvSpPr>
        <p:spPr>
          <a:xfrm>
            <a:off x="7890803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7884803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3" name="TextBox 1272"/>
          <p:cNvSpPr txBox="1"/>
          <p:nvPr/>
        </p:nvSpPr>
        <p:spPr>
          <a:xfrm>
            <a:off x="7884803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4" name="Rectangle 1273"/>
          <p:cNvSpPr/>
          <p:nvPr/>
        </p:nvSpPr>
        <p:spPr>
          <a:xfrm>
            <a:off x="8238052" y="1285028"/>
            <a:ext cx="335249" cy="250996"/>
          </a:xfrm>
          <a:prstGeom prst="rect">
            <a:avLst/>
          </a:prstGeom>
          <a:solidFill>
            <a:srgbClr val="374151">
              <a:alpha val="55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823205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6" name="TextBox 1275"/>
          <p:cNvSpPr txBox="1"/>
          <p:nvPr/>
        </p:nvSpPr>
        <p:spPr>
          <a:xfrm>
            <a:off x="823205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7" name="Rectangle 1276"/>
          <p:cNvSpPr/>
          <p:nvPr/>
        </p:nvSpPr>
        <p:spPr>
          <a:xfrm>
            <a:off x="8585301" y="1285028"/>
            <a:ext cx="335249" cy="250996"/>
          </a:xfrm>
          <a:prstGeom prst="rect">
            <a:avLst/>
          </a:prstGeom>
          <a:solidFill>
            <a:srgbClr val="374151">
              <a:alpha val="901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TextBox 1277"/>
          <p:cNvSpPr txBox="1"/>
          <p:nvPr/>
        </p:nvSpPr>
        <p:spPr>
          <a:xfrm>
            <a:off x="8579301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9" name="TextBox 1278"/>
          <p:cNvSpPr txBox="1"/>
          <p:nvPr/>
        </p:nvSpPr>
        <p:spPr>
          <a:xfrm>
            <a:off x="8579301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0" name="Rectangle 1279"/>
          <p:cNvSpPr/>
          <p:nvPr/>
        </p:nvSpPr>
        <p:spPr>
          <a:xfrm>
            <a:off x="8932550" y="1285028"/>
            <a:ext cx="335249" cy="250996"/>
          </a:xfrm>
          <a:prstGeom prst="rect">
            <a:avLst/>
          </a:prstGeom>
          <a:solidFill>
            <a:srgbClr val="374151">
              <a:alpha val="556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TextBox 1280"/>
          <p:cNvSpPr txBox="1"/>
          <p:nvPr/>
        </p:nvSpPr>
        <p:spPr>
          <a:xfrm>
            <a:off x="892655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2" name="TextBox 1281"/>
          <p:cNvSpPr txBox="1"/>
          <p:nvPr/>
        </p:nvSpPr>
        <p:spPr>
          <a:xfrm>
            <a:off x="892655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3" name="Rectangle 1282"/>
          <p:cNvSpPr/>
          <p:nvPr/>
        </p:nvSpPr>
        <p:spPr>
          <a:xfrm>
            <a:off x="9279799" y="1285028"/>
            <a:ext cx="335249" cy="250996"/>
          </a:xfrm>
          <a:prstGeom prst="rect">
            <a:avLst/>
          </a:prstGeom>
          <a:solidFill>
            <a:srgbClr val="374151">
              <a:alpha val="45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TextBox 1283"/>
          <p:cNvSpPr txBox="1"/>
          <p:nvPr/>
        </p:nvSpPr>
        <p:spPr>
          <a:xfrm>
            <a:off x="927379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5" name="TextBox 1284"/>
          <p:cNvSpPr txBox="1"/>
          <p:nvPr/>
        </p:nvSpPr>
        <p:spPr>
          <a:xfrm>
            <a:off x="927379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6" name="Rectangle 1285"/>
          <p:cNvSpPr/>
          <p:nvPr/>
        </p:nvSpPr>
        <p:spPr>
          <a:xfrm>
            <a:off x="9627048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962104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8" name="TextBox 1287"/>
          <p:cNvSpPr txBox="1"/>
          <p:nvPr/>
        </p:nvSpPr>
        <p:spPr>
          <a:xfrm>
            <a:off x="962104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9" name="Rectangle 1288"/>
          <p:cNvSpPr/>
          <p:nvPr/>
        </p:nvSpPr>
        <p:spPr>
          <a:xfrm>
            <a:off x="9974297" y="1285028"/>
            <a:ext cx="335249" cy="250996"/>
          </a:xfrm>
          <a:prstGeom prst="rect">
            <a:avLst/>
          </a:prstGeom>
          <a:solidFill>
            <a:srgbClr val="374151">
              <a:alpha val="290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TextBox 1289"/>
          <p:cNvSpPr txBox="1"/>
          <p:nvPr/>
        </p:nvSpPr>
        <p:spPr>
          <a:xfrm>
            <a:off x="9968297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1" name="TextBox 1290"/>
          <p:cNvSpPr txBox="1"/>
          <p:nvPr/>
        </p:nvSpPr>
        <p:spPr>
          <a:xfrm>
            <a:off x="9968297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2" name="Rectangle 1291"/>
          <p:cNvSpPr/>
          <p:nvPr/>
        </p:nvSpPr>
        <p:spPr>
          <a:xfrm>
            <a:off x="10321546" y="1285028"/>
            <a:ext cx="335249" cy="250996"/>
          </a:xfrm>
          <a:prstGeom prst="rect">
            <a:avLst/>
          </a:prstGeom>
          <a:solidFill>
            <a:srgbClr val="374151">
              <a:alpha val="311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TextBox 1292"/>
          <p:cNvSpPr txBox="1"/>
          <p:nvPr/>
        </p:nvSpPr>
        <p:spPr>
          <a:xfrm>
            <a:off x="1031554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4" name="TextBox 1293"/>
          <p:cNvSpPr txBox="1"/>
          <p:nvPr/>
        </p:nvSpPr>
        <p:spPr>
          <a:xfrm>
            <a:off x="1031554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5" name="Rectangle 1294"/>
          <p:cNvSpPr/>
          <p:nvPr/>
        </p:nvSpPr>
        <p:spPr>
          <a:xfrm>
            <a:off x="10668795" y="1285028"/>
            <a:ext cx="335249" cy="250996"/>
          </a:xfrm>
          <a:prstGeom prst="rect">
            <a:avLst/>
          </a:prstGeom>
          <a:solidFill>
            <a:srgbClr val="374151">
              <a:alpha val="453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1066279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7" name="TextBox 1296"/>
          <p:cNvSpPr txBox="1"/>
          <p:nvPr/>
        </p:nvSpPr>
        <p:spPr>
          <a:xfrm>
            <a:off x="1066279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8" name="Rectangle 1297"/>
          <p:cNvSpPr/>
          <p:nvPr/>
        </p:nvSpPr>
        <p:spPr>
          <a:xfrm>
            <a:off x="11710542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1170454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0" name="TextBox 1299"/>
          <p:cNvSpPr txBox="1"/>
          <p:nvPr/>
        </p:nvSpPr>
        <p:spPr>
          <a:xfrm>
            <a:off x="1170454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1" name="TextBox 1300"/>
          <p:cNvSpPr txBox="1"/>
          <p:nvPr/>
        </p:nvSpPr>
        <p:spPr>
          <a:xfrm>
            <a:off x="6183056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02" name="Rectangle 1301"/>
          <p:cNvSpPr/>
          <p:nvPr/>
        </p:nvSpPr>
        <p:spPr>
          <a:xfrm>
            <a:off x="6849056" y="1548024"/>
            <a:ext cx="335249" cy="250996"/>
          </a:xfrm>
          <a:prstGeom prst="rect">
            <a:avLst/>
          </a:prstGeom>
          <a:solidFill>
            <a:srgbClr val="1F3864">
              <a:alpha val="27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684305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4" name="TextBox 1303"/>
          <p:cNvSpPr txBox="1"/>
          <p:nvPr/>
        </p:nvSpPr>
        <p:spPr>
          <a:xfrm>
            <a:off x="684305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5" name="Rectangle 1304"/>
          <p:cNvSpPr/>
          <p:nvPr/>
        </p:nvSpPr>
        <p:spPr>
          <a:xfrm>
            <a:off x="7196305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TextBox 1305"/>
          <p:cNvSpPr txBox="1"/>
          <p:nvPr/>
        </p:nvSpPr>
        <p:spPr>
          <a:xfrm>
            <a:off x="719030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7" name="TextBox 1306"/>
          <p:cNvSpPr txBox="1"/>
          <p:nvPr/>
        </p:nvSpPr>
        <p:spPr>
          <a:xfrm>
            <a:off x="719030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8" name="Rectangle 1307"/>
          <p:cNvSpPr/>
          <p:nvPr/>
        </p:nvSpPr>
        <p:spPr>
          <a:xfrm>
            <a:off x="7543554" y="1548024"/>
            <a:ext cx="335249" cy="250996"/>
          </a:xfrm>
          <a:prstGeom prst="rect">
            <a:avLst/>
          </a:prstGeom>
          <a:solidFill>
            <a:srgbClr val="1F3864">
              <a:alpha val="590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TextBox 1308"/>
          <p:cNvSpPr txBox="1"/>
          <p:nvPr/>
        </p:nvSpPr>
        <p:spPr>
          <a:xfrm>
            <a:off x="753755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0" name="TextBox 1309"/>
          <p:cNvSpPr txBox="1"/>
          <p:nvPr/>
        </p:nvSpPr>
        <p:spPr>
          <a:xfrm>
            <a:off x="753755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1" name="Rectangle 1310"/>
          <p:cNvSpPr/>
          <p:nvPr/>
        </p:nvSpPr>
        <p:spPr>
          <a:xfrm>
            <a:off x="7890803" y="1548024"/>
            <a:ext cx="335249" cy="250996"/>
          </a:xfrm>
          <a:prstGeom prst="rect">
            <a:avLst/>
          </a:prstGeom>
          <a:solidFill>
            <a:srgbClr val="1F3864">
              <a:alpha val="34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TextBox 1311"/>
          <p:cNvSpPr txBox="1"/>
          <p:nvPr/>
        </p:nvSpPr>
        <p:spPr>
          <a:xfrm>
            <a:off x="788480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3" name="TextBox 1312"/>
          <p:cNvSpPr txBox="1"/>
          <p:nvPr/>
        </p:nvSpPr>
        <p:spPr>
          <a:xfrm>
            <a:off x="788480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4" name="Rectangle 1313"/>
          <p:cNvSpPr/>
          <p:nvPr/>
        </p:nvSpPr>
        <p:spPr>
          <a:xfrm>
            <a:off x="8238052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TextBox 1314"/>
          <p:cNvSpPr txBox="1"/>
          <p:nvPr/>
        </p:nvSpPr>
        <p:spPr>
          <a:xfrm>
            <a:off x="823205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6" name="TextBox 1315"/>
          <p:cNvSpPr txBox="1"/>
          <p:nvPr/>
        </p:nvSpPr>
        <p:spPr>
          <a:xfrm>
            <a:off x="823205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7" name="Rectangle 1316"/>
          <p:cNvSpPr/>
          <p:nvPr/>
        </p:nvSpPr>
        <p:spPr>
          <a:xfrm>
            <a:off x="8585301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857930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9" name="TextBox 1318"/>
          <p:cNvSpPr txBox="1"/>
          <p:nvPr/>
        </p:nvSpPr>
        <p:spPr>
          <a:xfrm>
            <a:off x="857930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0" name="Rectangle 1319"/>
          <p:cNvSpPr/>
          <p:nvPr/>
        </p:nvSpPr>
        <p:spPr>
          <a:xfrm>
            <a:off x="8932550" y="1548024"/>
            <a:ext cx="335249" cy="250996"/>
          </a:xfrm>
          <a:prstGeom prst="rect">
            <a:avLst/>
          </a:prstGeom>
          <a:solidFill>
            <a:srgbClr val="1F3864">
              <a:alpha val="42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TextBox 1320"/>
          <p:cNvSpPr txBox="1"/>
          <p:nvPr/>
        </p:nvSpPr>
        <p:spPr>
          <a:xfrm>
            <a:off x="892655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2" name="TextBox 1321"/>
          <p:cNvSpPr txBox="1"/>
          <p:nvPr/>
        </p:nvSpPr>
        <p:spPr>
          <a:xfrm>
            <a:off x="892655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3" name="Rectangle 1322"/>
          <p:cNvSpPr/>
          <p:nvPr/>
        </p:nvSpPr>
        <p:spPr>
          <a:xfrm>
            <a:off x="9279799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TextBox 1323"/>
          <p:cNvSpPr txBox="1"/>
          <p:nvPr/>
        </p:nvSpPr>
        <p:spPr>
          <a:xfrm>
            <a:off x="927379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5" name="TextBox 1324"/>
          <p:cNvSpPr txBox="1"/>
          <p:nvPr/>
        </p:nvSpPr>
        <p:spPr>
          <a:xfrm>
            <a:off x="927379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6" name="Rectangle 1325"/>
          <p:cNvSpPr/>
          <p:nvPr/>
        </p:nvSpPr>
        <p:spPr>
          <a:xfrm>
            <a:off x="9627048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TextBox 1326"/>
          <p:cNvSpPr txBox="1"/>
          <p:nvPr/>
        </p:nvSpPr>
        <p:spPr>
          <a:xfrm>
            <a:off x="962104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8" name="TextBox 1327"/>
          <p:cNvSpPr txBox="1"/>
          <p:nvPr/>
        </p:nvSpPr>
        <p:spPr>
          <a:xfrm>
            <a:off x="962104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9" name="Rectangle 1328"/>
          <p:cNvSpPr/>
          <p:nvPr/>
        </p:nvSpPr>
        <p:spPr>
          <a:xfrm>
            <a:off x="9974297" y="1548024"/>
            <a:ext cx="335249" cy="250996"/>
          </a:xfrm>
          <a:prstGeom prst="rect">
            <a:avLst/>
          </a:prstGeom>
          <a:solidFill>
            <a:srgbClr val="1F3864">
              <a:alpha val="7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996829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1" name="TextBox 1330"/>
          <p:cNvSpPr txBox="1"/>
          <p:nvPr/>
        </p:nvSpPr>
        <p:spPr>
          <a:xfrm>
            <a:off x="996829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2" name="Rectangle 1331"/>
          <p:cNvSpPr/>
          <p:nvPr/>
        </p:nvSpPr>
        <p:spPr>
          <a:xfrm>
            <a:off x="10321546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1031554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4" name="TextBox 1333"/>
          <p:cNvSpPr txBox="1"/>
          <p:nvPr/>
        </p:nvSpPr>
        <p:spPr>
          <a:xfrm>
            <a:off x="1031554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5" name="Rectangle 1334"/>
          <p:cNvSpPr/>
          <p:nvPr/>
        </p:nvSpPr>
        <p:spPr>
          <a:xfrm>
            <a:off x="10668795" y="1548024"/>
            <a:ext cx="335249" cy="250996"/>
          </a:xfrm>
          <a:prstGeom prst="rect">
            <a:avLst/>
          </a:prstGeom>
          <a:solidFill>
            <a:srgbClr val="1F3864">
              <a:alpha val="807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1066279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7" name="TextBox 1336"/>
          <p:cNvSpPr txBox="1"/>
          <p:nvPr/>
        </p:nvSpPr>
        <p:spPr>
          <a:xfrm>
            <a:off x="1066279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8" name="Rectangle 1337"/>
          <p:cNvSpPr/>
          <p:nvPr/>
        </p:nvSpPr>
        <p:spPr>
          <a:xfrm>
            <a:off x="11016044" y="1548024"/>
            <a:ext cx="335249" cy="250996"/>
          </a:xfrm>
          <a:prstGeom prst="rect">
            <a:avLst/>
          </a:prstGeom>
          <a:solidFill>
            <a:srgbClr val="1F3864">
              <a:alpha val="7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1101004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0" name="TextBox 1339"/>
          <p:cNvSpPr txBox="1"/>
          <p:nvPr/>
        </p:nvSpPr>
        <p:spPr>
          <a:xfrm>
            <a:off x="1101004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1" name="Rectangle 1340"/>
          <p:cNvSpPr/>
          <p:nvPr/>
        </p:nvSpPr>
        <p:spPr>
          <a:xfrm>
            <a:off x="11363293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1135729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3" name="TextBox 1342"/>
          <p:cNvSpPr txBox="1"/>
          <p:nvPr/>
        </p:nvSpPr>
        <p:spPr>
          <a:xfrm>
            <a:off x="1135729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4" name="Rectangle 1343"/>
          <p:cNvSpPr/>
          <p:nvPr/>
        </p:nvSpPr>
        <p:spPr>
          <a:xfrm>
            <a:off x="11710542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1170454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6" name="TextBox 1345"/>
          <p:cNvSpPr txBox="1"/>
          <p:nvPr/>
        </p:nvSpPr>
        <p:spPr>
          <a:xfrm>
            <a:off x="1170454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7" name="TextBox 1346"/>
          <p:cNvSpPr txBox="1"/>
          <p:nvPr/>
        </p:nvSpPr>
        <p:spPr>
          <a:xfrm>
            <a:off x="6183056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48" name="Rectangle 1347"/>
          <p:cNvSpPr/>
          <p:nvPr/>
        </p:nvSpPr>
        <p:spPr>
          <a:xfrm>
            <a:off x="6849056" y="1811020"/>
            <a:ext cx="335249" cy="250996"/>
          </a:xfrm>
          <a:prstGeom prst="rect">
            <a:avLst/>
          </a:prstGeom>
          <a:solidFill>
            <a:srgbClr val="E67E22">
              <a:alpha val="30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TextBox 1348"/>
          <p:cNvSpPr txBox="1"/>
          <p:nvPr/>
        </p:nvSpPr>
        <p:spPr>
          <a:xfrm>
            <a:off x="684305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0" name="TextBox 1349"/>
          <p:cNvSpPr txBox="1"/>
          <p:nvPr/>
        </p:nvSpPr>
        <p:spPr>
          <a:xfrm>
            <a:off x="684305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1" name="Rectangle 1350"/>
          <p:cNvSpPr/>
          <p:nvPr/>
        </p:nvSpPr>
        <p:spPr>
          <a:xfrm>
            <a:off x="7196305" y="1811020"/>
            <a:ext cx="335249" cy="250996"/>
          </a:xfrm>
          <a:prstGeom prst="rect">
            <a:avLst/>
          </a:prstGeom>
          <a:solidFill>
            <a:srgbClr val="E67E22">
              <a:alpha val="555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TextBox 1351"/>
          <p:cNvSpPr txBox="1"/>
          <p:nvPr/>
        </p:nvSpPr>
        <p:spPr>
          <a:xfrm>
            <a:off x="719030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3" name="TextBox 1352"/>
          <p:cNvSpPr txBox="1"/>
          <p:nvPr/>
        </p:nvSpPr>
        <p:spPr>
          <a:xfrm>
            <a:off x="719030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4" name="Rectangle 1353"/>
          <p:cNvSpPr/>
          <p:nvPr/>
        </p:nvSpPr>
        <p:spPr>
          <a:xfrm>
            <a:off x="7543554" y="1811020"/>
            <a:ext cx="335249" cy="250996"/>
          </a:xfrm>
          <a:prstGeom prst="rect">
            <a:avLst/>
          </a:prstGeom>
          <a:solidFill>
            <a:srgbClr val="E67E22">
              <a:alpha val="4625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TextBox 1354"/>
          <p:cNvSpPr txBox="1"/>
          <p:nvPr/>
        </p:nvSpPr>
        <p:spPr>
          <a:xfrm>
            <a:off x="753755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6" name="TextBox 1355"/>
          <p:cNvSpPr txBox="1"/>
          <p:nvPr/>
        </p:nvSpPr>
        <p:spPr>
          <a:xfrm>
            <a:off x="753755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7" name="Rectangle 1356"/>
          <p:cNvSpPr/>
          <p:nvPr/>
        </p:nvSpPr>
        <p:spPr>
          <a:xfrm>
            <a:off x="7890803" y="1811020"/>
            <a:ext cx="335249" cy="250996"/>
          </a:xfrm>
          <a:prstGeom prst="rect">
            <a:avLst/>
          </a:prstGeom>
          <a:solidFill>
            <a:srgbClr val="E67E22">
              <a:alpha val="9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788480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9" name="TextBox 1358"/>
          <p:cNvSpPr txBox="1"/>
          <p:nvPr/>
        </p:nvSpPr>
        <p:spPr>
          <a:xfrm>
            <a:off x="788480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0" name="Rectangle 1359"/>
          <p:cNvSpPr/>
          <p:nvPr/>
        </p:nvSpPr>
        <p:spPr>
          <a:xfrm>
            <a:off x="8238052" y="1811020"/>
            <a:ext cx="335249" cy="250996"/>
          </a:xfrm>
          <a:prstGeom prst="rect">
            <a:avLst/>
          </a:prstGeom>
          <a:solidFill>
            <a:srgbClr val="E67E22">
              <a:alpha val="356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TextBox 1360"/>
          <p:cNvSpPr txBox="1"/>
          <p:nvPr/>
        </p:nvSpPr>
        <p:spPr>
          <a:xfrm>
            <a:off x="823205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2" name="TextBox 1361"/>
          <p:cNvSpPr txBox="1"/>
          <p:nvPr/>
        </p:nvSpPr>
        <p:spPr>
          <a:xfrm>
            <a:off x="823205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3" name="Rectangle 1362"/>
          <p:cNvSpPr/>
          <p:nvPr/>
        </p:nvSpPr>
        <p:spPr>
          <a:xfrm>
            <a:off x="8585301" y="1811020"/>
            <a:ext cx="335249" cy="250996"/>
          </a:xfrm>
          <a:prstGeom prst="rect">
            <a:avLst/>
          </a:prstGeom>
          <a:solidFill>
            <a:srgbClr val="E67E22">
              <a:alpha val="64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857930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5" name="TextBox 1364"/>
          <p:cNvSpPr txBox="1"/>
          <p:nvPr/>
        </p:nvSpPr>
        <p:spPr>
          <a:xfrm>
            <a:off x="857930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6" name="Rectangle 1365"/>
          <p:cNvSpPr/>
          <p:nvPr/>
        </p:nvSpPr>
        <p:spPr>
          <a:xfrm>
            <a:off x="8932550" y="1811020"/>
            <a:ext cx="335249" cy="250996"/>
          </a:xfrm>
          <a:prstGeom prst="rect">
            <a:avLst/>
          </a:prstGeom>
          <a:solidFill>
            <a:srgbClr val="E67E22">
              <a:alpha val="593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892655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8" name="TextBox 1367"/>
          <p:cNvSpPr txBox="1"/>
          <p:nvPr/>
        </p:nvSpPr>
        <p:spPr>
          <a:xfrm>
            <a:off x="892655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9" name="Rectangle 1368"/>
          <p:cNvSpPr/>
          <p:nvPr/>
        </p:nvSpPr>
        <p:spPr>
          <a:xfrm>
            <a:off x="9279799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927379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1" name="TextBox 1370"/>
          <p:cNvSpPr txBox="1"/>
          <p:nvPr/>
        </p:nvSpPr>
        <p:spPr>
          <a:xfrm>
            <a:off x="927379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2" name="Rectangle 1371"/>
          <p:cNvSpPr/>
          <p:nvPr/>
        </p:nvSpPr>
        <p:spPr>
          <a:xfrm>
            <a:off x="9627048" y="1811020"/>
            <a:ext cx="335249" cy="250996"/>
          </a:xfrm>
          <a:prstGeom prst="rect">
            <a:avLst/>
          </a:prstGeom>
          <a:solidFill>
            <a:srgbClr val="E67E22">
              <a:alpha val="550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962104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4" name="TextBox 1373"/>
          <p:cNvSpPr txBox="1"/>
          <p:nvPr/>
        </p:nvSpPr>
        <p:spPr>
          <a:xfrm>
            <a:off x="962104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5" name="Rectangle 1374"/>
          <p:cNvSpPr/>
          <p:nvPr/>
        </p:nvSpPr>
        <p:spPr>
          <a:xfrm>
            <a:off x="9974297" y="1811020"/>
            <a:ext cx="335249" cy="250996"/>
          </a:xfrm>
          <a:prstGeom prst="rect">
            <a:avLst/>
          </a:prstGeom>
          <a:solidFill>
            <a:srgbClr val="E67E22">
              <a:alpha val="460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TextBox 1375"/>
          <p:cNvSpPr txBox="1"/>
          <p:nvPr/>
        </p:nvSpPr>
        <p:spPr>
          <a:xfrm>
            <a:off x="996829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7" name="TextBox 1376"/>
          <p:cNvSpPr txBox="1"/>
          <p:nvPr/>
        </p:nvSpPr>
        <p:spPr>
          <a:xfrm>
            <a:off x="996829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8" name="Rectangle 1377"/>
          <p:cNvSpPr/>
          <p:nvPr/>
        </p:nvSpPr>
        <p:spPr>
          <a:xfrm>
            <a:off x="10321546" y="1811020"/>
            <a:ext cx="335249" cy="250996"/>
          </a:xfrm>
          <a:prstGeom prst="rect">
            <a:avLst/>
          </a:prstGeom>
          <a:solidFill>
            <a:srgbClr val="E67E22">
              <a:alpha val="894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TextBox 1378"/>
          <p:cNvSpPr txBox="1"/>
          <p:nvPr/>
        </p:nvSpPr>
        <p:spPr>
          <a:xfrm>
            <a:off x="1031554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0" name="TextBox 1379"/>
          <p:cNvSpPr txBox="1"/>
          <p:nvPr/>
        </p:nvSpPr>
        <p:spPr>
          <a:xfrm>
            <a:off x="1031554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1" name="Rectangle 1380"/>
          <p:cNvSpPr/>
          <p:nvPr/>
        </p:nvSpPr>
        <p:spPr>
          <a:xfrm>
            <a:off x="10668795" y="1811020"/>
            <a:ext cx="335249" cy="250996"/>
          </a:xfrm>
          <a:prstGeom prst="rect">
            <a:avLst/>
          </a:prstGeom>
          <a:solidFill>
            <a:srgbClr val="E67E22">
              <a:alpha val="866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TextBox 1381"/>
          <p:cNvSpPr txBox="1"/>
          <p:nvPr/>
        </p:nvSpPr>
        <p:spPr>
          <a:xfrm>
            <a:off x="1066279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3" name="TextBox 1382"/>
          <p:cNvSpPr txBox="1"/>
          <p:nvPr/>
        </p:nvSpPr>
        <p:spPr>
          <a:xfrm>
            <a:off x="1066279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4" name="Rectangle 1383"/>
          <p:cNvSpPr/>
          <p:nvPr/>
        </p:nvSpPr>
        <p:spPr>
          <a:xfrm>
            <a:off x="11016044" y="1811020"/>
            <a:ext cx="335249" cy="250996"/>
          </a:xfrm>
          <a:prstGeom prst="rect">
            <a:avLst/>
          </a:prstGeom>
          <a:solidFill>
            <a:srgbClr val="E67E22">
              <a:alpha val="74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TextBox 1384"/>
          <p:cNvSpPr txBox="1"/>
          <p:nvPr/>
        </p:nvSpPr>
        <p:spPr>
          <a:xfrm>
            <a:off x="1101004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6" name="TextBox 1385"/>
          <p:cNvSpPr txBox="1"/>
          <p:nvPr/>
        </p:nvSpPr>
        <p:spPr>
          <a:xfrm>
            <a:off x="1101004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7" name="Rectangle 1386"/>
          <p:cNvSpPr/>
          <p:nvPr/>
        </p:nvSpPr>
        <p:spPr>
          <a:xfrm>
            <a:off x="11363293" y="1811020"/>
            <a:ext cx="335249" cy="250996"/>
          </a:xfrm>
          <a:prstGeom prst="rect">
            <a:avLst/>
          </a:prstGeom>
          <a:solidFill>
            <a:srgbClr val="E67E22">
              <a:alpha val="567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TextBox 1387"/>
          <p:cNvSpPr txBox="1"/>
          <p:nvPr/>
        </p:nvSpPr>
        <p:spPr>
          <a:xfrm>
            <a:off x="1135729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9" name="TextBox 1388"/>
          <p:cNvSpPr txBox="1"/>
          <p:nvPr/>
        </p:nvSpPr>
        <p:spPr>
          <a:xfrm>
            <a:off x="1135729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0" name="Rectangle 1389"/>
          <p:cNvSpPr/>
          <p:nvPr/>
        </p:nvSpPr>
        <p:spPr>
          <a:xfrm>
            <a:off x="11710542" y="1811020"/>
            <a:ext cx="335249" cy="250996"/>
          </a:xfrm>
          <a:prstGeom prst="rect">
            <a:avLst/>
          </a:prstGeom>
          <a:solidFill>
            <a:srgbClr val="E67E22">
              <a:alpha val="631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TextBox 1390"/>
          <p:cNvSpPr txBox="1"/>
          <p:nvPr/>
        </p:nvSpPr>
        <p:spPr>
          <a:xfrm>
            <a:off x="1170454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2" name="TextBox 1391"/>
          <p:cNvSpPr txBox="1"/>
          <p:nvPr/>
        </p:nvSpPr>
        <p:spPr>
          <a:xfrm>
            <a:off x="1170454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3" name="TextBox 1392"/>
          <p:cNvSpPr txBox="1"/>
          <p:nvPr/>
        </p:nvSpPr>
        <p:spPr>
          <a:xfrm>
            <a:off x="6183056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94" name="Rectangle 1393"/>
          <p:cNvSpPr/>
          <p:nvPr/>
        </p:nvSpPr>
        <p:spPr>
          <a:xfrm>
            <a:off x="6849056" y="2074016"/>
            <a:ext cx="335249" cy="250996"/>
          </a:xfrm>
          <a:prstGeom prst="rect">
            <a:avLst/>
          </a:prstGeom>
          <a:solidFill>
            <a:srgbClr val="1A7A3F">
              <a:alpha val="556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TextBox 1394"/>
          <p:cNvSpPr txBox="1"/>
          <p:nvPr/>
        </p:nvSpPr>
        <p:spPr>
          <a:xfrm>
            <a:off x="684305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6" name="TextBox 1395"/>
          <p:cNvSpPr txBox="1"/>
          <p:nvPr/>
        </p:nvSpPr>
        <p:spPr>
          <a:xfrm>
            <a:off x="684305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7" name="Rectangle 1396"/>
          <p:cNvSpPr/>
          <p:nvPr/>
        </p:nvSpPr>
        <p:spPr>
          <a:xfrm>
            <a:off x="7196305" y="2074016"/>
            <a:ext cx="335249" cy="250996"/>
          </a:xfrm>
          <a:prstGeom prst="rect">
            <a:avLst/>
          </a:prstGeom>
          <a:solidFill>
            <a:srgbClr val="1A7A3F">
              <a:alpha val="464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TextBox 1397"/>
          <p:cNvSpPr txBox="1"/>
          <p:nvPr/>
        </p:nvSpPr>
        <p:spPr>
          <a:xfrm>
            <a:off x="719030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399" name="TextBox 1398"/>
          <p:cNvSpPr txBox="1"/>
          <p:nvPr/>
        </p:nvSpPr>
        <p:spPr>
          <a:xfrm>
            <a:off x="719030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0" name="Rectangle 1399"/>
          <p:cNvSpPr/>
          <p:nvPr/>
        </p:nvSpPr>
        <p:spPr>
          <a:xfrm>
            <a:off x="7543554" y="2074016"/>
            <a:ext cx="335249" cy="250996"/>
          </a:xfrm>
          <a:prstGeom prst="rect">
            <a:avLst/>
          </a:prstGeom>
          <a:solidFill>
            <a:srgbClr val="1A7A3F">
              <a:alpha val="697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TextBox 1400"/>
          <p:cNvSpPr txBox="1"/>
          <p:nvPr/>
        </p:nvSpPr>
        <p:spPr>
          <a:xfrm>
            <a:off x="753755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2" name="TextBox 1401"/>
          <p:cNvSpPr txBox="1"/>
          <p:nvPr/>
        </p:nvSpPr>
        <p:spPr>
          <a:xfrm>
            <a:off x="753755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3" name="Rectangle 1402"/>
          <p:cNvSpPr/>
          <p:nvPr/>
        </p:nvSpPr>
        <p:spPr>
          <a:xfrm>
            <a:off x="7890803" y="2074016"/>
            <a:ext cx="335249" cy="250996"/>
          </a:xfrm>
          <a:prstGeom prst="rect">
            <a:avLst/>
          </a:prstGeom>
          <a:solidFill>
            <a:srgbClr val="1A7A3F">
              <a:alpha val="42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TextBox 1403"/>
          <p:cNvSpPr txBox="1"/>
          <p:nvPr/>
        </p:nvSpPr>
        <p:spPr>
          <a:xfrm>
            <a:off x="788480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5" name="TextBox 1404"/>
          <p:cNvSpPr txBox="1"/>
          <p:nvPr/>
        </p:nvSpPr>
        <p:spPr>
          <a:xfrm>
            <a:off x="788480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6" name="Rectangle 1405"/>
          <p:cNvSpPr/>
          <p:nvPr/>
        </p:nvSpPr>
        <p:spPr>
          <a:xfrm>
            <a:off x="8238052" y="2074016"/>
            <a:ext cx="335249" cy="250996"/>
          </a:xfrm>
          <a:prstGeom prst="rect">
            <a:avLst/>
          </a:prstGeom>
          <a:solidFill>
            <a:srgbClr val="1A7A3F">
              <a:alpha val="57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TextBox 1406"/>
          <p:cNvSpPr txBox="1"/>
          <p:nvPr/>
        </p:nvSpPr>
        <p:spPr>
          <a:xfrm>
            <a:off x="823205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8" name="TextBox 1407"/>
          <p:cNvSpPr txBox="1"/>
          <p:nvPr/>
        </p:nvSpPr>
        <p:spPr>
          <a:xfrm>
            <a:off x="823205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9" name="Rectangle 1408"/>
          <p:cNvSpPr/>
          <p:nvPr/>
        </p:nvSpPr>
        <p:spPr>
          <a:xfrm>
            <a:off x="8585301" y="2074016"/>
            <a:ext cx="335249" cy="250996"/>
          </a:xfrm>
          <a:prstGeom prst="rect">
            <a:avLst/>
          </a:prstGeom>
          <a:solidFill>
            <a:srgbClr val="1A7A3F">
              <a:alpha val="639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TextBox 1409"/>
          <p:cNvSpPr txBox="1"/>
          <p:nvPr/>
        </p:nvSpPr>
        <p:spPr>
          <a:xfrm>
            <a:off x="857930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1" name="TextBox 1410"/>
          <p:cNvSpPr txBox="1"/>
          <p:nvPr/>
        </p:nvSpPr>
        <p:spPr>
          <a:xfrm>
            <a:off x="857930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2" name="Rectangle 1411"/>
          <p:cNvSpPr/>
          <p:nvPr/>
        </p:nvSpPr>
        <p:spPr>
          <a:xfrm>
            <a:off x="8932550" y="2074016"/>
            <a:ext cx="335249" cy="250996"/>
          </a:xfrm>
          <a:prstGeom prst="rect">
            <a:avLst/>
          </a:prstGeom>
          <a:solidFill>
            <a:srgbClr val="1A7A3F">
              <a:alpha val="585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TextBox 1412"/>
          <p:cNvSpPr txBox="1"/>
          <p:nvPr/>
        </p:nvSpPr>
        <p:spPr>
          <a:xfrm>
            <a:off x="892655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4" name="TextBox 1413"/>
          <p:cNvSpPr txBox="1"/>
          <p:nvPr/>
        </p:nvSpPr>
        <p:spPr>
          <a:xfrm>
            <a:off x="892655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5" name="Rectangle 1414"/>
          <p:cNvSpPr/>
          <p:nvPr/>
        </p:nvSpPr>
        <p:spPr>
          <a:xfrm>
            <a:off x="9279799" y="2074016"/>
            <a:ext cx="335249" cy="250996"/>
          </a:xfrm>
          <a:prstGeom prst="rect">
            <a:avLst/>
          </a:prstGeom>
          <a:solidFill>
            <a:srgbClr val="1A7A3F">
              <a:alpha val="78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TextBox 1415"/>
          <p:cNvSpPr txBox="1"/>
          <p:nvPr/>
        </p:nvSpPr>
        <p:spPr>
          <a:xfrm>
            <a:off x="927379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7" name="TextBox 1416"/>
          <p:cNvSpPr txBox="1"/>
          <p:nvPr/>
        </p:nvSpPr>
        <p:spPr>
          <a:xfrm>
            <a:off x="927379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8" name="Rectangle 1417"/>
          <p:cNvSpPr/>
          <p:nvPr/>
        </p:nvSpPr>
        <p:spPr>
          <a:xfrm>
            <a:off x="9627048" y="2074016"/>
            <a:ext cx="335249" cy="250996"/>
          </a:xfrm>
          <a:prstGeom prst="rect">
            <a:avLst/>
          </a:prstGeom>
          <a:solidFill>
            <a:srgbClr val="1A7A3F">
              <a:alpha val="4974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962104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0" name="TextBox 1419"/>
          <p:cNvSpPr txBox="1"/>
          <p:nvPr/>
        </p:nvSpPr>
        <p:spPr>
          <a:xfrm>
            <a:off x="962104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1" name="Rectangle 1420"/>
          <p:cNvSpPr/>
          <p:nvPr/>
        </p:nvSpPr>
        <p:spPr>
          <a:xfrm>
            <a:off x="9974297" y="2074016"/>
            <a:ext cx="335249" cy="250996"/>
          </a:xfrm>
          <a:prstGeom prst="rect">
            <a:avLst/>
          </a:prstGeom>
          <a:solidFill>
            <a:srgbClr val="1A7A3F">
              <a:alpha val="6462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TextBox 1421"/>
          <p:cNvSpPr txBox="1"/>
          <p:nvPr/>
        </p:nvSpPr>
        <p:spPr>
          <a:xfrm>
            <a:off x="996829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3" name="TextBox 1422"/>
          <p:cNvSpPr txBox="1"/>
          <p:nvPr/>
        </p:nvSpPr>
        <p:spPr>
          <a:xfrm>
            <a:off x="996829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4" name="Rectangle 1423"/>
          <p:cNvSpPr/>
          <p:nvPr/>
        </p:nvSpPr>
        <p:spPr>
          <a:xfrm>
            <a:off x="10321546" y="2074016"/>
            <a:ext cx="335249" cy="250996"/>
          </a:xfrm>
          <a:prstGeom prst="rect">
            <a:avLst/>
          </a:prstGeom>
          <a:solidFill>
            <a:srgbClr val="1A7A3F">
              <a:alpha val="5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TextBox 1424"/>
          <p:cNvSpPr txBox="1"/>
          <p:nvPr/>
        </p:nvSpPr>
        <p:spPr>
          <a:xfrm>
            <a:off x="1031554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6" name="TextBox 1425"/>
          <p:cNvSpPr txBox="1"/>
          <p:nvPr/>
        </p:nvSpPr>
        <p:spPr>
          <a:xfrm>
            <a:off x="1031554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7" name="Rectangle 1426"/>
          <p:cNvSpPr/>
          <p:nvPr/>
        </p:nvSpPr>
        <p:spPr>
          <a:xfrm>
            <a:off x="10668795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TextBox 1427"/>
          <p:cNvSpPr txBox="1"/>
          <p:nvPr/>
        </p:nvSpPr>
        <p:spPr>
          <a:xfrm>
            <a:off x="1066279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9" name="TextBox 1428"/>
          <p:cNvSpPr txBox="1"/>
          <p:nvPr/>
        </p:nvSpPr>
        <p:spPr>
          <a:xfrm>
            <a:off x="1066279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0" name="Rectangle 1429"/>
          <p:cNvSpPr/>
          <p:nvPr/>
        </p:nvSpPr>
        <p:spPr>
          <a:xfrm>
            <a:off x="11016044" y="2074016"/>
            <a:ext cx="335249" cy="250996"/>
          </a:xfrm>
          <a:prstGeom prst="rect">
            <a:avLst/>
          </a:prstGeom>
          <a:solidFill>
            <a:srgbClr val="1A7A3F">
              <a:alpha val="42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TextBox 1430"/>
          <p:cNvSpPr txBox="1"/>
          <p:nvPr/>
        </p:nvSpPr>
        <p:spPr>
          <a:xfrm>
            <a:off x="1101004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2" name="TextBox 1431"/>
          <p:cNvSpPr txBox="1"/>
          <p:nvPr/>
        </p:nvSpPr>
        <p:spPr>
          <a:xfrm>
            <a:off x="1101004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3" name="Rectangle 1432"/>
          <p:cNvSpPr/>
          <p:nvPr/>
        </p:nvSpPr>
        <p:spPr>
          <a:xfrm>
            <a:off x="11363293" y="2074016"/>
            <a:ext cx="335249" cy="250996"/>
          </a:xfrm>
          <a:prstGeom prst="rect">
            <a:avLst/>
          </a:prstGeom>
          <a:solidFill>
            <a:srgbClr val="1A7A3F">
              <a:alpha val="42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TextBox 1433"/>
          <p:cNvSpPr txBox="1"/>
          <p:nvPr/>
        </p:nvSpPr>
        <p:spPr>
          <a:xfrm>
            <a:off x="1135729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5" name="TextBox 1434"/>
          <p:cNvSpPr txBox="1"/>
          <p:nvPr/>
        </p:nvSpPr>
        <p:spPr>
          <a:xfrm>
            <a:off x="1135729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6" name="Rectangle 1435"/>
          <p:cNvSpPr/>
          <p:nvPr/>
        </p:nvSpPr>
        <p:spPr>
          <a:xfrm>
            <a:off x="11710542" y="2074016"/>
            <a:ext cx="335249" cy="250996"/>
          </a:xfrm>
          <a:prstGeom prst="rect">
            <a:avLst/>
          </a:prstGeom>
          <a:solidFill>
            <a:srgbClr val="1A7A3F">
              <a:alpha val="562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TextBox 1436"/>
          <p:cNvSpPr txBox="1"/>
          <p:nvPr/>
        </p:nvSpPr>
        <p:spPr>
          <a:xfrm>
            <a:off x="1170454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8" name="TextBox 1437"/>
          <p:cNvSpPr txBox="1"/>
          <p:nvPr/>
        </p:nvSpPr>
        <p:spPr>
          <a:xfrm>
            <a:off x="1170454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9" name="TextBox 1438"/>
          <p:cNvSpPr txBox="1"/>
          <p:nvPr/>
        </p:nvSpPr>
        <p:spPr>
          <a:xfrm>
            <a:off x="6183056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40" name="Rectangle 1439"/>
          <p:cNvSpPr/>
          <p:nvPr/>
        </p:nvSpPr>
        <p:spPr>
          <a:xfrm>
            <a:off x="6849056" y="2337012"/>
            <a:ext cx="335249" cy="250996"/>
          </a:xfrm>
          <a:prstGeom prst="rect">
            <a:avLst/>
          </a:prstGeom>
          <a:solidFill>
            <a:srgbClr val="94A3B8">
              <a:alpha val="2528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6843056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2" name="TextBox 1441"/>
          <p:cNvSpPr txBox="1"/>
          <p:nvPr/>
        </p:nvSpPr>
        <p:spPr>
          <a:xfrm>
            <a:off x="6843056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3" name="Rectangle 1442"/>
          <p:cNvSpPr/>
          <p:nvPr/>
        </p:nvSpPr>
        <p:spPr>
          <a:xfrm>
            <a:off x="7196305" y="2337012"/>
            <a:ext cx="335249" cy="250996"/>
          </a:xfrm>
          <a:prstGeom prst="rect">
            <a:avLst/>
          </a:prstGeom>
          <a:solidFill>
            <a:srgbClr val="94A3B8">
              <a:alpha val="25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TextBox 1443"/>
          <p:cNvSpPr txBox="1"/>
          <p:nvPr/>
        </p:nvSpPr>
        <p:spPr>
          <a:xfrm>
            <a:off x="719030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5" name="TextBox 1444"/>
          <p:cNvSpPr txBox="1"/>
          <p:nvPr/>
        </p:nvSpPr>
        <p:spPr>
          <a:xfrm>
            <a:off x="719030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6" name="Rectangle 1445"/>
          <p:cNvSpPr/>
          <p:nvPr/>
        </p:nvSpPr>
        <p:spPr>
          <a:xfrm>
            <a:off x="7890803" y="2337012"/>
            <a:ext cx="335249" cy="250996"/>
          </a:xfrm>
          <a:prstGeom prst="rect">
            <a:avLst/>
          </a:prstGeom>
          <a:solidFill>
            <a:srgbClr val="94A3B8">
              <a:alpha val="3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TextBox 1446"/>
          <p:cNvSpPr txBox="1"/>
          <p:nvPr/>
        </p:nvSpPr>
        <p:spPr>
          <a:xfrm>
            <a:off x="7884803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8" name="TextBox 1447"/>
          <p:cNvSpPr txBox="1"/>
          <p:nvPr/>
        </p:nvSpPr>
        <p:spPr>
          <a:xfrm>
            <a:off x="7884803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9" name="Rectangle 1448"/>
          <p:cNvSpPr/>
          <p:nvPr/>
        </p:nvSpPr>
        <p:spPr>
          <a:xfrm>
            <a:off x="8585301" y="2337012"/>
            <a:ext cx="335249" cy="250996"/>
          </a:xfrm>
          <a:prstGeom prst="rect">
            <a:avLst/>
          </a:prstGeom>
          <a:solidFill>
            <a:srgbClr val="94A3B8">
              <a:alpha val="258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TextBox 1449"/>
          <p:cNvSpPr txBox="1"/>
          <p:nvPr/>
        </p:nvSpPr>
        <p:spPr>
          <a:xfrm>
            <a:off x="8579301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1" name="TextBox 1450"/>
          <p:cNvSpPr txBox="1"/>
          <p:nvPr/>
        </p:nvSpPr>
        <p:spPr>
          <a:xfrm>
            <a:off x="8579301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2" name="Rectangle 1451"/>
          <p:cNvSpPr/>
          <p:nvPr/>
        </p:nvSpPr>
        <p:spPr>
          <a:xfrm>
            <a:off x="9974297" y="2337012"/>
            <a:ext cx="335249" cy="250996"/>
          </a:xfrm>
          <a:prstGeom prst="rect">
            <a:avLst/>
          </a:prstGeom>
          <a:solidFill>
            <a:srgbClr val="94A3B8">
              <a:alpha val="26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TextBox 1452"/>
          <p:cNvSpPr txBox="1"/>
          <p:nvPr/>
        </p:nvSpPr>
        <p:spPr>
          <a:xfrm>
            <a:off x="9968297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4" name="TextBox 1453"/>
          <p:cNvSpPr txBox="1"/>
          <p:nvPr/>
        </p:nvSpPr>
        <p:spPr>
          <a:xfrm>
            <a:off x="9968297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5" name="Rectangle 1454"/>
          <p:cNvSpPr/>
          <p:nvPr/>
        </p:nvSpPr>
        <p:spPr>
          <a:xfrm>
            <a:off x="10668795" y="2337012"/>
            <a:ext cx="335249" cy="250996"/>
          </a:xfrm>
          <a:prstGeom prst="rect">
            <a:avLst/>
          </a:prstGeom>
          <a:solidFill>
            <a:srgbClr val="94A3B8">
              <a:alpha val="26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TextBox 1455"/>
          <p:cNvSpPr txBox="1"/>
          <p:nvPr/>
        </p:nvSpPr>
        <p:spPr>
          <a:xfrm>
            <a:off x="1066279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7" name="TextBox 1456"/>
          <p:cNvSpPr txBox="1"/>
          <p:nvPr/>
        </p:nvSpPr>
        <p:spPr>
          <a:xfrm>
            <a:off x="1066279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8" name="Rectangle 1457"/>
          <p:cNvSpPr/>
          <p:nvPr/>
        </p:nvSpPr>
        <p:spPr>
          <a:xfrm>
            <a:off x="11016044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TextBox 1458"/>
          <p:cNvSpPr txBox="1"/>
          <p:nvPr/>
        </p:nvSpPr>
        <p:spPr>
          <a:xfrm>
            <a:off x="11010044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0" name="TextBox 1459"/>
          <p:cNvSpPr txBox="1"/>
          <p:nvPr/>
        </p:nvSpPr>
        <p:spPr>
          <a:xfrm>
            <a:off x="11010044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1" name="Rectangle 1460"/>
          <p:cNvSpPr/>
          <p:nvPr/>
        </p:nvSpPr>
        <p:spPr>
          <a:xfrm>
            <a:off x="11363293" y="2337012"/>
            <a:ext cx="335249" cy="250996"/>
          </a:xfrm>
          <a:prstGeom prst="rect">
            <a:avLst/>
          </a:prstGeom>
          <a:solidFill>
            <a:srgbClr val="94A3B8">
              <a:alpha val="298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TextBox 1461"/>
          <p:cNvSpPr txBox="1"/>
          <p:nvPr/>
        </p:nvSpPr>
        <p:spPr>
          <a:xfrm>
            <a:off x="11357293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3" name="TextBox 1462"/>
          <p:cNvSpPr txBox="1"/>
          <p:nvPr/>
        </p:nvSpPr>
        <p:spPr>
          <a:xfrm>
            <a:off x="11357293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4" name="TextBox 1463"/>
          <p:cNvSpPr txBox="1"/>
          <p:nvPr/>
        </p:nvSpPr>
        <p:spPr>
          <a:xfrm>
            <a:off x="6183056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65" name="Rectangle 1464"/>
          <p:cNvSpPr/>
          <p:nvPr/>
        </p:nvSpPr>
        <p:spPr>
          <a:xfrm>
            <a:off x="7543554" y="2600008"/>
            <a:ext cx="335249" cy="2509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TextBox 1465"/>
          <p:cNvSpPr txBox="1"/>
          <p:nvPr/>
        </p:nvSpPr>
        <p:spPr>
          <a:xfrm>
            <a:off x="7537554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67" name="TextBox 1466"/>
          <p:cNvSpPr txBox="1"/>
          <p:nvPr/>
        </p:nvSpPr>
        <p:spPr>
          <a:xfrm>
            <a:off x="7537554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68" name="Rectangle 1467"/>
          <p:cNvSpPr/>
          <p:nvPr/>
        </p:nvSpPr>
        <p:spPr>
          <a:xfrm>
            <a:off x="8238052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8232052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70" name="TextBox 1469"/>
          <p:cNvSpPr txBox="1"/>
          <p:nvPr/>
        </p:nvSpPr>
        <p:spPr>
          <a:xfrm>
            <a:off x="8232052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71" name="Rectangle 1470"/>
          <p:cNvSpPr/>
          <p:nvPr/>
        </p:nvSpPr>
        <p:spPr>
          <a:xfrm>
            <a:off x="8585301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TextBox 1471"/>
          <p:cNvSpPr txBox="1"/>
          <p:nvPr/>
        </p:nvSpPr>
        <p:spPr>
          <a:xfrm>
            <a:off x="8579301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3" name="TextBox 1472"/>
          <p:cNvSpPr txBox="1"/>
          <p:nvPr/>
        </p:nvSpPr>
        <p:spPr>
          <a:xfrm>
            <a:off x="8579301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4" name="TextBox 1473"/>
          <p:cNvSpPr txBox="1"/>
          <p:nvPr/>
        </p:nvSpPr>
        <p:spPr>
          <a:xfrm>
            <a:off x="6183056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475" name="Rectangle 1474"/>
          <p:cNvSpPr/>
          <p:nvPr/>
        </p:nvSpPr>
        <p:spPr>
          <a:xfrm>
            <a:off x="684905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TextBox 1475"/>
          <p:cNvSpPr txBox="1"/>
          <p:nvPr/>
        </p:nvSpPr>
        <p:spPr>
          <a:xfrm>
            <a:off x="684305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77" name="TextBox 1476"/>
          <p:cNvSpPr txBox="1"/>
          <p:nvPr/>
        </p:nvSpPr>
        <p:spPr>
          <a:xfrm>
            <a:off x="684305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78" name="Rectangle 1477"/>
          <p:cNvSpPr/>
          <p:nvPr/>
        </p:nvSpPr>
        <p:spPr>
          <a:xfrm>
            <a:off x="719630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719030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0" name="TextBox 1479"/>
          <p:cNvSpPr txBox="1"/>
          <p:nvPr/>
        </p:nvSpPr>
        <p:spPr>
          <a:xfrm>
            <a:off x="719030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1" name="Rectangle 1480"/>
          <p:cNvSpPr/>
          <p:nvPr/>
        </p:nvSpPr>
        <p:spPr>
          <a:xfrm>
            <a:off x="754355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TextBox 1481"/>
          <p:cNvSpPr txBox="1"/>
          <p:nvPr/>
        </p:nvSpPr>
        <p:spPr>
          <a:xfrm>
            <a:off x="753755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18.1M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3" name="TextBox 1482"/>
          <p:cNvSpPr txBox="1"/>
          <p:nvPr/>
        </p:nvSpPr>
        <p:spPr>
          <a:xfrm>
            <a:off x="753755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4" name="Rectangle 1483"/>
          <p:cNvSpPr/>
          <p:nvPr/>
        </p:nvSpPr>
        <p:spPr>
          <a:xfrm>
            <a:off x="789080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TextBox 1484"/>
          <p:cNvSpPr txBox="1"/>
          <p:nvPr/>
        </p:nvSpPr>
        <p:spPr>
          <a:xfrm>
            <a:off x="788480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6" name="TextBox 1485"/>
          <p:cNvSpPr txBox="1"/>
          <p:nvPr/>
        </p:nvSpPr>
        <p:spPr>
          <a:xfrm>
            <a:off x="788480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7" name="Rectangle 1486"/>
          <p:cNvSpPr/>
          <p:nvPr/>
        </p:nvSpPr>
        <p:spPr>
          <a:xfrm>
            <a:off x="823805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TextBox 1487"/>
          <p:cNvSpPr txBox="1"/>
          <p:nvPr/>
        </p:nvSpPr>
        <p:spPr>
          <a:xfrm>
            <a:off x="823205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9" name="TextBox 1488"/>
          <p:cNvSpPr txBox="1"/>
          <p:nvPr/>
        </p:nvSpPr>
        <p:spPr>
          <a:xfrm>
            <a:off x="823205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0" name="Rectangle 1489"/>
          <p:cNvSpPr/>
          <p:nvPr/>
        </p:nvSpPr>
        <p:spPr>
          <a:xfrm>
            <a:off x="858530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TextBox 1490"/>
          <p:cNvSpPr txBox="1"/>
          <p:nvPr/>
        </p:nvSpPr>
        <p:spPr>
          <a:xfrm>
            <a:off x="857930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2" name="TextBox 1491"/>
          <p:cNvSpPr txBox="1"/>
          <p:nvPr/>
        </p:nvSpPr>
        <p:spPr>
          <a:xfrm>
            <a:off x="857930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3" name="Rectangle 1492"/>
          <p:cNvSpPr/>
          <p:nvPr/>
        </p:nvSpPr>
        <p:spPr>
          <a:xfrm>
            <a:off x="893255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TextBox 1493"/>
          <p:cNvSpPr txBox="1"/>
          <p:nvPr/>
        </p:nvSpPr>
        <p:spPr>
          <a:xfrm>
            <a:off x="892655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5" name="TextBox 1494"/>
          <p:cNvSpPr txBox="1"/>
          <p:nvPr/>
        </p:nvSpPr>
        <p:spPr>
          <a:xfrm>
            <a:off x="892655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6" name="Rectangle 1495"/>
          <p:cNvSpPr/>
          <p:nvPr/>
        </p:nvSpPr>
        <p:spPr>
          <a:xfrm>
            <a:off x="927979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TextBox 1496"/>
          <p:cNvSpPr txBox="1"/>
          <p:nvPr/>
        </p:nvSpPr>
        <p:spPr>
          <a:xfrm>
            <a:off x="927379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32.8M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8" name="TextBox 1497"/>
          <p:cNvSpPr txBox="1"/>
          <p:nvPr/>
        </p:nvSpPr>
        <p:spPr>
          <a:xfrm>
            <a:off x="927379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9" name="Rectangle 1498"/>
          <p:cNvSpPr/>
          <p:nvPr/>
        </p:nvSpPr>
        <p:spPr>
          <a:xfrm>
            <a:off x="962704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962104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1" name="TextBox 1500"/>
          <p:cNvSpPr txBox="1"/>
          <p:nvPr/>
        </p:nvSpPr>
        <p:spPr>
          <a:xfrm>
            <a:off x="962104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2" name="Rectangle 1501"/>
          <p:cNvSpPr/>
          <p:nvPr/>
        </p:nvSpPr>
        <p:spPr>
          <a:xfrm>
            <a:off x="997429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996829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4" name="TextBox 1503"/>
          <p:cNvSpPr txBox="1"/>
          <p:nvPr/>
        </p:nvSpPr>
        <p:spPr>
          <a:xfrm>
            <a:off x="996829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5" name="Rectangle 1504"/>
          <p:cNvSpPr/>
          <p:nvPr/>
        </p:nvSpPr>
        <p:spPr>
          <a:xfrm>
            <a:off x="1032154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1031554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7" name="TextBox 1506"/>
          <p:cNvSpPr txBox="1"/>
          <p:nvPr/>
        </p:nvSpPr>
        <p:spPr>
          <a:xfrm>
            <a:off x="1031554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8" name="Rectangle 1507"/>
          <p:cNvSpPr/>
          <p:nvPr/>
        </p:nvSpPr>
        <p:spPr>
          <a:xfrm>
            <a:off x="1066879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1066279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0" name="TextBox 1509"/>
          <p:cNvSpPr txBox="1"/>
          <p:nvPr/>
        </p:nvSpPr>
        <p:spPr>
          <a:xfrm>
            <a:off x="1066279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1" name="Rectangle 1510"/>
          <p:cNvSpPr/>
          <p:nvPr/>
        </p:nvSpPr>
        <p:spPr>
          <a:xfrm>
            <a:off x="1101604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1101004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3" name="TextBox 1512"/>
          <p:cNvSpPr txBox="1"/>
          <p:nvPr/>
        </p:nvSpPr>
        <p:spPr>
          <a:xfrm>
            <a:off x="1101004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4" name="Rectangle 1513"/>
          <p:cNvSpPr/>
          <p:nvPr/>
        </p:nvSpPr>
        <p:spPr>
          <a:xfrm>
            <a:off x="1136329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1135729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6" name="TextBox 1515"/>
          <p:cNvSpPr txBox="1"/>
          <p:nvPr/>
        </p:nvSpPr>
        <p:spPr>
          <a:xfrm>
            <a:off x="1135729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7" name="Rectangle 1516"/>
          <p:cNvSpPr/>
          <p:nvPr/>
        </p:nvSpPr>
        <p:spPr>
          <a:xfrm>
            <a:off x="1171054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TextBox 1517"/>
          <p:cNvSpPr txBox="1"/>
          <p:nvPr/>
        </p:nvSpPr>
        <p:spPr>
          <a:xfrm>
            <a:off x="1170454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21.0M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9" name="TextBox 1518"/>
          <p:cNvSpPr txBox="1"/>
          <p:nvPr/>
        </p:nvSpPr>
        <p:spPr>
          <a:xfrm>
            <a:off x="1170454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20" name="Rectangle 1519"/>
          <p:cNvSpPr/>
          <p:nvPr/>
        </p:nvSpPr>
        <p:spPr>
          <a:xfrm>
            <a:off x="182880" y="36576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TextBox 1520"/>
          <p:cNvSpPr txBox="1"/>
          <p:nvPr/>
        </p:nvSpPr>
        <p:spPr>
          <a:xfrm>
            <a:off x="262880" y="36576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S  周度批核业绩热力矩阵（APE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22" name="TextBox 1521"/>
          <p:cNvSpPr txBox="1"/>
          <p:nvPr/>
        </p:nvSpPr>
        <p:spPr>
          <a:xfrm>
            <a:off x="86288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3" name="TextBox 1522"/>
          <p:cNvSpPr txBox="1"/>
          <p:nvPr/>
        </p:nvSpPr>
        <p:spPr>
          <a:xfrm>
            <a:off x="121012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4" name="TextBox 1523"/>
          <p:cNvSpPr txBox="1"/>
          <p:nvPr/>
        </p:nvSpPr>
        <p:spPr>
          <a:xfrm>
            <a:off x="155737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5" name="TextBox 1524"/>
          <p:cNvSpPr txBox="1"/>
          <p:nvPr/>
        </p:nvSpPr>
        <p:spPr>
          <a:xfrm>
            <a:off x="190462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6" name="TextBox 1525"/>
          <p:cNvSpPr txBox="1"/>
          <p:nvPr/>
        </p:nvSpPr>
        <p:spPr>
          <a:xfrm>
            <a:off x="225187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7" name="TextBox 1526"/>
          <p:cNvSpPr txBox="1"/>
          <p:nvPr/>
        </p:nvSpPr>
        <p:spPr>
          <a:xfrm>
            <a:off x="2599125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8" name="TextBox 1527"/>
          <p:cNvSpPr txBox="1"/>
          <p:nvPr/>
        </p:nvSpPr>
        <p:spPr>
          <a:xfrm>
            <a:off x="2946374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9" name="TextBox 1528"/>
          <p:cNvSpPr txBox="1"/>
          <p:nvPr/>
        </p:nvSpPr>
        <p:spPr>
          <a:xfrm>
            <a:off x="3293623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0" name="TextBox 1529"/>
          <p:cNvSpPr txBox="1"/>
          <p:nvPr/>
        </p:nvSpPr>
        <p:spPr>
          <a:xfrm>
            <a:off x="3640872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1" name="TextBox 1530"/>
          <p:cNvSpPr txBox="1"/>
          <p:nvPr/>
        </p:nvSpPr>
        <p:spPr>
          <a:xfrm>
            <a:off x="3988121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2" name="TextBox 1531"/>
          <p:cNvSpPr txBox="1"/>
          <p:nvPr/>
        </p:nvSpPr>
        <p:spPr>
          <a:xfrm>
            <a:off x="433537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3" name="TextBox 1532"/>
          <p:cNvSpPr txBox="1"/>
          <p:nvPr/>
        </p:nvSpPr>
        <p:spPr>
          <a:xfrm>
            <a:off x="468261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4" name="TextBox 1533"/>
          <p:cNvSpPr txBox="1"/>
          <p:nvPr/>
        </p:nvSpPr>
        <p:spPr>
          <a:xfrm>
            <a:off x="502986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5" name="TextBox 1534"/>
          <p:cNvSpPr txBox="1"/>
          <p:nvPr/>
        </p:nvSpPr>
        <p:spPr>
          <a:xfrm>
            <a:off x="537711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6" name="TextBox 1535"/>
          <p:cNvSpPr txBox="1"/>
          <p:nvPr/>
        </p:nvSpPr>
        <p:spPr>
          <a:xfrm>
            <a:off x="572436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7" name="TextBox 1536"/>
          <p:cNvSpPr txBox="1"/>
          <p:nvPr/>
        </p:nvSpPr>
        <p:spPr>
          <a:xfrm>
            <a:off x="202880" y="411363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38" name="Rectangle 1537"/>
          <p:cNvSpPr/>
          <p:nvPr/>
        </p:nvSpPr>
        <p:spPr>
          <a:xfrm>
            <a:off x="868880" y="4119632"/>
            <a:ext cx="335249" cy="251296"/>
          </a:xfrm>
          <a:prstGeom prst="rect">
            <a:avLst/>
          </a:prstGeom>
          <a:solidFill>
            <a:srgbClr val="2980B9">
              <a:alpha val="503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TextBox 1538"/>
          <p:cNvSpPr txBox="1"/>
          <p:nvPr/>
        </p:nvSpPr>
        <p:spPr>
          <a:xfrm>
            <a:off x="86288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0" name="TextBox 1539"/>
          <p:cNvSpPr txBox="1"/>
          <p:nvPr/>
        </p:nvSpPr>
        <p:spPr>
          <a:xfrm>
            <a:off x="86288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1" name="Rectangle 1540"/>
          <p:cNvSpPr/>
          <p:nvPr/>
        </p:nvSpPr>
        <p:spPr>
          <a:xfrm>
            <a:off x="1216129" y="4119632"/>
            <a:ext cx="335249" cy="251296"/>
          </a:xfrm>
          <a:prstGeom prst="rect">
            <a:avLst/>
          </a:prstGeom>
          <a:solidFill>
            <a:srgbClr val="2980B9">
              <a:alpha val="307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TextBox 1541"/>
          <p:cNvSpPr txBox="1"/>
          <p:nvPr/>
        </p:nvSpPr>
        <p:spPr>
          <a:xfrm>
            <a:off x="121012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3" name="TextBox 1542"/>
          <p:cNvSpPr txBox="1"/>
          <p:nvPr/>
        </p:nvSpPr>
        <p:spPr>
          <a:xfrm>
            <a:off x="121012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4" name="Rectangle 1543"/>
          <p:cNvSpPr/>
          <p:nvPr/>
        </p:nvSpPr>
        <p:spPr>
          <a:xfrm>
            <a:off x="1563378" y="4119632"/>
            <a:ext cx="335249" cy="251296"/>
          </a:xfrm>
          <a:prstGeom prst="rect">
            <a:avLst/>
          </a:prstGeom>
          <a:solidFill>
            <a:srgbClr val="2980B9">
              <a:alpha val="540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TextBox 1544"/>
          <p:cNvSpPr txBox="1"/>
          <p:nvPr/>
        </p:nvSpPr>
        <p:spPr>
          <a:xfrm>
            <a:off x="155737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6" name="TextBox 1545"/>
          <p:cNvSpPr txBox="1"/>
          <p:nvPr/>
        </p:nvSpPr>
        <p:spPr>
          <a:xfrm>
            <a:off x="155737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7" name="Rectangle 1546"/>
          <p:cNvSpPr/>
          <p:nvPr/>
        </p:nvSpPr>
        <p:spPr>
          <a:xfrm>
            <a:off x="1910627" y="4119632"/>
            <a:ext cx="335249" cy="2512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TextBox 1547"/>
          <p:cNvSpPr txBox="1"/>
          <p:nvPr/>
        </p:nvSpPr>
        <p:spPr>
          <a:xfrm>
            <a:off x="190462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49" name="TextBox 1548"/>
          <p:cNvSpPr txBox="1"/>
          <p:nvPr/>
        </p:nvSpPr>
        <p:spPr>
          <a:xfrm>
            <a:off x="190462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50" name="Rectangle 1549"/>
          <p:cNvSpPr/>
          <p:nvPr/>
        </p:nvSpPr>
        <p:spPr>
          <a:xfrm>
            <a:off x="2257876" y="4119632"/>
            <a:ext cx="335249" cy="251296"/>
          </a:xfrm>
          <a:prstGeom prst="rect">
            <a:avLst/>
          </a:prstGeom>
          <a:solidFill>
            <a:srgbClr val="2980B9">
              <a:alpha val="337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TextBox 1550"/>
          <p:cNvSpPr txBox="1"/>
          <p:nvPr/>
        </p:nvSpPr>
        <p:spPr>
          <a:xfrm>
            <a:off x="225187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1.1M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2" name="TextBox 1551"/>
          <p:cNvSpPr txBox="1"/>
          <p:nvPr/>
        </p:nvSpPr>
        <p:spPr>
          <a:xfrm>
            <a:off x="225187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3" name="Rectangle 1552"/>
          <p:cNvSpPr/>
          <p:nvPr/>
        </p:nvSpPr>
        <p:spPr>
          <a:xfrm>
            <a:off x="2605125" y="4119632"/>
            <a:ext cx="335249" cy="251296"/>
          </a:xfrm>
          <a:prstGeom prst="rect">
            <a:avLst/>
          </a:prstGeom>
          <a:solidFill>
            <a:srgbClr val="2980B9">
              <a:alpha val="27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TextBox 1553"/>
          <p:cNvSpPr txBox="1"/>
          <p:nvPr/>
        </p:nvSpPr>
        <p:spPr>
          <a:xfrm>
            <a:off x="2599125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5" name="TextBox 1554"/>
          <p:cNvSpPr txBox="1"/>
          <p:nvPr/>
        </p:nvSpPr>
        <p:spPr>
          <a:xfrm>
            <a:off x="2599125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6" name="Rectangle 1555"/>
          <p:cNvSpPr/>
          <p:nvPr/>
        </p:nvSpPr>
        <p:spPr>
          <a:xfrm>
            <a:off x="2952374" y="4119632"/>
            <a:ext cx="335249" cy="251296"/>
          </a:xfrm>
          <a:prstGeom prst="rect">
            <a:avLst/>
          </a:prstGeom>
          <a:solidFill>
            <a:srgbClr val="2980B9">
              <a:alpha val="474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TextBox 1556"/>
          <p:cNvSpPr txBox="1"/>
          <p:nvPr/>
        </p:nvSpPr>
        <p:spPr>
          <a:xfrm>
            <a:off x="2946374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8" name="TextBox 1557"/>
          <p:cNvSpPr txBox="1"/>
          <p:nvPr/>
        </p:nvSpPr>
        <p:spPr>
          <a:xfrm>
            <a:off x="2946374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9" name="Rectangle 1558"/>
          <p:cNvSpPr/>
          <p:nvPr/>
        </p:nvSpPr>
        <p:spPr>
          <a:xfrm>
            <a:off x="3299623" y="4119632"/>
            <a:ext cx="335249" cy="251296"/>
          </a:xfrm>
          <a:prstGeom prst="rect">
            <a:avLst/>
          </a:prstGeom>
          <a:solidFill>
            <a:srgbClr val="2980B9">
              <a:alpha val="404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TextBox 1559"/>
          <p:cNvSpPr txBox="1"/>
          <p:nvPr/>
        </p:nvSpPr>
        <p:spPr>
          <a:xfrm>
            <a:off x="3293623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1" name="TextBox 1560"/>
          <p:cNvSpPr txBox="1"/>
          <p:nvPr/>
        </p:nvSpPr>
        <p:spPr>
          <a:xfrm>
            <a:off x="3293623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2" name="Rectangle 1561"/>
          <p:cNvSpPr/>
          <p:nvPr/>
        </p:nvSpPr>
        <p:spPr>
          <a:xfrm>
            <a:off x="3646872" y="4119632"/>
            <a:ext cx="335249" cy="251296"/>
          </a:xfrm>
          <a:prstGeom prst="rect">
            <a:avLst/>
          </a:prstGeom>
          <a:solidFill>
            <a:srgbClr val="2980B9">
              <a:alpha val="68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TextBox 1562"/>
          <p:cNvSpPr txBox="1"/>
          <p:nvPr/>
        </p:nvSpPr>
        <p:spPr>
          <a:xfrm>
            <a:off x="3640872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64" name="TextBox 1563"/>
          <p:cNvSpPr txBox="1"/>
          <p:nvPr/>
        </p:nvSpPr>
        <p:spPr>
          <a:xfrm>
            <a:off x="3640872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65" name="Rectangle 1564"/>
          <p:cNvSpPr/>
          <p:nvPr/>
        </p:nvSpPr>
        <p:spPr>
          <a:xfrm>
            <a:off x="3994121" y="4119632"/>
            <a:ext cx="335249" cy="251296"/>
          </a:xfrm>
          <a:prstGeom prst="rect">
            <a:avLst/>
          </a:prstGeom>
          <a:solidFill>
            <a:srgbClr val="2980B9">
              <a:alpha val="46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3988121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7" name="TextBox 1566"/>
          <p:cNvSpPr txBox="1"/>
          <p:nvPr/>
        </p:nvSpPr>
        <p:spPr>
          <a:xfrm>
            <a:off x="3988121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8" name="Rectangle 1567"/>
          <p:cNvSpPr/>
          <p:nvPr/>
        </p:nvSpPr>
        <p:spPr>
          <a:xfrm>
            <a:off x="4341370" y="4119632"/>
            <a:ext cx="335249" cy="251296"/>
          </a:xfrm>
          <a:prstGeom prst="rect">
            <a:avLst/>
          </a:prstGeom>
          <a:solidFill>
            <a:srgbClr val="2980B9">
              <a:alpha val="966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TextBox 1568"/>
          <p:cNvSpPr txBox="1"/>
          <p:nvPr/>
        </p:nvSpPr>
        <p:spPr>
          <a:xfrm>
            <a:off x="433537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0" name="TextBox 1569"/>
          <p:cNvSpPr txBox="1"/>
          <p:nvPr/>
        </p:nvSpPr>
        <p:spPr>
          <a:xfrm>
            <a:off x="433537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1" name="Rectangle 1570"/>
          <p:cNvSpPr/>
          <p:nvPr/>
        </p:nvSpPr>
        <p:spPr>
          <a:xfrm>
            <a:off x="4688619" y="4119632"/>
            <a:ext cx="335249" cy="251296"/>
          </a:xfrm>
          <a:prstGeom prst="rect">
            <a:avLst/>
          </a:prstGeom>
          <a:solidFill>
            <a:srgbClr val="2980B9">
              <a:alpha val="27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TextBox 1571"/>
          <p:cNvSpPr txBox="1"/>
          <p:nvPr/>
        </p:nvSpPr>
        <p:spPr>
          <a:xfrm>
            <a:off x="468261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3" name="TextBox 1572"/>
          <p:cNvSpPr txBox="1"/>
          <p:nvPr/>
        </p:nvSpPr>
        <p:spPr>
          <a:xfrm>
            <a:off x="468261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4" name="Rectangle 1573"/>
          <p:cNvSpPr/>
          <p:nvPr/>
        </p:nvSpPr>
        <p:spPr>
          <a:xfrm>
            <a:off x="5035868" y="4119632"/>
            <a:ext cx="335249" cy="251296"/>
          </a:xfrm>
          <a:prstGeom prst="rect">
            <a:avLst/>
          </a:prstGeom>
          <a:solidFill>
            <a:srgbClr val="2980B9">
              <a:alpha val="297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TextBox 1574"/>
          <p:cNvSpPr txBox="1"/>
          <p:nvPr/>
        </p:nvSpPr>
        <p:spPr>
          <a:xfrm>
            <a:off x="502986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6" name="TextBox 1575"/>
          <p:cNvSpPr txBox="1"/>
          <p:nvPr/>
        </p:nvSpPr>
        <p:spPr>
          <a:xfrm>
            <a:off x="502986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7" name="Rectangle 1576"/>
          <p:cNvSpPr/>
          <p:nvPr/>
        </p:nvSpPr>
        <p:spPr>
          <a:xfrm>
            <a:off x="5383117" y="4119632"/>
            <a:ext cx="335249" cy="251296"/>
          </a:xfrm>
          <a:prstGeom prst="rect">
            <a:avLst/>
          </a:prstGeom>
          <a:solidFill>
            <a:srgbClr val="2980B9">
              <a:alpha val="276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TextBox 1577"/>
          <p:cNvSpPr txBox="1"/>
          <p:nvPr/>
        </p:nvSpPr>
        <p:spPr>
          <a:xfrm>
            <a:off x="537711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9" name="TextBox 1578"/>
          <p:cNvSpPr txBox="1"/>
          <p:nvPr/>
        </p:nvSpPr>
        <p:spPr>
          <a:xfrm>
            <a:off x="537711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0" name="Rectangle 1579"/>
          <p:cNvSpPr/>
          <p:nvPr/>
        </p:nvSpPr>
        <p:spPr>
          <a:xfrm>
            <a:off x="5730366" y="4119632"/>
            <a:ext cx="335249" cy="251296"/>
          </a:xfrm>
          <a:prstGeom prst="rect">
            <a:avLst/>
          </a:prstGeom>
          <a:solidFill>
            <a:srgbClr val="2980B9">
              <a:alpha val="291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TextBox 1580"/>
          <p:cNvSpPr txBox="1"/>
          <p:nvPr/>
        </p:nvSpPr>
        <p:spPr>
          <a:xfrm>
            <a:off x="572436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2" name="TextBox 1581"/>
          <p:cNvSpPr txBox="1"/>
          <p:nvPr/>
        </p:nvSpPr>
        <p:spPr>
          <a:xfrm>
            <a:off x="572436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3" name="TextBox 1582"/>
          <p:cNvSpPr txBox="1"/>
          <p:nvPr/>
        </p:nvSpPr>
        <p:spPr>
          <a:xfrm>
            <a:off x="202880" y="437692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84" name="Rectangle 1583"/>
          <p:cNvSpPr/>
          <p:nvPr/>
        </p:nvSpPr>
        <p:spPr>
          <a:xfrm>
            <a:off x="868880" y="4382928"/>
            <a:ext cx="335249" cy="251296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TextBox 1584"/>
          <p:cNvSpPr txBox="1"/>
          <p:nvPr/>
        </p:nvSpPr>
        <p:spPr>
          <a:xfrm>
            <a:off x="862880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6" name="TextBox 1585"/>
          <p:cNvSpPr txBox="1"/>
          <p:nvPr/>
        </p:nvSpPr>
        <p:spPr>
          <a:xfrm>
            <a:off x="862880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7" name="Rectangle 1586"/>
          <p:cNvSpPr/>
          <p:nvPr/>
        </p:nvSpPr>
        <p:spPr>
          <a:xfrm>
            <a:off x="1216129" y="4382928"/>
            <a:ext cx="335249" cy="251296"/>
          </a:xfrm>
          <a:prstGeom prst="rect">
            <a:avLst/>
          </a:prstGeom>
          <a:solidFill>
            <a:srgbClr val="374151">
              <a:alpha val="52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TextBox 1587"/>
          <p:cNvSpPr txBox="1"/>
          <p:nvPr/>
        </p:nvSpPr>
        <p:spPr>
          <a:xfrm>
            <a:off x="1210129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9" name="TextBox 1588"/>
          <p:cNvSpPr txBox="1"/>
          <p:nvPr/>
        </p:nvSpPr>
        <p:spPr>
          <a:xfrm>
            <a:off x="1210129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0" name="Rectangle 1589"/>
          <p:cNvSpPr/>
          <p:nvPr/>
        </p:nvSpPr>
        <p:spPr>
          <a:xfrm>
            <a:off x="1563378" y="4382928"/>
            <a:ext cx="335249" cy="251296"/>
          </a:xfrm>
          <a:prstGeom prst="rect">
            <a:avLst/>
          </a:prstGeom>
          <a:solidFill>
            <a:srgbClr val="374151">
              <a:alpha val="30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TextBox 1590"/>
          <p:cNvSpPr txBox="1"/>
          <p:nvPr/>
        </p:nvSpPr>
        <p:spPr>
          <a:xfrm>
            <a:off x="1557378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2" name="TextBox 1591"/>
          <p:cNvSpPr txBox="1"/>
          <p:nvPr/>
        </p:nvSpPr>
        <p:spPr>
          <a:xfrm>
            <a:off x="1557378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3" name="Rectangle 1592"/>
          <p:cNvSpPr/>
          <p:nvPr/>
        </p:nvSpPr>
        <p:spPr>
          <a:xfrm>
            <a:off x="1910627" y="4382928"/>
            <a:ext cx="335249" cy="2512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1904627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5" name="TextBox 1594"/>
          <p:cNvSpPr txBox="1"/>
          <p:nvPr/>
        </p:nvSpPr>
        <p:spPr>
          <a:xfrm>
            <a:off x="1904627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6" name="Rectangle 1595"/>
          <p:cNvSpPr/>
          <p:nvPr/>
        </p:nvSpPr>
        <p:spPr>
          <a:xfrm>
            <a:off x="2257876" y="4382928"/>
            <a:ext cx="335249" cy="251296"/>
          </a:xfrm>
          <a:prstGeom prst="rect">
            <a:avLst/>
          </a:prstGeom>
          <a:solidFill>
            <a:srgbClr val="374151">
              <a:alpha val="451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TextBox 1596"/>
          <p:cNvSpPr txBox="1"/>
          <p:nvPr/>
        </p:nvSpPr>
        <p:spPr>
          <a:xfrm>
            <a:off x="2251876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8" name="TextBox 1597"/>
          <p:cNvSpPr txBox="1"/>
          <p:nvPr/>
        </p:nvSpPr>
        <p:spPr>
          <a:xfrm>
            <a:off x="2251876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9" name="Rectangle 1598"/>
          <p:cNvSpPr/>
          <p:nvPr/>
        </p:nvSpPr>
        <p:spPr>
          <a:xfrm>
            <a:off x="2605125" y="4382928"/>
            <a:ext cx="335249" cy="251296"/>
          </a:xfrm>
          <a:prstGeom prst="rect">
            <a:avLst/>
          </a:prstGeom>
          <a:solidFill>
            <a:srgbClr val="374151">
              <a:alpha val="842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TextBox 1599"/>
          <p:cNvSpPr txBox="1"/>
          <p:nvPr/>
        </p:nvSpPr>
        <p:spPr>
          <a:xfrm>
            <a:off x="2599125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1" name="TextBox 1600"/>
          <p:cNvSpPr txBox="1"/>
          <p:nvPr/>
        </p:nvSpPr>
        <p:spPr>
          <a:xfrm>
            <a:off x="2599125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2" name="Rectangle 1601"/>
          <p:cNvSpPr/>
          <p:nvPr/>
        </p:nvSpPr>
        <p:spPr>
          <a:xfrm>
            <a:off x="2952374" y="4382928"/>
            <a:ext cx="335249" cy="251296"/>
          </a:xfrm>
          <a:prstGeom prst="rect">
            <a:avLst/>
          </a:prstGeom>
          <a:solidFill>
            <a:srgbClr val="374151">
              <a:alpha val="880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TextBox 1602"/>
          <p:cNvSpPr txBox="1"/>
          <p:nvPr/>
        </p:nvSpPr>
        <p:spPr>
          <a:xfrm>
            <a:off x="2946374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4" name="TextBox 1603"/>
          <p:cNvSpPr txBox="1"/>
          <p:nvPr/>
        </p:nvSpPr>
        <p:spPr>
          <a:xfrm>
            <a:off x="2946374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5" name="Rectangle 1604"/>
          <p:cNvSpPr/>
          <p:nvPr/>
        </p:nvSpPr>
        <p:spPr>
          <a:xfrm>
            <a:off x="3299623" y="4382928"/>
            <a:ext cx="335249" cy="251296"/>
          </a:xfrm>
          <a:prstGeom prst="rect">
            <a:avLst/>
          </a:prstGeom>
          <a:solidFill>
            <a:srgbClr val="374151">
              <a:alpha val="753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TextBox 1605"/>
          <p:cNvSpPr txBox="1"/>
          <p:nvPr/>
        </p:nvSpPr>
        <p:spPr>
          <a:xfrm>
            <a:off x="3293623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7" name="TextBox 1606"/>
          <p:cNvSpPr txBox="1"/>
          <p:nvPr/>
        </p:nvSpPr>
        <p:spPr>
          <a:xfrm>
            <a:off x="3293623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8" name="Rectangle 1607"/>
          <p:cNvSpPr/>
          <p:nvPr/>
        </p:nvSpPr>
        <p:spPr>
          <a:xfrm>
            <a:off x="4688619" y="4382928"/>
            <a:ext cx="335249" cy="251296"/>
          </a:xfrm>
          <a:prstGeom prst="rect">
            <a:avLst/>
          </a:prstGeom>
          <a:solidFill>
            <a:srgbClr val="374151">
              <a:alpha val="545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TextBox 1608"/>
          <p:cNvSpPr txBox="1"/>
          <p:nvPr/>
        </p:nvSpPr>
        <p:spPr>
          <a:xfrm>
            <a:off x="4682619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0" name="TextBox 1609"/>
          <p:cNvSpPr txBox="1"/>
          <p:nvPr/>
        </p:nvSpPr>
        <p:spPr>
          <a:xfrm>
            <a:off x="4682619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1" name="Rectangle 1610"/>
          <p:cNvSpPr/>
          <p:nvPr/>
        </p:nvSpPr>
        <p:spPr>
          <a:xfrm>
            <a:off x="5035868" y="4382928"/>
            <a:ext cx="335249" cy="251296"/>
          </a:xfrm>
          <a:prstGeom prst="rect">
            <a:avLst/>
          </a:prstGeom>
          <a:solidFill>
            <a:srgbClr val="374151">
              <a:alpha val="4807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5029868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3" name="TextBox 1612"/>
          <p:cNvSpPr txBox="1"/>
          <p:nvPr/>
        </p:nvSpPr>
        <p:spPr>
          <a:xfrm>
            <a:off x="5029868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4" name="Rectangle 1613"/>
          <p:cNvSpPr/>
          <p:nvPr/>
        </p:nvSpPr>
        <p:spPr>
          <a:xfrm>
            <a:off x="5383117" y="4382928"/>
            <a:ext cx="335249" cy="251296"/>
          </a:xfrm>
          <a:prstGeom prst="rect">
            <a:avLst/>
          </a:prstGeom>
          <a:solidFill>
            <a:srgbClr val="374151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TextBox 1614"/>
          <p:cNvSpPr txBox="1"/>
          <p:nvPr/>
        </p:nvSpPr>
        <p:spPr>
          <a:xfrm>
            <a:off x="5377117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6" name="TextBox 1615"/>
          <p:cNvSpPr txBox="1"/>
          <p:nvPr/>
        </p:nvSpPr>
        <p:spPr>
          <a:xfrm>
            <a:off x="5377117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7" name="TextBox 1616"/>
          <p:cNvSpPr txBox="1"/>
          <p:nvPr/>
        </p:nvSpPr>
        <p:spPr>
          <a:xfrm>
            <a:off x="202880" y="464022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18" name="Rectangle 1617"/>
          <p:cNvSpPr/>
          <p:nvPr/>
        </p:nvSpPr>
        <p:spPr>
          <a:xfrm>
            <a:off x="868880" y="4646224"/>
            <a:ext cx="335249" cy="251296"/>
          </a:xfrm>
          <a:prstGeom prst="rect">
            <a:avLst/>
          </a:prstGeom>
          <a:solidFill>
            <a:srgbClr val="1F3864">
              <a:alpha val="477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86288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0" name="TextBox 1619"/>
          <p:cNvSpPr txBox="1"/>
          <p:nvPr/>
        </p:nvSpPr>
        <p:spPr>
          <a:xfrm>
            <a:off x="86288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1" name="Rectangle 1620"/>
          <p:cNvSpPr/>
          <p:nvPr/>
        </p:nvSpPr>
        <p:spPr>
          <a:xfrm>
            <a:off x="1216129" y="4646224"/>
            <a:ext cx="335249" cy="251296"/>
          </a:xfrm>
          <a:prstGeom prst="rect">
            <a:avLst/>
          </a:prstGeom>
          <a:solidFill>
            <a:srgbClr val="1F3864">
              <a:alpha val="656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121012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3" name="TextBox 1622"/>
          <p:cNvSpPr txBox="1"/>
          <p:nvPr/>
        </p:nvSpPr>
        <p:spPr>
          <a:xfrm>
            <a:off x="121012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4" name="Rectangle 1623"/>
          <p:cNvSpPr/>
          <p:nvPr/>
        </p:nvSpPr>
        <p:spPr>
          <a:xfrm>
            <a:off x="1563378" y="4646224"/>
            <a:ext cx="335249" cy="251296"/>
          </a:xfrm>
          <a:prstGeom prst="rect">
            <a:avLst/>
          </a:prstGeom>
          <a:solidFill>
            <a:srgbClr val="1F3864">
              <a:alpha val="875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155737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6" name="TextBox 1625"/>
          <p:cNvSpPr txBox="1"/>
          <p:nvPr/>
        </p:nvSpPr>
        <p:spPr>
          <a:xfrm>
            <a:off x="155737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7" name="Rectangle 1626"/>
          <p:cNvSpPr/>
          <p:nvPr/>
        </p:nvSpPr>
        <p:spPr>
          <a:xfrm>
            <a:off x="1910627" y="4646224"/>
            <a:ext cx="335249" cy="251296"/>
          </a:xfrm>
          <a:prstGeom prst="rect">
            <a:avLst/>
          </a:prstGeom>
          <a:solidFill>
            <a:srgbClr val="1F3864">
              <a:alpha val="415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1904627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9" name="TextBox 1628"/>
          <p:cNvSpPr txBox="1"/>
          <p:nvPr/>
        </p:nvSpPr>
        <p:spPr>
          <a:xfrm>
            <a:off x="1904627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0" name="Rectangle 1629"/>
          <p:cNvSpPr/>
          <p:nvPr/>
        </p:nvSpPr>
        <p:spPr>
          <a:xfrm>
            <a:off x="2257876" y="4646224"/>
            <a:ext cx="335249" cy="251296"/>
          </a:xfrm>
          <a:prstGeom prst="rect">
            <a:avLst/>
          </a:prstGeom>
          <a:solidFill>
            <a:srgbClr val="1F3864">
              <a:alpha val="35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TextBox 1630"/>
          <p:cNvSpPr txBox="1"/>
          <p:nvPr/>
        </p:nvSpPr>
        <p:spPr>
          <a:xfrm>
            <a:off x="2251876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2" name="TextBox 1631"/>
          <p:cNvSpPr txBox="1"/>
          <p:nvPr/>
        </p:nvSpPr>
        <p:spPr>
          <a:xfrm>
            <a:off x="2251876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3" name="Rectangle 1632"/>
          <p:cNvSpPr/>
          <p:nvPr/>
        </p:nvSpPr>
        <p:spPr>
          <a:xfrm>
            <a:off x="2605125" y="4646224"/>
            <a:ext cx="335249" cy="251296"/>
          </a:xfrm>
          <a:prstGeom prst="rect">
            <a:avLst/>
          </a:prstGeom>
          <a:solidFill>
            <a:srgbClr val="1F3864">
              <a:alpha val="42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TextBox 1633"/>
          <p:cNvSpPr txBox="1"/>
          <p:nvPr/>
        </p:nvSpPr>
        <p:spPr>
          <a:xfrm>
            <a:off x="2599125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5" name="TextBox 1634"/>
          <p:cNvSpPr txBox="1"/>
          <p:nvPr/>
        </p:nvSpPr>
        <p:spPr>
          <a:xfrm>
            <a:off x="2599125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6" name="Rectangle 1635"/>
          <p:cNvSpPr/>
          <p:nvPr/>
        </p:nvSpPr>
        <p:spPr>
          <a:xfrm>
            <a:off x="2952374" y="4646224"/>
            <a:ext cx="335249" cy="251296"/>
          </a:xfrm>
          <a:prstGeom prst="rect">
            <a:avLst/>
          </a:prstGeom>
          <a:solidFill>
            <a:srgbClr val="1F3864">
              <a:alpha val="374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TextBox 1636"/>
          <p:cNvSpPr txBox="1"/>
          <p:nvPr/>
        </p:nvSpPr>
        <p:spPr>
          <a:xfrm>
            <a:off x="2946374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8" name="TextBox 1637"/>
          <p:cNvSpPr txBox="1"/>
          <p:nvPr/>
        </p:nvSpPr>
        <p:spPr>
          <a:xfrm>
            <a:off x="2946374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9" name="Rectangle 1638"/>
          <p:cNvSpPr/>
          <p:nvPr/>
        </p:nvSpPr>
        <p:spPr>
          <a:xfrm>
            <a:off x="3299623" y="4646224"/>
            <a:ext cx="335249" cy="2512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TextBox 1639"/>
          <p:cNvSpPr txBox="1"/>
          <p:nvPr/>
        </p:nvSpPr>
        <p:spPr>
          <a:xfrm>
            <a:off x="3293623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14.1M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41" name="TextBox 1640"/>
          <p:cNvSpPr txBox="1"/>
          <p:nvPr/>
        </p:nvSpPr>
        <p:spPr>
          <a:xfrm>
            <a:off x="3293623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42" name="Rectangle 1641"/>
          <p:cNvSpPr/>
          <p:nvPr/>
        </p:nvSpPr>
        <p:spPr>
          <a:xfrm>
            <a:off x="3646872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TextBox 1642"/>
          <p:cNvSpPr txBox="1"/>
          <p:nvPr/>
        </p:nvSpPr>
        <p:spPr>
          <a:xfrm>
            <a:off x="3640872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4" name="TextBox 1643"/>
          <p:cNvSpPr txBox="1"/>
          <p:nvPr/>
        </p:nvSpPr>
        <p:spPr>
          <a:xfrm>
            <a:off x="3640872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5" name="Rectangle 1644"/>
          <p:cNvSpPr/>
          <p:nvPr/>
        </p:nvSpPr>
        <p:spPr>
          <a:xfrm>
            <a:off x="3994121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TextBox 1645"/>
          <p:cNvSpPr txBox="1"/>
          <p:nvPr/>
        </p:nvSpPr>
        <p:spPr>
          <a:xfrm>
            <a:off x="3988121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7" name="TextBox 1646"/>
          <p:cNvSpPr txBox="1"/>
          <p:nvPr/>
        </p:nvSpPr>
        <p:spPr>
          <a:xfrm>
            <a:off x="3988121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8" name="Rectangle 1647"/>
          <p:cNvSpPr/>
          <p:nvPr/>
        </p:nvSpPr>
        <p:spPr>
          <a:xfrm>
            <a:off x="4341370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TextBox 1648"/>
          <p:cNvSpPr txBox="1"/>
          <p:nvPr/>
        </p:nvSpPr>
        <p:spPr>
          <a:xfrm>
            <a:off x="433537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0" name="TextBox 1649"/>
          <p:cNvSpPr txBox="1"/>
          <p:nvPr/>
        </p:nvSpPr>
        <p:spPr>
          <a:xfrm>
            <a:off x="433537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1" name="Rectangle 1650"/>
          <p:cNvSpPr/>
          <p:nvPr/>
        </p:nvSpPr>
        <p:spPr>
          <a:xfrm>
            <a:off x="4688619" y="4646224"/>
            <a:ext cx="335249" cy="251296"/>
          </a:xfrm>
          <a:prstGeom prst="rect">
            <a:avLst/>
          </a:prstGeom>
          <a:solidFill>
            <a:srgbClr val="1F3864">
              <a:alpha val="399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TextBox 1651"/>
          <p:cNvSpPr txBox="1"/>
          <p:nvPr/>
        </p:nvSpPr>
        <p:spPr>
          <a:xfrm>
            <a:off x="468261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3" name="TextBox 1652"/>
          <p:cNvSpPr txBox="1"/>
          <p:nvPr/>
        </p:nvSpPr>
        <p:spPr>
          <a:xfrm>
            <a:off x="468261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4" name="Rectangle 1653"/>
          <p:cNvSpPr/>
          <p:nvPr/>
        </p:nvSpPr>
        <p:spPr>
          <a:xfrm>
            <a:off x="5035868" y="4646224"/>
            <a:ext cx="335249" cy="251296"/>
          </a:xfrm>
          <a:prstGeom prst="rect">
            <a:avLst/>
          </a:prstGeom>
          <a:solidFill>
            <a:srgbClr val="1F3864">
              <a:alpha val="266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TextBox 1654"/>
          <p:cNvSpPr txBox="1"/>
          <p:nvPr/>
        </p:nvSpPr>
        <p:spPr>
          <a:xfrm>
            <a:off x="502986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6" name="TextBox 1655"/>
          <p:cNvSpPr txBox="1"/>
          <p:nvPr/>
        </p:nvSpPr>
        <p:spPr>
          <a:xfrm>
            <a:off x="502986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7" name="Rectangle 1656"/>
          <p:cNvSpPr/>
          <p:nvPr/>
        </p:nvSpPr>
        <p:spPr>
          <a:xfrm>
            <a:off x="5383117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TextBox 1657"/>
          <p:cNvSpPr txBox="1"/>
          <p:nvPr/>
        </p:nvSpPr>
        <p:spPr>
          <a:xfrm>
            <a:off x="5377117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9" name="TextBox 1658"/>
          <p:cNvSpPr txBox="1"/>
          <p:nvPr/>
        </p:nvSpPr>
        <p:spPr>
          <a:xfrm>
            <a:off x="5377117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60" name="TextBox 1659"/>
          <p:cNvSpPr txBox="1"/>
          <p:nvPr/>
        </p:nvSpPr>
        <p:spPr>
          <a:xfrm>
            <a:off x="202880" y="4903520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61" name="Rectangle 1660"/>
          <p:cNvSpPr/>
          <p:nvPr/>
        </p:nvSpPr>
        <p:spPr>
          <a:xfrm>
            <a:off x="868880" y="4909520"/>
            <a:ext cx="335249" cy="251296"/>
          </a:xfrm>
          <a:prstGeom prst="rect">
            <a:avLst/>
          </a:prstGeom>
          <a:solidFill>
            <a:srgbClr val="E67E22">
              <a:alpha val="3455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TextBox 1661"/>
          <p:cNvSpPr txBox="1"/>
          <p:nvPr/>
        </p:nvSpPr>
        <p:spPr>
          <a:xfrm>
            <a:off x="86288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3" name="TextBox 1662"/>
          <p:cNvSpPr txBox="1"/>
          <p:nvPr/>
        </p:nvSpPr>
        <p:spPr>
          <a:xfrm>
            <a:off x="86288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4" name="Rectangle 1663"/>
          <p:cNvSpPr/>
          <p:nvPr/>
        </p:nvSpPr>
        <p:spPr>
          <a:xfrm>
            <a:off x="1216129" y="4909520"/>
            <a:ext cx="335249" cy="251296"/>
          </a:xfrm>
          <a:prstGeom prst="rect">
            <a:avLst/>
          </a:prstGeom>
          <a:solidFill>
            <a:srgbClr val="E67E22">
              <a:alpha val="435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TextBox 1664"/>
          <p:cNvSpPr txBox="1"/>
          <p:nvPr/>
        </p:nvSpPr>
        <p:spPr>
          <a:xfrm>
            <a:off x="121012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6" name="TextBox 1665"/>
          <p:cNvSpPr txBox="1"/>
          <p:nvPr/>
        </p:nvSpPr>
        <p:spPr>
          <a:xfrm>
            <a:off x="121012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7" name="Rectangle 1666"/>
          <p:cNvSpPr/>
          <p:nvPr/>
        </p:nvSpPr>
        <p:spPr>
          <a:xfrm>
            <a:off x="1563378" y="4909520"/>
            <a:ext cx="335249" cy="251296"/>
          </a:xfrm>
          <a:prstGeom prst="rect">
            <a:avLst/>
          </a:prstGeom>
          <a:solidFill>
            <a:srgbClr val="E67E22">
              <a:alpha val="451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TextBox 1667"/>
          <p:cNvSpPr txBox="1"/>
          <p:nvPr/>
        </p:nvSpPr>
        <p:spPr>
          <a:xfrm>
            <a:off x="155737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9" name="TextBox 1668"/>
          <p:cNvSpPr txBox="1"/>
          <p:nvPr/>
        </p:nvSpPr>
        <p:spPr>
          <a:xfrm>
            <a:off x="155737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0" name="Rectangle 1669"/>
          <p:cNvSpPr/>
          <p:nvPr/>
        </p:nvSpPr>
        <p:spPr>
          <a:xfrm>
            <a:off x="1910627" y="4909520"/>
            <a:ext cx="335249" cy="251296"/>
          </a:xfrm>
          <a:prstGeom prst="rect">
            <a:avLst/>
          </a:prstGeom>
          <a:solidFill>
            <a:srgbClr val="E67E22">
              <a:alpha val="529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190462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2" name="TextBox 1671"/>
          <p:cNvSpPr txBox="1"/>
          <p:nvPr/>
        </p:nvSpPr>
        <p:spPr>
          <a:xfrm>
            <a:off x="190462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3" name="Rectangle 1672"/>
          <p:cNvSpPr/>
          <p:nvPr/>
        </p:nvSpPr>
        <p:spPr>
          <a:xfrm>
            <a:off x="2257876" y="4909520"/>
            <a:ext cx="335249" cy="251296"/>
          </a:xfrm>
          <a:prstGeom prst="rect">
            <a:avLst/>
          </a:prstGeom>
          <a:solidFill>
            <a:srgbClr val="E67E22">
              <a:alpha val="488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225187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5" name="TextBox 1674"/>
          <p:cNvSpPr txBox="1"/>
          <p:nvPr/>
        </p:nvSpPr>
        <p:spPr>
          <a:xfrm>
            <a:off x="225187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6" name="Rectangle 1675"/>
          <p:cNvSpPr/>
          <p:nvPr/>
        </p:nvSpPr>
        <p:spPr>
          <a:xfrm>
            <a:off x="2605125" y="4909520"/>
            <a:ext cx="335249" cy="251296"/>
          </a:xfrm>
          <a:prstGeom prst="rect">
            <a:avLst/>
          </a:prstGeom>
          <a:solidFill>
            <a:srgbClr val="E67E22">
              <a:alpha val="860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TextBox 1676"/>
          <p:cNvSpPr txBox="1"/>
          <p:nvPr/>
        </p:nvSpPr>
        <p:spPr>
          <a:xfrm>
            <a:off x="2599125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8" name="TextBox 1677"/>
          <p:cNvSpPr txBox="1"/>
          <p:nvPr/>
        </p:nvSpPr>
        <p:spPr>
          <a:xfrm>
            <a:off x="2599125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9" name="Rectangle 1678"/>
          <p:cNvSpPr/>
          <p:nvPr/>
        </p:nvSpPr>
        <p:spPr>
          <a:xfrm>
            <a:off x="2952374" y="4909520"/>
            <a:ext cx="335249" cy="251296"/>
          </a:xfrm>
          <a:prstGeom prst="rect">
            <a:avLst/>
          </a:prstGeom>
          <a:solidFill>
            <a:srgbClr val="E67E22">
              <a:alpha val="479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2946374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1" name="TextBox 1680"/>
          <p:cNvSpPr txBox="1"/>
          <p:nvPr/>
        </p:nvSpPr>
        <p:spPr>
          <a:xfrm>
            <a:off x="2946374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2" name="Rectangle 1681"/>
          <p:cNvSpPr/>
          <p:nvPr/>
        </p:nvSpPr>
        <p:spPr>
          <a:xfrm>
            <a:off x="3299623" y="4909520"/>
            <a:ext cx="335249" cy="251296"/>
          </a:xfrm>
          <a:prstGeom prst="rect">
            <a:avLst/>
          </a:prstGeom>
          <a:solidFill>
            <a:srgbClr val="E67E22">
              <a:alpha val="676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TextBox 1682"/>
          <p:cNvSpPr txBox="1"/>
          <p:nvPr/>
        </p:nvSpPr>
        <p:spPr>
          <a:xfrm>
            <a:off x="3293623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4" name="TextBox 1683"/>
          <p:cNvSpPr txBox="1"/>
          <p:nvPr/>
        </p:nvSpPr>
        <p:spPr>
          <a:xfrm>
            <a:off x="3293623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5" name="Rectangle 1684"/>
          <p:cNvSpPr/>
          <p:nvPr/>
        </p:nvSpPr>
        <p:spPr>
          <a:xfrm>
            <a:off x="3646872" y="4909520"/>
            <a:ext cx="335249" cy="251296"/>
          </a:xfrm>
          <a:prstGeom prst="rect">
            <a:avLst/>
          </a:prstGeom>
          <a:solidFill>
            <a:srgbClr val="E67E22">
              <a:alpha val="455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TextBox 1685"/>
          <p:cNvSpPr txBox="1"/>
          <p:nvPr/>
        </p:nvSpPr>
        <p:spPr>
          <a:xfrm>
            <a:off x="3640872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7" name="TextBox 1686"/>
          <p:cNvSpPr txBox="1"/>
          <p:nvPr/>
        </p:nvSpPr>
        <p:spPr>
          <a:xfrm>
            <a:off x="3640872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8" name="Rectangle 1687"/>
          <p:cNvSpPr/>
          <p:nvPr/>
        </p:nvSpPr>
        <p:spPr>
          <a:xfrm>
            <a:off x="3994121" y="4909520"/>
            <a:ext cx="335249" cy="251296"/>
          </a:xfrm>
          <a:prstGeom prst="rect">
            <a:avLst/>
          </a:prstGeom>
          <a:solidFill>
            <a:srgbClr val="E67E22">
              <a:alpha val="568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TextBox 1688"/>
          <p:cNvSpPr txBox="1"/>
          <p:nvPr/>
        </p:nvSpPr>
        <p:spPr>
          <a:xfrm>
            <a:off x="3988121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0" name="TextBox 1689"/>
          <p:cNvSpPr txBox="1"/>
          <p:nvPr/>
        </p:nvSpPr>
        <p:spPr>
          <a:xfrm>
            <a:off x="3988121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1" name="Rectangle 1690"/>
          <p:cNvSpPr/>
          <p:nvPr/>
        </p:nvSpPr>
        <p:spPr>
          <a:xfrm>
            <a:off x="4341370" y="4909520"/>
            <a:ext cx="335249" cy="251296"/>
          </a:xfrm>
          <a:prstGeom prst="rect">
            <a:avLst/>
          </a:prstGeom>
          <a:solidFill>
            <a:srgbClr val="E67E22">
              <a:alpha val="411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TextBox 1691"/>
          <p:cNvSpPr txBox="1"/>
          <p:nvPr/>
        </p:nvSpPr>
        <p:spPr>
          <a:xfrm>
            <a:off x="433537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3" name="TextBox 1692"/>
          <p:cNvSpPr txBox="1"/>
          <p:nvPr/>
        </p:nvSpPr>
        <p:spPr>
          <a:xfrm>
            <a:off x="433537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4" name="Rectangle 1693"/>
          <p:cNvSpPr/>
          <p:nvPr/>
        </p:nvSpPr>
        <p:spPr>
          <a:xfrm>
            <a:off x="4688619" y="4909520"/>
            <a:ext cx="335249" cy="2512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TextBox 1694"/>
          <p:cNvSpPr txBox="1"/>
          <p:nvPr/>
        </p:nvSpPr>
        <p:spPr>
          <a:xfrm>
            <a:off x="468261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6" name="TextBox 1695"/>
          <p:cNvSpPr txBox="1"/>
          <p:nvPr/>
        </p:nvSpPr>
        <p:spPr>
          <a:xfrm>
            <a:off x="468261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7" name="Rectangle 1696"/>
          <p:cNvSpPr/>
          <p:nvPr/>
        </p:nvSpPr>
        <p:spPr>
          <a:xfrm>
            <a:off x="5035868" y="4909520"/>
            <a:ext cx="335249" cy="251296"/>
          </a:xfrm>
          <a:prstGeom prst="rect">
            <a:avLst/>
          </a:prstGeom>
          <a:solidFill>
            <a:srgbClr val="E67E22">
              <a:alpha val="4998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TextBox 1697"/>
          <p:cNvSpPr txBox="1"/>
          <p:nvPr/>
        </p:nvSpPr>
        <p:spPr>
          <a:xfrm>
            <a:off x="502986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9" name="TextBox 1698"/>
          <p:cNvSpPr txBox="1"/>
          <p:nvPr/>
        </p:nvSpPr>
        <p:spPr>
          <a:xfrm>
            <a:off x="502986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0" name="Rectangle 1699"/>
          <p:cNvSpPr/>
          <p:nvPr/>
        </p:nvSpPr>
        <p:spPr>
          <a:xfrm>
            <a:off x="5383117" y="4909520"/>
            <a:ext cx="335249" cy="251296"/>
          </a:xfrm>
          <a:prstGeom prst="rect">
            <a:avLst/>
          </a:prstGeom>
          <a:solidFill>
            <a:srgbClr val="E67E22">
              <a:alpha val="5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TextBox 1700"/>
          <p:cNvSpPr txBox="1"/>
          <p:nvPr/>
        </p:nvSpPr>
        <p:spPr>
          <a:xfrm>
            <a:off x="537711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2" name="TextBox 1701"/>
          <p:cNvSpPr txBox="1"/>
          <p:nvPr/>
        </p:nvSpPr>
        <p:spPr>
          <a:xfrm>
            <a:off x="537711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3" name="Rectangle 1702"/>
          <p:cNvSpPr/>
          <p:nvPr/>
        </p:nvSpPr>
        <p:spPr>
          <a:xfrm>
            <a:off x="5730366" y="4909520"/>
            <a:ext cx="335249" cy="251296"/>
          </a:xfrm>
          <a:prstGeom prst="rect">
            <a:avLst/>
          </a:prstGeom>
          <a:solidFill>
            <a:srgbClr val="E67E22">
              <a:alpha val="372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TextBox 1703"/>
          <p:cNvSpPr txBox="1"/>
          <p:nvPr/>
        </p:nvSpPr>
        <p:spPr>
          <a:xfrm>
            <a:off x="572436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5" name="TextBox 1704"/>
          <p:cNvSpPr txBox="1"/>
          <p:nvPr/>
        </p:nvSpPr>
        <p:spPr>
          <a:xfrm>
            <a:off x="572436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6" name="TextBox 1705"/>
          <p:cNvSpPr txBox="1"/>
          <p:nvPr/>
        </p:nvSpPr>
        <p:spPr>
          <a:xfrm>
            <a:off x="202880" y="5166816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07" name="Rectangle 1706"/>
          <p:cNvSpPr/>
          <p:nvPr/>
        </p:nvSpPr>
        <p:spPr>
          <a:xfrm>
            <a:off x="868880" y="5172816"/>
            <a:ext cx="335249" cy="251296"/>
          </a:xfrm>
          <a:prstGeom prst="rect">
            <a:avLst/>
          </a:prstGeom>
          <a:solidFill>
            <a:srgbClr val="1A7A3F">
              <a:alpha val="442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TextBox 1707"/>
          <p:cNvSpPr txBox="1"/>
          <p:nvPr/>
        </p:nvSpPr>
        <p:spPr>
          <a:xfrm>
            <a:off x="86288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09" name="TextBox 1708"/>
          <p:cNvSpPr txBox="1"/>
          <p:nvPr/>
        </p:nvSpPr>
        <p:spPr>
          <a:xfrm>
            <a:off x="86288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0" name="Rectangle 1709"/>
          <p:cNvSpPr/>
          <p:nvPr/>
        </p:nvSpPr>
        <p:spPr>
          <a:xfrm>
            <a:off x="1216129" y="5172816"/>
            <a:ext cx="335249" cy="2512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TextBox 1710"/>
          <p:cNvSpPr txBox="1"/>
          <p:nvPr/>
        </p:nvSpPr>
        <p:spPr>
          <a:xfrm>
            <a:off x="121012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2" name="TextBox 1711"/>
          <p:cNvSpPr txBox="1"/>
          <p:nvPr/>
        </p:nvSpPr>
        <p:spPr>
          <a:xfrm>
            <a:off x="121012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3" name="Rectangle 1712"/>
          <p:cNvSpPr/>
          <p:nvPr/>
        </p:nvSpPr>
        <p:spPr>
          <a:xfrm>
            <a:off x="1563378" y="5172816"/>
            <a:ext cx="335249" cy="251296"/>
          </a:xfrm>
          <a:prstGeom prst="rect">
            <a:avLst/>
          </a:prstGeom>
          <a:solidFill>
            <a:srgbClr val="1A7A3F">
              <a:alpha val="529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TextBox 1713"/>
          <p:cNvSpPr txBox="1"/>
          <p:nvPr/>
        </p:nvSpPr>
        <p:spPr>
          <a:xfrm>
            <a:off x="155737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4.6M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5" name="TextBox 1714"/>
          <p:cNvSpPr txBox="1"/>
          <p:nvPr/>
        </p:nvSpPr>
        <p:spPr>
          <a:xfrm>
            <a:off x="155737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6" name="Rectangle 1715"/>
          <p:cNvSpPr/>
          <p:nvPr/>
        </p:nvSpPr>
        <p:spPr>
          <a:xfrm>
            <a:off x="1910627" y="5172816"/>
            <a:ext cx="335249" cy="251296"/>
          </a:xfrm>
          <a:prstGeom prst="rect">
            <a:avLst/>
          </a:prstGeom>
          <a:solidFill>
            <a:srgbClr val="1A7A3F">
              <a:alpha val="587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TextBox 1716"/>
          <p:cNvSpPr txBox="1"/>
          <p:nvPr/>
        </p:nvSpPr>
        <p:spPr>
          <a:xfrm>
            <a:off x="190462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8" name="TextBox 1717"/>
          <p:cNvSpPr txBox="1"/>
          <p:nvPr/>
        </p:nvSpPr>
        <p:spPr>
          <a:xfrm>
            <a:off x="190462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9" name="Rectangle 1718"/>
          <p:cNvSpPr/>
          <p:nvPr/>
        </p:nvSpPr>
        <p:spPr>
          <a:xfrm>
            <a:off x="2257876" y="5172816"/>
            <a:ext cx="335249" cy="251296"/>
          </a:xfrm>
          <a:prstGeom prst="rect">
            <a:avLst/>
          </a:prstGeom>
          <a:solidFill>
            <a:srgbClr val="1A7A3F">
              <a:alpha val="317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TextBox 1719"/>
          <p:cNvSpPr txBox="1"/>
          <p:nvPr/>
        </p:nvSpPr>
        <p:spPr>
          <a:xfrm>
            <a:off x="225187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1.1M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1" name="TextBox 1720"/>
          <p:cNvSpPr txBox="1"/>
          <p:nvPr/>
        </p:nvSpPr>
        <p:spPr>
          <a:xfrm>
            <a:off x="225187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2" name="Rectangle 1721"/>
          <p:cNvSpPr/>
          <p:nvPr/>
        </p:nvSpPr>
        <p:spPr>
          <a:xfrm>
            <a:off x="2605125" y="5172816"/>
            <a:ext cx="335249" cy="251296"/>
          </a:xfrm>
          <a:prstGeom prst="rect">
            <a:avLst/>
          </a:prstGeom>
          <a:solidFill>
            <a:srgbClr val="1A7A3F">
              <a:alpha val="289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TextBox 1722"/>
          <p:cNvSpPr txBox="1"/>
          <p:nvPr/>
        </p:nvSpPr>
        <p:spPr>
          <a:xfrm>
            <a:off x="2599125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4" name="TextBox 1723"/>
          <p:cNvSpPr txBox="1"/>
          <p:nvPr/>
        </p:nvSpPr>
        <p:spPr>
          <a:xfrm>
            <a:off x="2599125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5" name="Rectangle 1724"/>
          <p:cNvSpPr/>
          <p:nvPr/>
        </p:nvSpPr>
        <p:spPr>
          <a:xfrm>
            <a:off x="2952374" y="5172816"/>
            <a:ext cx="335249" cy="251296"/>
          </a:xfrm>
          <a:prstGeom prst="rect">
            <a:avLst/>
          </a:prstGeom>
          <a:solidFill>
            <a:srgbClr val="1A7A3F">
              <a:alpha val="649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TextBox 1725"/>
          <p:cNvSpPr txBox="1"/>
          <p:nvPr/>
        </p:nvSpPr>
        <p:spPr>
          <a:xfrm>
            <a:off x="2946374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7" name="TextBox 1726"/>
          <p:cNvSpPr txBox="1"/>
          <p:nvPr/>
        </p:nvSpPr>
        <p:spPr>
          <a:xfrm>
            <a:off x="2946374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8" name="Rectangle 1727"/>
          <p:cNvSpPr/>
          <p:nvPr/>
        </p:nvSpPr>
        <p:spPr>
          <a:xfrm>
            <a:off x="3299623" y="5172816"/>
            <a:ext cx="335249" cy="251296"/>
          </a:xfrm>
          <a:prstGeom prst="rect">
            <a:avLst/>
          </a:prstGeom>
          <a:solidFill>
            <a:srgbClr val="1A7A3F">
              <a:alpha val="398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TextBox 1728"/>
          <p:cNvSpPr txBox="1"/>
          <p:nvPr/>
        </p:nvSpPr>
        <p:spPr>
          <a:xfrm>
            <a:off x="3293623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0" name="TextBox 1729"/>
          <p:cNvSpPr txBox="1"/>
          <p:nvPr/>
        </p:nvSpPr>
        <p:spPr>
          <a:xfrm>
            <a:off x="3293623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1" name="Rectangle 1730"/>
          <p:cNvSpPr/>
          <p:nvPr/>
        </p:nvSpPr>
        <p:spPr>
          <a:xfrm>
            <a:off x="3646872" y="5172816"/>
            <a:ext cx="335249" cy="251296"/>
          </a:xfrm>
          <a:prstGeom prst="rect">
            <a:avLst/>
          </a:prstGeom>
          <a:solidFill>
            <a:srgbClr val="1A7A3F">
              <a:alpha val="385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TextBox 1731"/>
          <p:cNvSpPr txBox="1"/>
          <p:nvPr/>
        </p:nvSpPr>
        <p:spPr>
          <a:xfrm>
            <a:off x="3640872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3" name="TextBox 1732"/>
          <p:cNvSpPr txBox="1"/>
          <p:nvPr/>
        </p:nvSpPr>
        <p:spPr>
          <a:xfrm>
            <a:off x="3640872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4" name="Rectangle 1733"/>
          <p:cNvSpPr/>
          <p:nvPr/>
        </p:nvSpPr>
        <p:spPr>
          <a:xfrm>
            <a:off x="3994121" y="5172816"/>
            <a:ext cx="335249" cy="251296"/>
          </a:xfrm>
          <a:prstGeom prst="rect">
            <a:avLst/>
          </a:prstGeom>
          <a:solidFill>
            <a:srgbClr val="1A7A3F">
              <a:alpha val="448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TextBox 1734"/>
          <p:cNvSpPr txBox="1"/>
          <p:nvPr/>
        </p:nvSpPr>
        <p:spPr>
          <a:xfrm>
            <a:off x="3988121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6" name="TextBox 1735"/>
          <p:cNvSpPr txBox="1"/>
          <p:nvPr/>
        </p:nvSpPr>
        <p:spPr>
          <a:xfrm>
            <a:off x="3988121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7" name="Rectangle 1736"/>
          <p:cNvSpPr/>
          <p:nvPr/>
        </p:nvSpPr>
        <p:spPr>
          <a:xfrm>
            <a:off x="4341370" y="5172816"/>
            <a:ext cx="335249" cy="251296"/>
          </a:xfrm>
          <a:prstGeom prst="rect">
            <a:avLst/>
          </a:prstGeom>
          <a:solidFill>
            <a:srgbClr val="1A7A3F">
              <a:alpha val="44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TextBox 1737"/>
          <p:cNvSpPr txBox="1"/>
          <p:nvPr/>
        </p:nvSpPr>
        <p:spPr>
          <a:xfrm>
            <a:off x="433537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9" name="TextBox 1738"/>
          <p:cNvSpPr txBox="1"/>
          <p:nvPr/>
        </p:nvSpPr>
        <p:spPr>
          <a:xfrm>
            <a:off x="433537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0" name="Rectangle 1739"/>
          <p:cNvSpPr/>
          <p:nvPr/>
        </p:nvSpPr>
        <p:spPr>
          <a:xfrm>
            <a:off x="4688619" y="5172816"/>
            <a:ext cx="335249" cy="251296"/>
          </a:xfrm>
          <a:prstGeom prst="rect">
            <a:avLst/>
          </a:prstGeom>
          <a:solidFill>
            <a:srgbClr val="1A7A3F">
              <a:alpha val="440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TextBox 1740"/>
          <p:cNvSpPr txBox="1"/>
          <p:nvPr/>
        </p:nvSpPr>
        <p:spPr>
          <a:xfrm>
            <a:off x="468261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2" name="TextBox 1741"/>
          <p:cNvSpPr txBox="1"/>
          <p:nvPr/>
        </p:nvSpPr>
        <p:spPr>
          <a:xfrm>
            <a:off x="468261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3" name="Rectangle 1742"/>
          <p:cNvSpPr/>
          <p:nvPr/>
        </p:nvSpPr>
        <p:spPr>
          <a:xfrm>
            <a:off x="5035868" y="5172816"/>
            <a:ext cx="335249" cy="251296"/>
          </a:xfrm>
          <a:prstGeom prst="rect">
            <a:avLst/>
          </a:prstGeom>
          <a:solidFill>
            <a:srgbClr val="1A7A3F">
              <a:alpha val="595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TextBox 1743"/>
          <p:cNvSpPr txBox="1"/>
          <p:nvPr/>
        </p:nvSpPr>
        <p:spPr>
          <a:xfrm>
            <a:off x="502986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5" name="TextBox 1744"/>
          <p:cNvSpPr txBox="1"/>
          <p:nvPr/>
        </p:nvSpPr>
        <p:spPr>
          <a:xfrm>
            <a:off x="502986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6" name="Rectangle 1745"/>
          <p:cNvSpPr/>
          <p:nvPr/>
        </p:nvSpPr>
        <p:spPr>
          <a:xfrm>
            <a:off x="5383117" y="5172816"/>
            <a:ext cx="335249" cy="251296"/>
          </a:xfrm>
          <a:prstGeom prst="rect">
            <a:avLst/>
          </a:prstGeom>
          <a:solidFill>
            <a:srgbClr val="1A7A3F">
              <a:alpha val="847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TextBox 1746"/>
          <p:cNvSpPr txBox="1"/>
          <p:nvPr/>
        </p:nvSpPr>
        <p:spPr>
          <a:xfrm>
            <a:off x="537711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8" name="TextBox 1747"/>
          <p:cNvSpPr txBox="1"/>
          <p:nvPr/>
        </p:nvSpPr>
        <p:spPr>
          <a:xfrm>
            <a:off x="537711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9" name="Rectangle 1748"/>
          <p:cNvSpPr/>
          <p:nvPr/>
        </p:nvSpPr>
        <p:spPr>
          <a:xfrm>
            <a:off x="5730366" y="5172816"/>
            <a:ext cx="335249" cy="251296"/>
          </a:xfrm>
          <a:prstGeom prst="rect">
            <a:avLst/>
          </a:prstGeom>
          <a:solidFill>
            <a:srgbClr val="1A7A3F">
              <a:alpha val="498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TextBox 1749"/>
          <p:cNvSpPr txBox="1"/>
          <p:nvPr/>
        </p:nvSpPr>
        <p:spPr>
          <a:xfrm>
            <a:off x="572436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4.1M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51" name="TextBox 1750"/>
          <p:cNvSpPr txBox="1"/>
          <p:nvPr/>
        </p:nvSpPr>
        <p:spPr>
          <a:xfrm>
            <a:off x="572436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52" name="TextBox 1751"/>
          <p:cNvSpPr txBox="1"/>
          <p:nvPr/>
        </p:nvSpPr>
        <p:spPr>
          <a:xfrm>
            <a:off x="202880" y="543011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53" name="Rectangle 1752"/>
          <p:cNvSpPr/>
          <p:nvPr/>
        </p:nvSpPr>
        <p:spPr>
          <a:xfrm>
            <a:off x="1216129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TextBox 1753"/>
          <p:cNvSpPr txBox="1"/>
          <p:nvPr/>
        </p:nvSpPr>
        <p:spPr>
          <a:xfrm>
            <a:off x="1210129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55" name="TextBox 1754"/>
          <p:cNvSpPr txBox="1"/>
          <p:nvPr/>
        </p:nvSpPr>
        <p:spPr>
          <a:xfrm>
            <a:off x="1210129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56" name="Rectangle 1755"/>
          <p:cNvSpPr/>
          <p:nvPr/>
        </p:nvSpPr>
        <p:spPr>
          <a:xfrm>
            <a:off x="1563378" y="5436112"/>
            <a:ext cx="335249" cy="2512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TextBox 1756"/>
          <p:cNvSpPr txBox="1"/>
          <p:nvPr/>
        </p:nvSpPr>
        <p:spPr>
          <a:xfrm>
            <a:off x="1557378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8" name="TextBox 1757"/>
          <p:cNvSpPr txBox="1"/>
          <p:nvPr/>
        </p:nvSpPr>
        <p:spPr>
          <a:xfrm>
            <a:off x="1557378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9" name="Rectangle 1758"/>
          <p:cNvSpPr/>
          <p:nvPr/>
        </p:nvSpPr>
        <p:spPr>
          <a:xfrm>
            <a:off x="2257876" y="5436112"/>
            <a:ext cx="335249" cy="251296"/>
          </a:xfrm>
          <a:prstGeom prst="rect">
            <a:avLst/>
          </a:prstGeom>
          <a:solidFill>
            <a:srgbClr val="94A3B8">
              <a:alpha val="25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TextBox 1759"/>
          <p:cNvSpPr txBox="1"/>
          <p:nvPr/>
        </p:nvSpPr>
        <p:spPr>
          <a:xfrm>
            <a:off x="2251876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1" name="TextBox 1760"/>
          <p:cNvSpPr txBox="1"/>
          <p:nvPr/>
        </p:nvSpPr>
        <p:spPr>
          <a:xfrm>
            <a:off x="2251876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2" name="Rectangle 1761"/>
          <p:cNvSpPr/>
          <p:nvPr/>
        </p:nvSpPr>
        <p:spPr>
          <a:xfrm>
            <a:off x="2605125" y="5436112"/>
            <a:ext cx="335249" cy="251296"/>
          </a:xfrm>
          <a:prstGeom prst="rect">
            <a:avLst/>
          </a:prstGeom>
          <a:solidFill>
            <a:srgbClr val="94A3B8">
              <a:alpha val="587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TextBox 1762"/>
          <p:cNvSpPr txBox="1"/>
          <p:nvPr/>
        </p:nvSpPr>
        <p:spPr>
          <a:xfrm>
            <a:off x="2599125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4" name="TextBox 1763"/>
          <p:cNvSpPr txBox="1"/>
          <p:nvPr/>
        </p:nvSpPr>
        <p:spPr>
          <a:xfrm>
            <a:off x="2599125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5" name="Rectangle 1764"/>
          <p:cNvSpPr/>
          <p:nvPr/>
        </p:nvSpPr>
        <p:spPr>
          <a:xfrm>
            <a:off x="3299623" y="5436112"/>
            <a:ext cx="335249" cy="251296"/>
          </a:xfrm>
          <a:prstGeom prst="rect">
            <a:avLst/>
          </a:prstGeom>
          <a:solidFill>
            <a:srgbClr val="94A3B8">
              <a:alpha val="259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TextBox 1765"/>
          <p:cNvSpPr txBox="1"/>
          <p:nvPr/>
        </p:nvSpPr>
        <p:spPr>
          <a:xfrm>
            <a:off x="3293623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7" name="TextBox 1766"/>
          <p:cNvSpPr txBox="1"/>
          <p:nvPr/>
        </p:nvSpPr>
        <p:spPr>
          <a:xfrm>
            <a:off x="3293623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8" name="Rectangle 1767"/>
          <p:cNvSpPr/>
          <p:nvPr/>
        </p:nvSpPr>
        <p:spPr>
          <a:xfrm>
            <a:off x="5035868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TextBox 1768"/>
          <p:cNvSpPr txBox="1"/>
          <p:nvPr/>
        </p:nvSpPr>
        <p:spPr>
          <a:xfrm>
            <a:off x="5029868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0" name="TextBox 1769"/>
          <p:cNvSpPr txBox="1"/>
          <p:nvPr/>
        </p:nvSpPr>
        <p:spPr>
          <a:xfrm>
            <a:off x="5029868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1" name="Rectangle 1770"/>
          <p:cNvSpPr/>
          <p:nvPr/>
        </p:nvSpPr>
        <p:spPr>
          <a:xfrm>
            <a:off x="5730366" y="5436112"/>
            <a:ext cx="335249" cy="251296"/>
          </a:xfrm>
          <a:prstGeom prst="rect">
            <a:avLst/>
          </a:prstGeom>
          <a:solidFill>
            <a:srgbClr val="94A3B8">
              <a:alpha val="402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TextBox 1771"/>
          <p:cNvSpPr txBox="1"/>
          <p:nvPr/>
        </p:nvSpPr>
        <p:spPr>
          <a:xfrm>
            <a:off x="5724366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3" name="TextBox 1772"/>
          <p:cNvSpPr txBox="1"/>
          <p:nvPr/>
        </p:nvSpPr>
        <p:spPr>
          <a:xfrm>
            <a:off x="5724366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4" name="TextBox 1773"/>
          <p:cNvSpPr txBox="1"/>
          <p:nvPr/>
        </p:nvSpPr>
        <p:spPr>
          <a:xfrm>
            <a:off x="202880" y="569340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75" name="Rectangle 1774"/>
          <p:cNvSpPr/>
          <p:nvPr/>
        </p:nvSpPr>
        <p:spPr>
          <a:xfrm>
            <a:off x="2605125" y="5699408"/>
            <a:ext cx="335249" cy="2512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TextBox 1775"/>
          <p:cNvSpPr txBox="1"/>
          <p:nvPr/>
        </p:nvSpPr>
        <p:spPr>
          <a:xfrm>
            <a:off x="2599125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77" name="TextBox 1776"/>
          <p:cNvSpPr txBox="1"/>
          <p:nvPr/>
        </p:nvSpPr>
        <p:spPr>
          <a:xfrm>
            <a:off x="2599125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78" name="Rectangle 1777"/>
          <p:cNvSpPr/>
          <p:nvPr/>
        </p:nvSpPr>
        <p:spPr>
          <a:xfrm>
            <a:off x="2952374" y="5699408"/>
            <a:ext cx="335249" cy="2512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TextBox 1778"/>
          <p:cNvSpPr txBox="1"/>
          <p:nvPr/>
        </p:nvSpPr>
        <p:spPr>
          <a:xfrm>
            <a:off x="2946374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0" name="TextBox 1779"/>
          <p:cNvSpPr txBox="1"/>
          <p:nvPr/>
        </p:nvSpPr>
        <p:spPr>
          <a:xfrm>
            <a:off x="2946374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1" name="Rectangle 1780"/>
          <p:cNvSpPr/>
          <p:nvPr/>
        </p:nvSpPr>
        <p:spPr>
          <a:xfrm>
            <a:off x="3299623" y="5699408"/>
            <a:ext cx="335249" cy="251296"/>
          </a:xfrm>
          <a:prstGeom prst="rect">
            <a:avLst/>
          </a:prstGeom>
          <a:solidFill>
            <a:srgbClr val="8E44AD">
              <a:alpha val="589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TextBox 1781"/>
          <p:cNvSpPr txBox="1"/>
          <p:nvPr/>
        </p:nvSpPr>
        <p:spPr>
          <a:xfrm>
            <a:off x="3293623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3" name="TextBox 1782"/>
          <p:cNvSpPr txBox="1"/>
          <p:nvPr/>
        </p:nvSpPr>
        <p:spPr>
          <a:xfrm>
            <a:off x="3293623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4" name="TextBox 1783"/>
          <p:cNvSpPr txBox="1"/>
          <p:nvPr/>
        </p:nvSpPr>
        <p:spPr>
          <a:xfrm>
            <a:off x="202880" y="595670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785" name="Rectangle 1784"/>
          <p:cNvSpPr/>
          <p:nvPr/>
        </p:nvSpPr>
        <p:spPr>
          <a:xfrm>
            <a:off x="86888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TextBox 1785"/>
          <p:cNvSpPr txBox="1"/>
          <p:nvPr/>
        </p:nvSpPr>
        <p:spPr>
          <a:xfrm>
            <a:off x="86288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87" name="TextBox 1786"/>
          <p:cNvSpPr txBox="1"/>
          <p:nvPr/>
        </p:nvSpPr>
        <p:spPr>
          <a:xfrm>
            <a:off x="86288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88" name="Rectangle 1787"/>
          <p:cNvSpPr/>
          <p:nvPr/>
        </p:nvSpPr>
        <p:spPr>
          <a:xfrm>
            <a:off x="121612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TextBox 1788"/>
          <p:cNvSpPr txBox="1"/>
          <p:nvPr/>
        </p:nvSpPr>
        <p:spPr>
          <a:xfrm>
            <a:off x="121012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24.3M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0" name="TextBox 1789"/>
          <p:cNvSpPr txBox="1"/>
          <p:nvPr/>
        </p:nvSpPr>
        <p:spPr>
          <a:xfrm>
            <a:off x="121012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1" name="Rectangle 1790"/>
          <p:cNvSpPr/>
          <p:nvPr/>
        </p:nvSpPr>
        <p:spPr>
          <a:xfrm>
            <a:off x="156337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TextBox 1791"/>
          <p:cNvSpPr txBox="1"/>
          <p:nvPr/>
        </p:nvSpPr>
        <p:spPr>
          <a:xfrm>
            <a:off x="155737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24.6M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3" name="TextBox 1792"/>
          <p:cNvSpPr txBox="1"/>
          <p:nvPr/>
        </p:nvSpPr>
        <p:spPr>
          <a:xfrm>
            <a:off x="155737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4" name="Rectangle 1793"/>
          <p:cNvSpPr/>
          <p:nvPr/>
        </p:nvSpPr>
        <p:spPr>
          <a:xfrm>
            <a:off x="191062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TextBox 1794"/>
          <p:cNvSpPr txBox="1"/>
          <p:nvPr/>
        </p:nvSpPr>
        <p:spPr>
          <a:xfrm>
            <a:off x="190462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23.5M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6" name="TextBox 1795"/>
          <p:cNvSpPr txBox="1"/>
          <p:nvPr/>
        </p:nvSpPr>
        <p:spPr>
          <a:xfrm>
            <a:off x="190462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7" name="Rectangle 1796"/>
          <p:cNvSpPr/>
          <p:nvPr/>
        </p:nvSpPr>
        <p:spPr>
          <a:xfrm>
            <a:off x="225787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TextBox 1797"/>
          <p:cNvSpPr txBox="1"/>
          <p:nvPr/>
        </p:nvSpPr>
        <p:spPr>
          <a:xfrm>
            <a:off x="225187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8.4M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9" name="TextBox 1798"/>
          <p:cNvSpPr txBox="1"/>
          <p:nvPr/>
        </p:nvSpPr>
        <p:spPr>
          <a:xfrm>
            <a:off x="225187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0" name="Rectangle 1799"/>
          <p:cNvSpPr/>
          <p:nvPr/>
        </p:nvSpPr>
        <p:spPr>
          <a:xfrm>
            <a:off x="2605125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TextBox 1800"/>
          <p:cNvSpPr txBox="1"/>
          <p:nvPr/>
        </p:nvSpPr>
        <p:spPr>
          <a:xfrm>
            <a:off x="2599125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2" name="TextBox 1801"/>
          <p:cNvSpPr txBox="1"/>
          <p:nvPr/>
        </p:nvSpPr>
        <p:spPr>
          <a:xfrm>
            <a:off x="2599125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3" name="Rectangle 1802"/>
          <p:cNvSpPr/>
          <p:nvPr/>
        </p:nvSpPr>
        <p:spPr>
          <a:xfrm>
            <a:off x="2952374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TextBox 1803"/>
          <p:cNvSpPr txBox="1"/>
          <p:nvPr/>
        </p:nvSpPr>
        <p:spPr>
          <a:xfrm>
            <a:off x="2946374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5" name="TextBox 1804"/>
          <p:cNvSpPr txBox="1"/>
          <p:nvPr/>
        </p:nvSpPr>
        <p:spPr>
          <a:xfrm>
            <a:off x="2946374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6" name="Rectangle 1805"/>
          <p:cNvSpPr/>
          <p:nvPr/>
        </p:nvSpPr>
        <p:spPr>
          <a:xfrm>
            <a:off x="3299623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TextBox 1806"/>
          <p:cNvSpPr txBox="1"/>
          <p:nvPr/>
        </p:nvSpPr>
        <p:spPr>
          <a:xfrm>
            <a:off x="3293623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28.1M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8" name="TextBox 1807"/>
          <p:cNvSpPr txBox="1"/>
          <p:nvPr/>
        </p:nvSpPr>
        <p:spPr>
          <a:xfrm>
            <a:off x="3293623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9" name="Rectangle 1808"/>
          <p:cNvSpPr/>
          <p:nvPr/>
        </p:nvSpPr>
        <p:spPr>
          <a:xfrm>
            <a:off x="3646872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TextBox 1809"/>
          <p:cNvSpPr txBox="1"/>
          <p:nvPr/>
        </p:nvSpPr>
        <p:spPr>
          <a:xfrm>
            <a:off x="3640872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1" name="TextBox 1810"/>
          <p:cNvSpPr txBox="1"/>
          <p:nvPr/>
        </p:nvSpPr>
        <p:spPr>
          <a:xfrm>
            <a:off x="3640872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2" name="Rectangle 1811"/>
          <p:cNvSpPr/>
          <p:nvPr/>
        </p:nvSpPr>
        <p:spPr>
          <a:xfrm>
            <a:off x="3994121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TextBox 1812"/>
          <p:cNvSpPr txBox="1"/>
          <p:nvPr/>
        </p:nvSpPr>
        <p:spPr>
          <a:xfrm>
            <a:off x="3988121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4" name="TextBox 1813"/>
          <p:cNvSpPr txBox="1"/>
          <p:nvPr/>
        </p:nvSpPr>
        <p:spPr>
          <a:xfrm>
            <a:off x="3988121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5" name="Rectangle 1814"/>
          <p:cNvSpPr/>
          <p:nvPr/>
        </p:nvSpPr>
        <p:spPr>
          <a:xfrm>
            <a:off x="434137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TextBox 1815"/>
          <p:cNvSpPr txBox="1"/>
          <p:nvPr/>
        </p:nvSpPr>
        <p:spPr>
          <a:xfrm>
            <a:off x="433537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7" name="TextBox 1816"/>
          <p:cNvSpPr txBox="1"/>
          <p:nvPr/>
        </p:nvSpPr>
        <p:spPr>
          <a:xfrm>
            <a:off x="433537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8" name="Rectangle 1817"/>
          <p:cNvSpPr/>
          <p:nvPr/>
        </p:nvSpPr>
        <p:spPr>
          <a:xfrm>
            <a:off x="468861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TextBox 1818"/>
          <p:cNvSpPr txBox="1"/>
          <p:nvPr/>
        </p:nvSpPr>
        <p:spPr>
          <a:xfrm>
            <a:off x="468261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0" name="TextBox 1819"/>
          <p:cNvSpPr txBox="1"/>
          <p:nvPr/>
        </p:nvSpPr>
        <p:spPr>
          <a:xfrm>
            <a:off x="468261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50件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1" name="Rectangle 1820"/>
          <p:cNvSpPr/>
          <p:nvPr/>
        </p:nvSpPr>
        <p:spPr>
          <a:xfrm>
            <a:off x="503586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TextBox 1821"/>
          <p:cNvSpPr txBox="1"/>
          <p:nvPr/>
        </p:nvSpPr>
        <p:spPr>
          <a:xfrm>
            <a:off x="502986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3" name="TextBox 1822"/>
          <p:cNvSpPr txBox="1"/>
          <p:nvPr/>
        </p:nvSpPr>
        <p:spPr>
          <a:xfrm>
            <a:off x="502986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4" name="Rectangle 1823"/>
          <p:cNvSpPr/>
          <p:nvPr/>
        </p:nvSpPr>
        <p:spPr>
          <a:xfrm>
            <a:off x="538311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TextBox 1824"/>
          <p:cNvSpPr txBox="1"/>
          <p:nvPr/>
        </p:nvSpPr>
        <p:spPr>
          <a:xfrm>
            <a:off x="537711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17.6M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6" name="TextBox 1825"/>
          <p:cNvSpPr txBox="1"/>
          <p:nvPr/>
        </p:nvSpPr>
        <p:spPr>
          <a:xfrm>
            <a:off x="537711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7" name="Rectangle 1826"/>
          <p:cNvSpPr/>
          <p:nvPr/>
        </p:nvSpPr>
        <p:spPr>
          <a:xfrm>
            <a:off x="573036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TextBox 1827"/>
          <p:cNvSpPr txBox="1"/>
          <p:nvPr/>
        </p:nvSpPr>
        <p:spPr>
          <a:xfrm>
            <a:off x="572436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6.9M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9" name="TextBox 1828"/>
          <p:cNvSpPr txBox="1"/>
          <p:nvPr/>
        </p:nvSpPr>
        <p:spPr>
          <a:xfrm>
            <a:off x="572436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  姜通批核 118.7M/328件、战略合作 39.4M/119件,合计占同行批核 74.5%。姜通件均≈36万为大单驱动,战略合作走量为流量驱动。头部高度集中,需差异化对接与风险分散。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Mark 批核 13.3M/批核率 100% 件质量最高;姜通在途未批核 37.3M、批核率 76% 稳中向好;白博文未批 6.9M 待跟。头部推荐人质量分化,持续催核提速。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159件  |  件均37.0万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38件  |  件均41.2万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899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42.70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8.93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1.74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53.37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39.39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5.77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1.87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47.03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34.91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4.54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0.96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40.40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1.01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28.83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27.18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2.38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29.84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25.92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3.02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28.94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19.38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23.97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52.58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18.86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20.42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8.35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1.27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9.62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8.16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4.25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13.19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4.27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2.04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6.31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1.45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1.60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1.15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0.57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  <a:r>
                        <a:t/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  <a:r>
                        <a:t/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  <a:r>
                        <a:t/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  <a:r>
                        <a:t/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  <a:r>
                        <a:t/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  <a:r>
                        <a:t/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  <a:r>
                        <a:t/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  <a:r>
                        <a:t/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  <a:r>
                        <a:t/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212.18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576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52.97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139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14.70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36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279.84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751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同行W28预约</a:t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16.73M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43件| 件均38.9W</a:t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同行W28签单</a:t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10.55M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29件| 件均36.4W</a:t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同行W28批核</a:t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6.17M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23件| 件均26.8W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W28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天誉国际(MGA)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8.54M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5.01M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0.45M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2.46M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2.40M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0.94M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0.82M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1.44M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1.90M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0.70M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00796B"/>
                          </a:solidFill>
                        </a:rPr>
                        <a:t>0.16M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0.32M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0.48M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1.03M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1.31M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0.78M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0.29M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0.96M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裕承资产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0.57M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0.55M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/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16.73M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10.55M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6.17M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W28 同行预约 16.73M 高于签单 10.55M、批核 6.17M,前端回补、批核清淡;需盯后续周次签单与批核能否跟上。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W01–W28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33.43M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95件 | 件均35.2W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22.86M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72件 | 件均31.8W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29.11M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85件 | 件均34.2W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327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23.19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16.33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21.06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22.76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40.20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43.43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19.46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75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39.30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37.71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43.88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47.88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47.89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60.09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58.81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38.22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33.43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22.86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29.11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Aug-26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265.14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753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249.79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717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280.49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699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  6 月同行预约 6009 万、签单 5881 万高位（环比 +25%），批核 3822 万落后于前端，签单积压待批,需紧盯下半年放款节奏。</a:t>
            </a:r>
            <a:endParaRPr lang="en-US" sz="850" b="1" dirty="0"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196件 | 达成率113.8%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28.6M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 |件均77.4W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件均52W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2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25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26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27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28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29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0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件均52W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" name="Shape 19"/>
          <p:cNvSpPr/>
          <p:nvPr>
            <p:custDataLst>
              <p:tags r:id="rId31"/>
            </p:custDataLst>
          </p:nvPr>
        </p:nvSpPr>
        <p:spPr>
          <a:xfrm>
            <a:off x="11176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" name="Shape 20"/>
          <p:cNvSpPr/>
          <p:nvPr>
            <p:custDataLst>
              <p:tags r:id="rId32"/>
            </p:custDataLst>
          </p:nvPr>
        </p:nvSpPr>
        <p:spPr>
          <a:xfrm>
            <a:off x="111760" y="1400000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4" name="Text 21"/>
          <p:cNvSpPr/>
          <p:nvPr>
            <p:custDataLst>
              <p:tags r:id="rId33"/>
            </p:custDataLst>
          </p:nvPr>
        </p:nvSpPr>
        <p:spPr>
          <a:xfrm>
            <a:off x="2209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W28预约</a:t>
            </a:r>
            <a:endParaRPr lang="en-US" sz="800" dirty="0"/>
          </a:p>
        </p:txBody>
      </p:sp>
      <p:sp>
        <p:nvSpPr>
          <p:cNvPr id="5" name="Text 22"/>
          <p:cNvSpPr/>
          <p:nvPr>
            <p:custDataLst>
              <p:tags r:id="rId34"/>
            </p:custDataLst>
          </p:nvPr>
        </p:nvSpPr>
        <p:spPr>
          <a:xfrm>
            <a:off x="2209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9B2335"/>
                </a:solidFill>
                <a:latin typeface="Calibri" panose="020F0502020204030204"/>
              </a:rPr>
              <a:t>2.73M</a:t>
            </a:r>
            <a:endParaRPr lang="en-US" sz="1800" dirty="0"/>
          </a:p>
        </p:txBody>
      </p:sp>
      <p:sp>
        <p:nvSpPr>
          <p:cNvPr id="37" name="Text 23"/>
          <p:cNvSpPr/>
          <p:nvPr>
            <p:custDataLst>
              <p:tags r:id="rId35"/>
            </p:custDataLst>
          </p:nvPr>
        </p:nvSpPr>
        <p:spPr>
          <a:xfrm>
            <a:off x="2209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4件 | 件均68.2W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8" name="Shape 24"/>
          <p:cNvSpPr/>
          <p:nvPr>
            <p:custDataLst>
              <p:tags r:id="rId36"/>
            </p:custDataLst>
          </p:nvPr>
        </p:nvSpPr>
        <p:spPr>
          <a:xfrm>
            <a:off x="2155825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25"/>
          <p:cNvSpPr/>
          <p:nvPr>
            <p:custDataLst>
              <p:tags r:id="rId37"/>
            </p:custDataLst>
          </p:nvPr>
        </p:nvSpPr>
        <p:spPr>
          <a:xfrm>
            <a:off x="2155825" y="1400000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40" name="Text 26"/>
          <p:cNvSpPr/>
          <p:nvPr>
            <p:custDataLst>
              <p:tags r:id="rId38"/>
            </p:custDataLst>
          </p:nvPr>
        </p:nvSpPr>
        <p:spPr>
          <a:xfrm>
            <a:off x="22656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W28签单</a:t>
            </a:r>
            <a:endParaRPr lang="en-US" sz="800" dirty="0"/>
          </a:p>
        </p:txBody>
      </p:sp>
      <p:sp>
        <p:nvSpPr>
          <p:cNvPr id="41" name="Text 27"/>
          <p:cNvSpPr/>
          <p:nvPr>
            <p:custDataLst>
              <p:tags r:id="rId39"/>
            </p:custDataLst>
          </p:nvPr>
        </p:nvSpPr>
        <p:spPr>
          <a:xfrm>
            <a:off x="22656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B2737"/>
                </a:solidFill>
                <a:latin typeface="Calibri" panose="020F0502020204030204"/>
              </a:rPr>
              <a:t>4.29M</a:t>
            </a:r>
            <a:endParaRPr lang="en-US" sz="1800" dirty="0"/>
          </a:p>
        </p:txBody>
      </p:sp>
      <p:sp>
        <p:nvSpPr>
          <p:cNvPr id="42" name="Text 28"/>
          <p:cNvSpPr/>
          <p:nvPr>
            <p:custDataLst>
              <p:tags r:id="rId40"/>
            </p:custDataLst>
          </p:nvPr>
        </p:nvSpPr>
        <p:spPr>
          <a:xfrm>
            <a:off x="22656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7件 | 件均61.3W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3" name="Shape 29"/>
          <p:cNvSpPr/>
          <p:nvPr>
            <p:custDataLst>
              <p:tags r:id="rId41"/>
            </p:custDataLst>
          </p:nvPr>
        </p:nvSpPr>
        <p:spPr>
          <a:xfrm>
            <a:off x="422021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30"/>
          <p:cNvSpPr/>
          <p:nvPr>
            <p:custDataLst>
              <p:tags r:id="rId42"/>
            </p:custDataLst>
          </p:nvPr>
        </p:nvSpPr>
        <p:spPr>
          <a:xfrm>
            <a:off x="4220210" y="1400000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5" name="Text 31"/>
          <p:cNvSpPr/>
          <p:nvPr>
            <p:custDataLst>
              <p:tags r:id="rId43"/>
            </p:custDataLst>
          </p:nvPr>
        </p:nvSpPr>
        <p:spPr>
          <a:xfrm>
            <a:off x="4330065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W28批核</a:t>
            </a:r>
            <a:endParaRPr lang="en-US" sz="800" dirty="0"/>
          </a:p>
        </p:txBody>
      </p:sp>
      <p:sp>
        <p:nvSpPr>
          <p:cNvPr id="46" name="Text 32"/>
          <p:cNvSpPr/>
          <p:nvPr>
            <p:custDataLst>
              <p:tags r:id="rId44"/>
            </p:custDataLst>
          </p:nvPr>
        </p:nvSpPr>
        <p:spPr>
          <a:xfrm>
            <a:off x="4330065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C3483"/>
                </a:solidFill>
                <a:latin typeface="Calibri" panose="020F0502020204030204"/>
              </a:rPr>
              <a:t>0.00M</a:t>
            </a:r>
            <a:endParaRPr lang="en-US" sz="1800" dirty="0"/>
          </a:p>
        </p:txBody>
      </p:sp>
      <p:sp>
        <p:nvSpPr>
          <p:cNvPr id="47" name="Text 33"/>
          <p:cNvSpPr/>
          <p:nvPr>
            <p:custDataLst>
              <p:tags r:id="rId45"/>
            </p:custDataLst>
          </p:nvPr>
        </p:nvSpPr>
        <p:spPr>
          <a:xfrm>
            <a:off x="4330065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3件 | 件均52W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57150" y="2328890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9" name="Text 41"/>
          <p:cNvSpPr/>
          <p:nvPr/>
        </p:nvSpPr>
        <p:spPr>
          <a:xfrm>
            <a:off x="133350" y="2320000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W28 银行 KA 本周业绩详情（M）</a:t>
            </a:r>
            <a:endParaRPr lang="en-US" sz="950" dirty="0"/>
          </a:p>
        </p:txBody>
      </p:sp>
      <p:graphicFrame>
        <p:nvGraphicFramePr>
          <p:cNvPr id="52" name="Table 1"/>
          <p:cNvGraphicFramePr>
            <a:graphicFrameLocks noGrp="1"/>
          </p:cNvGraphicFramePr>
          <p:nvPr>
            <p:custDataLst>
              <p:tags r:id="rId46"/>
            </p:custDataLst>
          </p:nvPr>
        </p:nvGraphicFramePr>
        <p:xfrm>
          <a:off x="59055" y="2621625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3" name="Picture 51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200000" y="1400000"/>
            <a:ext cx="5900000" cy="3500000"/>
          </a:xfrm>
          <a:prstGeom prst="rect">
            <a:avLst/>
          </a:prstGeom>
        </p:spPr>
      </p:pic>
      <p:pic>
        <p:nvPicPr>
          <p:cNvPr id="54" name="Picture 52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0000" y="5050000"/>
            <a:ext cx="1200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代理人业务分析仪表盘  Agent Business View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430000"/>
            <a:ext cx="76200" cy="76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71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71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4F72"/>
                </a:solidFill>
              </a:rPr>
              <a:t>72.2M</a:t>
            </a:r>
            <a:endParaRPr sz="2200" b="1">
              <a:solidFill>
                <a:srgbClr val="1B4F7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71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225件 | 件均32.1W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7614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6145" y="430000"/>
            <a:ext cx="76200" cy="7620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598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代理人业务未批核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598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7A65"/>
                </a:solidFill>
              </a:rPr>
              <a:t>15.4M</a:t>
            </a:r>
            <a:endParaRPr sz="2200" b="1">
              <a:solidFill>
                <a:srgbClr val="117A6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598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31件 | 件均49.8W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941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410" y="430000"/>
            <a:ext cx="76200" cy="762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24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代理人业务待签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7924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796B"/>
                </a:solidFill>
              </a:rPr>
              <a:t>0.39M</a:t>
            </a:r>
            <a:endParaRPr sz="2200" b="1">
              <a:solidFill>
                <a:srgbClr val="00796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924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4件 | 件均9.8W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0000" y="1290400"/>
            <a:ext cx="6000000" cy="27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0000" y="132040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天领业务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00000" y="1560400"/>
          <a:ext cx="5999997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4615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2828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446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3313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1656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1071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1471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694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354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199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台州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2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6445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191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1451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39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7936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223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00000" y="5120400"/>
            <a:ext cx="6000000" cy="27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0000" y="515040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成事家办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00000" y="5390400"/>
          <a:ext cx="5999997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8571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263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772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94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866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37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00" y="388080"/>
            <a:ext cx="5832000" cy="300000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280000" y="3468080"/>
            <a:ext cx="5832000" cy="30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0000" y="3498080"/>
            <a:ext cx="5732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W28 本周快报 | 代理人业务（天领+成事家办）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6280000" y="3778080"/>
          <a:ext cx="5832000" cy="21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11866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4.00M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0.16M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0.86M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1.95M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0.35M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台州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7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0.86M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6.18M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0.51M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KA业务分析仪表盘  |ICLUB + 合伙转介 + IFA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24.9M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37件 | 件均67.2W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6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未批核APE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1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4.39M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1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8件 | 件均54.9W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20000" y="430000"/>
            <a:ext cx="1900000" cy="800000"/>
          </a:xfrm>
          <a:prstGeom prst="rect">
            <a:avLst/>
          </a:prstGeom>
          <a:noFill/>
          <a:ln w="3000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0000" y="430000"/>
            <a:ext cx="30000" cy="800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待签APE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7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B1A1A"/>
                </a:solidFill>
              </a:rPr>
              <a:t>0.00M</a:t>
            </a:r>
            <a:endParaRPr sz="2200" b="1">
              <a:solidFill>
                <a:srgbClr val="8B1A1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7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0件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0000" y="1310000"/>
            <a:ext cx="5940000" cy="26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134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ICLUB业务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0000" y="1570000"/>
          <a:ext cx="5940000" cy="1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8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1853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1853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00000" y="2990000"/>
            <a:ext cx="5940000" cy="26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30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合伙转介业务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0000" y="3250000"/>
          <a:ext cx="5940000" cy="3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3333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526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7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447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439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886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100000" y="6490000"/>
            <a:ext cx="5940000" cy="260000"/>
          </a:xfrm>
          <a:prstGeom prst="rect">
            <a:avLst/>
          </a:prstGeom>
          <a:solidFill>
            <a:srgbClr val="5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" y="65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IFA业务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00000" y="6750000"/>
          <a:ext cx="5940000" cy="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00" y="430000"/>
            <a:ext cx="5832000" cy="300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80000" y="3550000"/>
            <a:ext cx="5832000" cy="29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0000" y="3580000"/>
            <a:ext cx="573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W28 本周快报 | KA业务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280000" y="3850000"/>
          <a:ext cx="5832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205714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0.02M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0.25M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0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13074</Words>
  <Application>WPS 演示</Application>
  <PresentationFormat>On-screen Show (16:9)</PresentationFormat>
  <Paragraphs>4780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Carrie</cp:lastModifiedBy>
  <cp:revision>67</cp:revision>
  <dcterms:created xsi:type="dcterms:W3CDTF">2026-03-26T15:42:00Z</dcterms:created>
  <dcterms:modified xsi:type="dcterms:W3CDTF">2026-07-19T04:20:49Z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2052-12.1.0.21915</vt:lpwstr>
  </property>
</Properties>
</file>